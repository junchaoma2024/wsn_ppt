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62" r:id="rId2"/>
    <p:sldId id="348" r:id="rId3"/>
    <p:sldId id="347" r:id="rId4"/>
    <p:sldId id="349" r:id="rId5"/>
    <p:sldId id="379" r:id="rId6"/>
    <p:sldId id="351" r:id="rId7"/>
    <p:sldId id="350" r:id="rId8"/>
    <p:sldId id="352" r:id="rId9"/>
    <p:sldId id="353" r:id="rId10"/>
    <p:sldId id="355" r:id="rId11"/>
    <p:sldId id="356" r:id="rId12"/>
    <p:sldId id="354" r:id="rId13"/>
    <p:sldId id="358" r:id="rId14"/>
    <p:sldId id="268" r:id="rId15"/>
    <p:sldId id="380" r:id="rId16"/>
    <p:sldId id="359" r:id="rId17"/>
    <p:sldId id="360" r:id="rId18"/>
    <p:sldId id="363" r:id="rId19"/>
    <p:sldId id="364" r:id="rId20"/>
    <p:sldId id="365" r:id="rId21"/>
    <p:sldId id="366" r:id="rId22"/>
    <p:sldId id="367" r:id="rId23"/>
    <p:sldId id="362" r:id="rId24"/>
    <p:sldId id="368" r:id="rId25"/>
    <p:sldId id="381" r:id="rId26"/>
    <p:sldId id="361" r:id="rId27"/>
    <p:sldId id="300" r:id="rId28"/>
    <p:sldId id="369" r:id="rId29"/>
    <p:sldId id="370" r:id="rId30"/>
    <p:sldId id="371" r:id="rId31"/>
    <p:sldId id="372" r:id="rId32"/>
    <p:sldId id="373" r:id="rId33"/>
    <p:sldId id="382" r:id="rId34"/>
    <p:sldId id="384" r:id="rId35"/>
    <p:sldId id="374" r:id="rId36"/>
    <p:sldId id="303" r:id="rId37"/>
    <p:sldId id="375" r:id="rId38"/>
    <p:sldId id="376" r:id="rId39"/>
    <p:sldId id="385" r:id="rId40"/>
    <p:sldId id="378" r:id="rId41"/>
    <p:sldId id="377" r:id="rId42"/>
    <p:sldId id="302" r:id="rId43"/>
  </p:sldIdLst>
  <p:sldSz cx="9144000" cy="6858000" type="screen4x3"/>
  <p:notesSz cx="9929813" cy="6797675"/>
  <p:custDataLst>
    <p:tags r:id="rId4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68" autoAdjust="0"/>
    <p:restoredTop sz="80389" autoAdjust="0"/>
  </p:normalViewPr>
  <p:slideViewPr>
    <p:cSldViewPr snapToGrid="0">
      <p:cViewPr varScale="1">
        <p:scale>
          <a:sx n="114" d="100"/>
          <a:sy n="114" d="100"/>
        </p:scale>
        <p:origin x="2072" y="344"/>
      </p:cViewPr>
      <p:guideLst/>
    </p:cSldViewPr>
  </p:slideViewPr>
  <p:outlineViewPr>
    <p:cViewPr>
      <p:scale>
        <a:sx n="33" d="100"/>
        <a:sy n="33" d="100"/>
      </p:scale>
      <p:origin x="0" y="-213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302919" cy="34106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24596" y="1"/>
            <a:ext cx="4302919" cy="341064"/>
          </a:xfrm>
          <a:prstGeom prst="rect">
            <a:avLst/>
          </a:prstGeom>
        </p:spPr>
        <p:txBody>
          <a:bodyPr vert="horz" lIns="91440" tIns="45720" rIns="91440" bIns="45720" rtlCol="0"/>
          <a:lstStyle>
            <a:lvl1pPr algn="r">
              <a:defRPr sz="1200"/>
            </a:lvl1pPr>
          </a:lstStyle>
          <a:p>
            <a:fld id="{C4050E63-5F5B-4DCE-99AD-DF256DAD281B}" type="datetimeFigureOut">
              <a:rPr lang="zh-CN" altLang="en-US" smtClean="0"/>
              <a:t>2026/1/22</a:t>
            </a:fld>
            <a:endParaRPr lang="zh-CN" altLang="en-US"/>
          </a:p>
        </p:txBody>
      </p:sp>
      <p:sp>
        <p:nvSpPr>
          <p:cNvPr id="4" name="幻灯片图像占位符 3"/>
          <p:cNvSpPr>
            <a:spLocks noGrp="1" noRot="1" noChangeAspect="1"/>
          </p:cNvSpPr>
          <p:nvPr>
            <p:ph type="sldImg" idx="2"/>
          </p:nvPr>
        </p:nvSpPr>
        <p:spPr>
          <a:xfrm>
            <a:off x="3435350" y="849313"/>
            <a:ext cx="3059113" cy="22939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982" y="3271381"/>
            <a:ext cx="7943850" cy="267658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456612"/>
            <a:ext cx="4302919" cy="3410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4596" y="6456612"/>
            <a:ext cx="4302919" cy="341063"/>
          </a:xfrm>
          <a:prstGeom prst="rect">
            <a:avLst/>
          </a:prstGeom>
        </p:spPr>
        <p:txBody>
          <a:bodyPr vert="horz" lIns="91440" tIns="45720" rIns="91440" bIns="45720" rtlCol="0" anchor="b"/>
          <a:lstStyle>
            <a:lvl1pPr algn="r">
              <a:defRPr sz="1200"/>
            </a:lvl1pPr>
          </a:lstStyle>
          <a:p>
            <a:fld id="{CCA23522-C775-4476-A110-0DF264BE082A}" type="slidenum">
              <a:rPr lang="zh-CN" altLang="en-US" smtClean="0"/>
              <a:t>‹#›</a:t>
            </a:fld>
            <a:endParaRPr lang="zh-CN" altLang="en-US"/>
          </a:p>
        </p:txBody>
      </p:sp>
    </p:spTree>
    <p:extLst>
      <p:ext uri="{BB962C8B-B14F-4D97-AF65-F5344CB8AC3E}">
        <p14:creationId xmlns:p14="http://schemas.microsoft.com/office/powerpoint/2010/main" val="1043076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a:t>
            </a:fld>
            <a:endParaRPr lang="zh-CN" altLang="en-US"/>
          </a:p>
        </p:txBody>
      </p:sp>
    </p:spTree>
    <p:extLst>
      <p:ext uri="{BB962C8B-B14F-4D97-AF65-F5344CB8AC3E}">
        <p14:creationId xmlns:p14="http://schemas.microsoft.com/office/powerpoint/2010/main" val="212859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2</a:t>
            </a:fld>
            <a:endParaRPr lang="zh-CN" altLang="en-US"/>
          </a:p>
        </p:txBody>
      </p:sp>
    </p:spTree>
    <p:extLst>
      <p:ext uri="{BB962C8B-B14F-4D97-AF65-F5344CB8AC3E}">
        <p14:creationId xmlns:p14="http://schemas.microsoft.com/office/powerpoint/2010/main" val="4902914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3</a:t>
            </a:fld>
            <a:endParaRPr lang="zh-CN" altLang="en-US"/>
          </a:p>
        </p:txBody>
      </p:sp>
    </p:spTree>
    <p:extLst>
      <p:ext uri="{BB962C8B-B14F-4D97-AF65-F5344CB8AC3E}">
        <p14:creationId xmlns:p14="http://schemas.microsoft.com/office/powerpoint/2010/main" val="581011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4</a:t>
            </a:fld>
            <a:endParaRPr lang="zh-CN" altLang="en-US"/>
          </a:p>
        </p:txBody>
      </p:sp>
    </p:spTree>
    <p:extLst>
      <p:ext uri="{BB962C8B-B14F-4D97-AF65-F5344CB8AC3E}">
        <p14:creationId xmlns:p14="http://schemas.microsoft.com/office/powerpoint/2010/main" val="2246003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14F46-6386-2E90-745A-63B9CA94C5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2A355A-1894-9E49-ED6B-93087162BEB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150DE8F-2BE7-DFA3-1E6C-64C721929C9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210EF55-E43B-777E-00E6-5B19B188096F}"/>
              </a:ext>
            </a:extLst>
          </p:cNvPr>
          <p:cNvSpPr>
            <a:spLocks noGrp="1"/>
          </p:cNvSpPr>
          <p:nvPr>
            <p:ph type="sldNum" sz="quarter" idx="10"/>
          </p:nvPr>
        </p:nvSpPr>
        <p:spPr/>
        <p:txBody>
          <a:bodyPr/>
          <a:lstStyle/>
          <a:p>
            <a:fld id="{CCA23522-C775-4476-A110-0DF264BE082A}" type="slidenum">
              <a:rPr lang="zh-CN" altLang="en-US" smtClean="0"/>
              <a:t>6</a:t>
            </a:fld>
            <a:endParaRPr lang="zh-CN" altLang="en-US"/>
          </a:p>
        </p:txBody>
      </p:sp>
    </p:spTree>
    <p:extLst>
      <p:ext uri="{BB962C8B-B14F-4D97-AF65-F5344CB8AC3E}">
        <p14:creationId xmlns:p14="http://schemas.microsoft.com/office/powerpoint/2010/main" val="12054194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B1EC8-73D4-DDF3-9E32-0D8682B82A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62AEA1-3BBC-5297-EFD2-EBBDCC851D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C6DEE4-5BBF-0CDF-F56C-160B15C7EB4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88A2181-1992-AD33-D20B-46A3F4815412}"/>
              </a:ext>
            </a:extLst>
          </p:cNvPr>
          <p:cNvSpPr>
            <a:spLocks noGrp="1"/>
          </p:cNvSpPr>
          <p:nvPr>
            <p:ph type="sldNum" sz="quarter" idx="10"/>
          </p:nvPr>
        </p:nvSpPr>
        <p:spPr/>
        <p:txBody>
          <a:bodyPr/>
          <a:lstStyle/>
          <a:p>
            <a:fld id="{CCA23522-C775-4476-A110-0DF264BE082A}" type="slidenum">
              <a:rPr lang="zh-CN" altLang="en-US" smtClean="0"/>
              <a:t>7</a:t>
            </a:fld>
            <a:endParaRPr lang="zh-CN" altLang="en-US"/>
          </a:p>
        </p:txBody>
      </p:sp>
    </p:spTree>
    <p:extLst>
      <p:ext uri="{BB962C8B-B14F-4D97-AF65-F5344CB8AC3E}">
        <p14:creationId xmlns:p14="http://schemas.microsoft.com/office/powerpoint/2010/main" val="34267079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6287F-BB2A-99A8-4FAC-863DBDA72E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963EFE-930E-746B-3B8F-0BD3C23E8E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23E51A3-CA78-27A6-6E85-E136C4334A8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2F23562-7CE8-6211-F592-645CA0C87D67}"/>
              </a:ext>
            </a:extLst>
          </p:cNvPr>
          <p:cNvSpPr>
            <a:spLocks noGrp="1"/>
          </p:cNvSpPr>
          <p:nvPr>
            <p:ph type="sldNum" sz="quarter" idx="10"/>
          </p:nvPr>
        </p:nvSpPr>
        <p:spPr/>
        <p:txBody>
          <a:bodyPr/>
          <a:lstStyle/>
          <a:p>
            <a:fld id="{CCA23522-C775-4476-A110-0DF264BE082A}" type="slidenum">
              <a:rPr lang="zh-CN" altLang="en-US" smtClean="0"/>
              <a:t>8</a:t>
            </a:fld>
            <a:endParaRPr lang="zh-CN" altLang="en-US"/>
          </a:p>
        </p:txBody>
      </p:sp>
    </p:spTree>
    <p:extLst>
      <p:ext uri="{BB962C8B-B14F-4D97-AF65-F5344CB8AC3E}">
        <p14:creationId xmlns:p14="http://schemas.microsoft.com/office/powerpoint/2010/main" val="1864014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23119-CB4D-ED2E-5B30-3A408224DD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6F36A1-634F-C626-34C1-31A95CBB9C2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D77896-3EA2-BAA6-10EC-9E0557DDFE5D}"/>
              </a:ext>
            </a:extLst>
          </p:cNvPr>
          <p:cNvSpPr>
            <a:spLocks noGrp="1"/>
          </p:cNvSpPr>
          <p:nvPr>
            <p:ph type="body" idx="1"/>
          </p:nvPr>
        </p:nvSpPr>
        <p:spPr/>
        <p:txBody>
          <a:bodyPr/>
          <a:lstStyle/>
          <a:p>
            <a:r>
              <a:rPr lang="zh-CN" altLang="en-US" dirty="0"/>
              <a:t>处理器子模块是传感器中最重要的模块</a:t>
            </a:r>
          </a:p>
        </p:txBody>
      </p:sp>
      <p:sp>
        <p:nvSpPr>
          <p:cNvPr id="4" name="灯片编号占位符 3">
            <a:extLst>
              <a:ext uri="{FF2B5EF4-FFF2-40B4-BE49-F238E27FC236}">
                <a16:creationId xmlns:a16="http://schemas.microsoft.com/office/drawing/2014/main" id="{B4BAA599-59AE-A6F9-23A8-3196305C5BC5}"/>
              </a:ext>
            </a:extLst>
          </p:cNvPr>
          <p:cNvSpPr>
            <a:spLocks noGrp="1"/>
          </p:cNvSpPr>
          <p:nvPr>
            <p:ph type="sldNum" sz="quarter" idx="10"/>
          </p:nvPr>
        </p:nvSpPr>
        <p:spPr/>
        <p:txBody>
          <a:bodyPr/>
          <a:lstStyle/>
          <a:p>
            <a:fld id="{CCA23522-C775-4476-A110-0DF264BE082A}" type="slidenum">
              <a:rPr lang="zh-CN" altLang="en-US" smtClean="0"/>
              <a:t>9</a:t>
            </a:fld>
            <a:endParaRPr lang="zh-CN" altLang="en-US"/>
          </a:p>
        </p:txBody>
      </p:sp>
    </p:spTree>
    <p:extLst>
      <p:ext uri="{BB962C8B-B14F-4D97-AF65-F5344CB8AC3E}">
        <p14:creationId xmlns:p14="http://schemas.microsoft.com/office/powerpoint/2010/main" val="2990469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44CA3-4015-6544-3871-F402CB9D2D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4A274F-843D-1990-86D8-286380CF71A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3D2B3E-69F0-9F5C-426B-992F10317B1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236C777-465E-2948-5D99-DBBB925E3C38}"/>
              </a:ext>
            </a:extLst>
          </p:cNvPr>
          <p:cNvSpPr>
            <a:spLocks noGrp="1"/>
          </p:cNvSpPr>
          <p:nvPr>
            <p:ph type="sldNum" sz="quarter" idx="10"/>
          </p:nvPr>
        </p:nvSpPr>
        <p:spPr/>
        <p:txBody>
          <a:bodyPr/>
          <a:lstStyle/>
          <a:p>
            <a:fld id="{CCA23522-C775-4476-A110-0DF264BE082A}" type="slidenum">
              <a:rPr lang="zh-CN" altLang="en-US" smtClean="0"/>
              <a:t>10</a:t>
            </a:fld>
            <a:endParaRPr lang="zh-CN" altLang="en-US"/>
          </a:p>
        </p:txBody>
      </p:sp>
    </p:spTree>
    <p:extLst>
      <p:ext uri="{BB962C8B-B14F-4D97-AF65-F5344CB8AC3E}">
        <p14:creationId xmlns:p14="http://schemas.microsoft.com/office/powerpoint/2010/main" val="2007637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F3D78-5B13-1C76-4925-D6F39C56AC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34ED63-B432-CC2D-9880-4F897BE78E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0DE9E77-C8FA-632E-406D-FAEBDA5EAFB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791F096-0434-3440-1FE2-FE824AA09C56}"/>
              </a:ext>
            </a:extLst>
          </p:cNvPr>
          <p:cNvSpPr>
            <a:spLocks noGrp="1"/>
          </p:cNvSpPr>
          <p:nvPr>
            <p:ph type="sldNum" sz="quarter" idx="10"/>
          </p:nvPr>
        </p:nvSpPr>
        <p:spPr/>
        <p:txBody>
          <a:bodyPr/>
          <a:lstStyle/>
          <a:p>
            <a:fld id="{CCA23522-C775-4476-A110-0DF264BE082A}" type="slidenum">
              <a:rPr lang="zh-CN" altLang="en-US" smtClean="0"/>
              <a:t>11</a:t>
            </a:fld>
            <a:endParaRPr lang="zh-CN" altLang="en-US"/>
          </a:p>
        </p:txBody>
      </p:sp>
    </p:spTree>
    <p:extLst>
      <p:ext uri="{BB962C8B-B14F-4D97-AF65-F5344CB8AC3E}">
        <p14:creationId xmlns:p14="http://schemas.microsoft.com/office/powerpoint/2010/main" val="2253197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E29FD-44AE-B91A-E2B7-DBA2566757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3A85F3-448E-C67F-2512-24C4071BE6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0EE0BA-8DF9-CF2D-3C13-1A5388F96CDE}"/>
              </a:ext>
            </a:extLst>
          </p:cNvPr>
          <p:cNvSpPr>
            <a:spLocks noGrp="1"/>
          </p:cNvSpPr>
          <p:nvPr>
            <p:ph type="body" idx="1"/>
          </p:nvPr>
        </p:nvSpPr>
        <p:spPr/>
        <p:txBody>
          <a:bodyPr/>
          <a:lstStyle/>
          <a:p>
            <a:r>
              <a:rPr lang="zh-CN" altLang="en-US" dirty="0"/>
              <a:t>通过</a:t>
            </a:r>
            <a:r>
              <a:rPr lang="en-US" altLang="zh-CN" dirty="0"/>
              <a:t>I/O</a:t>
            </a:r>
            <a:r>
              <a:rPr lang="zh-CN" altLang="en-US" dirty="0"/>
              <a:t>控制器接口可以和外部输入输出设备相连，进行数据存取</a:t>
            </a:r>
            <a:endParaRPr lang="en-US" altLang="zh-CN" dirty="0"/>
          </a:p>
          <a:p>
            <a:endParaRPr lang="en-US" altLang="zh-CN" dirty="0"/>
          </a:p>
          <a:p>
            <a:r>
              <a:rPr lang="zh-CN" altLang="en-US" dirty="0"/>
              <a:t>内部指令缓存可以减少读取时间</a:t>
            </a:r>
          </a:p>
        </p:txBody>
      </p:sp>
      <p:sp>
        <p:nvSpPr>
          <p:cNvPr id="4" name="灯片编号占位符 3">
            <a:extLst>
              <a:ext uri="{FF2B5EF4-FFF2-40B4-BE49-F238E27FC236}">
                <a16:creationId xmlns:a16="http://schemas.microsoft.com/office/drawing/2014/main" id="{FDEAB504-F441-23D4-11B8-88DBF52878AD}"/>
              </a:ext>
            </a:extLst>
          </p:cNvPr>
          <p:cNvSpPr>
            <a:spLocks noGrp="1"/>
          </p:cNvSpPr>
          <p:nvPr>
            <p:ph type="sldNum" sz="quarter" idx="10"/>
          </p:nvPr>
        </p:nvSpPr>
        <p:spPr/>
        <p:txBody>
          <a:bodyPr/>
          <a:lstStyle/>
          <a:p>
            <a:fld id="{CCA23522-C775-4476-A110-0DF264BE082A}" type="slidenum">
              <a:rPr lang="zh-CN" altLang="en-US" smtClean="0"/>
              <a:t>12</a:t>
            </a:fld>
            <a:endParaRPr lang="zh-CN" altLang="en-US"/>
          </a:p>
        </p:txBody>
      </p:sp>
    </p:spTree>
    <p:extLst>
      <p:ext uri="{BB962C8B-B14F-4D97-AF65-F5344CB8AC3E}">
        <p14:creationId xmlns:p14="http://schemas.microsoft.com/office/powerpoint/2010/main" val="2484369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774BB-14CB-3C3E-7F3A-BA8B68EF95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17EC6A-2108-44AF-655E-80CCBB21524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17036C4-B73F-206E-04EA-E8523753F7F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427E47C-6292-D5A6-EA3D-F9A18717933D}"/>
              </a:ext>
            </a:extLst>
          </p:cNvPr>
          <p:cNvSpPr>
            <a:spLocks noGrp="1"/>
          </p:cNvSpPr>
          <p:nvPr>
            <p:ph type="sldNum" sz="quarter" idx="10"/>
          </p:nvPr>
        </p:nvSpPr>
        <p:spPr/>
        <p:txBody>
          <a:bodyPr/>
          <a:lstStyle/>
          <a:p>
            <a:fld id="{CCA23522-C775-4476-A110-0DF264BE082A}" type="slidenum">
              <a:rPr lang="zh-CN" altLang="en-US" smtClean="0"/>
              <a:t>13</a:t>
            </a:fld>
            <a:endParaRPr lang="zh-CN" altLang="en-US"/>
          </a:p>
        </p:txBody>
      </p:sp>
    </p:spTree>
    <p:extLst>
      <p:ext uri="{BB962C8B-B14F-4D97-AF65-F5344CB8AC3E}">
        <p14:creationId xmlns:p14="http://schemas.microsoft.com/office/powerpoint/2010/main" val="1441306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温湿度传感器，光敏传感器，继电器传感器，温湿度传感器，电压、电流传感器，电感传感器，智能传感器</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14</a:t>
            </a:fld>
            <a:endParaRPr lang="zh-CN" altLang="en-US"/>
          </a:p>
        </p:txBody>
      </p:sp>
    </p:spTree>
    <p:extLst>
      <p:ext uri="{BB962C8B-B14F-4D97-AF65-F5344CB8AC3E}">
        <p14:creationId xmlns:p14="http://schemas.microsoft.com/office/powerpoint/2010/main" val="12416869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74A52-85C8-AF0D-A5F0-8657D1609F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5DA8E7-47D0-ED8D-6D3B-19BF26974F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C3B6B7-8E35-C6A9-142C-B9EBAC8C4D6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25E6A68-8D6F-5AFF-BCA0-41DD7AB5D930}"/>
              </a:ext>
            </a:extLst>
          </p:cNvPr>
          <p:cNvSpPr>
            <a:spLocks noGrp="1"/>
          </p:cNvSpPr>
          <p:nvPr>
            <p:ph type="sldNum" sz="quarter" idx="10"/>
          </p:nvPr>
        </p:nvSpPr>
        <p:spPr/>
        <p:txBody>
          <a:bodyPr/>
          <a:lstStyle/>
          <a:p>
            <a:fld id="{CCA23522-C775-4476-A110-0DF264BE082A}" type="slidenum">
              <a:rPr lang="zh-CN" altLang="en-US" smtClean="0"/>
              <a:t>16</a:t>
            </a:fld>
            <a:endParaRPr lang="zh-CN" altLang="en-US"/>
          </a:p>
        </p:txBody>
      </p:sp>
    </p:spTree>
    <p:extLst>
      <p:ext uri="{BB962C8B-B14F-4D97-AF65-F5344CB8AC3E}">
        <p14:creationId xmlns:p14="http://schemas.microsoft.com/office/powerpoint/2010/main" val="2237988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B0257-4718-672D-3020-E53E781A89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632336-8B03-D5C0-9B2C-9FCC65B107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F8B7C8-0FB5-066C-CA81-BBA2FC089188}"/>
              </a:ext>
            </a:extLst>
          </p:cNvPr>
          <p:cNvSpPr>
            <a:spLocks noGrp="1"/>
          </p:cNvSpPr>
          <p:nvPr>
            <p:ph type="body" idx="1"/>
          </p:nvPr>
        </p:nvSpPr>
        <p:spPr/>
        <p:txBody>
          <a:bodyPr/>
          <a:lstStyle/>
          <a:p>
            <a:r>
              <a:rPr lang="zh-CN" altLang="en-US" dirty="0"/>
              <a:t>要确定一下</a:t>
            </a:r>
            <a:r>
              <a:rPr lang="en-US" altLang="zh-CN" dirty="0"/>
              <a:t>ad</a:t>
            </a:r>
            <a:r>
              <a:rPr lang="zh-CN" altLang="en-US" dirty="0"/>
              <a:t> </a:t>
            </a:r>
            <a:r>
              <a:rPr lang="en-US" altLang="zh-CN" dirty="0"/>
              <a:t>hoc</a:t>
            </a:r>
            <a:r>
              <a:rPr lang="zh-CN" altLang="en-US" dirty="0"/>
              <a:t>网络的概念是否在这里讲；</a:t>
            </a:r>
            <a:endParaRPr lang="en-US" altLang="zh-CN" dirty="0"/>
          </a:p>
          <a:p>
            <a:endParaRPr lang="en-US" altLang="zh-CN" dirty="0"/>
          </a:p>
          <a:p>
            <a:r>
              <a:rPr lang="zh-CN" altLang="en-US" dirty="0"/>
              <a:t>具体的</a:t>
            </a:r>
          </a:p>
        </p:txBody>
      </p:sp>
      <p:sp>
        <p:nvSpPr>
          <p:cNvPr id="4" name="灯片编号占位符 3">
            <a:extLst>
              <a:ext uri="{FF2B5EF4-FFF2-40B4-BE49-F238E27FC236}">
                <a16:creationId xmlns:a16="http://schemas.microsoft.com/office/drawing/2014/main" id="{CB9CAA40-7AD5-92B6-7CA5-FF74A8DAC85A}"/>
              </a:ext>
            </a:extLst>
          </p:cNvPr>
          <p:cNvSpPr>
            <a:spLocks noGrp="1"/>
          </p:cNvSpPr>
          <p:nvPr>
            <p:ph type="sldNum" sz="quarter" idx="10"/>
          </p:nvPr>
        </p:nvSpPr>
        <p:spPr/>
        <p:txBody>
          <a:bodyPr/>
          <a:lstStyle/>
          <a:p>
            <a:fld id="{CCA23522-C775-4476-A110-0DF264BE082A}" type="slidenum">
              <a:rPr lang="zh-CN" altLang="en-US" smtClean="0"/>
              <a:t>17</a:t>
            </a:fld>
            <a:endParaRPr lang="zh-CN" altLang="en-US"/>
          </a:p>
        </p:txBody>
      </p:sp>
    </p:spTree>
    <p:extLst>
      <p:ext uri="{BB962C8B-B14F-4D97-AF65-F5344CB8AC3E}">
        <p14:creationId xmlns:p14="http://schemas.microsoft.com/office/powerpoint/2010/main" val="3871376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B0257-4718-672D-3020-E53E781A89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632336-8B03-D5C0-9B2C-9FCC65B107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F8B7C8-0FB5-066C-CA81-BBA2FC089188}"/>
              </a:ext>
            </a:extLst>
          </p:cNvPr>
          <p:cNvSpPr>
            <a:spLocks noGrp="1"/>
          </p:cNvSpPr>
          <p:nvPr>
            <p:ph type="body" idx="1"/>
          </p:nvPr>
        </p:nvSpPr>
        <p:spPr/>
        <p:txBody>
          <a:bodyPr/>
          <a:lstStyle/>
          <a:p>
            <a:r>
              <a:rPr lang="zh-CN" altLang="en-US" dirty="0"/>
              <a:t>要确定一下</a:t>
            </a:r>
            <a:r>
              <a:rPr lang="en-US" altLang="zh-CN" dirty="0"/>
              <a:t>ad</a:t>
            </a:r>
            <a:r>
              <a:rPr lang="zh-CN" altLang="en-US" dirty="0"/>
              <a:t> </a:t>
            </a:r>
            <a:r>
              <a:rPr lang="en-US" altLang="zh-CN" dirty="0"/>
              <a:t>hoc</a:t>
            </a:r>
            <a:r>
              <a:rPr lang="zh-CN" altLang="en-US" dirty="0"/>
              <a:t>网络的概念是否在这里讲；</a:t>
            </a:r>
            <a:endParaRPr lang="en-US" altLang="zh-CN" dirty="0"/>
          </a:p>
          <a:p>
            <a:endParaRPr lang="en-US" altLang="zh-CN" dirty="0"/>
          </a:p>
          <a:p>
            <a:r>
              <a:rPr lang="zh-CN" altLang="en-US" dirty="0"/>
              <a:t>具体的</a:t>
            </a:r>
          </a:p>
        </p:txBody>
      </p:sp>
      <p:sp>
        <p:nvSpPr>
          <p:cNvPr id="4" name="灯片编号占位符 3">
            <a:extLst>
              <a:ext uri="{FF2B5EF4-FFF2-40B4-BE49-F238E27FC236}">
                <a16:creationId xmlns:a16="http://schemas.microsoft.com/office/drawing/2014/main" id="{CB9CAA40-7AD5-92B6-7CA5-FF74A8DAC85A}"/>
              </a:ext>
            </a:extLst>
          </p:cNvPr>
          <p:cNvSpPr>
            <a:spLocks noGrp="1"/>
          </p:cNvSpPr>
          <p:nvPr>
            <p:ph type="sldNum" sz="quarter" idx="10"/>
          </p:nvPr>
        </p:nvSpPr>
        <p:spPr/>
        <p:txBody>
          <a:bodyPr/>
          <a:lstStyle/>
          <a:p>
            <a:fld id="{CCA23522-C775-4476-A110-0DF264BE082A}" type="slidenum">
              <a:rPr lang="zh-CN" altLang="en-US" smtClean="0"/>
              <a:t>18</a:t>
            </a:fld>
            <a:endParaRPr lang="zh-CN" altLang="en-US"/>
          </a:p>
        </p:txBody>
      </p:sp>
    </p:spTree>
    <p:extLst>
      <p:ext uri="{BB962C8B-B14F-4D97-AF65-F5344CB8AC3E}">
        <p14:creationId xmlns:p14="http://schemas.microsoft.com/office/powerpoint/2010/main" val="22961774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B0257-4718-672D-3020-E53E781A89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632336-8B03-D5C0-9B2C-9FCC65B107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F8B7C8-0FB5-066C-CA81-BBA2FC089188}"/>
              </a:ext>
            </a:extLst>
          </p:cNvPr>
          <p:cNvSpPr>
            <a:spLocks noGrp="1"/>
          </p:cNvSpPr>
          <p:nvPr>
            <p:ph type="body" idx="1"/>
          </p:nvPr>
        </p:nvSpPr>
        <p:spPr/>
        <p:txBody>
          <a:bodyPr/>
          <a:lstStyle/>
          <a:p>
            <a:r>
              <a:rPr lang="zh-CN" altLang="en-US" dirty="0"/>
              <a:t>要确定一下</a:t>
            </a:r>
            <a:r>
              <a:rPr lang="en-US" altLang="zh-CN" dirty="0"/>
              <a:t>ad</a:t>
            </a:r>
            <a:r>
              <a:rPr lang="zh-CN" altLang="en-US" dirty="0"/>
              <a:t> </a:t>
            </a:r>
            <a:r>
              <a:rPr lang="en-US" altLang="zh-CN" dirty="0"/>
              <a:t>hoc</a:t>
            </a:r>
            <a:r>
              <a:rPr lang="zh-CN" altLang="en-US" dirty="0"/>
              <a:t>网络的概念是否在这里讲；</a:t>
            </a:r>
            <a:endParaRPr lang="en-US" altLang="zh-CN" dirty="0"/>
          </a:p>
          <a:p>
            <a:endParaRPr lang="en-US" altLang="zh-CN" dirty="0"/>
          </a:p>
          <a:p>
            <a:r>
              <a:rPr lang="zh-CN" altLang="en-US" dirty="0"/>
              <a:t>具体的</a:t>
            </a:r>
          </a:p>
        </p:txBody>
      </p:sp>
      <p:sp>
        <p:nvSpPr>
          <p:cNvPr id="4" name="灯片编号占位符 3">
            <a:extLst>
              <a:ext uri="{FF2B5EF4-FFF2-40B4-BE49-F238E27FC236}">
                <a16:creationId xmlns:a16="http://schemas.microsoft.com/office/drawing/2014/main" id="{CB9CAA40-7AD5-92B6-7CA5-FF74A8DAC85A}"/>
              </a:ext>
            </a:extLst>
          </p:cNvPr>
          <p:cNvSpPr>
            <a:spLocks noGrp="1"/>
          </p:cNvSpPr>
          <p:nvPr>
            <p:ph type="sldNum" sz="quarter" idx="10"/>
          </p:nvPr>
        </p:nvSpPr>
        <p:spPr/>
        <p:txBody>
          <a:bodyPr/>
          <a:lstStyle/>
          <a:p>
            <a:fld id="{CCA23522-C775-4476-A110-0DF264BE082A}" type="slidenum">
              <a:rPr lang="zh-CN" altLang="en-US" smtClean="0"/>
              <a:t>19</a:t>
            </a:fld>
            <a:endParaRPr lang="zh-CN" altLang="en-US"/>
          </a:p>
        </p:txBody>
      </p:sp>
    </p:spTree>
    <p:extLst>
      <p:ext uri="{BB962C8B-B14F-4D97-AF65-F5344CB8AC3E}">
        <p14:creationId xmlns:p14="http://schemas.microsoft.com/office/powerpoint/2010/main" val="39003402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B0257-4718-672D-3020-E53E781A89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632336-8B03-D5C0-9B2C-9FCC65B107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F8B7C8-0FB5-066C-CA81-BBA2FC089188}"/>
              </a:ext>
            </a:extLst>
          </p:cNvPr>
          <p:cNvSpPr>
            <a:spLocks noGrp="1"/>
          </p:cNvSpPr>
          <p:nvPr>
            <p:ph type="body" idx="1"/>
          </p:nvPr>
        </p:nvSpPr>
        <p:spPr/>
        <p:txBody>
          <a:bodyPr/>
          <a:lstStyle/>
          <a:p>
            <a:r>
              <a:rPr lang="zh-CN" altLang="en-US" dirty="0"/>
              <a:t>要确定一下</a:t>
            </a:r>
            <a:r>
              <a:rPr lang="en-US" altLang="zh-CN" dirty="0"/>
              <a:t>ad</a:t>
            </a:r>
            <a:r>
              <a:rPr lang="zh-CN" altLang="en-US" dirty="0"/>
              <a:t> </a:t>
            </a:r>
            <a:r>
              <a:rPr lang="en-US" altLang="zh-CN" dirty="0"/>
              <a:t>hoc</a:t>
            </a:r>
            <a:r>
              <a:rPr lang="zh-CN" altLang="en-US" dirty="0"/>
              <a:t>网络的概念是否在这里讲；</a:t>
            </a:r>
            <a:endParaRPr lang="en-US" altLang="zh-CN" dirty="0"/>
          </a:p>
          <a:p>
            <a:endParaRPr lang="en-US" altLang="zh-CN" dirty="0"/>
          </a:p>
          <a:p>
            <a:r>
              <a:rPr lang="zh-CN" altLang="en-US" dirty="0"/>
              <a:t>具体的</a:t>
            </a:r>
          </a:p>
        </p:txBody>
      </p:sp>
      <p:sp>
        <p:nvSpPr>
          <p:cNvPr id="4" name="灯片编号占位符 3">
            <a:extLst>
              <a:ext uri="{FF2B5EF4-FFF2-40B4-BE49-F238E27FC236}">
                <a16:creationId xmlns:a16="http://schemas.microsoft.com/office/drawing/2014/main" id="{CB9CAA40-7AD5-92B6-7CA5-FF74A8DAC85A}"/>
              </a:ext>
            </a:extLst>
          </p:cNvPr>
          <p:cNvSpPr>
            <a:spLocks noGrp="1"/>
          </p:cNvSpPr>
          <p:nvPr>
            <p:ph type="sldNum" sz="quarter" idx="10"/>
          </p:nvPr>
        </p:nvSpPr>
        <p:spPr/>
        <p:txBody>
          <a:bodyPr/>
          <a:lstStyle/>
          <a:p>
            <a:fld id="{CCA23522-C775-4476-A110-0DF264BE082A}" type="slidenum">
              <a:rPr lang="zh-CN" altLang="en-US" smtClean="0"/>
              <a:t>20</a:t>
            </a:fld>
            <a:endParaRPr lang="zh-CN" altLang="en-US"/>
          </a:p>
        </p:txBody>
      </p:sp>
    </p:spTree>
    <p:extLst>
      <p:ext uri="{BB962C8B-B14F-4D97-AF65-F5344CB8AC3E}">
        <p14:creationId xmlns:p14="http://schemas.microsoft.com/office/powerpoint/2010/main" val="1692239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B0257-4718-672D-3020-E53E781A89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632336-8B03-D5C0-9B2C-9FCC65B107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F8B7C8-0FB5-066C-CA81-BBA2FC089188}"/>
              </a:ext>
            </a:extLst>
          </p:cNvPr>
          <p:cNvSpPr>
            <a:spLocks noGrp="1"/>
          </p:cNvSpPr>
          <p:nvPr>
            <p:ph type="body" idx="1"/>
          </p:nvPr>
        </p:nvSpPr>
        <p:spPr/>
        <p:txBody>
          <a:bodyPr/>
          <a:lstStyle/>
          <a:p>
            <a:r>
              <a:rPr lang="zh-CN" altLang="en-US" dirty="0"/>
              <a:t>要确定一下</a:t>
            </a:r>
            <a:r>
              <a:rPr lang="en-US" altLang="zh-CN" dirty="0"/>
              <a:t>ad</a:t>
            </a:r>
            <a:r>
              <a:rPr lang="zh-CN" altLang="en-US" dirty="0"/>
              <a:t> </a:t>
            </a:r>
            <a:r>
              <a:rPr lang="en-US" altLang="zh-CN" dirty="0"/>
              <a:t>hoc</a:t>
            </a:r>
            <a:r>
              <a:rPr lang="zh-CN" altLang="en-US" dirty="0"/>
              <a:t>网络的概念是否在这里讲；</a:t>
            </a:r>
            <a:endParaRPr lang="en-US" altLang="zh-CN" dirty="0"/>
          </a:p>
          <a:p>
            <a:endParaRPr lang="en-US" altLang="zh-CN" dirty="0"/>
          </a:p>
          <a:p>
            <a:r>
              <a:rPr lang="zh-CN" altLang="en-US" dirty="0"/>
              <a:t>具体的</a:t>
            </a:r>
          </a:p>
        </p:txBody>
      </p:sp>
      <p:sp>
        <p:nvSpPr>
          <p:cNvPr id="4" name="灯片编号占位符 3">
            <a:extLst>
              <a:ext uri="{FF2B5EF4-FFF2-40B4-BE49-F238E27FC236}">
                <a16:creationId xmlns:a16="http://schemas.microsoft.com/office/drawing/2014/main" id="{CB9CAA40-7AD5-92B6-7CA5-FF74A8DAC85A}"/>
              </a:ext>
            </a:extLst>
          </p:cNvPr>
          <p:cNvSpPr>
            <a:spLocks noGrp="1"/>
          </p:cNvSpPr>
          <p:nvPr>
            <p:ph type="sldNum" sz="quarter" idx="10"/>
          </p:nvPr>
        </p:nvSpPr>
        <p:spPr/>
        <p:txBody>
          <a:bodyPr/>
          <a:lstStyle/>
          <a:p>
            <a:fld id="{CCA23522-C775-4476-A110-0DF264BE082A}" type="slidenum">
              <a:rPr lang="zh-CN" altLang="en-US" smtClean="0"/>
              <a:t>21</a:t>
            </a:fld>
            <a:endParaRPr lang="zh-CN" altLang="en-US"/>
          </a:p>
        </p:txBody>
      </p:sp>
    </p:spTree>
    <p:extLst>
      <p:ext uri="{BB962C8B-B14F-4D97-AF65-F5344CB8AC3E}">
        <p14:creationId xmlns:p14="http://schemas.microsoft.com/office/powerpoint/2010/main" val="23231955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B0257-4718-672D-3020-E53E781A89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632336-8B03-D5C0-9B2C-9FCC65B107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F8B7C8-0FB5-066C-CA81-BBA2FC089188}"/>
              </a:ext>
            </a:extLst>
          </p:cNvPr>
          <p:cNvSpPr>
            <a:spLocks noGrp="1"/>
          </p:cNvSpPr>
          <p:nvPr>
            <p:ph type="body" idx="1"/>
          </p:nvPr>
        </p:nvSpPr>
        <p:spPr/>
        <p:txBody>
          <a:bodyPr/>
          <a:lstStyle/>
          <a:p>
            <a:r>
              <a:rPr lang="zh-CN" altLang="en-US" dirty="0"/>
              <a:t>要确定一下</a:t>
            </a:r>
            <a:r>
              <a:rPr lang="en-US" altLang="zh-CN" dirty="0"/>
              <a:t>ad</a:t>
            </a:r>
            <a:r>
              <a:rPr lang="zh-CN" altLang="en-US" dirty="0"/>
              <a:t> </a:t>
            </a:r>
            <a:r>
              <a:rPr lang="en-US" altLang="zh-CN" dirty="0"/>
              <a:t>hoc</a:t>
            </a:r>
            <a:r>
              <a:rPr lang="zh-CN" altLang="en-US" dirty="0"/>
              <a:t>网络的概念是否在这里讲；</a:t>
            </a:r>
            <a:endParaRPr lang="en-US" altLang="zh-CN" dirty="0"/>
          </a:p>
          <a:p>
            <a:endParaRPr lang="en-US" altLang="zh-CN" dirty="0"/>
          </a:p>
          <a:p>
            <a:r>
              <a:rPr lang="zh-CN" altLang="en-US" dirty="0"/>
              <a:t>具体的</a:t>
            </a:r>
          </a:p>
        </p:txBody>
      </p:sp>
      <p:sp>
        <p:nvSpPr>
          <p:cNvPr id="4" name="灯片编号占位符 3">
            <a:extLst>
              <a:ext uri="{FF2B5EF4-FFF2-40B4-BE49-F238E27FC236}">
                <a16:creationId xmlns:a16="http://schemas.microsoft.com/office/drawing/2014/main" id="{CB9CAA40-7AD5-92B6-7CA5-FF74A8DAC85A}"/>
              </a:ext>
            </a:extLst>
          </p:cNvPr>
          <p:cNvSpPr>
            <a:spLocks noGrp="1"/>
          </p:cNvSpPr>
          <p:nvPr>
            <p:ph type="sldNum" sz="quarter" idx="10"/>
          </p:nvPr>
        </p:nvSpPr>
        <p:spPr/>
        <p:txBody>
          <a:bodyPr/>
          <a:lstStyle/>
          <a:p>
            <a:fld id="{CCA23522-C775-4476-A110-0DF264BE082A}" type="slidenum">
              <a:rPr lang="zh-CN" altLang="en-US" smtClean="0"/>
              <a:t>22</a:t>
            </a:fld>
            <a:endParaRPr lang="zh-CN" altLang="en-US"/>
          </a:p>
        </p:txBody>
      </p:sp>
    </p:spTree>
    <p:extLst>
      <p:ext uri="{BB962C8B-B14F-4D97-AF65-F5344CB8AC3E}">
        <p14:creationId xmlns:p14="http://schemas.microsoft.com/office/powerpoint/2010/main" val="30657049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B0257-4718-672D-3020-E53E781A89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632336-8B03-D5C0-9B2C-9FCC65B107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F8B7C8-0FB5-066C-CA81-BBA2FC089188}"/>
              </a:ext>
            </a:extLst>
          </p:cNvPr>
          <p:cNvSpPr>
            <a:spLocks noGrp="1"/>
          </p:cNvSpPr>
          <p:nvPr>
            <p:ph type="body" idx="1"/>
          </p:nvPr>
        </p:nvSpPr>
        <p:spPr/>
        <p:txBody>
          <a:bodyPr/>
          <a:lstStyle/>
          <a:p>
            <a:r>
              <a:rPr lang="zh-CN" altLang="en-US" dirty="0"/>
              <a:t>要确定一下</a:t>
            </a:r>
            <a:r>
              <a:rPr lang="en-US" altLang="zh-CN" dirty="0"/>
              <a:t>ad</a:t>
            </a:r>
            <a:r>
              <a:rPr lang="zh-CN" altLang="en-US" dirty="0"/>
              <a:t> </a:t>
            </a:r>
            <a:r>
              <a:rPr lang="en-US" altLang="zh-CN" dirty="0"/>
              <a:t>hoc</a:t>
            </a:r>
            <a:r>
              <a:rPr lang="zh-CN" altLang="en-US" dirty="0"/>
              <a:t>网络的概念是否在这里讲；</a:t>
            </a:r>
            <a:endParaRPr lang="en-US" altLang="zh-CN" dirty="0"/>
          </a:p>
          <a:p>
            <a:endParaRPr lang="en-US" altLang="zh-CN" dirty="0"/>
          </a:p>
          <a:p>
            <a:r>
              <a:rPr lang="zh-CN" altLang="en-US" dirty="0"/>
              <a:t>具体的</a:t>
            </a:r>
          </a:p>
        </p:txBody>
      </p:sp>
      <p:sp>
        <p:nvSpPr>
          <p:cNvPr id="4" name="灯片编号占位符 3">
            <a:extLst>
              <a:ext uri="{FF2B5EF4-FFF2-40B4-BE49-F238E27FC236}">
                <a16:creationId xmlns:a16="http://schemas.microsoft.com/office/drawing/2014/main" id="{CB9CAA40-7AD5-92B6-7CA5-FF74A8DAC85A}"/>
              </a:ext>
            </a:extLst>
          </p:cNvPr>
          <p:cNvSpPr>
            <a:spLocks noGrp="1"/>
          </p:cNvSpPr>
          <p:nvPr>
            <p:ph type="sldNum" sz="quarter" idx="10"/>
          </p:nvPr>
        </p:nvSpPr>
        <p:spPr/>
        <p:txBody>
          <a:bodyPr/>
          <a:lstStyle/>
          <a:p>
            <a:fld id="{CCA23522-C775-4476-A110-0DF264BE082A}" type="slidenum">
              <a:rPr lang="zh-CN" altLang="en-US" smtClean="0"/>
              <a:t>23</a:t>
            </a:fld>
            <a:endParaRPr lang="zh-CN" altLang="en-US"/>
          </a:p>
        </p:txBody>
      </p:sp>
    </p:spTree>
    <p:extLst>
      <p:ext uri="{BB962C8B-B14F-4D97-AF65-F5344CB8AC3E}">
        <p14:creationId xmlns:p14="http://schemas.microsoft.com/office/powerpoint/2010/main" val="25954846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B0257-4718-672D-3020-E53E781A89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632336-8B03-D5C0-9B2C-9FCC65B107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F8B7C8-0FB5-066C-CA81-BBA2FC089188}"/>
              </a:ext>
            </a:extLst>
          </p:cNvPr>
          <p:cNvSpPr>
            <a:spLocks noGrp="1"/>
          </p:cNvSpPr>
          <p:nvPr>
            <p:ph type="body" idx="1"/>
          </p:nvPr>
        </p:nvSpPr>
        <p:spPr/>
        <p:txBody>
          <a:bodyPr/>
          <a:lstStyle/>
          <a:p>
            <a:r>
              <a:rPr lang="zh-CN" altLang="en-US" dirty="0"/>
              <a:t>要确定一下</a:t>
            </a:r>
            <a:r>
              <a:rPr lang="en-US" altLang="zh-CN" dirty="0"/>
              <a:t>ad</a:t>
            </a:r>
            <a:r>
              <a:rPr lang="zh-CN" altLang="en-US" dirty="0"/>
              <a:t> </a:t>
            </a:r>
            <a:r>
              <a:rPr lang="en-US" altLang="zh-CN" dirty="0"/>
              <a:t>hoc</a:t>
            </a:r>
            <a:r>
              <a:rPr lang="zh-CN" altLang="en-US" dirty="0"/>
              <a:t>网络的概念是否在这里讲；</a:t>
            </a:r>
            <a:endParaRPr lang="en-US" altLang="zh-CN" dirty="0"/>
          </a:p>
          <a:p>
            <a:endParaRPr lang="en-US" altLang="zh-CN" dirty="0"/>
          </a:p>
          <a:p>
            <a:r>
              <a:rPr lang="zh-CN" altLang="en-US" dirty="0"/>
              <a:t>具体的</a:t>
            </a:r>
          </a:p>
        </p:txBody>
      </p:sp>
      <p:sp>
        <p:nvSpPr>
          <p:cNvPr id="4" name="灯片编号占位符 3">
            <a:extLst>
              <a:ext uri="{FF2B5EF4-FFF2-40B4-BE49-F238E27FC236}">
                <a16:creationId xmlns:a16="http://schemas.microsoft.com/office/drawing/2014/main" id="{CB9CAA40-7AD5-92B6-7CA5-FF74A8DAC85A}"/>
              </a:ext>
            </a:extLst>
          </p:cNvPr>
          <p:cNvSpPr>
            <a:spLocks noGrp="1"/>
          </p:cNvSpPr>
          <p:nvPr>
            <p:ph type="sldNum" sz="quarter" idx="10"/>
          </p:nvPr>
        </p:nvSpPr>
        <p:spPr/>
        <p:txBody>
          <a:bodyPr/>
          <a:lstStyle/>
          <a:p>
            <a:fld id="{CCA23522-C775-4476-A110-0DF264BE082A}" type="slidenum">
              <a:rPr lang="zh-CN" altLang="en-US" smtClean="0"/>
              <a:t>24</a:t>
            </a:fld>
            <a:endParaRPr lang="zh-CN" altLang="en-US"/>
          </a:p>
        </p:txBody>
      </p:sp>
    </p:spTree>
    <p:extLst>
      <p:ext uri="{BB962C8B-B14F-4D97-AF65-F5344CB8AC3E}">
        <p14:creationId xmlns:p14="http://schemas.microsoft.com/office/powerpoint/2010/main" val="22128995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DD3D7-8324-8223-63E8-4D02094246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3C52A3-0B99-EB80-FD19-0AE24BEE0C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7CB5B5-4176-30E1-BD71-75BCDA8B645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0015D52-F044-143C-36A3-1A311815C133}"/>
              </a:ext>
            </a:extLst>
          </p:cNvPr>
          <p:cNvSpPr>
            <a:spLocks noGrp="1"/>
          </p:cNvSpPr>
          <p:nvPr>
            <p:ph type="sldNum" sz="quarter" idx="10"/>
          </p:nvPr>
        </p:nvSpPr>
        <p:spPr/>
        <p:txBody>
          <a:bodyPr/>
          <a:lstStyle/>
          <a:p>
            <a:fld id="{CCA23522-C775-4476-A110-0DF264BE082A}" type="slidenum">
              <a:rPr lang="zh-CN" altLang="en-US" smtClean="0"/>
              <a:t>26</a:t>
            </a:fld>
            <a:endParaRPr lang="zh-CN" altLang="en-US"/>
          </a:p>
        </p:txBody>
      </p:sp>
    </p:spTree>
    <p:extLst>
      <p:ext uri="{BB962C8B-B14F-4D97-AF65-F5344CB8AC3E}">
        <p14:creationId xmlns:p14="http://schemas.microsoft.com/office/powerpoint/2010/main" val="42361662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AutoNum type="arabicPeriod"/>
            </a:pPr>
            <a:r>
              <a:rPr lang="zh-CN" altLang="en-US" b="1" i="0" dirty="0">
                <a:solidFill>
                  <a:srgbClr val="222222"/>
                </a:solidFill>
                <a:effectLst/>
                <a:latin typeface="Inter"/>
              </a:rPr>
              <a:t>网络拓扑</a:t>
            </a:r>
            <a:endParaRPr lang="zh-CN" altLang="en-US" b="0" i="0" dirty="0">
              <a:solidFill>
                <a:srgbClr val="222222"/>
              </a:solidFill>
              <a:effectLst/>
              <a:latin typeface="Inter"/>
            </a:endParaRPr>
          </a:p>
          <a:p>
            <a:pPr marL="742950" lvl="1" indent="-285750" algn="l">
              <a:buFont typeface="+mj-lt"/>
              <a:buAutoNum type="arabicPeriod"/>
            </a:pPr>
            <a:r>
              <a:rPr lang="zh-CN" altLang="en-US" b="1" i="0" dirty="0">
                <a:solidFill>
                  <a:srgbClr val="222222"/>
                </a:solidFill>
                <a:effectLst/>
                <a:latin typeface="Inter"/>
              </a:rPr>
              <a:t>定义</a:t>
            </a:r>
            <a:r>
              <a:rPr lang="zh-CN" altLang="en-US" b="0" i="0" dirty="0">
                <a:solidFill>
                  <a:srgbClr val="222222"/>
                </a:solidFill>
                <a:effectLst/>
                <a:latin typeface="Inter"/>
              </a:rPr>
              <a:t>：网络拓扑描述了网络中各个设备之间的物理连接方式以及数据流动的路径。它表示了网络中设备之间的关系以及如何进行通信。网络拓扑图是一种描述计算机网络中各个设备之间连接关系的图形表示方式。</a:t>
            </a:r>
          </a:p>
          <a:p>
            <a:pPr marL="742950" lvl="1" indent="-285750" algn="l">
              <a:buFont typeface="+mj-lt"/>
              <a:buAutoNum type="arabicPeriod"/>
            </a:pPr>
            <a:r>
              <a:rPr lang="zh-CN" altLang="en-US" b="1" i="0" dirty="0">
                <a:solidFill>
                  <a:srgbClr val="222222"/>
                </a:solidFill>
                <a:effectLst/>
                <a:latin typeface="Inter"/>
              </a:rPr>
              <a:t>类型</a:t>
            </a:r>
            <a:r>
              <a:rPr lang="zh-CN" altLang="en-US" b="0" i="0" dirty="0">
                <a:solidFill>
                  <a:srgbClr val="222222"/>
                </a:solidFill>
                <a:effectLst/>
                <a:latin typeface="Inter"/>
              </a:rPr>
              <a:t>：常见的网络拓扑包括总线型、星型、环形、树状和网状等。每种拓扑结构都有其独特的优势和局限性，适用于不同的应用场景。</a:t>
            </a:r>
          </a:p>
          <a:p>
            <a:pPr algn="l">
              <a:buFont typeface="+mj-lt"/>
              <a:buAutoNum type="arabicPeriod"/>
            </a:pPr>
            <a:r>
              <a:rPr lang="zh-CN" altLang="en-US" b="1" i="0" dirty="0">
                <a:solidFill>
                  <a:srgbClr val="222222"/>
                </a:solidFill>
                <a:effectLst/>
                <a:latin typeface="Inter"/>
              </a:rPr>
              <a:t>网络架构</a:t>
            </a:r>
            <a:endParaRPr lang="zh-CN" altLang="en-US" b="0" i="0" dirty="0">
              <a:solidFill>
                <a:srgbClr val="222222"/>
              </a:solidFill>
              <a:effectLst/>
              <a:latin typeface="Inter"/>
            </a:endParaRPr>
          </a:p>
          <a:p>
            <a:pPr marL="742950" lvl="1" indent="-285750" algn="l">
              <a:buFont typeface="+mj-lt"/>
              <a:buAutoNum type="arabicPeriod"/>
            </a:pPr>
            <a:r>
              <a:rPr lang="zh-CN" altLang="en-US" b="1" i="0" dirty="0">
                <a:solidFill>
                  <a:srgbClr val="222222"/>
                </a:solidFill>
                <a:effectLst/>
                <a:latin typeface="Inter"/>
              </a:rPr>
              <a:t>定义</a:t>
            </a:r>
            <a:r>
              <a:rPr lang="zh-CN" altLang="en-US" b="0" i="0" dirty="0">
                <a:solidFill>
                  <a:srgbClr val="222222"/>
                </a:solidFill>
                <a:effectLst/>
                <a:latin typeface="Inter"/>
              </a:rPr>
              <a:t>：网络架构关注的是网络系统的设计和组织结构，包括网络设备、协议、服务等的组合方式。它描述了网络中各个组件之间的关系和功能划分，为网络的实现和管理提供了指导。</a:t>
            </a:r>
          </a:p>
          <a:p>
            <a:pPr marL="742950" lvl="1" indent="-285750" algn="l">
              <a:buFont typeface="+mj-lt"/>
              <a:buAutoNum type="arabicPeriod"/>
            </a:pPr>
            <a:r>
              <a:rPr lang="zh-CN" altLang="en-US" b="1" i="0" dirty="0">
                <a:solidFill>
                  <a:srgbClr val="222222"/>
                </a:solidFill>
                <a:effectLst/>
                <a:latin typeface="Inter"/>
              </a:rPr>
              <a:t>特点</a:t>
            </a:r>
            <a:r>
              <a:rPr lang="zh-CN" altLang="en-US" b="0" i="0" dirty="0">
                <a:solidFill>
                  <a:srgbClr val="222222"/>
                </a:solidFill>
                <a:effectLst/>
                <a:latin typeface="Inter"/>
              </a:rPr>
              <a:t>：网络架构通常具有多层次的结构，如边缘网络、核心网络、存储网络等，每个层次都有其专门的任务和功能。网络架构的设计需要考虑到网络的性能、安全、可靠性等方面，以满足不同场景下的需求。</a:t>
            </a:r>
          </a:p>
          <a:p>
            <a:endParaRPr lang="en-US" altLang="zh-CN" dirty="0"/>
          </a:p>
          <a:p>
            <a:r>
              <a:rPr lang="zh-CN" altLang="en-US" b="1" dirty="0"/>
              <a:t>不同点：</a:t>
            </a:r>
            <a:endParaRPr lang="en-US" altLang="zh-CN" b="1" dirty="0"/>
          </a:p>
          <a:p>
            <a:pPr algn="l">
              <a:buFont typeface="+mj-lt"/>
              <a:buAutoNum type="arabicPeriod"/>
            </a:pPr>
            <a:r>
              <a:rPr lang="zh-CN" altLang="en-US" b="1" i="0" dirty="0">
                <a:solidFill>
                  <a:srgbClr val="222222"/>
                </a:solidFill>
                <a:effectLst/>
                <a:latin typeface="Inter"/>
              </a:rPr>
              <a:t>关注点不同</a:t>
            </a:r>
            <a:r>
              <a:rPr lang="zh-CN" altLang="en-US" b="0" i="0" dirty="0">
                <a:solidFill>
                  <a:srgbClr val="222222"/>
                </a:solidFill>
                <a:effectLst/>
                <a:latin typeface="Inter"/>
              </a:rPr>
              <a:t>：网络拓扑主要关注设备之间的连接方式和数据流动路径，而网络架构则关注整个网络系统的设计和组织结构。</a:t>
            </a:r>
          </a:p>
          <a:p>
            <a:pPr algn="l">
              <a:buFont typeface="+mj-lt"/>
              <a:buAutoNum type="arabicPeriod"/>
            </a:pPr>
            <a:r>
              <a:rPr lang="zh-CN" altLang="en-US" b="1" i="0" dirty="0">
                <a:solidFill>
                  <a:srgbClr val="222222"/>
                </a:solidFill>
                <a:effectLst/>
                <a:latin typeface="Inter"/>
              </a:rPr>
              <a:t>层次不同</a:t>
            </a:r>
            <a:r>
              <a:rPr lang="zh-CN" altLang="en-US" b="0" i="0" dirty="0">
                <a:solidFill>
                  <a:srgbClr val="222222"/>
                </a:solidFill>
                <a:effectLst/>
                <a:latin typeface="Inter"/>
              </a:rPr>
              <a:t>：网络拓扑是网络架构中的一个重要组成部分，但网络架构还涵盖了更多的方面，如设备选择、协议配置、服务部署等。</a:t>
            </a:r>
          </a:p>
          <a:p>
            <a:pPr algn="l">
              <a:buFont typeface="+mj-lt"/>
              <a:buAutoNum type="arabicPeriod"/>
            </a:pPr>
            <a:r>
              <a:rPr lang="zh-CN" altLang="en-US" b="1" i="0" dirty="0">
                <a:solidFill>
                  <a:srgbClr val="222222"/>
                </a:solidFill>
                <a:effectLst/>
                <a:latin typeface="Inter"/>
              </a:rPr>
              <a:t>作用不同</a:t>
            </a:r>
            <a:r>
              <a:rPr lang="zh-CN" altLang="en-US" b="0" i="0" dirty="0">
                <a:solidFill>
                  <a:srgbClr val="222222"/>
                </a:solidFill>
                <a:effectLst/>
                <a:latin typeface="Inter"/>
              </a:rPr>
              <a:t>：网络拓扑图可以帮助网络管理员更直观地了解网络结构，识别潜在问题和优化网络性能。而网络架构则是网络设计的基石，是网络运行的指导原则和规范。</a:t>
            </a:r>
            <a:endParaRPr lang="en-US" altLang="zh-CN" b="0" i="0" dirty="0">
              <a:solidFill>
                <a:srgbClr val="222222"/>
              </a:solidFill>
              <a:effectLst/>
              <a:latin typeface="Inter"/>
            </a:endParaRPr>
          </a:p>
          <a:p>
            <a:pPr algn="l">
              <a:buFont typeface="+mj-lt"/>
              <a:buAutoNum type="arabicPeriod"/>
            </a:pPr>
            <a:endParaRPr lang="en-US" altLang="zh-CN" b="0" i="0" dirty="0">
              <a:solidFill>
                <a:srgbClr val="222222"/>
              </a:solidFill>
              <a:effectLst/>
              <a:latin typeface="Inter"/>
            </a:endParaRPr>
          </a:p>
          <a:p>
            <a:pPr algn="l">
              <a:buFont typeface="+mj-lt"/>
              <a:buAutoNum type="arabicPeriod"/>
            </a:pPr>
            <a:endParaRPr lang="en-US" altLang="zh-CN" b="0" i="0" dirty="0">
              <a:solidFill>
                <a:srgbClr val="222222"/>
              </a:solidFill>
              <a:effectLst/>
              <a:latin typeface="Inter"/>
            </a:endParaRPr>
          </a:p>
          <a:p>
            <a:pPr algn="l">
              <a:buFont typeface="+mj-lt"/>
              <a:buNone/>
            </a:pPr>
            <a:r>
              <a:rPr lang="zh-CN" altLang="en-US" b="0" i="0" dirty="0">
                <a:solidFill>
                  <a:srgbClr val="222222"/>
                </a:solidFill>
                <a:effectLst/>
                <a:latin typeface="Inter"/>
              </a:rPr>
              <a:t>网络拓扑告诉我们数据流是怎么流动的，如何进行数据汇聚的；</a:t>
            </a:r>
            <a:endParaRPr lang="en-US" altLang="zh-CN" b="0" i="0" dirty="0">
              <a:solidFill>
                <a:srgbClr val="222222"/>
              </a:solidFill>
              <a:effectLst/>
              <a:latin typeface="Inter"/>
            </a:endParaRPr>
          </a:p>
          <a:p>
            <a:pPr algn="l">
              <a:buFont typeface="+mj-lt"/>
              <a:buNone/>
            </a:pPr>
            <a:r>
              <a:rPr lang="zh-CN" altLang="en-US" b="0" i="0" dirty="0">
                <a:solidFill>
                  <a:srgbClr val="222222"/>
                </a:solidFill>
                <a:effectLst/>
                <a:latin typeface="Inter"/>
              </a:rPr>
              <a:t>网络架构告诉我们各网络节点的角色，以及采用什么方式进行数据流动和汇聚的。</a:t>
            </a:r>
          </a:p>
          <a:p>
            <a:endParaRPr lang="en-US" altLang="zh-CN" dirty="0"/>
          </a:p>
          <a:p>
            <a:pPr algn="l"/>
            <a:r>
              <a:rPr lang="zh-CN" altLang="en-US" b="0" i="0" dirty="0">
                <a:solidFill>
                  <a:srgbClr val="222222"/>
                </a:solidFill>
                <a:effectLst/>
                <a:latin typeface="Inter"/>
              </a:rPr>
              <a:t>三、关系</a:t>
            </a:r>
          </a:p>
          <a:p>
            <a:pPr algn="l">
              <a:buFont typeface="+mj-lt"/>
              <a:buAutoNum type="arabicPeriod"/>
            </a:pPr>
            <a:r>
              <a:rPr lang="zh-CN" altLang="en-US" b="1" i="0" dirty="0">
                <a:solidFill>
                  <a:srgbClr val="222222"/>
                </a:solidFill>
                <a:effectLst/>
                <a:latin typeface="Inter"/>
              </a:rPr>
              <a:t>相辅相成</a:t>
            </a:r>
            <a:r>
              <a:rPr lang="zh-CN" altLang="en-US" b="0" i="0" dirty="0">
                <a:solidFill>
                  <a:srgbClr val="222222"/>
                </a:solidFill>
                <a:effectLst/>
                <a:latin typeface="Inter"/>
              </a:rPr>
              <a:t>：网络拓扑和网络架构在实际应用中通常是相互关联的，共同构建一个稳定、高效的网络系统。网络拓扑为网络架构提供了物理连接的基础，而网络架构则决定了网络拓扑的选择和布局。</a:t>
            </a:r>
          </a:p>
          <a:p>
            <a:pPr algn="l">
              <a:buFont typeface="+mj-lt"/>
              <a:buAutoNum type="arabicPeriod"/>
            </a:pPr>
            <a:r>
              <a:rPr lang="zh-CN" altLang="en-US" b="1" i="0" dirty="0">
                <a:solidFill>
                  <a:srgbClr val="222222"/>
                </a:solidFill>
                <a:effectLst/>
                <a:latin typeface="Inter"/>
              </a:rPr>
              <a:t>形式与内容</a:t>
            </a:r>
            <a:r>
              <a:rPr lang="zh-CN" altLang="en-US" b="0" i="0" dirty="0">
                <a:solidFill>
                  <a:srgbClr val="222222"/>
                </a:solidFill>
                <a:effectLst/>
                <a:latin typeface="Inter"/>
              </a:rPr>
              <a:t>：网络拓扑图可以被视为网络架构的一种表现形式，是对网络架构的图形化展示。通过网络拓扑图，可以直观地看到网络中的设备、连接和数据流动路径，从而更好地理解网络架构的设计和实现。</a:t>
            </a:r>
          </a:p>
          <a:p>
            <a:pPr algn="l"/>
            <a:r>
              <a:rPr lang="zh-CN" altLang="en-US" b="0" i="0" dirty="0">
                <a:solidFill>
                  <a:srgbClr val="222222"/>
                </a:solidFill>
                <a:effectLst/>
                <a:latin typeface="Inter"/>
              </a:rPr>
              <a:t>综上所述，网络拓扑和网络架构虽然都与网络相关，但它们有着不同的定义和作用。网络拓扑描述了设备之间的连接方式和数据流动路径，而网络架构则关注网络系统的设计和组织结构。在实际应用中，这两个概念是相互关联的，共同构建了一个稳定、高效的网络系统。</a:t>
            </a:r>
          </a:p>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27</a:t>
            </a:fld>
            <a:endParaRPr lang="zh-CN" altLang="en-US"/>
          </a:p>
        </p:txBody>
      </p:sp>
    </p:spTree>
    <p:extLst>
      <p:ext uri="{BB962C8B-B14F-4D97-AF65-F5344CB8AC3E}">
        <p14:creationId xmlns:p14="http://schemas.microsoft.com/office/powerpoint/2010/main" val="28930765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28</a:t>
            </a:fld>
            <a:endParaRPr lang="zh-CN" altLang="en-US"/>
          </a:p>
        </p:txBody>
      </p:sp>
    </p:spTree>
    <p:extLst>
      <p:ext uri="{BB962C8B-B14F-4D97-AF65-F5344CB8AC3E}">
        <p14:creationId xmlns:p14="http://schemas.microsoft.com/office/powerpoint/2010/main" val="9777276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29</a:t>
            </a:fld>
            <a:endParaRPr lang="zh-CN" altLang="en-US"/>
          </a:p>
        </p:txBody>
      </p:sp>
    </p:spTree>
    <p:extLst>
      <p:ext uri="{BB962C8B-B14F-4D97-AF65-F5344CB8AC3E}">
        <p14:creationId xmlns:p14="http://schemas.microsoft.com/office/powerpoint/2010/main" val="24468574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eaLnBrk="1" hangingPunct="1">
              <a:lnSpc>
                <a:spcPct val="115000"/>
              </a:lnSpc>
              <a:spcBef>
                <a:spcPct val="10000"/>
              </a:spcBef>
            </a:pPr>
            <a:r>
              <a:rPr lang="zh-CN" altLang="en-US" dirty="0">
                <a:solidFill>
                  <a:schemeClr val="bg2"/>
                </a:solidFill>
                <a:latin typeface="宋体" panose="02010600030101010101" pitchFamily="2" charset="-122"/>
                <a:ea typeface="黑体" panose="02010609060101010101" pitchFamily="49" charset="-122"/>
              </a:rPr>
              <a:t>目前无线网络可分为两种</a:t>
            </a:r>
            <a:r>
              <a:rPr lang="en-US" altLang="zh-CN" dirty="0">
                <a:solidFill>
                  <a:schemeClr val="bg2"/>
                </a:solidFill>
                <a:latin typeface="宋体" panose="02010600030101010101" pitchFamily="2" charset="-122"/>
                <a:ea typeface="黑体" panose="02010609060101010101" pitchFamily="49" charset="-122"/>
              </a:rPr>
              <a:t>:</a:t>
            </a:r>
            <a:r>
              <a:rPr lang="zh-CN" altLang="en-US" dirty="0">
                <a:solidFill>
                  <a:schemeClr val="bg2"/>
                </a:solidFill>
                <a:latin typeface="宋体" panose="02010600030101010101" pitchFamily="2" charset="-122"/>
                <a:ea typeface="黑体" panose="02010609060101010101" pitchFamily="49" charset="-122"/>
              </a:rPr>
              <a:t>一种是</a:t>
            </a:r>
            <a:r>
              <a:rPr lang="zh-CN" altLang="en-US" dirty="0">
                <a:solidFill>
                  <a:srgbClr val="FF0000"/>
                </a:solidFill>
                <a:latin typeface="宋体" panose="02010600030101010101" pitchFamily="2" charset="-122"/>
                <a:ea typeface="黑体" panose="02010609060101010101" pitchFamily="49" charset="-122"/>
              </a:rPr>
              <a:t>有基础设施的网络</a:t>
            </a:r>
            <a:r>
              <a:rPr lang="en-US" altLang="zh-CN" dirty="0">
                <a:solidFill>
                  <a:schemeClr val="bg2"/>
                </a:solidFill>
                <a:latin typeface="宋体" panose="02010600030101010101" pitchFamily="2" charset="-122"/>
                <a:ea typeface="黑体" panose="02010609060101010101" pitchFamily="49" charset="-122"/>
              </a:rPr>
              <a:t>,</a:t>
            </a:r>
            <a:r>
              <a:rPr lang="zh-CN" altLang="en-US" dirty="0">
                <a:solidFill>
                  <a:schemeClr val="bg2"/>
                </a:solidFill>
                <a:latin typeface="宋体" panose="02010600030101010101" pitchFamily="2" charset="-122"/>
                <a:ea typeface="黑体" panose="02010609060101010101" pitchFamily="49" charset="-122"/>
              </a:rPr>
              <a:t>需要固定基站</a:t>
            </a:r>
            <a:r>
              <a:rPr lang="en-US" altLang="zh-CN" dirty="0">
                <a:solidFill>
                  <a:schemeClr val="bg2"/>
                </a:solidFill>
                <a:latin typeface="宋体" panose="02010600030101010101" pitchFamily="2" charset="-122"/>
                <a:ea typeface="黑体" panose="02010609060101010101" pitchFamily="49" charset="-122"/>
              </a:rPr>
              <a:t>,</a:t>
            </a:r>
            <a:r>
              <a:rPr lang="zh-CN" altLang="en-US" dirty="0">
                <a:solidFill>
                  <a:schemeClr val="bg2"/>
                </a:solidFill>
                <a:latin typeface="宋体" panose="02010600030101010101" pitchFamily="2" charset="-122"/>
                <a:ea typeface="黑体" panose="02010609060101010101" pitchFamily="49" charset="-122"/>
              </a:rPr>
              <a:t>例如我们使用的手机，属于无线蜂窝网，它就需要高大的天线和大功率基站来支持，基站就是最重要的基础设施；另外，使用无线网卡上网的无线局域网，由于采用了接入点这种固定设备，也属于有基础设施网。</a:t>
            </a:r>
          </a:p>
          <a:p>
            <a:pPr lvl="0" eaLnBrk="1" hangingPunct="1">
              <a:lnSpc>
                <a:spcPct val="115000"/>
              </a:lnSpc>
              <a:spcBef>
                <a:spcPct val="10000"/>
              </a:spcBef>
            </a:pPr>
            <a:endParaRPr lang="zh-CN" altLang="en-US" dirty="0">
              <a:solidFill>
                <a:schemeClr val="bg2"/>
              </a:solidFill>
              <a:latin typeface="宋体" panose="02010600030101010101" pitchFamily="2" charset="-122"/>
              <a:ea typeface="黑体" panose="02010609060101010101" pitchFamily="49" charset="-122"/>
            </a:endParaRPr>
          </a:p>
          <a:p>
            <a:pPr lvl="0" eaLnBrk="1" hangingPunct="1">
              <a:lnSpc>
                <a:spcPct val="115000"/>
              </a:lnSpc>
              <a:spcBef>
                <a:spcPct val="10000"/>
              </a:spcBef>
            </a:pPr>
            <a:r>
              <a:rPr lang="zh-CN" altLang="en-US" dirty="0">
                <a:solidFill>
                  <a:schemeClr val="bg2"/>
                </a:solidFill>
                <a:latin typeface="宋体" panose="02010600030101010101" pitchFamily="2" charset="-122"/>
                <a:ea typeface="黑体" panose="02010609060101010101" pitchFamily="49" charset="-122"/>
              </a:rPr>
              <a:t>另一类是</a:t>
            </a:r>
            <a:r>
              <a:rPr lang="zh-CN" altLang="en-US" dirty="0">
                <a:solidFill>
                  <a:srgbClr val="FF0000"/>
                </a:solidFill>
                <a:latin typeface="宋体" panose="02010600030101010101" pitchFamily="2" charset="-122"/>
                <a:ea typeface="黑体" panose="02010609060101010101" pitchFamily="49" charset="-122"/>
              </a:rPr>
              <a:t>无基础设施网</a:t>
            </a:r>
            <a:r>
              <a:rPr lang="zh-CN" altLang="en-US" dirty="0">
                <a:solidFill>
                  <a:schemeClr val="bg2"/>
                </a:solidFill>
                <a:latin typeface="宋体" panose="02010600030101010101" pitchFamily="2" charset="-122"/>
                <a:ea typeface="黑体" panose="02010609060101010101" pitchFamily="49" charset="-122"/>
              </a:rPr>
              <a:t>，又称为</a:t>
            </a:r>
            <a:r>
              <a:rPr lang="zh-CN" altLang="en-US" dirty="0">
                <a:solidFill>
                  <a:srgbClr val="FF0000"/>
                </a:solidFill>
                <a:latin typeface="宋体" panose="02010600030101010101" pitchFamily="2" charset="-122"/>
                <a:ea typeface="黑体" panose="02010609060101010101" pitchFamily="49" charset="-122"/>
              </a:rPr>
              <a:t>无线</a:t>
            </a:r>
            <a:r>
              <a:rPr lang="en-US" altLang="zh-CN" dirty="0">
                <a:solidFill>
                  <a:srgbClr val="FF0000"/>
                </a:solidFill>
                <a:latin typeface="宋体" panose="02010600030101010101" pitchFamily="2" charset="-122"/>
                <a:ea typeface="黑体" panose="02010609060101010101" pitchFamily="49" charset="-122"/>
              </a:rPr>
              <a:t>Ad hoc</a:t>
            </a:r>
            <a:r>
              <a:rPr lang="zh-CN" altLang="en-US" dirty="0">
                <a:solidFill>
                  <a:srgbClr val="FF0000"/>
                </a:solidFill>
                <a:latin typeface="宋体" panose="02010600030101010101" pitchFamily="2" charset="-122"/>
                <a:ea typeface="黑体" panose="02010609060101010101" pitchFamily="49" charset="-122"/>
              </a:rPr>
              <a:t>网络</a:t>
            </a:r>
            <a:r>
              <a:rPr lang="en-US" altLang="zh-CN" dirty="0">
                <a:solidFill>
                  <a:schemeClr val="bg2"/>
                </a:solidFill>
                <a:latin typeface="宋体" panose="02010600030101010101" pitchFamily="2" charset="-122"/>
                <a:ea typeface="黑体" panose="02010609060101010101" pitchFamily="49" charset="-122"/>
              </a:rPr>
              <a:t>,</a:t>
            </a:r>
            <a:r>
              <a:rPr lang="zh-CN" altLang="en-US" dirty="0">
                <a:solidFill>
                  <a:schemeClr val="bg2"/>
                </a:solidFill>
                <a:latin typeface="宋体" panose="02010600030101010101" pitchFamily="2" charset="-122"/>
                <a:ea typeface="黑体" panose="02010609060101010101" pitchFamily="49" charset="-122"/>
              </a:rPr>
              <a:t>节点是分布式的，没有专门的固定基站</a:t>
            </a:r>
            <a:r>
              <a:rPr lang="zh-CN" altLang="en-US" dirty="0">
                <a:solidFill>
                  <a:schemeClr val="bg2"/>
                </a:solidFill>
                <a:ea typeface="黑体" panose="02010609060101010101" pitchFamily="49" charset="-122"/>
              </a:rPr>
              <a:t>。</a:t>
            </a:r>
          </a:p>
          <a:p>
            <a:pPr lvl="0" eaLnBrk="1" hangingPunct="1">
              <a:lnSpc>
                <a:spcPct val="115000"/>
              </a:lnSpc>
              <a:spcBef>
                <a:spcPct val="10000"/>
              </a:spcBef>
            </a:pPr>
            <a:r>
              <a:rPr lang="zh-CN" altLang="en-US" dirty="0">
                <a:solidFill>
                  <a:schemeClr val="bg2"/>
                </a:solidFill>
                <a:latin typeface="宋体" panose="02010600030101010101" pitchFamily="2" charset="-122"/>
                <a:ea typeface="黑体" panose="02010609060101010101" pitchFamily="49" charset="-122"/>
              </a:rPr>
              <a:t>无线</a:t>
            </a:r>
            <a:r>
              <a:rPr lang="en-US" altLang="zh-CN" dirty="0">
                <a:solidFill>
                  <a:schemeClr val="bg2"/>
                </a:solidFill>
                <a:ea typeface="黑体" panose="02010609060101010101" pitchFamily="49" charset="-122"/>
              </a:rPr>
              <a:t>Ad hoc</a:t>
            </a:r>
            <a:r>
              <a:rPr lang="zh-CN" altLang="en-US" dirty="0">
                <a:solidFill>
                  <a:schemeClr val="bg2"/>
                </a:solidFill>
                <a:latin typeface="宋体" panose="02010600030101010101" pitchFamily="2" charset="-122"/>
                <a:ea typeface="黑体" panose="02010609060101010101" pitchFamily="49" charset="-122"/>
              </a:rPr>
              <a:t>网络又可分为两类</a:t>
            </a:r>
            <a:r>
              <a:rPr lang="en-US" altLang="zh-CN" dirty="0">
                <a:solidFill>
                  <a:schemeClr val="bg2"/>
                </a:solidFill>
                <a:latin typeface="宋体" panose="02010600030101010101" pitchFamily="2" charset="-122"/>
                <a:ea typeface="黑体" panose="02010609060101010101" pitchFamily="49" charset="-122"/>
              </a:rPr>
              <a:t>: </a:t>
            </a:r>
            <a:r>
              <a:rPr lang="zh-CN" altLang="en-US" dirty="0">
                <a:solidFill>
                  <a:schemeClr val="bg2"/>
                </a:solidFill>
                <a:latin typeface="宋体" panose="02010600030101010101" pitchFamily="2" charset="-122"/>
                <a:ea typeface="黑体" panose="02010609060101010101" pitchFamily="49" charset="-122"/>
              </a:rPr>
              <a:t>一类是</a:t>
            </a:r>
            <a:r>
              <a:rPr lang="zh-CN" altLang="en-US" dirty="0">
                <a:solidFill>
                  <a:srgbClr val="FF0000"/>
                </a:solidFill>
                <a:latin typeface="宋体" panose="02010600030101010101" pitchFamily="2" charset="-122"/>
                <a:ea typeface="黑体" panose="02010609060101010101" pitchFamily="49" charset="-122"/>
              </a:rPr>
              <a:t>移动</a:t>
            </a:r>
            <a:r>
              <a:rPr lang="en-US" altLang="zh-CN" dirty="0">
                <a:solidFill>
                  <a:srgbClr val="FF0000"/>
                </a:solidFill>
                <a:ea typeface="黑体" panose="02010609060101010101" pitchFamily="49" charset="-122"/>
              </a:rPr>
              <a:t>Ad hoc</a:t>
            </a:r>
            <a:r>
              <a:rPr lang="zh-CN" altLang="en-US" dirty="0">
                <a:solidFill>
                  <a:srgbClr val="FF0000"/>
                </a:solidFill>
                <a:latin typeface="宋体" panose="02010600030101010101" pitchFamily="2" charset="-122"/>
                <a:ea typeface="黑体" panose="02010609060101010101" pitchFamily="49" charset="-122"/>
              </a:rPr>
              <a:t>网络</a:t>
            </a:r>
            <a:r>
              <a:rPr lang="en-US" altLang="zh-CN" dirty="0">
                <a:solidFill>
                  <a:schemeClr val="bg2"/>
                </a:solidFill>
                <a:latin typeface="宋体" panose="02010600030101010101" pitchFamily="2" charset="-122"/>
                <a:ea typeface="黑体" panose="02010609060101010101" pitchFamily="49" charset="-122"/>
              </a:rPr>
              <a:t>(</a:t>
            </a:r>
            <a:r>
              <a:rPr lang="en-US" altLang="zh-CN" dirty="0">
                <a:solidFill>
                  <a:schemeClr val="bg2"/>
                </a:solidFill>
                <a:ea typeface="黑体" panose="02010609060101010101" pitchFamily="49" charset="-122"/>
              </a:rPr>
              <a:t>Mobile Ad hoc Network</a:t>
            </a:r>
            <a:r>
              <a:rPr lang="en-US" altLang="zh-CN" dirty="0">
                <a:solidFill>
                  <a:schemeClr val="bg2"/>
                </a:solidFill>
                <a:latin typeface="宋体" panose="02010600030101010101" pitchFamily="2" charset="-122"/>
                <a:ea typeface="黑体" panose="02010609060101010101" pitchFamily="49" charset="-122"/>
              </a:rPr>
              <a:t>,</a:t>
            </a:r>
            <a:r>
              <a:rPr lang="zh-CN" altLang="en-US" dirty="0">
                <a:solidFill>
                  <a:schemeClr val="bg2"/>
                </a:solidFill>
                <a:latin typeface="宋体" panose="02010600030101010101" pitchFamily="2" charset="-122"/>
                <a:ea typeface="黑体" panose="02010609060101010101" pitchFamily="49" charset="-122"/>
              </a:rPr>
              <a:t>简称</a:t>
            </a:r>
            <a:r>
              <a:rPr lang="en-US" altLang="zh-CN" dirty="0">
                <a:solidFill>
                  <a:schemeClr val="bg2"/>
                </a:solidFill>
                <a:ea typeface="黑体" panose="02010609060101010101" pitchFamily="49" charset="-122"/>
              </a:rPr>
              <a:t>MANET</a:t>
            </a:r>
            <a:r>
              <a:rPr lang="en-US" altLang="zh-CN" dirty="0">
                <a:solidFill>
                  <a:schemeClr val="bg2"/>
                </a:solidFill>
                <a:latin typeface="宋体" panose="02010600030101010101" pitchFamily="2" charset="-122"/>
                <a:ea typeface="黑体" panose="02010609060101010101" pitchFamily="49" charset="-122"/>
              </a:rPr>
              <a:t>)</a:t>
            </a:r>
            <a:r>
              <a:rPr lang="zh-CN" altLang="en-US" dirty="0">
                <a:solidFill>
                  <a:schemeClr val="bg2"/>
                </a:solidFill>
                <a:latin typeface="宋体" panose="02010600030101010101" pitchFamily="2" charset="-122"/>
                <a:ea typeface="黑体" panose="02010609060101010101" pitchFamily="49" charset="-122"/>
              </a:rPr>
              <a:t>，它的终端是快速移动的。一个典型的例子是美军</a:t>
            </a:r>
            <a:r>
              <a:rPr lang="en-US" altLang="zh-CN" dirty="0">
                <a:solidFill>
                  <a:schemeClr val="bg2"/>
                </a:solidFill>
                <a:latin typeface="宋体" panose="02010600030101010101" pitchFamily="2" charset="-122"/>
                <a:ea typeface="黑体" panose="02010609060101010101" pitchFamily="49" charset="-122"/>
              </a:rPr>
              <a:t>101</a:t>
            </a:r>
            <a:r>
              <a:rPr lang="zh-CN" altLang="en-US" dirty="0">
                <a:solidFill>
                  <a:schemeClr val="bg2"/>
                </a:solidFill>
                <a:latin typeface="宋体" panose="02010600030101010101" pitchFamily="2" charset="-122"/>
                <a:ea typeface="黑体" panose="02010609060101010101" pitchFamily="49" charset="-122"/>
              </a:rPr>
              <a:t>空降师装备的</a:t>
            </a:r>
            <a:r>
              <a:rPr lang="en-US" altLang="zh-CN" dirty="0">
                <a:solidFill>
                  <a:schemeClr val="bg2"/>
                </a:solidFill>
                <a:latin typeface="宋体" panose="02010600030101010101" pitchFamily="2" charset="-122"/>
                <a:ea typeface="黑体" panose="02010609060101010101" pitchFamily="49" charset="-122"/>
              </a:rPr>
              <a:t>Ad hoc</a:t>
            </a:r>
            <a:r>
              <a:rPr lang="zh-CN" altLang="en-US" dirty="0">
                <a:solidFill>
                  <a:schemeClr val="bg2"/>
                </a:solidFill>
                <a:latin typeface="宋体" panose="02010600030101010101" pitchFamily="2" charset="-122"/>
                <a:ea typeface="黑体" panose="02010609060101010101" pitchFamily="49" charset="-122"/>
              </a:rPr>
              <a:t>网络通信设备，保证在远程空投到一个陌生地点之后，在高度机动的装备车辆上仍然能够实现各种通信业务，而无需借助外部设施的支援。另一类就是我们讲的</a:t>
            </a:r>
            <a:r>
              <a:rPr lang="zh-CN" altLang="en-US" dirty="0">
                <a:solidFill>
                  <a:srgbClr val="FF0000"/>
                </a:solidFill>
                <a:latin typeface="宋体" panose="02010600030101010101" pitchFamily="2" charset="-122"/>
                <a:ea typeface="黑体" panose="02010609060101010101" pitchFamily="49" charset="-122"/>
              </a:rPr>
              <a:t>无线传感器网络</a:t>
            </a:r>
            <a:r>
              <a:rPr lang="en-US" altLang="zh-CN" dirty="0">
                <a:solidFill>
                  <a:schemeClr val="bg2"/>
                </a:solidFill>
                <a:latin typeface="宋体" panose="02010600030101010101" pitchFamily="2" charset="-122"/>
                <a:ea typeface="黑体" panose="02010609060101010101" pitchFamily="49" charset="-122"/>
              </a:rPr>
              <a:t>,</a:t>
            </a:r>
            <a:r>
              <a:rPr lang="zh-CN" altLang="en-US" dirty="0">
                <a:solidFill>
                  <a:schemeClr val="bg2"/>
                </a:solidFill>
                <a:latin typeface="宋体" panose="02010600030101010101" pitchFamily="2" charset="-122"/>
                <a:ea typeface="黑体" panose="02010609060101010101" pitchFamily="49" charset="-122"/>
              </a:rPr>
              <a:t>它的节点是静止的或者移动很慢。</a:t>
            </a:r>
          </a:p>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30</a:t>
            </a:fld>
            <a:endParaRPr lang="zh-CN" altLang="en-US"/>
          </a:p>
        </p:txBody>
      </p:sp>
    </p:spTree>
    <p:extLst>
      <p:ext uri="{BB962C8B-B14F-4D97-AF65-F5344CB8AC3E}">
        <p14:creationId xmlns:p14="http://schemas.microsoft.com/office/powerpoint/2010/main" val="1758589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31</a:t>
            </a:fld>
            <a:endParaRPr lang="zh-CN" altLang="en-US"/>
          </a:p>
        </p:txBody>
      </p:sp>
    </p:spTree>
    <p:extLst>
      <p:ext uri="{BB962C8B-B14F-4D97-AF65-F5344CB8AC3E}">
        <p14:creationId xmlns:p14="http://schemas.microsoft.com/office/powerpoint/2010/main" val="10932875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传感器节点 兼作传统网络的</a:t>
            </a:r>
            <a:r>
              <a:rPr lang="zh-CN" altLang="en-US" sz="1200" dirty="0">
                <a:solidFill>
                  <a:srgbClr val="FF0000"/>
                </a:solidFill>
              </a:rPr>
              <a:t>终端</a:t>
            </a:r>
            <a:r>
              <a:rPr lang="zh-CN" altLang="en-US" sz="1200" dirty="0"/>
              <a:t>和</a:t>
            </a:r>
            <a:r>
              <a:rPr lang="zh-CN" altLang="en-US" sz="1200" dirty="0">
                <a:solidFill>
                  <a:srgbClr val="FF0000"/>
                </a:solidFill>
              </a:rPr>
              <a:t>路由器</a:t>
            </a:r>
            <a:r>
              <a:rPr lang="zh-CN" altLang="en-US" sz="1200" dirty="0"/>
              <a:t>双重功能</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汇聚节点：实现两个通信网络之间数据的交换，实现两种协议栈之间的通信协议转换</a:t>
            </a:r>
          </a:p>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32</a:t>
            </a:fld>
            <a:endParaRPr lang="zh-CN" altLang="en-US"/>
          </a:p>
        </p:txBody>
      </p:sp>
    </p:spTree>
    <p:extLst>
      <p:ext uri="{BB962C8B-B14F-4D97-AF65-F5344CB8AC3E}">
        <p14:creationId xmlns:p14="http://schemas.microsoft.com/office/powerpoint/2010/main" val="37120435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DD3D7-8324-8223-63E8-4D02094246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3C52A3-0B99-EB80-FD19-0AE24BEE0C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7CB5B5-4176-30E1-BD71-75BCDA8B645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0015D52-F044-143C-36A3-1A311815C133}"/>
              </a:ext>
            </a:extLst>
          </p:cNvPr>
          <p:cNvSpPr>
            <a:spLocks noGrp="1"/>
          </p:cNvSpPr>
          <p:nvPr>
            <p:ph type="sldNum" sz="quarter" idx="10"/>
          </p:nvPr>
        </p:nvSpPr>
        <p:spPr/>
        <p:txBody>
          <a:bodyPr/>
          <a:lstStyle/>
          <a:p>
            <a:fld id="{CCA23522-C775-4476-A110-0DF264BE082A}" type="slidenum">
              <a:rPr lang="zh-CN" altLang="en-US" smtClean="0"/>
              <a:t>35</a:t>
            </a:fld>
            <a:endParaRPr lang="zh-CN" altLang="en-US"/>
          </a:p>
        </p:txBody>
      </p:sp>
    </p:spTree>
    <p:extLst>
      <p:ext uri="{BB962C8B-B14F-4D97-AF65-F5344CB8AC3E}">
        <p14:creationId xmlns:p14="http://schemas.microsoft.com/office/powerpoint/2010/main" val="33415275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36</a:t>
            </a:fld>
            <a:endParaRPr lang="zh-CN" altLang="en-US"/>
          </a:p>
        </p:txBody>
      </p:sp>
    </p:spTree>
    <p:extLst>
      <p:ext uri="{BB962C8B-B14F-4D97-AF65-F5344CB8AC3E}">
        <p14:creationId xmlns:p14="http://schemas.microsoft.com/office/powerpoint/2010/main" val="38201403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37</a:t>
            </a:fld>
            <a:endParaRPr lang="zh-CN" altLang="en-US"/>
          </a:p>
        </p:txBody>
      </p:sp>
    </p:spTree>
    <p:extLst>
      <p:ext uri="{BB962C8B-B14F-4D97-AF65-F5344CB8AC3E}">
        <p14:creationId xmlns:p14="http://schemas.microsoft.com/office/powerpoint/2010/main" val="38633363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网络的工作寿命，主要指的就是传感器网络节点因为电量消耗离开网络后造成网络拓扑的变化，可能影响网络的连通性，造成感知数据无法正常上传网络，此时说网络的工作寿命到头了。</a:t>
            </a:r>
            <a:endParaRPr lang="en-US" altLang="zh-CN" dirty="0"/>
          </a:p>
          <a:p>
            <a:endParaRPr lang="en-US" altLang="zh-CN" dirty="0"/>
          </a:p>
          <a:p>
            <a:r>
              <a:rPr lang="zh-CN" altLang="en-US" dirty="0"/>
              <a:t>网络的覆盖范围指的是网络的部署必须能够覆盖到感兴趣的区域中，可以监测和传输感兴趣的区域中任何一个角落的数据。</a:t>
            </a:r>
            <a:endParaRPr lang="en-US" altLang="zh-CN" dirty="0"/>
          </a:p>
          <a:p>
            <a:endParaRPr lang="en-US" altLang="zh-CN" dirty="0"/>
          </a:p>
          <a:p>
            <a:r>
              <a:rPr lang="zh-CN" altLang="en-US" dirty="0"/>
              <a:t>网络搭建成本及难易程度指的是无线传感器网络一定要容易搭建和扩展，不能像手机通信那样去在合适的地方部署基站并对其进行供电。</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38</a:t>
            </a:fld>
            <a:endParaRPr lang="zh-CN" altLang="en-US"/>
          </a:p>
        </p:txBody>
      </p:sp>
    </p:spTree>
    <p:extLst>
      <p:ext uri="{BB962C8B-B14F-4D97-AF65-F5344CB8AC3E}">
        <p14:creationId xmlns:p14="http://schemas.microsoft.com/office/powerpoint/2010/main" val="23041474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DD3D7-8324-8223-63E8-4D02094246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3C52A3-0B99-EB80-FD19-0AE24BEE0C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7CB5B5-4176-30E1-BD71-75BCDA8B645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0015D52-F044-143C-36A3-1A311815C133}"/>
              </a:ext>
            </a:extLst>
          </p:cNvPr>
          <p:cNvSpPr>
            <a:spLocks noGrp="1"/>
          </p:cNvSpPr>
          <p:nvPr>
            <p:ph type="sldNum" sz="quarter" idx="10"/>
          </p:nvPr>
        </p:nvSpPr>
        <p:spPr/>
        <p:txBody>
          <a:bodyPr/>
          <a:lstStyle/>
          <a:p>
            <a:fld id="{CCA23522-C775-4476-A110-0DF264BE082A}" type="slidenum">
              <a:rPr lang="zh-CN" altLang="en-US" smtClean="0"/>
              <a:t>40</a:t>
            </a:fld>
            <a:endParaRPr lang="zh-CN" altLang="en-US"/>
          </a:p>
        </p:txBody>
      </p:sp>
    </p:spTree>
    <p:extLst>
      <p:ext uri="{BB962C8B-B14F-4D97-AF65-F5344CB8AC3E}">
        <p14:creationId xmlns:p14="http://schemas.microsoft.com/office/powerpoint/2010/main" val="47738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41</a:t>
            </a:fld>
            <a:endParaRPr lang="zh-CN" altLang="en-US"/>
          </a:p>
        </p:txBody>
      </p:sp>
    </p:spTree>
    <p:extLst>
      <p:ext uri="{BB962C8B-B14F-4D97-AF65-F5344CB8AC3E}">
        <p14:creationId xmlns:p14="http://schemas.microsoft.com/office/powerpoint/2010/main" val="20801159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42</a:t>
            </a:fld>
            <a:endParaRPr lang="zh-CN" altLang="en-US"/>
          </a:p>
        </p:txBody>
      </p:sp>
    </p:spTree>
    <p:extLst>
      <p:ext uri="{BB962C8B-B14F-4D97-AF65-F5344CB8AC3E}">
        <p14:creationId xmlns:p14="http://schemas.microsoft.com/office/powerpoint/2010/main" val="1800985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dirty="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929610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6032" y="365126"/>
            <a:ext cx="8631936" cy="1325563"/>
          </a:xfrm>
        </p:spPr>
        <p:txBody>
          <a:bodyPr/>
          <a:lstStyle>
            <a:lvl1pPr>
              <a:defRPr spc="300">
                <a:solidFill>
                  <a:srgbClr val="002060"/>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50795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46888" y="365126"/>
            <a:ext cx="8650224" cy="1325563"/>
          </a:xfrm>
        </p:spPr>
        <p:txBody>
          <a:bodyPr/>
          <a:lstStyle>
            <a:lvl1pPr>
              <a:defRPr spc="300">
                <a:solidFill>
                  <a:srgbClr val="002060"/>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246888" y="1825625"/>
            <a:ext cx="8650224"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矩形 6"/>
          <p:cNvSpPr/>
          <p:nvPr userDrawn="1"/>
        </p:nvSpPr>
        <p:spPr>
          <a:xfrm>
            <a:off x="0" y="0"/>
            <a:ext cx="9144000" cy="365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Date Placeholder 3"/>
          <p:cNvSpPr>
            <a:spLocks noGrp="1"/>
          </p:cNvSpPr>
          <p:nvPr>
            <p:ph type="dt" sz="half" idx="10"/>
          </p:nvPr>
        </p:nvSpPr>
        <p:spPr>
          <a:xfrm>
            <a:off x="246888" y="6356351"/>
            <a:ext cx="2057400" cy="365125"/>
          </a:xfrm>
        </p:spPr>
        <p:txBody>
          <a:bodyPr/>
          <a:lstStyle/>
          <a:p>
            <a:endParaRPr lang="zh-CN" altLang="en-US" dirty="0"/>
          </a:p>
        </p:txBody>
      </p:sp>
      <p:sp>
        <p:nvSpPr>
          <p:cNvPr id="6" name="Footer Placeholder 4"/>
          <p:cNvSpPr>
            <a:spLocks noGrp="1"/>
          </p:cNvSpPr>
          <p:nvPr>
            <p:ph type="ftr" sz="quarter" idx="11"/>
          </p:nvPr>
        </p:nvSpPr>
        <p:spPr>
          <a:xfrm>
            <a:off x="3028950" y="6356351"/>
            <a:ext cx="3086100" cy="365125"/>
          </a:xfrm>
        </p:spPr>
        <p:txBody>
          <a:bodyPr/>
          <a:lstStyle/>
          <a:p>
            <a:endParaRPr lang="zh-CN" altLang="en-US"/>
          </a:p>
        </p:txBody>
      </p:sp>
      <p:sp>
        <p:nvSpPr>
          <p:cNvPr id="8" name="Slide Number Placeholder 5"/>
          <p:cNvSpPr>
            <a:spLocks noGrp="1"/>
          </p:cNvSpPr>
          <p:nvPr>
            <p:ph type="sldNum" sz="quarter" idx="12"/>
          </p:nvPr>
        </p:nvSpPr>
        <p:spPr>
          <a:xfrm>
            <a:off x="6839712" y="6356351"/>
            <a:ext cx="2057400" cy="365125"/>
          </a:xfrm>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533708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380627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4149796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506527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pc="300">
                <a:solidFill>
                  <a:srgbClr val="002060"/>
                </a:solidFill>
              </a:defRPr>
            </a:lvl1pPr>
          </a:lstStyle>
          <a:p>
            <a:r>
              <a:rPr lang="zh-CN" altLang="en-US" dirty="0"/>
              <a:t>单击此处编辑母版标题样式</a:t>
            </a:r>
            <a:endParaRPr lang="en-US" dirty="0"/>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741379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pc="300">
                <a:solidFill>
                  <a:srgbClr val="002060"/>
                </a:solidFill>
              </a:defRPr>
            </a:lvl1pPr>
          </a:lstStyle>
          <a:p>
            <a:r>
              <a:rPr lang="zh-CN" altLang="en-US" dirty="0"/>
              <a:t>单击此处编辑母版标题样式</a:t>
            </a:r>
            <a:endParaRPr lang="en-US" dirty="0"/>
          </a:p>
        </p:txBody>
      </p:sp>
      <p:sp>
        <p:nvSpPr>
          <p:cNvPr id="6" name="矩形 5"/>
          <p:cNvSpPr/>
          <p:nvPr userDrawn="1"/>
        </p:nvSpPr>
        <p:spPr>
          <a:xfrm>
            <a:off x="0" y="0"/>
            <a:ext cx="9144000" cy="365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Date Placeholder 3"/>
          <p:cNvSpPr>
            <a:spLocks noGrp="1"/>
          </p:cNvSpPr>
          <p:nvPr>
            <p:ph type="dt" sz="half" idx="10"/>
          </p:nvPr>
        </p:nvSpPr>
        <p:spPr>
          <a:xfrm>
            <a:off x="256032" y="6356350"/>
            <a:ext cx="2057400" cy="365125"/>
          </a:xfrm>
        </p:spPr>
        <p:txBody>
          <a:bodyPr/>
          <a:lstStyle/>
          <a:p>
            <a:endParaRPr lang="zh-CN" altLang="en-US"/>
          </a:p>
        </p:txBody>
      </p:sp>
      <p:sp>
        <p:nvSpPr>
          <p:cNvPr id="5" name="Footer Placeholder 4"/>
          <p:cNvSpPr>
            <a:spLocks noGrp="1"/>
          </p:cNvSpPr>
          <p:nvPr>
            <p:ph type="ftr" sz="quarter" idx="11"/>
          </p:nvPr>
        </p:nvSpPr>
        <p:spPr>
          <a:xfrm>
            <a:off x="3028950" y="6356351"/>
            <a:ext cx="3086100" cy="365125"/>
          </a:xfrm>
        </p:spPr>
        <p:txBody>
          <a:bodyPr/>
          <a:lstStyle/>
          <a:p>
            <a:endParaRPr lang="zh-CN" altLang="en-US"/>
          </a:p>
        </p:txBody>
      </p:sp>
      <p:sp>
        <p:nvSpPr>
          <p:cNvPr id="7" name="Slide Number Placeholder 5"/>
          <p:cNvSpPr>
            <a:spLocks noGrp="1"/>
          </p:cNvSpPr>
          <p:nvPr>
            <p:ph type="sldNum" sz="quarter" idx="12"/>
          </p:nvPr>
        </p:nvSpPr>
        <p:spPr>
          <a:xfrm>
            <a:off x="6830568" y="6356350"/>
            <a:ext cx="2057400" cy="365125"/>
          </a:xfrm>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91295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848057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5" name="矩形 4"/>
          <p:cNvSpPr/>
          <p:nvPr userDrawn="1"/>
        </p:nvSpPr>
        <p:spPr>
          <a:xfrm>
            <a:off x="0" y="0"/>
            <a:ext cx="9144000" cy="365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Date Placeholder 3"/>
          <p:cNvSpPr>
            <a:spLocks noGrp="1"/>
          </p:cNvSpPr>
          <p:nvPr>
            <p:ph type="dt" sz="half" idx="10"/>
          </p:nvPr>
        </p:nvSpPr>
        <p:spPr>
          <a:xfrm>
            <a:off x="628650" y="6356351"/>
            <a:ext cx="2057400" cy="365125"/>
          </a:xfrm>
        </p:spPr>
        <p:txBody>
          <a:bodyPr/>
          <a:lstStyle/>
          <a:p>
            <a:endParaRPr lang="zh-CN" altLang="en-US"/>
          </a:p>
        </p:txBody>
      </p:sp>
      <p:sp>
        <p:nvSpPr>
          <p:cNvPr id="4" name="Footer Placeholder 4"/>
          <p:cNvSpPr>
            <a:spLocks noGrp="1"/>
          </p:cNvSpPr>
          <p:nvPr>
            <p:ph type="ftr" sz="quarter" idx="11"/>
          </p:nvPr>
        </p:nvSpPr>
        <p:spPr>
          <a:xfrm>
            <a:off x="3028950" y="6356351"/>
            <a:ext cx="3086100" cy="365125"/>
          </a:xfrm>
        </p:spPr>
        <p:txBody>
          <a:bodyPr/>
          <a:lstStyle/>
          <a:p>
            <a:endParaRPr lang="zh-CN" altLang="en-US"/>
          </a:p>
        </p:txBody>
      </p:sp>
      <p:sp>
        <p:nvSpPr>
          <p:cNvPr id="6" name="Slide Number Placeholder 5"/>
          <p:cNvSpPr>
            <a:spLocks noGrp="1"/>
          </p:cNvSpPr>
          <p:nvPr>
            <p:ph type="sldNum" sz="quarter" idx="12"/>
          </p:nvPr>
        </p:nvSpPr>
        <p:spPr>
          <a:xfrm>
            <a:off x="6457950" y="6356351"/>
            <a:ext cx="2057400" cy="365125"/>
          </a:xfrm>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436687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2547838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1253423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105398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084668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6032" y="365126"/>
            <a:ext cx="8631936"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56032" y="1825625"/>
            <a:ext cx="8631936"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256032" y="6366766"/>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830568" y="6339334"/>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2256291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4" r:id="rId3"/>
    <p:sldLayoutId id="2147483663" r:id="rId4"/>
    <p:sldLayoutId id="2147483664" r:id="rId5"/>
    <p:sldLayoutId id="2147483665" r:id="rId6"/>
    <p:sldLayoutId id="2147483666" r:id="rId7"/>
    <p:sldLayoutId id="2147483673" r:id="rId8"/>
    <p:sldLayoutId id="2147483667" r:id="rId9"/>
    <p:sldLayoutId id="2147483672" r:id="rId10"/>
    <p:sldLayoutId id="2147483668" r:id="rId11"/>
    <p:sldLayoutId id="2147483669" r:id="rId12"/>
    <p:sldLayoutId id="2147483670" r:id="rId13"/>
    <p:sldLayoutId id="2147483671" r:id="rId14"/>
  </p:sldLayoutIdLst>
  <p:hf hdr="0" ftr="0" dt="0"/>
  <p:txStyles>
    <p:titleStyle>
      <a:lvl1pPr algn="l" defTabSz="914400" rtl="0" eaLnBrk="1" latinLnBrk="0" hangingPunct="1">
        <a:lnSpc>
          <a:spcPct val="90000"/>
        </a:lnSpc>
        <a:spcBef>
          <a:spcPct val="0"/>
        </a:spcBef>
        <a:buNone/>
        <a:defRPr sz="4400" b="1" kern="1200" spc="300">
          <a:solidFill>
            <a:srgbClr val="00206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slideLayout" Target="../slideLayouts/slideLayout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image" Target="../media/image1.tmp"/><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4.jpeg"/><Relationship Id="rId7" Type="http://schemas.openxmlformats.org/officeDocument/2006/relationships/image" Target="../media/image8.emf"/><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jpeg"/></Relationships>
</file>

<file path=ppt/slides/_rels/slide15.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18" Type="http://schemas.openxmlformats.org/officeDocument/2006/relationships/slideLayout" Target="../slideLayouts/slideLayout9.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tags" Target="../tags/tag30.xml"/><Relationship Id="rId17" Type="http://schemas.openxmlformats.org/officeDocument/2006/relationships/tags" Target="../tags/tag35.xml"/><Relationship Id="rId2" Type="http://schemas.openxmlformats.org/officeDocument/2006/relationships/tags" Target="../tags/tag20.xml"/><Relationship Id="rId16" Type="http://schemas.openxmlformats.org/officeDocument/2006/relationships/tags" Target="../tags/tag34.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5" Type="http://schemas.openxmlformats.org/officeDocument/2006/relationships/tags" Target="../tags/tag33.xml"/><Relationship Id="rId10" Type="http://schemas.openxmlformats.org/officeDocument/2006/relationships/tags" Target="../tags/tag28.xml"/><Relationship Id="rId19" Type="http://schemas.openxmlformats.org/officeDocument/2006/relationships/image" Target="../media/image1.tmp"/><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tags" Target="../tags/tag3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tags" Target="../tags/tag48.xm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tags" Target="../tags/tag47.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5" Type="http://schemas.openxmlformats.org/officeDocument/2006/relationships/tags" Target="../tags/tag40.xml"/><Relationship Id="rId15" Type="http://schemas.openxmlformats.org/officeDocument/2006/relationships/image" Target="../media/image1.tmp"/><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tags" Target="../tags/tag61.xml"/><Relationship Id="rId18" Type="http://schemas.openxmlformats.org/officeDocument/2006/relationships/slideLayout" Target="../slideLayouts/slideLayout9.xml"/><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tags" Target="../tags/tag60.xml"/><Relationship Id="rId17" Type="http://schemas.openxmlformats.org/officeDocument/2006/relationships/tags" Target="../tags/tag65.xml"/><Relationship Id="rId2" Type="http://schemas.openxmlformats.org/officeDocument/2006/relationships/tags" Target="../tags/tag50.xml"/><Relationship Id="rId16" Type="http://schemas.openxmlformats.org/officeDocument/2006/relationships/tags" Target="../tags/tag64.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5" Type="http://schemas.openxmlformats.org/officeDocument/2006/relationships/tags" Target="../tags/tag53.xml"/><Relationship Id="rId15" Type="http://schemas.openxmlformats.org/officeDocument/2006/relationships/tags" Target="../tags/tag63.xml"/><Relationship Id="rId10" Type="http://schemas.openxmlformats.org/officeDocument/2006/relationships/tags" Target="../tags/tag58.xml"/><Relationship Id="rId19" Type="http://schemas.openxmlformats.org/officeDocument/2006/relationships/image" Target="../media/image1.tmp"/><Relationship Id="rId4" Type="http://schemas.openxmlformats.org/officeDocument/2006/relationships/tags" Target="../tags/tag52.xml"/><Relationship Id="rId9" Type="http://schemas.openxmlformats.org/officeDocument/2006/relationships/tags" Target="../tags/tag57.xml"/><Relationship Id="rId14" Type="http://schemas.openxmlformats.org/officeDocument/2006/relationships/tags" Target="../tags/tag62.xml"/></Relationships>
</file>

<file path=ppt/slides/_rels/slide34.xml.rels><?xml version="1.0" encoding="UTF-8" standalone="yes"?>
<Relationships xmlns="http://schemas.openxmlformats.org/package/2006/relationships"><Relationship Id="rId8" Type="http://schemas.openxmlformats.org/officeDocument/2006/relationships/tags" Target="../tags/tag73.xml"/><Relationship Id="rId13" Type="http://schemas.openxmlformats.org/officeDocument/2006/relationships/tags" Target="../tags/tag78.xml"/><Relationship Id="rId18" Type="http://schemas.openxmlformats.org/officeDocument/2006/relationships/slideLayout" Target="../slideLayouts/slideLayout9.xml"/><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tags" Target="../tags/tag77.xml"/><Relationship Id="rId17" Type="http://schemas.openxmlformats.org/officeDocument/2006/relationships/tags" Target="../tags/tag82.xml"/><Relationship Id="rId2" Type="http://schemas.openxmlformats.org/officeDocument/2006/relationships/tags" Target="../tags/tag67.xml"/><Relationship Id="rId16" Type="http://schemas.openxmlformats.org/officeDocument/2006/relationships/tags" Target="../tags/tag81.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tags" Target="../tags/tag76.xml"/><Relationship Id="rId5" Type="http://schemas.openxmlformats.org/officeDocument/2006/relationships/tags" Target="../tags/tag70.xml"/><Relationship Id="rId15" Type="http://schemas.openxmlformats.org/officeDocument/2006/relationships/tags" Target="../tags/tag80.xml"/><Relationship Id="rId10" Type="http://schemas.openxmlformats.org/officeDocument/2006/relationships/tags" Target="../tags/tag75.xml"/><Relationship Id="rId19" Type="http://schemas.openxmlformats.org/officeDocument/2006/relationships/image" Target="../media/image1.tmp"/><Relationship Id="rId4" Type="http://schemas.openxmlformats.org/officeDocument/2006/relationships/tags" Target="../tags/tag69.xml"/><Relationship Id="rId9" Type="http://schemas.openxmlformats.org/officeDocument/2006/relationships/tags" Target="../tags/tag74.xml"/><Relationship Id="rId14" Type="http://schemas.openxmlformats.org/officeDocument/2006/relationships/tags" Target="../tags/tag7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8" Type="http://schemas.openxmlformats.org/officeDocument/2006/relationships/tags" Target="../tags/tag90.xml"/><Relationship Id="rId13" Type="http://schemas.openxmlformats.org/officeDocument/2006/relationships/tags" Target="../tags/tag95.xml"/><Relationship Id="rId18" Type="http://schemas.openxmlformats.org/officeDocument/2006/relationships/slideLayout" Target="../slideLayouts/slideLayout9.xml"/><Relationship Id="rId3" Type="http://schemas.openxmlformats.org/officeDocument/2006/relationships/tags" Target="../tags/tag85.xml"/><Relationship Id="rId7" Type="http://schemas.openxmlformats.org/officeDocument/2006/relationships/tags" Target="../tags/tag89.xml"/><Relationship Id="rId12" Type="http://schemas.openxmlformats.org/officeDocument/2006/relationships/tags" Target="../tags/tag94.xml"/><Relationship Id="rId17" Type="http://schemas.openxmlformats.org/officeDocument/2006/relationships/tags" Target="../tags/tag99.xml"/><Relationship Id="rId2" Type="http://schemas.openxmlformats.org/officeDocument/2006/relationships/tags" Target="../tags/tag84.xml"/><Relationship Id="rId16" Type="http://schemas.openxmlformats.org/officeDocument/2006/relationships/tags" Target="../tags/tag98.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tags" Target="../tags/tag93.xml"/><Relationship Id="rId5" Type="http://schemas.openxmlformats.org/officeDocument/2006/relationships/tags" Target="../tags/tag87.xml"/><Relationship Id="rId15" Type="http://schemas.openxmlformats.org/officeDocument/2006/relationships/tags" Target="../tags/tag97.xml"/><Relationship Id="rId10" Type="http://schemas.openxmlformats.org/officeDocument/2006/relationships/tags" Target="../tags/tag92.xml"/><Relationship Id="rId19" Type="http://schemas.openxmlformats.org/officeDocument/2006/relationships/image" Target="../media/image1.tmp"/><Relationship Id="rId4" Type="http://schemas.openxmlformats.org/officeDocument/2006/relationships/tags" Target="../tags/tag86.xml"/><Relationship Id="rId9" Type="http://schemas.openxmlformats.org/officeDocument/2006/relationships/tags" Target="../tags/tag91.xml"/><Relationship Id="rId14" Type="http://schemas.openxmlformats.org/officeDocument/2006/relationships/tags" Target="../tags/tag9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374854"/>
            <a:ext cx="8631936" cy="1325563"/>
          </a:xfrm>
        </p:spPr>
        <p:txBody>
          <a:bodyPr>
            <a:normAutofit fontScale="90000"/>
          </a:bodyPr>
          <a:lstStyle/>
          <a:p>
            <a:pPr algn="ctr"/>
            <a:r>
              <a:rPr lang="zh-CN" altLang="en-US" sz="5400" b="1" dirty="0">
                <a:solidFill>
                  <a:schemeClr val="tx1"/>
                </a:solidFill>
                <a:effectLst/>
                <a:latin typeface="Times New Roman" panose="02020603050405020304" pitchFamily="18" charset="0"/>
                <a:cs typeface="Times New Roman" panose="02020603050405020304" pitchFamily="18" charset="0"/>
              </a:rPr>
              <a:t>第</a:t>
            </a:r>
            <a:r>
              <a:rPr lang="en-US" altLang="zh-CN" sz="5400" b="1" dirty="0">
                <a:solidFill>
                  <a:schemeClr val="tx1"/>
                </a:solidFill>
                <a:effectLst/>
                <a:latin typeface="Times New Roman" panose="02020603050405020304" pitchFamily="18" charset="0"/>
                <a:cs typeface="Times New Roman" panose="02020603050405020304" pitchFamily="18" charset="0"/>
              </a:rPr>
              <a:t>1</a:t>
            </a:r>
            <a:r>
              <a:rPr lang="zh-CN" altLang="en-US" sz="5400" b="1" dirty="0">
                <a:solidFill>
                  <a:schemeClr val="tx1"/>
                </a:solidFill>
                <a:effectLst/>
              </a:rPr>
              <a:t>章 无线传感器网络概述</a:t>
            </a:r>
            <a:endParaRPr lang="zh-CN" altLang="en-US" sz="3200" b="1" dirty="0">
              <a:solidFill>
                <a:schemeClr val="tx1"/>
              </a:solidFill>
              <a:effectLst/>
            </a:endParaRPr>
          </a:p>
        </p:txBody>
      </p:sp>
      <p:sp>
        <p:nvSpPr>
          <p:cNvPr id="3" name="内容占位符 2"/>
          <p:cNvSpPr>
            <a:spLocks noGrp="1"/>
          </p:cNvSpPr>
          <p:nvPr>
            <p:ph idx="1"/>
          </p:nvPr>
        </p:nvSpPr>
        <p:spPr>
          <a:xfrm>
            <a:off x="516835" y="1700417"/>
            <a:ext cx="8080513" cy="4351338"/>
          </a:xfrm>
        </p:spPr>
        <p:txBody>
          <a:bodyPr>
            <a:normAutofit lnSpcReduction="10000"/>
          </a:bodyPr>
          <a:lstStyle/>
          <a:p>
            <a:pPr marL="0" indent="0">
              <a:lnSpc>
                <a:spcPct val="150000"/>
              </a:lnSpc>
              <a:spcBef>
                <a:spcPts val="0"/>
              </a:spcBef>
              <a:buNone/>
            </a:pPr>
            <a:r>
              <a:rPr lang="en-US" altLang="zh-CN" sz="3200" b="1" spc="300" dirty="0">
                <a:latin typeface="Times New Roman" panose="02020603050405020304" pitchFamily="18" charset="0"/>
                <a:cs typeface="Times New Roman" panose="02020603050405020304" pitchFamily="18" charset="0"/>
              </a:rPr>
              <a:t>1.1 </a:t>
            </a:r>
            <a:r>
              <a:rPr lang="zh-CN" altLang="en-US" sz="3200" b="1" spc="300" dirty="0">
                <a:latin typeface="Times New Roman" panose="02020603050405020304" pitchFamily="18" charset="0"/>
                <a:cs typeface="Times New Roman" panose="02020603050405020304" pitchFamily="18" charset="0"/>
              </a:rPr>
              <a:t>无线传感器网络定义</a:t>
            </a:r>
            <a:endParaRPr lang="en-US" altLang="zh-CN" sz="3200" b="1" spc="3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latin typeface="Times New Roman" panose="02020603050405020304" pitchFamily="18" charset="0"/>
                <a:cs typeface="Times New Roman" panose="02020603050405020304" pitchFamily="18" charset="0"/>
              </a:rPr>
              <a:t>1.2 </a:t>
            </a:r>
            <a:r>
              <a:rPr lang="zh-CN" altLang="en-US" sz="3200" b="1" spc="300" dirty="0">
                <a:latin typeface="Times New Roman" panose="02020603050405020304" pitchFamily="18" charset="0"/>
                <a:cs typeface="Times New Roman" panose="02020603050405020304" pitchFamily="18" charset="0"/>
              </a:rPr>
              <a:t>无线传感器结构及类型</a:t>
            </a:r>
            <a:endParaRPr lang="en-US" altLang="zh-CN" sz="3200" b="1" spc="3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latin typeface="Times New Roman" panose="02020603050405020304" pitchFamily="18" charset="0"/>
                <a:cs typeface="Times New Roman" panose="02020603050405020304" pitchFamily="18" charset="0"/>
              </a:rPr>
              <a:t>1.3 </a:t>
            </a:r>
            <a:r>
              <a:rPr lang="zh-CN" altLang="en-US" sz="3200" b="1" spc="300" dirty="0">
                <a:latin typeface="Times New Roman" panose="02020603050405020304" pitchFamily="18" charset="0"/>
                <a:cs typeface="Times New Roman" panose="02020603050405020304" pitchFamily="18" charset="0"/>
              </a:rPr>
              <a:t>无线传感器网络拓扑</a:t>
            </a:r>
            <a:endParaRPr lang="en-US" altLang="zh-CN" sz="3200" b="1" spc="3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latin typeface="Times New Roman" panose="02020603050405020304" pitchFamily="18" charset="0"/>
                <a:cs typeface="Times New Roman" panose="02020603050405020304" pitchFamily="18" charset="0"/>
              </a:rPr>
              <a:t>1.4 </a:t>
            </a:r>
            <a:r>
              <a:rPr lang="zh-CN" altLang="en-US" sz="3200" b="1" spc="300" dirty="0">
                <a:latin typeface="Times New Roman" panose="02020603050405020304" pitchFamily="18" charset="0"/>
                <a:cs typeface="Times New Roman" panose="02020603050405020304" pitchFamily="18" charset="0"/>
              </a:rPr>
              <a:t>无线传感器网络架构</a:t>
            </a:r>
            <a:endParaRPr lang="en-US" altLang="zh-CN" sz="3200" b="1" spc="3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latin typeface="Times New Roman" panose="02020603050405020304" pitchFamily="18" charset="0"/>
                <a:cs typeface="Times New Roman" panose="02020603050405020304" pitchFamily="18" charset="0"/>
              </a:rPr>
              <a:t>1.5 </a:t>
            </a:r>
            <a:r>
              <a:rPr lang="zh-CN" altLang="en-US" sz="3200" b="1" spc="300" dirty="0">
                <a:latin typeface="Times New Roman" panose="02020603050405020304" pitchFamily="18" charset="0"/>
                <a:cs typeface="Times New Roman" panose="02020603050405020304" pitchFamily="18" charset="0"/>
              </a:rPr>
              <a:t>无线传感器网络特点及性能指标</a:t>
            </a:r>
            <a:endParaRPr lang="en-US" altLang="zh-CN" sz="3200" b="1" spc="3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latin typeface="Times New Roman" panose="02020603050405020304" pitchFamily="18" charset="0"/>
                <a:cs typeface="Times New Roman" panose="02020603050405020304" pitchFamily="18" charset="0"/>
              </a:rPr>
              <a:t>1.6 </a:t>
            </a:r>
            <a:r>
              <a:rPr lang="zh-CN" altLang="en-US" sz="3200" b="1" spc="300" dirty="0">
                <a:latin typeface="Times New Roman" panose="02020603050405020304" pitchFamily="18" charset="0"/>
                <a:cs typeface="Times New Roman" panose="02020603050405020304" pitchFamily="18" charset="0"/>
              </a:rPr>
              <a:t>本章总结与作业</a:t>
            </a:r>
            <a:endParaRPr lang="en-US" altLang="zh-CN" sz="3200" b="1" spc="3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E663D701-F6D3-45BB-89CD-EE32AA93FC3C}" type="slidenum">
              <a:rPr lang="zh-CN" altLang="en-US" smtClean="0"/>
              <a:t>1</a:t>
            </a:fld>
            <a:endParaRPr lang="zh-CN" altLang="en-US" dirty="0"/>
          </a:p>
        </p:txBody>
      </p:sp>
    </p:spTree>
    <p:extLst>
      <p:ext uri="{BB962C8B-B14F-4D97-AF65-F5344CB8AC3E}">
        <p14:creationId xmlns:p14="http://schemas.microsoft.com/office/powerpoint/2010/main" val="1127864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374854"/>
            <a:ext cx="8631936" cy="1325563"/>
          </a:xfrm>
        </p:spPr>
        <p:txBody>
          <a:bodyPr>
            <a:normAutofit fontScale="90000"/>
          </a:bodyPr>
          <a:lstStyle/>
          <a:p>
            <a:pPr algn="ctr"/>
            <a:r>
              <a:rPr lang="zh-CN" altLang="en-US" sz="5400" b="1" dirty="0">
                <a:solidFill>
                  <a:schemeClr val="tx1"/>
                </a:solidFill>
                <a:effectLst/>
                <a:latin typeface="Times New Roman" panose="02020603050405020304" pitchFamily="18" charset="0"/>
                <a:cs typeface="Times New Roman" panose="02020603050405020304" pitchFamily="18" charset="0"/>
              </a:rPr>
              <a:t>第</a:t>
            </a:r>
            <a:r>
              <a:rPr lang="en-US" altLang="zh-CN" sz="5400" b="1" dirty="0">
                <a:solidFill>
                  <a:schemeClr val="tx1"/>
                </a:solidFill>
                <a:effectLst/>
                <a:latin typeface="Times New Roman" panose="02020603050405020304" pitchFamily="18" charset="0"/>
                <a:cs typeface="Times New Roman" panose="02020603050405020304" pitchFamily="18" charset="0"/>
              </a:rPr>
              <a:t>1</a:t>
            </a:r>
            <a:r>
              <a:rPr lang="zh-CN" altLang="en-US" sz="5400" b="1" dirty="0">
                <a:solidFill>
                  <a:schemeClr val="tx1"/>
                </a:solidFill>
                <a:effectLst/>
              </a:rPr>
              <a:t>章 无线传感器网络概述</a:t>
            </a:r>
            <a:endParaRPr lang="zh-CN" altLang="en-US" sz="3200" b="1" dirty="0">
              <a:solidFill>
                <a:schemeClr val="tx1"/>
              </a:solidFill>
              <a:effectLst/>
            </a:endParaRPr>
          </a:p>
        </p:txBody>
      </p:sp>
      <p:sp>
        <p:nvSpPr>
          <p:cNvPr id="3" name="内容占位符 2"/>
          <p:cNvSpPr>
            <a:spLocks noGrp="1"/>
          </p:cNvSpPr>
          <p:nvPr>
            <p:ph idx="1"/>
          </p:nvPr>
        </p:nvSpPr>
        <p:spPr>
          <a:xfrm>
            <a:off x="516835" y="1700417"/>
            <a:ext cx="8080513" cy="4351338"/>
          </a:xfrm>
        </p:spPr>
        <p:txBody>
          <a:bodyPr>
            <a:normAutofit lnSpcReduction="10000"/>
          </a:bodyPr>
          <a:lstStyle/>
          <a:p>
            <a:pPr marL="0" indent="0">
              <a:lnSpc>
                <a:spcPct val="150000"/>
              </a:lnSpc>
              <a:spcBef>
                <a:spcPts val="0"/>
              </a:spcBef>
              <a:buNone/>
            </a:pPr>
            <a:r>
              <a:rPr lang="en-US" altLang="zh-CN" sz="3200" b="1" spc="300" dirty="0">
                <a:solidFill>
                  <a:srgbClr val="C00000"/>
                </a:solidFill>
                <a:latin typeface="Times New Roman" panose="02020603050405020304" pitchFamily="18" charset="0"/>
                <a:cs typeface="Times New Roman" panose="02020603050405020304" pitchFamily="18" charset="0"/>
              </a:rPr>
              <a:t>1.1 </a:t>
            </a:r>
            <a:r>
              <a:rPr lang="zh-CN" altLang="en-US" sz="3200" b="1" spc="300" dirty="0">
                <a:solidFill>
                  <a:srgbClr val="C00000"/>
                </a:solidFill>
                <a:latin typeface="Times New Roman" panose="02020603050405020304" pitchFamily="18" charset="0"/>
                <a:cs typeface="Times New Roman" panose="02020603050405020304" pitchFamily="18" charset="0"/>
              </a:rPr>
              <a:t>无线传感器网络定义</a:t>
            </a:r>
            <a:endParaRPr lang="en-US" altLang="zh-CN" sz="3200" b="1" spc="300" dirty="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1.2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无线传感器结构及类型</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1.3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无线传感器网络拓扑</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1.4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无线传感器网络架构</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1.5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无线传感器网络特点及性能指标</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1.6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本章总结与作业</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E663D701-F6D3-45BB-89CD-EE32AA93FC3C}" type="slidenum">
              <a:rPr lang="zh-CN" altLang="en-US" smtClean="0"/>
              <a:t>2</a:t>
            </a:fld>
            <a:endParaRPr lang="zh-CN" altLang="en-US" dirty="0"/>
          </a:p>
        </p:txBody>
      </p:sp>
    </p:spTree>
    <p:extLst>
      <p:ext uri="{BB962C8B-B14F-4D97-AF65-F5344CB8AC3E}">
        <p14:creationId xmlns:p14="http://schemas.microsoft.com/office/powerpoint/2010/main" val="179128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94553" y="0"/>
            <a:ext cx="4889474"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5" name="灯片编号占位符 3">
            <a:extLst>
              <a:ext uri="{FF2B5EF4-FFF2-40B4-BE49-F238E27FC236}">
                <a16:creationId xmlns:a16="http://schemas.microsoft.com/office/drawing/2014/main" id="{0D24A2DD-6B96-4E5C-BF99-C4E20FBE44AB}"/>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3</a:t>
            </a:fld>
            <a:endParaRPr lang="zh-CN" altLang="en-US"/>
          </a:p>
        </p:txBody>
      </p:sp>
      <p:sp>
        <p:nvSpPr>
          <p:cNvPr id="16" name="矩形 15">
            <a:extLst>
              <a:ext uri="{FF2B5EF4-FFF2-40B4-BE49-F238E27FC236}">
                <a16:creationId xmlns:a16="http://schemas.microsoft.com/office/drawing/2014/main" id="{BC2674E4-7FD6-4AFF-BF6A-57D58A7D34A4}"/>
              </a:ext>
            </a:extLst>
          </p:cNvPr>
          <p:cNvSpPr/>
          <p:nvPr/>
        </p:nvSpPr>
        <p:spPr>
          <a:xfrm>
            <a:off x="3360781" y="2181660"/>
            <a:ext cx="1651665" cy="823829"/>
          </a:xfrm>
          <a:prstGeom prst="rect">
            <a:avLst/>
          </a:prstGeom>
          <a:no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a:extLst>
              <a:ext uri="{FF2B5EF4-FFF2-40B4-BE49-F238E27FC236}">
                <a16:creationId xmlns:a16="http://schemas.microsoft.com/office/drawing/2014/main" id="{E615FAB1-D517-4120-88F8-6640DCF60441}"/>
              </a:ext>
            </a:extLst>
          </p:cNvPr>
          <p:cNvCxnSpPr>
            <a:stCxn id="16" idx="2"/>
          </p:cNvCxnSpPr>
          <p:nvPr/>
        </p:nvCxnSpPr>
        <p:spPr>
          <a:xfrm>
            <a:off x="4186614" y="3005489"/>
            <a:ext cx="7181" cy="531015"/>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178A5669-0B35-493C-BCC8-53B256E587B9}"/>
              </a:ext>
            </a:extLst>
          </p:cNvPr>
          <p:cNvSpPr/>
          <p:nvPr/>
        </p:nvSpPr>
        <p:spPr>
          <a:xfrm>
            <a:off x="5058924" y="2181660"/>
            <a:ext cx="1135418" cy="823829"/>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cxnSp>
        <p:nvCxnSpPr>
          <p:cNvPr id="20" name="直接箭头连接符 19">
            <a:extLst>
              <a:ext uri="{FF2B5EF4-FFF2-40B4-BE49-F238E27FC236}">
                <a16:creationId xmlns:a16="http://schemas.microsoft.com/office/drawing/2014/main" id="{A23A9593-F7C0-43C0-82B6-798204370384}"/>
              </a:ext>
            </a:extLst>
          </p:cNvPr>
          <p:cNvCxnSpPr>
            <a:cxnSpLocks/>
          </p:cNvCxnSpPr>
          <p:nvPr/>
        </p:nvCxnSpPr>
        <p:spPr>
          <a:xfrm>
            <a:off x="6194342" y="2570027"/>
            <a:ext cx="335719" cy="0"/>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6ABCB666-AA52-417D-8A7D-9BCE5B189C73}"/>
              </a:ext>
            </a:extLst>
          </p:cNvPr>
          <p:cNvSpPr txBox="1"/>
          <p:nvPr/>
        </p:nvSpPr>
        <p:spPr>
          <a:xfrm>
            <a:off x="6539760" y="1437732"/>
            <a:ext cx="2575389" cy="2243050"/>
          </a:xfrm>
          <a:prstGeom prst="rect">
            <a:avLst/>
          </a:prstGeom>
          <a:noFill/>
          <a:ln w="19050">
            <a:noFill/>
          </a:ln>
        </p:spPr>
        <p:txBody>
          <a:bodyPr wrap="square" rtlCol="0">
            <a:spAutoFit/>
          </a:bodyPr>
          <a:lstStyle/>
          <a:p>
            <a:pPr>
              <a:lnSpc>
                <a:spcPct val="150000"/>
              </a:lnSpc>
            </a:pPr>
            <a:r>
              <a:rPr lang="zh-CN" altLang="en-US" sz="2400" b="1" dirty="0">
                <a:solidFill>
                  <a:srgbClr val="0070C0"/>
                </a:solidFill>
                <a:latin typeface="微软雅黑" panose="020B0503020204020204" pitchFamily="34" charset="-122"/>
                <a:ea typeface="微软雅黑" panose="020B0503020204020204" pitchFamily="34" charset="-122"/>
              </a:rPr>
              <a:t>许多分布式化的传感器节点</a:t>
            </a:r>
            <a:endParaRPr lang="en-US" altLang="zh-CN" sz="2400" b="1" dirty="0">
              <a:solidFill>
                <a:srgbClr val="0070C0"/>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rgbClr val="0070C0"/>
                </a:solidFill>
                <a:latin typeface="微软雅黑" panose="020B0503020204020204" pitchFamily="34" charset="-122"/>
                <a:ea typeface="微软雅黑" panose="020B0503020204020204" pitchFamily="34" charset="-122"/>
              </a:rPr>
              <a:t>形成大范围协作的感知网络</a:t>
            </a:r>
          </a:p>
        </p:txBody>
      </p:sp>
      <p:sp>
        <p:nvSpPr>
          <p:cNvPr id="22" name="矩形 21">
            <a:extLst>
              <a:ext uri="{FF2B5EF4-FFF2-40B4-BE49-F238E27FC236}">
                <a16:creationId xmlns:a16="http://schemas.microsoft.com/office/drawing/2014/main" id="{739B5742-77B3-468C-83D3-F0CF40468D97}"/>
              </a:ext>
            </a:extLst>
          </p:cNvPr>
          <p:cNvSpPr/>
          <p:nvPr/>
        </p:nvSpPr>
        <p:spPr>
          <a:xfrm>
            <a:off x="2254882" y="2181660"/>
            <a:ext cx="1082660" cy="823829"/>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箭头连接符 22">
            <a:extLst>
              <a:ext uri="{FF2B5EF4-FFF2-40B4-BE49-F238E27FC236}">
                <a16:creationId xmlns:a16="http://schemas.microsoft.com/office/drawing/2014/main" id="{E6BA83BE-0259-4B7D-9C8E-18F455146794}"/>
              </a:ext>
            </a:extLst>
          </p:cNvPr>
          <p:cNvCxnSpPr>
            <a:cxnSpLocks/>
          </p:cNvCxnSpPr>
          <p:nvPr/>
        </p:nvCxnSpPr>
        <p:spPr>
          <a:xfrm flipH="1">
            <a:off x="1888397" y="2593574"/>
            <a:ext cx="366486" cy="0"/>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480C89D7-3733-4AC1-9F10-5495670C34BC}"/>
              </a:ext>
            </a:extLst>
          </p:cNvPr>
          <p:cNvSpPr txBox="1"/>
          <p:nvPr/>
        </p:nvSpPr>
        <p:spPr>
          <a:xfrm>
            <a:off x="3097" y="1385070"/>
            <a:ext cx="2023437" cy="2243050"/>
          </a:xfrm>
          <a:prstGeom prst="rect">
            <a:avLst/>
          </a:prstGeom>
          <a:noFill/>
          <a:ln w="19050">
            <a:noFill/>
          </a:ln>
        </p:spPr>
        <p:txBody>
          <a:bodyPr wrap="square" rtlCol="0">
            <a:spAutoFit/>
          </a:bodyPr>
          <a:lstStyle/>
          <a:p>
            <a:pPr>
              <a:lnSpc>
                <a:spcPct val="150000"/>
              </a:lnSpc>
            </a:pPr>
            <a:r>
              <a:rPr lang="zh-CN" altLang="en-US" sz="2400" b="1" dirty="0">
                <a:solidFill>
                  <a:srgbClr val="7030A0"/>
                </a:solidFill>
                <a:latin typeface="微软雅黑" panose="020B0503020204020204" pitchFamily="34" charset="-122"/>
                <a:ea typeface="微软雅黑" panose="020B0503020204020204" pitchFamily="34" charset="-122"/>
              </a:rPr>
              <a:t>通过不同的无线通信技术进行数据传输与交互</a:t>
            </a:r>
          </a:p>
        </p:txBody>
      </p:sp>
      <p:sp>
        <p:nvSpPr>
          <p:cNvPr id="25" name="文本框 24">
            <a:extLst>
              <a:ext uri="{FF2B5EF4-FFF2-40B4-BE49-F238E27FC236}">
                <a16:creationId xmlns:a16="http://schemas.microsoft.com/office/drawing/2014/main" id="{28D1D381-85F1-4FE7-9B08-7F4CBB6AA5DD}"/>
              </a:ext>
            </a:extLst>
          </p:cNvPr>
          <p:cNvSpPr txBox="1"/>
          <p:nvPr/>
        </p:nvSpPr>
        <p:spPr>
          <a:xfrm>
            <a:off x="-23414" y="3591554"/>
            <a:ext cx="2120310" cy="2243050"/>
          </a:xfrm>
          <a:prstGeom prst="rect">
            <a:avLst/>
          </a:prstGeom>
          <a:noFill/>
          <a:ln w="19050">
            <a:noFill/>
          </a:ln>
        </p:spPr>
        <p:txBody>
          <a:bodyPr wrap="square" rtlCol="0">
            <a:spAutoFit/>
          </a:bodyPr>
          <a:lstStyle/>
          <a:p>
            <a:pPr marL="342900" indent="-342900">
              <a:lnSpc>
                <a:spcPct val="150000"/>
              </a:lnSpc>
              <a:buFont typeface="Arial" panose="020B0604020202020204" pitchFamily="34" charset="0"/>
              <a:buChar char="•"/>
            </a:pPr>
            <a:r>
              <a:rPr lang="en-US" altLang="zh-CN" sz="2400" b="1" dirty="0">
                <a:solidFill>
                  <a:srgbClr val="7030A0"/>
                </a:solidFill>
                <a:latin typeface="微软雅黑" panose="020B0503020204020204" pitchFamily="34" charset="-122"/>
                <a:ea typeface="微软雅黑" panose="020B0503020204020204" pitchFamily="34" charset="-122"/>
              </a:rPr>
              <a:t>Zigbee</a:t>
            </a:r>
          </a:p>
          <a:p>
            <a:pPr marL="342900" indent="-342900">
              <a:lnSpc>
                <a:spcPct val="150000"/>
              </a:lnSpc>
              <a:buFont typeface="Arial" panose="020B0604020202020204" pitchFamily="34" charset="0"/>
              <a:buChar char="•"/>
            </a:pPr>
            <a:r>
              <a:rPr lang="en-US" altLang="zh-CN" sz="2400" b="1" dirty="0" err="1">
                <a:solidFill>
                  <a:srgbClr val="7030A0"/>
                </a:solidFill>
                <a:latin typeface="微软雅黑" panose="020B0503020204020204" pitchFamily="34" charset="-122"/>
                <a:ea typeface="微软雅黑" panose="020B0503020204020204" pitchFamily="34" charset="-122"/>
              </a:rPr>
              <a:t>WiFi</a:t>
            </a:r>
            <a:endParaRPr lang="en-US" altLang="zh-CN" sz="2400" b="1" dirty="0">
              <a:solidFill>
                <a:srgbClr val="7030A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en-US" altLang="zh-CN" sz="2400" b="1" dirty="0">
                <a:solidFill>
                  <a:srgbClr val="7030A0"/>
                </a:solidFill>
                <a:latin typeface="微软雅黑" panose="020B0503020204020204" pitchFamily="34" charset="-122"/>
                <a:ea typeface="微软雅黑" panose="020B0503020204020204" pitchFamily="34" charset="-122"/>
              </a:rPr>
              <a:t>Bluetooth</a:t>
            </a:r>
          </a:p>
          <a:p>
            <a:pPr marL="342900" indent="-342900">
              <a:lnSpc>
                <a:spcPct val="150000"/>
              </a:lnSpc>
              <a:buFont typeface="Arial" panose="020B0604020202020204" pitchFamily="34" charset="0"/>
              <a:buChar char="•"/>
            </a:pPr>
            <a:r>
              <a:rPr lang="en-US" altLang="zh-CN" sz="2400" b="1" dirty="0">
                <a:solidFill>
                  <a:srgbClr val="7030A0"/>
                </a:solidFill>
                <a:latin typeface="微软雅黑" panose="020B0503020204020204" pitchFamily="34" charset="-122"/>
                <a:ea typeface="微软雅黑" panose="020B0503020204020204" pitchFamily="34" charset="-122"/>
              </a:rPr>
              <a:t>Cellular</a:t>
            </a:r>
            <a:endParaRPr lang="zh-CN" altLang="en-US" sz="2400" b="1" dirty="0">
              <a:solidFill>
                <a:srgbClr val="7030A0"/>
              </a:solidFill>
              <a:latin typeface="微软雅黑" panose="020B0503020204020204" pitchFamily="34" charset="-122"/>
              <a:ea typeface="微软雅黑" panose="020B0503020204020204" pitchFamily="34" charset="-122"/>
            </a:endParaRPr>
          </a:p>
        </p:txBody>
      </p:sp>
      <p:sp>
        <p:nvSpPr>
          <p:cNvPr id="26" name="内容占位符 5">
            <a:extLst>
              <a:ext uri="{FF2B5EF4-FFF2-40B4-BE49-F238E27FC236}">
                <a16:creationId xmlns:a16="http://schemas.microsoft.com/office/drawing/2014/main" id="{59150CCA-C285-4DA2-B504-929174154AF8}"/>
              </a:ext>
            </a:extLst>
          </p:cNvPr>
          <p:cNvSpPr txBox="1">
            <a:spLocks/>
          </p:cNvSpPr>
          <p:nvPr/>
        </p:nvSpPr>
        <p:spPr>
          <a:xfrm>
            <a:off x="2169505" y="2335886"/>
            <a:ext cx="1220796" cy="579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zh-CN" altLang="en-US" sz="3600" b="1" dirty="0">
                <a:solidFill>
                  <a:srgbClr val="7030A0"/>
                </a:solidFill>
                <a:latin typeface="微软雅黑" panose="020B0503020204020204" pitchFamily="34" charset="-122"/>
                <a:ea typeface="微软雅黑" panose="020B0503020204020204" pitchFamily="34" charset="-122"/>
              </a:rPr>
              <a:t>无线</a:t>
            </a:r>
          </a:p>
        </p:txBody>
      </p:sp>
      <p:sp>
        <p:nvSpPr>
          <p:cNvPr id="27" name="文本框 26">
            <a:extLst>
              <a:ext uri="{FF2B5EF4-FFF2-40B4-BE49-F238E27FC236}">
                <a16:creationId xmlns:a16="http://schemas.microsoft.com/office/drawing/2014/main" id="{8803B97B-D036-44D9-AA6E-922D01CAB494}"/>
              </a:ext>
            </a:extLst>
          </p:cNvPr>
          <p:cNvSpPr txBox="1"/>
          <p:nvPr/>
        </p:nvSpPr>
        <p:spPr>
          <a:xfrm>
            <a:off x="3401836" y="2272404"/>
            <a:ext cx="1783319" cy="646331"/>
          </a:xfrm>
          <a:prstGeom prst="rect">
            <a:avLst/>
          </a:prstGeom>
          <a:noFill/>
        </p:spPr>
        <p:txBody>
          <a:bodyPr wrap="square">
            <a:spAutoFit/>
          </a:bodyPr>
          <a:lstStyle/>
          <a:p>
            <a:r>
              <a:rPr lang="zh-CN" altLang="en-US" sz="3600" b="1" dirty="0">
                <a:solidFill>
                  <a:schemeClr val="accent6">
                    <a:lumMod val="75000"/>
                  </a:schemeClr>
                </a:solidFill>
                <a:latin typeface="微软雅黑" panose="020B0503020204020204" pitchFamily="34" charset="-122"/>
                <a:ea typeface="微软雅黑" panose="020B0503020204020204" pitchFamily="34" charset="-122"/>
              </a:rPr>
              <a:t>传感器</a:t>
            </a:r>
            <a:endParaRPr lang="zh-CN" altLang="en-US" sz="3600" dirty="0">
              <a:solidFill>
                <a:schemeClr val="accent6">
                  <a:lumMod val="75000"/>
                </a:schemeClr>
              </a:solidFill>
            </a:endParaRPr>
          </a:p>
        </p:txBody>
      </p:sp>
      <p:sp>
        <p:nvSpPr>
          <p:cNvPr id="28" name="文本框 27">
            <a:extLst>
              <a:ext uri="{FF2B5EF4-FFF2-40B4-BE49-F238E27FC236}">
                <a16:creationId xmlns:a16="http://schemas.microsoft.com/office/drawing/2014/main" id="{2B2FFFDF-C0EC-44D8-B3AC-0389EB66A1F0}"/>
              </a:ext>
            </a:extLst>
          </p:cNvPr>
          <p:cNvSpPr txBox="1"/>
          <p:nvPr/>
        </p:nvSpPr>
        <p:spPr>
          <a:xfrm>
            <a:off x="5084027" y="2269282"/>
            <a:ext cx="1175316" cy="646331"/>
          </a:xfrm>
          <a:prstGeom prst="rect">
            <a:avLst/>
          </a:prstGeom>
          <a:noFill/>
        </p:spPr>
        <p:txBody>
          <a:bodyPr wrap="square">
            <a:spAutoFit/>
          </a:bodyPr>
          <a:lstStyle/>
          <a:p>
            <a:r>
              <a:rPr lang="zh-CN" altLang="en-US" sz="3600" b="1" dirty="0">
                <a:solidFill>
                  <a:srgbClr val="0070C0"/>
                </a:solidFill>
                <a:latin typeface="微软雅黑" panose="020B0503020204020204" pitchFamily="34" charset="-122"/>
                <a:ea typeface="微软雅黑" panose="020B0503020204020204" pitchFamily="34" charset="-122"/>
              </a:rPr>
              <a:t>网络</a:t>
            </a:r>
            <a:endParaRPr lang="zh-CN" altLang="en-US" sz="3600" dirty="0">
              <a:solidFill>
                <a:srgbClr val="0070C0"/>
              </a:solidFill>
            </a:endParaRPr>
          </a:p>
        </p:txBody>
      </p:sp>
      <p:sp>
        <p:nvSpPr>
          <p:cNvPr id="30" name="文本框 29">
            <a:extLst>
              <a:ext uri="{FF2B5EF4-FFF2-40B4-BE49-F238E27FC236}">
                <a16:creationId xmlns:a16="http://schemas.microsoft.com/office/drawing/2014/main" id="{650BDBC7-E25E-4578-B593-9816257884C7}"/>
              </a:ext>
            </a:extLst>
          </p:cNvPr>
          <p:cNvSpPr txBox="1"/>
          <p:nvPr/>
        </p:nvSpPr>
        <p:spPr>
          <a:xfrm>
            <a:off x="6539760" y="0"/>
            <a:ext cx="2604240"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1.1 </a:t>
            </a:r>
            <a:r>
              <a:rPr lang="zh-CN" altLang="en-US" b="1" dirty="0">
                <a:latin typeface="Times New Roman" panose="02020603050405020304" pitchFamily="18" charset="0"/>
                <a:cs typeface="Times New Roman" panose="02020603050405020304" pitchFamily="18" charset="0"/>
              </a:rPr>
              <a:t>无线传感器网络定义</a:t>
            </a:r>
          </a:p>
        </p:txBody>
      </p:sp>
      <p:sp>
        <p:nvSpPr>
          <p:cNvPr id="29" name="文本框 28">
            <a:extLst>
              <a:ext uri="{FF2B5EF4-FFF2-40B4-BE49-F238E27FC236}">
                <a16:creationId xmlns:a16="http://schemas.microsoft.com/office/drawing/2014/main" id="{D2DFCBA0-84ED-415D-926D-703CCBA85880}"/>
              </a:ext>
            </a:extLst>
          </p:cNvPr>
          <p:cNvSpPr txBox="1"/>
          <p:nvPr/>
        </p:nvSpPr>
        <p:spPr>
          <a:xfrm>
            <a:off x="2058597" y="3571430"/>
            <a:ext cx="6338565" cy="2243050"/>
          </a:xfrm>
          <a:prstGeom prst="rect">
            <a:avLst/>
          </a:prstGeom>
          <a:noFill/>
          <a:ln w="19050">
            <a:noFill/>
          </a:ln>
        </p:spPr>
        <p:txBody>
          <a:bodyPr wrap="square" rtlCol="0">
            <a:spAutoFit/>
          </a:bodyPr>
          <a:lstStyle/>
          <a:p>
            <a:pPr>
              <a:lnSpc>
                <a:spcPct val="150000"/>
              </a:lnSpc>
            </a:pPr>
            <a:r>
              <a:rPr lang="zh-CN" altLang="en-US" sz="2400" b="1" dirty="0">
                <a:solidFill>
                  <a:schemeClr val="accent6">
                    <a:lumMod val="75000"/>
                  </a:schemeClr>
                </a:solidFill>
                <a:latin typeface="微软雅黑" panose="020B0503020204020204" pitchFamily="34" charset="-122"/>
                <a:ea typeface="微软雅黑" panose="020B0503020204020204" pitchFamily="34" charset="-122"/>
              </a:rPr>
              <a:t>能够感知环境变化并将之转换为可测量信号的设备</a:t>
            </a:r>
            <a:endParaRPr lang="en-US" altLang="zh-CN" sz="2400" b="1" dirty="0">
              <a:solidFill>
                <a:schemeClr val="accent6">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6">
                    <a:lumMod val="75000"/>
                  </a:schemeClr>
                </a:solidFill>
                <a:latin typeface="微软雅黑" panose="020B0503020204020204" pitchFamily="34" charset="-122"/>
                <a:ea typeface="微软雅黑" panose="020B0503020204020204" pitchFamily="34" charset="-122"/>
              </a:rPr>
              <a:t>用来模仿人类的眼、鼻、耳、手等功能</a:t>
            </a:r>
            <a:endParaRPr lang="en-US" altLang="zh-CN" sz="2400" b="1" dirty="0">
              <a:solidFill>
                <a:schemeClr val="accent6">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6">
                    <a:lumMod val="75000"/>
                  </a:schemeClr>
                </a:solidFill>
                <a:latin typeface="微软雅黑" panose="020B0503020204020204" pitchFamily="34" charset="-122"/>
                <a:ea typeface="微软雅黑" panose="020B0503020204020204" pitchFamily="34" charset="-122"/>
              </a:rPr>
              <a:t>具备感知、处理和通信能力</a:t>
            </a:r>
            <a:endParaRPr lang="en-US" altLang="zh-CN" sz="2400" b="1" dirty="0">
              <a:solidFill>
                <a:schemeClr val="accent6">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2205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ppt_x"/>
                                          </p:val>
                                        </p:tav>
                                        <p:tav tm="100000">
                                          <p:val>
                                            <p:strVal val="#ppt_x"/>
                                          </p:val>
                                        </p:tav>
                                      </p:tavLst>
                                    </p:anim>
                                    <p:anim calcmode="lin" valueType="num">
                                      <p:cBhvr additive="base">
                                        <p:cTn id="12" dur="500" fill="hold"/>
                                        <p:tgtEl>
                                          <p:spTgt spid="2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ppt_x"/>
                                          </p:val>
                                        </p:tav>
                                        <p:tav tm="100000">
                                          <p:val>
                                            <p:strVal val="#ppt_x"/>
                                          </p:val>
                                        </p:tav>
                                      </p:tavLst>
                                    </p:anim>
                                    <p:anim calcmode="lin" valueType="num">
                                      <p:cBhvr additive="base">
                                        <p:cTn id="1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anim calcmode="lin" valueType="num">
                                      <p:cBhvr>
                                        <p:cTn id="22" dur="1000" fill="hold"/>
                                        <p:tgtEl>
                                          <p:spTgt spid="16"/>
                                        </p:tgtEl>
                                        <p:attrNameLst>
                                          <p:attrName>ppt_x</p:attrName>
                                        </p:attrNameLst>
                                      </p:cBhvr>
                                      <p:tavLst>
                                        <p:tav tm="0">
                                          <p:val>
                                            <p:strVal val="#ppt_x"/>
                                          </p:val>
                                        </p:tav>
                                        <p:tav tm="100000">
                                          <p:val>
                                            <p:strVal val="#ppt_x"/>
                                          </p:val>
                                        </p:tav>
                                      </p:tavLst>
                                    </p:anim>
                                    <p:anim calcmode="lin" valueType="num">
                                      <p:cBhvr>
                                        <p:cTn id="23" dur="1000" fill="hold"/>
                                        <p:tgtEl>
                                          <p:spTgt spid="16"/>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1000"/>
                                        <p:tgtEl>
                                          <p:spTgt spid="17"/>
                                        </p:tgtEl>
                                      </p:cBhvr>
                                    </p:animEffect>
                                    <p:anim calcmode="lin" valueType="num">
                                      <p:cBhvr>
                                        <p:cTn id="27" dur="1000" fill="hold"/>
                                        <p:tgtEl>
                                          <p:spTgt spid="17"/>
                                        </p:tgtEl>
                                        <p:attrNameLst>
                                          <p:attrName>ppt_x</p:attrName>
                                        </p:attrNameLst>
                                      </p:cBhvr>
                                      <p:tavLst>
                                        <p:tav tm="0">
                                          <p:val>
                                            <p:strVal val="#ppt_x"/>
                                          </p:val>
                                        </p:tav>
                                        <p:tav tm="100000">
                                          <p:val>
                                            <p:strVal val="#ppt_x"/>
                                          </p:val>
                                        </p:tav>
                                      </p:tavLst>
                                    </p:anim>
                                    <p:anim calcmode="lin" valueType="num">
                                      <p:cBhvr>
                                        <p:cTn id="2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1500" fill="hold"/>
                                        <p:tgtEl>
                                          <p:spTgt spid="19"/>
                                        </p:tgtEl>
                                        <p:attrNameLst>
                                          <p:attrName>ppt_x</p:attrName>
                                        </p:attrNameLst>
                                      </p:cBhvr>
                                      <p:tavLst>
                                        <p:tav tm="0">
                                          <p:val>
                                            <p:strVal val="1+#ppt_w/2"/>
                                          </p:val>
                                        </p:tav>
                                        <p:tav tm="100000">
                                          <p:val>
                                            <p:strVal val="#ppt_x"/>
                                          </p:val>
                                        </p:tav>
                                      </p:tavLst>
                                    </p:anim>
                                    <p:anim calcmode="lin" valueType="num">
                                      <p:cBhvr additive="base">
                                        <p:cTn id="34" dur="1500" fill="hold"/>
                                        <p:tgtEl>
                                          <p:spTgt spid="19"/>
                                        </p:tgtEl>
                                        <p:attrNameLst>
                                          <p:attrName>ppt_y</p:attrName>
                                        </p:attrNameLst>
                                      </p:cBhvr>
                                      <p:tavLst>
                                        <p:tav tm="0">
                                          <p:val>
                                            <p:strVal val="#ppt_y"/>
                                          </p:val>
                                        </p:tav>
                                        <p:tav tm="100000">
                                          <p:val>
                                            <p:strVal val="#ppt_y"/>
                                          </p:val>
                                        </p:tav>
                                      </p:tavLst>
                                    </p:anim>
                                  </p:childTnLst>
                                </p:cTn>
                              </p:par>
                              <p:par>
                                <p:cTn id="35" presetID="2" presetClass="entr" presetSubtype="2"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1500" fill="hold"/>
                                        <p:tgtEl>
                                          <p:spTgt spid="20"/>
                                        </p:tgtEl>
                                        <p:attrNameLst>
                                          <p:attrName>ppt_x</p:attrName>
                                        </p:attrNameLst>
                                      </p:cBhvr>
                                      <p:tavLst>
                                        <p:tav tm="0">
                                          <p:val>
                                            <p:strVal val="1+#ppt_w/2"/>
                                          </p:val>
                                        </p:tav>
                                        <p:tav tm="100000">
                                          <p:val>
                                            <p:strVal val="#ppt_x"/>
                                          </p:val>
                                        </p:tav>
                                      </p:tavLst>
                                    </p:anim>
                                    <p:anim calcmode="lin" valueType="num">
                                      <p:cBhvr additive="base">
                                        <p:cTn id="38" dur="1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 calcmode="lin" valueType="num">
                                      <p:cBhvr additive="base">
                                        <p:cTn id="51" dur="1500" fill="hold"/>
                                        <p:tgtEl>
                                          <p:spTgt spid="22"/>
                                        </p:tgtEl>
                                        <p:attrNameLst>
                                          <p:attrName>ppt_x</p:attrName>
                                        </p:attrNameLst>
                                      </p:cBhvr>
                                      <p:tavLst>
                                        <p:tav tm="0">
                                          <p:val>
                                            <p:strVal val="1+#ppt_w/2"/>
                                          </p:val>
                                        </p:tav>
                                        <p:tav tm="100000">
                                          <p:val>
                                            <p:strVal val="#ppt_x"/>
                                          </p:val>
                                        </p:tav>
                                      </p:tavLst>
                                    </p:anim>
                                    <p:anim calcmode="lin" valueType="num">
                                      <p:cBhvr additive="base">
                                        <p:cTn id="52" dur="1500" fill="hold"/>
                                        <p:tgtEl>
                                          <p:spTgt spid="22"/>
                                        </p:tgtEl>
                                        <p:attrNameLst>
                                          <p:attrName>ppt_y</p:attrName>
                                        </p:attrNameLst>
                                      </p:cBhvr>
                                      <p:tavLst>
                                        <p:tav tm="0">
                                          <p:val>
                                            <p:strVal val="#ppt_y"/>
                                          </p:val>
                                        </p:tav>
                                        <p:tav tm="100000">
                                          <p:val>
                                            <p:strVal val="#ppt_y"/>
                                          </p:val>
                                        </p:tav>
                                      </p:tavLst>
                                    </p:anim>
                                  </p:childTnLst>
                                </p:cTn>
                              </p:par>
                              <p:par>
                                <p:cTn id="53" presetID="2" presetClass="entr" presetSubtype="2"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 calcmode="lin" valueType="num">
                                      <p:cBhvr additive="base">
                                        <p:cTn id="55" dur="1500" fill="hold"/>
                                        <p:tgtEl>
                                          <p:spTgt spid="23"/>
                                        </p:tgtEl>
                                        <p:attrNameLst>
                                          <p:attrName>ppt_x</p:attrName>
                                        </p:attrNameLst>
                                      </p:cBhvr>
                                      <p:tavLst>
                                        <p:tav tm="0">
                                          <p:val>
                                            <p:strVal val="1+#ppt_w/2"/>
                                          </p:val>
                                        </p:tav>
                                        <p:tav tm="100000">
                                          <p:val>
                                            <p:strVal val="#ppt_x"/>
                                          </p:val>
                                        </p:tav>
                                      </p:tavLst>
                                    </p:anim>
                                    <p:anim calcmode="lin" valueType="num">
                                      <p:cBhvr additive="base">
                                        <p:cTn id="56" dur="1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5">
                                            <p:txEl>
                                              <p:pRg st="1" end="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5">
                                            <p:txEl>
                                              <p:pRg st="3" end="3"/>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2" grpId="0" animBg="1"/>
      <p:bldP spid="26" grpId="0"/>
      <p:bldP spid="27" grpId="0"/>
      <p:bldP spid="2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94551" y="0"/>
            <a:ext cx="447021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5" name="灯片编号占位符 3">
            <a:extLst>
              <a:ext uri="{FF2B5EF4-FFF2-40B4-BE49-F238E27FC236}">
                <a16:creationId xmlns:a16="http://schemas.microsoft.com/office/drawing/2014/main" id="{0D24A2DD-6B96-4E5C-BF99-C4E20FBE44AB}"/>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4</a:t>
            </a:fld>
            <a:endParaRPr lang="zh-CN" altLang="en-US"/>
          </a:p>
        </p:txBody>
      </p:sp>
      <p:sp>
        <p:nvSpPr>
          <p:cNvPr id="21" name="文本框 20">
            <a:extLst>
              <a:ext uri="{FF2B5EF4-FFF2-40B4-BE49-F238E27FC236}">
                <a16:creationId xmlns:a16="http://schemas.microsoft.com/office/drawing/2014/main" id="{6ABCB666-AA52-417D-8A7D-9BCE5B189C73}"/>
              </a:ext>
            </a:extLst>
          </p:cNvPr>
          <p:cNvSpPr txBox="1"/>
          <p:nvPr/>
        </p:nvSpPr>
        <p:spPr>
          <a:xfrm>
            <a:off x="215760" y="996004"/>
            <a:ext cx="8672208" cy="2243050"/>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由大量</a:t>
            </a:r>
            <a:r>
              <a:rPr lang="zh-CN" altLang="en-US" sz="2400" b="1" dirty="0">
                <a:solidFill>
                  <a:schemeClr val="accent6">
                    <a:lumMod val="75000"/>
                  </a:schemeClr>
                </a:solidFill>
                <a:latin typeface="微软雅黑" panose="020B0503020204020204" pitchFamily="34" charset="-122"/>
                <a:ea typeface="微软雅黑" panose="020B0503020204020204" pitchFamily="34" charset="-122"/>
              </a:rPr>
              <a:t>低功耗、多功能的小型传感器节点</a:t>
            </a:r>
            <a:r>
              <a:rPr lang="zh-CN" altLang="en-US" sz="2400" b="1" dirty="0">
                <a:latin typeface="微软雅黑" panose="020B0503020204020204" pitchFamily="34" charset="-122"/>
                <a:ea typeface="微软雅黑" panose="020B0503020204020204" pitchFamily="34" charset="-122"/>
              </a:rPr>
              <a:t>，通过</a:t>
            </a:r>
            <a:r>
              <a:rPr lang="zh-CN" altLang="en-US" sz="2400" b="1" dirty="0">
                <a:solidFill>
                  <a:srgbClr val="7030A0"/>
                </a:solidFill>
                <a:latin typeface="微软雅黑" panose="020B0503020204020204" pitchFamily="34" charset="-122"/>
                <a:ea typeface="微软雅黑" panose="020B0503020204020204" pitchFamily="34" charset="-122"/>
              </a:rPr>
              <a:t>无线通信方式自组织形成</a:t>
            </a:r>
            <a:r>
              <a:rPr lang="zh-CN" altLang="en-US" sz="2400" b="1" dirty="0">
                <a:latin typeface="微软雅黑" panose="020B0503020204020204" pitchFamily="34" charset="-122"/>
                <a:ea typeface="微软雅黑" panose="020B0503020204020204" pitchFamily="34" charset="-122"/>
              </a:rPr>
              <a:t>的</a:t>
            </a:r>
            <a:r>
              <a:rPr lang="zh-CN" altLang="en-US" sz="2400" b="1" dirty="0">
                <a:solidFill>
                  <a:srgbClr val="0070C0"/>
                </a:solidFill>
                <a:latin typeface="微软雅黑" panose="020B0503020204020204" pitchFamily="34" charset="-122"/>
                <a:ea typeface="微软雅黑" panose="020B0503020204020204" pitchFamily="34" charset="-122"/>
              </a:rPr>
              <a:t>一种多跳网络系统</a:t>
            </a:r>
            <a:r>
              <a:rPr lang="zh-CN" altLang="en-US" sz="2400" b="1" dirty="0">
                <a:latin typeface="微软雅黑" panose="020B0503020204020204" pitchFamily="34" charset="-122"/>
                <a:ea typeface="微软雅黑" panose="020B0503020204020204" pitchFamily="34" charset="-122"/>
              </a:rPr>
              <a:t>。这些节点具有</a:t>
            </a:r>
            <a:r>
              <a:rPr lang="zh-CN" altLang="en-US" sz="2400" b="1" dirty="0">
                <a:solidFill>
                  <a:srgbClr val="C00000"/>
                </a:solidFill>
                <a:latin typeface="微软雅黑" panose="020B0503020204020204" pitchFamily="34" charset="-122"/>
                <a:ea typeface="微软雅黑" panose="020B0503020204020204" pitchFamily="34" charset="-122"/>
              </a:rPr>
              <a:t>感知</a:t>
            </a:r>
            <a:r>
              <a:rPr lang="zh-CN" altLang="en-US" sz="2400" b="1" dirty="0">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处理</a:t>
            </a:r>
            <a:r>
              <a:rPr lang="zh-CN" altLang="en-US" sz="2400" b="1" dirty="0">
                <a:latin typeface="微软雅黑" panose="020B0503020204020204" pitchFamily="34" charset="-122"/>
                <a:ea typeface="微软雅黑" panose="020B0503020204020204" pitchFamily="34" charset="-122"/>
              </a:rPr>
              <a:t>和</a:t>
            </a:r>
            <a:r>
              <a:rPr lang="zh-CN" altLang="en-US" sz="2400" b="1" dirty="0">
                <a:solidFill>
                  <a:srgbClr val="C00000"/>
                </a:solidFill>
                <a:latin typeface="微软雅黑" panose="020B0503020204020204" pitchFamily="34" charset="-122"/>
                <a:ea typeface="微软雅黑" panose="020B0503020204020204" pitchFamily="34" charset="-122"/>
              </a:rPr>
              <a:t>通信</a:t>
            </a:r>
            <a:r>
              <a:rPr lang="zh-CN" altLang="en-US" sz="2400" b="1" dirty="0">
                <a:latin typeface="微软雅黑" panose="020B0503020204020204" pitchFamily="34" charset="-122"/>
                <a:ea typeface="微软雅黑" panose="020B0503020204020204" pitchFamily="34" charset="-122"/>
              </a:rPr>
              <a:t>能力，能够协作完成对物理世界的感知、监测和数据采集，并将数据传输至指定的终端或控制中心。</a:t>
            </a:r>
          </a:p>
        </p:txBody>
      </p:sp>
      <p:sp>
        <p:nvSpPr>
          <p:cNvPr id="7" name="文本框 6">
            <a:extLst>
              <a:ext uri="{FF2B5EF4-FFF2-40B4-BE49-F238E27FC236}">
                <a16:creationId xmlns:a16="http://schemas.microsoft.com/office/drawing/2014/main" id="{9F0BF3FF-C760-4009-A445-63BBE3D7032D}"/>
              </a:ext>
            </a:extLst>
          </p:cNvPr>
          <p:cNvSpPr txBox="1"/>
          <p:nvPr/>
        </p:nvSpPr>
        <p:spPr>
          <a:xfrm>
            <a:off x="6539760" y="0"/>
            <a:ext cx="2604240"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1.1 </a:t>
            </a:r>
            <a:r>
              <a:rPr lang="zh-CN" altLang="en-US" b="1" dirty="0">
                <a:latin typeface="Times New Roman" panose="02020603050405020304" pitchFamily="18" charset="0"/>
                <a:cs typeface="Times New Roman" panose="02020603050405020304" pitchFamily="18" charset="0"/>
              </a:rPr>
              <a:t>无线传感器网络定义</a:t>
            </a:r>
          </a:p>
        </p:txBody>
      </p:sp>
    </p:spTree>
    <p:extLst>
      <p:ext uri="{BB962C8B-B14F-4D97-AF65-F5344CB8AC3E}">
        <p14:creationId xmlns:p14="http://schemas.microsoft.com/office/powerpoint/2010/main" val="202024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170B189-0B78-42C1-90D1-A5EFA3CA47E1}"/>
              </a:ext>
            </a:extLst>
          </p:cNvPr>
          <p:cNvSpPr>
            <a:spLocks noGrp="1"/>
          </p:cNvSpPr>
          <p:nvPr>
            <p:ph type="sldNum" sz="quarter" idx="12"/>
          </p:nvPr>
        </p:nvSpPr>
        <p:spPr/>
        <p:txBody>
          <a:bodyPr/>
          <a:lstStyle/>
          <a:p>
            <a:fld id="{E663D701-F6D3-45BB-89CD-EE32AA93FC3C}" type="slidenum">
              <a:rPr lang="zh-CN" altLang="en-US" smtClean="0"/>
              <a:t>5</a:t>
            </a:fld>
            <a:endParaRPr lang="zh-CN" altLang="en-US"/>
          </a:p>
        </p:txBody>
      </p:sp>
      <p:sp>
        <p:nvSpPr>
          <p:cNvPr id="6" name="文本框 5">
            <a:extLst>
              <a:ext uri="{FF2B5EF4-FFF2-40B4-BE49-F238E27FC236}">
                <a16:creationId xmlns:a16="http://schemas.microsoft.com/office/drawing/2014/main" id="{DD9B9C8C-CB7B-459B-94B3-74FA6DFC0620}"/>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无线传感器节点不具备的功能是</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_____________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文本框 6">
            <a:extLst>
              <a:ext uri="{FF2B5EF4-FFF2-40B4-BE49-F238E27FC236}">
                <a16:creationId xmlns:a16="http://schemas.microsoft.com/office/drawing/2014/main" id="{9E38DC35-6B02-4903-86F2-2F1C0DB1B801}"/>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传输数据</a:t>
            </a:r>
          </a:p>
        </p:txBody>
      </p:sp>
      <p:sp>
        <p:nvSpPr>
          <p:cNvPr id="8" name="文本框 7">
            <a:extLst>
              <a:ext uri="{FF2B5EF4-FFF2-40B4-BE49-F238E27FC236}">
                <a16:creationId xmlns:a16="http://schemas.microsoft.com/office/drawing/2014/main" id="{60C45344-E320-4ED5-8659-3462784E8653}"/>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分析数据</a:t>
            </a:r>
          </a:p>
        </p:txBody>
      </p:sp>
      <p:sp>
        <p:nvSpPr>
          <p:cNvPr id="9" name="文本框 8">
            <a:extLst>
              <a:ext uri="{FF2B5EF4-FFF2-40B4-BE49-F238E27FC236}">
                <a16:creationId xmlns:a16="http://schemas.microsoft.com/office/drawing/2014/main" id="{9DB48AB9-A08E-416A-82C9-28EC99FE55A8}"/>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感知数据</a:t>
            </a:r>
          </a:p>
        </p:txBody>
      </p:sp>
      <p:sp>
        <p:nvSpPr>
          <p:cNvPr id="10" name="文本框 9">
            <a:extLst>
              <a:ext uri="{FF2B5EF4-FFF2-40B4-BE49-F238E27FC236}">
                <a16:creationId xmlns:a16="http://schemas.microsoft.com/office/drawing/2014/main" id="{B7B44960-D4FD-4FE7-8C12-D06B253FC842}"/>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处理数据</a:t>
            </a:r>
          </a:p>
        </p:txBody>
      </p:sp>
      <p:sp>
        <p:nvSpPr>
          <p:cNvPr id="11" name="椭圆 10">
            <a:extLst>
              <a:ext uri="{FF2B5EF4-FFF2-40B4-BE49-F238E27FC236}">
                <a16:creationId xmlns:a16="http://schemas.microsoft.com/office/drawing/2014/main" id="{809540D5-1C87-4DF4-98C6-6686F23D4648}"/>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54D88C61-D1E5-461C-B260-C7DAAA45773E}"/>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61C8537D-8A28-458A-87D2-EAF8151CD85F}"/>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07F36FEB-5CEC-406E-93C3-A1B3554384AB}"/>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9D850AC5-C310-405E-9517-3DB32690B062}"/>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E6738C9A-6042-492B-80B8-1EC32EB43D8A}"/>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A0194E2C-3F7E-4A80-9899-CEA555F46B7E}"/>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9BC9A282-AB95-47AB-8646-1FCB128A67CC}"/>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820A9154-489E-456B-99B9-29F77772B089}"/>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54F48B51-75C0-4853-94DD-9EFA38EAB147}"/>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04F5AA30-7506-42BE-B853-5163672804AA}"/>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808021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65379-644E-D7B0-BE28-86421349DEB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44DC2EC-94D5-5415-E84C-D91FE4A48E5B}"/>
              </a:ext>
            </a:extLst>
          </p:cNvPr>
          <p:cNvSpPr>
            <a:spLocks noGrp="1"/>
          </p:cNvSpPr>
          <p:nvPr>
            <p:ph type="title"/>
          </p:nvPr>
        </p:nvSpPr>
        <p:spPr>
          <a:xfrm>
            <a:off x="256032" y="374854"/>
            <a:ext cx="8631936" cy="1325563"/>
          </a:xfrm>
        </p:spPr>
        <p:txBody>
          <a:bodyPr>
            <a:normAutofit fontScale="90000"/>
          </a:bodyPr>
          <a:lstStyle/>
          <a:p>
            <a:pPr algn="ctr"/>
            <a:r>
              <a:rPr lang="zh-CN" altLang="en-US" sz="5400" b="1" dirty="0">
                <a:solidFill>
                  <a:schemeClr val="tx1"/>
                </a:solidFill>
                <a:effectLst/>
                <a:latin typeface="Times New Roman" panose="02020603050405020304" pitchFamily="18" charset="0"/>
                <a:cs typeface="Times New Roman" panose="02020603050405020304" pitchFamily="18" charset="0"/>
              </a:rPr>
              <a:t>第</a:t>
            </a:r>
            <a:r>
              <a:rPr lang="en-US" altLang="zh-CN" sz="5400" b="1" dirty="0">
                <a:solidFill>
                  <a:schemeClr val="tx1"/>
                </a:solidFill>
                <a:effectLst/>
                <a:latin typeface="Times New Roman" panose="02020603050405020304" pitchFamily="18" charset="0"/>
                <a:cs typeface="Times New Roman" panose="02020603050405020304" pitchFamily="18" charset="0"/>
              </a:rPr>
              <a:t>1</a:t>
            </a:r>
            <a:r>
              <a:rPr lang="zh-CN" altLang="en-US" sz="5400" b="1" dirty="0">
                <a:solidFill>
                  <a:schemeClr val="tx1"/>
                </a:solidFill>
                <a:effectLst/>
              </a:rPr>
              <a:t>章 无线传感器网络概述</a:t>
            </a:r>
            <a:endParaRPr lang="zh-CN" altLang="en-US" sz="3200" b="1" dirty="0">
              <a:solidFill>
                <a:schemeClr val="tx1"/>
              </a:solidFill>
              <a:effectLst/>
            </a:endParaRPr>
          </a:p>
        </p:txBody>
      </p:sp>
      <p:sp>
        <p:nvSpPr>
          <p:cNvPr id="3" name="内容占位符 2">
            <a:extLst>
              <a:ext uri="{FF2B5EF4-FFF2-40B4-BE49-F238E27FC236}">
                <a16:creationId xmlns:a16="http://schemas.microsoft.com/office/drawing/2014/main" id="{612434E6-DF97-E806-C347-F4196278B2CD}"/>
              </a:ext>
            </a:extLst>
          </p:cNvPr>
          <p:cNvSpPr>
            <a:spLocks noGrp="1"/>
          </p:cNvSpPr>
          <p:nvPr>
            <p:ph idx="1"/>
          </p:nvPr>
        </p:nvSpPr>
        <p:spPr>
          <a:xfrm>
            <a:off x="516835" y="1700417"/>
            <a:ext cx="8080513" cy="4351338"/>
          </a:xfrm>
        </p:spPr>
        <p:txBody>
          <a:bodyPr>
            <a:normAutofit lnSpcReduction="10000"/>
          </a:bodyPr>
          <a:lstStyle/>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1.1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无线传感器网络定义</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rgbClr val="C00000"/>
                </a:solidFill>
                <a:latin typeface="Times New Roman" panose="02020603050405020304" pitchFamily="18" charset="0"/>
                <a:cs typeface="Times New Roman" panose="02020603050405020304" pitchFamily="18" charset="0"/>
              </a:rPr>
              <a:t>1.2 </a:t>
            </a:r>
            <a:r>
              <a:rPr lang="zh-CN" altLang="en-US" sz="3200" b="1" spc="300" dirty="0">
                <a:solidFill>
                  <a:srgbClr val="C00000"/>
                </a:solidFill>
                <a:latin typeface="Times New Roman" panose="02020603050405020304" pitchFamily="18" charset="0"/>
                <a:cs typeface="Times New Roman" panose="02020603050405020304" pitchFamily="18" charset="0"/>
              </a:rPr>
              <a:t>无线传感器结构及类型</a:t>
            </a:r>
            <a:endParaRPr lang="en-US" altLang="zh-CN" sz="3200" b="1" spc="300" dirty="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1.3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无线传感器网络拓扑</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1.4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无线传感器网络架构</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1.5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无线传感器网络特点及性能指标</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1.6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本章总结与作业</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80A0FB26-9024-2698-F719-191CF6BE4768}"/>
              </a:ext>
            </a:extLst>
          </p:cNvPr>
          <p:cNvSpPr>
            <a:spLocks noGrp="1"/>
          </p:cNvSpPr>
          <p:nvPr>
            <p:ph type="sldNum" sz="quarter" idx="12"/>
          </p:nvPr>
        </p:nvSpPr>
        <p:spPr/>
        <p:txBody>
          <a:bodyPr/>
          <a:lstStyle/>
          <a:p>
            <a:fld id="{E663D701-F6D3-45BB-89CD-EE32AA93FC3C}" type="slidenum">
              <a:rPr lang="zh-CN" altLang="en-US" smtClean="0"/>
              <a:t>6</a:t>
            </a:fld>
            <a:endParaRPr lang="zh-CN" altLang="en-US" dirty="0"/>
          </a:p>
        </p:txBody>
      </p:sp>
    </p:spTree>
    <p:extLst>
      <p:ext uri="{BB962C8B-B14F-4D97-AF65-F5344CB8AC3E}">
        <p14:creationId xmlns:p14="http://schemas.microsoft.com/office/powerpoint/2010/main" val="2376576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62A4D-CF47-0AD4-4556-CFF6C2A10CCA}"/>
            </a:ext>
          </a:extLst>
        </p:cNvPr>
        <p:cNvGrpSpPr/>
        <p:nvPr/>
      </p:nvGrpSpPr>
      <p:grpSpPr>
        <a:xfrm>
          <a:off x="0" y="0"/>
          <a:ext cx="0" cy="0"/>
          <a:chOff x="0" y="0"/>
          <a:chExt cx="0" cy="0"/>
        </a:xfrm>
      </p:grpSpPr>
      <p:sp>
        <p:nvSpPr>
          <p:cNvPr id="15" name="灯片编号占位符 3">
            <a:extLst>
              <a:ext uri="{FF2B5EF4-FFF2-40B4-BE49-F238E27FC236}">
                <a16:creationId xmlns:a16="http://schemas.microsoft.com/office/drawing/2014/main" id="{59071CA4-B390-8F39-4815-9A207B713A57}"/>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7</a:t>
            </a:fld>
            <a:endParaRPr lang="zh-CN" altLang="en-US"/>
          </a:p>
        </p:txBody>
      </p:sp>
      <p:pic>
        <p:nvPicPr>
          <p:cNvPr id="5" name="图片 4">
            <a:extLst>
              <a:ext uri="{FF2B5EF4-FFF2-40B4-BE49-F238E27FC236}">
                <a16:creationId xmlns:a16="http://schemas.microsoft.com/office/drawing/2014/main" id="{86131CD0-1888-2863-FB4D-774C5468D0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552" y="2829088"/>
            <a:ext cx="8634759" cy="4028912"/>
          </a:xfrm>
          <a:prstGeom prst="rect">
            <a:avLst/>
          </a:prstGeom>
        </p:spPr>
      </p:pic>
      <p:sp>
        <p:nvSpPr>
          <p:cNvPr id="6" name="文本框 5">
            <a:extLst>
              <a:ext uri="{FF2B5EF4-FFF2-40B4-BE49-F238E27FC236}">
                <a16:creationId xmlns:a16="http://schemas.microsoft.com/office/drawing/2014/main" id="{DB6DC70B-B5B6-51F4-B7C5-A68E8356AB2C}"/>
              </a:ext>
            </a:extLst>
          </p:cNvPr>
          <p:cNvSpPr txBox="1"/>
          <p:nvPr/>
        </p:nvSpPr>
        <p:spPr>
          <a:xfrm>
            <a:off x="157103" y="526955"/>
            <a:ext cx="8672208" cy="1689052"/>
          </a:xfrm>
          <a:prstGeom prst="rect">
            <a:avLst/>
          </a:prstGeom>
          <a:noFill/>
          <a:ln w="19050">
            <a:noFill/>
          </a:ln>
        </p:spPr>
        <p:txBody>
          <a:bodyPr wrap="square" rtlCol="0">
            <a:spAutoFit/>
          </a:bodyPr>
          <a:lstStyle/>
          <a:p>
            <a:pPr marL="342900" indent="-342900">
              <a:lnSpc>
                <a:spcPct val="150000"/>
              </a:lnSpc>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感知子模块</a:t>
            </a:r>
            <a:endParaRPr lang="en-US" altLang="zh-CN" sz="2400" b="1"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处理子模块</a:t>
            </a:r>
            <a:endParaRPr lang="en-US" altLang="zh-CN" sz="2400" b="1"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通信子模块</a:t>
            </a:r>
          </a:p>
        </p:txBody>
      </p:sp>
      <p:sp>
        <p:nvSpPr>
          <p:cNvPr id="7" name="文本框 6">
            <a:extLst>
              <a:ext uri="{FF2B5EF4-FFF2-40B4-BE49-F238E27FC236}">
                <a16:creationId xmlns:a16="http://schemas.microsoft.com/office/drawing/2014/main" id="{ACA6BE81-43B2-4305-B4C2-9EB8006B6F6C}"/>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1.2 </a:t>
            </a:r>
            <a:r>
              <a:rPr lang="zh-CN" altLang="en-US" b="1" dirty="0">
                <a:latin typeface="Times New Roman" panose="02020603050405020304" pitchFamily="18" charset="0"/>
                <a:cs typeface="Times New Roman" panose="02020603050405020304" pitchFamily="18" charset="0"/>
              </a:rPr>
              <a:t>无线传感器结构及类型</a:t>
            </a:r>
          </a:p>
        </p:txBody>
      </p:sp>
      <p:sp>
        <p:nvSpPr>
          <p:cNvPr id="9" name="文本框 8">
            <a:extLst>
              <a:ext uri="{FF2B5EF4-FFF2-40B4-BE49-F238E27FC236}">
                <a16:creationId xmlns:a16="http://schemas.microsoft.com/office/drawing/2014/main" id="{2C18026F-9AF8-4160-8E3D-89E704328B9F}"/>
              </a:ext>
            </a:extLst>
          </p:cNvPr>
          <p:cNvSpPr txBox="1"/>
          <p:nvPr/>
        </p:nvSpPr>
        <p:spPr>
          <a:xfrm>
            <a:off x="194551" y="0"/>
            <a:ext cx="447021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Tree>
    <p:extLst>
      <p:ext uri="{BB962C8B-B14F-4D97-AF65-F5344CB8AC3E}">
        <p14:creationId xmlns:p14="http://schemas.microsoft.com/office/powerpoint/2010/main" val="3670441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ED4DD-9656-3393-C000-53FB09FDC6D2}"/>
            </a:ext>
          </a:extLst>
        </p:cNvPr>
        <p:cNvGrpSpPr/>
        <p:nvPr/>
      </p:nvGrpSpPr>
      <p:grpSpPr>
        <a:xfrm>
          <a:off x="0" y="0"/>
          <a:ext cx="0" cy="0"/>
          <a:chOff x="0" y="0"/>
          <a:chExt cx="0" cy="0"/>
        </a:xfrm>
      </p:grpSpPr>
      <p:sp>
        <p:nvSpPr>
          <p:cNvPr id="15" name="灯片编号占位符 3">
            <a:extLst>
              <a:ext uri="{FF2B5EF4-FFF2-40B4-BE49-F238E27FC236}">
                <a16:creationId xmlns:a16="http://schemas.microsoft.com/office/drawing/2014/main" id="{B7F4F721-F77B-DB03-551D-BF416B6AE901}"/>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8</a:t>
            </a:fld>
            <a:endParaRPr lang="zh-CN" altLang="en-US"/>
          </a:p>
        </p:txBody>
      </p:sp>
      <p:pic>
        <p:nvPicPr>
          <p:cNvPr id="5" name="图片 4">
            <a:extLst>
              <a:ext uri="{FF2B5EF4-FFF2-40B4-BE49-F238E27FC236}">
                <a16:creationId xmlns:a16="http://schemas.microsoft.com/office/drawing/2014/main" id="{3A935F22-569C-4ABA-7F79-4167B7BAC3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552" y="2829088"/>
            <a:ext cx="8634759" cy="4028912"/>
          </a:xfrm>
          <a:prstGeom prst="rect">
            <a:avLst/>
          </a:prstGeom>
        </p:spPr>
      </p:pic>
      <p:sp>
        <p:nvSpPr>
          <p:cNvPr id="6" name="文本框 5">
            <a:extLst>
              <a:ext uri="{FF2B5EF4-FFF2-40B4-BE49-F238E27FC236}">
                <a16:creationId xmlns:a16="http://schemas.microsoft.com/office/drawing/2014/main" id="{043C4064-9647-49EB-E197-1EC7579A526F}"/>
              </a:ext>
            </a:extLst>
          </p:cNvPr>
          <p:cNvSpPr txBox="1"/>
          <p:nvPr/>
        </p:nvSpPr>
        <p:spPr>
          <a:xfrm>
            <a:off x="157103" y="492908"/>
            <a:ext cx="2274370" cy="1689052"/>
          </a:xfrm>
          <a:prstGeom prst="rect">
            <a:avLst/>
          </a:prstGeom>
          <a:noFill/>
          <a:ln w="19050">
            <a:noFill/>
          </a:ln>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感知子模块</a:t>
            </a:r>
            <a:endParaRPr lang="en-US" altLang="zh-CN" sz="2400" b="1" dirty="0">
              <a:solidFill>
                <a:srgbClr val="C0000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处理子模块</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通信子模块</a:t>
            </a:r>
          </a:p>
        </p:txBody>
      </p:sp>
      <p:sp>
        <p:nvSpPr>
          <p:cNvPr id="2" name="文本框 1">
            <a:extLst>
              <a:ext uri="{FF2B5EF4-FFF2-40B4-BE49-F238E27FC236}">
                <a16:creationId xmlns:a16="http://schemas.microsoft.com/office/drawing/2014/main" id="{6E259177-411F-0DF3-28DA-F6F9BC98C562}"/>
              </a:ext>
            </a:extLst>
          </p:cNvPr>
          <p:cNvSpPr txBox="1"/>
          <p:nvPr/>
        </p:nvSpPr>
        <p:spPr>
          <a:xfrm>
            <a:off x="2226461" y="492908"/>
            <a:ext cx="6384594"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感知物理世界参数，并将之转化为数字电信号</a:t>
            </a:r>
            <a:endParaRPr lang="en-US" altLang="zh-CN" sz="2400" b="1"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C2B10893-411B-4A69-85B5-A4CB38E04776}"/>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1.2 </a:t>
            </a:r>
            <a:r>
              <a:rPr lang="zh-CN" altLang="en-US" b="1" dirty="0">
                <a:latin typeface="Times New Roman" panose="02020603050405020304" pitchFamily="18" charset="0"/>
                <a:cs typeface="Times New Roman" panose="02020603050405020304" pitchFamily="18" charset="0"/>
              </a:rPr>
              <a:t>无线传感器结构及类型</a:t>
            </a:r>
          </a:p>
        </p:txBody>
      </p:sp>
      <p:sp>
        <p:nvSpPr>
          <p:cNvPr id="9" name="文本框 8">
            <a:extLst>
              <a:ext uri="{FF2B5EF4-FFF2-40B4-BE49-F238E27FC236}">
                <a16:creationId xmlns:a16="http://schemas.microsoft.com/office/drawing/2014/main" id="{6A8BB3A5-78F8-4A8B-820A-EC56BC200A53}"/>
              </a:ext>
            </a:extLst>
          </p:cNvPr>
          <p:cNvSpPr txBox="1"/>
          <p:nvPr/>
        </p:nvSpPr>
        <p:spPr>
          <a:xfrm>
            <a:off x="194551" y="0"/>
            <a:ext cx="447021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Tree>
    <p:extLst>
      <p:ext uri="{BB962C8B-B14F-4D97-AF65-F5344CB8AC3E}">
        <p14:creationId xmlns:p14="http://schemas.microsoft.com/office/powerpoint/2010/main" val="409564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34EBD-075F-347D-779E-8E03388F4594}"/>
            </a:ext>
          </a:extLst>
        </p:cNvPr>
        <p:cNvGrpSpPr/>
        <p:nvPr/>
      </p:nvGrpSpPr>
      <p:grpSpPr>
        <a:xfrm>
          <a:off x="0" y="0"/>
          <a:ext cx="0" cy="0"/>
          <a:chOff x="0" y="0"/>
          <a:chExt cx="0" cy="0"/>
        </a:xfrm>
      </p:grpSpPr>
      <p:sp>
        <p:nvSpPr>
          <p:cNvPr id="15" name="灯片编号占位符 3">
            <a:extLst>
              <a:ext uri="{FF2B5EF4-FFF2-40B4-BE49-F238E27FC236}">
                <a16:creationId xmlns:a16="http://schemas.microsoft.com/office/drawing/2014/main" id="{63EB0351-16BD-EC06-5E33-D1F131C5049F}"/>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9</a:t>
            </a:fld>
            <a:endParaRPr lang="zh-CN" altLang="en-US"/>
          </a:p>
        </p:txBody>
      </p:sp>
      <p:pic>
        <p:nvPicPr>
          <p:cNvPr id="5" name="图片 4">
            <a:extLst>
              <a:ext uri="{FF2B5EF4-FFF2-40B4-BE49-F238E27FC236}">
                <a16:creationId xmlns:a16="http://schemas.microsoft.com/office/drawing/2014/main" id="{CB22805E-CA81-A50E-7B4E-5FEFEEF504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552" y="2829088"/>
            <a:ext cx="8634759" cy="4028912"/>
          </a:xfrm>
          <a:prstGeom prst="rect">
            <a:avLst/>
          </a:prstGeom>
        </p:spPr>
      </p:pic>
      <p:sp>
        <p:nvSpPr>
          <p:cNvPr id="6" name="文本框 5">
            <a:extLst>
              <a:ext uri="{FF2B5EF4-FFF2-40B4-BE49-F238E27FC236}">
                <a16:creationId xmlns:a16="http://schemas.microsoft.com/office/drawing/2014/main" id="{DF64DA45-C40B-9313-AAC7-2518F47D0C52}"/>
              </a:ext>
            </a:extLst>
          </p:cNvPr>
          <p:cNvSpPr txBox="1"/>
          <p:nvPr/>
        </p:nvSpPr>
        <p:spPr>
          <a:xfrm>
            <a:off x="157103" y="492908"/>
            <a:ext cx="2274370" cy="1689052"/>
          </a:xfrm>
          <a:prstGeom prst="rect">
            <a:avLst/>
          </a:prstGeom>
          <a:noFill/>
          <a:ln w="19050">
            <a:noFill/>
          </a:ln>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感知子模块</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处理子模块</a:t>
            </a:r>
            <a:endParaRPr lang="en-US" altLang="zh-CN" sz="2400" b="1" dirty="0">
              <a:solidFill>
                <a:srgbClr val="C0000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通信子模块</a:t>
            </a:r>
          </a:p>
        </p:txBody>
      </p:sp>
      <p:sp>
        <p:nvSpPr>
          <p:cNvPr id="2" name="文本框 1">
            <a:extLst>
              <a:ext uri="{FF2B5EF4-FFF2-40B4-BE49-F238E27FC236}">
                <a16:creationId xmlns:a16="http://schemas.microsoft.com/office/drawing/2014/main" id="{14A220EE-CCDF-77DD-E170-BD3887F93B52}"/>
              </a:ext>
            </a:extLst>
          </p:cNvPr>
          <p:cNvSpPr txBox="1"/>
          <p:nvPr/>
        </p:nvSpPr>
        <p:spPr>
          <a:xfrm>
            <a:off x="2226461" y="492908"/>
            <a:ext cx="6384594" cy="581057"/>
          </a:xfrm>
          <a:prstGeom prst="rect">
            <a:avLst/>
          </a:prstGeom>
          <a:noFill/>
          <a:ln w="19050">
            <a:noFill/>
          </a:ln>
        </p:spPr>
        <p:txBody>
          <a:bodyPr wrap="square" rtlCol="0">
            <a:spAutoFit/>
          </a:bodyPr>
          <a:lstStyle/>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感知物理世界参数，并将之转化为数字电信号</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938B2BD5-3E72-E34E-D457-F30A3E9C0AB4}"/>
              </a:ext>
            </a:extLst>
          </p:cNvPr>
          <p:cNvSpPr txBox="1"/>
          <p:nvPr/>
        </p:nvSpPr>
        <p:spPr>
          <a:xfrm>
            <a:off x="2226461" y="1016460"/>
            <a:ext cx="6384594"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执行与感知、通信和自组织相关指令</a:t>
            </a:r>
            <a:endParaRPr lang="en-US" altLang="zh-CN" sz="2400" b="1"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C69A7D4A-3866-4506-A64A-62A455B6716C}"/>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1.2 </a:t>
            </a:r>
            <a:r>
              <a:rPr lang="zh-CN" altLang="en-US" b="1" dirty="0">
                <a:latin typeface="Times New Roman" panose="02020603050405020304" pitchFamily="18" charset="0"/>
                <a:cs typeface="Times New Roman" panose="02020603050405020304" pitchFamily="18" charset="0"/>
              </a:rPr>
              <a:t>无线传感器结构及类型</a:t>
            </a:r>
          </a:p>
        </p:txBody>
      </p:sp>
      <p:sp>
        <p:nvSpPr>
          <p:cNvPr id="10" name="文本框 9">
            <a:extLst>
              <a:ext uri="{FF2B5EF4-FFF2-40B4-BE49-F238E27FC236}">
                <a16:creationId xmlns:a16="http://schemas.microsoft.com/office/drawing/2014/main" id="{BED0F471-6BAD-425D-B271-C0DC2874E0BA}"/>
              </a:ext>
            </a:extLst>
          </p:cNvPr>
          <p:cNvSpPr txBox="1"/>
          <p:nvPr/>
        </p:nvSpPr>
        <p:spPr>
          <a:xfrm>
            <a:off x="194551" y="0"/>
            <a:ext cx="447021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Tree>
    <p:extLst>
      <p:ext uri="{BB962C8B-B14F-4D97-AF65-F5344CB8AC3E}">
        <p14:creationId xmlns:p14="http://schemas.microsoft.com/office/powerpoint/2010/main" val="3672062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DF392-2704-065C-32F7-34AD7BD81D1A}"/>
            </a:ext>
          </a:extLst>
        </p:cNvPr>
        <p:cNvGrpSpPr/>
        <p:nvPr/>
      </p:nvGrpSpPr>
      <p:grpSpPr>
        <a:xfrm>
          <a:off x="0" y="0"/>
          <a:ext cx="0" cy="0"/>
          <a:chOff x="0" y="0"/>
          <a:chExt cx="0" cy="0"/>
        </a:xfrm>
      </p:grpSpPr>
      <p:sp>
        <p:nvSpPr>
          <p:cNvPr id="15" name="灯片编号占位符 3">
            <a:extLst>
              <a:ext uri="{FF2B5EF4-FFF2-40B4-BE49-F238E27FC236}">
                <a16:creationId xmlns:a16="http://schemas.microsoft.com/office/drawing/2014/main" id="{914BBC56-F9C5-976E-BC92-E4E9E602EBE9}"/>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10</a:t>
            </a:fld>
            <a:endParaRPr lang="zh-CN" altLang="en-US"/>
          </a:p>
        </p:txBody>
      </p:sp>
      <p:sp>
        <p:nvSpPr>
          <p:cNvPr id="6" name="文本框 5">
            <a:extLst>
              <a:ext uri="{FF2B5EF4-FFF2-40B4-BE49-F238E27FC236}">
                <a16:creationId xmlns:a16="http://schemas.microsoft.com/office/drawing/2014/main" id="{B4C75E73-3AA9-FE10-6020-49CB6302F0EC}"/>
              </a:ext>
            </a:extLst>
          </p:cNvPr>
          <p:cNvSpPr txBox="1"/>
          <p:nvPr/>
        </p:nvSpPr>
        <p:spPr>
          <a:xfrm>
            <a:off x="157103" y="492908"/>
            <a:ext cx="2274370" cy="1689052"/>
          </a:xfrm>
          <a:prstGeom prst="rect">
            <a:avLst/>
          </a:prstGeom>
          <a:noFill/>
          <a:ln w="19050">
            <a:noFill/>
          </a:ln>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感知子模块</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处理子模块</a:t>
            </a:r>
            <a:endParaRPr lang="en-US" altLang="zh-CN" sz="2400" b="1" dirty="0">
              <a:solidFill>
                <a:srgbClr val="C0000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通信子模块</a:t>
            </a:r>
          </a:p>
        </p:txBody>
      </p:sp>
      <p:sp>
        <p:nvSpPr>
          <p:cNvPr id="2" name="文本框 1">
            <a:extLst>
              <a:ext uri="{FF2B5EF4-FFF2-40B4-BE49-F238E27FC236}">
                <a16:creationId xmlns:a16="http://schemas.microsoft.com/office/drawing/2014/main" id="{BE63F0EB-8AC2-0AE1-86EF-D7E2246841C5}"/>
              </a:ext>
            </a:extLst>
          </p:cNvPr>
          <p:cNvSpPr txBox="1"/>
          <p:nvPr/>
        </p:nvSpPr>
        <p:spPr>
          <a:xfrm>
            <a:off x="2226461" y="492908"/>
            <a:ext cx="6384594" cy="581057"/>
          </a:xfrm>
          <a:prstGeom prst="rect">
            <a:avLst/>
          </a:prstGeom>
          <a:noFill/>
          <a:ln w="19050">
            <a:noFill/>
          </a:ln>
        </p:spPr>
        <p:txBody>
          <a:bodyPr wrap="square" rtlCol="0">
            <a:spAutoFit/>
          </a:bodyPr>
          <a:lstStyle/>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感知物理世界参数，并将之转化为数字电信号</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A1A3D6A8-09EC-918C-5DDD-1868C27C7D7D}"/>
              </a:ext>
            </a:extLst>
          </p:cNvPr>
          <p:cNvSpPr txBox="1"/>
          <p:nvPr/>
        </p:nvSpPr>
        <p:spPr>
          <a:xfrm>
            <a:off x="2226461" y="1016460"/>
            <a:ext cx="6384594"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执行与感知、通信和自组织相关指令</a:t>
            </a:r>
            <a:endParaRPr lang="en-US" altLang="zh-CN" sz="2400" b="1"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D6E12F28-C190-3DFC-30B2-33A4DEA87025}"/>
              </a:ext>
            </a:extLst>
          </p:cNvPr>
          <p:cNvSpPr txBox="1"/>
          <p:nvPr/>
        </p:nvSpPr>
        <p:spPr>
          <a:xfrm>
            <a:off x="186376" y="2357078"/>
            <a:ext cx="6384594"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汇集所有其它子系统和额外的外围设备</a:t>
            </a:r>
            <a:endParaRPr lang="en-US" altLang="zh-CN" sz="2400" b="1"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FD6F2A55-C6C0-9A94-5C37-DA6F4BA52998}"/>
              </a:ext>
            </a:extLst>
          </p:cNvPr>
          <p:cNvSpPr txBox="1"/>
          <p:nvPr/>
        </p:nvSpPr>
        <p:spPr>
          <a:xfrm>
            <a:off x="196766" y="3010182"/>
            <a:ext cx="8691202" cy="2617833"/>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常用的处理器类型：</a:t>
            </a:r>
            <a:endParaRPr lang="en-US" altLang="zh-CN" sz="2400" b="1"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200" b="1" dirty="0">
                <a:latin typeface="微软雅黑" panose="020B0503020204020204" pitchFamily="34" charset="-122"/>
                <a:ea typeface="微软雅黑" panose="020B0503020204020204" pitchFamily="34" charset="-122"/>
              </a:rPr>
              <a:t>微处理器（</a:t>
            </a:r>
            <a:r>
              <a:rPr lang="en-US" altLang="zh-CN" sz="2200" b="1" dirty="0">
                <a:latin typeface="微软雅黑" panose="020B0503020204020204" pitchFamily="34" charset="-122"/>
                <a:ea typeface="微软雅黑" panose="020B0503020204020204" pitchFamily="34" charset="-122"/>
              </a:rPr>
              <a:t>micro</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controller</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unit,</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MCU</a:t>
            </a:r>
            <a:r>
              <a:rPr lang="zh-CN" altLang="en-US" sz="2200" b="1" dirty="0">
                <a:latin typeface="微软雅黑" panose="020B0503020204020204" pitchFamily="34" charset="-122"/>
                <a:ea typeface="微软雅黑" panose="020B0503020204020204" pitchFamily="34" charset="-122"/>
              </a:rPr>
              <a:t>）</a:t>
            </a:r>
            <a:endParaRPr lang="en-US" altLang="zh-CN" sz="2200" b="1"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200" b="1" dirty="0">
                <a:latin typeface="微软雅黑" panose="020B0503020204020204" pitchFamily="34" charset="-122"/>
                <a:ea typeface="微软雅黑" panose="020B0503020204020204" pitchFamily="34" charset="-122"/>
              </a:rPr>
              <a:t>数字信号处理器 </a:t>
            </a:r>
            <a:r>
              <a:rPr lang="en-US" altLang="zh-CN" sz="2200" b="1" dirty="0">
                <a:latin typeface="微软雅黑" panose="020B0503020204020204" pitchFamily="34" charset="-122"/>
                <a:ea typeface="微软雅黑" panose="020B0503020204020204" pitchFamily="34" charset="-122"/>
              </a:rPr>
              <a:t>(digital</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signal</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processor,</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DSP)</a:t>
            </a:r>
          </a:p>
          <a:p>
            <a:pPr marL="342900" indent="-342900">
              <a:lnSpc>
                <a:spcPct val="150000"/>
              </a:lnSpc>
              <a:buFont typeface="Arial" panose="020B0604020202020204" pitchFamily="34" charset="0"/>
              <a:buChar char="•"/>
            </a:pPr>
            <a:r>
              <a:rPr lang="zh-CN" altLang="en-US" sz="2200" b="1" dirty="0">
                <a:latin typeface="微软雅黑" panose="020B0503020204020204" pitchFamily="34" charset="-122"/>
                <a:ea typeface="微软雅黑" panose="020B0503020204020204" pitchFamily="34" charset="-122"/>
              </a:rPr>
              <a:t>专用集成电路 </a:t>
            </a:r>
            <a:r>
              <a:rPr lang="en-US" altLang="zh-CN" sz="2200" b="1" dirty="0">
                <a:latin typeface="微软雅黑" panose="020B0503020204020204" pitchFamily="34" charset="-122"/>
                <a:ea typeface="微软雅黑" panose="020B0503020204020204" pitchFamily="34" charset="-122"/>
              </a:rPr>
              <a:t>(Application-specific</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Integrated</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Circuit,</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ASIC)</a:t>
            </a:r>
          </a:p>
          <a:p>
            <a:pPr marL="342900" indent="-342900">
              <a:lnSpc>
                <a:spcPct val="150000"/>
              </a:lnSpc>
              <a:buFont typeface="Arial" panose="020B0604020202020204" pitchFamily="34" charset="0"/>
              <a:buChar char="•"/>
            </a:pPr>
            <a:r>
              <a:rPr lang="zh-CN" altLang="en-US" sz="2200" b="1" dirty="0">
                <a:latin typeface="微软雅黑" panose="020B0503020204020204" pitchFamily="34" charset="-122"/>
                <a:ea typeface="微软雅黑" panose="020B0503020204020204" pitchFamily="34" charset="-122"/>
              </a:rPr>
              <a:t>现场可编程门阵列 </a:t>
            </a:r>
            <a:r>
              <a:rPr lang="en-US" altLang="zh-CN" sz="2200" b="1" dirty="0">
                <a:latin typeface="微软雅黑" panose="020B0503020204020204" pitchFamily="34" charset="-122"/>
                <a:ea typeface="微软雅黑" panose="020B0503020204020204" pitchFamily="34" charset="-122"/>
              </a:rPr>
              <a:t>(Field</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Programmable</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Gate</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Array,</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FPGA)</a:t>
            </a:r>
          </a:p>
        </p:txBody>
      </p:sp>
      <p:sp>
        <p:nvSpPr>
          <p:cNvPr id="10" name="文本框 9">
            <a:extLst>
              <a:ext uri="{FF2B5EF4-FFF2-40B4-BE49-F238E27FC236}">
                <a16:creationId xmlns:a16="http://schemas.microsoft.com/office/drawing/2014/main" id="{DCF928FA-CC87-4BC9-902B-9CE16C817537}"/>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1.2 </a:t>
            </a:r>
            <a:r>
              <a:rPr lang="zh-CN" altLang="en-US" b="1" dirty="0">
                <a:latin typeface="Times New Roman" panose="02020603050405020304" pitchFamily="18" charset="0"/>
                <a:cs typeface="Times New Roman" panose="02020603050405020304" pitchFamily="18" charset="0"/>
              </a:rPr>
              <a:t>无线传感器结构及类型</a:t>
            </a:r>
          </a:p>
        </p:txBody>
      </p:sp>
      <p:sp>
        <p:nvSpPr>
          <p:cNvPr id="11" name="文本框 10">
            <a:extLst>
              <a:ext uri="{FF2B5EF4-FFF2-40B4-BE49-F238E27FC236}">
                <a16:creationId xmlns:a16="http://schemas.microsoft.com/office/drawing/2014/main" id="{0D219514-1428-400D-B36D-7A769EC6673D}"/>
              </a:ext>
            </a:extLst>
          </p:cNvPr>
          <p:cNvSpPr txBox="1"/>
          <p:nvPr/>
        </p:nvSpPr>
        <p:spPr>
          <a:xfrm>
            <a:off x="194551" y="0"/>
            <a:ext cx="447021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Tree>
    <p:extLst>
      <p:ext uri="{BB962C8B-B14F-4D97-AF65-F5344CB8AC3E}">
        <p14:creationId xmlns:p14="http://schemas.microsoft.com/office/powerpoint/2010/main" val="3887826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F2EAD-7C4C-E9BB-E972-EBEC7388F080}"/>
            </a:ext>
          </a:extLst>
        </p:cNvPr>
        <p:cNvGrpSpPr/>
        <p:nvPr/>
      </p:nvGrpSpPr>
      <p:grpSpPr>
        <a:xfrm>
          <a:off x="0" y="0"/>
          <a:ext cx="0" cy="0"/>
          <a:chOff x="0" y="0"/>
          <a:chExt cx="0" cy="0"/>
        </a:xfrm>
      </p:grpSpPr>
      <p:sp>
        <p:nvSpPr>
          <p:cNvPr id="15" name="灯片编号占位符 3">
            <a:extLst>
              <a:ext uri="{FF2B5EF4-FFF2-40B4-BE49-F238E27FC236}">
                <a16:creationId xmlns:a16="http://schemas.microsoft.com/office/drawing/2014/main" id="{2D7F6119-216F-C679-5DC5-8EFE576F6081}"/>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11</a:t>
            </a:fld>
            <a:endParaRPr lang="zh-CN" altLang="en-US"/>
          </a:p>
        </p:txBody>
      </p:sp>
      <p:sp>
        <p:nvSpPr>
          <p:cNvPr id="6" name="文本框 5">
            <a:extLst>
              <a:ext uri="{FF2B5EF4-FFF2-40B4-BE49-F238E27FC236}">
                <a16:creationId xmlns:a16="http://schemas.microsoft.com/office/drawing/2014/main" id="{404D568C-B88C-D579-9DF5-CBE49B14FDBA}"/>
              </a:ext>
            </a:extLst>
          </p:cNvPr>
          <p:cNvSpPr txBox="1"/>
          <p:nvPr/>
        </p:nvSpPr>
        <p:spPr>
          <a:xfrm>
            <a:off x="157103" y="492908"/>
            <a:ext cx="2274370" cy="1689052"/>
          </a:xfrm>
          <a:prstGeom prst="rect">
            <a:avLst/>
          </a:prstGeom>
          <a:noFill/>
          <a:ln w="19050">
            <a:noFill/>
          </a:ln>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感知子模块</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处理子模块</a:t>
            </a:r>
            <a:endParaRPr lang="en-US" altLang="zh-CN" sz="2400" b="1" dirty="0">
              <a:solidFill>
                <a:srgbClr val="C0000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通信子模块</a:t>
            </a:r>
          </a:p>
        </p:txBody>
      </p:sp>
      <p:sp>
        <p:nvSpPr>
          <p:cNvPr id="2" name="文本框 1">
            <a:extLst>
              <a:ext uri="{FF2B5EF4-FFF2-40B4-BE49-F238E27FC236}">
                <a16:creationId xmlns:a16="http://schemas.microsoft.com/office/drawing/2014/main" id="{4362D053-718D-A89A-4811-71857D70A6C7}"/>
              </a:ext>
            </a:extLst>
          </p:cNvPr>
          <p:cNvSpPr txBox="1"/>
          <p:nvPr/>
        </p:nvSpPr>
        <p:spPr>
          <a:xfrm>
            <a:off x="2226461" y="492908"/>
            <a:ext cx="6384594" cy="581057"/>
          </a:xfrm>
          <a:prstGeom prst="rect">
            <a:avLst/>
          </a:prstGeom>
          <a:noFill/>
          <a:ln w="19050">
            <a:noFill/>
          </a:ln>
        </p:spPr>
        <p:txBody>
          <a:bodyPr wrap="square" rtlCol="0">
            <a:spAutoFit/>
          </a:bodyPr>
          <a:lstStyle/>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感知物理世界参数，并将之转化为数字电信号</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109FACC8-DF8A-2C67-D4D5-6B0058228153}"/>
              </a:ext>
            </a:extLst>
          </p:cNvPr>
          <p:cNvSpPr txBox="1"/>
          <p:nvPr/>
        </p:nvSpPr>
        <p:spPr>
          <a:xfrm>
            <a:off x="2226461" y="1016460"/>
            <a:ext cx="6384594"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执行与感知、通信和自组织相关指令</a:t>
            </a:r>
            <a:endParaRPr lang="en-US" altLang="zh-CN" sz="2400" b="1"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E63E9035-3EE7-20B6-EE83-03D15BEB5BF9}"/>
              </a:ext>
            </a:extLst>
          </p:cNvPr>
          <p:cNvSpPr txBox="1"/>
          <p:nvPr/>
        </p:nvSpPr>
        <p:spPr>
          <a:xfrm>
            <a:off x="186376" y="2357078"/>
            <a:ext cx="6384594"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汇集所有其它子系统和额外的外围设备</a:t>
            </a:r>
            <a:endParaRPr lang="en-US" altLang="zh-CN" sz="2400" b="1"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5A1F5DA9-4BBD-BC12-3B69-F6816B6F379C}"/>
              </a:ext>
            </a:extLst>
          </p:cNvPr>
          <p:cNvSpPr txBox="1"/>
          <p:nvPr/>
        </p:nvSpPr>
        <p:spPr>
          <a:xfrm>
            <a:off x="196766" y="3010182"/>
            <a:ext cx="8691202" cy="2617833"/>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常用的处理器类型：</a:t>
            </a:r>
            <a:endParaRPr lang="en-US" altLang="zh-CN" sz="2400" b="1"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200" b="1" dirty="0">
                <a:solidFill>
                  <a:srgbClr val="C00000"/>
                </a:solidFill>
                <a:latin typeface="微软雅黑" panose="020B0503020204020204" pitchFamily="34" charset="-122"/>
                <a:ea typeface="微软雅黑" panose="020B0503020204020204" pitchFamily="34" charset="-122"/>
              </a:rPr>
              <a:t>微处理器（</a:t>
            </a:r>
            <a:r>
              <a:rPr lang="en-US" altLang="zh-CN" sz="2200" b="1" dirty="0">
                <a:solidFill>
                  <a:srgbClr val="C00000"/>
                </a:solidFill>
                <a:latin typeface="微软雅黑" panose="020B0503020204020204" pitchFamily="34" charset="-122"/>
                <a:ea typeface="微软雅黑" panose="020B0503020204020204" pitchFamily="34" charset="-122"/>
              </a:rPr>
              <a:t>micro</a:t>
            </a:r>
            <a:r>
              <a:rPr lang="zh-CN" altLang="en-US" sz="2200" b="1" dirty="0">
                <a:solidFill>
                  <a:srgbClr val="C00000"/>
                </a:solidFill>
                <a:latin typeface="微软雅黑" panose="020B0503020204020204" pitchFamily="34" charset="-122"/>
                <a:ea typeface="微软雅黑" panose="020B0503020204020204" pitchFamily="34" charset="-122"/>
              </a:rPr>
              <a:t> </a:t>
            </a:r>
            <a:r>
              <a:rPr lang="en-US" altLang="zh-CN" sz="2200" b="1" dirty="0">
                <a:solidFill>
                  <a:srgbClr val="C00000"/>
                </a:solidFill>
                <a:latin typeface="微软雅黑" panose="020B0503020204020204" pitchFamily="34" charset="-122"/>
                <a:ea typeface="微软雅黑" panose="020B0503020204020204" pitchFamily="34" charset="-122"/>
              </a:rPr>
              <a:t>controller</a:t>
            </a:r>
            <a:r>
              <a:rPr lang="zh-CN" altLang="en-US" sz="2200" b="1" dirty="0">
                <a:solidFill>
                  <a:srgbClr val="C00000"/>
                </a:solidFill>
                <a:latin typeface="微软雅黑" panose="020B0503020204020204" pitchFamily="34" charset="-122"/>
                <a:ea typeface="微软雅黑" panose="020B0503020204020204" pitchFamily="34" charset="-122"/>
              </a:rPr>
              <a:t> </a:t>
            </a:r>
            <a:r>
              <a:rPr lang="en-US" altLang="zh-CN" sz="2200" b="1" dirty="0">
                <a:solidFill>
                  <a:srgbClr val="C00000"/>
                </a:solidFill>
                <a:latin typeface="微软雅黑" panose="020B0503020204020204" pitchFamily="34" charset="-122"/>
                <a:ea typeface="微软雅黑" panose="020B0503020204020204" pitchFamily="34" charset="-122"/>
              </a:rPr>
              <a:t>unit,</a:t>
            </a:r>
            <a:r>
              <a:rPr lang="zh-CN" altLang="en-US" sz="2200" b="1" dirty="0">
                <a:solidFill>
                  <a:srgbClr val="C00000"/>
                </a:solidFill>
                <a:latin typeface="微软雅黑" panose="020B0503020204020204" pitchFamily="34" charset="-122"/>
                <a:ea typeface="微软雅黑" panose="020B0503020204020204" pitchFamily="34" charset="-122"/>
              </a:rPr>
              <a:t> </a:t>
            </a:r>
            <a:r>
              <a:rPr lang="en-US" altLang="zh-CN" sz="2200" b="1" dirty="0">
                <a:solidFill>
                  <a:srgbClr val="C00000"/>
                </a:solidFill>
                <a:latin typeface="微软雅黑" panose="020B0503020204020204" pitchFamily="34" charset="-122"/>
                <a:ea typeface="微软雅黑" panose="020B0503020204020204" pitchFamily="34" charset="-122"/>
              </a:rPr>
              <a:t>MCU</a:t>
            </a:r>
            <a:r>
              <a:rPr lang="zh-CN" altLang="en-US" sz="2200" b="1" dirty="0">
                <a:solidFill>
                  <a:srgbClr val="C00000"/>
                </a:solidFill>
                <a:latin typeface="微软雅黑" panose="020B0503020204020204" pitchFamily="34" charset="-122"/>
                <a:ea typeface="微软雅黑" panose="020B0503020204020204" pitchFamily="34" charset="-122"/>
              </a:rPr>
              <a:t>）</a:t>
            </a:r>
            <a:endParaRPr lang="en-US" altLang="zh-CN" sz="2200" b="1" dirty="0">
              <a:solidFill>
                <a:srgbClr val="C0000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200" b="1" dirty="0">
                <a:latin typeface="微软雅黑" panose="020B0503020204020204" pitchFamily="34" charset="-122"/>
                <a:ea typeface="微软雅黑" panose="020B0503020204020204" pitchFamily="34" charset="-122"/>
              </a:rPr>
              <a:t>数字信号处理器 </a:t>
            </a:r>
            <a:r>
              <a:rPr lang="en-US" altLang="zh-CN" sz="2200" b="1" dirty="0">
                <a:latin typeface="微软雅黑" panose="020B0503020204020204" pitchFamily="34" charset="-122"/>
                <a:ea typeface="微软雅黑" panose="020B0503020204020204" pitchFamily="34" charset="-122"/>
              </a:rPr>
              <a:t>(digital</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signal</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processor,</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DSP)</a:t>
            </a:r>
          </a:p>
          <a:p>
            <a:pPr marL="342900" indent="-342900">
              <a:lnSpc>
                <a:spcPct val="150000"/>
              </a:lnSpc>
              <a:buFont typeface="Arial" panose="020B0604020202020204" pitchFamily="34" charset="0"/>
              <a:buChar char="•"/>
            </a:pPr>
            <a:r>
              <a:rPr lang="zh-CN" altLang="en-US" sz="2200" b="1" dirty="0">
                <a:latin typeface="微软雅黑" panose="020B0503020204020204" pitchFamily="34" charset="-122"/>
                <a:ea typeface="微软雅黑" panose="020B0503020204020204" pitchFamily="34" charset="-122"/>
              </a:rPr>
              <a:t>专用集成电路 </a:t>
            </a:r>
            <a:r>
              <a:rPr lang="en-US" altLang="zh-CN" sz="2200" b="1" dirty="0">
                <a:latin typeface="微软雅黑" panose="020B0503020204020204" pitchFamily="34" charset="-122"/>
                <a:ea typeface="微软雅黑" panose="020B0503020204020204" pitchFamily="34" charset="-122"/>
              </a:rPr>
              <a:t>(Application-specific</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Integrated</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Circuit,</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ASIC)</a:t>
            </a:r>
          </a:p>
          <a:p>
            <a:pPr marL="342900" indent="-342900">
              <a:lnSpc>
                <a:spcPct val="150000"/>
              </a:lnSpc>
              <a:buFont typeface="Arial" panose="020B0604020202020204" pitchFamily="34" charset="0"/>
              <a:buChar char="•"/>
            </a:pPr>
            <a:r>
              <a:rPr lang="zh-CN" altLang="en-US" sz="2200" b="1" dirty="0">
                <a:latin typeface="微软雅黑" panose="020B0503020204020204" pitchFamily="34" charset="-122"/>
                <a:ea typeface="微软雅黑" panose="020B0503020204020204" pitchFamily="34" charset="-122"/>
              </a:rPr>
              <a:t>现场可编程门阵列 </a:t>
            </a:r>
            <a:r>
              <a:rPr lang="en-US" altLang="zh-CN" sz="2200" b="1" dirty="0">
                <a:latin typeface="微软雅黑" panose="020B0503020204020204" pitchFamily="34" charset="-122"/>
                <a:ea typeface="微软雅黑" panose="020B0503020204020204" pitchFamily="34" charset="-122"/>
              </a:rPr>
              <a:t>(Field</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Programmable</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Gate</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Array,</a:t>
            </a:r>
            <a:r>
              <a:rPr lang="zh-CN" altLang="en-US" sz="2200" b="1" dirty="0">
                <a:latin typeface="微软雅黑" panose="020B0503020204020204" pitchFamily="34" charset="-122"/>
                <a:ea typeface="微软雅黑" panose="020B0503020204020204" pitchFamily="34" charset="-122"/>
              </a:rPr>
              <a:t> </a:t>
            </a:r>
            <a:r>
              <a:rPr lang="en-US" altLang="zh-CN" sz="2200" b="1" dirty="0">
                <a:latin typeface="微软雅黑" panose="020B0503020204020204" pitchFamily="34" charset="-122"/>
                <a:ea typeface="微软雅黑" panose="020B0503020204020204" pitchFamily="34" charset="-122"/>
              </a:rPr>
              <a:t>FPGA)</a:t>
            </a:r>
          </a:p>
        </p:txBody>
      </p:sp>
      <p:sp>
        <p:nvSpPr>
          <p:cNvPr id="10" name="文本框 9">
            <a:extLst>
              <a:ext uri="{FF2B5EF4-FFF2-40B4-BE49-F238E27FC236}">
                <a16:creationId xmlns:a16="http://schemas.microsoft.com/office/drawing/2014/main" id="{6AE1997F-8C4F-4246-A7C9-B1EC9BB09162}"/>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1.2 </a:t>
            </a:r>
            <a:r>
              <a:rPr lang="zh-CN" altLang="en-US" b="1" dirty="0">
                <a:latin typeface="Times New Roman" panose="02020603050405020304" pitchFamily="18" charset="0"/>
                <a:cs typeface="Times New Roman" panose="02020603050405020304" pitchFamily="18" charset="0"/>
              </a:rPr>
              <a:t>无线传感器结构及类型</a:t>
            </a:r>
          </a:p>
        </p:txBody>
      </p:sp>
      <p:sp>
        <p:nvSpPr>
          <p:cNvPr id="11" name="文本框 10">
            <a:extLst>
              <a:ext uri="{FF2B5EF4-FFF2-40B4-BE49-F238E27FC236}">
                <a16:creationId xmlns:a16="http://schemas.microsoft.com/office/drawing/2014/main" id="{E7B85A65-E5A3-4086-844F-68DF8E91641A}"/>
              </a:ext>
            </a:extLst>
          </p:cNvPr>
          <p:cNvSpPr txBox="1"/>
          <p:nvPr/>
        </p:nvSpPr>
        <p:spPr>
          <a:xfrm>
            <a:off x="194551" y="0"/>
            <a:ext cx="447021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Tree>
    <p:extLst>
      <p:ext uri="{BB962C8B-B14F-4D97-AF65-F5344CB8AC3E}">
        <p14:creationId xmlns:p14="http://schemas.microsoft.com/office/powerpoint/2010/main" val="4261530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FB22B-238E-B5F1-FE90-07411897D014}"/>
            </a:ext>
          </a:extLst>
        </p:cNvPr>
        <p:cNvGrpSpPr/>
        <p:nvPr/>
      </p:nvGrpSpPr>
      <p:grpSpPr>
        <a:xfrm>
          <a:off x="0" y="0"/>
          <a:ext cx="0" cy="0"/>
          <a:chOff x="0" y="0"/>
          <a:chExt cx="0" cy="0"/>
        </a:xfrm>
      </p:grpSpPr>
      <p:sp>
        <p:nvSpPr>
          <p:cNvPr id="15" name="灯片编号占位符 3">
            <a:extLst>
              <a:ext uri="{FF2B5EF4-FFF2-40B4-BE49-F238E27FC236}">
                <a16:creationId xmlns:a16="http://schemas.microsoft.com/office/drawing/2014/main" id="{9BA3170A-B7BC-BD89-B746-066CFB35EA1D}"/>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12</a:t>
            </a:fld>
            <a:endParaRPr lang="zh-CN" altLang="en-US"/>
          </a:p>
        </p:txBody>
      </p:sp>
      <p:sp>
        <p:nvSpPr>
          <p:cNvPr id="6" name="文本框 5">
            <a:extLst>
              <a:ext uri="{FF2B5EF4-FFF2-40B4-BE49-F238E27FC236}">
                <a16:creationId xmlns:a16="http://schemas.microsoft.com/office/drawing/2014/main" id="{F3B03D35-979E-909D-73C4-409D34E68EAD}"/>
              </a:ext>
            </a:extLst>
          </p:cNvPr>
          <p:cNvSpPr txBox="1"/>
          <p:nvPr/>
        </p:nvSpPr>
        <p:spPr>
          <a:xfrm>
            <a:off x="157103" y="492908"/>
            <a:ext cx="2274370" cy="1689052"/>
          </a:xfrm>
          <a:prstGeom prst="rect">
            <a:avLst/>
          </a:prstGeom>
          <a:noFill/>
          <a:ln w="19050">
            <a:noFill/>
          </a:ln>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感知子模块</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处理子模块</a:t>
            </a:r>
            <a:endParaRPr lang="en-US" altLang="zh-CN" sz="2400" b="1" dirty="0">
              <a:solidFill>
                <a:srgbClr val="C0000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通信子模块</a:t>
            </a:r>
          </a:p>
        </p:txBody>
      </p:sp>
      <p:sp>
        <p:nvSpPr>
          <p:cNvPr id="2" name="文本框 1">
            <a:extLst>
              <a:ext uri="{FF2B5EF4-FFF2-40B4-BE49-F238E27FC236}">
                <a16:creationId xmlns:a16="http://schemas.microsoft.com/office/drawing/2014/main" id="{228B9C18-0939-6674-ADE2-B19FEEBAF730}"/>
              </a:ext>
            </a:extLst>
          </p:cNvPr>
          <p:cNvSpPr txBox="1"/>
          <p:nvPr/>
        </p:nvSpPr>
        <p:spPr>
          <a:xfrm>
            <a:off x="2226461" y="492908"/>
            <a:ext cx="6384594" cy="581057"/>
          </a:xfrm>
          <a:prstGeom prst="rect">
            <a:avLst/>
          </a:prstGeom>
          <a:noFill/>
          <a:ln w="19050">
            <a:noFill/>
          </a:ln>
        </p:spPr>
        <p:txBody>
          <a:bodyPr wrap="square" rtlCol="0">
            <a:spAutoFit/>
          </a:bodyPr>
          <a:lstStyle/>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感知物理世界参数，并将之转化为数字电信号</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7B9D71FA-ADCE-DA53-5FCF-B1BAE444D3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2941" y="2121069"/>
            <a:ext cx="6889173" cy="4576655"/>
          </a:xfrm>
          <a:prstGeom prst="rect">
            <a:avLst/>
          </a:prstGeom>
        </p:spPr>
      </p:pic>
      <p:sp>
        <p:nvSpPr>
          <p:cNvPr id="9" name="文本框 8">
            <a:extLst>
              <a:ext uri="{FF2B5EF4-FFF2-40B4-BE49-F238E27FC236}">
                <a16:creationId xmlns:a16="http://schemas.microsoft.com/office/drawing/2014/main" id="{7970AA76-5FC4-4225-6D5D-817425E3BD61}"/>
              </a:ext>
            </a:extLst>
          </p:cNvPr>
          <p:cNvSpPr txBox="1"/>
          <p:nvPr/>
        </p:nvSpPr>
        <p:spPr>
          <a:xfrm>
            <a:off x="2226461" y="1016460"/>
            <a:ext cx="6384594"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执行与感知、通信和自组织相关指令</a:t>
            </a:r>
            <a:endParaRPr lang="en-US" altLang="zh-CN" sz="2400" b="1"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67A89324-80DB-5C1D-04F0-3424160D8C24}"/>
              </a:ext>
            </a:extLst>
          </p:cNvPr>
          <p:cNvSpPr txBox="1"/>
          <p:nvPr/>
        </p:nvSpPr>
        <p:spPr>
          <a:xfrm>
            <a:off x="-66086" y="4211509"/>
            <a:ext cx="4699556" cy="1556003"/>
          </a:xfrm>
          <a:prstGeom prst="rect">
            <a:avLst/>
          </a:prstGeom>
          <a:noFill/>
          <a:ln w="19050">
            <a:noFill/>
          </a:ln>
        </p:spPr>
        <p:txBody>
          <a:bodyPr wrap="square" rtlCol="0">
            <a:spAutoFit/>
          </a:bodyPr>
          <a:lstStyle/>
          <a:p>
            <a:pPr marL="342900" indent="-342900">
              <a:lnSpc>
                <a:spcPct val="150000"/>
              </a:lnSpc>
              <a:buFont typeface="Arial" panose="020B0604020202020204" pitchFamily="34" charset="0"/>
              <a:buChar char="•"/>
            </a:pPr>
            <a:r>
              <a:rPr lang="zh-CN" altLang="en-US" sz="2200" b="1" dirty="0">
                <a:latin typeface="微软雅黑" panose="020B0503020204020204" pitchFamily="34" charset="-122"/>
                <a:ea typeface="微软雅黑" panose="020B0503020204020204" pitchFamily="34" charset="-122"/>
              </a:rPr>
              <a:t>处理器芯片</a:t>
            </a:r>
            <a:endParaRPr lang="en-US" altLang="zh-CN" sz="2200" b="1"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200" b="1" dirty="0">
                <a:latin typeface="微软雅黑" panose="020B0503020204020204" pitchFamily="34" charset="-122"/>
                <a:ea typeface="微软雅黑" panose="020B0503020204020204" pitchFamily="34" charset="-122"/>
              </a:rPr>
              <a:t>非易性存储器 </a:t>
            </a:r>
            <a:r>
              <a:rPr lang="en-US" altLang="zh-CN" sz="2200" b="1" dirty="0">
                <a:latin typeface="微软雅黑" panose="020B0503020204020204" pitchFamily="34" charset="-122"/>
                <a:ea typeface="微软雅黑" panose="020B0503020204020204" pitchFamily="34" charset="-122"/>
              </a:rPr>
              <a:t>(</a:t>
            </a:r>
            <a:r>
              <a:rPr lang="zh-CN" altLang="en-US" sz="2200" b="1" dirty="0">
                <a:latin typeface="微软雅黑" panose="020B0503020204020204" pitchFamily="34" charset="-122"/>
                <a:ea typeface="微软雅黑" panose="020B0503020204020204" pitchFamily="34" charset="-122"/>
              </a:rPr>
              <a:t>存储程序指令</a:t>
            </a:r>
            <a:r>
              <a:rPr lang="en-US" altLang="zh-CN" sz="2200" b="1" dirty="0">
                <a:latin typeface="微软雅黑" panose="020B0503020204020204" pitchFamily="34" charset="-122"/>
                <a:ea typeface="微软雅黑" panose="020B0503020204020204" pitchFamily="34" charset="-122"/>
              </a:rPr>
              <a:t>)</a:t>
            </a:r>
          </a:p>
          <a:p>
            <a:pPr marL="342900" indent="-342900">
              <a:lnSpc>
                <a:spcPct val="150000"/>
              </a:lnSpc>
              <a:buFont typeface="Arial" panose="020B0604020202020204" pitchFamily="34" charset="0"/>
              <a:buChar char="•"/>
            </a:pPr>
            <a:r>
              <a:rPr lang="zh-CN" altLang="en-US" sz="2200" b="1" dirty="0">
                <a:latin typeface="微软雅黑" panose="020B0503020204020204" pitchFamily="34" charset="-122"/>
                <a:ea typeface="微软雅黑" panose="020B0503020204020204" pitchFamily="34" charset="-122"/>
              </a:rPr>
              <a:t>快速存储器（临时存储感知数据）</a:t>
            </a:r>
            <a:endParaRPr lang="en-US" altLang="zh-CN" sz="2200" b="1"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0DDEFD81-C2DA-7474-35EA-269F56E4B305}"/>
              </a:ext>
            </a:extLst>
          </p:cNvPr>
          <p:cNvSpPr txBox="1"/>
          <p:nvPr/>
        </p:nvSpPr>
        <p:spPr>
          <a:xfrm>
            <a:off x="-66086" y="5708532"/>
            <a:ext cx="4603172" cy="104817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200" b="1" dirty="0">
                <a:latin typeface="微软雅黑" panose="020B0503020204020204" pitchFamily="34" charset="-122"/>
                <a:ea typeface="微软雅黑" panose="020B0503020204020204" pitchFamily="34" charset="-122"/>
              </a:rPr>
              <a:t>内部时钟</a:t>
            </a:r>
            <a:endParaRPr lang="en-US" altLang="zh-CN" sz="2200" b="1"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200" b="1" dirty="0">
                <a:latin typeface="微软雅黑" panose="020B0503020204020204" pitchFamily="34" charset="-122"/>
                <a:ea typeface="微软雅黑" panose="020B0503020204020204" pitchFamily="34" charset="-122"/>
              </a:rPr>
              <a:t>输入输出控制器</a:t>
            </a:r>
            <a:endParaRPr lang="en-US" altLang="zh-CN" sz="2200" b="1"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631B602D-026E-4D14-8B4F-9B9669D2FD2B}"/>
              </a:ext>
            </a:extLst>
          </p:cNvPr>
          <p:cNvSpPr txBox="1"/>
          <p:nvPr/>
        </p:nvSpPr>
        <p:spPr>
          <a:xfrm>
            <a:off x="194551" y="0"/>
            <a:ext cx="447021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3" name="文本框 12">
            <a:extLst>
              <a:ext uri="{FF2B5EF4-FFF2-40B4-BE49-F238E27FC236}">
                <a16:creationId xmlns:a16="http://schemas.microsoft.com/office/drawing/2014/main" id="{43A94E7E-9BAC-4F46-9CDC-C4ED0F06CD7D}"/>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1.2 </a:t>
            </a:r>
            <a:r>
              <a:rPr lang="zh-CN" altLang="en-US" b="1" dirty="0">
                <a:latin typeface="Times New Roman" panose="02020603050405020304" pitchFamily="18" charset="0"/>
                <a:cs typeface="Times New Roman" panose="02020603050405020304" pitchFamily="18" charset="0"/>
              </a:rPr>
              <a:t>无线传感器结构及类型</a:t>
            </a:r>
          </a:p>
        </p:txBody>
      </p:sp>
    </p:spTree>
    <p:extLst>
      <p:ext uri="{BB962C8B-B14F-4D97-AF65-F5344CB8AC3E}">
        <p14:creationId xmlns:p14="http://schemas.microsoft.com/office/powerpoint/2010/main" val="1201684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A465D-AED7-E60A-555D-2AFA7B25D611}"/>
            </a:ext>
          </a:extLst>
        </p:cNvPr>
        <p:cNvGrpSpPr/>
        <p:nvPr/>
      </p:nvGrpSpPr>
      <p:grpSpPr>
        <a:xfrm>
          <a:off x="0" y="0"/>
          <a:ext cx="0" cy="0"/>
          <a:chOff x="0" y="0"/>
          <a:chExt cx="0" cy="0"/>
        </a:xfrm>
      </p:grpSpPr>
      <p:sp>
        <p:nvSpPr>
          <p:cNvPr id="15" name="灯片编号占位符 3">
            <a:extLst>
              <a:ext uri="{FF2B5EF4-FFF2-40B4-BE49-F238E27FC236}">
                <a16:creationId xmlns:a16="http://schemas.microsoft.com/office/drawing/2014/main" id="{428B9F87-4971-4A85-4069-C0E6297883C8}"/>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13</a:t>
            </a:fld>
            <a:endParaRPr lang="zh-CN" altLang="en-US"/>
          </a:p>
        </p:txBody>
      </p:sp>
      <p:pic>
        <p:nvPicPr>
          <p:cNvPr id="5" name="图片 4">
            <a:extLst>
              <a:ext uri="{FF2B5EF4-FFF2-40B4-BE49-F238E27FC236}">
                <a16:creationId xmlns:a16="http://schemas.microsoft.com/office/drawing/2014/main" id="{5D86CDA6-B7EF-BC32-498C-2539714132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552" y="2829088"/>
            <a:ext cx="8634759" cy="4028912"/>
          </a:xfrm>
          <a:prstGeom prst="rect">
            <a:avLst/>
          </a:prstGeom>
        </p:spPr>
      </p:pic>
      <p:sp>
        <p:nvSpPr>
          <p:cNvPr id="6" name="文本框 5">
            <a:extLst>
              <a:ext uri="{FF2B5EF4-FFF2-40B4-BE49-F238E27FC236}">
                <a16:creationId xmlns:a16="http://schemas.microsoft.com/office/drawing/2014/main" id="{3D92DC74-BBFF-4689-8A0B-32C76EC0E384}"/>
              </a:ext>
            </a:extLst>
          </p:cNvPr>
          <p:cNvSpPr txBox="1"/>
          <p:nvPr/>
        </p:nvSpPr>
        <p:spPr>
          <a:xfrm>
            <a:off x="157103" y="492908"/>
            <a:ext cx="2274370" cy="1689052"/>
          </a:xfrm>
          <a:prstGeom prst="rect">
            <a:avLst/>
          </a:prstGeom>
          <a:noFill/>
          <a:ln w="19050">
            <a:noFill/>
          </a:ln>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感知子模块</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处理子模块</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通信子模块</a:t>
            </a:r>
          </a:p>
        </p:txBody>
      </p:sp>
      <p:sp>
        <p:nvSpPr>
          <p:cNvPr id="2" name="文本框 1">
            <a:extLst>
              <a:ext uri="{FF2B5EF4-FFF2-40B4-BE49-F238E27FC236}">
                <a16:creationId xmlns:a16="http://schemas.microsoft.com/office/drawing/2014/main" id="{B04A7302-4E92-46F2-5D51-D14F3F0F04C5}"/>
              </a:ext>
            </a:extLst>
          </p:cNvPr>
          <p:cNvSpPr txBox="1"/>
          <p:nvPr/>
        </p:nvSpPr>
        <p:spPr>
          <a:xfrm>
            <a:off x="2226461" y="492908"/>
            <a:ext cx="6384594" cy="581057"/>
          </a:xfrm>
          <a:prstGeom prst="rect">
            <a:avLst/>
          </a:prstGeom>
          <a:noFill/>
          <a:ln w="19050">
            <a:noFill/>
          </a:ln>
        </p:spPr>
        <p:txBody>
          <a:bodyPr wrap="square" rtlCol="0">
            <a:spAutoFit/>
          </a:bodyPr>
          <a:lstStyle/>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感知物理世界参数，并将之转化为数字电信号</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6F5FECD3-2DAE-06F4-78A9-9E5993BD6BF1}"/>
              </a:ext>
            </a:extLst>
          </p:cNvPr>
          <p:cNvSpPr txBox="1"/>
          <p:nvPr/>
        </p:nvSpPr>
        <p:spPr>
          <a:xfrm>
            <a:off x="2226461" y="1016460"/>
            <a:ext cx="6384594" cy="581057"/>
          </a:xfrm>
          <a:prstGeom prst="rect">
            <a:avLst/>
          </a:prstGeom>
          <a:noFill/>
          <a:ln w="19050">
            <a:noFill/>
          </a:ln>
        </p:spPr>
        <p:txBody>
          <a:bodyPr wrap="square" rtlCol="0">
            <a:spAutoFit/>
          </a:bodyPr>
          <a:lstStyle/>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执行与感知、通信和自组织相关指令</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EE893E23-C6E1-150D-337D-D8A3D0CAE720}"/>
              </a:ext>
            </a:extLst>
          </p:cNvPr>
          <p:cNvSpPr txBox="1"/>
          <p:nvPr/>
        </p:nvSpPr>
        <p:spPr>
          <a:xfrm>
            <a:off x="2226461" y="1597517"/>
            <a:ext cx="6384594"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完成感知数据的传输或指令的分发</a:t>
            </a:r>
            <a:endParaRPr lang="en-US" altLang="zh-CN" sz="2400" b="1"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AE8EE6B8-9058-4CC5-BF9B-02446450C1A4}"/>
              </a:ext>
            </a:extLst>
          </p:cNvPr>
          <p:cNvSpPr txBox="1"/>
          <p:nvPr/>
        </p:nvSpPr>
        <p:spPr>
          <a:xfrm>
            <a:off x="194551" y="0"/>
            <a:ext cx="447021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0" name="文本框 9">
            <a:extLst>
              <a:ext uri="{FF2B5EF4-FFF2-40B4-BE49-F238E27FC236}">
                <a16:creationId xmlns:a16="http://schemas.microsoft.com/office/drawing/2014/main" id="{85984F32-1EFD-4549-A3B4-B36BD5C887AA}"/>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1.2 </a:t>
            </a:r>
            <a:r>
              <a:rPr lang="zh-CN" altLang="en-US" b="1" dirty="0">
                <a:latin typeface="Times New Roman" panose="02020603050405020304" pitchFamily="18" charset="0"/>
                <a:cs typeface="Times New Roman" panose="02020603050405020304" pitchFamily="18" charset="0"/>
              </a:rPr>
              <a:t>无线传感器结构及类型</a:t>
            </a:r>
          </a:p>
        </p:txBody>
      </p:sp>
    </p:spTree>
    <p:extLst>
      <p:ext uri="{BB962C8B-B14F-4D97-AF65-F5344CB8AC3E}">
        <p14:creationId xmlns:p14="http://schemas.microsoft.com/office/powerpoint/2010/main" val="2961397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温湿度传感器"/>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8542" y="3350806"/>
            <a:ext cx="2830488" cy="2830488"/>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p:cNvSpPr>
            <a:spLocks noGrp="1"/>
          </p:cNvSpPr>
          <p:nvPr>
            <p:ph type="sldNum" sz="quarter" idx="12"/>
          </p:nvPr>
        </p:nvSpPr>
        <p:spPr/>
        <p:txBody>
          <a:bodyPr/>
          <a:lstStyle/>
          <a:p>
            <a:fld id="{E663D701-F6D3-45BB-89CD-EE32AA93FC3C}" type="slidenum">
              <a:rPr lang="zh-CN" altLang="en-US" smtClean="0"/>
              <a:t>14</a:t>
            </a:fld>
            <a:endParaRPr lang="zh-CN" altLang="en-US"/>
          </a:p>
        </p:txBody>
      </p:sp>
      <p:pic>
        <p:nvPicPr>
          <p:cNvPr id="3" name="图片 2"/>
          <p:cNvPicPr>
            <a:picLocks noChangeAspect="1"/>
          </p:cNvPicPr>
          <p:nvPr/>
        </p:nvPicPr>
        <p:blipFill>
          <a:blip r:embed="rId4"/>
          <a:stretch>
            <a:fillRect/>
          </a:stretch>
        </p:blipFill>
        <p:spPr>
          <a:xfrm>
            <a:off x="2619111" y="3666476"/>
            <a:ext cx="2005755" cy="1644293"/>
          </a:xfrm>
          <a:prstGeom prst="rect">
            <a:avLst/>
          </a:prstGeom>
        </p:spPr>
      </p:pic>
      <p:pic>
        <p:nvPicPr>
          <p:cNvPr id="6" name="图片 5"/>
          <p:cNvPicPr>
            <a:picLocks noChangeAspect="1"/>
          </p:cNvPicPr>
          <p:nvPr/>
        </p:nvPicPr>
        <p:blipFill>
          <a:blip r:embed="rId5"/>
          <a:stretch>
            <a:fillRect/>
          </a:stretch>
        </p:blipFill>
        <p:spPr>
          <a:xfrm>
            <a:off x="4875141" y="3795006"/>
            <a:ext cx="1772573" cy="1387231"/>
          </a:xfrm>
          <a:prstGeom prst="rect">
            <a:avLst/>
          </a:prstGeom>
        </p:spPr>
      </p:pic>
      <p:pic>
        <p:nvPicPr>
          <p:cNvPr id="7" name="图片 6"/>
          <p:cNvPicPr>
            <a:picLocks noChangeAspect="1"/>
          </p:cNvPicPr>
          <p:nvPr/>
        </p:nvPicPr>
        <p:blipFill>
          <a:blip r:embed="rId6"/>
          <a:stretch>
            <a:fillRect/>
          </a:stretch>
        </p:blipFill>
        <p:spPr>
          <a:xfrm>
            <a:off x="194553" y="546845"/>
            <a:ext cx="2733425" cy="1684826"/>
          </a:xfrm>
          <a:prstGeom prst="rect">
            <a:avLst/>
          </a:prstGeom>
        </p:spPr>
      </p:pic>
      <p:pic>
        <p:nvPicPr>
          <p:cNvPr id="11" name="图片 10"/>
          <p:cNvPicPr>
            <a:picLocks noChangeAspect="1"/>
          </p:cNvPicPr>
          <p:nvPr/>
        </p:nvPicPr>
        <p:blipFill>
          <a:blip r:embed="rId7"/>
          <a:stretch>
            <a:fillRect/>
          </a:stretch>
        </p:blipFill>
        <p:spPr>
          <a:xfrm>
            <a:off x="3228735" y="484980"/>
            <a:ext cx="2140095" cy="1563915"/>
          </a:xfrm>
          <a:prstGeom prst="rect">
            <a:avLst/>
          </a:prstGeom>
        </p:spPr>
      </p:pic>
      <p:pic>
        <p:nvPicPr>
          <p:cNvPr id="12" name="图片 11"/>
          <p:cNvPicPr>
            <a:picLocks noChangeAspect="1"/>
          </p:cNvPicPr>
          <p:nvPr/>
        </p:nvPicPr>
        <p:blipFill>
          <a:blip r:embed="rId8"/>
          <a:stretch>
            <a:fillRect/>
          </a:stretch>
        </p:blipFill>
        <p:spPr>
          <a:xfrm>
            <a:off x="6063126" y="424373"/>
            <a:ext cx="2122929" cy="1746993"/>
          </a:xfrm>
          <a:prstGeom prst="rect">
            <a:avLst/>
          </a:prstGeom>
        </p:spPr>
      </p:pic>
      <p:pic>
        <p:nvPicPr>
          <p:cNvPr id="2054" name="Picture 6" descr="智能传感器"/>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77944" y="3221107"/>
            <a:ext cx="2602523" cy="2602523"/>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D832F286-38B3-4FAF-A63D-1C7D1E4F31B9}"/>
              </a:ext>
            </a:extLst>
          </p:cNvPr>
          <p:cNvSpPr/>
          <p:nvPr/>
        </p:nvSpPr>
        <p:spPr>
          <a:xfrm>
            <a:off x="586127" y="2505394"/>
            <a:ext cx="1723549" cy="400110"/>
          </a:xfrm>
          <a:prstGeom prst="rect">
            <a:avLst/>
          </a:prstGeom>
        </p:spPr>
        <p:txBody>
          <a:bodyPr wrap="none">
            <a:spAutoFit/>
          </a:bodyPr>
          <a:lstStyle/>
          <a:p>
            <a:r>
              <a:rPr lang="zh-CN" altLang="en-US" sz="2000" dirty="0">
                <a:latin typeface="Microsoft YaHei" panose="020B0503020204020204" pitchFamily="34" charset="-122"/>
                <a:ea typeface="Microsoft YaHei" panose="020B0503020204020204" pitchFamily="34" charset="-122"/>
              </a:rPr>
              <a:t>温湿度传感器</a:t>
            </a:r>
          </a:p>
        </p:txBody>
      </p:sp>
      <p:sp>
        <p:nvSpPr>
          <p:cNvPr id="5" name="矩形 4">
            <a:extLst>
              <a:ext uri="{FF2B5EF4-FFF2-40B4-BE49-F238E27FC236}">
                <a16:creationId xmlns:a16="http://schemas.microsoft.com/office/drawing/2014/main" id="{A5FD5233-4B31-4176-9DCA-47D496790EA7}"/>
              </a:ext>
            </a:extLst>
          </p:cNvPr>
          <p:cNvSpPr/>
          <p:nvPr/>
        </p:nvSpPr>
        <p:spPr>
          <a:xfrm>
            <a:off x="3635629" y="2505394"/>
            <a:ext cx="1467068" cy="400110"/>
          </a:xfrm>
          <a:prstGeom prst="rect">
            <a:avLst/>
          </a:prstGeom>
        </p:spPr>
        <p:txBody>
          <a:bodyPr wrap="none">
            <a:spAutoFit/>
          </a:bodyPr>
          <a:lstStyle/>
          <a:p>
            <a:r>
              <a:rPr lang="zh-CN" altLang="en-US" sz="2000" dirty="0">
                <a:latin typeface="Microsoft YaHei" panose="020B0503020204020204" pitchFamily="34" charset="-122"/>
                <a:ea typeface="Microsoft YaHei" panose="020B0503020204020204" pitchFamily="34" charset="-122"/>
              </a:rPr>
              <a:t>光敏传感器</a:t>
            </a:r>
          </a:p>
        </p:txBody>
      </p:sp>
      <p:sp>
        <p:nvSpPr>
          <p:cNvPr id="10" name="矩形 9">
            <a:extLst>
              <a:ext uri="{FF2B5EF4-FFF2-40B4-BE49-F238E27FC236}">
                <a16:creationId xmlns:a16="http://schemas.microsoft.com/office/drawing/2014/main" id="{52A8367A-873E-4AE1-A4A6-632F7A1236C0}"/>
              </a:ext>
            </a:extLst>
          </p:cNvPr>
          <p:cNvSpPr/>
          <p:nvPr/>
        </p:nvSpPr>
        <p:spPr>
          <a:xfrm>
            <a:off x="6419657" y="2503272"/>
            <a:ext cx="1723549" cy="400110"/>
          </a:xfrm>
          <a:prstGeom prst="rect">
            <a:avLst/>
          </a:prstGeom>
        </p:spPr>
        <p:txBody>
          <a:bodyPr wrap="none">
            <a:spAutoFit/>
          </a:bodyPr>
          <a:lstStyle/>
          <a:p>
            <a:r>
              <a:rPr lang="zh-CN" altLang="en-US" sz="2000" dirty="0">
                <a:latin typeface="Microsoft YaHei" panose="020B0503020204020204" pitchFamily="34" charset="-122"/>
                <a:ea typeface="Microsoft YaHei" panose="020B0503020204020204" pitchFamily="34" charset="-122"/>
              </a:rPr>
              <a:t>继电器传感器</a:t>
            </a:r>
          </a:p>
        </p:txBody>
      </p:sp>
      <p:sp>
        <p:nvSpPr>
          <p:cNvPr id="13" name="矩形 12">
            <a:extLst>
              <a:ext uri="{FF2B5EF4-FFF2-40B4-BE49-F238E27FC236}">
                <a16:creationId xmlns:a16="http://schemas.microsoft.com/office/drawing/2014/main" id="{0BEA6467-8A41-4DDA-8955-E8451DA9901A}"/>
              </a:ext>
            </a:extLst>
          </p:cNvPr>
          <p:cNvSpPr/>
          <p:nvPr/>
        </p:nvSpPr>
        <p:spPr>
          <a:xfrm>
            <a:off x="692011" y="5920954"/>
            <a:ext cx="1723549" cy="400110"/>
          </a:xfrm>
          <a:prstGeom prst="rect">
            <a:avLst/>
          </a:prstGeom>
        </p:spPr>
        <p:txBody>
          <a:bodyPr wrap="none">
            <a:spAutoFit/>
          </a:bodyPr>
          <a:lstStyle/>
          <a:p>
            <a:r>
              <a:rPr lang="zh-CN" altLang="en-US" sz="2000" dirty="0">
                <a:latin typeface="Microsoft YaHei" panose="020B0503020204020204" pitchFamily="34" charset="-122"/>
                <a:ea typeface="Microsoft YaHei" panose="020B0503020204020204" pitchFamily="34" charset="-122"/>
              </a:rPr>
              <a:t>温湿度传感器</a:t>
            </a:r>
          </a:p>
        </p:txBody>
      </p:sp>
      <p:sp>
        <p:nvSpPr>
          <p:cNvPr id="14" name="矩形 13">
            <a:extLst>
              <a:ext uri="{FF2B5EF4-FFF2-40B4-BE49-F238E27FC236}">
                <a16:creationId xmlns:a16="http://schemas.microsoft.com/office/drawing/2014/main" id="{062BA8E1-43B6-4C6E-B3F6-B8B8F2D3309E}"/>
              </a:ext>
            </a:extLst>
          </p:cNvPr>
          <p:cNvSpPr/>
          <p:nvPr/>
        </p:nvSpPr>
        <p:spPr>
          <a:xfrm>
            <a:off x="2657369" y="5920954"/>
            <a:ext cx="2236510" cy="400110"/>
          </a:xfrm>
          <a:prstGeom prst="rect">
            <a:avLst/>
          </a:prstGeom>
        </p:spPr>
        <p:txBody>
          <a:bodyPr wrap="none">
            <a:spAutoFit/>
          </a:bodyPr>
          <a:lstStyle/>
          <a:p>
            <a:r>
              <a:rPr lang="zh-CN" altLang="en-US" sz="2000" dirty="0">
                <a:latin typeface="Microsoft YaHei" panose="020B0503020204020204" pitchFamily="34" charset="-122"/>
                <a:ea typeface="Microsoft YaHei" panose="020B0503020204020204" pitchFamily="34" charset="-122"/>
              </a:rPr>
              <a:t>电压、电流传感器</a:t>
            </a:r>
          </a:p>
        </p:txBody>
      </p:sp>
      <p:sp>
        <p:nvSpPr>
          <p:cNvPr id="15" name="矩形 14">
            <a:extLst>
              <a:ext uri="{FF2B5EF4-FFF2-40B4-BE49-F238E27FC236}">
                <a16:creationId xmlns:a16="http://schemas.microsoft.com/office/drawing/2014/main" id="{43A728EC-5968-4E35-BABB-56E90CE55E18}"/>
              </a:ext>
            </a:extLst>
          </p:cNvPr>
          <p:cNvSpPr/>
          <p:nvPr/>
        </p:nvSpPr>
        <p:spPr>
          <a:xfrm>
            <a:off x="4940423" y="5920954"/>
            <a:ext cx="1467068" cy="400110"/>
          </a:xfrm>
          <a:prstGeom prst="rect">
            <a:avLst/>
          </a:prstGeom>
        </p:spPr>
        <p:txBody>
          <a:bodyPr wrap="none">
            <a:spAutoFit/>
          </a:bodyPr>
          <a:lstStyle/>
          <a:p>
            <a:r>
              <a:rPr lang="zh-CN" altLang="en-US" sz="2000" dirty="0">
                <a:latin typeface="Microsoft YaHei" panose="020B0503020204020204" pitchFamily="34" charset="-122"/>
                <a:ea typeface="Microsoft YaHei" panose="020B0503020204020204" pitchFamily="34" charset="-122"/>
              </a:rPr>
              <a:t>电感传感器</a:t>
            </a:r>
          </a:p>
        </p:txBody>
      </p:sp>
      <p:sp>
        <p:nvSpPr>
          <p:cNvPr id="16" name="矩形 15">
            <a:extLst>
              <a:ext uri="{FF2B5EF4-FFF2-40B4-BE49-F238E27FC236}">
                <a16:creationId xmlns:a16="http://schemas.microsoft.com/office/drawing/2014/main" id="{C103A3E6-FE5C-4D74-ACAD-9B6CB6B974EE}"/>
              </a:ext>
            </a:extLst>
          </p:cNvPr>
          <p:cNvSpPr/>
          <p:nvPr/>
        </p:nvSpPr>
        <p:spPr>
          <a:xfrm>
            <a:off x="6782354" y="5920954"/>
            <a:ext cx="1467068" cy="400110"/>
          </a:xfrm>
          <a:prstGeom prst="rect">
            <a:avLst/>
          </a:prstGeom>
        </p:spPr>
        <p:txBody>
          <a:bodyPr wrap="none">
            <a:spAutoFit/>
          </a:bodyPr>
          <a:lstStyle/>
          <a:p>
            <a:r>
              <a:rPr lang="zh-CN" altLang="en-US" sz="2000" dirty="0">
                <a:latin typeface="Microsoft YaHei" panose="020B0503020204020204" pitchFamily="34" charset="-122"/>
                <a:ea typeface="Microsoft YaHei" panose="020B0503020204020204" pitchFamily="34" charset="-122"/>
              </a:rPr>
              <a:t>智能传感器</a:t>
            </a:r>
          </a:p>
        </p:txBody>
      </p:sp>
      <p:sp>
        <p:nvSpPr>
          <p:cNvPr id="18" name="文本框 17">
            <a:extLst>
              <a:ext uri="{FF2B5EF4-FFF2-40B4-BE49-F238E27FC236}">
                <a16:creationId xmlns:a16="http://schemas.microsoft.com/office/drawing/2014/main" id="{06E2D24A-576B-4F62-965F-9FD6E2E4636A}"/>
              </a:ext>
            </a:extLst>
          </p:cNvPr>
          <p:cNvSpPr txBox="1"/>
          <p:nvPr/>
        </p:nvSpPr>
        <p:spPr>
          <a:xfrm>
            <a:off x="194551" y="0"/>
            <a:ext cx="447021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9" name="文本框 18">
            <a:extLst>
              <a:ext uri="{FF2B5EF4-FFF2-40B4-BE49-F238E27FC236}">
                <a16:creationId xmlns:a16="http://schemas.microsoft.com/office/drawing/2014/main" id="{B9B03266-89B5-485B-AA90-22B6701FA791}"/>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1.2 </a:t>
            </a:r>
            <a:r>
              <a:rPr lang="zh-CN" altLang="en-US" b="1" dirty="0">
                <a:latin typeface="Times New Roman" panose="02020603050405020304" pitchFamily="18" charset="0"/>
                <a:cs typeface="Times New Roman" panose="02020603050405020304" pitchFamily="18" charset="0"/>
              </a:rPr>
              <a:t>无线传感器结构及类型</a:t>
            </a:r>
          </a:p>
        </p:txBody>
      </p:sp>
    </p:spTree>
    <p:extLst>
      <p:ext uri="{BB962C8B-B14F-4D97-AF65-F5344CB8AC3E}">
        <p14:creationId xmlns:p14="http://schemas.microsoft.com/office/powerpoint/2010/main" val="712955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ppt_y</p:attrName>
                                        </p:attrNameLst>
                                      </p:cBhvr>
                                      <p:tavLst>
                                        <p:tav tm="0">
                                          <p:val>
                                            <p:strVal val="#ppt_y+#ppt_h*1.125000"/>
                                          </p:val>
                                        </p:tav>
                                        <p:tav tm="100000">
                                          <p:val>
                                            <p:strVal val="#ppt_y"/>
                                          </p:val>
                                        </p:tav>
                                      </p:tavLst>
                                    </p:anim>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par>
                          <p:cTn id="18" fill="hold">
                            <p:stCondLst>
                              <p:cond delay="500"/>
                            </p:stCondLst>
                            <p:childTnLst>
                              <p:par>
                                <p:cTn id="19" presetID="1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p:tgtEl>
                                          <p:spTgt spid="5"/>
                                        </p:tgtEl>
                                        <p:attrNameLst>
                                          <p:attrName>ppt_y</p:attrName>
                                        </p:attrNameLst>
                                      </p:cBhvr>
                                      <p:tavLst>
                                        <p:tav tm="0">
                                          <p:val>
                                            <p:strVal val="#ppt_y+#ppt_h*1.125000"/>
                                          </p:val>
                                        </p:tav>
                                        <p:tav tm="100000">
                                          <p:val>
                                            <p:strVal val="#ppt_y"/>
                                          </p:val>
                                        </p:tav>
                                      </p:tavLst>
                                    </p:anim>
                                    <p:animEffect transition="in" filter="wipe(up)">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500"/>
                            </p:stCondLst>
                            <p:childTnLst>
                              <p:par>
                                <p:cTn id="29" presetID="12" presetClass="entr" presetSubtype="4"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p:tgtEl>
                                          <p:spTgt spid="10"/>
                                        </p:tgtEl>
                                        <p:attrNameLst>
                                          <p:attrName>ppt_y</p:attrName>
                                        </p:attrNameLst>
                                      </p:cBhvr>
                                      <p:tavLst>
                                        <p:tav tm="0">
                                          <p:val>
                                            <p:strVal val="#ppt_y+#ppt_h*1.125000"/>
                                          </p:val>
                                        </p:tav>
                                        <p:tav tm="100000">
                                          <p:val>
                                            <p:strVal val="#ppt_y"/>
                                          </p:val>
                                        </p:tav>
                                      </p:tavLst>
                                    </p:anim>
                                    <p:animEffect transition="in" filter="wipe(up)">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052"/>
                                        </p:tgtEl>
                                        <p:attrNameLst>
                                          <p:attrName>style.visibility</p:attrName>
                                        </p:attrNameLst>
                                      </p:cBhvr>
                                      <p:to>
                                        <p:strVal val="visible"/>
                                      </p:to>
                                    </p:set>
                                    <p:animEffect transition="in" filter="wipe(down)">
                                      <p:cBhvr>
                                        <p:cTn id="37" dur="500"/>
                                        <p:tgtEl>
                                          <p:spTgt spid="2052"/>
                                        </p:tgtEl>
                                      </p:cBhvr>
                                    </p:animEffect>
                                  </p:childTnLst>
                                </p:cTn>
                              </p:par>
                            </p:childTnLst>
                          </p:cTn>
                        </p:par>
                        <p:par>
                          <p:cTn id="38" fill="hold">
                            <p:stCondLst>
                              <p:cond delay="500"/>
                            </p:stCondLst>
                            <p:childTnLst>
                              <p:par>
                                <p:cTn id="39" presetID="12" presetClass="entr" presetSubtype="4" fill="hold" grpId="0" nodeType="after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p:tgtEl>
                                          <p:spTgt spid="13"/>
                                        </p:tgtEl>
                                        <p:attrNameLst>
                                          <p:attrName>ppt_y</p:attrName>
                                        </p:attrNameLst>
                                      </p:cBhvr>
                                      <p:tavLst>
                                        <p:tav tm="0">
                                          <p:val>
                                            <p:strVal val="#ppt_y+#ppt_h*1.125000"/>
                                          </p:val>
                                        </p:tav>
                                        <p:tav tm="100000">
                                          <p:val>
                                            <p:strVal val="#ppt_y"/>
                                          </p:val>
                                        </p:tav>
                                      </p:tavLst>
                                    </p:anim>
                                    <p:animEffect transition="in" filter="wipe(up)">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down)">
                                      <p:cBhvr>
                                        <p:cTn id="47" dur="500"/>
                                        <p:tgtEl>
                                          <p:spTgt spid="3"/>
                                        </p:tgtEl>
                                      </p:cBhvr>
                                    </p:animEffect>
                                  </p:childTnLst>
                                </p:cTn>
                              </p:par>
                            </p:childTnLst>
                          </p:cTn>
                        </p:par>
                        <p:par>
                          <p:cTn id="48" fill="hold">
                            <p:stCondLst>
                              <p:cond delay="500"/>
                            </p:stCondLst>
                            <p:childTnLst>
                              <p:par>
                                <p:cTn id="49" presetID="12" presetClass="entr" presetSubtype="4"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p:tgtEl>
                                          <p:spTgt spid="14"/>
                                        </p:tgtEl>
                                        <p:attrNameLst>
                                          <p:attrName>ppt_y</p:attrName>
                                        </p:attrNameLst>
                                      </p:cBhvr>
                                      <p:tavLst>
                                        <p:tav tm="0">
                                          <p:val>
                                            <p:strVal val="#ppt_y+#ppt_h*1.125000"/>
                                          </p:val>
                                        </p:tav>
                                        <p:tav tm="100000">
                                          <p:val>
                                            <p:strVal val="#ppt_y"/>
                                          </p:val>
                                        </p:tav>
                                      </p:tavLst>
                                    </p:anim>
                                    <p:animEffect transition="in" filter="wipe(up)">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500"/>
                                        <p:tgtEl>
                                          <p:spTgt spid="6"/>
                                        </p:tgtEl>
                                      </p:cBhvr>
                                    </p:animEffect>
                                  </p:childTnLst>
                                </p:cTn>
                              </p:par>
                            </p:childTnLst>
                          </p:cTn>
                        </p:par>
                        <p:par>
                          <p:cTn id="58" fill="hold">
                            <p:stCondLst>
                              <p:cond delay="500"/>
                            </p:stCondLst>
                            <p:childTnLst>
                              <p:par>
                                <p:cTn id="59" presetID="12" presetClass="entr" presetSubtype="4" fill="hold" grpId="0" nodeType="after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p:tgtEl>
                                          <p:spTgt spid="15"/>
                                        </p:tgtEl>
                                        <p:attrNameLst>
                                          <p:attrName>ppt_y</p:attrName>
                                        </p:attrNameLst>
                                      </p:cBhvr>
                                      <p:tavLst>
                                        <p:tav tm="0">
                                          <p:val>
                                            <p:strVal val="#ppt_y+#ppt_h*1.125000"/>
                                          </p:val>
                                        </p:tav>
                                        <p:tav tm="100000">
                                          <p:val>
                                            <p:strVal val="#ppt_y"/>
                                          </p:val>
                                        </p:tav>
                                      </p:tavLst>
                                    </p:anim>
                                    <p:animEffect transition="in" filter="wipe(up)">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42" fill="hold" nodeType="clickEffect">
                                  <p:stCondLst>
                                    <p:cond delay="0"/>
                                  </p:stCondLst>
                                  <p:childTnLst>
                                    <p:set>
                                      <p:cBhvr>
                                        <p:cTn id="66" dur="1" fill="hold">
                                          <p:stCondLst>
                                            <p:cond delay="0"/>
                                          </p:stCondLst>
                                        </p:cTn>
                                        <p:tgtEl>
                                          <p:spTgt spid="2054"/>
                                        </p:tgtEl>
                                        <p:attrNameLst>
                                          <p:attrName>style.visibility</p:attrName>
                                        </p:attrNameLst>
                                      </p:cBhvr>
                                      <p:to>
                                        <p:strVal val="visible"/>
                                      </p:to>
                                    </p:set>
                                    <p:animEffect transition="in" filter="barn(outHorizontal)">
                                      <p:cBhvr>
                                        <p:cTn id="67" dur="500"/>
                                        <p:tgtEl>
                                          <p:spTgt spid="2054"/>
                                        </p:tgtEl>
                                      </p:cBhvr>
                                    </p:animEffect>
                                  </p:childTnLst>
                                </p:cTn>
                              </p:par>
                            </p:childTnLst>
                          </p:cTn>
                        </p:par>
                        <p:par>
                          <p:cTn id="68" fill="hold">
                            <p:stCondLst>
                              <p:cond delay="500"/>
                            </p:stCondLst>
                            <p:childTnLst>
                              <p:par>
                                <p:cTn id="69" presetID="12" presetClass="entr" presetSubtype="4" fill="hold" grpId="0" nodeType="afterEffect">
                                  <p:stCondLst>
                                    <p:cond delay="0"/>
                                  </p:stCondLst>
                                  <p:childTnLst>
                                    <p:set>
                                      <p:cBhvr>
                                        <p:cTn id="70" dur="1" fill="hold">
                                          <p:stCondLst>
                                            <p:cond delay="0"/>
                                          </p:stCondLst>
                                        </p:cTn>
                                        <p:tgtEl>
                                          <p:spTgt spid="16"/>
                                        </p:tgtEl>
                                        <p:attrNameLst>
                                          <p:attrName>style.visibility</p:attrName>
                                        </p:attrNameLst>
                                      </p:cBhvr>
                                      <p:to>
                                        <p:strVal val="visible"/>
                                      </p:to>
                                    </p:set>
                                    <p:anim calcmode="lin" valueType="num">
                                      <p:cBhvr additive="base">
                                        <p:cTn id="71" dur="500"/>
                                        <p:tgtEl>
                                          <p:spTgt spid="16"/>
                                        </p:tgtEl>
                                        <p:attrNameLst>
                                          <p:attrName>ppt_y</p:attrName>
                                        </p:attrNameLst>
                                      </p:cBhvr>
                                      <p:tavLst>
                                        <p:tav tm="0">
                                          <p:val>
                                            <p:strVal val="#ppt_y+#ppt_h*1.125000"/>
                                          </p:val>
                                        </p:tav>
                                        <p:tav tm="100000">
                                          <p:val>
                                            <p:strVal val="#ppt_y"/>
                                          </p:val>
                                        </p:tav>
                                      </p:tavLst>
                                    </p:anim>
                                    <p:animEffect transition="in" filter="wipe(up)">
                                      <p:cBhvr>
                                        <p:cTn id="7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0" grpId="0"/>
      <p:bldP spid="13" grpId="0"/>
      <p:bldP spid="14" grpId="0"/>
      <p:bldP spid="15" grpId="0"/>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2AB4BC77-20D7-4484-A756-EFDA745AF814}"/>
              </a:ext>
            </a:extLst>
          </p:cNvPr>
          <p:cNvSpPr>
            <a:spLocks noGrp="1"/>
          </p:cNvSpPr>
          <p:nvPr>
            <p:ph type="sldNum" sz="quarter" idx="12"/>
          </p:nvPr>
        </p:nvSpPr>
        <p:spPr/>
        <p:txBody>
          <a:bodyPr/>
          <a:lstStyle/>
          <a:p>
            <a:fld id="{E663D701-F6D3-45BB-89CD-EE32AA93FC3C}" type="slidenum">
              <a:rPr lang="zh-CN" altLang="en-US" smtClean="0"/>
              <a:t>15</a:t>
            </a:fld>
            <a:endParaRPr lang="zh-CN" altLang="en-US"/>
          </a:p>
        </p:txBody>
      </p:sp>
      <p:sp>
        <p:nvSpPr>
          <p:cNvPr id="6" name="文本框 5">
            <a:extLst>
              <a:ext uri="{FF2B5EF4-FFF2-40B4-BE49-F238E27FC236}">
                <a16:creationId xmlns:a16="http://schemas.microsoft.com/office/drawing/2014/main" id="{2EF5ABAE-6012-411E-85A0-72C1F498FF78}"/>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负责将数据上传至服务器的传感器子模块为</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文本框 6">
            <a:extLst>
              <a:ext uri="{FF2B5EF4-FFF2-40B4-BE49-F238E27FC236}">
                <a16:creationId xmlns:a16="http://schemas.microsoft.com/office/drawing/2014/main" id="{F2903DEB-D19C-4ABF-AAD4-7E7A9D236788}"/>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感知子模块</a:t>
            </a:r>
          </a:p>
        </p:txBody>
      </p:sp>
      <p:sp>
        <p:nvSpPr>
          <p:cNvPr id="8" name="文本框 7">
            <a:extLst>
              <a:ext uri="{FF2B5EF4-FFF2-40B4-BE49-F238E27FC236}">
                <a16:creationId xmlns:a16="http://schemas.microsoft.com/office/drawing/2014/main" id="{E3047087-37AD-411A-A7BD-C6915C4A9C6E}"/>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通信子模块</a:t>
            </a:r>
          </a:p>
        </p:txBody>
      </p:sp>
      <p:sp>
        <p:nvSpPr>
          <p:cNvPr id="9" name="文本框 8">
            <a:extLst>
              <a:ext uri="{FF2B5EF4-FFF2-40B4-BE49-F238E27FC236}">
                <a16:creationId xmlns:a16="http://schemas.microsoft.com/office/drawing/2014/main" id="{7DAB636E-5C3E-4F2E-AF83-F399807A10BD}"/>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处理子模块</a:t>
            </a:r>
          </a:p>
        </p:txBody>
      </p:sp>
      <p:sp>
        <p:nvSpPr>
          <p:cNvPr id="10" name="文本框 9">
            <a:extLst>
              <a:ext uri="{FF2B5EF4-FFF2-40B4-BE49-F238E27FC236}">
                <a16:creationId xmlns:a16="http://schemas.microsoft.com/office/drawing/2014/main" id="{229CCA39-B094-4E52-9C25-7E3AB83DA797}"/>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电源子模块</a:t>
            </a:r>
          </a:p>
        </p:txBody>
      </p:sp>
      <p:sp>
        <p:nvSpPr>
          <p:cNvPr id="11" name="椭圆 10">
            <a:extLst>
              <a:ext uri="{FF2B5EF4-FFF2-40B4-BE49-F238E27FC236}">
                <a16:creationId xmlns:a16="http://schemas.microsoft.com/office/drawing/2014/main" id="{A90858A2-FDF8-4382-89E6-39000A3E04DD}"/>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292D06D7-B144-42C5-A1B9-AB3C0A7C2717}"/>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2BA220DC-411F-4399-9D83-A61EB4FB348D}"/>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1E6F8DFE-90E5-4229-A44D-2627B09EC62C}"/>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04B2F6BC-05AC-447C-939D-942924F187F1}"/>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6C01EB07-2F55-4161-B9AB-02EA48CF1EC8}"/>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88A63055-4475-46BD-815A-F4C29DE59FF7}"/>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F0CD0E32-6097-4457-B31A-70F91C5D8635}"/>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064EE9DD-C706-4E7F-827D-1D060DFE1710}"/>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5656A72B-A0C2-473C-A92B-EC3CB3067A68}"/>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E1F1A93C-5D1D-4061-8D51-B554CC2069D1}"/>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668198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06518-99DB-D478-A75B-6C3EDD873C2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48E7E5F-AFE0-92F6-9DD8-3140B4EBA2A4}"/>
              </a:ext>
            </a:extLst>
          </p:cNvPr>
          <p:cNvSpPr>
            <a:spLocks noGrp="1"/>
          </p:cNvSpPr>
          <p:nvPr>
            <p:ph type="title"/>
          </p:nvPr>
        </p:nvSpPr>
        <p:spPr>
          <a:xfrm>
            <a:off x="256032" y="374854"/>
            <a:ext cx="8631936" cy="1325563"/>
          </a:xfrm>
        </p:spPr>
        <p:txBody>
          <a:bodyPr>
            <a:normAutofit fontScale="90000"/>
          </a:bodyPr>
          <a:lstStyle/>
          <a:p>
            <a:pPr algn="ctr"/>
            <a:r>
              <a:rPr lang="zh-CN" altLang="en-US" sz="5400" b="1" dirty="0">
                <a:solidFill>
                  <a:schemeClr val="tx1"/>
                </a:solidFill>
                <a:effectLst/>
                <a:latin typeface="Times New Roman" panose="02020603050405020304" pitchFamily="18" charset="0"/>
                <a:cs typeface="Times New Roman" panose="02020603050405020304" pitchFamily="18" charset="0"/>
              </a:rPr>
              <a:t>第</a:t>
            </a:r>
            <a:r>
              <a:rPr lang="en-US" altLang="zh-CN" sz="5400" b="1" dirty="0">
                <a:solidFill>
                  <a:schemeClr val="tx1"/>
                </a:solidFill>
                <a:effectLst/>
                <a:latin typeface="Times New Roman" panose="02020603050405020304" pitchFamily="18" charset="0"/>
                <a:cs typeface="Times New Roman" panose="02020603050405020304" pitchFamily="18" charset="0"/>
              </a:rPr>
              <a:t>1</a:t>
            </a:r>
            <a:r>
              <a:rPr lang="zh-CN" altLang="en-US" sz="5400" b="1" dirty="0">
                <a:solidFill>
                  <a:schemeClr val="tx1"/>
                </a:solidFill>
                <a:effectLst/>
              </a:rPr>
              <a:t>章 无线传感器网络概述</a:t>
            </a:r>
            <a:endParaRPr lang="zh-CN" altLang="en-US" sz="3200" b="1" dirty="0">
              <a:solidFill>
                <a:schemeClr val="tx1"/>
              </a:solidFill>
              <a:effectLst/>
            </a:endParaRPr>
          </a:p>
        </p:txBody>
      </p:sp>
      <p:sp>
        <p:nvSpPr>
          <p:cNvPr id="3" name="内容占位符 2">
            <a:extLst>
              <a:ext uri="{FF2B5EF4-FFF2-40B4-BE49-F238E27FC236}">
                <a16:creationId xmlns:a16="http://schemas.microsoft.com/office/drawing/2014/main" id="{FBD90371-1AB9-57DF-D3E7-D212287BFF19}"/>
              </a:ext>
            </a:extLst>
          </p:cNvPr>
          <p:cNvSpPr>
            <a:spLocks noGrp="1"/>
          </p:cNvSpPr>
          <p:nvPr>
            <p:ph idx="1"/>
          </p:nvPr>
        </p:nvSpPr>
        <p:spPr>
          <a:xfrm>
            <a:off x="516835" y="1700417"/>
            <a:ext cx="8080513" cy="4351338"/>
          </a:xfrm>
        </p:spPr>
        <p:txBody>
          <a:bodyPr>
            <a:normAutofit lnSpcReduction="10000"/>
          </a:bodyPr>
          <a:lstStyle/>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1.1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无线传感器网络定义</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1.2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无线传感器结构及类型</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rgbClr val="C00000"/>
                </a:solidFill>
                <a:latin typeface="Times New Roman" panose="02020603050405020304" pitchFamily="18" charset="0"/>
                <a:cs typeface="Times New Roman" panose="02020603050405020304" pitchFamily="18" charset="0"/>
              </a:rPr>
              <a:t>1.3 </a:t>
            </a:r>
            <a:r>
              <a:rPr lang="zh-CN" altLang="en-US" sz="3200" b="1" spc="300" dirty="0">
                <a:solidFill>
                  <a:srgbClr val="C00000"/>
                </a:solidFill>
                <a:latin typeface="Times New Roman" panose="02020603050405020304" pitchFamily="18" charset="0"/>
                <a:cs typeface="Times New Roman" panose="02020603050405020304" pitchFamily="18" charset="0"/>
              </a:rPr>
              <a:t>无线传感器网络拓扑</a:t>
            </a:r>
            <a:endParaRPr lang="en-US" altLang="zh-CN" sz="3200" b="1" spc="300" dirty="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1.4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无线传感器网络架构</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1.5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无线传感器网络特点及性能指标</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1.6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本章总结与作业</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092D9481-E80F-6896-A808-9ADEB5A06966}"/>
              </a:ext>
            </a:extLst>
          </p:cNvPr>
          <p:cNvSpPr>
            <a:spLocks noGrp="1"/>
          </p:cNvSpPr>
          <p:nvPr>
            <p:ph type="sldNum" sz="quarter" idx="12"/>
          </p:nvPr>
        </p:nvSpPr>
        <p:spPr/>
        <p:txBody>
          <a:bodyPr/>
          <a:lstStyle/>
          <a:p>
            <a:fld id="{E663D701-F6D3-45BB-89CD-EE32AA93FC3C}" type="slidenum">
              <a:rPr lang="zh-CN" altLang="en-US" smtClean="0"/>
              <a:t>16</a:t>
            </a:fld>
            <a:endParaRPr lang="zh-CN" altLang="en-US" dirty="0"/>
          </a:p>
        </p:txBody>
      </p:sp>
    </p:spTree>
    <p:extLst>
      <p:ext uri="{BB962C8B-B14F-4D97-AF65-F5344CB8AC3E}">
        <p14:creationId xmlns:p14="http://schemas.microsoft.com/office/powerpoint/2010/main" val="3202786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433CE-83F9-C11D-B519-C4A88A35CA11}"/>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6734C96B-1B3B-FFAC-F008-D8A6895D939E}"/>
              </a:ext>
            </a:extLst>
          </p:cNvPr>
          <p:cNvSpPr txBox="1"/>
          <p:nvPr/>
        </p:nvSpPr>
        <p:spPr>
          <a:xfrm>
            <a:off x="194551" y="0"/>
            <a:ext cx="488660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5" name="灯片编号占位符 3">
            <a:extLst>
              <a:ext uri="{FF2B5EF4-FFF2-40B4-BE49-F238E27FC236}">
                <a16:creationId xmlns:a16="http://schemas.microsoft.com/office/drawing/2014/main" id="{B2E781AE-0803-C2E1-83CB-B33B73B27809}"/>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17</a:t>
            </a:fld>
            <a:endParaRPr lang="zh-CN" altLang="en-US"/>
          </a:p>
        </p:txBody>
      </p:sp>
      <p:sp>
        <p:nvSpPr>
          <p:cNvPr id="7" name="文本框 6">
            <a:extLst>
              <a:ext uri="{FF2B5EF4-FFF2-40B4-BE49-F238E27FC236}">
                <a16:creationId xmlns:a16="http://schemas.microsoft.com/office/drawing/2014/main" id="{755CCCD3-F0A3-529A-A8EB-CA12F968AB0B}"/>
              </a:ext>
            </a:extLst>
          </p:cNvPr>
          <p:cNvSpPr txBox="1"/>
          <p:nvPr/>
        </p:nvSpPr>
        <p:spPr>
          <a:xfrm>
            <a:off x="106716" y="537644"/>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1. </a:t>
            </a:r>
            <a:r>
              <a:rPr lang="zh-CN" altLang="en-US" sz="2800" b="1" dirty="0">
                <a:latin typeface="微软雅黑" panose="020B0503020204020204" pitchFamily="34" charset="-122"/>
                <a:ea typeface="微软雅黑" panose="020B0503020204020204" pitchFamily="34" charset="-122"/>
              </a:rPr>
              <a:t>网络拓扑：</a:t>
            </a:r>
            <a:endParaRPr lang="en-US" altLang="zh-CN" sz="28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082E37EB-BA9A-FD49-AAEA-09E7A815F589}"/>
              </a:ext>
            </a:extLst>
          </p:cNvPr>
          <p:cNvSpPr txBox="1"/>
          <p:nvPr/>
        </p:nvSpPr>
        <p:spPr>
          <a:xfrm>
            <a:off x="106715" y="1117241"/>
            <a:ext cx="8341093"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网络节点设备之间的分布</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连接情况及各节点间的关系图。</a:t>
            </a:r>
            <a:endParaRPr lang="en-US" altLang="zh-CN" sz="2400" b="1"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94ED9BE5-159E-1418-74E4-DE92745006A3}"/>
              </a:ext>
            </a:extLst>
          </p:cNvPr>
          <p:cNvSpPr txBox="1"/>
          <p:nvPr/>
        </p:nvSpPr>
        <p:spPr>
          <a:xfrm>
            <a:off x="106715" y="2321420"/>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2. </a:t>
            </a:r>
            <a:r>
              <a:rPr lang="zh-CN" altLang="en-US" sz="2800" b="1" dirty="0">
                <a:latin typeface="微软雅黑" panose="020B0503020204020204" pitchFamily="34" charset="-122"/>
                <a:ea typeface="微软雅黑" panose="020B0503020204020204" pitchFamily="34" charset="-122"/>
              </a:rPr>
              <a:t>常见网络拓扑：</a:t>
            </a:r>
            <a:endParaRPr lang="en-US" altLang="zh-CN" sz="2800" b="1"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A4D00102-3B94-0EB8-831D-A0CEBFC3BB31}"/>
              </a:ext>
            </a:extLst>
          </p:cNvPr>
          <p:cNvSpPr txBox="1"/>
          <p:nvPr/>
        </p:nvSpPr>
        <p:spPr>
          <a:xfrm>
            <a:off x="106715" y="3007128"/>
            <a:ext cx="2075376" cy="2797048"/>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线型网络</a:t>
            </a:r>
            <a:endParaRPr lang="en-US" altLang="zh-CN" sz="2400" b="1" dirty="0">
              <a:latin typeface="微软雅黑" panose="020B0503020204020204" pitchFamily="34" charset="-122"/>
              <a:ea typeface="微软雅黑" panose="020B0503020204020204" pitchFamily="34" charset="-122"/>
            </a:endParaRPr>
          </a:p>
          <a:p>
            <a:pPr>
              <a:lnSpc>
                <a:spcPct val="150000"/>
              </a:lnSpc>
            </a:pPr>
            <a:r>
              <a:rPr lang="zh-CN" altLang="en-US" sz="2400" b="1" dirty="0">
                <a:latin typeface="微软雅黑" panose="020B0503020204020204" pitchFamily="34" charset="-122"/>
                <a:ea typeface="微软雅黑" panose="020B0503020204020204" pitchFamily="34" charset="-122"/>
              </a:rPr>
              <a:t>星形网络</a:t>
            </a:r>
            <a:endParaRPr lang="en-US" altLang="zh-CN" sz="2400" b="1" dirty="0">
              <a:latin typeface="微软雅黑" panose="020B0503020204020204" pitchFamily="34" charset="-122"/>
              <a:ea typeface="微软雅黑" panose="020B0503020204020204" pitchFamily="34" charset="-122"/>
            </a:endParaRPr>
          </a:p>
          <a:p>
            <a:pPr>
              <a:lnSpc>
                <a:spcPct val="150000"/>
              </a:lnSpc>
            </a:pPr>
            <a:r>
              <a:rPr lang="zh-CN" altLang="en-US" sz="2400" b="1" dirty="0">
                <a:latin typeface="微软雅黑" panose="020B0503020204020204" pitchFamily="34" charset="-122"/>
                <a:ea typeface="微软雅黑" panose="020B0503020204020204" pitchFamily="34" charset="-122"/>
              </a:rPr>
              <a:t>环形网络</a:t>
            </a:r>
            <a:endParaRPr lang="en-US" altLang="zh-CN" sz="2400" b="1" dirty="0">
              <a:latin typeface="微软雅黑" panose="020B0503020204020204" pitchFamily="34" charset="-122"/>
              <a:ea typeface="微软雅黑" panose="020B0503020204020204" pitchFamily="34" charset="-122"/>
            </a:endParaRPr>
          </a:p>
          <a:p>
            <a:pPr>
              <a:lnSpc>
                <a:spcPct val="150000"/>
              </a:lnSpc>
            </a:pPr>
            <a:r>
              <a:rPr lang="zh-CN" altLang="en-US" sz="2400" b="1" dirty="0">
                <a:latin typeface="微软雅黑" panose="020B0503020204020204" pitchFamily="34" charset="-122"/>
                <a:ea typeface="微软雅黑" panose="020B0503020204020204" pitchFamily="34" charset="-122"/>
              </a:rPr>
              <a:t>网状网络</a:t>
            </a:r>
            <a:endParaRPr lang="en-US" altLang="zh-CN" sz="2400" b="1" dirty="0">
              <a:latin typeface="微软雅黑" panose="020B0503020204020204" pitchFamily="34" charset="-122"/>
              <a:ea typeface="微软雅黑" panose="020B0503020204020204" pitchFamily="34" charset="-122"/>
            </a:endParaRPr>
          </a:p>
          <a:p>
            <a:pPr>
              <a:lnSpc>
                <a:spcPct val="150000"/>
              </a:lnSpc>
            </a:pPr>
            <a:r>
              <a:rPr lang="zh-CN" altLang="en-US" sz="2400" b="1" dirty="0">
                <a:latin typeface="微软雅黑" panose="020B0503020204020204" pitchFamily="34" charset="-122"/>
                <a:ea typeface="微软雅黑" panose="020B0503020204020204" pitchFamily="34" charset="-122"/>
              </a:rPr>
              <a:t>混合型网络</a:t>
            </a:r>
            <a:endParaRPr lang="en-US" altLang="zh-CN" sz="2400" b="1"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A819EEC7-6A98-4E11-8678-B6A9E74E3615}"/>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1.3 </a:t>
            </a:r>
            <a:r>
              <a:rPr lang="zh-CN" altLang="en-US" b="1" dirty="0">
                <a:latin typeface="Times New Roman" panose="02020603050405020304" pitchFamily="18" charset="0"/>
                <a:cs typeface="Times New Roman" panose="02020603050405020304" pitchFamily="18" charset="0"/>
              </a:rPr>
              <a:t>无线传感器网络拓扑</a:t>
            </a:r>
          </a:p>
        </p:txBody>
      </p:sp>
    </p:spTree>
    <p:extLst>
      <p:ext uri="{BB962C8B-B14F-4D97-AF65-F5344CB8AC3E}">
        <p14:creationId xmlns:p14="http://schemas.microsoft.com/office/powerpoint/2010/main" val="1461821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433CE-83F9-C11D-B519-C4A88A35CA11}"/>
            </a:ext>
          </a:extLst>
        </p:cNvPr>
        <p:cNvGrpSpPr/>
        <p:nvPr/>
      </p:nvGrpSpPr>
      <p:grpSpPr>
        <a:xfrm>
          <a:off x="0" y="0"/>
          <a:ext cx="0" cy="0"/>
          <a:chOff x="0" y="0"/>
          <a:chExt cx="0" cy="0"/>
        </a:xfrm>
      </p:grpSpPr>
      <p:sp>
        <p:nvSpPr>
          <p:cNvPr id="15" name="灯片编号占位符 3">
            <a:extLst>
              <a:ext uri="{FF2B5EF4-FFF2-40B4-BE49-F238E27FC236}">
                <a16:creationId xmlns:a16="http://schemas.microsoft.com/office/drawing/2014/main" id="{B2E781AE-0803-C2E1-83CB-B33B73B27809}"/>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18</a:t>
            </a:fld>
            <a:endParaRPr lang="zh-CN" altLang="en-US"/>
          </a:p>
        </p:txBody>
      </p:sp>
      <p:sp>
        <p:nvSpPr>
          <p:cNvPr id="7" name="文本框 6">
            <a:extLst>
              <a:ext uri="{FF2B5EF4-FFF2-40B4-BE49-F238E27FC236}">
                <a16:creationId xmlns:a16="http://schemas.microsoft.com/office/drawing/2014/main" id="{755CCCD3-F0A3-529A-A8EB-CA12F968AB0B}"/>
              </a:ext>
            </a:extLst>
          </p:cNvPr>
          <p:cNvSpPr txBox="1"/>
          <p:nvPr/>
        </p:nvSpPr>
        <p:spPr>
          <a:xfrm>
            <a:off x="106716" y="537644"/>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1. </a:t>
            </a:r>
            <a:r>
              <a:rPr lang="zh-CN" altLang="en-US" sz="2800" b="1" dirty="0">
                <a:latin typeface="微软雅黑" panose="020B0503020204020204" pitchFamily="34" charset="-122"/>
                <a:ea typeface="微软雅黑" panose="020B0503020204020204" pitchFamily="34" charset="-122"/>
              </a:rPr>
              <a:t>网络拓扑：</a:t>
            </a:r>
            <a:endParaRPr lang="en-US" altLang="zh-CN" sz="28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082E37EB-BA9A-FD49-AAEA-09E7A815F589}"/>
              </a:ext>
            </a:extLst>
          </p:cNvPr>
          <p:cNvSpPr txBox="1"/>
          <p:nvPr/>
        </p:nvSpPr>
        <p:spPr>
          <a:xfrm>
            <a:off x="106715" y="1117241"/>
            <a:ext cx="8341093"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网络节点设备之间的分布</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连接情况及各节点间的关系图。</a:t>
            </a:r>
            <a:endParaRPr lang="en-US" altLang="zh-CN" sz="2400" b="1"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94ED9BE5-159E-1418-74E4-DE92745006A3}"/>
              </a:ext>
            </a:extLst>
          </p:cNvPr>
          <p:cNvSpPr txBox="1"/>
          <p:nvPr/>
        </p:nvSpPr>
        <p:spPr>
          <a:xfrm>
            <a:off x="106715" y="2321420"/>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2. </a:t>
            </a:r>
            <a:r>
              <a:rPr lang="zh-CN" altLang="en-US" sz="2800" b="1" dirty="0">
                <a:latin typeface="微软雅黑" panose="020B0503020204020204" pitchFamily="34" charset="-122"/>
                <a:ea typeface="微软雅黑" panose="020B0503020204020204" pitchFamily="34" charset="-122"/>
              </a:rPr>
              <a:t>常见网络拓扑：</a:t>
            </a:r>
            <a:endParaRPr lang="en-US" altLang="zh-CN" sz="2800" b="1"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A4D00102-3B94-0EB8-831D-A0CEBFC3BB31}"/>
              </a:ext>
            </a:extLst>
          </p:cNvPr>
          <p:cNvSpPr txBox="1"/>
          <p:nvPr/>
        </p:nvSpPr>
        <p:spPr>
          <a:xfrm>
            <a:off x="106715" y="3007128"/>
            <a:ext cx="2075376" cy="2797048"/>
          </a:xfrm>
          <a:prstGeom prst="rect">
            <a:avLst/>
          </a:prstGeom>
          <a:noFill/>
          <a:ln w="19050">
            <a:noFill/>
          </a:ln>
        </p:spPr>
        <p:txBody>
          <a:bodyPr wrap="square" rtlCol="0">
            <a:spAutoFit/>
          </a:bodyPr>
          <a:lstStyle/>
          <a:p>
            <a:pPr>
              <a:lnSpc>
                <a:spcPct val="150000"/>
              </a:lnSpc>
            </a:pPr>
            <a:r>
              <a:rPr lang="zh-CN" altLang="en-US" sz="2400" b="1" dirty="0">
                <a:solidFill>
                  <a:srgbClr val="C00000"/>
                </a:solidFill>
                <a:latin typeface="微软雅黑" panose="020B0503020204020204" pitchFamily="34" charset="-122"/>
                <a:ea typeface="微软雅黑" panose="020B0503020204020204" pitchFamily="34" charset="-122"/>
              </a:rPr>
              <a:t>线型网络</a:t>
            </a:r>
            <a:endParaRPr lang="en-US" altLang="zh-CN" sz="2400" b="1" dirty="0">
              <a:solidFill>
                <a:srgbClr val="C00000"/>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星形网络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环形网络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网状网络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混合型网络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D8E24FE6-08CD-488B-9C55-3BFF7E42A6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2426" y="3607031"/>
            <a:ext cx="6292850" cy="1581150"/>
          </a:xfrm>
          <a:prstGeom prst="rect">
            <a:avLst/>
          </a:prstGeom>
        </p:spPr>
      </p:pic>
      <p:sp>
        <p:nvSpPr>
          <p:cNvPr id="11" name="文本框 10">
            <a:extLst>
              <a:ext uri="{FF2B5EF4-FFF2-40B4-BE49-F238E27FC236}">
                <a16:creationId xmlns:a16="http://schemas.microsoft.com/office/drawing/2014/main" id="{52970B97-FD9E-4D00-9989-68E2F03E09FF}"/>
              </a:ext>
            </a:extLst>
          </p:cNvPr>
          <p:cNvSpPr txBox="1"/>
          <p:nvPr/>
        </p:nvSpPr>
        <p:spPr>
          <a:xfrm>
            <a:off x="194551" y="0"/>
            <a:ext cx="488660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2" name="文本框 11">
            <a:extLst>
              <a:ext uri="{FF2B5EF4-FFF2-40B4-BE49-F238E27FC236}">
                <a16:creationId xmlns:a16="http://schemas.microsoft.com/office/drawing/2014/main" id="{4E03187B-A077-45E3-831D-D7DA33856F9E}"/>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1.3 </a:t>
            </a:r>
            <a:r>
              <a:rPr lang="zh-CN" altLang="en-US" b="1" dirty="0">
                <a:latin typeface="Times New Roman" panose="02020603050405020304" pitchFamily="18" charset="0"/>
                <a:cs typeface="Times New Roman" panose="02020603050405020304" pitchFamily="18" charset="0"/>
              </a:rPr>
              <a:t>无线传感器网络拓扑</a:t>
            </a:r>
          </a:p>
        </p:txBody>
      </p:sp>
    </p:spTree>
    <p:extLst>
      <p:ext uri="{BB962C8B-B14F-4D97-AF65-F5344CB8AC3E}">
        <p14:creationId xmlns:p14="http://schemas.microsoft.com/office/powerpoint/2010/main" val="1244026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433CE-83F9-C11D-B519-C4A88A35CA11}"/>
            </a:ext>
          </a:extLst>
        </p:cNvPr>
        <p:cNvGrpSpPr/>
        <p:nvPr/>
      </p:nvGrpSpPr>
      <p:grpSpPr>
        <a:xfrm>
          <a:off x="0" y="0"/>
          <a:ext cx="0" cy="0"/>
          <a:chOff x="0" y="0"/>
          <a:chExt cx="0" cy="0"/>
        </a:xfrm>
      </p:grpSpPr>
      <p:sp>
        <p:nvSpPr>
          <p:cNvPr id="15" name="灯片编号占位符 3">
            <a:extLst>
              <a:ext uri="{FF2B5EF4-FFF2-40B4-BE49-F238E27FC236}">
                <a16:creationId xmlns:a16="http://schemas.microsoft.com/office/drawing/2014/main" id="{B2E781AE-0803-C2E1-83CB-B33B73B27809}"/>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19</a:t>
            </a:fld>
            <a:endParaRPr lang="zh-CN" altLang="en-US"/>
          </a:p>
        </p:txBody>
      </p:sp>
      <p:sp>
        <p:nvSpPr>
          <p:cNvPr id="7" name="文本框 6">
            <a:extLst>
              <a:ext uri="{FF2B5EF4-FFF2-40B4-BE49-F238E27FC236}">
                <a16:creationId xmlns:a16="http://schemas.microsoft.com/office/drawing/2014/main" id="{755CCCD3-F0A3-529A-A8EB-CA12F968AB0B}"/>
              </a:ext>
            </a:extLst>
          </p:cNvPr>
          <p:cNvSpPr txBox="1"/>
          <p:nvPr/>
        </p:nvSpPr>
        <p:spPr>
          <a:xfrm>
            <a:off x="106716" y="537644"/>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1. </a:t>
            </a:r>
            <a:r>
              <a:rPr lang="zh-CN" altLang="en-US" sz="2800" b="1" dirty="0">
                <a:latin typeface="微软雅黑" panose="020B0503020204020204" pitchFamily="34" charset="-122"/>
                <a:ea typeface="微软雅黑" panose="020B0503020204020204" pitchFamily="34" charset="-122"/>
              </a:rPr>
              <a:t>网络拓扑：</a:t>
            </a:r>
            <a:endParaRPr lang="en-US" altLang="zh-CN" sz="28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082E37EB-BA9A-FD49-AAEA-09E7A815F589}"/>
              </a:ext>
            </a:extLst>
          </p:cNvPr>
          <p:cNvSpPr txBox="1"/>
          <p:nvPr/>
        </p:nvSpPr>
        <p:spPr>
          <a:xfrm>
            <a:off x="106715" y="1117241"/>
            <a:ext cx="8341093"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网络节点设备之间的分布</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连接情况及各节点间的关系图。</a:t>
            </a:r>
            <a:endParaRPr lang="en-US" altLang="zh-CN" sz="2400" b="1"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94ED9BE5-159E-1418-74E4-DE92745006A3}"/>
              </a:ext>
            </a:extLst>
          </p:cNvPr>
          <p:cNvSpPr txBox="1"/>
          <p:nvPr/>
        </p:nvSpPr>
        <p:spPr>
          <a:xfrm>
            <a:off x="106715" y="2321420"/>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2. </a:t>
            </a:r>
            <a:r>
              <a:rPr lang="zh-CN" altLang="en-US" sz="2800" b="1" dirty="0">
                <a:latin typeface="微软雅黑" panose="020B0503020204020204" pitchFamily="34" charset="-122"/>
                <a:ea typeface="微软雅黑" panose="020B0503020204020204" pitchFamily="34" charset="-122"/>
              </a:rPr>
              <a:t>常见网络拓扑：</a:t>
            </a:r>
            <a:endParaRPr lang="en-US" altLang="zh-CN" sz="2800" b="1"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A4D00102-3B94-0EB8-831D-A0CEBFC3BB31}"/>
              </a:ext>
            </a:extLst>
          </p:cNvPr>
          <p:cNvSpPr txBox="1"/>
          <p:nvPr/>
        </p:nvSpPr>
        <p:spPr>
          <a:xfrm>
            <a:off x="106715" y="3007128"/>
            <a:ext cx="2075376" cy="2797048"/>
          </a:xfrm>
          <a:prstGeom prst="rect">
            <a:avLst/>
          </a:prstGeom>
          <a:noFill/>
          <a:ln w="19050">
            <a:noFill/>
          </a:ln>
        </p:spPr>
        <p:txBody>
          <a:bodyPr wrap="square" rtlCol="0">
            <a:spAutoFit/>
          </a:bodyPr>
          <a:lstStyle/>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线型网络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rgbClr val="C00000"/>
                </a:solidFill>
                <a:latin typeface="微软雅黑" panose="020B0503020204020204" pitchFamily="34" charset="-122"/>
                <a:ea typeface="微软雅黑" panose="020B0503020204020204" pitchFamily="34" charset="-122"/>
              </a:rPr>
              <a:t>星形网络</a:t>
            </a:r>
            <a:endParaRPr lang="en-US" altLang="zh-CN" sz="2400" b="1" dirty="0">
              <a:solidFill>
                <a:srgbClr val="C00000"/>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环形网络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网状网络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混合型网络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FC16EC05-BC4B-433F-9D53-7E6AC8031E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5432" y="2419709"/>
            <a:ext cx="3378200" cy="3321050"/>
          </a:xfrm>
          <a:prstGeom prst="rect">
            <a:avLst/>
          </a:prstGeom>
        </p:spPr>
      </p:pic>
      <p:sp>
        <p:nvSpPr>
          <p:cNvPr id="11" name="文本框 10">
            <a:extLst>
              <a:ext uri="{FF2B5EF4-FFF2-40B4-BE49-F238E27FC236}">
                <a16:creationId xmlns:a16="http://schemas.microsoft.com/office/drawing/2014/main" id="{A1A07FA8-DCAD-4741-B4AB-CB98A89B2100}"/>
              </a:ext>
            </a:extLst>
          </p:cNvPr>
          <p:cNvSpPr txBox="1"/>
          <p:nvPr/>
        </p:nvSpPr>
        <p:spPr>
          <a:xfrm>
            <a:off x="194551" y="0"/>
            <a:ext cx="488660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2" name="文本框 11">
            <a:extLst>
              <a:ext uri="{FF2B5EF4-FFF2-40B4-BE49-F238E27FC236}">
                <a16:creationId xmlns:a16="http://schemas.microsoft.com/office/drawing/2014/main" id="{8B81ADD1-2663-46B5-B38F-538CD9AB9212}"/>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1.3 </a:t>
            </a:r>
            <a:r>
              <a:rPr lang="zh-CN" altLang="en-US" b="1" dirty="0">
                <a:latin typeface="Times New Roman" panose="02020603050405020304" pitchFamily="18" charset="0"/>
                <a:cs typeface="Times New Roman" panose="02020603050405020304" pitchFamily="18" charset="0"/>
              </a:rPr>
              <a:t>无线传感器网络拓扑</a:t>
            </a:r>
          </a:p>
        </p:txBody>
      </p:sp>
    </p:spTree>
    <p:extLst>
      <p:ext uri="{BB962C8B-B14F-4D97-AF65-F5344CB8AC3E}">
        <p14:creationId xmlns:p14="http://schemas.microsoft.com/office/powerpoint/2010/main" val="187603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433CE-83F9-C11D-B519-C4A88A35CA11}"/>
            </a:ext>
          </a:extLst>
        </p:cNvPr>
        <p:cNvGrpSpPr/>
        <p:nvPr/>
      </p:nvGrpSpPr>
      <p:grpSpPr>
        <a:xfrm>
          <a:off x="0" y="0"/>
          <a:ext cx="0" cy="0"/>
          <a:chOff x="0" y="0"/>
          <a:chExt cx="0" cy="0"/>
        </a:xfrm>
      </p:grpSpPr>
      <p:sp>
        <p:nvSpPr>
          <p:cNvPr id="15" name="灯片编号占位符 3">
            <a:extLst>
              <a:ext uri="{FF2B5EF4-FFF2-40B4-BE49-F238E27FC236}">
                <a16:creationId xmlns:a16="http://schemas.microsoft.com/office/drawing/2014/main" id="{B2E781AE-0803-C2E1-83CB-B33B73B27809}"/>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20</a:t>
            </a:fld>
            <a:endParaRPr lang="zh-CN" altLang="en-US"/>
          </a:p>
        </p:txBody>
      </p:sp>
      <p:sp>
        <p:nvSpPr>
          <p:cNvPr id="7" name="文本框 6">
            <a:extLst>
              <a:ext uri="{FF2B5EF4-FFF2-40B4-BE49-F238E27FC236}">
                <a16:creationId xmlns:a16="http://schemas.microsoft.com/office/drawing/2014/main" id="{755CCCD3-F0A3-529A-A8EB-CA12F968AB0B}"/>
              </a:ext>
            </a:extLst>
          </p:cNvPr>
          <p:cNvSpPr txBox="1"/>
          <p:nvPr/>
        </p:nvSpPr>
        <p:spPr>
          <a:xfrm>
            <a:off x="106716" y="537644"/>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1. </a:t>
            </a:r>
            <a:r>
              <a:rPr lang="zh-CN" altLang="en-US" sz="2800" b="1" dirty="0">
                <a:latin typeface="微软雅黑" panose="020B0503020204020204" pitchFamily="34" charset="-122"/>
                <a:ea typeface="微软雅黑" panose="020B0503020204020204" pitchFamily="34" charset="-122"/>
              </a:rPr>
              <a:t>网络拓扑：</a:t>
            </a:r>
            <a:endParaRPr lang="en-US" altLang="zh-CN" sz="28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082E37EB-BA9A-FD49-AAEA-09E7A815F589}"/>
              </a:ext>
            </a:extLst>
          </p:cNvPr>
          <p:cNvSpPr txBox="1"/>
          <p:nvPr/>
        </p:nvSpPr>
        <p:spPr>
          <a:xfrm>
            <a:off x="106715" y="1117241"/>
            <a:ext cx="8341093"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网络节点设备之间的分布</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连接情况及各节点间的关系图。</a:t>
            </a:r>
            <a:endParaRPr lang="en-US" altLang="zh-CN" sz="2400" b="1"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94ED9BE5-159E-1418-74E4-DE92745006A3}"/>
              </a:ext>
            </a:extLst>
          </p:cNvPr>
          <p:cNvSpPr txBox="1"/>
          <p:nvPr/>
        </p:nvSpPr>
        <p:spPr>
          <a:xfrm>
            <a:off x="106715" y="2321420"/>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2. </a:t>
            </a:r>
            <a:r>
              <a:rPr lang="zh-CN" altLang="en-US" sz="2800" b="1" dirty="0">
                <a:latin typeface="微软雅黑" panose="020B0503020204020204" pitchFamily="34" charset="-122"/>
                <a:ea typeface="微软雅黑" panose="020B0503020204020204" pitchFamily="34" charset="-122"/>
              </a:rPr>
              <a:t>常见网络拓扑：</a:t>
            </a:r>
            <a:endParaRPr lang="en-US" altLang="zh-CN" sz="2800" b="1"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A4D00102-3B94-0EB8-831D-A0CEBFC3BB31}"/>
              </a:ext>
            </a:extLst>
          </p:cNvPr>
          <p:cNvSpPr txBox="1"/>
          <p:nvPr/>
        </p:nvSpPr>
        <p:spPr>
          <a:xfrm>
            <a:off x="106715" y="3007128"/>
            <a:ext cx="2075376" cy="2797048"/>
          </a:xfrm>
          <a:prstGeom prst="rect">
            <a:avLst/>
          </a:prstGeom>
          <a:noFill/>
          <a:ln w="19050">
            <a:noFill/>
          </a:ln>
        </p:spPr>
        <p:txBody>
          <a:bodyPr wrap="square" rtlCol="0">
            <a:spAutoFit/>
          </a:bodyPr>
          <a:lstStyle/>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线型网络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星形网络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rgbClr val="C00000"/>
                </a:solidFill>
                <a:latin typeface="微软雅黑" panose="020B0503020204020204" pitchFamily="34" charset="-122"/>
                <a:ea typeface="微软雅黑" panose="020B0503020204020204" pitchFamily="34" charset="-122"/>
              </a:rPr>
              <a:t>环形网络</a:t>
            </a:r>
            <a:endParaRPr lang="en-US" altLang="zh-CN" sz="2400" b="1" dirty="0">
              <a:solidFill>
                <a:srgbClr val="C00000"/>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网状网络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混合型网络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7DC0FF88-A856-49D8-96AE-4D00610A8A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2529" y="2259866"/>
            <a:ext cx="3397250" cy="3517900"/>
          </a:xfrm>
          <a:prstGeom prst="rect">
            <a:avLst/>
          </a:prstGeom>
        </p:spPr>
      </p:pic>
      <p:sp>
        <p:nvSpPr>
          <p:cNvPr id="11" name="文本框 10">
            <a:extLst>
              <a:ext uri="{FF2B5EF4-FFF2-40B4-BE49-F238E27FC236}">
                <a16:creationId xmlns:a16="http://schemas.microsoft.com/office/drawing/2014/main" id="{FE80CAD0-67F7-49EF-97A8-B64062FBA6C7}"/>
              </a:ext>
            </a:extLst>
          </p:cNvPr>
          <p:cNvSpPr txBox="1"/>
          <p:nvPr/>
        </p:nvSpPr>
        <p:spPr>
          <a:xfrm>
            <a:off x="194551" y="0"/>
            <a:ext cx="488660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2" name="文本框 11">
            <a:extLst>
              <a:ext uri="{FF2B5EF4-FFF2-40B4-BE49-F238E27FC236}">
                <a16:creationId xmlns:a16="http://schemas.microsoft.com/office/drawing/2014/main" id="{9023D1A1-80F7-45B4-B9D4-23B6F3FF424A}"/>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1.3 </a:t>
            </a:r>
            <a:r>
              <a:rPr lang="zh-CN" altLang="en-US" b="1" dirty="0">
                <a:latin typeface="Times New Roman" panose="02020603050405020304" pitchFamily="18" charset="0"/>
                <a:cs typeface="Times New Roman" panose="02020603050405020304" pitchFamily="18" charset="0"/>
              </a:rPr>
              <a:t>无线传感器网络拓扑</a:t>
            </a:r>
          </a:p>
        </p:txBody>
      </p:sp>
    </p:spTree>
    <p:extLst>
      <p:ext uri="{BB962C8B-B14F-4D97-AF65-F5344CB8AC3E}">
        <p14:creationId xmlns:p14="http://schemas.microsoft.com/office/powerpoint/2010/main" val="10390356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433CE-83F9-C11D-B519-C4A88A35CA11}"/>
            </a:ext>
          </a:extLst>
        </p:cNvPr>
        <p:cNvGrpSpPr/>
        <p:nvPr/>
      </p:nvGrpSpPr>
      <p:grpSpPr>
        <a:xfrm>
          <a:off x="0" y="0"/>
          <a:ext cx="0" cy="0"/>
          <a:chOff x="0" y="0"/>
          <a:chExt cx="0" cy="0"/>
        </a:xfrm>
      </p:grpSpPr>
      <p:sp>
        <p:nvSpPr>
          <p:cNvPr id="15" name="灯片编号占位符 3">
            <a:extLst>
              <a:ext uri="{FF2B5EF4-FFF2-40B4-BE49-F238E27FC236}">
                <a16:creationId xmlns:a16="http://schemas.microsoft.com/office/drawing/2014/main" id="{B2E781AE-0803-C2E1-83CB-B33B73B27809}"/>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21</a:t>
            </a:fld>
            <a:endParaRPr lang="zh-CN" altLang="en-US"/>
          </a:p>
        </p:txBody>
      </p:sp>
      <p:sp>
        <p:nvSpPr>
          <p:cNvPr id="7" name="文本框 6">
            <a:extLst>
              <a:ext uri="{FF2B5EF4-FFF2-40B4-BE49-F238E27FC236}">
                <a16:creationId xmlns:a16="http://schemas.microsoft.com/office/drawing/2014/main" id="{755CCCD3-F0A3-529A-A8EB-CA12F968AB0B}"/>
              </a:ext>
            </a:extLst>
          </p:cNvPr>
          <p:cNvSpPr txBox="1"/>
          <p:nvPr/>
        </p:nvSpPr>
        <p:spPr>
          <a:xfrm>
            <a:off x="106716" y="537644"/>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1. </a:t>
            </a:r>
            <a:r>
              <a:rPr lang="zh-CN" altLang="en-US" sz="2800" b="1" dirty="0">
                <a:latin typeface="微软雅黑" panose="020B0503020204020204" pitchFamily="34" charset="-122"/>
                <a:ea typeface="微软雅黑" panose="020B0503020204020204" pitchFamily="34" charset="-122"/>
              </a:rPr>
              <a:t>网络拓扑：</a:t>
            </a:r>
            <a:endParaRPr lang="en-US" altLang="zh-CN" sz="28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082E37EB-BA9A-FD49-AAEA-09E7A815F589}"/>
              </a:ext>
            </a:extLst>
          </p:cNvPr>
          <p:cNvSpPr txBox="1"/>
          <p:nvPr/>
        </p:nvSpPr>
        <p:spPr>
          <a:xfrm>
            <a:off x="106715" y="1117241"/>
            <a:ext cx="8341093"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网络节点设备之间的分布</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连接情况及各节点间的关系图。</a:t>
            </a:r>
            <a:endParaRPr lang="en-US" altLang="zh-CN" sz="2400" b="1"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94ED9BE5-159E-1418-74E4-DE92745006A3}"/>
              </a:ext>
            </a:extLst>
          </p:cNvPr>
          <p:cNvSpPr txBox="1"/>
          <p:nvPr/>
        </p:nvSpPr>
        <p:spPr>
          <a:xfrm>
            <a:off x="106715" y="2321420"/>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2. </a:t>
            </a:r>
            <a:r>
              <a:rPr lang="zh-CN" altLang="en-US" sz="2800" b="1" dirty="0">
                <a:latin typeface="微软雅黑" panose="020B0503020204020204" pitchFamily="34" charset="-122"/>
                <a:ea typeface="微软雅黑" panose="020B0503020204020204" pitchFamily="34" charset="-122"/>
              </a:rPr>
              <a:t>常见网络拓扑：</a:t>
            </a:r>
            <a:endParaRPr lang="en-US" altLang="zh-CN" sz="2800" b="1"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A4D00102-3B94-0EB8-831D-A0CEBFC3BB31}"/>
              </a:ext>
            </a:extLst>
          </p:cNvPr>
          <p:cNvSpPr txBox="1"/>
          <p:nvPr/>
        </p:nvSpPr>
        <p:spPr>
          <a:xfrm>
            <a:off x="106715" y="3007128"/>
            <a:ext cx="2075376" cy="2797048"/>
          </a:xfrm>
          <a:prstGeom prst="rect">
            <a:avLst/>
          </a:prstGeom>
          <a:noFill/>
          <a:ln w="19050">
            <a:noFill/>
          </a:ln>
        </p:spPr>
        <p:txBody>
          <a:bodyPr wrap="square" rtlCol="0">
            <a:spAutoFit/>
          </a:bodyPr>
          <a:lstStyle/>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线型网络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星形网络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环形网络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rgbClr val="C00000"/>
                </a:solidFill>
                <a:latin typeface="微软雅黑" panose="020B0503020204020204" pitchFamily="34" charset="-122"/>
                <a:ea typeface="微软雅黑" panose="020B0503020204020204" pitchFamily="34" charset="-122"/>
              </a:rPr>
              <a:t>网状网络</a:t>
            </a:r>
            <a:endParaRPr lang="en-US" altLang="zh-CN" sz="2400" b="1" dirty="0">
              <a:solidFill>
                <a:srgbClr val="C00000"/>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混合型网络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F63A5756-D557-44B7-AA47-DA40478D68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2529" y="2222859"/>
            <a:ext cx="3397250" cy="3517900"/>
          </a:xfrm>
          <a:prstGeom prst="rect">
            <a:avLst/>
          </a:prstGeom>
        </p:spPr>
      </p:pic>
      <p:sp>
        <p:nvSpPr>
          <p:cNvPr id="11" name="文本框 10">
            <a:extLst>
              <a:ext uri="{FF2B5EF4-FFF2-40B4-BE49-F238E27FC236}">
                <a16:creationId xmlns:a16="http://schemas.microsoft.com/office/drawing/2014/main" id="{52BB8B74-F48C-4C0B-8925-404C35D21ABA}"/>
              </a:ext>
            </a:extLst>
          </p:cNvPr>
          <p:cNvSpPr txBox="1"/>
          <p:nvPr/>
        </p:nvSpPr>
        <p:spPr>
          <a:xfrm>
            <a:off x="194551" y="0"/>
            <a:ext cx="488660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2" name="文本框 11">
            <a:extLst>
              <a:ext uri="{FF2B5EF4-FFF2-40B4-BE49-F238E27FC236}">
                <a16:creationId xmlns:a16="http://schemas.microsoft.com/office/drawing/2014/main" id="{9667D1F0-B99E-41EB-9122-E285CA80BA85}"/>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1.3 </a:t>
            </a:r>
            <a:r>
              <a:rPr lang="zh-CN" altLang="en-US" b="1" dirty="0">
                <a:latin typeface="Times New Roman" panose="02020603050405020304" pitchFamily="18" charset="0"/>
                <a:cs typeface="Times New Roman" panose="02020603050405020304" pitchFamily="18" charset="0"/>
              </a:rPr>
              <a:t>无线传感器网络拓扑</a:t>
            </a:r>
          </a:p>
        </p:txBody>
      </p:sp>
    </p:spTree>
    <p:extLst>
      <p:ext uri="{BB962C8B-B14F-4D97-AF65-F5344CB8AC3E}">
        <p14:creationId xmlns:p14="http://schemas.microsoft.com/office/powerpoint/2010/main" val="2886963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433CE-83F9-C11D-B519-C4A88A35CA11}"/>
            </a:ext>
          </a:extLst>
        </p:cNvPr>
        <p:cNvGrpSpPr/>
        <p:nvPr/>
      </p:nvGrpSpPr>
      <p:grpSpPr>
        <a:xfrm>
          <a:off x="0" y="0"/>
          <a:ext cx="0" cy="0"/>
          <a:chOff x="0" y="0"/>
          <a:chExt cx="0" cy="0"/>
        </a:xfrm>
      </p:grpSpPr>
      <p:sp>
        <p:nvSpPr>
          <p:cNvPr id="15" name="灯片编号占位符 3">
            <a:extLst>
              <a:ext uri="{FF2B5EF4-FFF2-40B4-BE49-F238E27FC236}">
                <a16:creationId xmlns:a16="http://schemas.microsoft.com/office/drawing/2014/main" id="{B2E781AE-0803-C2E1-83CB-B33B73B27809}"/>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22</a:t>
            </a:fld>
            <a:endParaRPr lang="zh-CN" altLang="en-US"/>
          </a:p>
        </p:txBody>
      </p:sp>
      <p:sp>
        <p:nvSpPr>
          <p:cNvPr id="7" name="文本框 6">
            <a:extLst>
              <a:ext uri="{FF2B5EF4-FFF2-40B4-BE49-F238E27FC236}">
                <a16:creationId xmlns:a16="http://schemas.microsoft.com/office/drawing/2014/main" id="{755CCCD3-F0A3-529A-A8EB-CA12F968AB0B}"/>
              </a:ext>
            </a:extLst>
          </p:cNvPr>
          <p:cNvSpPr txBox="1"/>
          <p:nvPr/>
        </p:nvSpPr>
        <p:spPr>
          <a:xfrm>
            <a:off x="106716" y="537644"/>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1. </a:t>
            </a:r>
            <a:r>
              <a:rPr lang="zh-CN" altLang="en-US" sz="2800" b="1" dirty="0">
                <a:latin typeface="微软雅黑" panose="020B0503020204020204" pitchFamily="34" charset="-122"/>
                <a:ea typeface="微软雅黑" panose="020B0503020204020204" pitchFamily="34" charset="-122"/>
              </a:rPr>
              <a:t>网络拓扑：</a:t>
            </a:r>
            <a:endParaRPr lang="en-US" altLang="zh-CN" sz="28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082E37EB-BA9A-FD49-AAEA-09E7A815F589}"/>
              </a:ext>
            </a:extLst>
          </p:cNvPr>
          <p:cNvSpPr txBox="1"/>
          <p:nvPr/>
        </p:nvSpPr>
        <p:spPr>
          <a:xfrm>
            <a:off x="106715" y="1117241"/>
            <a:ext cx="8341093"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网络节点设备之间的分布</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连接情况及各节点间的关系图。</a:t>
            </a:r>
            <a:endParaRPr lang="en-US" altLang="zh-CN" sz="2400" b="1"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94ED9BE5-159E-1418-74E4-DE92745006A3}"/>
              </a:ext>
            </a:extLst>
          </p:cNvPr>
          <p:cNvSpPr txBox="1"/>
          <p:nvPr/>
        </p:nvSpPr>
        <p:spPr>
          <a:xfrm>
            <a:off x="106715" y="2321420"/>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2. </a:t>
            </a:r>
            <a:r>
              <a:rPr lang="zh-CN" altLang="en-US" sz="2800" b="1" dirty="0">
                <a:latin typeface="微软雅黑" panose="020B0503020204020204" pitchFamily="34" charset="-122"/>
                <a:ea typeface="微软雅黑" panose="020B0503020204020204" pitchFamily="34" charset="-122"/>
              </a:rPr>
              <a:t>常见网络拓扑：</a:t>
            </a:r>
            <a:endParaRPr lang="en-US" altLang="zh-CN" sz="2800" b="1"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A4D00102-3B94-0EB8-831D-A0CEBFC3BB31}"/>
              </a:ext>
            </a:extLst>
          </p:cNvPr>
          <p:cNvSpPr txBox="1"/>
          <p:nvPr/>
        </p:nvSpPr>
        <p:spPr>
          <a:xfrm>
            <a:off x="106715" y="3007128"/>
            <a:ext cx="2075376" cy="2797048"/>
          </a:xfrm>
          <a:prstGeom prst="rect">
            <a:avLst/>
          </a:prstGeom>
          <a:noFill/>
          <a:ln w="19050">
            <a:noFill/>
          </a:ln>
        </p:spPr>
        <p:txBody>
          <a:bodyPr wrap="square" rtlCol="0">
            <a:spAutoFit/>
          </a:bodyPr>
          <a:lstStyle/>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线型网络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星形网络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环形网络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网状网络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rgbClr val="C00000"/>
                </a:solidFill>
                <a:latin typeface="微软雅黑" panose="020B0503020204020204" pitchFamily="34" charset="-122"/>
                <a:ea typeface="微软雅黑" panose="020B0503020204020204" pitchFamily="34" charset="-122"/>
              </a:rPr>
              <a:t>混合型网络</a:t>
            </a:r>
            <a:endParaRPr lang="en-US" altLang="zh-CN" sz="2400" b="1"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1086E454-CF0B-41AB-B287-EE66E824AB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7169" y="2585599"/>
            <a:ext cx="4902200" cy="3321050"/>
          </a:xfrm>
          <a:prstGeom prst="rect">
            <a:avLst/>
          </a:prstGeom>
        </p:spPr>
      </p:pic>
      <p:sp>
        <p:nvSpPr>
          <p:cNvPr id="11" name="文本框 10">
            <a:extLst>
              <a:ext uri="{FF2B5EF4-FFF2-40B4-BE49-F238E27FC236}">
                <a16:creationId xmlns:a16="http://schemas.microsoft.com/office/drawing/2014/main" id="{04DB7AAD-5A23-478E-A8F8-44BB372A7259}"/>
              </a:ext>
            </a:extLst>
          </p:cNvPr>
          <p:cNvSpPr txBox="1"/>
          <p:nvPr/>
        </p:nvSpPr>
        <p:spPr>
          <a:xfrm>
            <a:off x="194551" y="0"/>
            <a:ext cx="488660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2" name="文本框 11">
            <a:extLst>
              <a:ext uri="{FF2B5EF4-FFF2-40B4-BE49-F238E27FC236}">
                <a16:creationId xmlns:a16="http://schemas.microsoft.com/office/drawing/2014/main" id="{4DEC2E1E-653B-430C-BC32-7D53002B9961}"/>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1.3 </a:t>
            </a:r>
            <a:r>
              <a:rPr lang="zh-CN" altLang="en-US" b="1" dirty="0">
                <a:latin typeface="Times New Roman" panose="02020603050405020304" pitchFamily="18" charset="0"/>
                <a:cs typeface="Times New Roman" panose="02020603050405020304" pitchFamily="18" charset="0"/>
              </a:rPr>
              <a:t>无线传感器网络拓扑</a:t>
            </a:r>
          </a:p>
        </p:txBody>
      </p:sp>
    </p:spTree>
    <p:extLst>
      <p:ext uri="{BB962C8B-B14F-4D97-AF65-F5344CB8AC3E}">
        <p14:creationId xmlns:p14="http://schemas.microsoft.com/office/powerpoint/2010/main" val="624851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433CE-83F9-C11D-B519-C4A88A35CA11}"/>
            </a:ext>
          </a:extLst>
        </p:cNvPr>
        <p:cNvGrpSpPr/>
        <p:nvPr/>
      </p:nvGrpSpPr>
      <p:grpSpPr>
        <a:xfrm>
          <a:off x="0" y="0"/>
          <a:ext cx="0" cy="0"/>
          <a:chOff x="0" y="0"/>
          <a:chExt cx="0" cy="0"/>
        </a:xfrm>
      </p:grpSpPr>
      <p:sp>
        <p:nvSpPr>
          <p:cNvPr id="15" name="灯片编号占位符 3">
            <a:extLst>
              <a:ext uri="{FF2B5EF4-FFF2-40B4-BE49-F238E27FC236}">
                <a16:creationId xmlns:a16="http://schemas.microsoft.com/office/drawing/2014/main" id="{B2E781AE-0803-C2E1-83CB-B33B73B27809}"/>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23</a:t>
            </a:fld>
            <a:endParaRPr lang="zh-CN" altLang="en-US"/>
          </a:p>
        </p:txBody>
      </p:sp>
      <p:sp>
        <p:nvSpPr>
          <p:cNvPr id="7" name="文本框 6">
            <a:extLst>
              <a:ext uri="{FF2B5EF4-FFF2-40B4-BE49-F238E27FC236}">
                <a16:creationId xmlns:a16="http://schemas.microsoft.com/office/drawing/2014/main" id="{755CCCD3-F0A3-529A-A8EB-CA12F968AB0B}"/>
              </a:ext>
            </a:extLst>
          </p:cNvPr>
          <p:cNvSpPr txBox="1"/>
          <p:nvPr/>
        </p:nvSpPr>
        <p:spPr>
          <a:xfrm>
            <a:off x="106716" y="537644"/>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1. </a:t>
            </a:r>
            <a:r>
              <a:rPr lang="zh-CN" altLang="en-US" sz="2800" b="1" dirty="0">
                <a:latin typeface="微软雅黑" panose="020B0503020204020204" pitchFamily="34" charset="-122"/>
                <a:ea typeface="微软雅黑" panose="020B0503020204020204" pitchFamily="34" charset="-122"/>
              </a:rPr>
              <a:t>网络拓扑：</a:t>
            </a:r>
            <a:endParaRPr lang="en-US" altLang="zh-CN" sz="28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082E37EB-BA9A-FD49-AAEA-09E7A815F589}"/>
              </a:ext>
            </a:extLst>
          </p:cNvPr>
          <p:cNvSpPr txBox="1"/>
          <p:nvPr/>
        </p:nvSpPr>
        <p:spPr>
          <a:xfrm>
            <a:off x="106715" y="1117241"/>
            <a:ext cx="8341093"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网络节点设备之间的分布</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连接情况及各节点间的关系图。</a:t>
            </a:r>
            <a:endParaRPr lang="en-US" altLang="zh-CN" sz="2400" b="1"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94ED9BE5-159E-1418-74E4-DE92745006A3}"/>
              </a:ext>
            </a:extLst>
          </p:cNvPr>
          <p:cNvSpPr txBox="1"/>
          <p:nvPr/>
        </p:nvSpPr>
        <p:spPr>
          <a:xfrm>
            <a:off x="106715" y="2321420"/>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2. </a:t>
            </a:r>
            <a:r>
              <a:rPr lang="zh-CN" altLang="en-US" sz="2800" b="1" dirty="0">
                <a:latin typeface="微软雅黑" panose="020B0503020204020204" pitchFamily="34" charset="-122"/>
                <a:ea typeface="微软雅黑" panose="020B0503020204020204" pitchFamily="34" charset="-122"/>
              </a:rPr>
              <a:t>常见网络拓扑：</a:t>
            </a:r>
            <a:endParaRPr lang="en-US" altLang="zh-CN" sz="2800" b="1"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A4D00102-3B94-0EB8-831D-A0CEBFC3BB31}"/>
              </a:ext>
            </a:extLst>
          </p:cNvPr>
          <p:cNvSpPr txBox="1"/>
          <p:nvPr/>
        </p:nvSpPr>
        <p:spPr>
          <a:xfrm>
            <a:off x="106715" y="3007128"/>
            <a:ext cx="2075376" cy="3351046"/>
          </a:xfrm>
          <a:prstGeom prst="rect">
            <a:avLst/>
          </a:prstGeom>
          <a:noFill/>
          <a:ln w="19050">
            <a:noFill/>
          </a:ln>
        </p:spPr>
        <p:txBody>
          <a:bodyPr wrap="square" rtlCol="0">
            <a:spAutoFit/>
          </a:bodyPr>
          <a:lstStyle/>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线型网络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星形网络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环形网络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树形网络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环形网络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混合型网络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ED110B80-C831-0788-0BD3-8C0C578278C6}"/>
              </a:ext>
            </a:extLst>
          </p:cNvPr>
          <p:cNvSpPr txBox="1"/>
          <p:nvPr/>
        </p:nvSpPr>
        <p:spPr>
          <a:xfrm>
            <a:off x="4831115" y="2969310"/>
            <a:ext cx="2075376"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单跳网络</a:t>
            </a:r>
            <a:endParaRPr lang="en-US" altLang="zh-CN" sz="2400" b="1"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FE25A0FE-0055-49C1-BC28-E05A19440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7802" y="3607031"/>
            <a:ext cx="5111750" cy="2984500"/>
          </a:xfrm>
          <a:prstGeom prst="rect">
            <a:avLst/>
          </a:prstGeom>
        </p:spPr>
      </p:pic>
      <p:sp>
        <p:nvSpPr>
          <p:cNvPr id="12" name="文本框 11">
            <a:extLst>
              <a:ext uri="{FF2B5EF4-FFF2-40B4-BE49-F238E27FC236}">
                <a16:creationId xmlns:a16="http://schemas.microsoft.com/office/drawing/2014/main" id="{01A6F1C7-F05E-4E75-B921-BC977A8A91FA}"/>
              </a:ext>
            </a:extLst>
          </p:cNvPr>
          <p:cNvSpPr txBox="1"/>
          <p:nvPr/>
        </p:nvSpPr>
        <p:spPr>
          <a:xfrm>
            <a:off x="194551" y="0"/>
            <a:ext cx="488660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3" name="文本框 12">
            <a:extLst>
              <a:ext uri="{FF2B5EF4-FFF2-40B4-BE49-F238E27FC236}">
                <a16:creationId xmlns:a16="http://schemas.microsoft.com/office/drawing/2014/main" id="{06828857-DB5C-41B7-A2D5-FFFEF9A9AB7F}"/>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1.3 </a:t>
            </a:r>
            <a:r>
              <a:rPr lang="zh-CN" altLang="en-US" b="1" dirty="0">
                <a:latin typeface="Times New Roman" panose="02020603050405020304" pitchFamily="18" charset="0"/>
                <a:cs typeface="Times New Roman" panose="02020603050405020304" pitchFamily="18" charset="0"/>
              </a:rPr>
              <a:t>无线传感器网络拓扑</a:t>
            </a:r>
          </a:p>
        </p:txBody>
      </p:sp>
    </p:spTree>
    <p:extLst>
      <p:ext uri="{BB962C8B-B14F-4D97-AF65-F5344CB8AC3E}">
        <p14:creationId xmlns:p14="http://schemas.microsoft.com/office/powerpoint/2010/main" val="118462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433CE-83F9-C11D-B519-C4A88A35CA11}"/>
            </a:ext>
          </a:extLst>
        </p:cNvPr>
        <p:cNvGrpSpPr/>
        <p:nvPr/>
      </p:nvGrpSpPr>
      <p:grpSpPr>
        <a:xfrm>
          <a:off x="0" y="0"/>
          <a:ext cx="0" cy="0"/>
          <a:chOff x="0" y="0"/>
          <a:chExt cx="0" cy="0"/>
        </a:xfrm>
      </p:grpSpPr>
      <p:sp>
        <p:nvSpPr>
          <p:cNvPr id="15" name="灯片编号占位符 3">
            <a:extLst>
              <a:ext uri="{FF2B5EF4-FFF2-40B4-BE49-F238E27FC236}">
                <a16:creationId xmlns:a16="http://schemas.microsoft.com/office/drawing/2014/main" id="{B2E781AE-0803-C2E1-83CB-B33B73B27809}"/>
              </a:ext>
            </a:extLst>
          </p:cNvPr>
          <p:cNvSpPr txBox="1">
            <a:spLocks/>
          </p:cNvSpPr>
          <p:nvPr/>
        </p:nvSpPr>
        <p:spPr>
          <a:xfrm>
            <a:off x="6830568" y="6339334"/>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663D701-F6D3-45BB-89CD-EE32AA93FC3C}" type="slidenum">
              <a:rPr lang="zh-CN" altLang="en-US" smtClean="0"/>
              <a:pPr/>
              <a:t>24</a:t>
            </a:fld>
            <a:endParaRPr lang="zh-CN" altLang="en-US"/>
          </a:p>
        </p:txBody>
      </p:sp>
      <p:sp>
        <p:nvSpPr>
          <p:cNvPr id="7" name="文本框 6">
            <a:extLst>
              <a:ext uri="{FF2B5EF4-FFF2-40B4-BE49-F238E27FC236}">
                <a16:creationId xmlns:a16="http://schemas.microsoft.com/office/drawing/2014/main" id="{755CCCD3-F0A3-529A-A8EB-CA12F968AB0B}"/>
              </a:ext>
            </a:extLst>
          </p:cNvPr>
          <p:cNvSpPr txBox="1"/>
          <p:nvPr/>
        </p:nvSpPr>
        <p:spPr>
          <a:xfrm>
            <a:off x="106716" y="537644"/>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1. </a:t>
            </a:r>
            <a:r>
              <a:rPr lang="zh-CN" altLang="en-US" sz="2800" b="1" dirty="0">
                <a:latin typeface="微软雅黑" panose="020B0503020204020204" pitchFamily="34" charset="-122"/>
                <a:ea typeface="微软雅黑" panose="020B0503020204020204" pitchFamily="34" charset="-122"/>
              </a:rPr>
              <a:t>网络拓扑：</a:t>
            </a:r>
            <a:endParaRPr lang="en-US" altLang="zh-CN" sz="28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082E37EB-BA9A-FD49-AAEA-09E7A815F589}"/>
              </a:ext>
            </a:extLst>
          </p:cNvPr>
          <p:cNvSpPr txBox="1"/>
          <p:nvPr/>
        </p:nvSpPr>
        <p:spPr>
          <a:xfrm>
            <a:off x="106715" y="1117241"/>
            <a:ext cx="8341093" cy="581057"/>
          </a:xfrm>
          <a:prstGeom prst="rect">
            <a:avLst/>
          </a:prstGeom>
          <a:noFill/>
          <a:ln w="19050">
            <a:noFill/>
          </a:ln>
        </p:spPr>
        <p:txBody>
          <a:bodyPr wrap="squar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网络节点设备之间的分布</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连接情况及各节点间的关系图。</a:t>
            </a:r>
            <a:endParaRPr lang="en-US" altLang="zh-CN" sz="2400" b="1"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94ED9BE5-159E-1418-74E4-DE92745006A3}"/>
              </a:ext>
            </a:extLst>
          </p:cNvPr>
          <p:cNvSpPr txBox="1"/>
          <p:nvPr/>
        </p:nvSpPr>
        <p:spPr>
          <a:xfrm>
            <a:off x="106715" y="2321420"/>
            <a:ext cx="6384594" cy="662489"/>
          </a:xfrm>
          <a:prstGeom prst="rect">
            <a:avLst/>
          </a:prstGeom>
          <a:noFill/>
          <a:ln w="19050">
            <a:noFill/>
          </a:ln>
        </p:spPr>
        <p:txBody>
          <a:bodyPr wrap="square" rtlCol="0">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2. </a:t>
            </a:r>
            <a:r>
              <a:rPr lang="zh-CN" altLang="en-US" sz="2800" b="1" dirty="0">
                <a:latin typeface="微软雅黑" panose="020B0503020204020204" pitchFamily="34" charset="-122"/>
                <a:ea typeface="微软雅黑" panose="020B0503020204020204" pitchFamily="34" charset="-122"/>
              </a:rPr>
              <a:t>常见网络拓扑：</a:t>
            </a:r>
            <a:endParaRPr lang="en-US" altLang="zh-CN" sz="2800" b="1"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A4D00102-3B94-0EB8-831D-A0CEBFC3BB31}"/>
              </a:ext>
            </a:extLst>
          </p:cNvPr>
          <p:cNvSpPr txBox="1"/>
          <p:nvPr/>
        </p:nvSpPr>
        <p:spPr>
          <a:xfrm>
            <a:off x="106715" y="3007128"/>
            <a:ext cx="2075376" cy="3351046"/>
          </a:xfrm>
          <a:prstGeom prst="rect">
            <a:avLst/>
          </a:prstGeom>
          <a:noFill/>
          <a:ln w="19050">
            <a:noFill/>
          </a:ln>
        </p:spPr>
        <p:txBody>
          <a:bodyPr wrap="square" rtlCol="0">
            <a:spAutoFit/>
          </a:bodyPr>
          <a:lstStyle/>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线型网络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星形网络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环形网络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树形网络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环形网络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混合型网络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ED110B80-C831-0788-0BD3-8C0C578278C6}"/>
              </a:ext>
            </a:extLst>
          </p:cNvPr>
          <p:cNvSpPr txBox="1"/>
          <p:nvPr/>
        </p:nvSpPr>
        <p:spPr>
          <a:xfrm>
            <a:off x="4831115" y="2969310"/>
            <a:ext cx="2075376" cy="1135054"/>
          </a:xfrm>
          <a:prstGeom prst="rect">
            <a:avLst/>
          </a:prstGeom>
          <a:noFill/>
          <a:ln w="19050">
            <a:noFill/>
          </a:ln>
        </p:spPr>
        <p:txBody>
          <a:bodyPr wrap="square" rtlCol="0">
            <a:spAutoFit/>
          </a:bodyPr>
          <a:lstStyle/>
          <a:p>
            <a:pPr>
              <a:lnSpc>
                <a:spcPct val="150000"/>
              </a:lnSpc>
            </a:pPr>
            <a:r>
              <a:rPr lang="zh-CN" altLang="en-US" sz="2400" b="1" dirty="0">
                <a:solidFill>
                  <a:schemeClr val="accent3">
                    <a:lumMod val="40000"/>
                    <a:lumOff val="60000"/>
                  </a:schemeClr>
                </a:solidFill>
                <a:latin typeface="微软雅黑" panose="020B0503020204020204" pitchFamily="34" charset="-122"/>
                <a:ea typeface="微软雅黑" panose="020B0503020204020204" pitchFamily="34" charset="-122"/>
              </a:rPr>
              <a:t>单跳网络</a:t>
            </a:r>
            <a:endParaRPr lang="en-US" altLang="zh-CN" sz="2400" b="1" dirty="0">
              <a:solidFill>
                <a:schemeClr val="accent3">
                  <a:lumMod val="40000"/>
                  <a:lumOff val="60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latin typeface="微软雅黑" panose="020B0503020204020204" pitchFamily="34" charset="-122"/>
                <a:ea typeface="微软雅黑" panose="020B0503020204020204" pitchFamily="34" charset="-122"/>
              </a:rPr>
              <a:t>多跳网络</a:t>
            </a:r>
            <a:endParaRPr lang="en-US" altLang="zh-CN" sz="2400" b="1"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6713089B-9F0B-41EA-BE8B-B0C9F887CA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2647" y="4447499"/>
            <a:ext cx="5892800" cy="1250950"/>
          </a:xfrm>
          <a:prstGeom prst="rect">
            <a:avLst/>
          </a:prstGeom>
        </p:spPr>
      </p:pic>
      <p:sp>
        <p:nvSpPr>
          <p:cNvPr id="12" name="文本框 11">
            <a:extLst>
              <a:ext uri="{FF2B5EF4-FFF2-40B4-BE49-F238E27FC236}">
                <a16:creationId xmlns:a16="http://schemas.microsoft.com/office/drawing/2014/main" id="{08B16FB4-F6E1-488F-A433-BD25C61C8CFF}"/>
              </a:ext>
            </a:extLst>
          </p:cNvPr>
          <p:cNvSpPr txBox="1"/>
          <p:nvPr/>
        </p:nvSpPr>
        <p:spPr>
          <a:xfrm>
            <a:off x="194551" y="0"/>
            <a:ext cx="488660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3" name="文本框 12">
            <a:extLst>
              <a:ext uri="{FF2B5EF4-FFF2-40B4-BE49-F238E27FC236}">
                <a16:creationId xmlns:a16="http://schemas.microsoft.com/office/drawing/2014/main" id="{87B3F437-1083-4215-8B79-131A28B44139}"/>
              </a:ext>
            </a:extLst>
          </p:cNvPr>
          <p:cNvSpPr txBox="1"/>
          <p:nvPr/>
        </p:nvSpPr>
        <p:spPr>
          <a:xfrm>
            <a:off x="6303521" y="-15322"/>
            <a:ext cx="286479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1.3 </a:t>
            </a:r>
            <a:r>
              <a:rPr lang="zh-CN" altLang="en-US" b="1" dirty="0">
                <a:latin typeface="Times New Roman" panose="02020603050405020304" pitchFamily="18" charset="0"/>
                <a:cs typeface="Times New Roman" panose="02020603050405020304" pitchFamily="18" charset="0"/>
              </a:rPr>
              <a:t>无线传感器网络拓扑</a:t>
            </a:r>
          </a:p>
        </p:txBody>
      </p:sp>
    </p:spTree>
    <p:extLst>
      <p:ext uri="{BB962C8B-B14F-4D97-AF65-F5344CB8AC3E}">
        <p14:creationId xmlns:p14="http://schemas.microsoft.com/office/powerpoint/2010/main" val="1307097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2AE800D4-DACE-4C2E-A8F9-49A60FF44F70}"/>
              </a:ext>
            </a:extLst>
          </p:cNvPr>
          <p:cNvSpPr>
            <a:spLocks noGrp="1"/>
          </p:cNvSpPr>
          <p:nvPr>
            <p:ph type="sldNum" sz="quarter" idx="12"/>
          </p:nvPr>
        </p:nvSpPr>
        <p:spPr/>
        <p:txBody>
          <a:bodyPr/>
          <a:lstStyle/>
          <a:p>
            <a:fld id="{E663D701-F6D3-45BB-89CD-EE32AA93FC3C}" type="slidenum">
              <a:rPr lang="zh-CN" altLang="en-US" smtClean="0"/>
              <a:t>25</a:t>
            </a:fld>
            <a:endParaRPr lang="zh-CN" altLang="en-US"/>
          </a:p>
        </p:txBody>
      </p:sp>
      <p:sp>
        <p:nvSpPr>
          <p:cNvPr id="6" name="文本框 5">
            <a:extLst>
              <a:ext uri="{FF2B5EF4-FFF2-40B4-BE49-F238E27FC236}">
                <a16:creationId xmlns:a16="http://schemas.microsoft.com/office/drawing/2014/main" id="{BAD8973A-AC70-43C3-8BA5-46F574B3ED28}"/>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无线传感器节点部署常用网络拓扑结构为</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文本框 6">
            <a:extLst>
              <a:ext uri="{FF2B5EF4-FFF2-40B4-BE49-F238E27FC236}">
                <a16:creationId xmlns:a16="http://schemas.microsoft.com/office/drawing/2014/main" id="{EE41779B-2BE5-4ACC-AB1D-28E093F1C116}"/>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单跳网络</a:t>
            </a:r>
          </a:p>
        </p:txBody>
      </p:sp>
      <p:sp>
        <p:nvSpPr>
          <p:cNvPr id="8" name="文本框 7">
            <a:extLst>
              <a:ext uri="{FF2B5EF4-FFF2-40B4-BE49-F238E27FC236}">
                <a16:creationId xmlns:a16="http://schemas.microsoft.com/office/drawing/2014/main" id="{0EBF9638-3349-4F72-9FDC-DD08B2A22859}"/>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多跳网络</a:t>
            </a:r>
          </a:p>
        </p:txBody>
      </p:sp>
      <p:sp>
        <p:nvSpPr>
          <p:cNvPr id="11" name="椭圆 10">
            <a:extLst>
              <a:ext uri="{FF2B5EF4-FFF2-40B4-BE49-F238E27FC236}">
                <a16:creationId xmlns:a16="http://schemas.microsoft.com/office/drawing/2014/main" id="{D1585146-9256-4BD6-9EFC-E43E27309EA7}"/>
              </a:ext>
            </a:extLst>
          </p:cNvPr>
          <p:cNvSpPr>
            <a:spLocks noChangeAspect="1"/>
          </p:cNvSpPr>
          <p:nvPr>
            <p:custDataLst>
              <p:tags r:id="rId5"/>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D12F168E-E19C-4EE8-A3F0-3277E66383AB}"/>
              </a:ext>
            </a:extLst>
          </p:cNvPr>
          <p:cNvSpPr>
            <a:spLocks noChangeAspect="1"/>
          </p:cNvSpPr>
          <p:nvPr>
            <p:custDataLst>
              <p:tags r:id="rId6"/>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0AF60FDC-4329-4BC6-B1BA-865ECBF9C49D}"/>
              </a:ext>
            </a:extLst>
          </p:cNvPr>
          <p:cNvSpPr/>
          <p:nvPr>
            <p:custDataLst>
              <p:tags r:id="rId7"/>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B5DA093B-B39D-449D-B106-5893FB32F1EF}"/>
              </a:ext>
            </a:extLst>
          </p:cNvPr>
          <p:cNvGrpSpPr/>
          <p:nvPr>
            <p:custDataLst>
              <p:tags r:id="rId8"/>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18AFDD79-C8C6-4C5F-A4AA-DAE3CC192439}"/>
                </a:ext>
              </a:extLst>
            </p:cNvPr>
            <p:cNvSpPr/>
            <p:nvPr>
              <p:custDataLst>
                <p:tags r:id="rId10"/>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D5043DCD-9702-4FD4-AE89-6B85D96E59D2}"/>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C1B63837-8C62-4132-B668-EBCEB497D2C2}"/>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D448F819-E2A5-4805-A8BA-CD309F72B2F8}"/>
                </a:ext>
              </a:extLst>
            </p:cNvPr>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83DB1F33-425F-4F38-820F-B9B883CCDE51}"/>
              </a:ext>
            </a:extLst>
          </p:cNvPr>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1604462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980AF-6551-B02F-37BD-84A8A8231EF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3A48A42-4896-F544-3898-AB45A832E531}"/>
              </a:ext>
            </a:extLst>
          </p:cNvPr>
          <p:cNvSpPr>
            <a:spLocks noGrp="1"/>
          </p:cNvSpPr>
          <p:nvPr>
            <p:ph type="title"/>
          </p:nvPr>
        </p:nvSpPr>
        <p:spPr>
          <a:xfrm>
            <a:off x="256032" y="374854"/>
            <a:ext cx="8631936" cy="1325563"/>
          </a:xfrm>
        </p:spPr>
        <p:txBody>
          <a:bodyPr>
            <a:normAutofit fontScale="90000"/>
          </a:bodyPr>
          <a:lstStyle/>
          <a:p>
            <a:pPr algn="ctr"/>
            <a:r>
              <a:rPr lang="zh-CN" altLang="en-US" sz="5400" b="1" dirty="0">
                <a:solidFill>
                  <a:schemeClr val="tx1"/>
                </a:solidFill>
                <a:effectLst/>
                <a:latin typeface="Times New Roman" panose="02020603050405020304" pitchFamily="18" charset="0"/>
                <a:cs typeface="Times New Roman" panose="02020603050405020304" pitchFamily="18" charset="0"/>
              </a:rPr>
              <a:t>第</a:t>
            </a:r>
            <a:r>
              <a:rPr lang="en-US" altLang="zh-CN" sz="5400" b="1" dirty="0">
                <a:solidFill>
                  <a:schemeClr val="tx1"/>
                </a:solidFill>
                <a:effectLst/>
                <a:latin typeface="Times New Roman" panose="02020603050405020304" pitchFamily="18" charset="0"/>
                <a:cs typeface="Times New Roman" panose="02020603050405020304" pitchFamily="18" charset="0"/>
              </a:rPr>
              <a:t>1</a:t>
            </a:r>
            <a:r>
              <a:rPr lang="zh-CN" altLang="en-US" sz="5400" b="1" dirty="0">
                <a:solidFill>
                  <a:schemeClr val="tx1"/>
                </a:solidFill>
                <a:effectLst/>
              </a:rPr>
              <a:t>章 无线传感器网络概述</a:t>
            </a:r>
            <a:endParaRPr lang="zh-CN" altLang="en-US" sz="3200" b="1" dirty="0">
              <a:solidFill>
                <a:schemeClr val="tx1"/>
              </a:solidFill>
              <a:effectLst/>
            </a:endParaRPr>
          </a:p>
        </p:txBody>
      </p:sp>
      <p:sp>
        <p:nvSpPr>
          <p:cNvPr id="3" name="内容占位符 2">
            <a:extLst>
              <a:ext uri="{FF2B5EF4-FFF2-40B4-BE49-F238E27FC236}">
                <a16:creationId xmlns:a16="http://schemas.microsoft.com/office/drawing/2014/main" id="{F5CF1BF7-913F-AB31-6C87-30AFD23F3601}"/>
              </a:ext>
            </a:extLst>
          </p:cNvPr>
          <p:cNvSpPr>
            <a:spLocks noGrp="1"/>
          </p:cNvSpPr>
          <p:nvPr>
            <p:ph idx="1"/>
          </p:nvPr>
        </p:nvSpPr>
        <p:spPr>
          <a:xfrm>
            <a:off x="516835" y="1700417"/>
            <a:ext cx="8080513" cy="4351338"/>
          </a:xfrm>
        </p:spPr>
        <p:txBody>
          <a:bodyPr>
            <a:normAutofit lnSpcReduction="10000"/>
          </a:bodyPr>
          <a:lstStyle/>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1.1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无线传感器网络定义</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1.2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无线传感器结构及类型</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1.3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无线传感器网络拓扑</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rgbClr val="C00000"/>
                </a:solidFill>
                <a:latin typeface="Times New Roman" panose="02020603050405020304" pitchFamily="18" charset="0"/>
                <a:cs typeface="Times New Roman" panose="02020603050405020304" pitchFamily="18" charset="0"/>
              </a:rPr>
              <a:t>1.4 </a:t>
            </a:r>
            <a:r>
              <a:rPr lang="zh-CN" altLang="en-US" sz="3200" b="1" spc="300" dirty="0">
                <a:solidFill>
                  <a:srgbClr val="C00000"/>
                </a:solidFill>
                <a:latin typeface="Times New Roman" panose="02020603050405020304" pitchFamily="18" charset="0"/>
                <a:cs typeface="Times New Roman" panose="02020603050405020304" pitchFamily="18" charset="0"/>
              </a:rPr>
              <a:t>无线传感器网络架构</a:t>
            </a:r>
            <a:endParaRPr lang="en-US" altLang="zh-CN" sz="3200" b="1" spc="300" dirty="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1.5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无线传感器网络特点及性能指标</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1.6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本章总结与作业</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CD093FC6-E3B8-6EA8-06E5-DB08DD8E439D}"/>
              </a:ext>
            </a:extLst>
          </p:cNvPr>
          <p:cNvSpPr>
            <a:spLocks noGrp="1"/>
          </p:cNvSpPr>
          <p:nvPr>
            <p:ph type="sldNum" sz="quarter" idx="12"/>
          </p:nvPr>
        </p:nvSpPr>
        <p:spPr/>
        <p:txBody>
          <a:bodyPr/>
          <a:lstStyle/>
          <a:p>
            <a:fld id="{E663D701-F6D3-45BB-89CD-EE32AA93FC3C}" type="slidenum">
              <a:rPr lang="zh-CN" altLang="en-US" smtClean="0"/>
              <a:t>26</a:t>
            </a:fld>
            <a:endParaRPr lang="zh-CN" altLang="en-US" dirty="0"/>
          </a:p>
        </p:txBody>
      </p:sp>
    </p:spTree>
    <p:extLst>
      <p:ext uri="{BB962C8B-B14F-4D97-AF65-F5344CB8AC3E}">
        <p14:creationId xmlns:p14="http://schemas.microsoft.com/office/powerpoint/2010/main" val="34625166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27</a:t>
            </a:fld>
            <a:endParaRPr lang="zh-CN" altLang="en-US"/>
          </a:p>
        </p:txBody>
      </p:sp>
      <p:sp>
        <p:nvSpPr>
          <p:cNvPr id="7" name="文本框 6"/>
          <p:cNvSpPr txBox="1"/>
          <p:nvPr/>
        </p:nvSpPr>
        <p:spPr>
          <a:xfrm>
            <a:off x="6424125" y="11140"/>
            <a:ext cx="2608406"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1.4 </a:t>
            </a:r>
            <a:r>
              <a:rPr lang="zh-CN" altLang="en-US" b="1" dirty="0">
                <a:latin typeface="Times New Roman" panose="02020603050405020304" pitchFamily="18" charset="0"/>
                <a:cs typeface="Times New Roman" panose="02020603050405020304" pitchFamily="18" charset="0"/>
              </a:rPr>
              <a:t>无线传感器网络架构</a:t>
            </a:r>
          </a:p>
        </p:txBody>
      </p:sp>
      <p:sp>
        <p:nvSpPr>
          <p:cNvPr id="12" name="文本框 11">
            <a:extLst>
              <a:ext uri="{FF2B5EF4-FFF2-40B4-BE49-F238E27FC236}">
                <a16:creationId xmlns:a16="http://schemas.microsoft.com/office/drawing/2014/main" id="{53EB7D22-53D3-4680-A49E-61F8B662CC55}"/>
              </a:ext>
            </a:extLst>
          </p:cNvPr>
          <p:cNvSpPr txBox="1"/>
          <p:nvPr/>
        </p:nvSpPr>
        <p:spPr>
          <a:xfrm>
            <a:off x="194551" y="0"/>
            <a:ext cx="488660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3" name="文本框 12">
            <a:extLst>
              <a:ext uri="{FF2B5EF4-FFF2-40B4-BE49-F238E27FC236}">
                <a16:creationId xmlns:a16="http://schemas.microsoft.com/office/drawing/2014/main" id="{AF1B50EF-A9BA-47FA-A785-14C3EC035F16}"/>
              </a:ext>
            </a:extLst>
          </p:cNvPr>
          <p:cNvSpPr txBox="1"/>
          <p:nvPr/>
        </p:nvSpPr>
        <p:spPr>
          <a:xfrm>
            <a:off x="137807" y="1002122"/>
            <a:ext cx="1861228"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网络拓扑：</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文本框 13">
            <a:extLst>
              <a:ext uri="{FF2B5EF4-FFF2-40B4-BE49-F238E27FC236}">
                <a16:creationId xmlns:a16="http://schemas.microsoft.com/office/drawing/2014/main" id="{85CDAD0C-0138-471E-9A57-148B75765494}"/>
              </a:ext>
            </a:extLst>
          </p:cNvPr>
          <p:cNvSpPr txBox="1"/>
          <p:nvPr/>
        </p:nvSpPr>
        <p:spPr>
          <a:xfrm>
            <a:off x="137805" y="2278067"/>
            <a:ext cx="2041191"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网络架构</a:t>
            </a:r>
            <a:r>
              <a:rPr lang="zh-CN" altLang="en-US" sz="2800" dirty="0">
                <a:latin typeface="+mn-ea"/>
                <a:cs typeface="Times New Roman" panose="02020603050405020304" pitchFamily="18" charset="0"/>
              </a:rPr>
              <a:t>：</a:t>
            </a:r>
            <a:endParaRPr lang="en-US" altLang="zh-CN" sz="2800" dirty="0">
              <a:latin typeface="+mn-ea"/>
              <a:cs typeface="Times New Roman" panose="02020603050405020304" pitchFamily="18" charset="0"/>
            </a:endParaRPr>
          </a:p>
        </p:txBody>
      </p:sp>
      <p:sp>
        <p:nvSpPr>
          <p:cNvPr id="15" name="文本框 14">
            <a:extLst>
              <a:ext uri="{FF2B5EF4-FFF2-40B4-BE49-F238E27FC236}">
                <a16:creationId xmlns:a16="http://schemas.microsoft.com/office/drawing/2014/main" id="{AE26DFCC-D7A2-42DB-A588-5F12361ACD50}"/>
              </a:ext>
            </a:extLst>
          </p:cNvPr>
          <p:cNvSpPr txBox="1"/>
          <p:nvPr/>
        </p:nvSpPr>
        <p:spPr>
          <a:xfrm>
            <a:off x="2130919" y="1002122"/>
            <a:ext cx="6030587" cy="954107"/>
          </a:xfrm>
          <a:prstGeom prst="rect">
            <a:avLst/>
          </a:prstGeom>
          <a:noFill/>
        </p:spPr>
        <p:txBody>
          <a:bodyPr wrap="square" rtlCol="0">
            <a:spAutoFit/>
          </a:bodyPr>
          <a:lstStyle/>
          <a:p>
            <a:pPr>
              <a:spcAft>
                <a:spcPts val="600"/>
              </a:spcAft>
            </a:pPr>
            <a:r>
              <a:rPr lang="zh-CN" altLang="en-US" sz="2800" dirty="0">
                <a:latin typeface="+mn-ea"/>
                <a:cs typeface="Times New Roman" panose="02020603050405020304" pitchFamily="18" charset="0"/>
              </a:rPr>
              <a:t>网络传感器节点之间的连接情况及节点间的关系图。</a:t>
            </a:r>
            <a:endParaRPr lang="en-US" altLang="zh-CN" sz="2800" dirty="0">
              <a:latin typeface="+mn-ea"/>
              <a:cs typeface="Times New Roman" panose="02020603050405020304" pitchFamily="18" charset="0"/>
            </a:endParaRPr>
          </a:p>
        </p:txBody>
      </p:sp>
      <p:sp>
        <p:nvSpPr>
          <p:cNvPr id="16" name="文本框 15">
            <a:extLst>
              <a:ext uri="{FF2B5EF4-FFF2-40B4-BE49-F238E27FC236}">
                <a16:creationId xmlns:a16="http://schemas.microsoft.com/office/drawing/2014/main" id="{6C7E323E-A4C7-4858-87F1-198BFDFAF6C7}"/>
              </a:ext>
            </a:extLst>
          </p:cNvPr>
          <p:cNvSpPr txBox="1"/>
          <p:nvPr/>
        </p:nvSpPr>
        <p:spPr>
          <a:xfrm>
            <a:off x="2130919" y="2278067"/>
            <a:ext cx="6030587" cy="954107"/>
          </a:xfrm>
          <a:prstGeom prst="rect">
            <a:avLst/>
          </a:prstGeom>
          <a:noFill/>
        </p:spPr>
        <p:txBody>
          <a:bodyPr wrap="square" rtlCol="0">
            <a:spAutoFit/>
          </a:bodyPr>
          <a:lstStyle/>
          <a:p>
            <a:pPr>
              <a:spcAft>
                <a:spcPts val="600"/>
              </a:spcAft>
            </a:pPr>
            <a:r>
              <a:rPr lang="zh-CN" altLang="en-US" sz="2800" dirty="0">
                <a:latin typeface="+mn-ea"/>
                <a:cs typeface="Times New Roman" panose="02020603050405020304" pitchFamily="18" charset="0"/>
              </a:rPr>
              <a:t>无线传感器网络系统的设计和组织结构，各个节点之间的功能划分。</a:t>
            </a:r>
            <a:endParaRPr lang="en-US" altLang="zh-CN" sz="2800" dirty="0">
              <a:latin typeface="+mn-ea"/>
              <a:cs typeface="Times New Roman" panose="02020603050405020304" pitchFamily="18" charset="0"/>
            </a:endParaRPr>
          </a:p>
        </p:txBody>
      </p:sp>
      <p:grpSp>
        <p:nvGrpSpPr>
          <p:cNvPr id="20" name="组合 19">
            <a:extLst>
              <a:ext uri="{FF2B5EF4-FFF2-40B4-BE49-F238E27FC236}">
                <a16:creationId xmlns:a16="http://schemas.microsoft.com/office/drawing/2014/main" id="{939ECC75-4884-4B5C-ADEF-CFD31F8B6868}"/>
              </a:ext>
            </a:extLst>
          </p:cNvPr>
          <p:cNvGrpSpPr/>
          <p:nvPr/>
        </p:nvGrpSpPr>
        <p:grpSpPr>
          <a:xfrm>
            <a:off x="1339489" y="4078243"/>
            <a:ext cx="4681932" cy="2351482"/>
            <a:chOff x="1339489" y="4078243"/>
            <a:chExt cx="4681932" cy="2351482"/>
          </a:xfrm>
        </p:grpSpPr>
        <p:sp>
          <p:nvSpPr>
            <p:cNvPr id="18" name="椭圆 17">
              <a:extLst>
                <a:ext uri="{FF2B5EF4-FFF2-40B4-BE49-F238E27FC236}">
                  <a16:creationId xmlns:a16="http://schemas.microsoft.com/office/drawing/2014/main" id="{53E7256A-8A99-4E56-8BC0-4794B8CA6D02}"/>
                </a:ext>
              </a:extLst>
            </p:cNvPr>
            <p:cNvSpPr/>
            <p:nvPr/>
          </p:nvSpPr>
          <p:spPr>
            <a:xfrm>
              <a:off x="1339489" y="4078243"/>
              <a:ext cx="4681932" cy="2351482"/>
            </a:xfrm>
            <a:prstGeom prst="ellipse">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文本框 18">
              <a:extLst>
                <a:ext uri="{FF2B5EF4-FFF2-40B4-BE49-F238E27FC236}">
                  <a16:creationId xmlns:a16="http://schemas.microsoft.com/office/drawing/2014/main" id="{DCB1F982-9760-4C72-A941-95B476D5D21E}"/>
                </a:ext>
              </a:extLst>
            </p:cNvPr>
            <p:cNvSpPr txBox="1"/>
            <p:nvPr/>
          </p:nvSpPr>
          <p:spPr>
            <a:xfrm>
              <a:off x="4518499" y="5023151"/>
              <a:ext cx="1415374"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网络架构</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7" name="椭圆 16">
            <a:extLst>
              <a:ext uri="{FF2B5EF4-FFF2-40B4-BE49-F238E27FC236}">
                <a16:creationId xmlns:a16="http://schemas.microsoft.com/office/drawing/2014/main" id="{CAA24CBE-93E5-4BAE-A0DF-CEA8DEB93924}"/>
              </a:ext>
            </a:extLst>
          </p:cNvPr>
          <p:cNvSpPr/>
          <p:nvPr/>
        </p:nvSpPr>
        <p:spPr>
          <a:xfrm>
            <a:off x="1493197" y="4523362"/>
            <a:ext cx="2782109" cy="1473740"/>
          </a:xfrm>
          <a:prstGeom prst="ellipse">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网络拓扑</a:t>
            </a:r>
          </a:p>
        </p:txBody>
      </p:sp>
    </p:spTree>
    <p:extLst>
      <p:ext uri="{BB962C8B-B14F-4D97-AF65-F5344CB8AC3E}">
        <p14:creationId xmlns:p14="http://schemas.microsoft.com/office/powerpoint/2010/main" val="250015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500"/>
                                        <p:tgtEl>
                                          <p:spTgt spid="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fade">
                                      <p:cBhvr>
                                        <p:cTn id="17" dur="500"/>
                                        <p:tgtEl>
                                          <p:spTgt spid="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0" end="0"/>
                                            </p:txEl>
                                          </p:spTgt>
                                        </p:tgtEl>
                                        <p:attrNameLst>
                                          <p:attrName>style.visibility</p:attrName>
                                        </p:attrNameLst>
                                      </p:cBhvr>
                                      <p:to>
                                        <p:strVal val="visible"/>
                                      </p:to>
                                    </p:set>
                                    <p:animEffect transition="in" filter="fade">
                                      <p:cBhvr>
                                        <p:cTn id="22" dur="500"/>
                                        <p:tgtEl>
                                          <p:spTgt spid="1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28</a:t>
            </a:fld>
            <a:endParaRPr lang="zh-CN" altLang="en-US"/>
          </a:p>
        </p:txBody>
      </p:sp>
      <p:sp>
        <p:nvSpPr>
          <p:cNvPr id="7" name="文本框 6"/>
          <p:cNvSpPr txBox="1"/>
          <p:nvPr/>
        </p:nvSpPr>
        <p:spPr>
          <a:xfrm>
            <a:off x="6424125" y="11140"/>
            <a:ext cx="2608406"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1.4 </a:t>
            </a:r>
            <a:r>
              <a:rPr lang="zh-CN" altLang="en-US" b="1" dirty="0">
                <a:latin typeface="Times New Roman" panose="02020603050405020304" pitchFamily="18" charset="0"/>
                <a:cs typeface="Times New Roman" panose="02020603050405020304" pitchFamily="18" charset="0"/>
              </a:rPr>
              <a:t>无线传感器网络架构</a:t>
            </a:r>
          </a:p>
        </p:txBody>
      </p:sp>
      <p:sp>
        <p:nvSpPr>
          <p:cNvPr id="12" name="文本框 11">
            <a:extLst>
              <a:ext uri="{FF2B5EF4-FFF2-40B4-BE49-F238E27FC236}">
                <a16:creationId xmlns:a16="http://schemas.microsoft.com/office/drawing/2014/main" id="{53EB7D22-53D3-4680-A49E-61F8B662CC55}"/>
              </a:ext>
            </a:extLst>
          </p:cNvPr>
          <p:cNvSpPr txBox="1"/>
          <p:nvPr/>
        </p:nvSpPr>
        <p:spPr>
          <a:xfrm>
            <a:off x="194551" y="0"/>
            <a:ext cx="488660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3" name="文本框 12">
            <a:extLst>
              <a:ext uri="{FF2B5EF4-FFF2-40B4-BE49-F238E27FC236}">
                <a16:creationId xmlns:a16="http://schemas.microsoft.com/office/drawing/2014/main" id="{AF1B50EF-A9BA-47FA-A785-14C3EC035F16}"/>
              </a:ext>
            </a:extLst>
          </p:cNvPr>
          <p:cNvSpPr txBox="1"/>
          <p:nvPr/>
        </p:nvSpPr>
        <p:spPr>
          <a:xfrm>
            <a:off x="235084" y="3482675"/>
            <a:ext cx="1861228"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网络架构</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左大括号 1">
            <a:extLst>
              <a:ext uri="{FF2B5EF4-FFF2-40B4-BE49-F238E27FC236}">
                <a16:creationId xmlns:a16="http://schemas.microsoft.com/office/drawing/2014/main" id="{1A01C06A-7A01-4F40-8F8F-C3226FAB49B0}"/>
              </a:ext>
            </a:extLst>
          </p:cNvPr>
          <p:cNvSpPr/>
          <p:nvPr/>
        </p:nvSpPr>
        <p:spPr>
          <a:xfrm>
            <a:off x="1919970" y="1350869"/>
            <a:ext cx="423153" cy="4537954"/>
          </a:xfrm>
          <a:prstGeom prst="leftBrace">
            <a:avLst>
              <a:gd name="adj1" fmla="val 53718"/>
              <a:gd name="adj2" fmla="val 52466"/>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DB21DB59-90A0-4B71-9B1B-70AF65C1598E}"/>
              </a:ext>
            </a:extLst>
          </p:cNvPr>
          <p:cNvSpPr txBox="1"/>
          <p:nvPr/>
        </p:nvSpPr>
        <p:spPr>
          <a:xfrm>
            <a:off x="2352471" y="1090534"/>
            <a:ext cx="1861228"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有线网络</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10649425-0709-4A99-A2B1-4E87C29E6E0E}"/>
              </a:ext>
            </a:extLst>
          </p:cNvPr>
          <p:cNvSpPr txBox="1"/>
          <p:nvPr/>
        </p:nvSpPr>
        <p:spPr>
          <a:xfrm>
            <a:off x="2329776" y="5628488"/>
            <a:ext cx="1861228"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无线网络</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左大括号 22">
            <a:extLst>
              <a:ext uri="{FF2B5EF4-FFF2-40B4-BE49-F238E27FC236}">
                <a16:creationId xmlns:a16="http://schemas.microsoft.com/office/drawing/2014/main" id="{16433394-FD1A-4ABD-9946-C0DA34E50D2E}"/>
              </a:ext>
            </a:extLst>
          </p:cNvPr>
          <p:cNvSpPr/>
          <p:nvPr/>
        </p:nvSpPr>
        <p:spPr>
          <a:xfrm>
            <a:off x="4025633" y="1097310"/>
            <a:ext cx="273991" cy="2497060"/>
          </a:xfrm>
          <a:prstGeom prst="leftBrace">
            <a:avLst>
              <a:gd name="adj1" fmla="val 62180"/>
              <a:gd name="adj2" fmla="val 10491"/>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B84E5E7D-4BB9-43EF-970E-8BD85D61D9D4}"/>
              </a:ext>
            </a:extLst>
          </p:cNvPr>
          <p:cNvSpPr txBox="1"/>
          <p:nvPr/>
        </p:nvSpPr>
        <p:spPr>
          <a:xfrm>
            <a:off x="4334864" y="835700"/>
            <a:ext cx="2089261"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固定电话网络</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文本框 24">
            <a:extLst>
              <a:ext uri="{FF2B5EF4-FFF2-40B4-BE49-F238E27FC236}">
                <a16:creationId xmlns:a16="http://schemas.microsoft.com/office/drawing/2014/main" id="{DDCA03A8-9E40-473A-AF87-F1C43EB8E99C}"/>
              </a:ext>
            </a:extLst>
          </p:cNvPr>
          <p:cNvSpPr txBox="1"/>
          <p:nvPr/>
        </p:nvSpPr>
        <p:spPr>
          <a:xfrm>
            <a:off x="4334862" y="1353737"/>
            <a:ext cx="1871385"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计算机网络</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 name="文本框 25">
            <a:extLst>
              <a:ext uri="{FF2B5EF4-FFF2-40B4-BE49-F238E27FC236}">
                <a16:creationId xmlns:a16="http://schemas.microsoft.com/office/drawing/2014/main" id="{2C224D49-F37A-4A6E-9543-CDA3D421B1E6}"/>
              </a:ext>
            </a:extLst>
          </p:cNvPr>
          <p:cNvSpPr txBox="1"/>
          <p:nvPr/>
        </p:nvSpPr>
        <p:spPr>
          <a:xfrm>
            <a:off x="4334861" y="1874763"/>
            <a:ext cx="1482279"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光纤通信</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文本框 26">
            <a:extLst>
              <a:ext uri="{FF2B5EF4-FFF2-40B4-BE49-F238E27FC236}">
                <a16:creationId xmlns:a16="http://schemas.microsoft.com/office/drawing/2014/main" id="{88D91828-D215-4806-A483-1937D0713050}"/>
              </a:ext>
            </a:extLst>
          </p:cNvPr>
          <p:cNvSpPr txBox="1"/>
          <p:nvPr/>
        </p:nvSpPr>
        <p:spPr>
          <a:xfrm>
            <a:off x="4334859" y="2371626"/>
            <a:ext cx="2129171"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有线电视网络</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文本框 27">
            <a:extLst>
              <a:ext uri="{FF2B5EF4-FFF2-40B4-BE49-F238E27FC236}">
                <a16:creationId xmlns:a16="http://schemas.microsoft.com/office/drawing/2014/main" id="{3C679F2E-C39F-4BE7-A125-9B55FB16DC51}"/>
              </a:ext>
            </a:extLst>
          </p:cNvPr>
          <p:cNvSpPr txBox="1"/>
          <p:nvPr/>
        </p:nvSpPr>
        <p:spPr>
          <a:xfrm>
            <a:off x="4334861" y="2888352"/>
            <a:ext cx="2396680"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工业物联网网络</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文本框 28">
            <a:extLst>
              <a:ext uri="{FF2B5EF4-FFF2-40B4-BE49-F238E27FC236}">
                <a16:creationId xmlns:a16="http://schemas.microsoft.com/office/drawing/2014/main" id="{C59705FD-1267-4806-A79C-C96E185B297F}"/>
              </a:ext>
            </a:extLst>
          </p:cNvPr>
          <p:cNvSpPr txBox="1"/>
          <p:nvPr/>
        </p:nvSpPr>
        <p:spPr>
          <a:xfrm>
            <a:off x="4334862" y="3372358"/>
            <a:ext cx="3940261"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其它：</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USB</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HDMI</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等</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文本框 29">
            <a:extLst>
              <a:ext uri="{FF2B5EF4-FFF2-40B4-BE49-F238E27FC236}">
                <a16:creationId xmlns:a16="http://schemas.microsoft.com/office/drawing/2014/main" id="{E515C853-1104-4286-A2C9-72629BCD035B}"/>
              </a:ext>
            </a:extLst>
          </p:cNvPr>
          <p:cNvSpPr txBox="1"/>
          <p:nvPr/>
        </p:nvSpPr>
        <p:spPr>
          <a:xfrm>
            <a:off x="6304993" y="835699"/>
            <a:ext cx="1472272"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：电话线</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文本框 30">
            <a:extLst>
              <a:ext uri="{FF2B5EF4-FFF2-40B4-BE49-F238E27FC236}">
                <a16:creationId xmlns:a16="http://schemas.microsoft.com/office/drawing/2014/main" id="{CCD24613-E0FA-401C-B432-2FD631B1DBA1}"/>
              </a:ext>
            </a:extLst>
          </p:cNvPr>
          <p:cNvSpPr txBox="1"/>
          <p:nvPr/>
        </p:nvSpPr>
        <p:spPr>
          <a:xfrm>
            <a:off x="6304993" y="1345300"/>
            <a:ext cx="1472272"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：双绞线</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文本框 31">
            <a:extLst>
              <a:ext uri="{FF2B5EF4-FFF2-40B4-BE49-F238E27FC236}">
                <a16:creationId xmlns:a16="http://schemas.microsoft.com/office/drawing/2014/main" id="{79BED783-F62F-40ED-B11A-FAF21E3E2F38}"/>
              </a:ext>
            </a:extLst>
          </p:cNvPr>
          <p:cNvSpPr txBox="1"/>
          <p:nvPr/>
        </p:nvSpPr>
        <p:spPr>
          <a:xfrm>
            <a:off x="6304993" y="1858463"/>
            <a:ext cx="1472272"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：光纤</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3" name="文本框 32">
            <a:extLst>
              <a:ext uri="{FF2B5EF4-FFF2-40B4-BE49-F238E27FC236}">
                <a16:creationId xmlns:a16="http://schemas.microsoft.com/office/drawing/2014/main" id="{6AD87FC2-DDB7-47B9-BE4D-30CB3B521F64}"/>
              </a:ext>
            </a:extLst>
          </p:cNvPr>
          <p:cNvSpPr txBox="1"/>
          <p:nvPr/>
        </p:nvSpPr>
        <p:spPr>
          <a:xfrm>
            <a:off x="6304991" y="2371626"/>
            <a:ext cx="2007293"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：同轴电缆</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4" name="文本框 33">
            <a:extLst>
              <a:ext uri="{FF2B5EF4-FFF2-40B4-BE49-F238E27FC236}">
                <a16:creationId xmlns:a16="http://schemas.microsoft.com/office/drawing/2014/main" id="{B987BADF-6882-42B4-B7C0-9069A0CC7C9C}"/>
              </a:ext>
            </a:extLst>
          </p:cNvPr>
          <p:cNvSpPr txBox="1"/>
          <p:nvPr/>
        </p:nvSpPr>
        <p:spPr>
          <a:xfrm>
            <a:off x="6651944" y="2897028"/>
            <a:ext cx="2007293"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PLC</a:t>
            </a:r>
          </a:p>
        </p:txBody>
      </p:sp>
      <p:sp>
        <p:nvSpPr>
          <p:cNvPr id="35" name="文本框 34">
            <a:extLst>
              <a:ext uri="{FF2B5EF4-FFF2-40B4-BE49-F238E27FC236}">
                <a16:creationId xmlns:a16="http://schemas.microsoft.com/office/drawing/2014/main" id="{7B742AAC-2EAF-4890-96F3-69167D770D8A}"/>
              </a:ext>
            </a:extLst>
          </p:cNvPr>
          <p:cNvSpPr txBox="1"/>
          <p:nvPr/>
        </p:nvSpPr>
        <p:spPr>
          <a:xfrm>
            <a:off x="2378361" y="1787734"/>
            <a:ext cx="1736440" cy="461665"/>
          </a:xfrm>
          <a:prstGeom prst="rect">
            <a:avLst/>
          </a:prstGeom>
          <a:noFill/>
        </p:spPr>
        <p:txBody>
          <a:bodyPr wrap="square" rtlCol="0">
            <a:spAutoFit/>
          </a:bodyPr>
          <a:lstStyle/>
          <a:p>
            <a:pPr>
              <a:spcAft>
                <a:spcPts val="600"/>
              </a:spcAft>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传输速度快</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 name="文本框 35">
            <a:extLst>
              <a:ext uri="{FF2B5EF4-FFF2-40B4-BE49-F238E27FC236}">
                <a16:creationId xmlns:a16="http://schemas.microsoft.com/office/drawing/2014/main" id="{26F9A1F0-740D-4B1A-AEC6-85CC952A7019}"/>
              </a:ext>
            </a:extLst>
          </p:cNvPr>
          <p:cNvSpPr txBox="1"/>
          <p:nvPr/>
        </p:nvSpPr>
        <p:spPr>
          <a:xfrm>
            <a:off x="2378361" y="2264791"/>
            <a:ext cx="1736440" cy="461665"/>
          </a:xfrm>
          <a:prstGeom prst="rect">
            <a:avLst/>
          </a:prstGeom>
          <a:noFill/>
        </p:spPr>
        <p:txBody>
          <a:bodyPr wrap="square" rtlCol="0">
            <a:spAutoFit/>
          </a:bodyPr>
          <a:lstStyle/>
          <a:p>
            <a:pPr>
              <a:spcAft>
                <a:spcPts val="600"/>
              </a:spcAft>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稳定性强</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7" name="文本框 36">
            <a:extLst>
              <a:ext uri="{FF2B5EF4-FFF2-40B4-BE49-F238E27FC236}">
                <a16:creationId xmlns:a16="http://schemas.microsoft.com/office/drawing/2014/main" id="{341C6DF9-2796-4002-A95C-E7DAF3E7E599}"/>
              </a:ext>
            </a:extLst>
          </p:cNvPr>
          <p:cNvSpPr txBox="1"/>
          <p:nvPr/>
        </p:nvSpPr>
        <p:spPr>
          <a:xfrm>
            <a:off x="2392170" y="2698747"/>
            <a:ext cx="1736440" cy="461665"/>
          </a:xfrm>
          <a:prstGeom prst="rect">
            <a:avLst/>
          </a:prstGeom>
          <a:noFill/>
        </p:spPr>
        <p:txBody>
          <a:bodyPr wrap="square" rtlCol="0">
            <a:spAutoFit/>
          </a:bodyPr>
          <a:lstStyle/>
          <a:p>
            <a:pPr>
              <a:spcAft>
                <a:spcPts val="600"/>
              </a:spcAft>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抗干扰强</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 name="文本框 37">
            <a:extLst>
              <a:ext uri="{FF2B5EF4-FFF2-40B4-BE49-F238E27FC236}">
                <a16:creationId xmlns:a16="http://schemas.microsoft.com/office/drawing/2014/main" id="{6990B524-B49D-45F8-84C3-55C2A85B6C2D}"/>
              </a:ext>
            </a:extLst>
          </p:cNvPr>
          <p:cNvSpPr txBox="1"/>
          <p:nvPr/>
        </p:nvSpPr>
        <p:spPr>
          <a:xfrm>
            <a:off x="2392170" y="3158181"/>
            <a:ext cx="1736440" cy="461665"/>
          </a:xfrm>
          <a:prstGeom prst="rect">
            <a:avLst/>
          </a:prstGeom>
          <a:noFill/>
        </p:spPr>
        <p:txBody>
          <a:bodyPr wrap="square" rtlCol="0">
            <a:spAutoFit/>
          </a:bodyPr>
          <a:lstStyle/>
          <a:p>
            <a:pP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扩展性差</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文本框 38">
            <a:extLst>
              <a:ext uri="{FF2B5EF4-FFF2-40B4-BE49-F238E27FC236}">
                <a16:creationId xmlns:a16="http://schemas.microsoft.com/office/drawing/2014/main" id="{DC186FA7-E86D-4A67-8968-A6063B2E75B8}"/>
              </a:ext>
            </a:extLst>
          </p:cNvPr>
          <p:cNvSpPr txBox="1"/>
          <p:nvPr/>
        </p:nvSpPr>
        <p:spPr>
          <a:xfrm>
            <a:off x="2392170" y="3563312"/>
            <a:ext cx="1736440" cy="461665"/>
          </a:xfrm>
          <a:prstGeom prst="rect">
            <a:avLst/>
          </a:prstGeom>
          <a:noFill/>
        </p:spPr>
        <p:txBody>
          <a:bodyPr wrap="square" rtlCol="0">
            <a:spAutoFit/>
          </a:bodyPr>
          <a:lstStyle/>
          <a:p>
            <a:pP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灵活性不强</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44856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500"/>
                                        <p:tgtEl>
                                          <p:spTgt spid="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xEl>
                                              <p:pRg st="0" end="0"/>
                                            </p:txEl>
                                          </p:spTgt>
                                        </p:tgtEl>
                                        <p:attrNameLst>
                                          <p:attrName>style.visibility</p:attrName>
                                        </p:attrNameLst>
                                      </p:cBhvr>
                                      <p:to>
                                        <p:strVal val="visible"/>
                                      </p:to>
                                    </p:set>
                                    <p:animEffect transition="in" filter="fade">
                                      <p:cBhvr>
                                        <p:cTn id="17" dur="500"/>
                                        <p:tgtEl>
                                          <p:spTgt spid="2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xEl>
                                              <p:pRg st="0" end="0"/>
                                            </p:txEl>
                                          </p:spTgt>
                                        </p:tgtEl>
                                        <p:attrNameLst>
                                          <p:attrName>style.visibility</p:attrName>
                                        </p:attrNameLst>
                                      </p:cBhvr>
                                      <p:to>
                                        <p:strVal val="visible"/>
                                      </p:to>
                                    </p:set>
                                    <p:animEffect transition="in" filter="fade">
                                      <p:cBhvr>
                                        <p:cTn id="22" dur="500"/>
                                        <p:tgtEl>
                                          <p:spTgt spid="2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xEl>
                                              <p:pRg st="0" end="0"/>
                                            </p:txEl>
                                          </p:spTgt>
                                        </p:tgtEl>
                                        <p:attrNameLst>
                                          <p:attrName>style.visibility</p:attrName>
                                        </p:attrNameLst>
                                      </p:cBhvr>
                                      <p:to>
                                        <p:strVal val="visible"/>
                                      </p:to>
                                    </p:set>
                                    <p:animEffect transition="in" filter="fade">
                                      <p:cBhvr>
                                        <p:cTn id="27" dur="500"/>
                                        <p:tgtEl>
                                          <p:spTgt spid="2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xEl>
                                              <p:pRg st="0" end="0"/>
                                            </p:txEl>
                                          </p:spTgt>
                                        </p:tgtEl>
                                        <p:attrNameLst>
                                          <p:attrName>style.visibility</p:attrName>
                                        </p:attrNameLst>
                                      </p:cBhvr>
                                      <p:to>
                                        <p:strVal val="visible"/>
                                      </p:to>
                                    </p:set>
                                    <p:animEffect transition="in" filter="fade">
                                      <p:cBhvr>
                                        <p:cTn id="32" dur="500"/>
                                        <p:tgtEl>
                                          <p:spTgt spid="2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xEl>
                                              <p:pRg st="0" end="0"/>
                                            </p:txEl>
                                          </p:spTgt>
                                        </p:tgtEl>
                                        <p:attrNameLst>
                                          <p:attrName>style.visibility</p:attrName>
                                        </p:attrNameLst>
                                      </p:cBhvr>
                                      <p:to>
                                        <p:strVal val="visible"/>
                                      </p:to>
                                    </p:set>
                                    <p:animEffect transition="in" filter="fade">
                                      <p:cBhvr>
                                        <p:cTn id="37" dur="500"/>
                                        <p:tgtEl>
                                          <p:spTgt spid="2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xEl>
                                              <p:pRg st="0" end="0"/>
                                            </p:txEl>
                                          </p:spTgt>
                                        </p:tgtEl>
                                        <p:attrNameLst>
                                          <p:attrName>style.visibility</p:attrName>
                                        </p:attrNameLst>
                                      </p:cBhvr>
                                      <p:to>
                                        <p:strVal val="visible"/>
                                      </p:to>
                                    </p:set>
                                    <p:animEffect transition="in" filter="fade">
                                      <p:cBhvr>
                                        <p:cTn id="42" dur="500"/>
                                        <p:tgtEl>
                                          <p:spTgt spid="28">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
                                            <p:txEl>
                                              <p:pRg st="0" end="0"/>
                                            </p:txEl>
                                          </p:spTgt>
                                        </p:tgtEl>
                                        <p:attrNameLst>
                                          <p:attrName>style.visibility</p:attrName>
                                        </p:attrNameLst>
                                      </p:cBhvr>
                                      <p:to>
                                        <p:strVal val="visible"/>
                                      </p:to>
                                    </p:set>
                                    <p:animEffect transition="in" filter="fade">
                                      <p:cBhvr>
                                        <p:cTn id="47" dur="500"/>
                                        <p:tgtEl>
                                          <p:spTgt spid="2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0">
                                            <p:txEl>
                                              <p:pRg st="0" end="0"/>
                                            </p:txEl>
                                          </p:spTgt>
                                        </p:tgtEl>
                                        <p:attrNameLst>
                                          <p:attrName>style.visibility</p:attrName>
                                        </p:attrNameLst>
                                      </p:cBhvr>
                                      <p:to>
                                        <p:strVal val="visible"/>
                                      </p:to>
                                    </p:set>
                                    <p:animEffect transition="in" filter="fade">
                                      <p:cBhvr>
                                        <p:cTn id="52" dur="500"/>
                                        <p:tgtEl>
                                          <p:spTgt spid="30">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1">
                                            <p:txEl>
                                              <p:pRg st="0" end="0"/>
                                            </p:txEl>
                                          </p:spTgt>
                                        </p:tgtEl>
                                        <p:attrNameLst>
                                          <p:attrName>style.visibility</p:attrName>
                                        </p:attrNameLst>
                                      </p:cBhvr>
                                      <p:to>
                                        <p:strVal val="visible"/>
                                      </p:to>
                                    </p:set>
                                    <p:animEffect transition="in" filter="fade">
                                      <p:cBhvr>
                                        <p:cTn id="57" dur="500"/>
                                        <p:tgtEl>
                                          <p:spTgt spid="31">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2">
                                            <p:txEl>
                                              <p:pRg st="0" end="0"/>
                                            </p:txEl>
                                          </p:spTgt>
                                        </p:tgtEl>
                                        <p:attrNameLst>
                                          <p:attrName>style.visibility</p:attrName>
                                        </p:attrNameLst>
                                      </p:cBhvr>
                                      <p:to>
                                        <p:strVal val="visible"/>
                                      </p:to>
                                    </p:set>
                                    <p:animEffect transition="in" filter="fade">
                                      <p:cBhvr>
                                        <p:cTn id="62" dur="500"/>
                                        <p:tgtEl>
                                          <p:spTgt spid="32">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3">
                                            <p:txEl>
                                              <p:pRg st="0" end="0"/>
                                            </p:txEl>
                                          </p:spTgt>
                                        </p:tgtEl>
                                        <p:attrNameLst>
                                          <p:attrName>style.visibility</p:attrName>
                                        </p:attrNameLst>
                                      </p:cBhvr>
                                      <p:to>
                                        <p:strVal val="visible"/>
                                      </p:to>
                                    </p:set>
                                    <p:animEffect transition="in" filter="fade">
                                      <p:cBhvr>
                                        <p:cTn id="67" dur="500"/>
                                        <p:tgtEl>
                                          <p:spTgt spid="33">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4">
                                            <p:txEl>
                                              <p:pRg st="0" end="0"/>
                                            </p:txEl>
                                          </p:spTgt>
                                        </p:tgtEl>
                                        <p:attrNameLst>
                                          <p:attrName>style.visibility</p:attrName>
                                        </p:attrNameLst>
                                      </p:cBhvr>
                                      <p:to>
                                        <p:strVal val="visible"/>
                                      </p:to>
                                    </p:set>
                                    <p:animEffect transition="in" filter="fade">
                                      <p:cBhvr>
                                        <p:cTn id="72" dur="500"/>
                                        <p:tgtEl>
                                          <p:spTgt spid="34">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5">
                                            <p:txEl>
                                              <p:pRg st="0" end="0"/>
                                            </p:txEl>
                                          </p:spTgt>
                                        </p:tgtEl>
                                        <p:attrNameLst>
                                          <p:attrName>style.visibility</p:attrName>
                                        </p:attrNameLst>
                                      </p:cBhvr>
                                      <p:to>
                                        <p:strVal val="visible"/>
                                      </p:to>
                                    </p:set>
                                    <p:animEffect transition="in" filter="fade">
                                      <p:cBhvr>
                                        <p:cTn id="77" dur="500"/>
                                        <p:tgtEl>
                                          <p:spTgt spid="35">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6">
                                            <p:txEl>
                                              <p:pRg st="0" end="0"/>
                                            </p:txEl>
                                          </p:spTgt>
                                        </p:tgtEl>
                                        <p:attrNameLst>
                                          <p:attrName>style.visibility</p:attrName>
                                        </p:attrNameLst>
                                      </p:cBhvr>
                                      <p:to>
                                        <p:strVal val="visible"/>
                                      </p:to>
                                    </p:set>
                                    <p:animEffect transition="in" filter="fade">
                                      <p:cBhvr>
                                        <p:cTn id="82" dur="500"/>
                                        <p:tgtEl>
                                          <p:spTgt spid="36">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7">
                                            <p:txEl>
                                              <p:pRg st="0" end="0"/>
                                            </p:txEl>
                                          </p:spTgt>
                                        </p:tgtEl>
                                        <p:attrNameLst>
                                          <p:attrName>style.visibility</p:attrName>
                                        </p:attrNameLst>
                                      </p:cBhvr>
                                      <p:to>
                                        <p:strVal val="visible"/>
                                      </p:to>
                                    </p:set>
                                    <p:animEffect transition="in" filter="fade">
                                      <p:cBhvr>
                                        <p:cTn id="87" dur="500"/>
                                        <p:tgtEl>
                                          <p:spTgt spid="37">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8">
                                            <p:txEl>
                                              <p:pRg st="0" end="0"/>
                                            </p:txEl>
                                          </p:spTgt>
                                        </p:tgtEl>
                                        <p:attrNameLst>
                                          <p:attrName>style.visibility</p:attrName>
                                        </p:attrNameLst>
                                      </p:cBhvr>
                                      <p:to>
                                        <p:strVal val="visible"/>
                                      </p:to>
                                    </p:set>
                                    <p:animEffect transition="in" filter="fade">
                                      <p:cBhvr>
                                        <p:cTn id="92" dur="500"/>
                                        <p:tgtEl>
                                          <p:spTgt spid="38">
                                            <p:txEl>
                                              <p:pRg st="0" end="0"/>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39">
                                            <p:txEl>
                                              <p:pRg st="0" end="0"/>
                                            </p:txEl>
                                          </p:spTgt>
                                        </p:tgtEl>
                                        <p:attrNameLst>
                                          <p:attrName>style.visibility</p:attrName>
                                        </p:attrNameLst>
                                      </p:cBhvr>
                                      <p:to>
                                        <p:strVal val="visible"/>
                                      </p:to>
                                    </p:set>
                                    <p:animEffect transition="in" filter="fade">
                                      <p:cBhvr>
                                        <p:cTn id="97" dur="500"/>
                                        <p:tgtEl>
                                          <p:spTgt spid="3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29</a:t>
            </a:fld>
            <a:endParaRPr lang="zh-CN" altLang="en-US"/>
          </a:p>
        </p:txBody>
      </p:sp>
      <p:sp>
        <p:nvSpPr>
          <p:cNvPr id="7" name="文本框 6"/>
          <p:cNvSpPr txBox="1"/>
          <p:nvPr/>
        </p:nvSpPr>
        <p:spPr>
          <a:xfrm>
            <a:off x="6424125" y="11140"/>
            <a:ext cx="2608406"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1.4 </a:t>
            </a:r>
            <a:r>
              <a:rPr lang="zh-CN" altLang="en-US" b="1" dirty="0">
                <a:latin typeface="Times New Roman" panose="02020603050405020304" pitchFamily="18" charset="0"/>
                <a:cs typeface="Times New Roman" panose="02020603050405020304" pitchFamily="18" charset="0"/>
              </a:rPr>
              <a:t>无线传感器网络架构</a:t>
            </a:r>
          </a:p>
        </p:txBody>
      </p:sp>
      <p:sp>
        <p:nvSpPr>
          <p:cNvPr id="12" name="文本框 11">
            <a:extLst>
              <a:ext uri="{FF2B5EF4-FFF2-40B4-BE49-F238E27FC236}">
                <a16:creationId xmlns:a16="http://schemas.microsoft.com/office/drawing/2014/main" id="{53EB7D22-53D3-4680-A49E-61F8B662CC55}"/>
              </a:ext>
            </a:extLst>
          </p:cNvPr>
          <p:cNvSpPr txBox="1"/>
          <p:nvPr/>
        </p:nvSpPr>
        <p:spPr>
          <a:xfrm>
            <a:off x="194551" y="0"/>
            <a:ext cx="488660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3" name="文本框 12">
            <a:extLst>
              <a:ext uri="{FF2B5EF4-FFF2-40B4-BE49-F238E27FC236}">
                <a16:creationId xmlns:a16="http://schemas.microsoft.com/office/drawing/2014/main" id="{AF1B50EF-A9BA-47FA-A785-14C3EC035F16}"/>
              </a:ext>
            </a:extLst>
          </p:cNvPr>
          <p:cNvSpPr txBox="1"/>
          <p:nvPr/>
        </p:nvSpPr>
        <p:spPr>
          <a:xfrm>
            <a:off x="235084" y="3482675"/>
            <a:ext cx="1861228"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网络架构</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左大括号 1">
            <a:extLst>
              <a:ext uri="{FF2B5EF4-FFF2-40B4-BE49-F238E27FC236}">
                <a16:creationId xmlns:a16="http://schemas.microsoft.com/office/drawing/2014/main" id="{1A01C06A-7A01-4F40-8F8F-C3226FAB49B0}"/>
              </a:ext>
            </a:extLst>
          </p:cNvPr>
          <p:cNvSpPr/>
          <p:nvPr/>
        </p:nvSpPr>
        <p:spPr>
          <a:xfrm>
            <a:off x="1919970" y="1350869"/>
            <a:ext cx="423153" cy="4537954"/>
          </a:xfrm>
          <a:prstGeom prst="leftBrace">
            <a:avLst>
              <a:gd name="adj1" fmla="val 53718"/>
              <a:gd name="adj2" fmla="val 52466"/>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DB21DB59-90A0-4B71-9B1B-70AF65C1598E}"/>
              </a:ext>
            </a:extLst>
          </p:cNvPr>
          <p:cNvSpPr txBox="1"/>
          <p:nvPr/>
        </p:nvSpPr>
        <p:spPr>
          <a:xfrm>
            <a:off x="2352471" y="1090534"/>
            <a:ext cx="1861228"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有线网络</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10649425-0709-4A99-A2B1-4E87C29E6E0E}"/>
              </a:ext>
            </a:extLst>
          </p:cNvPr>
          <p:cNvSpPr txBox="1"/>
          <p:nvPr/>
        </p:nvSpPr>
        <p:spPr>
          <a:xfrm>
            <a:off x="2329776" y="5628488"/>
            <a:ext cx="1861228"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无线网络</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左大括号 22">
            <a:extLst>
              <a:ext uri="{FF2B5EF4-FFF2-40B4-BE49-F238E27FC236}">
                <a16:creationId xmlns:a16="http://schemas.microsoft.com/office/drawing/2014/main" id="{16433394-FD1A-4ABD-9946-C0DA34E50D2E}"/>
              </a:ext>
            </a:extLst>
          </p:cNvPr>
          <p:cNvSpPr/>
          <p:nvPr/>
        </p:nvSpPr>
        <p:spPr>
          <a:xfrm>
            <a:off x="4040661" y="2485417"/>
            <a:ext cx="273991" cy="3870933"/>
          </a:xfrm>
          <a:prstGeom prst="leftBrace">
            <a:avLst>
              <a:gd name="adj1" fmla="val 62180"/>
              <a:gd name="adj2" fmla="val 88535"/>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B84E5E7D-4BB9-43EF-970E-8BD85D61D9D4}"/>
              </a:ext>
            </a:extLst>
          </p:cNvPr>
          <p:cNvSpPr txBox="1"/>
          <p:nvPr/>
        </p:nvSpPr>
        <p:spPr>
          <a:xfrm>
            <a:off x="4310544" y="2279636"/>
            <a:ext cx="2089261"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蜂窝网络通信</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文本框 29">
            <a:extLst>
              <a:ext uri="{FF2B5EF4-FFF2-40B4-BE49-F238E27FC236}">
                <a16:creationId xmlns:a16="http://schemas.microsoft.com/office/drawing/2014/main" id="{E515C853-1104-4286-A2C9-72629BCD035B}"/>
              </a:ext>
            </a:extLst>
          </p:cNvPr>
          <p:cNvSpPr txBox="1"/>
          <p:nvPr/>
        </p:nvSpPr>
        <p:spPr>
          <a:xfrm>
            <a:off x="6282142" y="2298718"/>
            <a:ext cx="2698256"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：模拟</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数字通信</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文本框 34">
            <a:extLst>
              <a:ext uri="{FF2B5EF4-FFF2-40B4-BE49-F238E27FC236}">
                <a16:creationId xmlns:a16="http://schemas.microsoft.com/office/drawing/2014/main" id="{7B742AAC-2EAF-4890-96F3-69167D770D8A}"/>
              </a:ext>
            </a:extLst>
          </p:cNvPr>
          <p:cNvSpPr txBox="1"/>
          <p:nvPr/>
        </p:nvSpPr>
        <p:spPr>
          <a:xfrm>
            <a:off x="2156103" y="2617816"/>
            <a:ext cx="1736440" cy="461665"/>
          </a:xfrm>
          <a:prstGeom prst="rect">
            <a:avLst/>
          </a:prstGeom>
          <a:noFill/>
        </p:spPr>
        <p:txBody>
          <a:bodyPr wrap="square" rtlCol="0">
            <a:spAutoFit/>
          </a:bodyPr>
          <a:lstStyle/>
          <a:p>
            <a:pPr>
              <a:spcAft>
                <a:spcPts val="600"/>
              </a:spcAft>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传输速度快</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 name="文本框 35">
            <a:extLst>
              <a:ext uri="{FF2B5EF4-FFF2-40B4-BE49-F238E27FC236}">
                <a16:creationId xmlns:a16="http://schemas.microsoft.com/office/drawing/2014/main" id="{26F9A1F0-740D-4B1A-AEC6-85CC952A7019}"/>
              </a:ext>
            </a:extLst>
          </p:cNvPr>
          <p:cNvSpPr txBox="1"/>
          <p:nvPr/>
        </p:nvSpPr>
        <p:spPr>
          <a:xfrm>
            <a:off x="2155617" y="3079481"/>
            <a:ext cx="1736440" cy="461665"/>
          </a:xfrm>
          <a:prstGeom prst="rect">
            <a:avLst/>
          </a:prstGeom>
          <a:noFill/>
        </p:spPr>
        <p:txBody>
          <a:bodyPr wrap="square" rtlCol="0">
            <a:spAutoFit/>
          </a:bodyPr>
          <a:lstStyle/>
          <a:p>
            <a:pPr>
              <a:spcAft>
                <a:spcPts val="600"/>
              </a:spcAft>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移动性强</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 name="文本框 39">
            <a:extLst>
              <a:ext uri="{FF2B5EF4-FFF2-40B4-BE49-F238E27FC236}">
                <a16:creationId xmlns:a16="http://schemas.microsoft.com/office/drawing/2014/main" id="{EE97F18E-EF92-4396-BBAD-02D38A5A284C}"/>
              </a:ext>
            </a:extLst>
          </p:cNvPr>
          <p:cNvSpPr txBox="1"/>
          <p:nvPr/>
        </p:nvSpPr>
        <p:spPr>
          <a:xfrm>
            <a:off x="6282142" y="2789444"/>
            <a:ext cx="2698256"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1/2/3/4/5/6G</a:t>
            </a:r>
          </a:p>
        </p:txBody>
      </p:sp>
      <p:sp>
        <p:nvSpPr>
          <p:cNvPr id="41" name="文本框 40">
            <a:extLst>
              <a:ext uri="{FF2B5EF4-FFF2-40B4-BE49-F238E27FC236}">
                <a16:creationId xmlns:a16="http://schemas.microsoft.com/office/drawing/2014/main" id="{DA14B1AC-FEF3-47E4-9583-9057816CC973}"/>
              </a:ext>
            </a:extLst>
          </p:cNvPr>
          <p:cNvSpPr txBox="1"/>
          <p:nvPr/>
        </p:nvSpPr>
        <p:spPr>
          <a:xfrm>
            <a:off x="4350449" y="3375619"/>
            <a:ext cx="2089261"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对讲机网络</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文本框 41">
            <a:extLst>
              <a:ext uri="{FF2B5EF4-FFF2-40B4-BE49-F238E27FC236}">
                <a16:creationId xmlns:a16="http://schemas.microsoft.com/office/drawing/2014/main" id="{97D47C29-6A69-4F85-9506-601B234B2871}"/>
              </a:ext>
            </a:extLst>
          </p:cNvPr>
          <p:cNvSpPr txBox="1"/>
          <p:nvPr/>
        </p:nvSpPr>
        <p:spPr>
          <a:xfrm>
            <a:off x="6282142" y="3363228"/>
            <a:ext cx="2698256"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：模拟</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数字通信</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文本框 42">
            <a:extLst>
              <a:ext uri="{FF2B5EF4-FFF2-40B4-BE49-F238E27FC236}">
                <a16:creationId xmlns:a16="http://schemas.microsoft.com/office/drawing/2014/main" id="{47AB9F0D-4BB5-4294-9921-E59247433414}"/>
              </a:ext>
            </a:extLst>
          </p:cNvPr>
          <p:cNvSpPr txBox="1"/>
          <p:nvPr/>
        </p:nvSpPr>
        <p:spPr>
          <a:xfrm>
            <a:off x="4338426" y="4023840"/>
            <a:ext cx="1608330" cy="461665"/>
          </a:xfrm>
          <a:prstGeom prst="rect">
            <a:avLst/>
          </a:prstGeom>
          <a:noFill/>
        </p:spPr>
        <p:txBody>
          <a:bodyPr wrap="square" rtlCol="0">
            <a:spAutoFit/>
          </a:bodyPr>
          <a:lstStyle/>
          <a:p>
            <a:pPr>
              <a:spcAft>
                <a:spcPts val="600"/>
              </a:spcAft>
            </a:pPr>
            <a:r>
              <a:rPr lang="en-US" altLang="zh-CN" sz="2400" b="1" dirty="0" err="1">
                <a:latin typeface="微软雅黑" panose="020B0503020204020204" pitchFamily="34" charset="-122"/>
                <a:ea typeface="微软雅黑" panose="020B0503020204020204" pitchFamily="34" charset="-122"/>
                <a:cs typeface="Times New Roman" panose="02020603050405020304" pitchFamily="18" charset="0"/>
              </a:rPr>
              <a:t>WiFi</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网络</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4" name="文本框 43">
            <a:extLst>
              <a:ext uri="{FF2B5EF4-FFF2-40B4-BE49-F238E27FC236}">
                <a16:creationId xmlns:a16="http://schemas.microsoft.com/office/drawing/2014/main" id="{85A82CFF-7ED1-4B2D-A74F-3E1297C6FA52}"/>
              </a:ext>
            </a:extLst>
          </p:cNvPr>
          <p:cNvSpPr txBox="1"/>
          <p:nvPr/>
        </p:nvSpPr>
        <p:spPr>
          <a:xfrm>
            <a:off x="6309955" y="4023840"/>
            <a:ext cx="2698256"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IEEE802.11xx</a:t>
            </a:r>
          </a:p>
        </p:txBody>
      </p:sp>
      <p:sp>
        <p:nvSpPr>
          <p:cNvPr id="45" name="文本框 44">
            <a:extLst>
              <a:ext uri="{FF2B5EF4-FFF2-40B4-BE49-F238E27FC236}">
                <a16:creationId xmlns:a16="http://schemas.microsoft.com/office/drawing/2014/main" id="{E5BD4B0C-1E6E-4D7D-9FF4-5CF8D70471EB}"/>
              </a:ext>
            </a:extLst>
          </p:cNvPr>
          <p:cNvSpPr txBox="1"/>
          <p:nvPr/>
        </p:nvSpPr>
        <p:spPr>
          <a:xfrm>
            <a:off x="4379540" y="4618848"/>
            <a:ext cx="1608330"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蓝牙通信</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6" name="文本框 45">
            <a:extLst>
              <a:ext uri="{FF2B5EF4-FFF2-40B4-BE49-F238E27FC236}">
                <a16:creationId xmlns:a16="http://schemas.microsoft.com/office/drawing/2014/main" id="{AFE6B5C9-0552-48A7-824A-D2CAA477F28B}"/>
              </a:ext>
            </a:extLst>
          </p:cNvPr>
          <p:cNvSpPr txBox="1"/>
          <p:nvPr/>
        </p:nvSpPr>
        <p:spPr>
          <a:xfrm>
            <a:off x="6309955" y="4617832"/>
            <a:ext cx="2698256"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：短距离通信技术</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7" name="文本框 46">
            <a:extLst>
              <a:ext uri="{FF2B5EF4-FFF2-40B4-BE49-F238E27FC236}">
                <a16:creationId xmlns:a16="http://schemas.microsoft.com/office/drawing/2014/main" id="{08B0B816-6B86-4CEF-B28E-86C38DF45F99}"/>
              </a:ext>
            </a:extLst>
          </p:cNvPr>
          <p:cNvSpPr txBox="1"/>
          <p:nvPr/>
        </p:nvSpPr>
        <p:spPr>
          <a:xfrm>
            <a:off x="4379540" y="5130143"/>
            <a:ext cx="1902602" cy="461665"/>
          </a:xfrm>
          <a:prstGeom prst="rect">
            <a:avLst/>
          </a:prstGeom>
          <a:noFill/>
        </p:spPr>
        <p:txBody>
          <a:bodyPr wrap="square" rtlCol="0">
            <a:spAutoFit/>
          </a:bodyPr>
          <a:lstStyle/>
          <a:p>
            <a:pPr>
              <a:spcAft>
                <a:spcPts val="60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ZigBee</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通信</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8" name="文本框 47">
            <a:extLst>
              <a:ext uri="{FF2B5EF4-FFF2-40B4-BE49-F238E27FC236}">
                <a16:creationId xmlns:a16="http://schemas.microsoft.com/office/drawing/2014/main" id="{3B01A75E-9B9D-4CE8-9CF9-75F2514BCC73}"/>
              </a:ext>
            </a:extLst>
          </p:cNvPr>
          <p:cNvSpPr txBox="1"/>
          <p:nvPr/>
        </p:nvSpPr>
        <p:spPr>
          <a:xfrm>
            <a:off x="6309955" y="5123478"/>
            <a:ext cx="2698256"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IEEE802.15.4</a:t>
            </a:r>
          </a:p>
        </p:txBody>
      </p:sp>
      <p:sp>
        <p:nvSpPr>
          <p:cNvPr id="49" name="文本框 48">
            <a:extLst>
              <a:ext uri="{FF2B5EF4-FFF2-40B4-BE49-F238E27FC236}">
                <a16:creationId xmlns:a16="http://schemas.microsoft.com/office/drawing/2014/main" id="{888CDEFA-D356-454B-97DC-57800652D5F9}"/>
              </a:ext>
            </a:extLst>
          </p:cNvPr>
          <p:cNvSpPr txBox="1"/>
          <p:nvPr/>
        </p:nvSpPr>
        <p:spPr>
          <a:xfrm>
            <a:off x="4379540" y="5547531"/>
            <a:ext cx="1902602" cy="461665"/>
          </a:xfrm>
          <a:prstGeom prst="rect">
            <a:avLst/>
          </a:prstGeom>
          <a:noFill/>
        </p:spPr>
        <p:txBody>
          <a:bodyPr wrap="square" rtlCol="0">
            <a:spAutoFit/>
          </a:bodyPr>
          <a:lstStyle/>
          <a:p>
            <a:pPr>
              <a:spcAft>
                <a:spcPts val="60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NFC</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通信</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0" name="文本框 49">
            <a:extLst>
              <a:ext uri="{FF2B5EF4-FFF2-40B4-BE49-F238E27FC236}">
                <a16:creationId xmlns:a16="http://schemas.microsoft.com/office/drawing/2014/main" id="{E0E73FFB-AE8B-44AF-A536-171ED4F4F59F}"/>
              </a:ext>
            </a:extLst>
          </p:cNvPr>
          <p:cNvSpPr txBox="1"/>
          <p:nvPr/>
        </p:nvSpPr>
        <p:spPr>
          <a:xfrm>
            <a:off x="6052172" y="5583192"/>
            <a:ext cx="2983852"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：超短距离通信技术</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1" name="文本框 50">
            <a:extLst>
              <a:ext uri="{FF2B5EF4-FFF2-40B4-BE49-F238E27FC236}">
                <a16:creationId xmlns:a16="http://schemas.microsoft.com/office/drawing/2014/main" id="{42E78B4C-591B-4F7F-8D2B-7A6C48967030}"/>
              </a:ext>
            </a:extLst>
          </p:cNvPr>
          <p:cNvSpPr txBox="1"/>
          <p:nvPr/>
        </p:nvSpPr>
        <p:spPr>
          <a:xfrm>
            <a:off x="4403873" y="6022913"/>
            <a:ext cx="1902602" cy="461665"/>
          </a:xfrm>
          <a:prstGeom prst="rect">
            <a:avLst/>
          </a:prstGeom>
          <a:noFill/>
        </p:spPr>
        <p:txBody>
          <a:bodyPr wrap="square" rtlCol="0">
            <a:spAutoFit/>
          </a:bodyPr>
          <a:lstStyle/>
          <a:p>
            <a:pPr>
              <a:spcAft>
                <a:spcPts val="60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LoRa</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通信</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2" name="文本框 51">
            <a:extLst>
              <a:ext uri="{FF2B5EF4-FFF2-40B4-BE49-F238E27FC236}">
                <a16:creationId xmlns:a16="http://schemas.microsoft.com/office/drawing/2014/main" id="{5BDA1DF8-6A9E-4241-8FF7-51E77D4A1A32}"/>
              </a:ext>
            </a:extLst>
          </p:cNvPr>
          <p:cNvSpPr txBox="1"/>
          <p:nvPr/>
        </p:nvSpPr>
        <p:spPr>
          <a:xfrm>
            <a:off x="6306475" y="5983152"/>
            <a:ext cx="2983852"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：长距离通信技术</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3" name="文本框 52">
            <a:extLst>
              <a:ext uri="{FF2B5EF4-FFF2-40B4-BE49-F238E27FC236}">
                <a16:creationId xmlns:a16="http://schemas.microsoft.com/office/drawing/2014/main" id="{582CAA21-4A5F-4D89-BA65-3EEC750B589D}"/>
              </a:ext>
            </a:extLst>
          </p:cNvPr>
          <p:cNvSpPr txBox="1"/>
          <p:nvPr/>
        </p:nvSpPr>
        <p:spPr>
          <a:xfrm>
            <a:off x="2171817" y="3476265"/>
            <a:ext cx="1736440" cy="461665"/>
          </a:xfrm>
          <a:prstGeom prst="rect">
            <a:avLst/>
          </a:prstGeom>
          <a:noFill/>
        </p:spPr>
        <p:txBody>
          <a:bodyPr wrap="square" rtlCol="0">
            <a:spAutoFit/>
          </a:bodyPr>
          <a:lstStyle/>
          <a:p>
            <a:pPr>
              <a:spcAft>
                <a:spcPts val="600"/>
              </a:spcAft>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部署更容易</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4" name="文本框 53">
            <a:extLst>
              <a:ext uri="{FF2B5EF4-FFF2-40B4-BE49-F238E27FC236}">
                <a16:creationId xmlns:a16="http://schemas.microsoft.com/office/drawing/2014/main" id="{F9D400A2-395F-4F95-AF79-67CCACBE9DDF}"/>
              </a:ext>
            </a:extLst>
          </p:cNvPr>
          <p:cNvSpPr txBox="1"/>
          <p:nvPr/>
        </p:nvSpPr>
        <p:spPr>
          <a:xfrm>
            <a:off x="2171816" y="3873049"/>
            <a:ext cx="2035831" cy="461665"/>
          </a:xfrm>
          <a:prstGeom prst="rect">
            <a:avLst/>
          </a:prstGeom>
          <a:noFill/>
        </p:spPr>
        <p:txBody>
          <a:bodyPr wrap="square" rtlCol="0">
            <a:spAutoFit/>
          </a:bodyPr>
          <a:lstStyle/>
          <a:p>
            <a:pP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频谱资源受限</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5" name="文本框 54">
            <a:extLst>
              <a:ext uri="{FF2B5EF4-FFF2-40B4-BE49-F238E27FC236}">
                <a16:creationId xmlns:a16="http://schemas.microsoft.com/office/drawing/2014/main" id="{FA6FE572-6C90-43F9-9C3B-E1C02E115858}"/>
              </a:ext>
            </a:extLst>
          </p:cNvPr>
          <p:cNvSpPr txBox="1"/>
          <p:nvPr/>
        </p:nvSpPr>
        <p:spPr>
          <a:xfrm>
            <a:off x="2163712" y="4289103"/>
            <a:ext cx="2035831" cy="461665"/>
          </a:xfrm>
          <a:prstGeom prst="rect">
            <a:avLst/>
          </a:prstGeom>
          <a:noFill/>
        </p:spPr>
        <p:txBody>
          <a:bodyPr wrap="square" rtlCol="0">
            <a:spAutoFit/>
          </a:bodyPr>
          <a:lstStyle/>
          <a:p>
            <a:pP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信号衰减严重</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6" name="文本框 55">
            <a:extLst>
              <a:ext uri="{FF2B5EF4-FFF2-40B4-BE49-F238E27FC236}">
                <a16:creationId xmlns:a16="http://schemas.microsoft.com/office/drawing/2014/main" id="{55779E54-4F8D-40D5-8BD2-C3C23D9866F4}"/>
              </a:ext>
            </a:extLst>
          </p:cNvPr>
          <p:cNvSpPr txBox="1"/>
          <p:nvPr/>
        </p:nvSpPr>
        <p:spPr>
          <a:xfrm>
            <a:off x="2163711" y="4697945"/>
            <a:ext cx="2035831" cy="461665"/>
          </a:xfrm>
          <a:prstGeom prst="rect">
            <a:avLst/>
          </a:prstGeom>
          <a:noFill/>
        </p:spPr>
        <p:txBody>
          <a:bodyPr wrap="square" rtlCol="0">
            <a:spAutoFit/>
          </a:bodyPr>
          <a:lstStyle/>
          <a:p>
            <a:pP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干扰强</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7" name="文本框 56">
            <a:extLst>
              <a:ext uri="{FF2B5EF4-FFF2-40B4-BE49-F238E27FC236}">
                <a16:creationId xmlns:a16="http://schemas.microsoft.com/office/drawing/2014/main" id="{8B5022F1-8C69-4BF4-A38F-B627B71EF82C}"/>
              </a:ext>
            </a:extLst>
          </p:cNvPr>
          <p:cNvSpPr txBox="1"/>
          <p:nvPr/>
        </p:nvSpPr>
        <p:spPr>
          <a:xfrm>
            <a:off x="2151667" y="5130143"/>
            <a:ext cx="2035831" cy="461665"/>
          </a:xfrm>
          <a:prstGeom prst="rect">
            <a:avLst/>
          </a:prstGeom>
          <a:noFill/>
        </p:spPr>
        <p:txBody>
          <a:bodyPr wrap="square" rtlCol="0">
            <a:spAutoFit/>
          </a:bodyPr>
          <a:lstStyle/>
          <a:p>
            <a:pPr>
              <a:spcAft>
                <a:spcPts val="600"/>
              </a:spcAft>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安全性挑战</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a16="http://schemas.microsoft.com/office/drawing/2014/main" id="{BA201AAE-406A-44FB-901B-1C20479EAB6E}"/>
              </a:ext>
            </a:extLst>
          </p:cNvPr>
          <p:cNvSpPr/>
          <p:nvPr/>
        </p:nvSpPr>
        <p:spPr>
          <a:xfrm>
            <a:off x="4379539" y="2208179"/>
            <a:ext cx="1902533" cy="55220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5B91BE33-5BB8-4CAC-9284-A7CFE1A2451C}"/>
              </a:ext>
            </a:extLst>
          </p:cNvPr>
          <p:cNvSpPr/>
          <p:nvPr/>
        </p:nvSpPr>
        <p:spPr>
          <a:xfrm>
            <a:off x="4431239" y="5030988"/>
            <a:ext cx="1902533" cy="55220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3E028AC6-7AB2-47F2-B0AD-6571CA9CE482}"/>
              </a:ext>
            </a:extLst>
          </p:cNvPr>
          <p:cNvSpPr/>
          <p:nvPr/>
        </p:nvSpPr>
        <p:spPr>
          <a:xfrm>
            <a:off x="4445307" y="5977643"/>
            <a:ext cx="1902533" cy="55220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01020878-5D3A-4006-9C4D-2E6CF9979A6A}"/>
              </a:ext>
            </a:extLst>
          </p:cNvPr>
          <p:cNvGrpSpPr/>
          <p:nvPr/>
        </p:nvGrpSpPr>
        <p:grpSpPr>
          <a:xfrm>
            <a:off x="5081154" y="691966"/>
            <a:ext cx="3021986" cy="1276178"/>
            <a:chOff x="5081154" y="691966"/>
            <a:chExt cx="3021986" cy="1276178"/>
          </a:xfrm>
        </p:grpSpPr>
        <p:sp>
          <p:nvSpPr>
            <p:cNvPr id="5" name="思想气泡: 云 4">
              <a:extLst>
                <a:ext uri="{FF2B5EF4-FFF2-40B4-BE49-F238E27FC236}">
                  <a16:creationId xmlns:a16="http://schemas.microsoft.com/office/drawing/2014/main" id="{C43E5A88-82EE-4ADD-B37F-967F19B4393D}"/>
                </a:ext>
              </a:extLst>
            </p:cNvPr>
            <p:cNvSpPr/>
            <p:nvPr/>
          </p:nvSpPr>
          <p:spPr>
            <a:xfrm>
              <a:off x="5081154" y="691966"/>
              <a:ext cx="3021986" cy="1276178"/>
            </a:xfrm>
            <a:prstGeom prst="cloudCallou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A54F1CD5-457E-4A79-BB01-79616D35EA6F}"/>
                </a:ext>
              </a:extLst>
            </p:cNvPr>
            <p:cNvSpPr txBox="1"/>
            <p:nvPr/>
          </p:nvSpPr>
          <p:spPr>
            <a:xfrm>
              <a:off x="5455270" y="941501"/>
              <a:ext cx="2273058" cy="830997"/>
            </a:xfrm>
            <a:prstGeom prst="rect">
              <a:avLst/>
            </a:prstGeom>
            <a:noFill/>
          </p:spPr>
          <p:txBody>
            <a:bodyPr wrap="square" rtlCol="0">
              <a:spAutoFit/>
            </a:bodyPr>
            <a:lstStyle/>
            <a:p>
              <a:pPr algn="ct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无线传感器网络技术</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1816664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500"/>
                                        <p:tgtEl>
                                          <p:spTgt spid="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xEl>
                                              <p:pRg st="0" end="0"/>
                                            </p:txEl>
                                          </p:spTgt>
                                        </p:tgtEl>
                                        <p:attrNameLst>
                                          <p:attrName>style.visibility</p:attrName>
                                        </p:attrNameLst>
                                      </p:cBhvr>
                                      <p:to>
                                        <p:strVal val="visible"/>
                                      </p:to>
                                    </p:set>
                                    <p:animEffect transition="in" filter="fade">
                                      <p:cBhvr>
                                        <p:cTn id="17" dur="500"/>
                                        <p:tgtEl>
                                          <p:spTgt spid="2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xEl>
                                              <p:pRg st="0" end="0"/>
                                            </p:txEl>
                                          </p:spTgt>
                                        </p:tgtEl>
                                        <p:attrNameLst>
                                          <p:attrName>style.visibility</p:attrName>
                                        </p:attrNameLst>
                                      </p:cBhvr>
                                      <p:to>
                                        <p:strVal val="visible"/>
                                      </p:to>
                                    </p:set>
                                    <p:animEffect transition="in" filter="fade">
                                      <p:cBhvr>
                                        <p:cTn id="22" dur="500"/>
                                        <p:tgtEl>
                                          <p:spTgt spid="2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xEl>
                                              <p:pRg st="0" end="0"/>
                                            </p:txEl>
                                          </p:spTgt>
                                        </p:tgtEl>
                                        <p:attrNameLst>
                                          <p:attrName>style.visibility</p:attrName>
                                        </p:attrNameLst>
                                      </p:cBhvr>
                                      <p:to>
                                        <p:strVal val="visible"/>
                                      </p:to>
                                    </p:set>
                                    <p:animEffect transition="in" filter="fade">
                                      <p:cBhvr>
                                        <p:cTn id="27" dur="500"/>
                                        <p:tgtEl>
                                          <p:spTgt spid="30">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xEl>
                                              <p:pRg st="0" end="0"/>
                                            </p:txEl>
                                          </p:spTgt>
                                        </p:tgtEl>
                                        <p:attrNameLst>
                                          <p:attrName>style.visibility</p:attrName>
                                        </p:attrNameLst>
                                      </p:cBhvr>
                                      <p:to>
                                        <p:strVal val="visible"/>
                                      </p:to>
                                    </p:set>
                                    <p:animEffect transition="in" filter="fade">
                                      <p:cBhvr>
                                        <p:cTn id="32" dur="500"/>
                                        <p:tgtEl>
                                          <p:spTgt spid="3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6">
                                            <p:txEl>
                                              <p:pRg st="0" end="0"/>
                                            </p:txEl>
                                          </p:spTgt>
                                        </p:tgtEl>
                                        <p:attrNameLst>
                                          <p:attrName>style.visibility</p:attrName>
                                        </p:attrNameLst>
                                      </p:cBhvr>
                                      <p:to>
                                        <p:strVal val="visible"/>
                                      </p:to>
                                    </p:set>
                                    <p:animEffect transition="in" filter="fade">
                                      <p:cBhvr>
                                        <p:cTn id="37" dur="500"/>
                                        <p:tgtEl>
                                          <p:spTgt spid="36">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0">
                                            <p:txEl>
                                              <p:pRg st="0" end="0"/>
                                            </p:txEl>
                                          </p:spTgt>
                                        </p:tgtEl>
                                        <p:attrNameLst>
                                          <p:attrName>style.visibility</p:attrName>
                                        </p:attrNameLst>
                                      </p:cBhvr>
                                      <p:to>
                                        <p:strVal val="visible"/>
                                      </p:to>
                                    </p:set>
                                    <p:animEffect transition="in" filter="fade">
                                      <p:cBhvr>
                                        <p:cTn id="42" dur="500"/>
                                        <p:tgtEl>
                                          <p:spTgt spid="40">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1">
                                            <p:txEl>
                                              <p:pRg st="0" end="0"/>
                                            </p:txEl>
                                          </p:spTgt>
                                        </p:tgtEl>
                                        <p:attrNameLst>
                                          <p:attrName>style.visibility</p:attrName>
                                        </p:attrNameLst>
                                      </p:cBhvr>
                                      <p:to>
                                        <p:strVal val="visible"/>
                                      </p:to>
                                    </p:set>
                                    <p:animEffect transition="in" filter="fade">
                                      <p:cBhvr>
                                        <p:cTn id="47" dur="500"/>
                                        <p:tgtEl>
                                          <p:spTgt spid="41">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2">
                                            <p:txEl>
                                              <p:pRg st="0" end="0"/>
                                            </p:txEl>
                                          </p:spTgt>
                                        </p:tgtEl>
                                        <p:attrNameLst>
                                          <p:attrName>style.visibility</p:attrName>
                                        </p:attrNameLst>
                                      </p:cBhvr>
                                      <p:to>
                                        <p:strVal val="visible"/>
                                      </p:to>
                                    </p:set>
                                    <p:animEffect transition="in" filter="fade">
                                      <p:cBhvr>
                                        <p:cTn id="52" dur="500"/>
                                        <p:tgtEl>
                                          <p:spTgt spid="4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3">
                                            <p:txEl>
                                              <p:pRg st="0" end="0"/>
                                            </p:txEl>
                                          </p:spTgt>
                                        </p:tgtEl>
                                        <p:attrNameLst>
                                          <p:attrName>style.visibility</p:attrName>
                                        </p:attrNameLst>
                                      </p:cBhvr>
                                      <p:to>
                                        <p:strVal val="visible"/>
                                      </p:to>
                                    </p:set>
                                    <p:animEffect transition="in" filter="fade">
                                      <p:cBhvr>
                                        <p:cTn id="57" dur="500"/>
                                        <p:tgtEl>
                                          <p:spTgt spid="43">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4">
                                            <p:txEl>
                                              <p:pRg st="0" end="0"/>
                                            </p:txEl>
                                          </p:spTgt>
                                        </p:tgtEl>
                                        <p:attrNameLst>
                                          <p:attrName>style.visibility</p:attrName>
                                        </p:attrNameLst>
                                      </p:cBhvr>
                                      <p:to>
                                        <p:strVal val="visible"/>
                                      </p:to>
                                    </p:set>
                                    <p:animEffect transition="in" filter="fade">
                                      <p:cBhvr>
                                        <p:cTn id="62" dur="500"/>
                                        <p:tgtEl>
                                          <p:spTgt spid="44">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5">
                                            <p:txEl>
                                              <p:pRg st="0" end="0"/>
                                            </p:txEl>
                                          </p:spTgt>
                                        </p:tgtEl>
                                        <p:attrNameLst>
                                          <p:attrName>style.visibility</p:attrName>
                                        </p:attrNameLst>
                                      </p:cBhvr>
                                      <p:to>
                                        <p:strVal val="visible"/>
                                      </p:to>
                                    </p:set>
                                    <p:animEffect transition="in" filter="fade">
                                      <p:cBhvr>
                                        <p:cTn id="67" dur="500"/>
                                        <p:tgtEl>
                                          <p:spTgt spid="45">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6">
                                            <p:txEl>
                                              <p:pRg st="0" end="0"/>
                                            </p:txEl>
                                          </p:spTgt>
                                        </p:tgtEl>
                                        <p:attrNameLst>
                                          <p:attrName>style.visibility</p:attrName>
                                        </p:attrNameLst>
                                      </p:cBhvr>
                                      <p:to>
                                        <p:strVal val="visible"/>
                                      </p:to>
                                    </p:set>
                                    <p:animEffect transition="in" filter="fade">
                                      <p:cBhvr>
                                        <p:cTn id="72" dur="500"/>
                                        <p:tgtEl>
                                          <p:spTgt spid="46">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47">
                                            <p:txEl>
                                              <p:pRg st="0" end="0"/>
                                            </p:txEl>
                                          </p:spTgt>
                                        </p:tgtEl>
                                        <p:attrNameLst>
                                          <p:attrName>style.visibility</p:attrName>
                                        </p:attrNameLst>
                                      </p:cBhvr>
                                      <p:to>
                                        <p:strVal val="visible"/>
                                      </p:to>
                                    </p:set>
                                    <p:animEffect transition="in" filter="fade">
                                      <p:cBhvr>
                                        <p:cTn id="77" dur="500"/>
                                        <p:tgtEl>
                                          <p:spTgt spid="47">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48">
                                            <p:txEl>
                                              <p:pRg st="0" end="0"/>
                                            </p:txEl>
                                          </p:spTgt>
                                        </p:tgtEl>
                                        <p:attrNameLst>
                                          <p:attrName>style.visibility</p:attrName>
                                        </p:attrNameLst>
                                      </p:cBhvr>
                                      <p:to>
                                        <p:strVal val="visible"/>
                                      </p:to>
                                    </p:set>
                                    <p:animEffect transition="in" filter="fade">
                                      <p:cBhvr>
                                        <p:cTn id="82" dur="500"/>
                                        <p:tgtEl>
                                          <p:spTgt spid="48">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49">
                                            <p:txEl>
                                              <p:pRg st="0" end="0"/>
                                            </p:txEl>
                                          </p:spTgt>
                                        </p:tgtEl>
                                        <p:attrNameLst>
                                          <p:attrName>style.visibility</p:attrName>
                                        </p:attrNameLst>
                                      </p:cBhvr>
                                      <p:to>
                                        <p:strVal val="visible"/>
                                      </p:to>
                                    </p:set>
                                    <p:animEffect transition="in" filter="fade">
                                      <p:cBhvr>
                                        <p:cTn id="87" dur="500"/>
                                        <p:tgtEl>
                                          <p:spTgt spid="49">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50">
                                            <p:txEl>
                                              <p:pRg st="0" end="0"/>
                                            </p:txEl>
                                          </p:spTgt>
                                        </p:tgtEl>
                                        <p:attrNameLst>
                                          <p:attrName>style.visibility</p:attrName>
                                        </p:attrNameLst>
                                      </p:cBhvr>
                                      <p:to>
                                        <p:strVal val="visible"/>
                                      </p:to>
                                    </p:set>
                                    <p:animEffect transition="in" filter="fade">
                                      <p:cBhvr>
                                        <p:cTn id="92" dur="500"/>
                                        <p:tgtEl>
                                          <p:spTgt spid="50">
                                            <p:txEl>
                                              <p:pRg st="0" end="0"/>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51">
                                            <p:txEl>
                                              <p:pRg st="0" end="0"/>
                                            </p:txEl>
                                          </p:spTgt>
                                        </p:tgtEl>
                                        <p:attrNameLst>
                                          <p:attrName>style.visibility</p:attrName>
                                        </p:attrNameLst>
                                      </p:cBhvr>
                                      <p:to>
                                        <p:strVal val="visible"/>
                                      </p:to>
                                    </p:set>
                                    <p:animEffect transition="in" filter="fade">
                                      <p:cBhvr>
                                        <p:cTn id="97" dur="500"/>
                                        <p:tgtEl>
                                          <p:spTgt spid="51">
                                            <p:txEl>
                                              <p:pRg st="0" end="0"/>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52">
                                            <p:txEl>
                                              <p:pRg st="0" end="0"/>
                                            </p:txEl>
                                          </p:spTgt>
                                        </p:tgtEl>
                                        <p:attrNameLst>
                                          <p:attrName>style.visibility</p:attrName>
                                        </p:attrNameLst>
                                      </p:cBhvr>
                                      <p:to>
                                        <p:strVal val="visible"/>
                                      </p:to>
                                    </p:set>
                                    <p:animEffect transition="in" filter="fade">
                                      <p:cBhvr>
                                        <p:cTn id="102" dur="500"/>
                                        <p:tgtEl>
                                          <p:spTgt spid="52">
                                            <p:txEl>
                                              <p:pRg st="0" end="0"/>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53">
                                            <p:txEl>
                                              <p:pRg st="0" end="0"/>
                                            </p:txEl>
                                          </p:spTgt>
                                        </p:tgtEl>
                                        <p:attrNameLst>
                                          <p:attrName>style.visibility</p:attrName>
                                        </p:attrNameLst>
                                      </p:cBhvr>
                                      <p:to>
                                        <p:strVal val="visible"/>
                                      </p:to>
                                    </p:set>
                                    <p:animEffect transition="in" filter="fade">
                                      <p:cBhvr>
                                        <p:cTn id="107" dur="500"/>
                                        <p:tgtEl>
                                          <p:spTgt spid="53">
                                            <p:txEl>
                                              <p:pRg st="0" end="0"/>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54">
                                            <p:txEl>
                                              <p:pRg st="0" end="0"/>
                                            </p:txEl>
                                          </p:spTgt>
                                        </p:tgtEl>
                                        <p:attrNameLst>
                                          <p:attrName>style.visibility</p:attrName>
                                        </p:attrNameLst>
                                      </p:cBhvr>
                                      <p:to>
                                        <p:strVal val="visible"/>
                                      </p:to>
                                    </p:set>
                                    <p:animEffect transition="in" filter="fade">
                                      <p:cBhvr>
                                        <p:cTn id="112" dur="500"/>
                                        <p:tgtEl>
                                          <p:spTgt spid="54">
                                            <p:txEl>
                                              <p:pRg st="0" end="0"/>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55">
                                            <p:txEl>
                                              <p:pRg st="0" end="0"/>
                                            </p:txEl>
                                          </p:spTgt>
                                        </p:tgtEl>
                                        <p:attrNameLst>
                                          <p:attrName>style.visibility</p:attrName>
                                        </p:attrNameLst>
                                      </p:cBhvr>
                                      <p:to>
                                        <p:strVal val="visible"/>
                                      </p:to>
                                    </p:set>
                                    <p:animEffect transition="in" filter="fade">
                                      <p:cBhvr>
                                        <p:cTn id="117" dur="500"/>
                                        <p:tgtEl>
                                          <p:spTgt spid="55">
                                            <p:txEl>
                                              <p:pRg st="0" end="0"/>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nodeType="clickEffect">
                                  <p:stCondLst>
                                    <p:cond delay="0"/>
                                  </p:stCondLst>
                                  <p:childTnLst>
                                    <p:set>
                                      <p:cBhvr>
                                        <p:cTn id="121" dur="1" fill="hold">
                                          <p:stCondLst>
                                            <p:cond delay="0"/>
                                          </p:stCondLst>
                                        </p:cTn>
                                        <p:tgtEl>
                                          <p:spTgt spid="56">
                                            <p:txEl>
                                              <p:pRg st="0" end="0"/>
                                            </p:txEl>
                                          </p:spTgt>
                                        </p:tgtEl>
                                        <p:attrNameLst>
                                          <p:attrName>style.visibility</p:attrName>
                                        </p:attrNameLst>
                                      </p:cBhvr>
                                      <p:to>
                                        <p:strVal val="visible"/>
                                      </p:to>
                                    </p:set>
                                    <p:animEffect transition="in" filter="fade">
                                      <p:cBhvr>
                                        <p:cTn id="122" dur="500"/>
                                        <p:tgtEl>
                                          <p:spTgt spid="56">
                                            <p:txEl>
                                              <p:pRg st="0" end="0"/>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57">
                                            <p:txEl>
                                              <p:pRg st="0" end="0"/>
                                            </p:txEl>
                                          </p:spTgt>
                                        </p:tgtEl>
                                        <p:attrNameLst>
                                          <p:attrName>style.visibility</p:attrName>
                                        </p:attrNameLst>
                                      </p:cBhvr>
                                      <p:to>
                                        <p:strVal val="visible"/>
                                      </p:to>
                                    </p:set>
                                    <p:animEffect transition="in" filter="fade">
                                      <p:cBhvr>
                                        <p:cTn id="127" dur="500"/>
                                        <p:tgtEl>
                                          <p:spTgt spid="5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30</a:t>
            </a:fld>
            <a:endParaRPr lang="zh-CN" altLang="en-US"/>
          </a:p>
        </p:txBody>
      </p:sp>
      <p:sp>
        <p:nvSpPr>
          <p:cNvPr id="7" name="文本框 6"/>
          <p:cNvSpPr txBox="1"/>
          <p:nvPr/>
        </p:nvSpPr>
        <p:spPr>
          <a:xfrm>
            <a:off x="6424125" y="11140"/>
            <a:ext cx="2608406"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1.4 </a:t>
            </a:r>
            <a:r>
              <a:rPr lang="zh-CN" altLang="en-US" b="1" dirty="0">
                <a:latin typeface="Times New Roman" panose="02020603050405020304" pitchFamily="18" charset="0"/>
                <a:cs typeface="Times New Roman" panose="02020603050405020304" pitchFamily="18" charset="0"/>
              </a:rPr>
              <a:t>无线传感器网络架构</a:t>
            </a:r>
          </a:p>
        </p:txBody>
      </p:sp>
      <p:sp>
        <p:nvSpPr>
          <p:cNvPr id="12" name="文本框 11">
            <a:extLst>
              <a:ext uri="{FF2B5EF4-FFF2-40B4-BE49-F238E27FC236}">
                <a16:creationId xmlns:a16="http://schemas.microsoft.com/office/drawing/2014/main" id="{53EB7D22-53D3-4680-A49E-61F8B662CC55}"/>
              </a:ext>
            </a:extLst>
          </p:cNvPr>
          <p:cNvSpPr txBox="1"/>
          <p:nvPr/>
        </p:nvSpPr>
        <p:spPr>
          <a:xfrm>
            <a:off x="194551" y="0"/>
            <a:ext cx="488660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3" name="文本框 12">
            <a:extLst>
              <a:ext uri="{FF2B5EF4-FFF2-40B4-BE49-F238E27FC236}">
                <a16:creationId xmlns:a16="http://schemas.microsoft.com/office/drawing/2014/main" id="{AF1B50EF-A9BA-47FA-A785-14C3EC035F16}"/>
              </a:ext>
            </a:extLst>
          </p:cNvPr>
          <p:cNvSpPr txBox="1"/>
          <p:nvPr/>
        </p:nvSpPr>
        <p:spPr>
          <a:xfrm>
            <a:off x="235084" y="3482675"/>
            <a:ext cx="1861228"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无线网络</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左大括号 1">
            <a:extLst>
              <a:ext uri="{FF2B5EF4-FFF2-40B4-BE49-F238E27FC236}">
                <a16:creationId xmlns:a16="http://schemas.microsoft.com/office/drawing/2014/main" id="{1A01C06A-7A01-4F40-8F8F-C3226FAB49B0}"/>
              </a:ext>
            </a:extLst>
          </p:cNvPr>
          <p:cNvSpPr/>
          <p:nvPr/>
        </p:nvSpPr>
        <p:spPr>
          <a:xfrm>
            <a:off x="1919970" y="1350869"/>
            <a:ext cx="423153" cy="4537954"/>
          </a:xfrm>
          <a:prstGeom prst="leftBrace">
            <a:avLst>
              <a:gd name="adj1" fmla="val 53718"/>
              <a:gd name="adj2" fmla="val 52466"/>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DB21DB59-90A0-4B71-9B1B-70AF65C1598E}"/>
              </a:ext>
            </a:extLst>
          </p:cNvPr>
          <p:cNvSpPr txBox="1"/>
          <p:nvPr/>
        </p:nvSpPr>
        <p:spPr>
          <a:xfrm>
            <a:off x="2352470" y="1090534"/>
            <a:ext cx="2394627"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有基础设施网</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 name="文本框 37">
            <a:extLst>
              <a:ext uri="{FF2B5EF4-FFF2-40B4-BE49-F238E27FC236}">
                <a16:creationId xmlns:a16="http://schemas.microsoft.com/office/drawing/2014/main" id="{3E222832-3094-4EE5-8EC0-E5C608FA7657}"/>
              </a:ext>
            </a:extLst>
          </p:cNvPr>
          <p:cNvSpPr txBox="1"/>
          <p:nvPr/>
        </p:nvSpPr>
        <p:spPr>
          <a:xfrm>
            <a:off x="4979028" y="967011"/>
            <a:ext cx="2089261"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蜂窝网络通信</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文本框 38">
            <a:extLst>
              <a:ext uri="{FF2B5EF4-FFF2-40B4-BE49-F238E27FC236}">
                <a16:creationId xmlns:a16="http://schemas.microsoft.com/office/drawing/2014/main" id="{334AA57C-D582-4BDE-AEB4-E1E52CBB8C50}"/>
              </a:ext>
            </a:extLst>
          </p:cNvPr>
          <p:cNvSpPr txBox="1"/>
          <p:nvPr/>
        </p:nvSpPr>
        <p:spPr>
          <a:xfrm>
            <a:off x="4979028" y="1534354"/>
            <a:ext cx="1608330" cy="461665"/>
          </a:xfrm>
          <a:prstGeom prst="rect">
            <a:avLst/>
          </a:prstGeom>
          <a:noFill/>
        </p:spPr>
        <p:txBody>
          <a:bodyPr wrap="square" rtlCol="0">
            <a:spAutoFit/>
          </a:bodyPr>
          <a:lstStyle/>
          <a:p>
            <a:pPr>
              <a:spcAft>
                <a:spcPts val="600"/>
              </a:spcAft>
            </a:pPr>
            <a:r>
              <a:rPr lang="en-US" altLang="zh-CN" sz="2400" b="1" dirty="0" err="1">
                <a:latin typeface="微软雅黑" panose="020B0503020204020204" pitchFamily="34" charset="-122"/>
                <a:ea typeface="微软雅黑" panose="020B0503020204020204" pitchFamily="34" charset="-122"/>
                <a:cs typeface="Times New Roman" panose="02020603050405020304" pitchFamily="18" charset="0"/>
              </a:rPr>
              <a:t>WiFi</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网络</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1" name="左大括号 60">
            <a:extLst>
              <a:ext uri="{FF2B5EF4-FFF2-40B4-BE49-F238E27FC236}">
                <a16:creationId xmlns:a16="http://schemas.microsoft.com/office/drawing/2014/main" id="{DBB1D070-C6CB-454A-B48E-30B2DFBFA132}"/>
              </a:ext>
            </a:extLst>
          </p:cNvPr>
          <p:cNvSpPr/>
          <p:nvPr/>
        </p:nvSpPr>
        <p:spPr>
          <a:xfrm>
            <a:off x="4765286" y="1090534"/>
            <a:ext cx="127723" cy="767449"/>
          </a:xfrm>
          <a:prstGeom prst="leftBrace">
            <a:avLst>
              <a:gd name="adj1" fmla="val 113488"/>
              <a:gd name="adj2" fmla="val 32914"/>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8B717554-70CE-48C2-921A-2B566309E1C0}"/>
              </a:ext>
            </a:extLst>
          </p:cNvPr>
          <p:cNvSpPr txBox="1"/>
          <p:nvPr/>
        </p:nvSpPr>
        <p:spPr>
          <a:xfrm>
            <a:off x="2343123" y="5365603"/>
            <a:ext cx="2394627"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无基础设施网</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3" name="左大括号 62">
            <a:extLst>
              <a:ext uri="{FF2B5EF4-FFF2-40B4-BE49-F238E27FC236}">
                <a16:creationId xmlns:a16="http://schemas.microsoft.com/office/drawing/2014/main" id="{56729F35-CD19-49AB-9E4E-ACB685EECEB9}"/>
              </a:ext>
            </a:extLst>
          </p:cNvPr>
          <p:cNvSpPr/>
          <p:nvPr/>
        </p:nvSpPr>
        <p:spPr>
          <a:xfrm>
            <a:off x="4827750" y="2344366"/>
            <a:ext cx="127723" cy="4236395"/>
          </a:xfrm>
          <a:prstGeom prst="leftBrace">
            <a:avLst>
              <a:gd name="adj1" fmla="val 113488"/>
              <a:gd name="adj2" fmla="val 82047"/>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id="{31A49835-588B-4A98-A682-DAE727DEB175}"/>
              </a:ext>
            </a:extLst>
          </p:cNvPr>
          <p:cNvSpPr txBox="1"/>
          <p:nvPr/>
        </p:nvSpPr>
        <p:spPr>
          <a:xfrm>
            <a:off x="4955476" y="2128127"/>
            <a:ext cx="3784826" cy="830997"/>
          </a:xfrm>
          <a:prstGeom prst="rect">
            <a:avLst/>
          </a:prstGeom>
          <a:noFill/>
        </p:spPr>
        <p:txBody>
          <a:bodyPr wrap="square" rtlCol="0">
            <a:spAutoFit/>
          </a:bodyPr>
          <a:lstStyle/>
          <a:p>
            <a:pPr algn="just">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移动自组网</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(Mobile Ad Hoc Network, MANET)</a:t>
            </a:r>
          </a:p>
        </p:txBody>
      </p:sp>
      <p:sp>
        <p:nvSpPr>
          <p:cNvPr id="65" name="文本框 64">
            <a:extLst>
              <a:ext uri="{FF2B5EF4-FFF2-40B4-BE49-F238E27FC236}">
                <a16:creationId xmlns:a16="http://schemas.microsoft.com/office/drawing/2014/main" id="{D9A857FF-DA2D-4B4D-B4D0-83CDE95B8670}"/>
              </a:ext>
            </a:extLst>
          </p:cNvPr>
          <p:cNvSpPr txBox="1"/>
          <p:nvPr/>
        </p:nvSpPr>
        <p:spPr>
          <a:xfrm>
            <a:off x="4955476" y="5590475"/>
            <a:ext cx="3994958" cy="830997"/>
          </a:xfrm>
          <a:prstGeom prst="rect">
            <a:avLst/>
          </a:prstGeom>
          <a:noFill/>
        </p:spPr>
        <p:txBody>
          <a:bodyPr wrap="square" rtlCol="0">
            <a:spAutoFit/>
          </a:bodyPr>
          <a:lstStyle/>
          <a:p>
            <a:pPr algn="just">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无线传感器网</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(Wireless Sensor Network, WSN)</a:t>
            </a:r>
          </a:p>
        </p:txBody>
      </p:sp>
      <p:sp>
        <p:nvSpPr>
          <p:cNvPr id="66" name="文本框 65">
            <a:extLst>
              <a:ext uri="{FF2B5EF4-FFF2-40B4-BE49-F238E27FC236}">
                <a16:creationId xmlns:a16="http://schemas.microsoft.com/office/drawing/2014/main" id="{7331B5DA-12C8-4775-8953-9CC869683C09}"/>
              </a:ext>
            </a:extLst>
          </p:cNvPr>
          <p:cNvSpPr txBox="1"/>
          <p:nvPr/>
        </p:nvSpPr>
        <p:spPr>
          <a:xfrm>
            <a:off x="2453105" y="5817201"/>
            <a:ext cx="2193356" cy="461665"/>
          </a:xfrm>
          <a:prstGeom prst="rect">
            <a:avLst/>
          </a:prstGeom>
          <a:noFill/>
        </p:spPr>
        <p:txBody>
          <a:bodyPr wrap="square" rtlCol="0">
            <a:spAutoFit/>
          </a:bodyPr>
          <a:lstStyle/>
          <a:p>
            <a:pPr>
              <a:spcAft>
                <a:spcPts val="600"/>
              </a:spcAft>
            </a:pP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(Ad Hoc</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网络</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67" name="文本框 66">
            <a:extLst>
              <a:ext uri="{FF2B5EF4-FFF2-40B4-BE49-F238E27FC236}">
                <a16:creationId xmlns:a16="http://schemas.microsoft.com/office/drawing/2014/main" id="{E8994150-21F3-4B26-9A1A-1F7BF1A7E866}"/>
              </a:ext>
            </a:extLst>
          </p:cNvPr>
          <p:cNvSpPr txBox="1"/>
          <p:nvPr/>
        </p:nvSpPr>
        <p:spPr>
          <a:xfrm>
            <a:off x="2352469" y="1659461"/>
            <a:ext cx="2394627" cy="400110"/>
          </a:xfrm>
          <a:prstGeom prst="rect">
            <a:avLst/>
          </a:prstGeom>
          <a:noFill/>
        </p:spPr>
        <p:txBody>
          <a:bodyPr wrap="square" rtlCol="0">
            <a:spAutoFit/>
          </a:bodyPr>
          <a:lstStyle/>
          <a:p>
            <a:pPr>
              <a:spcAft>
                <a:spcPts val="600"/>
              </a:spcAft>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接入点</a:t>
            </a: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(AP)</a:t>
            </a:r>
          </a:p>
        </p:txBody>
      </p:sp>
      <p:sp>
        <p:nvSpPr>
          <p:cNvPr id="68" name="文本框 67">
            <a:extLst>
              <a:ext uri="{FF2B5EF4-FFF2-40B4-BE49-F238E27FC236}">
                <a16:creationId xmlns:a16="http://schemas.microsoft.com/office/drawing/2014/main" id="{9BEAD951-1DAF-4ED7-A274-B2F8917F5722}"/>
              </a:ext>
            </a:extLst>
          </p:cNvPr>
          <p:cNvSpPr txBox="1"/>
          <p:nvPr/>
        </p:nvSpPr>
        <p:spPr>
          <a:xfrm>
            <a:off x="2343121" y="2078342"/>
            <a:ext cx="2394627" cy="400110"/>
          </a:xfrm>
          <a:prstGeom prst="rect">
            <a:avLst/>
          </a:prstGeom>
          <a:noFill/>
        </p:spPr>
        <p:txBody>
          <a:bodyPr wrap="square" rtlCol="0">
            <a:spAutoFit/>
          </a:bodyPr>
          <a:lstStyle/>
          <a:p>
            <a:pPr>
              <a:spcAft>
                <a:spcPts val="600"/>
              </a:spcAft>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基站</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9" name="文本框 68">
            <a:extLst>
              <a:ext uri="{FF2B5EF4-FFF2-40B4-BE49-F238E27FC236}">
                <a16:creationId xmlns:a16="http://schemas.microsoft.com/office/drawing/2014/main" id="{8C42D0FB-4FBD-43DF-8055-4DF6275CF5A2}"/>
              </a:ext>
            </a:extLst>
          </p:cNvPr>
          <p:cNvSpPr txBox="1"/>
          <p:nvPr/>
        </p:nvSpPr>
        <p:spPr>
          <a:xfrm>
            <a:off x="4955476" y="2895062"/>
            <a:ext cx="3784826" cy="400110"/>
          </a:xfrm>
          <a:prstGeom prst="rect">
            <a:avLst/>
          </a:prstGeom>
          <a:noFill/>
        </p:spPr>
        <p:txBody>
          <a:bodyPr wrap="square" rtlCol="0">
            <a:spAutoFit/>
          </a:bodyPr>
          <a:lstStyle/>
          <a:p>
            <a:pPr>
              <a:spcAft>
                <a:spcPts val="600"/>
              </a:spcAft>
            </a:pPr>
            <a:r>
              <a:rPr lang="zh-CN" altLang="en-US"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灾区救援、军事通信、车载网络</a:t>
            </a:r>
            <a:endParaRPr lang="en-US" altLang="zh-CN"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0" name="文本框 69">
            <a:extLst>
              <a:ext uri="{FF2B5EF4-FFF2-40B4-BE49-F238E27FC236}">
                <a16:creationId xmlns:a16="http://schemas.microsoft.com/office/drawing/2014/main" id="{339410CD-0449-4677-9C97-DF2C91259127}"/>
              </a:ext>
            </a:extLst>
          </p:cNvPr>
          <p:cNvSpPr txBox="1"/>
          <p:nvPr/>
        </p:nvSpPr>
        <p:spPr>
          <a:xfrm>
            <a:off x="4955476" y="3317448"/>
            <a:ext cx="3784826" cy="830997"/>
          </a:xfrm>
          <a:prstGeom prst="rect">
            <a:avLst/>
          </a:prstGeom>
          <a:noFill/>
        </p:spPr>
        <p:txBody>
          <a:bodyPr wrap="square" rtlCol="0">
            <a:spAutoFit/>
          </a:bodyPr>
          <a:lstStyle/>
          <a:p>
            <a:pPr algn="just">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车载自组网</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(Vehicular Ad Hoc Network, VANET)</a:t>
            </a:r>
          </a:p>
        </p:txBody>
      </p:sp>
      <p:sp>
        <p:nvSpPr>
          <p:cNvPr id="71" name="文本框 70">
            <a:extLst>
              <a:ext uri="{FF2B5EF4-FFF2-40B4-BE49-F238E27FC236}">
                <a16:creationId xmlns:a16="http://schemas.microsoft.com/office/drawing/2014/main" id="{061EC298-C238-49CF-BA48-12B642FA75FD}"/>
              </a:ext>
            </a:extLst>
          </p:cNvPr>
          <p:cNvSpPr txBox="1"/>
          <p:nvPr/>
        </p:nvSpPr>
        <p:spPr>
          <a:xfrm>
            <a:off x="4979029" y="4059332"/>
            <a:ext cx="3784826" cy="400110"/>
          </a:xfrm>
          <a:prstGeom prst="rect">
            <a:avLst/>
          </a:prstGeom>
          <a:noFill/>
        </p:spPr>
        <p:txBody>
          <a:bodyPr wrap="square" rtlCol="0">
            <a:spAutoFit/>
          </a:bodyPr>
          <a:lstStyle/>
          <a:p>
            <a:pPr>
              <a:spcAft>
                <a:spcPts val="600"/>
              </a:spcAft>
            </a:pPr>
            <a:r>
              <a:rPr lang="zh-CN" altLang="en-US"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智能交通、自动驾驶等</a:t>
            </a:r>
            <a:endParaRPr lang="en-US" altLang="zh-CN"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2" name="文本框 71">
            <a:extLst>
              <a:ext uri="{FF2B5EF4-FFF2-40B4-BE49-F238E27FC236}">
                <a16:creationId xmlns:a16="http://schemas.microsoft.com/office/drawing/2014/main" id="{F393B68F-4D0A-4D38-A61A-C73ED9F96A51}"/>
              </a:ext>
            </a:extLst>
          </p:cNvPr>
          <p:cNvSpPr txBox="1"/>
          <p:nvPr/>
        </p:nvSpPr>
        <p:spPr>
          <a:xfrm>
            <a:off x="4955476" y="4453658"/>
            <a:ext cx="3932492" cy="830997"/>
          </a:xfrm>
          <a:prstGeom prst="rect">
            <a:avLst/>
          </a:prstGeom>
          <a:noFill/>
        </p:spPr>
        <p:txBody>
          <a:bodyPr wrap="square" rtlCol="0">
            <a:spAutoFit/>
          </a:bodyPr>
          <a:lstStyle/>
          <a:p>
            <a:pPr algn="just">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无人机自组网</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(Unmanned Aerial Network, UAN)</a:t>
            </a:r>
          </a:p>
        </p:txBody>
      </p:sp>
      <p:sp>
        <p:nvSpPr>
          <p:cNvPr id="73" name="文本框 72">
            <a:extLst>
              <a:ext uri="{FF2B5EF4-FFF2-40B4-BE49-F238E27FC236}">
                <a16:creationId xmlns:a16="http://schemas.microsoft.com/office/drawing/2014/main" id="{16CD23DD-E846-4F40-BE42-9DEDDD210BC5}"/>
              </a:ext>
            </a:extLst>
          </p:cNvPr>
          <p:cNvSpPr txBox="1"/>
          <p:nvPr/>
        </p:nvSpPr>
        <p:spPr>
          <a:xfrm>
            <a:off x="4979028" y="5195542"/>
            <a:ext cx="3908939" cy="400110"/>
          </a:xfrm>
          <a:prstGeom prst="rect">
            <a:avLst/>
          </a:prstGeom>
          <a:noFill/>
        </p:spPr>
        <p:txBody>
          <a:bodyPr wrap="square" rtlCol="0">
            <a:spAutoFit/>
          </a:bodyPr>
          <a:lstStyle/>
          <a:p>
            <a:pPr>
              <a:spcAft>
                <a:spcPts val="600"/>
              </a:spcAft>
            </a:pPr>
            <a:r>
              <a:rPr lang="zh-CN" altLang="en-US"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无人机群体协作、灾区</a:t>
            </a:r>
            <a:r>
              <a:rPr lang="en-US" altLang="zh-CN"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军事勘探</a:t>
            </a:r>
            <a:endParaRPr lang="en-US" altLang="zh-CN"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4" name="文本框 73">
            <a:extLst>
              <a:ext uri="{FF2B5EF4-FFF2-40B4-BE49-F238E27FC236}">
                <a16:creationId xmlns:a16="http://schemas.microsoft.com/office/drawing/2014/main" id="{23CBA0DB-2C63-4E02-A6A3-A2B55C68454E}"/>
              </a:ext>
            </a:extLst>
          </p:cNvPr>
          <p:cNvSpPr txBox="1"/>
          <p:nvPr/>
        </p:nvSpPr>
        <p:spPr>
          <a:xfrm>
            <a:off x="4979027" y="6321365"/>
            <a:ext cx="3994958" cy="400110"/>
          </a:xfrm>
          <a:prstGeom prst="rect">
            <a:avLst/>
          </a:prstGeom>
          <a:noFill/>
        </p:spPr>
        <p:txBody>
          <a:bodyPr wrap="square" rtlCol="0">
            <a:spAutoFit/>
          </a:bodyPr>
          <a:lstStyle/>
          <a:p>
            <a:pPr>
              <a:spcAft>
                <a:spcPts val="600"/>
              </a:spcAft>
            </a:pPr>
            <a:r>
              <a:rPr lang="zh-CN" altLang="en-US"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环境监测、智能农业、军事侦察等</a:t>
            </a:r>
            <a:endParaRPr lang="en-US" altLang="zh-CN"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5" name="文本框 74">
            <a:extLst>
              <a:ext uri="{FF2B5EF4-FFF2-40B4-BE49-F238E27FC236}">
                <a16:creationId xmlns:a16="http://schemas.microsoft.com/office/drawing/2014/main" id="{2373F448-3E4E-422D-97A8-BD7793852C59}"/>
              </a:ext>
            </a:extLst>
          </p:cNvPr>
          <p:cNvSpPr txBox="1"/>
          <p:nvPr/>
        </p:nvSpPr>
        <p:spPr>
          <a:xfrm>
            <a:off x="2343121" y="4646075"/>
            <a:ext cx="2459853" cy="707886"/>
          </a:xfrm>
          <a:prstGeom prst="rect">
            <a:avLst/>
          </a:prstGeom>
          <a:noFill/>
        </p:spPr>
        <p:txBody>
          <a:bodyPr wrap="square">
            <a:spAutoFit/>
          </a:bodyPr>
          <a:lstStyle/>
          <a:p>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多跳的、去中心的、自组织无线网络</a:t>
            </a:r>
            <a:endParaRPr lang="zh-CN" altLang="en-US" sz="2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37321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500"/>
                                        <p:tgtEl>
                                          <p:spTgt spid="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
                                            <p:txEl>
                                              <p:pRg st="0" end="0"/>
                                            </p:txEl>
                                          </p:spTgt>
                                        </p:tgtEl>
                                        <p:attrNameLst>
                                          <p:attrName>style.visibility</p:attrName>
                                        </p:attrNameLst>
                                      </p:cBhvr>
                                      <p:to>
                                        <p:strVal val="visible"/>
                                      </p:to>
                                    </p:set>
                                    <p:animEffect transition="in" filter="fade">
                                      <p:cBhvr>
                                        <p:cTn id="17" dur="500"/>
                                        <p:tgtEl>
                                          <p:spTgt spid="3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
                                            <p:txEl>
                                              <p:pRg st="0" end="0"/>
                                            </p:txEl>
                                          </p:spTgt>
                                        </p:tgtEl>
                                        <p:attrNameLst>
                                          <p:attrName>style.visibility</p:attrName>
                                        </p:attrNameLst>
                                      </p:cBhvr>
                                      <p:to>
                                        <p:strVal val="visible"/>
                                      </p:to>
                                    </p:set>
                                    <p:animEffect transition="in" filter="fade">
                                      <p:cBhvr>
                                        <p:cTn id="22" dur="500"/>
                                        <p:tgtEl>
                                          <p:spTgt spid="3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2">
                                            <p:txEl>
                                              <p:pRg st="0" end="0"/>
                                            </p:txEl>
                                          </p:spTgt>
                                        </p:tgtEl>
                                        <p:attrNameLst>
                                          <p:attrName>style.visibility</p:attrName>
                                        </p:attrNameLst>
                                      </p:cBhvr>
                                      <p:to>
                                        <p:strVal val="visible"/>
                                      </p:to>
                                    </p:set>
                                    <p:animEffect transition="in" filter="fade">
                                      <p:cBhvr>
                                        <p:cTn id="27" dur="500"/>
                                        <p:tgtEl>
                                          <p:spTgt spid="6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4">
                                            <p:txEl>
                                              <p:pRg st="0" end="0"/>
                                            </p:txEl>
                                          </p:spTgt>
                                        </p:tgtEl>
                                        <p:attrNameLst>
                                          <p:attrName>style.visibility</p:attrName>
                                        </p:attrNameLst>
                                      </p:cBhvr>
                                      <p:to>
                                        <p:strVal val="visible"/>
                                      </p:to>
                                    </p:set>
                                    <p:animEffect transition="in" filter="fade">
                                      <p:cBhvr>
                                        <p:cTn id="32" dur="500"/>
                                        <p:tgtEl>
                                          <p:spTgt spid="6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5">
                                            <p:txEl>
                                              <p:pRg st="0" end="0"/>
                                            </p:txEl>
                                          </p:spTgt>
                                        </p:tgtEl>
                                        <p:attrNameLst>
                                          <p:attrName>style.visibility</p:attrName>
                                        </p:attrNameLst>
                                      </p:cBhvr>
                                      <p:to>
                                        <p:strVal val="visible"/>
                                      </p:to>
                                    </p:set>
                                    <p:animEffect transition="in" filter="fade">
                                      <p:cBhvr>
                                        <p:cTn id="37" dur="500"/>
                                        <p:tgtEl>
                                          <p:spTgt spid="6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6">
                                            <p:txEl>
                                              <p:pRg st="0" end="0"/>
                                            </p:txEl>
                                          </p:spTgt>
                                        </p:tgtEl>
                                        <p:attrNameLst>
                                          <p:attrName>style.visibility</p:attrName>
                                        </p:attrNameLst>
                                      </p:cBhvr>
                                      <p:to>
                                        <p:strVal val="visible"/>
                                      </p:to>
                                    </p:set>
                                    <p:animEffect transition="in" filter="fade">
                                      <p:cBhvr>
                                        <p:cTn id="42" dur="500"/>
                                        <p:tgtEl>
                                          <p:spTgt spid="6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7">
                                            <p:txEl>
                                              <p:pRg st="0" end="0"/>
                                            </p:txEl>
                                          </p:spTgt>
                                        </p:tgtEl>
                                        <p:attrNameLst>
                                          <p:attrName>style.visibility</p:attrName>
                                        </p:attrNameLst>
                                      </p:cBhvr>
                                      <p:to>
                                        <p:strVal val="visible"/>
                                      </p:to>
                                    </p:set>
                                    <p:animEffect transition="in" filter="fade">
                                      <p:cBhvr>
                                        <p:cTn id="47" dur="500"/>
                                        <p:tgtEl>
                                          <p:spTgt spid="67">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8">
                                            <p:txEl>
                                              <p:pRg st="0" end="0"/>
                                            </p:txEl>
                                          </p:spTgt>
                                        </p:tgtEl>
                                        <p:attrNameLst>
                                          <p:attrName>style.visibility</p:attrName>
                                        </p:attrNameLst>
                                      </p:cBhvr>
                                      <p:to>
                                        <p:strVal val="visible"/>
                                      </p:to>
                                    </p:set>
                                    <p:animEffect transition="in" filter="fade">
                                      <p:cBhvr>
                                        <p:cTn id="52" dur="500"/>
                                        <p:tgtEl>
                                          <p:spTgt spid="68">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9">
                                            <p:txEl>
                                              <p:pRg st="0" end="0"/>
                                            </p:txEl>
                                          </p:spTgt>
                                        </p:tgtEl>
                                        <p:attrNameLst>
                                          <p:attrName>style.visibility</p:attrName>
                                        </p:attrNameLst>
                                      </p:cBhvr>
                                      <p:to>
                                        <p:strVal val="visible"/>
                                      </p:to>
                                    </p:set>
                                    <p:animEffect transition="in" filter="fade">
                                      <p:cBhvr>
                                        <p:cTn id="57" dur="500"/>
                                        <p:tgtEl>
                                          <p:spTgt spid="69">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70">
                                            <p:txEl>
                                              <p:pRg st="0" end="0"/>
                                            </p:txEl>
                                          </p:spTgt>
                                        </p:tgtEl>
                                        <p:attrNameLst>
                                          <p:attrName>style.visibility</p:attrName>
                                        </p:attrNameLst>
                                      </p:cBhvr>
                                      <p:to>
                                        <p:strVal val="visible"/>
                                      </p:to>
                                    </p:set>
                                    <p:animEffect transition="in" filter="fade">
                                      <p:cBhvr>
                                        <p:cTn id="62" dur="500"/>
                                        <p:tgtEl>
                                          <p:spTgt spid="70">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71">
                                            <p:txEl>
                                              <p:pRg st="0" end="0"/>
                                            </p:txEl>
                                          </p:spTgt>
                                        </p:tgtEl>
                                        <p:attrNameLst>
                                          <p:attrName>style.visibility</p:attrName>
                                        </p:attrNameLst>
                                      </p:cBhvr>
                                      <p:to>
                                        <p:strVal val="visible"/>
                                      </p:to>
                                    </p:set>
                                    <p:animEffect transition="in" filter="fade">
                                      <p:cBhvr>
                                        <p:cTn id="67" dur="500"/>
                                        <p:tgtEl>
                                          <p:spTgt spid="71">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72">
                                            <p:txEl>
                                              <p:pRg st="0" end="0"/>
                                            </p:txEl>
                                          </p:spTgt>
                                        </p:tgtEl>
                                        <p:attrNameLst>
                                          <p:attrName>style.visibility</p:attrName>
                                        </p:attrNameLst>
                                      </p:cBhvr>
                                      <p:to>
                                        <p:strVal val="visible"/>
                                      </p:to>
                                    </p:set>
                                    <p:animEffect transition="in" filter="fade">
                                      <p:cBhvr>
                                        <p:cTn id="72" dur="500"/>
                                        <p:tgtEl>
                                          <p:spTgt spid="72">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73">
                                            <p:txEl>
                                              <p:pRg st="0" end="0"/>
                                            </p:txEl>
                                          </p:spTgt>
                                        </p:tgtEl>
                                        <p:attrNameLst>
                                          <p:attrName>style.visibility</p:attrName>
                                        </p:attrNameLst>
                                      </p:cBhvr>
                                      <p:to>
                                        <p:strVal val="visible"/>
                                      </p:to>
                                    </p:set>
                                    <p:animEffect transition="in" filter="fade">
                                      <p:cBhvr>
                                        <p:cTn id="77" dur="500"/>
                                        <p:tgtEl>
                                          <p:spTgt spid="73">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74">
                                            <p:txEl>
                                              <p:pRg st="0" end="0"/>
                                            </p:txEl>
                                          </p:spTgt>
                                        </p:tgtEl>
                                        <p:attrNameLst>
                                          <p:attrName>style.visibility</p:attrName>
                                        </p:attrNameLst>
                                      </p:cBhvr>
                                      <p:to>
                                        <p:strVal val="visible"/>
                                      </p:to>
                                    </p:set>
                                    <p:animEffect transition="in" filter="fade">
                                      <p:cBhvr>
                                        <p:cTn id="82" dur="500"/>
                                        <p:tgtEl>
                                          <p:spTgt spid="7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31</a:t>
            </a:fld>
            <a:endParaRPr lang="zh-CN" altLang="en-US"/>
          </a:p>
        </p:txBody>
      </p:sp>
      <p:sp>
        <p:nvSpPr>
          <p:cNvPr id="7" name="文本框 6"/>
          <p:cNvSpPr txBox="1"/>
          <p:nvPr/>
        </p:nvSpPr>
        <p:spPr>
          <a:xfrm>
            <a:off x="6424125" y="11140"/>
            <a:ext cx="2608406"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1.4 </a:t>
            </a:r>
            <a:r>
              <a:rPr lang="zh-CN" altLang="en-US" b="1" dirty="0">
                <a:latin typeface="Times New Roman" panose="02020603050405020304" pitchFamily="18" charset="0"/>
                <a:cs typeface="Times New Roman" panose="02020603050405020304" pitchFamily="18" charset="0"/>
              </a:rPr>
              <a:t>无线传感器网络架构</a:t>
            </a:r>
          </a:p>
        </p:txBody>
      </p:sp>
      <p:sp>
        <p:nvSpPr>
          <p:cNvPr id="12" name="文本框 11">
            <a:extLst>
              <a:ext uri="{FF2B5EF4-FFF2-40B4-BE49-F238E27FC236}">
                <a16:creationId xmlns:a16="http://schemas.microsoft.com/office/drawing/2014/main" id="{53EB7D22-53D3-4680-A49E-61F8B662CC55}"/>
              </a:ext>
            </a:extLst>
          </p:cNvPr>
          <p:cNvSpPr txBox="1"/>
          <p:nvPr/>
        </p:nvSpPr>
        <p:spPr>
          <a:xfrm>
            <a:off x="194551" y="0"/>
            <a:ext cx="488660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sp>
        <p:nvSpPr>
          <p:cNvPr id="13" name="文本框 12">
            <a:extLst>
              <a:ext uri="{FF2B5EF4-FFF2-40B4-BE49-F238E27FC236}">
                <a16:creationId xmlns:a16="http://schemas.microsoft.com/office/drawing/2014/main" id="{AF1B50EF-A9BA-47FA-A785-14C3EC035F16}"/>
              </a:ext>
            </a:extLst>
          </p:cNvPr>
          <p:cNvSpPr txBox="1"/>
          <p:nvPr/>
        </p:nvSpPr>
        <p:spPr>
          <a:xfrm>
            <a:off x="-116805" y="3065518"/>
            <a:ext cx="1298401" cy="1384995"/>
          </a:xfrm>
          <a:prstGeom prst="rect">
            <a:avLst/>
          </a:prstGeom>
          <a:noFill/>
        </p:spPr>
        <p:txBody>
          <a:bodyPr wrap="square" rtlCol="0">
            <a:spAutoFit/>
          </a:bodyPr>
          <a:lstStyle/>
          <a:p>
            <a:pPr algn="ct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无线传感器网络</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左大括号 1">
            <a:extLst>
              <a:ext uri="{FF2B5EF4-FFF2-40B4-BE49-F238E27FC236}">
                <a16:creationId xmlns:a16="http://schemas.microsoft.com/office/drawing/2014/main" id="{1A01C06A-7A01-4F40-8F8F-C3226FAB49B0}"/>
              </a:ext>
            </a:extLst>
          </p:cNvPr>
          <p:cNvSpPr/>
          <p:nvPr/>
        </p:nvSpPr>
        <p:spPr>
          <a:xfrm>
            <a:off x="1166078" y="1350869"/>
            <a:ext cx="423153" cy="4537954"/>
          </a:xfrm>
          <a:prstGeom prst="leftBrace">
            <a:avLst>
              <a:gd name="adj1" fmla="val 53718"/>
              <a:gd name="adj2" fmla="val 52466"/>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DB21DB59-90A0-4B71-9B1B-70AF65C1598E}"/>
              </a:ext>
            </a:extLst>
          </p:cNvPr>
          <p:cNvSpPr txBox="1"/>
          <p:nvPr/>
        </p:nvSpPr>
        <p:spPr>
          <a:xfrm>
            <a:off x="1545075" y="1090534"/>
            <a:ext cx="1032756"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感知</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2" name="文本框 61">
            <a:extLst>
              <a:ext uri="{FF2B5EF4-FFF2-40B4-BE49-F238E27FC236}">
                <a16:creationId xmlns:a16="http://schemas.microsoft.com/office/drawing/2014/main" id="{8B717554-70CE-48C2-921A-2B566309E1C0}"/>
              </a:ext>
            </a:extLst>
          </p:cNvPr>
          <p:cNvSpPr txBox="1"/>
          <p:nvPr/>
        </p:nvSpPr>
        <p:spPr>
          <a:xfrm>
            <a:off x="1545075" y="3471335"/>
            <a:ext cx="998328"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传输</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4" name="文本框 63">
            <a:extLst>
              <a:ext uri="{FF2B5EF4-FFF2-40B4-BE49-F238E27FC236}">
                <a16:creationId xmlns:a16="http://schemas.microsoft.com/office/drawing/2014/main" id="{31A49835-588B-4A98-A682-DAE727DEB175}"/>
              </a:ext>
            </a:extLst>
          </p:cNvPr>
          <p:cNvSpPr txBox="1"/>
          <p:nvPr/>
        </p:nvSpPr>
        <p:spPr>
          <a:xfrm>
            <a:off x="2883487" y="1100222"/>
            <a:ext cx="2014240" cy="523220"/>
          </a:xfrm>
          <a:prstGeom prst="rect">
            <a:avLst/>
          </a:prstGeom>
          <a:noFill/>
        </p:spPr>
        <p:txBody>
          <a:bodyPr wrap="square" rtlCol="0">
            <a:spAutoFit/>
          </a:bodyPr>
          <a:lstStyle/>
          <a:p>
            <a:pPr algn="just">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传感器技术</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文本框 24">
            <a:extLst>
              <a:ext uri="{FF2B5EF4-FFF2-40B4-BE49-F238E27FC236}">
                <a16:creationId xmlns:a16="http://schemas.microsoft.com/office/drawing/2014/main" id="{CFFF8597-BF6A-4371-9484-DAE8897C80A1}"/>
              </a:ext>
            </a:extLst>
          </p:cNvPr>
          <p:cNvSpPr txBox="1"/>
          <p:nvPr/>
        </p:nvSpPr>
        <p:spPr>
          <a:xfrm>
            <a:off x="1593985" y="5627213"/>
            <a:ext cx="1032756"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处理</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 name="文本框 25">
            <a:extLst>
              <a:ext uri="{FF2B5EF4-FFF2-40B4-BE49-F238E27FC236}">
                <a16:creationId xmlns:a16="http://schemas.microsoft.com/office/drawing/2014/main" id="{6AF5E831-DE25-4821-B641-F3D49198C7B1}"/>
              </a:ext>
            </a:extLst>
          </p:cNvPr>
          <p:cNvSpPr txBox="1"/>
          <p:nvPr/>
        </p:nvSpPr>
        <p:spPr>
          <a:xfrm>
            <a:off x="2883487" y="5623700"/>
            <a:ext cx="2014240" cy="523220"/>
          </a:xfrm>
          <a:prstGeom prst="rect">
            <a:avLst/>
          </a:prstGeom>
          <a:noFill/>
        </p:spPr>
        <p:txBody>
          <a:bodyPr wrap="square" rtlCol="0">
            <a:spAutoFit/>
          </a:bodyPr>
          <a:lstStyle/>
          <a:p>
            <a:pPr algn="just">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计算机技术</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文本框 26">
            <a:extLst>
              <a:ext uri="{FF2B5EF4-FFF2-40B4-BE49-F238E27FC236}">
                <a16:creationId xmlns:a16="http://schemas.microsoft.com/office/drawing/2014/main" id="{6D9DD16B-83DF-4119-A56B-1A6C43E7BFFE}"/>
              </a:ext>
            </a:extLst>
          </p:cNvPr>
          <p:cNvSpPr txBox="1"/>
          <p:nvPr/>
        </p:nvSpPr>
        <p:spPr>
          <a:xfrm>
            <a:off x="2956293" y="3471335"/>
            <a:ext cx="1941434" cy="523220"/>
          </a:xfrm>
          <a:prstGeom prst="rect">
            <a:avLst/>
          </a:prstGeom>
          <a:noFill/>
        </p:spPr>
        <p:txBody>
          <a:bodyPr wrap="square" rtlCol="0">
            <a:spAutoFit/>
          </a:bodyPr>
          <a:lstStyle/>
          <a:p>
            <a:pPr algn="just">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通信技术</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矩形 27">
            <a:extLst>
              <a:ext uri="{FF2B5EF4-FFF2-40B4-BE49-F238E27FC236}">
                <a16:creationId xmlns:a16="http://schemas.microsoft.com/office/drawing/2014/main" id="{687E4FDE-148D-43B2-BA44-BA2531CF2342}"/>
              </a:ext>
            </a:extLst>
          </p:cNvPr>
          <p:cNvSpPr/>
          <p:nvPr/>
        </p:nvSpPr>
        <p:spPr>
          <a:xfrm>
            <a:off x="2915377" y="510703"/>
            <a:ext cx="1982350" cy="572102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970C048C-69AB-482F-BA1B-DC56F0C1B3B4}"/>
              </a:ext>
            </a:extLst>
          </p:cNvPr>
          <p:cNvSpPr txBox="1"/>
          <p:nvPr/>
        </p:nvSpPr>
        <p:spPr>
          <a:xfrm>
            <a:off x="5851191" y="1113019"/>
            <a:ext cx="992222"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感官</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文本框 29">
            <a:extLst>
              <a:ext uri="{FF2B5EF4-FFF2-40B4-BE49-F238E27FC236}">
                <a16:creationId xmlns:a16="http://schemas.microsoft.com/office/drawing/2014/main" id="{E9972D96-36B2-41F5-AF8D-D74026F85E9E}"/>
              </a:ext>
            </a:extLst>
          </p:cNvPr>
          <p:cNvSpPr txBox="1"/>
          <p:nvPr/>
        </p:nvSpPr>
        <p:spPr>
          <a:xfrm>
            <a:off x="5798564" y="5617037"/>
            <a:ext cx="1097475"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大脑</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文本框 30">
            <a:extLst>
              <a:ext uri="{FF2B5EF4-FFF2-40B4-BE49-F238E27FC236}">
                <a16:creationId xmlns:a16="http://schemas.microsoft.com/office/drawing/2014/main" id="{779D9227-CD21-47AA-8FB0-4F49C26D9D0D}"/>
              </a:ext>
            </a:extLst>
          </p:cNvPr>
          <p:cNvSpPr txBox="1"/>
          <p:nvPr/>
        </p:nvSpPr>
        <p:spPr>
          <a:xfrm>
            <a:off x="6314131" y="3471335"/>
            <a:ext cx="1058564"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神经</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矩形 31">
            <a:extLst>
              <a:ext uri="{FF2B5EF4-FFF2-40B4-BE49-F238E27FC236}">
                <a16:creationId xmlns:a16="http://schemas.microsoft.com/office/drawing/2014/main" id="{BDE2F9B3-D31A-400E-B794-F00B667A0A89}"/>
              </a:ext>
            </a:extLst>
          </p:cNvPr>
          <p:cNvSpPr/>
          <p:nvPr/>
        </p:nvSpPr>
        <p:spPr>
          <a:xfrm>
            <a:off x="5431879" y="510703"/>
            <a:ext cx="1982350" cy="572102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箭头: 右 2">
            <a:extLst>
              <a:ext uri="{FF2B5EF4-FFF2-40B4-BE49-F238E27FC236}">
                <a16:creationId xmlns:a16="http://schemas.microsoft.com/office/drawing/2014/main" id="{F782A7B0-B931-4374-8385-AC6CCB626172}"/>
              </a:ext>
            </a:extLst>
          </p:cNvPr>
          <p:cNvSpPr/>
          <p:nvPr/>
        </p:nvSpPr>
        <p:spPr>
          <a:xfrm>
            <a:off x="2476141" y="1131997"/>
            <a:ext cx="473664" cy="4377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箭头: 右 33">
            <a:extLst>
              <a:ext uri="{FF2B5EF4-FFF2-40B4-BE49-F238E27FC236}">
                <a16:creationId xmlns:a16="http://schemas.microsoft.com/office/drawing/2014/main" id="{117C4B82-B4D0-4661-B638-E050E148E3DE}"/>
              </a:ext>
            </a:extLst>
          </p:cNvPr>
          <p:cNvSpPr/>
          <p:nvPr/>
        </p:nvSpPr>
        <p:spPr>
          <a:xfrm>
            <a:off x="2452385" y="3514073"/>
            <a:ext cx="473664" cy="4377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9EB3FEE2-85FC-49BB-8207-0103549C69CA}"/>
              </a:ext>
            </a:extLst>
          </p:cNvPr>
          <p:cNvSpPr/>
          <p:nvPr/>
        </p:nvSpPr>
        <p:spPr>
          <a:xfrm>
            <a:off x="2473657" y="5664951"/>
            <a:ext cx="473664" cy="4377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箭头: 右 35">
            <a:extLst>
              <a:ext uri="{FF2B5EF4-FFF2-40B4-BE49-F238E27FC236}">
                <a16:creationId xmlns:a16="http://schemas.microsoft.com/office/drawing/2014/main" id="{8DA0BD12-8250-4068-9BB9-A8BD0CCB1E68}"/>
              </a:ext>
            </a:extLst>
          </p:cNvPr>
          <p:cNvSpPr/>
          <p:nvPr/>
        </p:nvSpPr>
        <p:spPr>
          <a:xfrm>
            <a:off x="4861063" y="1264496"/>
            <a:ext cx="990128" cy="2188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箭头: 右 36">
            <a:extLst>
              <a:ext uri="{FF2B5EF4-FFF2-40B4-BE49-F238E27FC236}">
                <a16:creationId xmlns:a16="http://schemas.microsoft.com/office/drawing/2014/main" id="{15BCE013-3145-441B-BE93-8BF9BB626A39}"/>
              </a:ext>
            </a:extLst>
          </p:cNvPr>
          <p:cNvSpPr/>
          <p:nvPr/>
        </p:nvSpPr>
        <p:spPr>
          <a:xfrm>
            <a:off x="4801826" y="5774387"/>
            <a:ext cx="990128" cy="2188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箭头: 右 39">
            <a:extLst>
              <a:ext uri="{FF2B5EF4-FFF2-40B4-BE49-F238E27FC236}">
                <a16:creationId xmlns:a16="http://schemas.microsoft.com/office/drawing/2014/main" id="{88001C16-C7FC-4F84-98E0-AB9640520417}"/>
              </a:ext>
            </a:extLst>
          </p:cNvPr>
          <p:cNvSpPr/>
          <p:nvPr/>
        </p:nvSpPr>
        <p:spPr>
          <a:xfrm rot="5400000">
            <a:off x="4231896" y="3563538"/>
            <a:ext cx="3983953" cy="2188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FF0DDA74-CDD6-421D-A726-CAB50A3C5B01}"/>
              </a:ext>
            </a:extLst>
          </p:cNvPr>
          <p:cNvSpPr/>
          <p:nvPr/>
        </p:nvSpPr>
        <p:spPr>
          <a:xfrm>
            <a:off x="4798481" y="3648580"/>
            <a:ext cx="990128" cy="2188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2D3C04E6-F622-4A71-B7D8-BAFAFB27A316}"/>
              </a:ext>
            </a:extLst>
          </p:cNvPr>
          <p:cNvSpPr txBox="1"/>
          <p:nvPr/>
        </p:nvSpPr>
        <p:spPr>
          <a:xfrm>
            <a:off x="2910514" y="510703"/>
            <a:ext cx="2359875" cy="461665"/>
          </a:xfrm>
          <a:prstGeom prst="rect">
            <a:avLst/>
          </a:prstGeom>
          <a:noFill/>
        </p:spPr>
        <p:txBody>
          <a:bodyPr wrap="square" rtlCol="0">
            <a:spAutoFit/>
          </a:bodyPr>
          <a:lstStyle/>
          <a:p>
            <a:pPr algn="just">
              <a:spcAft>
                <a:spcPts val="600"/>
              </a:spcAft>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现代信息技术</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文本框 42">
            <a:extLst>
              <a:ext uri="{FF2B5EF4-FFF2-40B4-BE49-F238E27FC236}">
                <a16:creationId xmlns:a16="http://schemas.microsoft.com/office/drawing/2014/main" id="{BF9BA165-610F-4A89-A8BA-3B2419A3FC3A}"/>
              </a:ext>
            </a:extLst>
          </p:cNvPr>
          <p:cNvSpPr txBox="1"/>
          <p:nvPr/>
        </p:nvSpPr>
        <p:spPr>
          <a:xfrm>
            <a:off x="5642363" y="521123"/>
            <a:ext cx="1508781" cy="461665"/>
          </a:xfrm>
          <a:prstGeom prst="rect">
            <a:avLst/>
          </a:prstGeom>
          <a:noFill/>
        </p:spPr>
        <p:txBody>
          <a:bodyPr wrap="square" rtlCol="0">
            <a:spAutoFit/>
          </a:bodyPr>
          <a:lstStyle/>
          <a:p>
            <a:pPr algn="just">
              <a:spcAft>
                <a:spcPts val="600"/>
              </a:spcAft>
            </a:pPr>
            <a:r>
              <a:rPr lang="zh-CN" altLang="en-US"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信息系统</a:t>
            </a:r>
            <a:endParaRPr lang="en-US" altLang="zh-CN" sz="24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4" name="文本框 43">
            <a:extLst>
              <a:ext uri="{FF2B5EF4-FFF2-40B4-BE49-F238E27FC236}">
                <a16:creationId xmlns:a16="http://schemas.microsoft.com/office/drawing/2014/main" id="{71115ED0-B5C9-4E74-A1A9-65C5D396D60D}"/>
              </a:ext>
            </a:extLst>
          </p:cNvPr>
          <p:cNvSpPr txBox="1"/>
          <p:nvPr/>
        </p:nvSpPr>
        <p:spPr>
          <a:xfrm>
            <a:off x="8432527" y="2740639"/>
            <a:ext cx="600004" cy="1815882"/>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人工智能</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5" name="箭头: 右 44">
            <a:extLst>
              <a:ext uri="{FF2B5EF4-FFF2-40B4-BE49-F238E27FC236}">
                <a16:creationId xmlns:a16="http://schemas.microsoft.com/office/drawing/2014/main" id="{44E5BD3E-26BD-4EF6-A98A-7FE41597378A}"/>
              </a:ext>
            </a:extLst>
          </p:cNvPr>
          <p:cNvSpPr/>
          <p:nvPr/>
        </p:nvSpPr>
        <p:spPr>
          <a:xfrm flipH="1">
            <a:off x="7524345" y="3500696"/>
            <a:ext cx="816749" cy="4377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C4F96E9B-467C-47DF-8A29-BEDF05FAD1D2}"/>
              </a:ext>
            </a:extLst>
          </p:cNvPr>
          <p:cNvSpPr txBox="1"/>
          <p:nvPr/>
        </p:nvSpPr>
        <p:spPr>
          <a:xfrm>
            <a:off x="7528614" y="2948115"/>
            <a:ext cx="949128" cy="523220"/>
          </a:xfrm>
          <a:prstGeom prst="rect">
            <a:avLst/>
          </a:prstGeom>
          <a:noFill/>
        </p:spPr>
        <p:txBody>
          <a:bodyPr wrap="square" rtlCol="0">
            <a:spAutoFit/>
          </a:bodyPr>
          <a:lstStyle/>
          <a:p>
            <a:pPr>
              <a:spcAft>
                <a:spcPts val="600"/>
              </a:spcAft>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聪明</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168181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500"/>
                                        <p:tgtEl>
                                          <p:spTgt spid="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
                                            <p:txEl>
                                              <p:pRg st="0" end="0"/>
                                            </p:txEl>
                                          </p:spTgt>
                                        </p:tgtEl>
                                        <p:attrNameLst>
                                          <p:attrName>style.visibility</p:attrName>
                                        </p:attrNameLst>
                                      </p:cBhvr>
                                      <p:to>
                                        <p:strVal val="visible"/>
                                      </p:to>
                                    </p:set>
                                    <p:animEffect transition="in" filter="fade">
                                      <p:cBhvr>
                                        <p:cTn id="17" dur="500"/>
                                        <p:tgtEl>
                                          <p:spTgt spid="6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4">
                                            <p:txEl>
                                              <p:pRg st="0" end="0"/>
                                            </p:txEl>
                                          </p:spTgt>
                                        </p:tgtEl>
                                        <p:attrNameLst>
                                          <p:attrName>style.visibility</p:attrName>
                                        </p:attrNameLst>
                                      </p:cBhvr>
                                      <p:to>
                                        <p:strVal val="visible"/>
                                      </p:to>
                                    </p:set>
                                    <p:animEffect transition="in" filter="fade">
                                      <p:cBhvr>
                                        <p:cTn id="22" dur="500"/>
                                        <p:tgtEl>
                                          <p:spTgt spid="6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xEl>
                                              <p:pRg st="0" end="0"/>
                                            </p:txEl>
                                          </p:spTgt>
                                        </p:tgtEl>
                                        <p:attrNameLst>
                                          <p:attrName>style.visibility</p:attrName>
                                        </p:attrNameLst>
                                      </p:cBhvr>
                                      <p:to>
                                        <p:strVal val="visible"/>
                                      </p:to>
                                    </p:set>
                                    <p:animEffect transition="in" filter="fade">
                                      <p:cBhvr>
                                        <p:cTn id="27" dur="500"/>
                                        <p:tgtEl>
                                          <p:spTgt spid="2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xEl>
                                              <p:pRg st="0" end="0"/>
                                            </p:txEl>
                                          </p:spTgt>
                                        </p:tgtEl>
                                        <p:attrNameLst>
                                          <p:attrName>style.visibility</p:attrName>
                                        </p:attrNameLst>
                                      </p:cBhvr>
                                      <p:to>
                                        <p:strVal val="visible"/>
                                      </p:to>
                                    </p:set>
                                    <p:animEffect transition="in" filter="fade">
                                      <p:cBhvr>
                                        <p:cTn id="32" dur="500"/>
                                        <p:tgtEl>
                                          <p:spTgt spid="2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xEl>
                                              <p:pRg st="0" end="0"/>
                                            </p:txEl>
                                          </p:spTgt>
                                        </p:tgtEl>
                                        <p:attrNameLst>
                                          <p:attrName>style.visibility</p:attrName>
                                        </p:attrNameLst>
                                      </p:cBhvr>
                                      <p:to>
                                        <p:strVal val="visible"/>
                                      </p:to>
                                    </p:set>
                                    <p:animEffect transition="in" filter="fade">
                                      <p:cBhvr>
                                        <p:cTn id="37" dur="500"/>
                                        <p:tgtEl>
                                          <p:spTgt spid="2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xEl>
                                              <p:pRg st="0" end="0"/>
                                            </p:txEl>
                                          </p:spTgt>
                                        </p:tgtEl>
                                        <p:attrNameLst>
                                          <p:attrName>style.visibility</p:attrName>
                                        </p:attrNameLst>
                                      </p:cBhvr>
                                      <p:to>
                                        <p:strVal val="visible"/>
                                      </p:to>
                                    </p:set>
                                    <p:animEffect transition="in" filter="fade">
                                      <p:cBhvr>
                                        <p:cTn id="42" dur="500"/>
                                        <p:tgtEl>
                                          <p:spTgt spid="29">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0">
                                            <p:txEl>
                                              <p:pRg st="0" end="0"/>
                                            </p:txEl>
                                          </p:spTgt>
                                        </p:tgtEl>
                                        <p:attrNameLst>
                                          <p:attrName>style.visibility</p:attrName>
                                        </p:attrNameLst>
                                      </p:cBhvr>
                                      <p:to>
                                        <p:strVal val="visible"/>
                                      </p:to>
                                    </p:set>
                                    <p:animEffect transition="in" filter="fade">
                                      <p:cBhvr>
                                        <p:cTn id="47" dur="500"/>
                                        <p:tgtEl>
                                          <p:spTgt spid="30">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1">
                                            <p:txEl>
                                              <p:pRg st="0" end="0"/>
                                            </p:txEl>
                                          </p:spTgt>
                                        </p:tgtEl>
                                        <p:attrNameLst>
                                          <p:attrName>style.visibility</p:attrName>
                                        </p:attrNameLst>
                                      </p:cBhvr>
                                      <p:to>
                                        <p:strVal val="visible"/>
                                      </p:to>
                                    </p:set>
                                    <p:animEffect transition="in" filter="fade">
                                      <p:cBhvr>
                                        <p:cTn id="52" dur="500"/>
                                        <p:tgtEl>
                                          <p:spTgt spid="31">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2">
                                            <p:txEl>
                                              <p:pRg st="0" end="0"/>
                                            </p:txEl>
                                          </p:spTgt>
                                        </p:tgtEl>
                                        <p:attrNameLst>
                                          <p:attrName>style.visibility</p:attrName>
                                        </p:attrNameLst>
                                      </p:cBhvr>
                                      <p:to>
                                        <p:strVal val="visible"/>
                                      </p:to>
                                    </p:set>
                                    <p:animEffect transition="in" filter="fade">
                                      <p:cBhvr>
                                        <p:cTn id="57" dur="500"/>
                                        <p:tgtEl>
                                          <p:spTgt spid="42">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3">
                                            <p:txEl>
                                              <p:pRg st="0" end="0"/>
                                            </p:txEl>
                                          </p:spTgt>
                                        </p:tgtEl>
                                        <p:attrNameLst>
                                          <p:attrName>style.visibility</p:attrName>
                                        </p:attrNameLst>
                                      </p:cBhvr>
                                      <p:to>
                                        <p:strVal val="visible"/>
                                      </p:to>
                                    </p:set>
                                    <p:animEffect transition="in" filter="fade">
                                      <p:cBhvr>
                                        <p:cTn id="62" dur="500"/>
                                        <p:tgtEl>
                                          <p:spTgt spid="43">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4">
                                            <p:txEl>
                                              <p:pRg st="0" end="0"/>
                                            </p:txEl>
                                          </p:spTgt>
                                        </p:tgtEl>
                                        <p:attrNameLst>
                                          <p:attrName>style.visibility</p:attrName>
                                        </p:attrNameLst>
                                      </p:cBhvr>
                                      <p:to>
                                        <p:strVal val="visible"/>
                                      </p:to>
                                    </p:set>
                                    <p:animEffect transition="in" filter="fade">
                                      <p:cBhvr>
                                        <p:cTn id="67" dur="500"/>
                                        <p:tgtEl>
                                          <p:spTgt spid="44">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6">
                                            <p:txEl>
                                              <p:pRg st="0" end="0"/>
                                            </p:txEl>
                                          </p:spTgt>
                                        </p:tgtEl>
                                        <p:attrNameLst>
                                          <p:attrName>style.visibility</p:attrName>
                                        </p:attrNameLst>
                                      </p:cBhvr>
                                      <p:to>
                                        <p:strVal val="visible"/>
                                      </p:to>
                                    </p:set>
                                    <p:animEffect transition="in" filter="fade">
                                      <p:cBhvr>
                                        <p:cTn id="72" dur="500"/>
                                        <p:tgtEl>
                                          <p:spTgt spid="4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32</a:t>
            </a:fld>
            <a:endParaRPr lang="zh-CN" altLang="en-US"/>
          </a:p>
        </p:txBody>
      </p:sp>
      <p:sp>
        <p:nvSpPr>
          <p:cNvPr id="7" name="文本框 6"/>
          <p:cNvSpPr txBox="1"/>
          <p:nvPr/>
        </p:nvSpPr>
        <p:spPr>
          <a:xfrm>
            <a:off x="6424125" y="11140"/>
            <a:ext cx="2608406"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1.4 </a:t>
            </a:r>
            <a:r>
              <a:rPr lang="zh-CN" altLang="en-US" b="1" dirty="0">
                <a:latin typeface="Times New Roman" panose="02020603050405020304" pitchFamily="18" charset="0"/>
                <a:cs typeface="Times New Roman" panose="02020603050405020304" pitchFamily="18" charset="0"/>
              </a:rPr>
              <a:t>无线传感器网络架构</a:t>
            </a:r>
          </a:p>
        </p:txBody>
      </p:sp>
      <p:sp>
        <p:nvSpPr>
          <p:cNvPr id="12" name="文本框 11">
            <a:extLst>
              <a:ext uri="{FF2B5EF4-FFF2-40B4-BE49-F238E27FC236}">
                <a16:creationId xmlns:a16="http://schemas.microsoft.com/office/drawing/2014/main" id="{53EB7D22-53D3-4680-A49E-61F8B662CC55}"/>
              </a:ext>
            </a:extLst>
          </p:cNvPr>
          <p:cNvSpPr txBox="1"/>
          <p:nvPr/>
        </p:nvSpPr>
        <p:spPr>
          <a:xfrm>
            <a:off x="194551" y="0"/>
            <a:ext cx="4886603" cy="369332"/>
          </a:xfrm>
          <a:prstGeom prst="rect">
            <a:avLst/>
          </a:prstGeom>
          <a:noFill/>
        </p:spPr>
        <p:txBody>
          <a:bodyPr wrap="squar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无线传感器网络概述</a:t>
            </a:r>
          </a:p>
        </p:txBody>
      </p:sp>
      <p:grpSp>
        <p:nvGrpSpPr>
          <p:cNvPr id="6" name="组合 5">
            <a:extLst>
              <a:ext uri="{FF2B5EF4-FFF2-40B4-BE49-F238E27FC236}">
                <a16:creationId xmlns:a16="http://schemas.microsoft.com/office/drawing/2014/main" id="{C41ADECD-E410-4D49-BAFA-E5CA95A789D4}"/>
              </a:ext>
            </a:extLst>
          </p:cNvPr>
          <p:cNvGrpSpPr/>
          <p:nvPr/>
        </p:nvGrpSpPr>
        <p:grpSpPr>
          <a:xfrm>
            <a:off x="38912" y="1794754"/>
            <a:ext cx="3035030" cy="1770434"/>
            <a:chOff x="34048" y="2096311"/>
            <a:chExt cx="3035030" cy="1770434"/>
          </a:xfrm>
        </p:grpSpPr>
        <p:sp>
          <p:nvSpPr>
            <p:cNvPr id="30" name="文本框 29">
              <a:extLst>
                <a:ext uri="{FF2B5EF4-FFF2-40B4-BE49-F238E27FC236}">
                  <a16:creationId xmlns:a16="http://schemas.microsoft.com/office/drawing/2014/main" id="{E9972D96-36B2-41F5-AF8D-D74026F85E9E}"/>
                </a:ext>
              </a:extLst>
            </p:cNvPr>
            <p:cNvSpPr txBox="1"/>
            <p:nvPr/>
          </p:nvSpPr>
          <p:spPr>
            <a:xfrm>
              <a:off x="659444" y="2815867"/>
              <a:ext cx="2016542"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移动通信网络</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云形 4">
              <a:extLst>
                <a:ext uri="{FF2B5EF4-FFF2-40B4-BE49-F238E27FC236}">
                  <a16:creationId xmlns:a16="http://schemas.microsoft.com/office/drawing/2014/main" id="{BF4A89E2-26D5-48A8-BAE4-59F1E7CAC510}"/>
                </a:ext>
              </a:extLst>
            </p:cNvPr>
            <p:cNvSpPr/>
            <p:nvPr/>
          </p:nvSpPr>
          <p:spPr>
            <a:xfrm>
              <a:off x="34048" y="2096311"/>
              <a:ext cx="3035030" cy="1770434"/>
            </a:xfrm>
            <a:prstGeom prst="cloud">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105D09E6-8829-4704-A8E1-78BF4D08C3E0}"/>
                </a:ext>
              </a:extLst>
            </p:cNvPr>
            <p:cNvSpPr txBox="1"/>
            <p:nvPr/>
          </p:nvSpPr>
          <p:spPr>
            <a:xfrm>
              <a:off x="659444" y="2347814"/>
              <a:ext cx="2016542"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卫星通信</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 name="文本框 37">
              <a:extLst>
                <a:ext uri="{FF2B5EF4-FFF2-40B4-BE49-F238E27FC236}">
                  <a16:creationId xmlns:a16="http://schemas.microsoft.com/office/drawing/2014/main" id="{F2C3A295-9AA6-4D80-92FC-3C33ED3E9E25}"/>
                </a:ext>
              </a:extLst>
            </p:cNvPr>
            <p:cNvSpPr txBox="1"/>
            <p:nvPr/>
          </p:nvSpPr>
          <p:spPr>
            <a:xfrm>
              <a:off x="659444" y="3283920"/>
              <a:ext cx="1288036"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以太网</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9" name="文本框 38">
            <a:extLst>
              <a:ext uri="{FF2B5EF4-FFF2-40B4-BE49-F238E27FC236}">
                <a16:creationId xmlns:a16="http://schemas.microsoft.com/office/drawing/2014/main" id="{F3324930-0508-47C1-98BE-942427AFB97A}"/>
              </a:ext>
            </a:extLst>
          </p:cNvPr>
          <p:cNvSpPr txBox="1"/>
          <p:nvPr/>
        </p:nvSpPr>
        <p:spPr>
          <a:xfrm>
            <a:off x="747231" y="4384237"/>
            <a:ext cx="1618391" cy="461665"/>
          </a:xfrm>
          <a:prstGeom prst="rect">
            <a:avLst/>
          </a:prstGeom>
          <a:noFill/>
          <a:ln w="19050">
            <a:solidFill>
              <a:schemeClr val="tx1"/>
            </a:solidFill>
          </a:ln>
        </p:spPr>
        <p:txBody>
          <a:bodyPr wrap="square" rtlCol="0">
            <a:spAutoFit/>
          </a:bodyPr>
          <a:lstStyle/>
          <a:p>
            <a:pPr algn="ct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管理用户</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9" name="直接箭头连接符 8">
            <a:extLst>
              <a:ext uri="{FF2B5EF4-FFF2-40B4-BE49-F238E27FC236}">
                <a16:creationId xmlns:a16="http://schemas.microsoft.com/office/drawing/2014/main" id="{C6BB809C-A2C1-4D19-BCD0-A0463BF470B6}"/>
              </a:ext>
            </a:extLst>
          </p:cNvPr>
          <p:cNvCxnSpPr>
            <a:cxnSpLocks/>
          </p:cNvCxnSpPr>
          <p:nvPr/>
        </p:nvCxnSpPr>
        <p:spPr>
          <a:xfrm>
            <a:off x="1556426" y="3623554"/>
            <a:ext cx="0" cy="686236"/>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B20B9655-1F3A-423F-9DEB-AF0EA2EC6960}"/>
              </a:ext>
            </a:extLst>
          </p:cNvPr>
          <p:cNvSpPr txBox="1"/>
          <p:nvPr/>
        </p:nvSpPr>
        <p:spPr>
          <a:xfrm>
            <a:off x="3842249" y="1662114"/>
            <a:ext cx="1618391" cy="461665"/>
          </a:xfrm>
          <a:prstGeom prst="rect">
            <a:avLst/>
          </a:prstGeom>
          <a:noFill/>
          <a:ln w="19050">
            <a:solidFill>
              <a:schemeClr val="tx1"/>
            </a:solidFill>
          </a:ln>
        </p:spPr>
        <p:txBody>
          <a:bodyPr wrap="square" rtlCol="0">
            <a:spAutoFit/>
          </a:bodyPr>
          <a:lstStyle/>
          <a:p>
            <a:pPr algn="ct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汇聚节点</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9" name="文本框 48">
            <a:extLst>
              <a:ext uri="{FF2B5EF4-FFF2-40B4-BE49-F238E27FC236}">
                <a16:creationId xmlns:a16="http://schemas.microsoft.com/office/drawing/2014/main" id="{EA9F8D5C-F35A-42DB-8565-7C46497B2F56}"/>
              </a:ext>
            </a:extLst>
          </p:cNvPr>
          <p:cNvSpPr txBox="1"/>
          <p:nvPr/>
        </p:nvSpPr>
        <p:spPr>
          <a:xfrm>
            <a:off x="6593730" y="5796388"/>
            <a:ext cx="2016542"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传感器节点</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2" name="文本框 51">
            <a:extLst>
              <a:ext uri="{FF2B5EF4-FFF2-40B4-BE49-F238E27FC236}">
                <a16:creationId xmlns:a16="http://schemas.microsoft.com/office/drawing/2014/main" id="{A9A2AC9E-1FC6-46F5-943B-D123516E74A9}"/>
              </a:ext>
            </a:extLst>
          </p:cNvPr>
          <p:cNvSpPr txBox="1"/>
          <p:nvPr/>
        </p:nvSpPr>
        <p:spPr>
          <a:xfrm>
            <a:off x="4704610" y="5606079"/>
            <a:ext cx="1538249" cy="461665"/>
          </a:xfrm>
          <a:prstGeom prst="rect">
            <a:avLst/>
          </a:prstGeom>
          <a:noFill/>
        </p:spPr>
        <p:txBody>
          <a:bodyPr wrap="square" rtlCol="0">
            <a:spAutoFit/>
          </a:bodyPr>
          <a:lstStyle/>
          <a:p>
            <a:pPr>
              <a:spcAft>
                <a:spcPts val="600"/>
              </a:spcAft>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检测区域</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3" name="组合 22">
            <a:extLst>
              <a:ext uri="{FF2B5EF4-FFF2-40B4-BE49-F238E27FC236}">
                <a16:creationId xmlns:a16="http://schemas.microsoft.com/office/drawing/2014/main" id="{673D0B7B-CE37-4204-8BAF-752FD59BB493}"/>
              </a:ext>
            </a:extLst>
          </p:cNvPr>
          <p:cNvGrpSpPr/>
          <p:nvPr/>
        </p:nvGrpSpPr>
        <p:grpSpPr>
          <a:xfrm>
            <a:off x="3900792" y="2450591"/>
            <a:ext cx="5016266" cy="3249818"/>
            <a:chOff x="3900792" y="2450591"/>
            <a:chExt cx="5016266" cy="3249818"/>
          </a:xfrm>
        </p:grpSpPr>
        <p:sp>
          <p:nvSpPr>
            <p:cNvPr id="50" name="云形 49">
              <a:extLst>
                <a:ext uri="{FF2B5EF4-FFF2-40B4-BE49-F238E27FC236}">
                  <a16:creationId xmlns:a16="http://schemas.microsoft.com/office/drawing/2014/main" id="{B1E6A06A-48A8-48AA-83EF-20BE5308CCF9}"/>
                </a:ext>
              </a:extLst>
            </p:cNvPr>
            <p:cNvSpPr/>
            <p:nvPr/>
          </p:nvSpPr>
          <p:spPr>
            <a:xfrm>
              <a:off x="3900792" y="2450591"/>
              <a:ext cx="5016266" cy="3249818"/>
            </a:xfrm>
            <a:prstGeom prst="cloud">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流程图: 接点 13">
              <a:extLst>
                <a:ext uri="{FF2B5EF4-FFF2-40B4-BE49-F238E27FC236}">
                  <a16:creationId xmlns:a16="http://schemas.microsoft.com/office/drawing/2014/main" id="{54B88A93-2AB2-4BED-9D67-3A1E7B29AADB}"/>
                </a:ext>
              </a:extLst>
            </p:cNvPr>
            <p:cNvSpPr/>
            <p:nvPr/>
          </p:nvSpPr>
          <p:spPr>
            <a:xfrm>
              <a:off x="4863829" y="3618691"/>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流程图: 接点 52">
              <a:extLst>
                <a:ext uri="{FF2B5EF4-FFF2-40B4-BE49-F238E27FC236}">
                  <a16:creationId xmlns:a16="http://schemas.microsoft.com/office/drawing/2014/main" id="{F5EA50D0-325F-4E19-A168-EAE83E1849D3}"/>
                </a:ext>
              </a:extLst>
            </p:cNvPr>
            <p:cNvSpPr/>
            <p:nvPr/>
          </p:nvSpPr>
          <p:spPr>
            <a:xfrm>
              <a:off x="5420233" y="3813501"/>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流程图: 接点 53">
              <a:extLst>
                <a:ext uri="{FF2B5EF4-FFF2-40B4-BE49-F238E27FC236}">
                  <a16:creationId xmlns:a16="http://schemas.microsoft.com/office/drawing/2014/main" id="{B08C12DF-D99E-4364-9534-2F2945F00208}"/>
                </a:ext>
              </a:extLst>
            </p:cNvPr>
            <p:cNvSpPr/>
            <p:nvPr/>
          </p:nvSpPr>
          <p:spPr>
            <a:xfrm>
              <a:off x="5778229" y="3303773"/>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流程图: 接点 54">
              <a:extLst>
                <a:ext uri="{FF2B5EF4-FFF2-40B4-BE49-F238E27FC236}">
                  <a16:creationId xmlns:a16="http://schemas.microsoft.com/office/drawing/2014/main" id="{AD6366DA-CD16-498C-8B97-033D596309E1}"/>
                </a:ext>
              </a:extLst>
            </p:cNvPr>
            <p:cNvSpPr/>
            <p:nvPr/>
          </p:nvSpPr>
          <p:spPr>
            <a:xfrm>
              <a:off x="4776280" y="4547682"/>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流程图: 接点 55">
              <a:extLst>
                <a:ext uri="{FF2B5EF4-FFF2-40B4-BE49-F238E27FC236}">
                  <a16:creationId xmlns:a16="http://schemas.microsoft.com/office/drawing/2014/main" id="{82E8BBFB-BA05-4E5B-A720-4331C30887D3}"/>
                </a:ext>
              </a:extLst>
            </p:cNvPr>
            <p:cNvSpPr/>
            <p:nvPr/>
          </p:nvSpPr>
          <p:spPr>
            <a:xfrm>
              <a:off x="6845029" y="3781239"/>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流程图: 接点 56">
              <a:extLst>
                <a:ext uri="{FF2B5EF4-FFF2-40B4-BE49-F238E27FC236}">
                  <a16:creationId xmlns:a16="http://schemas.microsoft.com/office/drawing/2014/main" id="{983076D4-F362-4F52-9E4B-B30BEC05EADA}"/>
                </a:ext>
              </a:extLst>
            </p:cNvPr>
            <p:cNvSpPr/>
            <p:nvPr/>
          </p:nvSpPr>
          <p:spPr>
            <a:xfrm>
              <a:off x="5460640" y="4894637"/>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流程图: 接点 57">
              <a:extLst>
                <a:ext uri="{FF2B5EF4-FFF2-40B4-BE49-F238E27FC236}">
                  <a16:creationId xmlns:a16="http://schemas.microsoft.com/office/drawing/2014/main" id="{ACC1FF92-7B44-499C-83EB-1E2045956A7A}"/>
                </a:ext>
              </a:extLst>
            </p:cNvPr>
            <p:cNvSpPr/>
            <p:nvPr/>
          </p:nvSpPr>
          <p:spPr>
            <a:xfrm>
              <a:off x="6540228" y="3161296"/>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流程图: 接点 58">
              <a:extLst>
                <a:ext uri="{FF2B5EF4-FFF2-40B4-BE49-F238E27FC236}">
                  <a16:creationId xmlns:a16="http://schemas.microsoft.com/office/drawing/2014/main" id="{CEA0DBC6-595B-4660-9BD0-811BD97F5267}"/>
                </a:ext>
              </a:extLst>
            </p:cNvPr>
            <p:cNvSpPr/>
            <p:nvPr/>
          </p:nvSpPr>
          <p:spPr>
            <a:xfrm>
              <a:off x="6027903" y="4645185"/>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流程图: 接点 59">
              <a:extLst>
                <a:ext uri="{FF2B5EF4-FFF2-40B4-BE49-F238E27FC236}">
                  <a16:creationId xmlns:a16="http://schemas.microsoft.com/office/drawing/2014/main" id="{64DC42B7-03FC-4946-956D-662E2E93A2BB}"/>
                </a:ext>
              </a:extLst>
            </p:cNvPr>
            <p:cNvSpPr/>
            <p:nvPr/>
          </p:nvSpPr>
          <p:spPr>
            <a:xfrm>
              <a:off x="7498403" y="4295542"/>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流程图: 接点 60">
              <a:extLst>
                <a:ext uri="{FF2B5EF4-FFF2-40B4-BE49-F238E27FC236}">
                  <a16:creationId xmlns:a16="http://schemas.microsoft.com/office/drawing/2014/main" id="{86C7892B-9927-4F7A-B17A-37260AA827C6}"/>
                </a:ext>
              </a:extLst>
            </p:cNvPr>
            <p:cNvSpPr/>
            <p:nvPr/>
          </p:nvSpPr>
          <p:spPr>
            <a:xfrm>
              <a:off x="7805765" y="3359707"/>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流程图: 接点 62">
              <a:extLst>
                <a:ext uri="{FF2B5EF4-FFF2-40B4-BE49-F238E27FC236}">
                  <a16:creationId xmlns:a16="http://schemas.microsoft.com/office/drawing/2014/main" id="{707C34B4-2DB1-42BD-82D6-6B0B48F6C80A}"/>
                </a:ext>
              </a:extLst>
            </p:cNvPr>
            <p:cNvSpPr/>
            <p:nvPr/>
          </p:nvSpPr>
          <p:spPr>
            <a:xfrm>
              <a:off x="6593730" y="4896457"/>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流程图: 接点 64">
              <a:extLst>
                <a:ext uri="{FF2B5EF4-FFF2-40B4-BE49-F238E27FC236}">
                  <a16:creationId xmlns:a16="http://schemas.microsoft.com/office/drawing/2014/main" id="{D96920C6-071D-4FB8-BE41-1623259D4018}"/>
                </a:ext>
              </a:extLst>
            </p:cNvPr>
            <p:cNvSpPr/>
            <p:nvPr/>
          </p:nvSpPr>
          <p:spPr>
            <a:xfrm>
              <a:off x="6207524" y="5335623"/>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流程图: 接点 65">
              <a:extLst>
                <a:ext uri="{FF2B5EF4-FFF2-40B4-BE49-F238E27FC236}">
                  <a16:creationId xmlns:a16="http://schemas.microsoft.com/office/drawing/2014/main" id="{DB17ED30-49A9-4448-876F-9E68EC15B645}"/>
                </a:ext>
              </a:extLst>
            </p:cNvPr>
            <p:cNvSpPr/>
            <p:nvPr/>
          </p:nvSpPr>
          <p:spPr>
            <a:xfrm>
              <a:off x="6029526" y="3893107"/>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流程图: 接点 66">
              <a:extLst>
                <a:ext uri="{FF2B5EF4-FFF2-40B4-BE49-F238E27FC236}">
                  <a16:creationId xmlns:a16="http://schemas.microsoft.com/office/drawing/2014/main" id="{EA83AA14-BDEF-4B71-B2F9-6DCA6E356037}"/>
                </a:ext>
              </a:extLst>
            </p:cNvPr>
            <p:cNvSpPr/>
            <p:nvPr/>
          </p:nvSpPr>
          <p:spPr>
            <a:xfrm>
              <a:off x="7589594" y="4926220"/>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流程图: 接点 67">
              <a:extLst>
                <a:ext uri="{FF2B5EF4-FFF2-40B4-BE49-F238E27FC236}">
                  <a16:creationId xmlns:a16="http://schemas.microsoft.com/office/drawing/2014/main" id="{F71D765B-427B-4DEA-A588-03741D0DF841}"/>
                </a:ext>
              </a:extLst>
            </p:cNvPr>
            <p:cNvSpPr/>
            <p:nvPr/>
          </p:nvSpPr>
          <p:spPr>
            <a:xfrm>
              <a:off x="6738024" y="4438247"/>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流程图: 接点 68">
              <a:extLst>
                <a:ext uri="{FF2B5EF4-FFF2-40B4-BE49-F238E27FC236}">
                  <a16:creationId xmlns:a16="http://schemas.microsoft.com/office/drawing/2014/main" id="{56122BB8-CB80-4A90-BB35-4ACB93440396}"/>
                </a:ext>
              </a:extLst>
            </p:cNvPr>
            <p:cNvSpPr/>
            <p:nvPr/>
          </p:nvSpPr>
          <p:spPr>
            <a:xfrm>
              <a:off x="7342888" y="3374300"/>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流程图: 接点 69">
              <a:extLst>
                <a:ext uri="{FF2B5EF4-FFF2-40B4-BE49-F238E27FC236}">
                  <a16:creationId xmlns:a16="http://schemas.microsoft.com/office/drawing/2014/main" id="{7C210C4C-34F1-42D3-96C4-CE0BCF39BA09}"/>
                </a:ext>
              </a:extLst>
            </p:cNvPr>
            <p:cNvSpPr/>
            <p:nvPr/>
          </p:nvSpPr>
          <p:spPr>
            <a:xfrm>
              <a:off x="8426189" y="3312270"/>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流程图: 接点 70">
              <a:extLst>
                <a:ext uri="{FF2B5EF4-FFF2-40B4-BE49-F238E27FC236}">
                  <a16:creationId xmlns:a16="http://schemas.microsoft.com/office/drawing/2014/main" id="{7CE2FF84-D35B-45EC-B6A3-4A5654D37CF9}"/>
                </a:ext>
              </a:extLst>
            </p:cNvPr>
            <p:cNvSpPr/>
            <p:nvPr/>
          </p:nvSpPr>
          <p:spPr>
            <a:xfrm>
              <a:off x="4312595" y="4075500"/>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流程图: 接点 71">
              <a:extLst>
                <a:ext uri="{FF2B5EF4-FFF2-40B4-BE49-F238E27FC236}">
                  <a16:creationId xmlns:a16="http://schemas.microsoft.com/office/drawing/2014/main" id="{17EB5BD9-8D8D-417F-862A-F6EF9F6E3861}"/>
                </a:ext>
              </a:extLst>
            </p:cNvPr>
            <p:cNvSpPr/>
            <p:nvPr/>
          </p:nvSpPr>
          <p:spPr>
            <a:xfrm>
              <a:off x="8404697" y="4075500"/>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流程图: 接点 72">
              <a:extLst>
                <a:ext uri="{FF2B5EF4-FFF2-40B4-BE49-F238E27FC236}">
                  <a16:creationId xmlns:a16="http://schemas.microsoft.com/office/drawing/2014/main" id="{4C7AAAA4-6890-4AFD-8D1C-0DBDCCDE02D8}"/>
                </a:ext>
              </a:extLst>
            </p:cNvPr>
            <p:cNvSpPr/>
            <p:nvPr/>
          </p:nvSpPr>
          <p:spPr>
            <a:xfrm>
              <a:off x="5223752" y="2894649"/>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流程图: 接点 73">
              <a:extLst>
                <a:ext uri="{FF2B5EF4-FFF2-40B4-BE49-F238E27FC236}">
                  <a16:creationId xmlns:a16="http://schemas.microsoft.com/office/drawing/2014/main" id="{6AFAEDE6-2C3C-4B56-BD71-674388C36FB2}"/>
                </a:ext>
              </a:extLst>
            </p:cNvPr>
            <p:cNvSpPr/>
            <p:nvPr/>
          </p:nvSpPr>
          <p:spPr>
            <a:xfrm>
              <a:off x="7564874" y="2645147"/>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流程图: 接点 74">
              <a:extLst>
                <a:ext uri="{FF2B5EF4-FFF2-40B4-BE49-F238E27FC236}">
                  <a16:creationId xmlns:a16="http://schemas.microsoft.com/office/drawing/2014/main" id="{959E7A45-49A1-4D37-8429-E266801D7116}"/>
                </a:ext>
              </a:extLst>
            </p:cNvPr>
            <p:cNvSpPr/>
            <p:nvPr/>
          </p:nvSpPr>
          <p:spPr>
            <a:xfrm>
              <a:off x="5058687" y="5150918"/>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流程图: 接点 75">
              <a:extLst>
                <a:ext uri="{FF2B5EF4-FFF2-40B4-BE49-F238E27FC236}">
                  <a16:creationId xmlns:a16="http://schemas.microsoft.com/office/drawing/2014/main" id="{97CB2BBE-EF87-4E8B-871E-27DDE90CF5B1}"/>
                </a:ext>
              </a:extLst>
            </p:cNvPr>
            <p:cNvSpPr/>
            <p:nvPr/>
          </p:nvSpPr>
          <p:spPr>
            <a:xfrm>
              <a:off x="5313228" y="4321140"/>
              <a:ext cx="107005" cy="11186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77" name="直接箭头连接符 76">
            <a:extLst>
              <a:ext uri="{FF2B5EF4-FFF2-40B4-BE49-F238E27FC236}">
                <a16:creationId xmlns:a16="http://schemas.microsoft.com/office/drawing/2014/main" id="{0024E975-C5A9-41B9-8A80-4345238A3434}"/>
              </a:ext>
            </a:extLst>
          </p:cNvPr>
          <p:cNvCxnSpPr>
            <a:cxnSpLocks/>
          </p:cNvCxnSpPr>
          <p:nvPr/>
        </p:nvCxnSpPr>
        <p:spPr>
          <a:xfrm>
            <a:off x="7008779" y="3893107"/>
            <a:ext cx="489624" cy="376573"/>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F9987EFF-6350-4F35-BBEA-FCD1052267EC}"/>
              </a:ext>
            </a:extLst>
          </p:cNvPr>
          <p:cNvCxnSpPr>
            <a:cxnSpLocks/>
          </p:cNvCxnSpPr>
          <p:nvPr/>
        </p:nvCxnSpPr>
        <p:spPr>
          <a:xfrm flipV="1">
            <a:off x="6207524" y="3820411"/>
            <a:ext cx="580760" cy="128630"/>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6BEDA7A6-A6FF-4A42-B64A-AADD3EAA4B70}"/>
              </a:ext>
            </a:extLst>
          </p:cNvPr>
          <p:cNvCxnSpPr>
            <a:cxnSpLocks/>
          </p:cNvCxnSpPr>
          <p:nvPr/>
        </p:nvCxnSpPr>
        <p:spPr>
          <a:xfrm>
            <a:off x="5598231" y="3893107"/>
            <a:ext cx="355115" cy="57518"/>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DC83E1B4-A920-4AAC-8880-2E355680A63F}"/>
              </a:ext>
            </a:extLst>
          </p:cNvPr>
          <p:cNvCxnSpPr>
            <a:cxnSpLocks/>
          </p:cNvCxnSpPr>
          <p:nvPr/>
        </p:nvCxnSpPr>
        <p:spPr>
          <a:xfrm>
            <a:off x="5058687" y="3730559"/>
            <a:ext cx="304774" cy="106614"/>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E80969D6-C445-4287-A148-1A5085F64D69}"/>
              </a:ext>
            </a:extLst>
          </p:cNvPr>
          <p:cNvCxnSpPr>
            <a:cxnSpLocks/>
          </p:cNvCxnSpPr>
          <p:nvPr/>
        </p:nvCxnSpPr>
        <p:spPr>
          <a:xfrm flipH="1">
            <a:off x="4965626" y="3055397"/>
            <a:ext cx="258126" cy="504733"/>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2D2A12E9-DBDA-465C-B061-2413BAE44965}"/>
              </a:ext>
            </a:extLst>
          </p:cNvPr>
          <p:cNvCxnSpPr>
            <a:cxnSpLocks/>
          </p:cNvCxnSpPr>
          <p:nvPr/>
        </p:nvCxnSpPr>
        <p:spPr>
          <a:xfrm>
            <a:off x="5058687" y="2182340"/>
            <a:ext cx="169928" cy="683619"/>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DE71DB3D-2B29-4AE4-BE69-CB2C2603FD26}"/>
              </a:ext>
            </a:extLst>
          </p:cNvPr>
          <p:cNvCxnSpPr>
            <a:cxnSpLocks/>
          </p:cNvCxnSpPr>
          <p:nvPr/>
        </p:nvCxnSpPr>
        <p:spPr>
          <a:xfrm flipV="1">
            <a:off x="3035030" y="1961033"/>
            <a:ext cx="770104" cy="451427"/>
          </a:xfrm>
          <a:prstGeom prst="straightConnector1">
            <a:avLst/>
          </a:prstGeom>
          <a:ln w="190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183AC685-E1DF-4DC3-88A4-B5EE02106353}"/>
              </a:ext>
            </a:extLst>
          </p:cNvPr>
          <p:cNvCxnSpPr>
            <a:cxnSpLocks/>
          </p:cNvCxnSpPr>
          <p:nvPr/>
        </p:nvCxnSpPr>
        <p:spPr>
          <a:xfrm flipH="1">
            <a:off x="7449893" y="5049747"/>
            <a:ext cx="185401" cy="787164"/>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244FD6BA-83F5-4C35-BA68-4E2F2D02E335}"/>
              </a:ext>
            </a:extLst>
          </p:cNvPr>
          <p:cNvSpPr txBox="1"/>
          <p:nvPr/>
        </p:nvSpPr>
        <p:spPr>
          <a:xfrm>
            <a:off x="6593730" y="6191752"/>
            <a:ext cx="2253576" cy="400110"/>
          </a:xfrm>
          <a:prstGeom prst="rect">
            <a:avLst/>
          </a:prstGeom>
          <a:noFill/>
        </p:spPr>
        <p:txBody>
          <a:bodyPr wrap="square" rtlCol="0">
            <a:spAutoFit/>
          </a:bodyPr>
          <a:lstStyle/>
          <a:p>
            <a:pPr>
              <a:spcAft>
                <a:spcPts val="600"/>
              </a:spcAft>
            </a:pPr>
            <a:r>
              <a:rPr lang="zh-CN" altLang="en-US"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可感知和转发路由</a:t>
            </a:r>
            <a:endParaRPr lang="en-US" altLang="zh-CN"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6" name="文本框 85">
            <a:extLst>
              <a:ext uri="{FF2B5EF4-FFF2-40B4-BE49-F238E27FC236}">
                <a16:creationId xmlns:a16="http://schemas.microsoft.com/office/drawing/2014/main" id="{51594CA4-C2D9-4487-906D-A21623DD2918}"/>
              </a:ext>
            </a:extLst>
          </p:cNvPr>
          <p:cNvSpPr txBox="1"/>
          <p:nvPr/>
        </p:nvSpPr>
        <p:spPr>
          <a:xfrm>
            <a:off x="3710569" y="2151764"/>
            <a:ext cx="1455124" cy="1169551"/>
          </a:xfrm>
          <a:prstGeom prst="rect">
            <a:avLst/>
          </a:prstGeom>
          <a:noFill/>
        </p:spPr>
        <p:txBody>
          <a:bodyPr wrap="square" rtlCol="0">
            <a:spAutoFit/>
          </a:bodyPr>
          <a:lstStyle/>
          <a:p>
            <a:pPr>
              <a:spcAft>
                <a:spcPts val="600"/>
              </a:spcAft>
            </a:pPr>
            <a:r>
              <a:rPr lang="zh-CN" altLang="en-US"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网关节点</a:t>
            </a:r>
            <a:endParaRPr lang="en-US" altLang="zh-CN"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zh-CN" altLang="en-US"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基站</a:t>
            </a:r>
            <a:endParaRPr lang="en-US" altLang="zh-CN"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a:spcAft>
                <a:spcPts val="600"/>
              </a:spcAft>
            </a:pPr>
            <a:r>
              <a:rPr lang="en-US" altLang="zh-CN"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Sink</a:t>
            </a:r>
            <a:r>
              <a:rPr lang="zh-CN" altLang="en-US"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节点</a:t>
            </a:r>
            <a:endParaRPr lang="en-US" altLang="zh-CN" sz="2000" b="1"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7" name="文本框 86">
            <a:extLst>
              <a:ext uri="{FF2B5EF4-FFF2-40B4-BE49-F238E27FC236}">
                <a16:creationId xmlns:a16="http://schemas.microsoft.com/office/drawing/2014/main" id="{3B45E306-3088-4537-87AA-0A4496CEF07E}"/>
              </a:ext>
            </a:extLst>
          </p:cNvPr>
          <p:cNvSpPr txBox="1"/>
          <p:nvPr/>
        </p:nvSpPr>
        <p:spPr>
          <a:xfrm>
            <a:off x="3737599" y="431253"/>
            <a:ext cx="2909633" cy="1253677"/>
          </a:xfrm>
          <a:prstGeom prst="rect">
            <a:avLst/>
          </a:prstGeom>
          <a:noFill/>
        </p:spPr>
        <p:txBody>
          <a:bodyPr wrap="square" rtlCol="0">
            <a:spAutoFit/>
          </a:bodyPr>
          <a:lstStyle/>
          <a:p>
            <a:pPr>
              <a:lnSpc>
                <a:spcPct val="130000"/>
              </a:lnSpc>
              <a:spcAft>
                <a:spcPts val="600"/>
              </a:spcAft>
            </a:pP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实现两个通信网络之间数据交换，实现两种协议之间的转换</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2865594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F2CF2E6-587F-4213-9416-EC208072DCCA}"/>
              </a:ext>
            </a:extLst>
          </p:cNvPr>
          <p:cNvSpPr>
            <a:spLocks noGrp="1"/>
          </p:cNvSpPr>
          <p:nvPr>
            <p:ph type="sldNum" sz="quarter" idx="12"/>
          </p:nvPr>
        </p:nvSpPr>
        <p:spPr/>
        <p:txBody>
          <a:bodyPr/>
          <a:lstStyle/>
          <a:p>
            <a:fld id="{E663D701-F6D3-45BB-89CD-EE32AA93FC3C}" type="slidenum">
              <a:rPr lang="zh-CN" altLang="en-US" smtClean="0"/>
              <a:t>33</a:t>
            </a:fld>
            <a:endParaRPr lang="zh-CN" altLang="en-US"/>
          </a:p>
        </p:txBody>
      </p:sp>
      <p:sp>
        <p:nvSpPr>
          <p:cNvPr id="6" name="文本框 5">
            <a:extLst>
              <a:ext uri="{FF2B5EF4-FFF2-40B4-BE49-F238E27FC236}">
                <a16:creationId xmlns:a16="http://schemas.microsoft.com/office/drawing/2014/main" id="{2DA00CE4-A4F6-4ACA-9FC2-5209CF2C21DC}"/>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以下不属于无线通信特点的是</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_____________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文本框 6">
            <a:extLst>
              <a:ext uri="{FF2B5EF4-FFF2-40B4-BE49-F238E27FC236}">
                <a16:creationId xmlns:a16="http://schemas.microsoft.com/office/drawing/2014/main" id="{351E7113-5FE1-43F4-BA70-57C9F03AD9C1}"/>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支持移动性业务</a:t>
            </a:r>
          </a:p>
        </p:txBody>
      </p:sp>
      <p:sp>
        <p:nvSpPr>
          <p:cNvPr id="8" name="文本框 7">
            <a:extLst>
              <a:ext uri="{FF2B5EF4-FFF2-40B4-BE49-F238E27FC236}">
                <a16:creationId xmlns:a16="http://schemas.microsoft.com/office/drawing/2014/main" id="{09A0E6BC-039D-4311-8FA2-90F15E5C7A82}"/>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抗干扰能力强</a:t>
            </a:r>
          </a:p>
        </p:txBody>
      </p:sp>
      <p:sp>
        <p:nvSpPr>
          <p:cNvPr id="9" name="文本框 8">
            <a:extLst>
              <a:ext uri="{FF2B5EF4-FFF2-40B4-BE49-F238E27FC236}">
                <a16:creationId xmlns:a16="http://schemas.microsoft.com/office/drawing/2014/main" id="{05A6E0AF-BBF6-4F3E-A4D8-477394A061E7}"/>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扩展性更强</a:t>
            </a:r>
          </a:p>
        </p:txBody>
      </p:sp>
      <p:sp>
        <p:nvSpPr>
          <p:cNvPr id="10" name="文本框 9">
            <a:extLst>
              <a:ext uri="{FF2B5EF4-FFF2-40B4-BE49-F238E27FC236}">
                <a16:creationId xmlns:a16="http://schemas.microsoft.com/office/drawing/2014/main" id="{0210449E-2036-4A74-BC7A-15866B2470BD}"/>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面临安全性问题</a:t>
            </a:r>
          </a:p>
        </p:txBody>
      </p:sp>
      <p:sp>
        <p:nvSpPr>
          <p:cNvPr id="11" name="椭圆 10">
            <a:extLst>
              <a:ext uri="{FF2B5EF4-FFF2-40B4-BE49-F238E27FC236}">
                <a16:creationId xmlns:a16="http://schemas.microsoft.com/office/drawing/2014/main" id="{DEF82253-740B-4744-BAF3-9F372D575CAB}"/>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9F4AEFA0-BCCD-47E2-A3FD-0EDDCA5B82ED}"/>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3135FAD5-6EF4-45E7-9042-F718864B6F21}"/>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A0845921-1697-43AF-88A3-492C87F5C513}"/>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B2105749-0FDD-40D3-A80D-56CC97FD10B9}"/>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87F57A3A-95B8-4CC2-866B-1572A54F3FEB}"/>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19E911A5-346D-4508-A7DF-FDD8E81B7A96}"/>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D5023475-05F9-4C17-9F54-37A33FA1DA53}"/>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6C2CADE5-E461-45B5-BB29-CF8F403F91AA}"/>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10D487A4-973B-4234-B137-57636F416B0C}"/>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09464138-C90E-4B3E-A9F1-6C64D7316CB6}"/>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1045320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1A43B65-B3A6-4C0D-B784-BAD4CA191E9B}"/>
              </a:ext>
            </a:extLst>
          </p:cNvPr>
          <p:cNvSpPr>
            <a:spLocks noGrp="1"/>
          </p:cNvSpPr>
          <p:nvPr>
            <p:ph type="sldNum" sz="quarter" idx="12"/>
          </p:nvPr>
        </p:nvSpPr>
        <p:spPr/>
        <p:txBody>
          <a:bodyPr/>
          <a:lstStyle/>
          <a:p>
            <a:fld id="{E663D701-F6D3-45BB-89CD-EE32AA93FC3C}" type="slidenum">
              <a:rPr lang="zh-CN" altLang="en-US" smtClean="0"/>
              <a:t>34</a:t>
            </a:fld>
            <a:endParaRPr lang="zh-CN" altLang="en-US"/>
          </a:p>
        </p:txBody>
      </p:sp>
      <p:sp>
        <p:nvSpPr>
          <p:cNvPr id="5" name="文本框 4">
            <a:extLst>
              <a:ext uri="{FF2B5EF4-FFF2-40B4-BE49-F238E27FC236}">
                <a16:creationId xmlns:a16="http://schemas.microsoft.com/office/drawing/2014/main" id="{36E62015-C4EA-4BEA-963C-7C368CC8072F}"/>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无线传感器网络的网络拓扑结构包括</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________</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6" name="文本框 5">
            <a:extLst>
              <a:ext uri="{FF2B5EF4-FFF2-40B4-BE49-F238E27FC236}">
                <a16:creationId xmlns:a16="http://schemas.microsoft.com/office/drawing/2014/main" id="{2BF867BB-5EF5-4465-A790-BFCDD245DDAF}"/>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多跳</a:t>
            </a:r>
          </a:p>
        </p:txBody>
      </p:sp>
      <p:sp>
        <p:nvSpPr>
          <p:cNvPr id="7" name="文本框 6">
            <a:extLst>
              <a:ext uri="{FF2B5EF4-FFF2-40B4-BE49-F238E27FC236}">
                <a16:creationId xmlns:a16="http://schemas.microsoft.com/office/drawing/2014/main" id="{59E1798D-9CFC-427D-9213-33B5F5859B26}"/>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去中心化</a:t>
            </a:r>
          </a:p>
        </p:txBody>
      </p:sp>
      <p:sp>
        <p:nvSpPr>
          <p:cNvPr id="8" name="文本框 7">
            <a:extLst>
              <a:ext uri="{FF2B5EF4-FFF2-40B4-BE49-F238E27FC236}">
                <a16:creationId xmlns:a16="http://schemas.microsoft.com/office/drawing/2014/main" id="{55AABBFE-EF73-4D24-BEF1-7F3996CFC709}"/>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为节能不使用蜂窝网络通信</a:t>
            </a:r>
          </a:p>
        </p:txBody>
      </p:sp>
      <p:sp>
        <p:nvSpPr>
          <p:cNvPr id="9" name="文本框 8">
            <a:extLst>
              <a:ext uri="{FF2B5EF4-FFF2-40B4-BE49-F238E27FC236}">
                <a16:creationId xmlns:a16="http://schemas.microsoft.com/office/drawing/2014/main" id="{BFAAA096-F980-48CB-836E-FED7CF8E92E8}"/>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华文中宋" panose="02010600040101010101" pitchFamily="2" charset="-122"/>
                <a:ea typeface="华文中宋" panose="02010600040101010101" pitchFamily="2" charset="-122"/>
                <a:sym typeface="Microsoft Yahei" panose="020B0503020204020204" pitchFamily="34" charset="-122"/>
              </a:rPr>
              <a:t>支持移动性</a:t>
            </a:r>
          </a:p>
        </p:txBody>
      </p:sp>
      <p:sp>
        <p:nvSpPr>
          <p:cNvPr id="10" name="矩形 9">
            <a:extLst>
              <a:ext uri="{FF2B5EF4-FFF2-40B4-BE49-F238E27FC236}">
                <a16:creationId xmlns:a16="http://schemas.microsoft.com/office/drawing/2014/main" id="{BE90DE1D-9C82-4DAD-8017-B382130D554E}"/>
              </a:ext>
            </a:extLst>
          </p:cNvPr>
          <p:cNvSpPr>
            <a:spLocks noChangeAspect="1"/>
          </p:cNvSpPr>
          <p:nvPr>
            <p:custDataLst>
              <p:tags r:id="rId7"/>
            </p:custDataLst>
          </p:nvPr>
        </p:nvSpPr>
        <p:spPr>
          <a:xfrm>
            <a:off x="1114425"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a:extLst>
              <a:ext uri="{FF2B5EF4-FFF2-40B4-BE49-F238E27FC236}">
                <a16:creationId xmlns:a16="http://schemas.microsoft.com/office/drawing/2014/main" id="{1782E8BD-7716-4222-8157-2C2CB5B1FA09}"/>
              </a:ext>
            </a:extLst>
          </p:cNvPr>
          <p:cNvSpPr>
            <a:spLocks noChangeAspect="1"/>
          </p:cNvSpPr>
          <p:nvPr>
            <p:custDataLst>
              <p:tags r:id="rId8"/>
            </p:custDataLst>
          </p:nvPr>
        </p:nvSpPr>
        <p:spPr>
          <a:xfrm>
            <a:off x="11144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2D18EE60-7F69-46EE-AE71-B8E62A99A4C4}"/>
              </a:ext>
            </a:extLst>
          </p:cNvPr>
          <p:cNvSpPr>
            <a:spLocks noChangeAspect="1"/>
          </p:cNvSpPr>
          <p:nvPr>
            <p:custDataLst>
              <p:tags r:id="rId9"/>
            </p:custDataLst>
          </p:nvPr>
        </p:nvSpPr>
        <p:spPr>
          <a:xfrm>
            <a:off x="1114425" y="45648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a:extLst>
              <a:ext uri="{FF2B5EF4-FFF2-40B4-BE49-F238E27FC236}">
                <a16:creationId xmlns:a16="http://schemas.microsoft.com/office/drawing/2014/main" id="{3D0A1703-F192-466F-B7AF-0F24475020FA}"/>
              </a:ext>
            </a:extLst>
          </p:cNvPr>
          <p:cNvSpPr>
            <a:spLocks noChangeAspect="1"/>
          </p:cNvSpPr>
          <p:nvPr>
            <p:custDataLst>
              <p:tags r:id="rId10"/>
            </p:custDataLst>
          </p:nvPr>
        </p:nvSpPr>
        <p:spPr>
          <a:xfrm>
            <a:off x="1114425" y="54221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BB1E3C84-2243-4765-AE30-8D9E04BC8404}"/>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a:extLst>
              <a:ext uri="{FF2B5EF4-FFF2-40B4-BE49-F238E27FC236}">
                <a16:creationId xmlns:a16="http://schemas.microsoft.com/office/drawing/2014/main" id="{DD533E18-7BEF-4993-9D3A-4F62CD21C95C}"/>
              </a:ext>
            </a:extLst>
          </p:cNvPr>
          <p:cNvGrpSpPr/>
          <p:nvPr>
            <p:custDataLst>
              <p:tags r:id="rId12"/>
            </p:custDataLst>
          </p:nvPr>
        </p:nvGrpSpPr>
        <p:grpSpPr>
          <a:xfrm>
            <a:off x="0" y="0"/>
            <a:ext cx="9144000" cy="635000"/>
            <a:chOff x="0" y="0"/>
            <a:chExt cx="9144000" cy="635000"/>
          </a:xfrm>
        </p:grpSpPr>
        <p:sp>
          <p:nvSpPr>
            <p:cNvPr id="15" name="TitleBackground">
              <a:extLst>
                <a:ext uri="{FF2B5EF4-FFF2-40B4-BE49-F238E27FC236}">
                  <a16:creationId xmlns:a16="http://schemas.microsoft.com/office/drawing/2014/main" id="{781B1120-9E61-4CD0-B0E5-08743CEEFD42}"/>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a:extLst>
                <a:ext uri="{FF2B5EF4-FFF2-40B4-BE49-F238E27FC236}">
                  <a16:creationId xmlns:a16="http://schemas.microsoft.com/office/drawing/2014/main" id="{28E90F4C-E31A-499F-9B5C-E0BEF7F5BD47}"/>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a:extLst>
                <a:ext uri="{FF2B5EF4-FFF2-40B4-BE49-F238E27FC236}">
                  <a16:creationId xmlns:a16="http://schemas.microsoft.com/office/drawing/2014/main" id="{9C869C4E-E19C-4EBD-8C26-2E5F04751BAB}"/>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8" name="TipText">
              <a:extLst>
                <a:ext uri="{FF2B5EF4-FFF2-40B4-BE49-F238E27FC236}">
                  <a16:creationId xmlns:a16="http://schemas.microsoft.com/office/drawing/2014/main" id="{F89E1EF5-3E6F-46EC-8AF3-13E2A6C7AAD2}"/>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37EACA31-88DF-4FD6-86F6-BA7B01DB39C2}"/>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6070355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980AF-6551-B02F-37BD-84A8A8231EF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3A48A42-4896-F544-3898-AB45A832E531}"/>
              </a:ext>
            </a:extLst>
          </p:cNvPr>
          <p:cNvSpPr>
            <a:spLocks noGrp="1"/>
          </p:cNvSpPr>
          <p:nvPr>
            <p:ph type="title"/>
          </p:nvPr>
        </p:nvSpPr>
        <p:spPr>
          <a:xfrm>
            <a:off x="256032" y="374854"/>
            <a:ext cx="8631936" cy="1325563"/>
          </a:xfrm>
        </p:spPr>
        <p:txBody>
          <a:bodyPr>
            <a:normAutofit fontScale="90000"/>
          </a:bodyPr>
          <a:lstStyle/>
          <a:p>
            <a:pPr algn="ctr"/>
            <a:r>
              <a:rPr lang="zh-CN" altLang="en-US" sz="5400" b="1" dirty="0">
                <a:solidFill>
                  <a:schemeClr val="tx1"/>
                </a:solidFill>
                <a:effectLst/>
                <a:latin typeface="Times New Roman" panose="02020603050405020304" pitchFamily="18" charset="0"/>
                <a:cs typeface="Times New Roman" panose="02020603050405020304" pitchFamily="18" charset="0"/>
              </a:rPr>
              <a:t>第</a:t>
            </a:r>
            <a:r>
              <a:rPr lang="en-US" altLang="zh-CN" sz="5400" b="1" dirty="0">
                <a:solidFill>
                  <a:schemeClr val="tx1"/>
                </a:solidFill>
                <a:effectLst/>
                <a:latin typeface="Times New Roman" panose="02020603050405020304" pitchFamily="18" charset="0"/>
                <a:cs typeface="Times New Roman" panose="02020603050405020304" pitchFamily="18" charset="0"/>
              </a:rPr>
              <a:t>1</a:t>
            </a:r>
            <a:r>
              <a:rPr lang="zh-CN" altLang="en-US" sz="5400" b="1" dirty="0">
                <a:solidFill>
                  <a:schemeClr val="tx1"/>
                </a:solidFill>
                <a:effectLst/>
              </a:rPr>
              <a:t>章 无线传感器网络概述</a:t>
            </a:r>
            <a:endParaRPr lang="zh-CN" altLang="en-US" sz="3200" b="1" dirty="0">
              <a:solidFill>
                <a:schemeClr val="tx1"/>
              </a:solidFill>
              <a:effectLst/>
            </a:endParaRPr>
          </a:p>
        </p:txBody>
      </p:sp>
      <p:sp>
        <p:nvSpPr>
          <p:cNvPr id="3" name="内容占位符 2">
            <a:extLst>
              <a:ext uri="{FF2B5EF4-FFF2-40B4-BE49-F238E27FC236}">
                <a16:creationId xmlns:a16="http://schemas.microsoft.com/office/drawing/2014/main" id="{F5CF1BF7-913F-AB31-6C87-30AFD23F3601}"/>
              </a:ext>
            </a:extLst>
          </p:cNvPr>
          <p:cNvSpPr>
            <a:spLocks noGrp="1"/>
          </p:cNvSpPr>
          <p:nvPr>
            <p:ph idx="1"/>
          </p:nvPr>
        </p:nvSpPr>
        <p:spPr>
          <a:xfrm>
            <a:off x="516835" y="1700417"/>
            <a:ext cx="8080513" cy="4351338"/>
          </a:xfrm>
        </p:spPr>
        <p:txBody>
          <a:bodyPr>
            <a:normAutofit lnSpcReduction="10000"/>
          </a:bodyPr>
          <a:lstStyle/>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1.1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无线传感器网络定义</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1.2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无线传感器结构及类型</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1.3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无线传感器网络拓扑</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1.4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无线传感器网络架构</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rgbClr val="C00000"/>
                </a:solidFill>
                <a:latin typeface="Times New Roman" panose="02020603050405020304" pitchFamily="18" charset="0"/>
                <a:cs typeface="Times New Roman" panose="02020603050405020304" pitchFamily="18" charset="0"/>
              </a:rPr>
              <a:t>1.5 </a:t>
            </a:r>
            <a:r>
              <a:rPr lang="zh-CN" altLang="en-US" sz="3200" b="1" spc="300" dirty="0">
                <a:solidFill>
                  <a:srgbClr val="C00000"/>
                </a:solidFill>
                <a:latin typeface="Times New Roman" panose="02020603050405020304" pitchFamily="18" charset="0"/>
                <a:cs typeface="Times New Roman" panose="02020603050405020304" pitchFamily="18" charset="0"/>
              </a:rPr>
              <a:t>无线传感器网络特点及性能指标</a:t>
            </a:r>
            <a:endParaRPr lang="en-US" altLang="zh-CN" sz="3200" b="1" spc="300" dirty="0">
              <a:solidFill>
                <a:srgbClr val="C0000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1.6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本章总结与作业</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CD093FC6-E3B8-6EA8-06E5-DB08DD8E439D}"/>
              </a:ext>
            </a:extLst>
          </p:cNvPr>
          <p:cNvSpPr>
            <a:spLocks noGrp="1"/>
          </p:cNvSpPr>
          <p:nvPr>
            <p:ph type="sldNum" sz="quarter" idx="12"/>
          </p:nvPr>
        </p:nvSpPr>
        <p:spPr/>
        <p:txBody>
          <a:bodyPr/>
          <a:lstStyle/>
          <a:p>
            <a:fld id="{E663D701-F6D3-45BB-89CD-EE32AA93FC3C}" type="slidenum">
              <a:rPr lang="zh-CN" altLang="en-US" smtClean="0"/>
              <a:t>35</a:t>
            </a:fld>
            <a:endParaRPr lang="zh-CN" altLang="en-US" dirty="0"/>
          </a:p>
        </p:txBody>
      </p:sp>
    </p:spTree>
    <p:extLst>
      <p:ext uri="{BB962C8B-B14F-4D97-AF65-F5344CB8AC3E}">
        <p14:creationId xmlns:p14="http://schemas.microsoft.com/office/powerpoint/2010/main" val="20180101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36</a:t>
            </a:fld>
            <a:endParaRPr lang="zh-CN" altLang="en-US"/>
          </a:p>
        </p:txBody>
      </p:sp>
      <p:sp>
        <p:nvSpPr>
          <p:cNvPr id="8" name="文本框 7"/>
          <p:cNvSpPr txBox="1"/>
          <p:nvPr/>
        </p:nvSpPr>
        <p:spPr>
          <a:xfrm>
            <a:off x="194553" y="0"/>
            <a:ext cx="2435282"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传感器网络概述</a:t>
            </a:r>
          </a:p>
        </p:txBody>
      </p:sp>
      <p:sp>
        <p:nvSpPr>
          <p:cNvPr id="11" name="文本框 10"/>
          <p:cNvSpPr txBox="1"/>
          <p:nvPr/>
        </p:nvSpPr>
        <p:spPr>
          <a:xfrm>
            <a:off x="5397522" y="0"/>
            <a:ext cx="376256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1.5 </a:t>
            </a:r>
            <a:r>
              <a:rPr lang="zh-CN" altLang="en-US" b="1" dirty="0">
                <a:latin typeface="Times New Roman" panose="02020603050405020304" pitchFamily="18" charset="0"/>
                <a:cs typeface="Times New Roman" panose="02020603050405020304" pitchFamily="18" charset="0"/>
              </a:rPr>
              <a:t>无线传感器网络特点及性能指标</a:t>
            </a:r>
          </a:p>
        </p:txBody>
      </p:sp>
      <p:sp>
        <p:nvSpPr>
          <p:cNvPr id="16" name="文本框 15">
            <a:extLst>
              <a:ext uri="{FF2B5EF4-FFF2-40B4-BE49-F238E27FC236}">
                <a16:creationId xmlns:a16="http://schemas.microsoft.com/office/drawing/2014/main" id="{4508F8B1-EF64-484F-BB24-A675CFBBA14D}"/>
              </a:ext>
            </a:extLst>
          </p:cNvPr>
          <p:cNvSpPr txBox="1"/>
          <p:nvPr/>
        </p:nvSpPr>
        <p:spPr>
          <a:xfrm>
            <a:off x="194553" y="773522"/>
            <a:ext cx="6340814" cy="584775"/>
          </a:xfrm>
          <a:prstGeom prst="rect">
            <a:avLst/>
          </a:prstGeom>
          <a:noFill/>
        </p:spPr>
        <p:txBody>
          <a:bodyPr wrap="square" rtlCol="0">
            <a:spAutoFit/>
          </a:bodyPr>
          <a:lstStyle/>
          <a:p>
            <a:pPr>
              <a:spcAft>
                <a:spcPts val="600"/>
              </a:spcAft>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无线传感器网络特点</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5DAC9619-7294-4773-BCE3-EF23FDE1411B}"/>
              </a:ext>
            </a:extLst>
          </p:cNvPr>
          <p:cNvSpPr txBox="1"/>
          <p:nvPr/>
        </p:nvSpPr>
        <p:spPr>
          <a:xfrm>
            <a:off x="194553" y="1514445"/>
            <a:ext cx="6340814"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a.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节点数量庞大，分布密集</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文本框 17">
            <a:extLst>
              <a:ext uri="{FF2B5EF4-FFF2-40B4-BE49-F238E27FC236}">
                <a16:creationId xmlns:a16="http://schemas.microsoft.com/office/drawing/2014/main" id="{325BAB96-C1D0-4F4F-A342-7139134B4D27}"/>
              </a:ext>
            </a:extLst>
          </p:cNvPr>
          <p:cNvSpPr txBox="1"/>
          <p:nvPr/>
        </p:nvSpPr>
        <p:spPr>
          <a:xfrm>
            <a:off x="194553" y="2274823"/>
            <a:ext cx="6340814"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b.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自组织网络</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文本框 18">
            <a:extLst>
              <a:ext uri="{FF2B5EF4-FFF2-40B4-BE49-F238E27FC236}">
                <a16:creationId xmlns:a16="http://schemas.microsoft.com/office/drawing/2014/main" id="{DBA6F0AF-03AF-459B-8C04-936FB9A6F5AC}"/>
              </a:ext>
            </a:extLst>
          </p:cNvPr>
          <p:cNvSpPr txBox="1"/>
          <p:nvPr/>
        </p:nvSpPr>
        <p:spPr>
          <a:xfrm>
            <a:off x="194553" y="2996291"/>
            <a:ext cx="6340814"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c.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节点能量、存储及控制能力非常有限</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1" name="Object 2">
            <a:extLst>
              <a:ext uri="{FF2B5EF4-FFF2-40B4-BE49-F238E27FC236}">
                <a16:creationId xmlns:a16="http://schemas.microsoft.com/office/drawing/2014/main" id="{A417C827-572A-46B1-BE52-25D9227891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816" y="3519511"/>
            <a:ext cx="4453580" cy="311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 name="组合 26">
            <a:extLst>
              <a:ext uri="{FF2B5EF4-FFF2-40B4-BE49-F238E27FC236}">
                <a16:creationId xmlns:a16="http://schemas.microsoft.com/office/drawing/2014/main" id="{FCE8F842-A52D-492B-97B2-8750FA46D365}"/>
              </a:ext>
            </a:extLst>
          </p:cNvPr>
          <p:cNvGrpSpPr/>
          <p:nvPr/>
        </p:nvGrpSpPr>
        <p:grpSpPr>
          <a:xfrm>
            <a:off x="4907604" y="3519511"/>
            <a:ext cx="4163439" cy="2564967"/>
            <a:chOff x="4907604" y="3519511"/>
            <a:chExt cx="4163439" cy="2564967"/>
          </a:xfrm>
        </p:grpSpPr>
        <p:sp>
          <p:nvSpPr>
            <p:cNvPr id="25" name="爆炸形: 8 pt  24">
              <a:extLst>
                <a:ext uri="{FF2B5EF4-FFF2-40B4-BE49-F238E27FC236}">
                  <a16:creationId xmlns:a16="http://schemas.microsoft.com/office/drawing/2014/main" id="{6519B463-9C96-485D-9AEB-72CCE6051723}"/>
                </a:ext>
              </a:extLst>
            </p:cNvPr>
            <p:cNvSpPr/>
            <p:nvPr/>
          </p:nvSpPr>
          <p:spPr>
            <a:xfrm>
              <a:off x="4907604" y="3519511"/>
              <a:ext cx="4163439" cy="2564967"/>
            </a:xfrm>
            <a:prstGeom prst="irregularSeal1">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6" name="文本框 25">
              <a:extLst>
                <a:ext uri="{FF2B5EF4-FFF2-40B4-BE49-F238E27FC236}">
                  <a16:creationId xmlns:a16="http://schemas.microsoft.com/office/drawing/2014/main" id="{D39442E9-3E37-40FC-A3B3-C4810BEDC5E3}"/>
                </a:ext>
              </a:extLst>
            </p:cNvPr>
            <p:cNvSpPr txBox="1"/>
            <p:nvPr/>
          </p:nvSpPr>
          <p:spPr>
            <a:xfrm>
              <a:off x="5667849" y="4366871"/>
              <a:ext cx="2877766" cy="707886"/>
            </a:xfrm>
            <a:prstGeom prst="rect">
              <a:avLst/>
            </a:prstGeom>
            <a:noFill/>
          </p:spPr>
          <p:txBody>
            <a:bodyPr wrap="square" rtlCol="0">
              <a:spAutoFit/>
            </a:bodyPr>
            <a:lstStyle/>
            <a:p>
              <a:pPr>
                <a:spcAft>
                  <a:spcPts val="600"/>
                </a:spcAft>
              </a:pP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能耗是无线传感器网络最重要的性能指标之一</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3324197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fade">
                                      <p:cBhvr>
                                        <p:cTn id="12" dur="500"/>
                                        <p:tgtEl>
                                          <p:spTgt spid="1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500"/>
                                        <p:tgtEl>
                                          <p:spTgt spid="1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xEl>
                                              <p:pRg st="0" end="0"/>
                                            </p:txEl>
                                          </p:spTgt>
                                        </p:tgtEl>
                                        <p:attrNameLst>
                                          <p:attrName>style.visibility</p:attrName>
                                        </p:attrNameLst>
                                      </p:cBhvr>
                                      <p:to>
                                        <p:strVal val="visible"/>
                                      </p:to>
                                    </p:set>
                                    <p:animEffect transition="in" filter="fade">
                                      <p:cBhvr>
                                        <p:cTn id="22" dur="500"/>
                                        <p:tgtEl>
                                          <p:spTgt spid="1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heel(1)">
                                      <p:cBhvr>
                                        <p:cTn id="27" dur="20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37</a:t>
            </a:fld>
            <a:endParaRPr lang="zh-CN" altLang="en-US"/>
          </a:p>
        </p:txBody>
      </p:sp>
      <p:sp>
        <p:nvSpPr>
          <p:cNvPr id="8" name="文本框 7"/>
          <p:cNvSpPr txBox="1"/>
          <p:nvPr/>
        </p:nvSpPr>
        <p:spPr>
          <a:xfrm>
            <a:off x="194553" y="0"/>
            <a:ext cx="2435282"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传感器网络概述</a:t>
            </a:r>
          </a:p>
        </p:txBody>
      </p:sp>
      <p:sp>
        <p:nvSpPr>
          <p:cNvPr id="11" name="文本框 10"/>
          <p:cNvSpPr txBox="1"/>
          <p:nvPr/>
        </p:nvSpPr>
        <p:spPr>
          <a:xfrm>
            <a:off x="5397522" y="0"/>
            <a:ext cx="376256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1.5 </a:t>
            </a:r>
            <a:r>
              <a:rPr lang="zh-CN" altLang="en-US" b="1" dirty="0">
                <a:latin typeface="Times New Roman" panose="02020603050405020304" pitchFamily="18" charset="0"/>
                <a:cs typeface="Times New Roman" panose="02020603050405020304" pitchFamily="18" charset="0"/>
              </a:rPr>
              <a:t>无线传感器网络特点及性能指标</a:t>
            </a:r>
          </a:p>
        </p:txBody>
      </p:sp>
      <p:sp>
        <p:nvSpPr>
          <p:cNvPr id="16" name="文本框 15">
            <a:extLst>
              <a:ext uri="{FF2B5EF4-FFF2-40B4-BE49-F238E27FC236}">
                <a16:creationId xmlns:a16="http://schemas.microsoft.com/office/drawing/2014/main" id="{4508F8B1-EF64-484F-BB24-A675CFBBA14D}"/>
              </a:ext>
            </a:extLst>
          </p:cNvPr>
          <p:cNvSpPr txBox="1"/>
          <p:nvPr/>
        </p:nvSpPr>
        <p:spPr>
          <a:xfrm>
            <a:off x="194553" y="773522"/>
            <a:ext cx="6340814" cy="584775"/>
          </a:xfrm>
          <a:prstGeom prst="rect">
            <a:avLst/>
          </a:prstGeom>
          <a:noFill/>
        </p:spPr>
        <p:txBody>
          <a:bodyPr wrap="square" rtlCol="0">
            <a:spAutoFit/>
          </a:bodyPr>
          <a:lstStyle/>
          <a:p>
            <a:pPr>
              <a:spcAft>
                <a:spcPts val="600"/>
              </a:spcAft>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无线传感器网络特点</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5DAC9619-7294-4773-BCE3-EF23FDE1411B}"/>
              </a:ext>
            </a:extLst>
          </p:cNvPr>
          <p:cNvSpPr txBox="1"/>
          <p:nvPr/>
        </p:nvSpPr>
        <p:spPr>
          <a:xfrm>
            <a:off x="194553" y="1514445"/>
            <a:ext cx="6340814"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d.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应用相关性</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文本框 17">
            <a:extLst>
              <a:ext uri="{FF2B5EF4-FFF2-40B4-BE49-F238E27FC236}">
                <a16:creationId xmlns:a16="http://schemas.microsoft.com/office/drawing/2014/main" id="{325BAB96-C1D0-4F4F-A342-7139134B4D27}"/>
              </a:ext>
            </a:extLst>
          </p:cNvPr>
          <p:cNvSpPr txBox="1"/>
          <p:nvPr/>
        </p:nvSpPr>
        <p:spPr>
          <a:xfrm>
            <a:off x="194553" y="2274823"/>
            <a:ext cx="6340814"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e.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以数据为中心</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文本框 18">
            <a:extLst>
              <a:ext uri="{FF2B5EF4-FFF2-40B4-BE49-F238E27FC236}">
                <a16:creationId xmlns:a16="http://schemas.microsoft.com/office/drawing/2014/main" id="{DBA6F0AF-03AF-459B-8C04-936FB9A6F5AC}"/>
              </a:ext>
            </a:extLst>
          </p:cNvPr>
          <p:cNvSpPr txBox="1"/>
          <p:nvPr/>
        </p:nvSpPr>
        <p:spPr>
          <a:xfrm>
            <a:off x="194553" y="2996291"/>
            <a:ext cx="6340814"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f.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网络环境较恶劣</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20374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fade">
                                      <p:cBhvr>
                                        <p:cTn id="12" dur="500"/>
                                        <p:tgtEl>
                                          <p:spTgt spid="1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500"/>
                                        <p:tgtEl>
                                          <p:spTgt spid="1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xEl>
                                              <p:pRg st="0" end="0"/>
                                            </p:txEl>
                                          </p:spTgt>
                                        </p:tgtEl>
                                        <p:attrNameLst>
                                          <p:attrName>style.visibility</p:attrName>
                                        </p:attrNameLst>
                                      </p:cBhvr>
                                      <p:to>
                                        <p:strVal val="visible"/>
                                      </p:to>
                                    </p:set>
                                    <p:animEffect transition="in" filter="fade">
                                      <p:cBhvr>
                                        <p:cTn id="22"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38</a:t>
            </a:fld>
            <a:endParaRPr lang="zh-CN" altLang="en-US"/>
          </a:p>
        </p:txBody>
      </p:sp>
      <p:sp>
        <p:nvSpPr>
          <p:cNvPr id="8" name="文本框 7"/>
          <p:cNvSpPr txBox="1"/>
          <p:nvPr/>
        </p:nvSpPr>
        <p:spPr>
          <a:xfrm>
            <a:off x="194553" y="0"/>
            <a:ext cx="2435282"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传感器网络概述</a:t>
            </a:r>
          </a:p>
        </p:txBody>
      </p:sp>
      <p:sp>
        <p:nvSpPr>
          <p:cNvPr id="11" name="文本框 10"/>
          <p:cNvSpPr txBox="1"/>
          <p:nvPr/>
        </p:nvSpPr>
        <p:spPr>
          <a:xfrm>
            <a:off x="5397522" y="0"/>
            <a:ext cx="376256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1.5 </a:t>
            </a:r>
            <a:r>
              <a:rPr lang="zh-CN" altLang="en-US" b="1" dirty="0">
                <a:latin typeface="Times New Roman" panose="02020603050405020304" pitchFamily="18" charset="0"/>
                <a:cs typeface="Times New Roman" panose="02020603050405020304" pitchFamily="18" charset="0"/>
              </a:rPr>
              <a:t>无线传感器网络特点及性能指标</a:t>
            </a:r>
          </a:p>
        </p:txBody>
      </p:sp>
      <p:sp>
        <p:nvSpPr>
          <p:cNvPr id="16" name="文本框 15">
            <a:extLst>
              <a:ext uri="{FF2B5EF4-FFF2-40B4-BE49-F238E27FC236}">
                <a16:creationId xmlns:a16="http://schemas.microsoft.com/office/drawing/2014/main" id="{4508F8B1-EF64-484F-BB24-A675CFBBA14D}"/>
              </a:ext>
            </a:extLst>
          </p:cNvPr>
          <p:cNvSpPr txBox="1"/>
          <p:nvPr/>
        </p:nvSpPr>
        <p:spPr>
          <a:xfrm>
            <a:off x="194553" y="773522"/>
            <a:ext cx="6340814" cy="584775"/>
          </a:xfrm>
          <a:prstGeom prst="rect">
            <a:avLst/>
          </a:prstGeom>
          <a:noFill/>
        </p:spPr>
        <p:txBody>
          <a:bodyPr wrap="square" rtlCol="0">
            <a:spAutoFit/>
          </a:bodyPr>
          <a:lstStyle/>
          <a:p>
            <a:pPr>
              <a:spcAft>
                <a:spcPts val="600"/>
              </a:spcAft>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无线传感器网络性能指标</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5DAC9619-7294-4773-BCE3-EF23FDE1411B}"/>
              </a:ext>
            </a:extLst>
          </p:cNvPr>
          <p:cNvSpPr txBox="1"/>
          <p:nvPr/>
        </p:nvSpPr>
        <p:spPr>
          <a:xfrm>
            <a:off x="194553" y="1529037"/>
            <a:ext cx="6340814"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a.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网络的工作寿命</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文本框 17">
            <a:extLst>
              <a:ext uri="{FF2B5EF4-FFF2-40B4-BE49-F238E27FC236}">
                <a16:creationId xmlns:a16="http://schemas.microsoft.com/office/drawing/2014/main" id="{325BAB96-C1D0-4F4F-A342-7139134B4D27}"/>
              </a:ext>
            </a:extLst>
          </p:cNvPr>
          <p:cNvSpPr txBox="1"/>
          <p:nvPr/>
        </p:nvSpPr>
        <p:spPr>
          <a:xfrm>
            <a:off x="194553" y="2274823"/>
            <a:ext cx="3608962"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b.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网络的覆盖范围</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文本框 18">
            <a:extLst>
              <a:ext uri="{FF2B5EF4-FFF2-40B4-BE49-F238E27FC236}">
                <a16:creationId xmlns:a16="http://schemas.microsoft.com/office/drawing/2014/main" id="{DBA6F0AF-03AF-459B-8C04-936FB9A6F5AC}"/>
              </a:ext>
            </a:extLst>
          </p:cNvPr>
          <p:cNvSpPr txBox="1"/>
          <p:nvPr/>
        </p:nvSpPr>
        <p:spPr>
          <a:xfrm>
            <a:off x="194553" y="2996291"/>
            <a:ext cx="6340814"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c.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网络搭建成本及难易程度</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文本框 8">
            <a:extLst>
              <a:ext uri="{FF2B5EF4-FFF2-40B4-BE49-F238E27FC236}">
                <a16:creationId xmlns:a16="http://schemas.microsoft.com/office/drawing/2014/main" id="{7F6EA58D-9D5E-4027-984C-A40667779BCE}"/>
              </a:ext>
            </a:extLst>
          </p:cNvPr>
          <p:cNvSpPr txBox="1"/>
          <p:nvPr/>
        </p:nvSpPr>
        <p:spPr>
          <a:xfrm>
            <a:off x="194553" y="3742077"/>
            <a:ext cx="6340814" cy="523220"/>
          </a:xfrm>
          <a:prstGeom prst="rect">
            <a:avLst/>
          </a:prstGeom>
          <a:noFill/>
        </p:spPr>
        <p:txBody>
          <a:bodyPr wrap="square" rtlCol="0">
            <a:spAutoFit/>
          </a:bodyPr>
          <a:lstStyle/>
          <a:p>
            <a:pPr>
              <a:spcAft>
                <a:spcPts val="600"/>
              </a:spcAft>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d. </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网络响应时间</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479806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fade">
                                      <p:cBhvr>
                                        <p:cTn id="12" dur="500"/>
                                        <p:tgtEl>
                                          <p:spTgt spid="1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500"/>
                                        <p:tgtEl>
                                          <p:spTgt spid="1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xEl>
                                              <p:pRg st="0" end="0"/>
                                            </p:txEl>
                                          </p:spTgt>
                                        </p:tgtEl>
                                        <p:attrNameLst>
                                          <p:attrName>style.visibility</p:attrName>
                                        </p:attrNameLst>
                                      </p:cBhvr>
                                      <p:to>
                                        <p:strVal val="visible"/>
                                      </p:to>
                                    </p:set>
                                    <p:animEffect transition="in" filter="fade">
                                      <p:cBhvr>
                                        <p:cTn id="22" dur="500"/>
                                        <p:tgtEl>
                                          <p:spTgt spid="1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fade">
                                      <p:cBhvr>
                                        <p:cTn id="2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A0434E9-DB48-4D3C-B473-E3E4F43EE683}"/>
              </a:ext>
            </a:extLst>
          </p:cNvPr>
          <p:cNvSpPr>
            <a:spLocks noGrp="1"/>
          </p:cNvSpPr>
          <p:nvPr>
            <p:ph type="sldNum" sz="quarter" idx="12"/>
          </p:nvPr>
        </p:nvSpPr>
        <p:spPr/>
        <p:txBody>
          <a:bodyPr/>
          <a:lstStyle/>
          <a:p>
            <a:fld id="{E663D701-F6D3-45BB-89CD-EE32AA93FC3C}" type="slidenum">
              <a:rPr lang="zh-CN" altLang="en-US" smtClean="0"/>
              <a:t>39</a:t>
            </a:fld>
            <a:endParaRPr lang="zh-CN" altLang="en-US"/>
          </a:p>
        </p:txBody>
      </p:sp>
      <p:sp>
        <p:nvSpPr>
          <p:cNvPr id="6" name="文本框 5">
            <a:extLst>
              <a:ext uri="{FF2B5EF4-FFF2-40B4-BE49-F238E27FC236}">
                <a16:creationId xmlns:a16="http://schemas.microsoft.com/office/drawing/2014/main" id="{B4901C1E-AD9D-47DE-AB3A-C843119C7FFD}"/>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和手机通信不同，无线传感器网络的特点为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文本框 6">
            <a:extLst>
              <a:ext uri="{FF2B5EF4-FFF2-40B4-BE49-F238E27FC236}">
                <a16:creationId xmlns:a16="http://schemas.microsoft.com/office/drawing/2014/main" id="{CD0E3CF9-047D-4A7A-A4EF-2F731A91A6F8}"/>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采用无线通信方式</a:t>
            </a:r>
          </a:p>
        </p:txBody>
      </p:sp>
      <p:sp>
        <p:nvSpPr>
          <p:cNvPr id="8" name="文本框 7">
            <a:extLst>
              <a:ext uri="{FF2B5EF4-FFF2-40B4-BE49-F238E27FC236}">
                <a16:creationId xmlns:a16="http://schemas.microsoft.com/office/drawing/2014/main" id="{BF6FC01A-7F2D-4143-AA11-209CFA54F5C8}"/>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主要关注节点能耗</a:t>
            </a:r>
          </a:p>
        </p:txBody>
      </p:sp>
      <p:sp>
        <p:nvSpPr>
          <p:cNvPr id="9" name="文本框 8">
            <a:extLst>
              <a:ext uri="{FF2B5EF4-FFF2-40B4-BE49-F238E27FC236}">
                <a16:creationId xmlns:a16="http://schemas.microsoft.com/office/drawing/2014/main" id="{497D1E9A-0D7A-446E-9E79-115011639980}"/>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可以通过基站发送数据</a:t>
            </a:r>
          </a:p>
        </p:txBody>
      </p:sp>
      <p:sp>
        <p:nvSpPr>
          <p:cNvPr id="10" name="文本框 9">
            <a:extLst>
              <a:ext uri="{FF2B5EF4-FFF2-40B4-BE49-F238E27FC236}">
                <a16:creationId xmlns:a16="http://schemas.microsoft.com/office/drawing/2014/main" id="{66A17DFC-EDD8-4737-BEB5-FB954E717C0A}"/>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节点数量庞大</a:t>
            </a:r>
          </a:p>
        </p:txBody>
      </p:sp>
      <p:sp>
        <p:nvSpPr>
          <p:cNvPr id="11" name="椭圆 10">
            <a:extLst>
              <a:ext uri="{FF2B5EF4-FFF2-40B4-BE49-F238E27FC236}">
                <a16:creationId xmlns:a16="http://schemas.microsoft.com/office/drawing/2014/main" id="{6716FAA7-74F3-44D6-B8F8-1BA72A8571BB}"/>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B496ED2F-FE8A-4E67-BD94-BE1723E804B3}"/>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0177BE17-6848-48AE-A751-2F1F78C739B9}"/>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EC072001-E14F-489D-A2F9-0B3A567DF043}"/>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521004F5-A7B2-40CC-B451-1A603F217785}"/>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02E838BD-63E0-45CB-B2D6-54EF1EA136D4}"/>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0EF286B5-7741-46A9-B420-6C386E3837EE}"/>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6AB098C2-5FCD-4B30-82AE-3B7BB33C41EF}"/>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996B5155-1908-4A56-BF0D-3BBA85FD8E56}"/>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E9DFC5ED-9003-4ED4-B3DC-75570F661478}"/>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490D0212-A886-4758-9879-B0FCEEBFF974}"/>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6343802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980AF-6551-B02F-37BD-84A8A8231EF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3A48A42-4896-F544-3898-AB45A832E531}"/>
              </a:ext>
            </a:extLst>
          </p:cNvPr>
          <p:cNvSpPr>
            <a:spLocks noGrp="1"/>
          </p:cNvSpPr>
          <p:nvPr>
            <p:ph type="title"/>
          </p:nvPr>
        </p:nvSpPr>
        <p:spPr>
          <a:xfrm>
            <a:off x="256032" y="374854"/>
            <a:ext cx="8631936" cy="1325563"/>
          </a:xfrm>
        </p:spPr>
        <p:txBody>
          <a:bodyPr>
            <a:normAutofit fontScale="90000"/>
          </a:bodyPr>
          <a:lstStyle/>
          <a:p>
            <a:pPr algn="ctr"/>
            <a:r>
              <a:rPr lang="zh-CN" altLang="en-US" sz="5400" b="1" dirty="0">
                <a:solidFill>
                  <a:schemeClr val="tx1"/>
                </a:solidFill>
                <a:effectLst/>
                <a:latin typeface="Times New Roman" panose="02020603050405020304" pitchFamily="18" charset="0"/>
                <a:cs typeface="Times New Roman" panose="02020603050405020304" pitchFamily="18" charset="0"/>
              </a:rPr>
              <a:t>第</a:t>
            </a:r>
            <a:r>
              <a:rPr lang="en-US" altLang="zh-CN" sz="5400" b="1" dirty="0">
                <a:solidFill>
                  <a:schemeClr val="tx1"/>
                </a:solidFill>
                <a:effectLst/>
                <a:latin typeface="Times New Roman" panose="02020603050405020304" pitchFamily="18" charset="0"/>
                <a:cs typeface="Times New Roman" panose="02020603050405020304" pitchFamily="18" charset="0"/>
              </a:rPr>
              <a:t>1</a:t>
            </a:r>
            <a:r>
              <a:rPr lang="zh-CN" altLang="en-US" sz="5400" b="1" dirty="0">
                <a:solidFill>
                  <a:schemeClr val="tx1"/>
                </a:solidFill>
                <a:effectLst/>
              </a:rPr>
              <a:t>章 无线传感器网络概述</a:t>
            </a:r>
            <a:endParaRPr lang="zh-CN" altLang="en-US" sz="3200" b="1" dirty="0">
              <a:solidFill>
                <a:schemeClr val="tx1"/>
              </a:solidFill>
              <a:effectLst/>
            </a:endParaRPr>
          </a:p>
        </p:txBody>
      </p:sp>
      <p:sp>
        <p:nvSpPr>
          <p:cNvPr id="3" name="内容占位符 2">
            <a:extLst>
              <a:ext uri="{FF2B5EF4-FFF2-40B4-BE49-F238E27FC236}">
                <a16:creationId xmlns:a16="http://schemas.microsoft.com/office/drawing/2014/main" id="{F5CF1BF7-913F-AB31-6C87-30AFD23F3601}"/>
              </a:ext>
            </a:extLst>
          </p:cNvPr>
          <p:cNvSpPr>
            <a:spLocks noGrp="1"/>
          </p:cNvSpPr>
          <p:nvPr>
            <p:ph idx="1"/>
          </p:nvPr>
        </p:nvSpPr>
        <p:spPr>
          <a:xfrm>
            <a:off x="516835" y="1700417"/>
            <a:ext cx="8080513" cy="4351338"/>
          </a:xfrm>
        </p:spPr>
        <p:txBody>
          <a:bodyPr>
            <a:normAutofit lnSpcReduction="10000"/>
          </a:bodyPr>
          <a:lstStyle/>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1.1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无线传感器网络定义</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1.2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无线传感器结构及类型</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1.3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无线传感器网络拓扑</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1.4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无线传感器网络架构</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1.5 </a:t>
            </a:r>
            <a:r>
              <a:rPr lang="zh-CN" altLang="en-US" sz="3200" b="1" spc="300" dirty="0">
                <a:solidFill>
                  <a:schemeClr val="accent3">
                    <a:lumMod val="40000"/>
                    <a:lumOff val="60000"/>
                  </a:schemeClr>
                </a:solidFill>
                <a:latin typeface="Times New Roman" panose="02020603050405020304" pitchFamily="18" charset="0"/>
                <a:cs typeface="Times New Roman" panose="02020603050405020304" pitchFamily="18" charset="0"/>
              </a:rPr>
              <a:t>无线传感器网络特点及性能指标</a:t>
            </a:r>
            <a:endParaRPr lang="en-US" altLang="zh-CN" sz="3200" b="1" spc="300" dirty="0">
              <a:solidFill>
                <a:schemeClr val="accent3">
                  <a:lumMod val="40000"/>
                  <a:lumOff val="60000"/>
                </a:schemeClr>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3200" b="1" spc="300" dirty="0">
                <a:solidFill>
                  <a:srgbClr val="C00000"/>
                </a:solidFill>
                <a:latin typeface="Times New Roman" panose="02020603050405020304" pitchFamily="18" charset="0"/>
                <a:cs typeface="Times New Roman" panose="02020603050405020304" pitchFamily="18" charset="0"/>
              </a:rPr>
              <a:t>1.6 </a:t>
            </a:r>
            <a:r>
              <a:rPr lang="zh-CN" altLang="en-US" sz="3200" b="1" spc="300" dirty="0">
                <a:solidFill>
                  <a:srgbClr val="C00000"/>
                </a:solidFill>
                <a:latin typeface="Times New Roman" panose="02020603050405020304" pitchFamily="18" charset="0"/>
                <a:cs typeface="Times New Roman" panose="02020603050405020304" pitchFamily="18" charset="0"/>
              </a:rPr>
              <a:t>本章总结与作业</a:t>
            </a:r>
            <a:endParaRPr lang="en-US" altLang="zh-CN" sz="3200" b="1" spc="300" dirty="0">
              <a:solidFill>
                <a:srgbClr val="C00000"/>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CD093FC6-E3B8-6EA8-06E5-DB08DD8E439D}"/>
              </a:ext>
            </a:extLst>
          </p:cNvPr>
          <p:cNvSpPr>
            <a:spLocks noGrp="1"/>
          </p:cNvSpPr>
          <p:nvPr>
            <p:ph type="sldNum" sz="quarter" idx="12"/>
          </p:nvPr>
        </p:nvSpPr>
        <p:spPr/>
        <p:txBody>
          <a:bodyPr/>
          <a:lstStyle/>
          <a:p>
            <a:fld id="{E663D701-F6D3-45BB-89CD-EE32AA93FC3C}" type="slidenum">
              <a:rPr lang="zh-CN" altLang="en-US" smtClean="0"/>
              <a:t>40</a:t>
            </a:fld>
            <a:endParaRPr lang="zh-CN" altLang="en-US" dirty="0"/>
          </a:p>
        </p:txBody>
      </p:sp>
    </p:spTree>
    <p:extLst>
      <p:ext uri="{BB962C8B-B14F-4D97-AF65-F5344CB8AC3E}">
        <p14:creationId xmlns:p14="http://schemas.microsoft.com/office/powerpoint/2010/main" val="12043129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41</a:t>
            </a:fld>
            <a:endParaRPr lang="zh-CN" altLang="en-US"/>
          </a:p>
        </p:txBody>
      </p:sp>
      <p:sp>
        <p:nvSpPr>
          <p:cNvPr id="8" name="文本框 7"/>
          <p:cNvSpPr txBox="1"/>
          <p:nvPr/>
        </p:nvSpPr>
        <p:spPr>
          <a:xfrm>
            <a:off x="194553" y="0"/>
            <a:ext cx="2435282"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传感器网络概述</a:t>
            </a:r>
          </a:p>
        </p:txBody>
      </p:sp>
      <p:sp>
        <p:nvSpPr>
          <p:cNvPr id="11" name="文本框 10"/>
          <p:cNvSpPr txBox="1"/>
          <p:nvPr/>
        </p:nvSpPr>
        <p:spPr>
          <a:xfrm>
            <a:off x="7036632" y="-5183"/>
            <a:ext cx="2146742"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1.6 </a:t>
            </a:r>
            <a:r>
              <a:rPr lang="zh-CN" altLang="en-US" b="1" dirty="0">
                <a:latin typeface="Times New Roman" panose="02020603050405020304" pitchFamily="18" charset="0"/>
                <a:cs typeface="Times New Roman" panose="02020603050405020304" pitchFamily="18" charset="0"/>
              </a:rPr>
              <a:t>本章总结与作业</a:t>
            </a:r>
          </a:p>
        </p:txBody>
      </p:sp>
      <p:sp>
        <p:nvSpPr>
          <p:cNvPr id="16" name="文本框 15">
            <a:extLst>
              <a:ext uri="{FF2B5EF4-FFF2-40B4-BE49-F238E27FC236}">
                <a16:creationId xmlns:a16="http://schemas.microsoft.com/office/drawing/2014/main" id="{4508F8B1-EF64-484F-BB24-A675CFBBA14D}"/>
              </a:ext>
            </a:extLst>
          </p:cNvPr>
          <p:cNvSpPr txBox="1"/>
          <p:nvPr/>
        </p:nvSpPr>
        <p:spPr>
          <a:xfrm>
            <a:off x="194553" y="773522"/>
            <a:ext cx="6340814" cy="584775"/>
          </a:xfrm>
          <a:prstGeom prst="rect">
            <a:avLst/>
          </a:prstGeom>
          <a:noFill/>
        </p:spPr>
        <p:txBody>
          <a:bodyPr wrap="square" rtlCol="0">
            <a:spAutoFit/>
          </a:bodyPr>
          <a:lstStyle/>
          <a:p>
            <a:pPr>
              <a:spcAft>
                <a:spcPts val="600"/>
              </a:spcAft>
            </a:pPr>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本章总结</a:t>
            </a:r>
            <a:endParaRPr lang="en-US" altLang="zh-CN" sz="32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0EB79D90-7949-4153-9589-992CCBD3D817}"/>
              </a:ext>
            </a:extLst>
          </p:cNvPr>
          <p:cNvSpPr txBox="1"/>
          <p:nvPr/>
        </p:nvSpPr>
        <p:spPr>
          <a:xfrm>
            <a:off x="194553" y="1434103"/>
            <a:ext cx="6468894" cy="662104"/>
          </a:xfrm>
          <a:prstGeom prst="rect">
            <a:avLst/>
          </a:prstGeom>
          <a:noFill/>
        </p:spPr>
        <p:txBody>
          <a:bodyPr wrap="square">
            <a:spAutoFit/>
          </a:bodyPr>
          <a:lstStyle/>
          <a:p>
            <a:pPr marL="0" indent="0">
              <a:lnSpc>
                <a:spcPct val="150000"/>
              </a:lnSpc>
              <a:spcBef>
                <a:spcPts val="0"/>
              </a:spcBef>
              <a:buNone/>
            </a:pPr>
            <a:r>
              <a:rPr lang="en-US" altLang="zh-CN" sz="2800" b="1" spc="300" dirty="0">
                <a:latin typeface="微软雅黑" panose="020B0503020204020204" pitchFamily="34" charset="-122"/>
                <a:ea typeface="微软雅黑" panose="020B0503020204020204" pitchFamily="34" charset="-122"/>
                <a:cs typeface="Times New Roman" panose="02020603050405020304" pitchFamily="18" charset="0"/>
              </a:rPr>
              <a:t>1.1 </a:t>
            </a:r>
            <a:r>
              <a:rPr lang="zh-CN" altLang="en-US" sz="2800" b="1" spc="300" dirty="0">
                <a:latin typeface="微软雅黑" panose="020B0503020204020204" pitchFamily="34" charset="-122"/>
                <a:ea typeface="微软雅黑" panose="020B0503020204020204" pitchFamily="34" charset="-122"/>
                <a:cs typeface="Times New Roman" panose="02020603050405020304" pitchFamily="18" charset="0"/>
              </a:rPr>
              <a:t>无线传感器网络定义</a:t>
            </a:r>
            <a:endParaRPr lang="en-US" altLang="zh-CN" sz="2800" b="1" spc="3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970278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42</a:t>
            </a:fld>
            <a:endParaRPr lang="zh-CN" altLang="en-US" dirty="0"/>
          </a:p>
        </p:txBody>
      </p:sp>
      <p:sp>
        <p:nvSpPr>
          <p:cNvPr id="8" name="文本框 7"/>
          <p:cNvSpPr txBox="1"/>
          <p:nvPr/>
        </p:nvSpPr>
        <p:spPr>
          <a:xfrm>
            <a:off x="194553" y="0"/>
            <a:ext cx="2435282"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第</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章 传感器网络概述</a:t>
            </a:r>
          </a:p>
        </p:txBody>
      </p:sp>
      <p:sp>
        <p:nvSpPr>
          <p:cNvPr id="10" name="文本框 9"/>
          <p:cNvSpPr txBox="1"/>
          <p:nvPr/>
        </p:nvSpPr>
        <p:spPr>
          <a:xfrm>
            <a:off x="307492" y="493306"/>
            <a:ext cx="8559209" cy="584775"/>
          </a:xfrm>
          <a:prstGeom prst="rect">
            <a:avLst/>
          </a:prstGeom>
          <a:noFill/>
        </p:spPr>
        <p:txBody>
          <a:bodyPr wrap="square" rtlCol="0">
            <a:spAutoFit/>
          </a:bodyPr>
          <a:lstStyle/>
          <a:p>
            <a:r>
              <a:rPr lang="en-US" altLang="zh-CN" sz="3200" b="1"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3200" b="1" dirty="0">
                <a:latin typeface="微软雅黑" panose="020B0503020204020204" pitchFamily="34" charset="-122"/>
                <a:ea typeface="微软雅黑" panose="020B0503020204020204" pitchFamily="34" charset="-122"/>
                <a:cs typeface="Times New Roman" panose="02020603050405020304" pitchFamily="18" charset="0"/>
              </a:rPr>
              <a:t>作业</a:t>
            </a:r>
          </a:p>
        </p:txBody>
      </p:sp>
      <p:sp>
        <p:nvSpPr>
          <p:cNvPr id="2" name="文本框 1"/>
          <p:cNvSpPr txBox="1"/>
          <p:nvPr/>
        </p:nvSpPr>
        <p:spPr>
          <a:xfrm>
            <a:off x="296860" y="1038510"/>
            <a:ext cx="8569842" cy="5094087"/>
          </a:xfrm>
          <a:prstGeom prst="rect">
            <a:avLst/>
          </a:prstGeom>
          <a:noFill/>
        </p:spPr>
        <p:txBody>
          <a:bodyPr wrap="square" rtlCol="0">
            <a:spAutoFit/>
          </a:bodyPr>
          <a:lstStyle/>
          <a:p>
            <a:pPr>
              <a:lnSpc>
                <a:spcPct val="150000"/>
              </a:lnSpc>
            </a:pPr>
            <a:r>
              <a:rPr lang="en-US" altLang="zh-CN" sz="3200" b="1" dirty="0">
                <a:latin typeface="Times New Roman" panose="02020603050405020304" pitchFamily="18" charset="0"/>
                <a:cs typeface="Times New Roman" panose="02020603050405020304" pitchFamily="18" charset="0"/>
              </a:rPr>
              <a:t>a.</a:t>
            </a:r>
            <a:r>
              <a:rPr lang="zh-CN" altLang="en-US" sz="3200" b="1" dirty="0">
                <a:latin typeface="Times New Roman" panose="02020603050405020304" pitchFamily="18" charset="0"/>
                <a:cs typeface="Times New Roman" panose="02020603050405020304" pitchFamily="18" charset="0"/>
              </a:rPr>
              <a:t> 作业要求</a:t>
            </a:r>
            <a:endParaRPr lang="en-US" altLang="zh-CN" sz="3200" b="1" dirty="0">
              <a:latin typeface="Times New Roman" panose="02020603050405020304" pitchFamily="18" charset="0"/>
              <a:cs typeface="Times New Roman" panose="02020603050405020304" pitchFamily="18" charset="0"/>
            </a:endParaRPr>
          </a:p>
          <a:p>
            <a:pPr>
              <a:lnSpc>
                <a:spcPct val="150000"/>
              </a:lnSpc>
            </a:pPr>
            <a:r>
              <a:rPr lang="zh-CN" altLang="zh-CN" sz="2400" dirty="0">
                <a:latin typeface="Times New Roman" panose="02020603050405020304" pitchFamily="18" charset="0"/>
                <a:cs typeface="Times New Roman" panose="02020603050405020304" pitchFamily="18" charset="0"/>
              </a:rPr>
              <a:t>结合文献研究撰写</a:t>
            </a:r>
            <a:r>
              <a:rPr lang="en-US" altLang="zh-CN" sz="2400" dirty="0">
                <a:latin typeface="Times New Roman" panose="02020603050405020304" pitchFamily="18" charset="0"/>
                <a:cs typeface="Times New Roman" panose="02020603050405020304" pitchFamily="18" charset="0"/>
              </a:rPr>
              <a:t>1</a:t>
            </a:r>
            <a:r>
              <a:rPr lang="zh-CN" altLang="zh-CN" sz="2400" dirty="0">
                <a:latin typeface="Times New Roman" panose="02020603050405020304" pitchFamily="18" charset="0"/>
                <a:cs typeface="Times New Roman" panose="02020603050405020304" pitchFamily="18" charset="0"/>
              </a:rPr>
              <a:t>篇</a:t>
            </a:r>
            <a:r>
              <a:rPr lang="zh-CN" altLang="zh-CN" sz="2400" b="1" dirty="0">
                <a:solidFill>
                  <a:srgbClr val="FF0000"/>
                </a:solidFill>
                <a:latin typeface="Times New Roman" panose="02020603050405020304" pitchFamily="18" charset="0"/>
                <a:cs typeface="Times New Roman" panose="02020603050405020304" pitchFamily="18" charset="0"/>
              </a:rPr>
              <a:t>关于</a:t>
            </a:r>
            <a:r>
              <a:rPr lang="en-US" altLang="zh-CN" sz="2400" b="1" dirty="0">
                <a:solidFill>
                  <a:srgbClr val="FF0000"/>
                </a:solidFill>
                <a:latin typeface="Times New Roman" panose="02020603050405020304" pitchFamily="18" charset="0"/>
                <a:cs typeface="Times New Roman" panose="02020603050405020304" pitchFamily="18" charset="0"/>
              </a:rPr>
              <a:t>WSN</a:t>
            </a:r>
            <a:r>
              <a:rPr lang="zh-CN" altLang="en-US" sz="2400" b="1" dirty="0">
                <a:solidFill>
                  <a:srgbClr val="FF0000"/>
                </a:solidFill>
                <a:latin typeface="Times New Roman" panose="02020603050405020304" pitchFamily="18" charset="0"/>
                <a:cs typeface="Times New Roman" panose="02020603050405020304" pitchFamily="18" charset="0"/>
              </a:rPr>
              <a:t>技术在智能养老方面</a:t>
            </a:r>
            <a:r>
              <a:rPr lang="zh-CN" altLang="zh-CN" sz="2400" b="1" dirty="0">
                <a:solidFill>
                  <a:srgbClr val="FF0000"/>
                </a:solidFill>
                <a:latin typeface="Times New Roman" panose="02020603050405020304" pitchFamily="18" charset="0"/>
                <a:cs typeface="Times New Roman" panose="02020603050405020304" pitchFamily="18" charset="0"/>
              </a:rPr>
              <a:t>的综述性分析报告</a:t>
            </a:r>
            <a:r>
              <a:rPr lang="zh-CN"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题目自拟，</a:t>
            </a:r>
            <a:r>
              <a:rPr lang="zh-CN" altLang="zh-CN" sz="2400" dirty="0">
                <a:latin typeface="Times New Roman" panose="02020603050405020304" pitchFamily="18" charset="0"/>
                <a:cs typeface="Times New Roman" panose="02020603050405020304" pitchFamily="18" charset="0"/>
              </a:rPr>
              <a:t>字数</a:t>
            </a:r>
            <a:r>
              <a:rPr lang="zh-CN" altLang="en-US" sz="2400" dirty="0">
                <a:latin typeface="Times New Roman" panose="02020603050405020304" pitchFamily="18" charset="0"/>
                <a:cs typeface="Times New Roman" panose="02020603050405020304" pitchFamily="18" charset="0"/>
              </a:rPr>
              <a:t>不少于</a:t>
            </a:r>
            <a:r>
              <a:rPr lang="en-US" altLang="zh-CN" sz="2400" dirty="0">
                <a:latin typeface="Times New Roman" panose="02020603050405020304" pitchFamily="18" charset="0"/>
                <a:cs typeface="Times New Roman" panose="02020603050405020304" pitchFamily="18" charset="0"/>
              </a:rPr>
              <a:t>4000</a:t>
            </a:r>
            <a:r>
              <a:rPr lang="zh-CN" altLang="zh-CN" sz="2400" dirty="0">
                <a:latin typeface="Times New Roman" panose="02020603050405020304" pitchFamily="18" charset="0"/>
                <a:cs typeface="Times New Roman" panose="02020603050405020304" pitchFamily="18" charset="0"/>
              </a:rPr>
              <a:t>字</a:t>
            </a:r>
            <a:r>
              <a:rPr lang="zh-CN" altLang="en-US" sz="2400" dirty="0">
                <a:latin typeface="Times New Roman" panose="02020603050405020304" pitchFamily="18" charset="0"/>
                <a:cs typeface="Times New Roman" panose="02020603050405020304" pitchFamily="18" charset="0"/>
              </a:rPr>
              <a:t>，参考文献数量不少于</a:t>
            </a:r>
            <a:r>
              <a:rPr lang="en-US" altLang="zh-CN" sz="2400" dirty="0">
                <a:latin typeface="Times New Roman" panose="02020603050405020304" pitchFamily="18" charset="0"/>
                <a:cs typeface="Times New Roman" panose="02020603050405020304" pitchFamily="18" charset="0"/>
              </a:rPr>
              <a:t>20</a:t>
            </a:r>
            <a:r>
              <a:rPr lang="zh-CN" altLang="en-US" sz="2400" dirty="0">
                <a:latin typeface="Times New Roman" panose="02020603050405020304" pitchFamily="18" charset="0"/>
                <a:cs typeface="Times New Roman" panose="02020603050405020304" pitchFamily="18" charset="0"/>
              </a:rPr>
              <a:t>篇（近</a:t>
            </a:r>
            <a:r>
              <a:rPr lang="en-US" altLang="zh-CN" sz="2400" dirty="0">
                <a:latin typeface="Times New Roman" panose="02020603050405020304" pitchFamily="18" charset="0"/>
                <a:cs typeface="Times New Roman" panose="02020603050405020304" pitchFamily="18" charset="0"/>
              </a:rPr>
              <a:t>10</a:t>
            </a:r>
            <a:r>
              <a:rPr lang="zh-CN" altLang="en-US" sz="2400" dirty="0">
                <a:latin typeface="Times New Roman" panose="02020603050405020304" pitchFamily="18" charset="0"/>
                <a:cs typeface="Times New Roman" panose="02020603050405020304" pitchFamily="18" charset="0"/>
              </a:rPr>
              <a:t>年内），含中英文参考文献</a:t>
            </a:r>
            <a:r>
              <a:rPr lang="zh-CN"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a:lnSpc>
                <a:spcPct val="150000"/>
              </a:lnSpc>
            </a:pPr>
            <a:r>
              <a:rPr lang="zh-CN" altLang="en-US" sz="2800" b="1" dirty="0">
                <a:solidFill>
                  <a:srgbClr val="FF0000"/>
                </a:solidFill>
                <a:latin typeface="Times New Roman" panose="02020603050405020304" pitchFamily="18" charset="0"/>
                <a:cs typeface="Times New Roman" panose="02020603050405020304" pitchFamily="18" charset="0"/>
              </a:rPr>
              <a:t>注：抄袭记</a:t>
            </a:r>
            <a:r>
              <a:rPr lang="en-US" altLang="zh-CN" sz="2800" b="1" dirty="0">
                <a:solidFill>
                  <a:srgbClr val="FF0000"/>
                </a:solidFill>
                <a:latin typeface="Times New Roman" panose="02020603050405020304" pitchFamily="18" charset="0"/>
                <a:cs typeface="Times New Roman" panose="02020603050405020304" pitchFamily="18" charset="0"/>
              </a:rPr>
              <a:t>0</a:t>
            </a:r>
            <a:r>
              <a:rPr lang="zh-CN" altLang="en-US" sz="2800" b="1" dirty="0">
                <a:solidFill>
                  <a:srgbClr val="FF0000"/>
                </a:solidFill>
                <a:latin typeface="Times New Roman" panose="02020603050405020304" pitchFamily="18" charset="0"/>
                <a:cs typeface="Times New Roman" panose="02020603050405020304" pitchFamily="18" charset="0"/>
              </a:rPr>
              <a:t>分。</a:t>
            </a:r>
            <a:endParaRPr lang="en-US" altLang="zh-CN" sz="2800" b="1"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US" altLang="zh-CN" sz="3200" b="1" dirty="0">
                <a:latin typeface="Times New Roman" panose="02020603050405020304" pitchFamily="18" charset="0"/>
                <a:cs typeface="Times New Roman" panose="02020603050405020304" pitchFamily="18" charset="0"/>
              </a:rPr>
              <a:t>b. </a:t>
            </a:r>
            <a:r>
              <a:rPr lang="zh-CN" altLang="en-US" sz="3200" b="1" dirty="0">
                <a:latin typeface="Times New Roman" panose="02020603050405020304" pitchFamily="18" charset="0"/>
                <a:cs typeface="Times New Roman" panose="02020603050405020304" pitchFamily="18" charset="0"/>
              </a:rPr>
              <a:t>作业时间</a:t>
            </a:r>
            <a:endParaRPr lang="en-US" altLang="zh-CN" sz="3200" b="1" dirty="0">
              <a:latin typeface="Times New Roman" panose="02020603050405020304" pitchFamily="18" charset="0"/>
              <a:cs typeface="Times New Roman" panose="02020603050405020304" pitchFamily="18" charset="0"/>
            </a:endParaRPr>
          </a:p>
          <a:p>
            <a:pPr>
              <a:lnSpc>
                <a:spcPct val="150000"/>
              </a:lnSpc>
            </a:pPr>
            <a:r>
              <a:rPr lang="zh-CN" altLang="en-US" sz="2400" dirty="0">
                <a:latin typeface="Times New Roman" panose="02020603050405020304" pitchFamily="18" charset="0"/>
                <a:cs typeface="Times New Roman" panose="02020603050405020304" pitchFamily="18" charset="0"/>
              </a:rPr>
              <a:t>八周以后上交作业，电子文稿</a:t>
            </a:r>
            <a:r>
              <a:rPr lang="en-US" altLang="zh-CN" sz="2400" dirty="0">
                <a:latin typeface="Times New Roman" panose="02020603050405020304" pitchFamily="18" charset="0"/>
                <a:cs typeface="Times New Roman" panose="02020603050405020304" pitchFamily="18" charset="0"/>
              </a:rPr>
              <a:t>A4</a:t>
            </a:r>
            <a:r>
              <a:rPr lang="zh-CN" altLang="en-US" sz="2400" dirty="0">
                <a:latin typeface="Times New Roman" panose="02020603050405020304" pitchFamily="18" charset="0"/>
                <a:cs typeface="Times New Roman" panose="02020603050405020304" pitchFamily="18" charset="0"/>
              </a:rPr>
              <a:t>纸双面打印，题目标题下方标注班级、姓名和学号。</a:t>
            </a:r>
            <a:endParaRPr lang="en-US" altLang="zh-CN" sz="2400"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5999741" y="1303"/>
            <a:ext cx="2993127" cy="369332"/>
          </a:xfrm>
          <a:prstGeom prst="rect">
            <a:avLst/>
          </a:prstGeom>
          <a:noFill/>
        </p:spPr>
        <p:txBody>
          <a:bodyPr wrap="none" rtlCol="0">
            <a:spAutoFit/>
          </a:bodyPr>
          <a:lstStyle/>
          <a:p>
            <a:r>
              <a:rPr lang="en-US" altLang="zh-CN" b="1" dirty="0">
                <a:solidFill>
                  <a:schemeClr val="accent2">
                    <a:lumMod val="75000"/>
                  </a:schemeClr>
                </a:solidFill>
                <a:latin typeface="Times New Roman" panose="02020603050405020304" pitchFamily="18" charset="0"/>
                <a:cs typeface="Times New Roman" panose="02020603050405020304" pitchFamily="18" charset="0"/>
              </a:rPr>
              <a:t>1.5 </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本章总结与作业</a:t>
            </a:r>
            <a:r>
              <a:rPr lang="en-US" altLang="zh-CN" b="1" dirty="0">
                <a:solidFill>
                  <a:schemeClr val="accent2">
                    <a:lumMod val="75000"/>
                  </a:schemeClr>
                </a:solidFill>
                <a:latin typeface="Times New Roman" panose="02020603050405020304" pitchFamily="18" charset="0"/>
                <a:cs typeface="Times New Roman" panose="02020603050405020304" pitchFamily="18" charset="0"/>
              </a:rPr>
              <a:t>::</a:t>
            </a:r>
            <a:r>
              <a:rPr lang="zh-CN" altLang="en-US" b="1" dirty="0">
                <a:solidFill>
                  <a:schemeClr val="accent2">
                    <a:lumMod val="75000"/>
                  </a:schemeClr>
                </a:solidFill>
                <a:latin typeface="Times New Roman" panose="02020603050405020304" pitchFamily="18" charset="0"/>
                <a:cs typeface="Times New Roman" panose="02020603050405020304" pitchFamily="18" charset="0"/>
              </a:rPr>
              <a:t>大作业</a:t>
            </a:r>
          </a:p>
        </p:txBody>
      </p:sp>
    </p:spTree>
    <p:extLst>
      <p:ext uri="{BB962C8B-B14F-4D97-AF65-F5344CB8AC3E}">
        <p14:creationId xmlns:p14="http://schemas.microsoft.com/office/powerpoint/2010/main" val="25826772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_CONTENTSID" val="278"/>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6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8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20354</TotalTime>
  <Words>3365</Words>
  <Application>Microsoft Macintosh PowerPoint</Application>
  <PresentationFormat>全屏显示(4:3)</PresentationFormat>
  <Paragraphs>570</Paragraphs>
  <Slides>42</Slides>
  <Notes>36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42</vt:i4>
      </vt:variant>
    </vt:vector>
  </HeadingPairs>
  <TitlesOfParts>
    <vt:vector size="54" baseType="lpstr">
      <vt:lpstr>等线</vt:lpstr>
      <vt:lpstr>黑体</vt:lpstr>
      <vt:lpstr>华文中宋</vt:lpstr>
      <vt:lpstr>宋体</vt:lpstr>
      <vt:lpstr>微软雅黑</vt:lpstr>
      <vt:lpstr>微软雅黑</vt:lpstr>
      <vt:lpstr>微软雅黑</vt:lpstr>
      <vt:lpstr>Inter</vt:lpstr>
      <vt:lpstr>Arial</vt:lpstr>
      <vt:lpstr>Gill Sans MT</vt:lpstr>
      <vt:lpstr>Times New Roman</vt:lpstr>
      <vt:lpstr>Office 主题​​</vt:lpstr>
      <vt:lpstr>第1章 无线传感器网络概述</vt:lpstr>
      <vt:lpstr>第1章 无线传感器网络概述</vt:lpstr>
      <vt:lpstr>PowerPoint 演示文稿</vt:lpstr>
      <vt:lpstr>PowerPoint 演示文稿</vt:lpstr>
      <vt:lpstr>PowerPoint 演示文稿</vt:lpstr>
      <vt:lpstr>第1章 无线传感器网络概述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第1章 无线传感器网络概述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第1章 无线传感器网络概述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第1章 无线传感器网络概述</vt:lpstr>
      <vt:lpstr>PowerPoint 演示文稿</vt:lpstr>
      <vt:lpstr>PowerPoint 演示文稿</vt:lpstr>
      <vt:lpstr>PowerPoint 演示文稿</vt:lpstr>
      <vt:lpstr>PowerPoint 演示文稿</vt:lpstr>
      <vt:lpstr>第1章 无线传感器网络概述</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think</dc:creator>
  <cp:lastModifiedBy>Junchao Ma</cp:lastModifiedBy>
  <cp:revision>1520</cp:revision>
  <cp:lastPrinted>2025-02-14T02:55:00Z</cp:lastPrinted>
  <dcterms:created xsi:type="dcterms:W3CDTF">2022-06-15T01:28:12Z</dcterms:created>
  <dcterms:modified xsi:type="dcterms:W3CDTF">2026-01-22T14:07:36Z</dcterms:modified>
</cp:coreProperties>
</file>