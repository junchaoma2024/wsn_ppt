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368" r:id="rId3"/>
    <p:sldId id="285" r:id="rId4"/>
    <p:sldId id="284" r:id="rId5"/>
    <p:sldId id="321" r:id="rId6"/>
    <p:sldId id="402" r:id="rId7"/>
    <p:sldId id="403" r:id="rId9"/>
    <p:sldId id="404" r:id="rId10"/>
    <p:sldId id="322" r:id="rId11"/>
    <p:sldId id="323" r:id="rId12"/>
    <p:sldId id="335" r:id="rId13"/>
    <p:sldId id="336" r:id="rId14"/>
    <p:sldId id="337" r:id="rId15"/>
    <p:sldId id="338" r:id="rId16"/>
    <p:sldId id="339" r:id="rId17"/>
    <p:sldId id="340" r:id="rId18"/>
    <p:sldId id="350" r:id="rId19"/>
    <p:sldId id="351" r:id="rId20"/>
    <p:sldId id="352" r:id="rId21"/>
    <p:sldId id="353" r:id="rId22"/>
    <p:sldId id="354" r:id="rId23"/>
    <p:sldId id="355" r:id="rId24"/>
    <p:sldId id="324" r:id="rId25"/>
    <p:sldId id="327" r:id="rId26"/>
    <p:sldId id="328" r:id="rId27"/>
    <p:sldId id="329" r:id="rId28"/>
    <p:sldId id="356" r:id="rId29"/>
    <p:sldId id="357" r:id="rId30"/>
    <p:sldId id="330" r:id="rId31"/>
    <p:sldId id="358" r:id="rId32"/>
    <p:sldId id="359" r:id="rId33"/>
    <p:sldId id="360" r:id="rId34"/>
    <p:sldId id="361" r:id="rId35"/>
    <p:sldId id="320" r:id="rId36"/>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2F2F2"/>
    <a:srgbClr val="E6E6E6"/>
    <a:srgbClr val="316AAB"/>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18" autoAdjust="0"/>
    <p:restoredTop sz="93814" autoAdjust="0"/>
  </p:normalViewPr>
  <p:slideViewPr>
    <p:cSldViewPr snapToGrid="0">
      <p:cViewPr varScale="1">
        <p:scale>
          <a:sx n="84" d="100"/>
          <a:sy n="84" d="100"/>
        </p:scale>
        <p:origin x="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gs" Target="tags/tag10.xml"/><Relationship Id="rId40" Type="http://schemas.openxmlformats.org/officeDocument/2006/relationships/commentAuthors" Target="commentAuthors.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1755B6-0C3E-4F0C-BF6C-16E867B5A9B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82432D-7D6E-451E-9D5A-7906F4008F1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结构是我们认识事物、研究问题时首先要搞清楚的一个问题。</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r>
              <a:rPr lang="zh-CN" b="1">
                <a:ea typeface="宋体" panose="02010600030101010101" pitchFamily="2" charset="-122"/>
                <a:sym typeface="+mn-ea"/>
              </a:rPr>
              <a:t>大量传感器节点随机部署在监测区域（sensor field）内部，通过自组织方式构成无线网络。传感器节点监测的数据沿着其他传感器节点逐跳地进行传输，在传输过程中监测数据可能被多个节点处理，经过多跳后路由到汇聚节点，最后通过Internet或卫星到达管理节点。</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atin typeface="汉仪中宋简" panose="02010600000101010101" charset="-122"/>
                <a:ea typeface="汉仪中宋简" panose="02010600000101010101" charset="-122"/>
              </a:defRPr>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
        <p:nvSpPr>
          <p:cNvPr id="7" name="弧形 6"/>
          <p:cNvSpPr/>
          <p:nvPr userDrawn="1"/>
        </p:nvSpPr>
        <p:spPr>
          <a:xfrm>
            <a:off x="-342900" y="4635500"/>
            <a:ext cx="12534900" cy="4762500"/>
          </a:xfrm>
          <a:prstGeom prst="arc">
            <a:avLst>
              <a:gd name="adj1" fmla="val 11204256"/>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8" name="弧形 7"/>
          <p:cNvSpPr/>
          <p:nvPr userDrawn="1"/>
        </p:nvSpPr>
        <p:spPr>
          <a:xfrm>
            <a:off x="3556000" y="4279900"/>
            <a:ext cx="6261100" cy="5118100"/>
          </a:xfrm>
          <a:prstGeom prst="arc">
            <a:avLst>
              <a:gd name="adj1" fmla="val 1077791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 name="弧形 8"/>
          <p:cNvSpPr/>
          <p:nvPr userDrawn="1"/>
        </p:nvSpPr>
        <p:spPr>
          <a:xfrm>
            <a:off x="-723900" y="4457700"/>
            <a:ext cx="7645400" cy="5118100"/>
          </a:xfrm>
          <a:prstGeom prst="arc">
            <a:avLst>
              <a:gd name="adj1" fmla="val 12281735"/>
              <a:gd name="adj2" fmla="val 2147566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 name="弧形 9"/>
          <p:cNvSpPr/>
          <p:nvPr userDrawn="1"/>
        </p:nvSpPr>
        <p:spPr>
          <a:xfrm>
            <a:off x="609600" y="4279900"/>
            <a:ext cx="7950200" cy="5118100"/>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1" name="弧形 10"/>
          <p:cNvSpPr/>
          <p:nvPr userDrawn="1"/>
        </p:nvSpPr>
        <p:spPr>
          <a:xfrm rot="20669223">
            <a:off x="4802771" y="4781083"/>
            <a:ext cx="7645400" cy="4627022"/>
          </a:xfrm>
          <a:prstGeom prst="arc">
            <a:avLst>
              <a:gd name="adj1" fmla="val 11936525"/>
              <a:gd name="adj2" fmla="val 21351808"/>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 name="弧形 11"/>
          <p:cNvSpPr/>
          <p:nvPr userDrawn="1"/>
        </p:nvSpPr>
        <p:spPr>
          <a:xfrm>
            <a:off x="2863850" y="4781083"/>
            <a:ext cx="7645400" cy="4627022"/>
          </a:xfrm>
          <a:prstGeom prst="arc">
            <a:avLst>
              <a:gd name="adj1" fmla="val 10996067"/>
              <a:gd name="adj2" fmla="val 2135180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3" name="弧形 12"/>
          <p:cNvSpPr/>
          <p:nvPr userDrawn="1"/>
        </p:nvSpPr>
        <p:spPr>
          <a:xfrm>
            <a:off x="1530350" y="5003800"/>
            <a:ext cx="7645400" cy="4394200"/>
          </a:xfrm>
          <a:prstGeom prst="arc">
            <a:avLst>
              <a:gd name="adj1" fmla="val 11069650"/>
              <a:gd name="adj2" fmla="val 21351808"/>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 name="弧形 13"/>
          <p:cNvSpPr/>
          <p:nvPr userDrawn="1"/>
        </p:nvSpPr>
        <p:spPr>
          <a:xfrm>
            <a:off x="2329369" y="5435600"/>
            <a:ext cx="4357181" cy="4224048"/>
          </a:xfrm>
          <a:prstGeom prst="arc">
            <a:avLst>
              <a:gd name="adj1" fmla="val 11895690"/>
              <a:gd name="adj2" fmla="val 20468634"/>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5" name="弧形 14"/>
          <p:cNvSpPr/>
          <p:nvPr userDrawn="1"/>
        </p:nvSpPr>
        <p:spPr>
          <a:xfrm rot="814006">
            <a:off x="-400500" y="4962915"/>
            <a:ext cx="5030602" cy="4224048"/>
          </a:xfrm>
          <a:prstGeom prst="arc">
            <a:avLst>
              <a:gd name="adj1" fmla="val 11895690"/>
              <a:gd name="adj2" fmla="val 20468634"/>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16" name="直接连接符 15"/>
          <p:cNvCxnSpPr/>
          <p:nvPr userDrawn="1"/>
        </p:nvCxnSpPr>
        <p:spPr>
          <a:xfrm>
            <a:off x="1162050" y="5003800"/>
            <a:ext cx="857250" cy="1854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1181100" y="5003800"/>
            <a:ext cx="2952750" cy="1397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flipV="1">
            <a:off x="299531" y="5003800"/>
            <a:ext cx="5290304" cy="1473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5603882" y="5010755"/>
            <a:ext cx="2009768" cy="139004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flipV="1">
            <a:off x="2600709" y="4524678"/>
            <a:ext cx="3909876" cy="195232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nvCxnSpPr>
        <p:spPr>
          <a:xfrm flipH="1">
            <a:off x="4107972" y="4493233"/>
            <a:ext cx="1074026" cy="19456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7444474" y="4577081"/>
            <a:ext cx="2060574" cy="196689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flipH="1">
            <a:off x="7961228" y="5200650"/>
            <a:ext cx="160047" cy="12001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341109" y="5435600"/>
            <a:ext cx="253476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同心圆 31"/>
          <p:cNvSpPr/>
          <p:nvPr userDrawn="1"/>
        </p:nvSpPr>
        <p:spPr>
          <a:xfrm>
            <a:off x="10472156" y="5328228"/>
            <a:ext cx="225629" cy="22947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3" name="同心圆 32"/>
          <p:cNvSpPr/>
          <p:nvPr userDrawn="1"/>
        </p:nvSpPr>
        <p:spPr>
          <a:xfrm>
            <a:off x="1074231" y="4845050"/>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5" name="同心圆 34"/>
          <p:cNvSpPr/>
          <p:nvPr userDrawn="1"/>
        </p:nvSpPr>
        <p:spPr>
          <a:xfrm>
            <a:off x="3551852" y="6076950"/>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9" name="同心圆 38"/>
          <p:cNvSpPr/>
          <p:nvPr userDrawn="1"/>
        </p:nvSpPr>
        <p:spPr>
          <a:xfrm>
            <a:off x="9427767" y="6494285"/>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0" name="椭圆 39"/>
          <p:cNvSpPr/>
          <p:nvPr userDrawn="1"/>
        </p:nvSpPr>
        <p:spPr>
          <a:xfrm>
            <a:off x="11301745" y="6786852"/>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 name="椭圆 42"/>
          <p:cNvSpPr/>
          <p:nvPr userDrawn="1"/>
        </p:nvSpPr>
        <p:spPr>
          <a:xfrm>
            <a:off x="4015364" y="6306255"/>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 name="椭圆 43"/>
          <p:cNvSpPr/>
          <p:nvPr userDrawn="1"/>
        </p:nvSpPr>
        <p:spPr>
          <a:xfrm>
            <a:off x="4536712" y="5298062"/>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椭圆 44"/>
          <p:cNvSpPr/>
          <p:nvPr userDrawn="1"/>
        </p:nvSpPr>
        <p:spPr>
          <a:xfrm>
            <a:off x="4987961" y="4474082"/>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 name="椭圆 46"/>
          <p:cNvSpPr/>
          <p:nvPr userDrawn="1"/>
        </p:nvSpPr>
        <p:spPr>
          <a:xfrm>
            <a:off x="7311685" y="4457700"/>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椭圆 47"/>
          <p:cNvSpPr/>
          <p:nvPr userDrawn="1"/>
        </p:nvSpPr>
        <p:spPr>
          <a:xfrm>
            <a:off x="6396327" y="4410079"/>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椭圆 48"/>
          <p:cNvSpPr/>
          <p:nvPr userDrawn="1"/>
        </p:nvSpPr>
        <p:spPr>
          <a:xfrm>
            <a:off x="3085919" y="4381601"/>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 name="椭圆 49"/>
          <p:cNvSpPr/>
          <p:nvPr userDrawn="1"/>
        </p:nvSpPr>
        <p:spPr>
          <a:xfrm>
            <a:off x="3315074" y="5262097"/>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 name="椭圆 50"/>
          <p:cNvSpPr/>
          <p:nvPr userDrawn="1"/>
        </p:nvSpPr>
        <p:spPr>
          <a:xfrm>
            <a:off x="3813606" y="5629878"/>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 name="椭圆 51"/>
          <p:cNvSpPr/>
          <p:nvPr userDrawn="1"/>
        </p:nvSpPr>
        <p:spPr>
          <a:xfrm>
            <a:off x="7977379" y="558976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 name="椭圆 53"/>
          <p:cNvSpPr/>
          <p:nvPr userDrawn="1"/>
        </p:nvSpPr>
        <p:spPr>
          <a:xfrm>
            <a:off x="8437465" y="464920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 name="椭圆 54"/>
          <p:cNvSpPr/>
          <p:nvPr userDrawn="1"/>
        </p:nvSpPr>
        <p:spPr>
          <a:xfrm>
            <a:off x="6327587" y="5477477"/>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 name="椭圆 55"/>
          <p:cNvSpPr/>
          <p:nvPr userDrawn="1"/>
        </p:nvSpPr>
        <p:spPr>
          <a:xfrm>
            <a:off x="6347789" y="6527596"/>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 name="椭圆 56"/>
          <p:cNvSpPr/>
          <p:nvPr userDrawn="1"/>
        </p:nvSpPr>
        <p:spPr>
          <a:xfrm>
            <a:off x="5419168" y="6226223"/>
            <a:ext cx="168832" cy="16006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 name="椭圆 57"/>
          <p:cNvSpPr/>
          <p:nvPr userDrawn="1"/>
        </p:nvSpPr>
        <p:spPr>
          <a:xfrm>
            <a:off x="2159550" y="5854699"/>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 name="椭圆 58"/>
          <p:cNvSpPr/>
          <p:nvPr userDrawn="1"/>
        </p:nvSpPr>
        <p:spPr>
          <a:xfrm>
            <a:off x="217198" y="6405724"/>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 name="椭圆 59"/>
          <p:cNvSpPr/>
          <p:nvPr userDrawn="1"/>
        </p:nvSpPr>
        <p:spPr>
          <a:xfrm>
            <a:off x="4575037" y="4632928"/>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 name="椭圆 60"/>
          <p:cNvSpPr/>
          <p:nvPr userDrawn="1"/>
        </p:nvSpPr>
        <p:spPr>
          <a:xfrm>
            <a:off x="10274506" y="6336182"/>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椭圆 61"/>
          <p:cNvSpPr/>
          <p:nvPr userDrawn="1"/>
        </p:nvSpPr>
        <p:spPr>
          <a:xfrm>
            <a:off x="10816535" y="5338590"/>
            <a:ext cx="162796" cy="15240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 name="椭圆 62"/>
          <p:cNvSpPr/>
          <p:nvPr userDrawn="1"/>
        </p:nvSpPr>
        <p:spPr>
          <a:xfrm>
            <a:off x="9925121" y="459352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 name="同心圆 63"/>
          <p:cNvSpPr/>
          <p:nvPr userDrawn="1"/>
        </p:nvSpPr>
        <p:spPr>
          <a:xfrm>
            <a:off x="11276519" y="4926907"/>
            <a:ext cx="188022" cy="20449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67" name="同心圆 66"/>
          <p:cNvSpPr/>
          <p:nvPr userDrawn="1"/>
        </p:nvSpPr>
        <p:spPr>
          <a:xfrm>
            <a:off x="7910497" y="6361402"/>
            <a:ext cx="188022" cy="20449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68" name="椭圆 67"/>
          <p:cNvSpPr/>
          <p:nvPr userDrawn="1"/>
        </p:nvSpPr>
        <p:spPr>
          <a:xfrm>
            <a:off x="602169" y="6228939"/>
            <a:ext cx="178843" cy="2099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9" name="椭圆 68"/>
          <p:cNvSpPr/>
          <p:nvPr userDrawn="1"/>
        </p:nvSpPr>
        <p:spPr>
          <a:xfrm>
            <a:off x="1704597" y="6283732"/>
            <a:ext cx="178843" cy="2099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71" name="直接连接符 70"/>
          <p:cNvCxnSpPr>
            <a:stCxn id="32" idx="5"/>
          </p:cNvCxnSpPr>
          <p:nvPr userDrawn="1"/>
        </p:nvCxnSpPr>
        <p:spPr>
          <a:xfrm>
            <a:off x="10664742" y="5524101"/>
            <a:ext cx="705788" cy="13338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椭圆 71"/>
          <p:cNvSpPr/>
          <p:nvPr userDrawn="1"/>
        </p:nvSpPr>
        <p:spPr>
          <a:xfrm>
            <a:off x="8434046" y="6735585"/>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 name="椭圆 72"/>
          <p:cNvSpPr/>
          <p:nvPr userDrawn="1"/>
        </p:nvSpPr>
        <p:spPr>
          <a:xfrm>
            <a:off x="4978649" y="6690468"/>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 name="椭圆 73"/>
          <p:cNvSpPr/>
          <p:nvPr userDrawn="1"/>
        </p:nvSpPr>
        <p:spPr>
          <a:xfrm>
            <a:off x="2845352" y="6703346"/>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 name="椭圆 74"/>
          <p:cNvSpPr/>
          <p:nvPr userDrawn="1"/>
        </p:nvSpPr>
        <p:spPr>
          <a:xfrm>
            <a:off x="11025222" y="6187499"/>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6" name="椭圆 75"/>
          <p:cNvSpPr/>
          <p:nvPr userDrawn="1"/>
        </p:nvSpPr>
        <p:spPr>
          <a:xfrm>
            <a:off x="7905379" y="447514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9" name="椭圆 78"/>
          <p:cNvSpPr/>
          <p:nvPr userDrawn="1"/>
        </p:nvSpPr>
        <p:spPr>
          <a:xfrm>
            <a:off x="9484750" y="5037034"/>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0" name="椭圆 79"/>
          <p:cNvSpPr/>
          <p:nvPr userDrawn="1"/>
        </p:nvSpPr>
        <p:spPr>
          <a:xfrm>
            <a:off x="4375615" y="5038494"/>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 name="椭圆 80"/>
          <p:cNvSpPr/>
          <p:nvPr userDrawn="1"/>
        </p:nvSpPr>
        <p:spPr>
          <a:xfrm>
            <a:off x="2563250" y="564129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2" name="椭圆 81"/>
          <p:cNvSpPr/>
          <p:nvPr userDrawn="1"/>
        </p:nvSpPr>
        <p:spPr>
          <a:xfrm>
            <a:off x="5702540" y="435784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 name="椭圆 82"/>
          <p:cNvSpPr/>
          <p:nvPr userDrawn="1"/>
        </p:nvSpPr>
        <p:spPr>
          <a:xfrm>
            <a:off x="5872891" y="5894899"/>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 name="椭圆 83"/>
          <p:cNvSpPr/>
          <p:nvPr userDrawn="1"/>
        </p:nvSpPr>
        <p:spPr>
          <a:xfrm>
            <a:off x="397635" y="5390515"/>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5" name="椭圆 84"/>
          <p:cNvSpPr/>
          <p:nvPr userDrawn="1"/>
        </p:nvSpPr>
        <p:spPr>
          <a:xfrm>
            <a:off x="9776753" y="6809767"/>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 name="椭圆 85"/>
          <p:cNvSpPr/>
          <p:nvPr userDrawn="1"/>
        </p:nvSpPr>
        <p:spPr>
          <a:xfrm>
            <a:off x="1909653" y="457708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 name="椭圆 86"/>
          <p:cNvSpPr/>
          <p:nvPr userDrawn="1"/>
        </p:nvSpPr>
        <p:spPr>
          <a:xfrm>
            <a:off x="4631427" y="4256446"/>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1" name="弧形 90"/>
          <p:cNvSpPr/>
          <p:nvPr userDrawn="1"/>
        </p:nvSpPr>
        <p:spPr>
          <a:xfrm>
            <a:off x="1181100" y="5057065"/>
            <a:ext cx="9694773" cy="4762500"/>
          </a:xfrm>
          <a:prstGeom prst="arc">
            <a:avLst>
              <a:gd name="adj1" fmla="val 11204256"/>
              <a:gd name="adj2" fmla="val 2118665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4" name="同心圆 33"/>
          <p:cNvSpPr/>
          <p:nvPr userDrawn="1"/>
        </p:nvSpPr>
        <p:spPr>
          <a:xfrm>
            <a:off x="2489001" y="4914799"/>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6" name="同心圆 35"/>
          <p:cNvSpPr/>
          <p:nvPr userDrawn="1"/>
        </p:nvSpPr>
        <p:spPr>
          <a:xfrm>
            <a:off x="5380034" y="4926907"/>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7" name="同心圆 36"/>
          <p:cNvSpPr/>
          <p:nvPr userDrawn="1"/>
        </p:nvSpPr>
        <p:spPr>
          <a:xfrm>
            <a:off x="6858718" y="5086350"/>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8" name="同心圆 37"/>
          <p:cNvSpPr/>
          <p:nvPr userDrawn="1"/>
        </p:nvSpPr>
        <p:spPr>
          <a:xfrm>
            <a:off x="8152574" y="5322584"/>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1" name="椭圆 40"/>
          <p:cNvSpPr/>
          <p:nvPr userDrawn="1"/>
        </p:nvSpPr>
        <p:spPr>
          <a:xfrm>
            <a:off x="1136130" y="5279799"/>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 name="椭圆 41"/>
          <p:cNvSpPr/>
          <p:nvPr userDrawn="1"/>
        </p:nvSpPr>
        <p:spPr>
          <a:xfrm>
            <a:off x="2490748" y="6363872"/>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 name="椭圆 45"/>
          <p:cNvSpPr/>
          <p:nvPr userDrawn="1"/>
        </p:nvSpPr>
        <p:spPr>
          <a:xfrm>
            <a:off x="7549031" y="6329396"/>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 name="椭圆 52"/>
          <p:cNvSpPr/>
          <p:nvPr userDrawn="1"/>
        </p:nvSpPr>
        <p:spPr>
          <a:xfrm>
            <a:off x="9207696" y="5338297"/>
            <a:ext cx="162796" cy="15240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6" name="同心圆 65"/>
          <p:cNvSpPr/>
          <p:nvPr userDrawn="1"/>
        </p:nvSpPr>
        <p:spPr>
          <a:xfrm>
            <a:off x="8064687" y="5027531"/>
            <a:ext cx="225629" cy="22947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
        <p:nvSpPr>
          <p:cNvPr id="10" name="弧形 9"/>
          <p:cNvSpPr/>
          <p:nvPr userDrawn="1"/>
        </p:nvSpPr>
        <p:spPr>
          <a:xfrm rot="10800000">
            <a:off x="5553840" y="-1648521"/>
            <a:ext cx="4248702" cy="3366642"/>
          </a:xfrm>
          <a:prstGeom prst="arc">
            <a:avLst>
              <a:gd name="adj1" fmla="val 1159520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 name="弧形 11"/>
          <p:cNvSpPr/>
          <p:nvPr userDrawn="1"/>
        </p:nvSpPr>
        <p:spPr>
          <a:xfrm rot="10800000">
            <a:off x="7518757" y="-1765476"/>
            <a:ext cx="5188070" cy="3366642"/>
          </a:xfrm>
          <a:prstGeom prst="arc">
            <a:avLst>
              <a:gd name="adj1" fmla="val 12281735"/>
              <a:gd name="adj2" fmla="val 2147566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 name="弧形 13"/>
          <p:cNvSpPr/>
          <p:nvPr userDrawn="1"/>
        </p:nvSpPr>
        <p:spPr>
          <a:xfrm rot="10800000">
            <a:off x="6407028" y="-1648521"/>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6" name="弧形 15"/>
          <p:cNvSpPr/>
          <p:nvPr userDrawn="1"/>
        </p:nvSpPr>
        <p:spPr>
          <a:xfrm rot="9869223">
            <a:off x="3768429" y="-1655168"/>
            <a:ext cx="5188070" cy="3043615"/>
          </a:xfrm>
          <a:prstGeom prst="arc">
            <a:avLst>
              <a:gd name="adj1" fmla="val 11936525"/>
              <a:gd name="adj2" fmla="val 779036"/>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8" name="弧形 17"/>
          <p:cNvSpPr/>
          <p:nvPr userDrawn="1"/>
        </p:nvSpPr>
        <p:spPr>
          <a:xfrm rot="10800000">
            <a:off x="5084156" y="-1655168"/>
            <a:ext cx="5188070" cy="3043615"/>
          </a:xfrm>
          <a:prstGeom prst="arc">
            <a:avLst>
              <a:gd name="adj1" fmla="val 10996067"/>
              <a:gd name="adj2" fmla="val 2135180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9" name="弧形 18"/>
          <p:cNvSpPr/>
          <p:nvPr userDrawn="1"/>
        </p:nvSpPr>
        <p:spPr>
          <a:xfrm rot="10800000">
            <a:off x="5989052" y="-1648521"/>
            <a:ext cx="5188070" cy="2890467"/>
          </a:xfrm>
          <a:prstGeom prst="arc">
            <a:avLst>
              <a:gd name="adj1" fmla="val 11069650"/>
              <a:gd name="adj2" fmla="val 21351808"/>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0" name="弧形 19"/>
          <p:cNvSpPr/>
          <p:nvPr userDrawn="1"/>
        </p:nvSpPr>
        <p:spPr>
          <a:xfrm rot="10800000">
            <a:off x="7678191" y="-1820631"/>
            <a:ext cx="2956727" cy="2778543"/>
          </a:xfrm>
          <a:prstGeom prst="arc">
            <a:avLst>
              <a:gd name="adj1" fmla="val 11895690"/>
              <a:gd name="adj2" fmla="val 20468634"/>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2" name="弧形 21"/>
          <p:cNvSpPr/>
          <p:nvPr userDrawn="1"/>
        </p:nvSpPr>
        <p:spPr>
          <a:xfrm rot="11614006">
            <a:off x="9073670" y="-1509703"/>
            <a:ext cx="3413702" cy="2778543"/>
          </a:xfrm>
          <a:prstGeom prst="arc">
            <a:avLst>
              <a:gd name="adj1" fmla="val 11895690"/>
              <a:gd name="adj2" fmla="val 20468634"/>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23" name="直接连接符 22"/>
          <p:cNvCxnSpPr/>
          <p:nvPr userDrawn="1"/>
        </p:nvCxnSpPr>
        <p:spPr>
          <a:xfrm rot="10800000">
            <a:off x="10845327" y="22269"/>
            <a:ext cx="581719" cy="121967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rot="10800000">
            <a:off x="9410420" y="323011"/>
            <a:ext cx="2003698" cy="91893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rot="10800000" flipV="1">
            <a:off x="8422408" y="272888"/>
            <a:ext cx="3589932" cy="969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rot="10800000">
            <a:off x="7049073" y="323011"/>
            <a:ext cx="1363803" cy="9143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rot="10800000" flipV="1">
            <a:off x="7797598" y="272888"/>
            <a:ext cx="2653192" cy="128422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rot="10800000" flipH="1">
            <a:off x="8699161" y="297949"/>
            <a:ext cx="728820" cy="127984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rot="10800000">
            <a:off x="5765594" y="228830"/>
            <a:ext cx="1398279" cy="12938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rot="10800000" flipH="1">
            <a:off x="6704605" y="323011"/>
            <a:ext cx="108606" cy="78944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同心圆 34"/>
          <p:cNvSpPr/>
          <p:nvPr userDrawn="1"/>
        </p:nvSpPr>
        <p:spPr>
          <a:xfrm rot="10800000">
            <a:off x="4956218" y="877591"/>
            <a:ext cx="153109" cy="15094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6" name="同心圆 35"/>
          <p:cNvSpPr/>
          <p:nvPr userDrawn="1"/>
        </p:nvSpPr>
        <p:spPr>
          <a:xfrm rot="10800000">
            <a:off x="11305659" y="1187645"/>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7" name="同心圆 36"/>
          <p:cNvSpPr/>
          <p:nvPr userDrawn="1"/>
        </p:nvSpPr>
        <p:spPr>
          <a:xfrm rot="10800000">
            <a:off x="9624377" y="377312"/>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8" name="同心圆 37"/>
          <p:cNvSpPr/>
          <p:nvPr userDrawn="1"/>
        </p:nvSpPr>
        <p:spPr>
          <a:xfrm rot="10800000">
            <a:off x="5637057" y="102793"/>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9" name="椭圆 38"/>
          <p:cNvSpPr/>
          <p:nvPr userDrawn="1"/>
        </p:nvSpPr>
        <p:spPr>
          <a:xfrm rot="10800000">
            <a:off x="4435908" y="-3117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椭圆 39"/>
          <p:cNvSpPr/>
          <p:nvPr userDrawn="1"/>
        </p:nvSpPr>
        <p:spPr>
          <a:xfrm rot="10800000">
            <a:off x="9313420" y="214410"/>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userDrawn="1"/>
        </p:nvSpPr>
        <p:spPr>
          <a:xfrm rot="10800000">
            <a:off x="8959640" y="877591"/>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 name="椭圆 41"/>
          <p:cNvSpPr/>
          <p:nvPr userDrawn="1"/>
        </p:nvSpPr>
        <p:spPr>
          <a:xfrm rot="10800000">
            <a:off x="8653428" y="1419598"/>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 name="椭圆 42"/>
          <p:cNvSpPr/>
          <p:nvPr userDrawn="1"/>
        </p:nvSpPr>
        <p:spPr>
          <a:xfrm rot="10800000">
            <a:off x="7076579" y="1430374"/>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 name="椭圆 43"/>
          <p:cNvSpPr/>
          <p:nvPr userDrawn="1"/>
        </p:nvSpPr>
        <p:spPr>
          <a:xfrm rot="10800000">
            <a:off x="7697729" y="1461698"/>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椭圆 44"/>
          <p:cNvSpPr/>
          <p:nvPr userDrawn="1"/>
        </p:nvSpPr>
        <p:spPr>
          <a:xfrm rot="10800000">
            <a:off x="10011062" y="1550975"/>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 name="椭圆 45"/>
          <p:cNvSpPr/>
          <p:nvPr userDrawn="1"/>
        </p:nvSpPr>
        <p:spPr>
          <a:xfrm rot="10800000">
            <a:off x="9855560" y="971792"/>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 name="椭圆 46"/>
          <p:cNvSpPr/>
          <p:nvPr userDrawn="1"/>
        </p:nvSpPr>
        <p:spPr>
          <a:xfrm rot="10800000">
            <a:off x="9517262" y="729869"/>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椭圆 47"/>
          <p:cNvSpPr/>
          <p:nvPr userDrawn="1"/>
        </p:nvSpPr>
        <p:spPr>
          <a:xfrm rot="10800000">
            <a:off x="6691780" y="756256"/>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椭圆 48"/>
          <p:cNvSpPr/>
          <p:nvPr userDrawn="1"/>
        </p:nvSpPr>
        <p:spPr>
          <a:xfrm rot="10800000">
            <a:off x="6379571" y="1374949"/>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 name="椭圆 49"/>
          <p:cNvSpPr/>
          <p:nvPr userDrawn="1"/>
        </p:nvSpPr>
        <p:spPr>
          <a:xfrm rot="10800000">
            <a:off x="7811307" y="830117"/>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 name="椭圆 50"/>
          <p:cNvSpPr/>
          <p:nvPr userDrawn="1"/>
        </p:nvSpPr>
        <p:spPr>
          <a:xfrm rot="10800000">
            <a:off x="7797598" y="13935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 name="椭圆 51"/>
          <p:cNvSpPr/>
          <p:nvPr userDrawn="1"/>
        </p:nvSpPr>
        <p:spPr>
          <a:xfrm rot="10800000">
            <a:off x="8423653" y="332558"/>
            <a:ext cx="114567" cy="1052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 name="椭圆 52"/>
          <p:cNvSpPr/>
          <p:nvPr userDrawn="1"/>
        </p:nvSpPr>
        <p:spPr>
          <a:xfrm rot="10800000">
            <a:off x="10639684" y="58198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 name="椭圆 53"/>
          <p:cNvSpPr/>
          <p:nvPr userDrawn="1"/>
        </p:nvSpPr>
        <p:spPr>
          <a:xfrm rot="10800000">
            <a:off x="11957739" y="21952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 name="椭圆 54"/>
          <p:cNvSpPr/>
          <p:nvPr userDrawn="1"/>
        </p:nvSpPr>
        <p:spPr>
          <a:xfrm rot="10800000">
            <a:off x="9000565" y="138565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 name="椭圆 55"/>
          <p:cNvSpPr/>
          <p:nvPr userDrawn="1"/>
        </p:nvSpPr>
        <p:spPr>
          <a:xfrm rot="10800000">
            <a:off x="5132979" y="26526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 name="椭圆 56"/>
          <p:cNvSpPr/>
          <p:nvPr userDrawn="1"/>
        </p:nvSpPr>
        <p:spPr>
          <a:xfrm rot="10800000">
            <a:off x="4765165" y="921476"/>
            <a:ext cx="110471" cy="100248"/>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 name="椭圆 57"/>
          <p:cNvSpPr/>
          <p:nvPr userDrawn="1"/>
        </p:nvSpPr>
        <p:spPr>
          <a:xfrm rot="10800000">
            <a:off x="5370067" y="1411575"/>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 name="同心圆 58"/>
          <p:cNvSpPr/>
          <p:nvPr userDrawn="1"/>
        </p:nvSpPr>
        <p:spPr>
          <a:xfrm rot="10800000">
            <a:off x="4435908" y="1158008"/>
            <a:ext cx="127589" cy="1345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60" name="同心圆 59"/>
          <p:cNvSpPr/>
          <p:nvPr userDrawn="1"/>
        </p:nvSpPr>
        <p:spPr>
          <a:xfrm rot="10800000">
            <a:off x="6720047" y="214410"/>
            <a:ext cx="127589" cy="1345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61" name="椭圆 60"/>
          <p:cNvSpPr/>
          <p:nvPr userDrawn="1"/>
        </p:nvSpPr>
        <p:spPr>
          <a:xfrm rot="10800000">
            <a:off x="11685613" y="297949"/>
            <a:ext cx="121361" cy="13811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椭圆 61"/>
          <p:cNvSpPr/>
          <p:nvPr userDrawn="1"/>
        </p:nvSpPr>
        <p:spPr>
          <a:xfrm rot="10800000">
            <a:off x="10937520" y="261906"/>
            <a:ext cx="121361" cy="13811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63" name="直接连接符 62"/>
          <p:cNvCxnSpPr>
            <a:stCxn id="35" idx="5"/>
          </p:cNvCxnSpPr>
          <p:nvPr userDrawn="1"/>
        </p:nvCxnSpPr>
        <p:spPr>
          <a:xfrm rot="10800000">
            <a:off x="4499702" y="22269"/>
            <a:ext cx="478939" cy="8774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椭圆 63"/>
          <p:cNvSpPr/>
          <p:nvPr userDrawn="1"/>
        </p:nvSpPr>
        <p:spPr>
          <a:xfrm rot="10800000">
            <a:off x="6314959" y="-68000"/>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5" name="椭圆 64"/>
          <p:cNvSpPr/>
          <p:nvPr userDrawn="1"/>
        </p:nvSpPr>
        <p:spPr>
          <a:xfrm rot="10800000">
            <a:off x="8659747" y="-38322"/>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6" name="椭圆 65"/>
          <p:cNvSpPr/>
          <p:nvPr userDrawn="1"/>
        </p:nvSpPr>
        <p:spPr>
          <a:xfrm rot="10800000">
            <a:off x="10107375" y="-46793"/>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7" name="椭圆 66"/>
          <p:cNvSpPr/>
          <p:nvPr userDrawn="1"/>
        </p:nvSpPr>
        <p:spPr>
          <a:xfrm rot="10800000">
            <a:off x="4685166" y="41595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8" name="椭圆 67"/>
          <p:cNvSpPr/>
          <p:nvPr userDrawn="1"/>
        </p:nvSpPr>
        <p:spPr>
          <a:xfrm rot="10800000">
            <a:off x="6802251" y="1542332"/>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9" name="椭圆 68"/>
          <p:cNvSpPr/>
          <p:nvPr userDrawn="1"/>
        </p:nvSpPr>
        <p:spPr>
          <a:xfrm rot="10800000">
            <a:off x="5730510" y="1172724"/>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0" name="椭圆 69"/>
          <p:cNvSpPr/>
          <p:nvPr userDrawn="1"/>
        </p:nvSpPr>
        <p:spPr>
          <a:xfrm rot="10800000">
            <a:off x="9197503" y="1171764"/>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 name="椭圆 70"/>
          <p:cNvSpPr/>
          <p:nvPr userDrawn="1"/>
        </p:nvSpPr>
        <p:spPr>
          <a:xfrm rot="10800000">
            <a:off x="10427351" y="775249"/>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2" name="椭圆 71"/>
          <p:cNvSpPr/>
          <p:nvPr userDrawn="1"/>
        </p:nvSpPr>
        <p:spPr>
          <a:xfrm rot="10800000">
            <a:off x="8297069" y="1619491"/>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 name="椭圆 72"/>
          <p:cNvSpPr/>
          <p:nvPr userDrawn="1"/>
        </p:nvSpPr>
        <p:spPr>
          <a:xfrm rot="10800000">
            <a:off x="8181471" y="60842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 name="椭圆 73"/>
          <p:cNvSpPr/>
          <p:nvPr userDrawn="1"/>
        </p:nvSpPr>
        <p:spPr>
          <a:xfrm rot="10800000">
            <a:off x="11896909" y="940207"/>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 name="椭圆 74"/>
          <p:cNvSpPr/>
          <p:nvPr userDrawn="1"/>
        </p:nvSpPr>
        <p:spPr>
          <a:xfrm rot="10800000">
            <a:off x="5532361" y="6635"/>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6" name="椭圆 75"/>
          <p:cNvSpPr/>
          <p:nvPr userDrawn="1"/>
        </p:nvSpPr>
        <p:spPr>
          <a:xfrm rot="10800000">
            <a:off x="10870874" y="1475277"/>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7" name="椭圆 76"/>
          <p:cNvSpPr/>
          <p:nvPr userDrawn="1"/>
        </p:nvSpPr>
        <p:spPr>
          <a:xfrm rot="10800000">
            <a:off x="9023913" y="168618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8" name="弧形 77"/>
          <p:cNvSpPr/>
          <p:nvPr userDrawn="1"/>
        </p:nvSpPr>
        <p:spPr>
          <a:xfrm rot="10800000">
            <a:off x="4835370" y="-1925823"/>
            <a:ext cx="6578748" cy="3132732"/>
          </a:xfrm>
          <a:prstGeom prst="arc">
            <a:avLst>
              <a:gd name="adj1" fmla="val 11204256"/>
              <a:gd name="adj2" fmla="val 2118665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9" name="同心圆 78"/>
          <p:cNvSpPr/>
          <p:nvPr userDrawn="1"/>
        </p:nvSpPr>
        <p:spPr>
          <a:xfrm rot="10800000">
            <a:off x="10345614" y="1141765"/>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0" name="同心圆 79"/>
          <p:cNvSpPr/>
          <p:nvPr userDrawn="1"/>
        </p:nvSpPr>
        <p:spPr>
          <a:xfrm rot="10800000">
            <a:off x="8383797" y="1133800"/>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1" name="同心圆 80"/>
          <p:cNvSpPr/>
          <p:nvPr userDrawn="1"/>
        </p:nvSpPr>
        <p:spPr>
          <a:xfrm rot="10800000">
            <a:off x="7380381" y="1028920"/>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2" name="同心圆 81"/>
          <p:cNvSpPr/>
          <p:nvPr userDrawn="1"/>
        </p:nvSpPr>
        <p:spPr>
          <a:xfrm rot="10800000">
            <a:off x="6502387" y="873527"/>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3" name="椭圆 82"/>
          <p:cNvSpPr/>
          <p:nvPr userDrawn="1"/>
        </p:nvSpPr>
        <p:spPr>
          <a:xfrm rot="10800000">
            <a:off x="11267231" y="889604"/>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 name="椭圆 83"/>
          <p:cNvSpPr/>
          <p:nvPr userDrawn="1"/>
        </p:nvSpPr>
        <p:spPr>
          <a:xfrm rot="10800000">
            <a:off x="10348004" y="176510"/>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5" name="椭圆 84"/>
          <p:cNvSpPr/>
          <p:nvPr userDrawn="1"/>
        </p:nvSpPr>
        <p:spPr>
          <a:xfrm rot="10800000">
            <a:off x="6915519" y="199188"/>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 name="椭圆 85"/>
          <p:cNvSpPr/>
          <p:nvPr userDrawn="1"/>
        </p:nvSpPr>
        <p:spPr>
          <a:xfrm rot="10800000">
            <a:off x="5856902" y="921669"/>
            <a:ext cx="110471" cy="100248"/>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 name="同心圆 86"/>
          <p:cNvSpPr/>
          <p:nvPr userDrawn="1"/>
        </p:nvSpPr>
        <p:spPr>
          <a:xfrm rot="10800000">
            <a:off x="6589896" y="1075387"/>
            <a:ext cx="153109" cy="15094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8" name="弧形 87"/>
          <p:cNvSpPr/>
          <p:nvPr userDrawn="1"/>
        </p:nvSpPr>
        <p:spPr>
          <a:xfrm rot="10800000">
            <a:off x="3008051" y="-1685964"/>
            <a:ext cx="8506022" cy="3132732"/>
          </a:xfrm>
          <a:prstGeom prst="arc">
            <a:avLst>
              <a:gd name="adj1" fmla="val 11204256"/>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89" name="弧形 88"/>
          <p:cNvSpPr/>
          <p:nvPr userDrawn="1"/>
        </p:nvSpPr>
        <p:spPr>
          <a:xfrm rot="10800000">
            <a:off x="1997806" y="-1704415"/>
            <a:ext cx="8506022" cy="3495228"/>
          </a:xfrm>
          <a:prstGeom prst="arc">
            <a:avLst>
              <a:gd name="adj1" fmla="val 11204256"/>
              <a:gd name="adj2" fmla="val 3585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0" name="弧形 89"/>
          <p:cNvSpPr/>
          <p:nvPr userDrawn="1"/>
        </p:nvSpPr>
        <p:spPr>
          <a:xfrm rot="9869223">
            <a:off x="453150" y="-1642239"/>
            <a:ext cx="5188070" cy="3043615"/>
          </a:xfrm>
          <a:prstGeom prst="arc">
            <a:avLst>
              <a:gd name="adj1" fmla="val 11936525"/>
              <a:gd name="adj2" fmla="val 779036"/>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1" name="弧形 90"/>
          <p:cNvSpPr/>
          <p:nvPr userDrawn="1"/>
        </p:nvSpPr>
        <p:spPr>
          <a:xfrm rot="10800000">
            <a:off x="196057" y="-1705670"/>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2" name="弧形 91"/>
          <p:cNvSpPr/>
          <p:nvPr userDrawn="1"/>
        </p:nvSpPr>
        <p:spPr>
          <a:xfrm rot="10800000">
            <a:off x="1267293" y="-1648522"/>
            <a:ext cx="4927086" cy="3327946"/>
          </a:xfrm>
          <a:prstGeom prst="arc">
            <a:avLst>
              <a:gd name="adj1" fmla="val 1077791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3" name="弧形 92"/>
          <p:cNvSpPr/>
          <p:nvPr userDrawn="1"/>
        </p:nvSpPr>
        <p:spPr>
          <a:xfrm rot="10800000">
            <a:off x="1617080" y="-1668393"/>
            <a:ext cx="7297959" cy="3090723"/>
          </a:xfrm>
          <a:prstGeom prst="arc">
            <a:avLst>
              <a:gd name="adj1" fmla="val 11165493"/>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4" name="弧形 93"/>
          <p:cNvSpPr/>
          <p:nvPr userDrawn="1"/>
        </p:nvSpPr>
        <p:spPr>
          <a:xfrm rot="10800000">
            <a:off x="606835" y="-1686844"/>
            <a:ext cx="7297959" cy="3448358"/>
          </a:xfrm>
          <a:prstGeom prst="arc">
            <a:avLst>
              <a:gd name="adj1" fmla="val 10981041"/>
              <a:gd name="adj2" fmla="val 3585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5" name="弧形 94"/>
          <p:cNvSpPr/>
          <p:nvPr userDrawn="1"/>
        </p:nvSpPr>
        <p:spPr>
          <a:xfrm rot="10800000">
            <a:off x="2711185" y="-1626823"/>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96" name="直接连接符 95"/>
          <p:cNvCxnSpPr/>
          <p:nvPr userDrawn="1"/>
        </p:nvCxnSpPr>
        <p:spPr>
          <a:xfrm>
            <a:off x="460650" y="311134"/>
            <a:ext cx="1916869" cy="8508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a:endCxn id="112" idx="4"/>
          </p:cNvCxnSpPr>
          <p:nvPr userDrawn="1"/>
        </p:nvCxnSpPr>
        <p:spPr>
          <a:xfrm flipV="1">
            <a:off x="-16592" y="24995"/>
            <a:ext cx="1766656" cy="151473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userDrawn="1"/>
        </p:nvCxnSpPr>
        <p:spPr>
          <a:xfrm>
            <a:off x="3331835" y="315370"/>
            <a:ext cx="1304703" cy="84663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userDrawn="1"/>
        </p:nvCxnSpPr>
        <p:spPr>
          <a:xfrm flipV="1">
            <a:off x="1382233" y="19316"/>
            <a:ext cx="2538216" cy="118909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userDrawn="1"/>
        </p:nvCxnSpPr>
        <p:spPr>
          <a:xfrm>
            <a:off x="4526712" y="51233"/>
            <a:ext cx="1337685" cy="119797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userDrawn="1"/>
        </p:nvCxnSpPr>
        <p:spPr>
          <a:xfrm flipH="1">
            <a:off x="4862179" y="431029"/>
            <a:ext cx="103899" cy="73097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2" name="同心圆 101"/>
          <p:cNvSpPr/>
          <p:nvPr userDrawn="1"/>
        </p:nvSpPr>
        <p:spPr>
          <a:xfrm>
            <a:off x="6492225" y="508732"/>
            <a:ext cx="146474" cy="1397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同心圆 102"/>
          <p:cNvSpPr/>
          <p:nvPr userDrawn="1"/>
        </p:nvSpPr>
        <p:spPr>
          <a:xfrm>
            <a:off x="391272" y="214444"/>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4" name="同心圆 103"/>
          <p:cNvSpPr/>
          <p:nvPr userDrawn="1"/>
        </p:nvSpPr>
        <p:spPr>
          <a:xfrm>
            <a:off x="1999696" y="964755"/>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5" name="同心圆 104"/>
          <p:cNvSpPr/>
          <p:nvPr userDrawn="1"/>
        </p:nvSpPr>
        <p:spPr>
          <a:xfrm>
            <a:off x="5814227" y="1218940"/>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6" name="椭圆 105"/>
          <p:cNvSpPr/>
          <p:nvPr userDrawn="1"/>
        </p:nvSpPr>
        <p:spPr>
          <a:xfrm>
            <a:off x="7030778" y="1397133"/>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 name="椭圆 106"/>
          <p:cNvSpPr/>
          <p:nvPr userDrawn="1"/>
        </p:nvSpPr>
        <p:spPr>
          <a:xfrm>
            <a:off x="2300599" y="1104417"/>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 name="椭圆 107"/>
          <p:cNvSpPr/>
          <p:nvPr userDrawn="1"/>
        </p:nvSpPr>
        <p:spPr>
          <a:xfrm>
            <a:off x="2639049" y="490359"/>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9" name="椭圆 108"/>
          <p:cNvSpPr/>
          <p:nvPr userDrawn="1"/>
        </p:nvSpPr>
        <p:spPr>
          <a:xfrm>
            <a:off x="2931991" y="-11500"/>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0" name="椭圆 109"/>
          <p:cNvSpPr/>
          <p:nvPr userDrawn="1"/>
        </p:nvSpPr>
        <p:spPr>
          <a:xfrm>
            <a:off x="4440508" y="-2147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1" name="椭圆 110"/>
          <p:cNvSpPr/>
          <p:nvPr userDrawn="1"/>
        </p:nvSpPr>
        <p:spPr>
          <a:xfrm>
            <a:off x="3794933" y="-37984"/>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2" name="椭圆 111"/>
          <p:cNvSpPr/>
          <p:nvPr userDrawn="1"/>
        </p:nvSpPr>
        <p:spPr>
          <a:xfrm>
            <a:off x="1697222" y="-67827"/>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3" name="椭圆 112"/>
          <p:cNvSpPr/>
          <p:nvPr userDrawn="1"/>
        </p:nvSpPr>
        <p:spPr>
          <a:xfrm>
            <a:off x="1845985" y="468454"/>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4" name="椭圆 113"/>
          <p:cNvSpPr/>
          <p:nvPr userDrawn="1"/>
        </p:nvSpPr>
        <p:spPr>
          <a:xfrm>
            <a:off x="2169622" y="69245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5" name="椭圆 114"/>
          <p:cNvSpPr/>
          <p:nvPr userDrawn="1"/>
        </p:nvSpPr>
        <p:spPr>
          <a:xfrm>
            <a:off x="4872663" y="668025"/>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6" name="椭圆 115"/>
          <p:cNvSpPr/>
          <p:nvPr userDrawn="1"/>
        </p:nvSpPr>
        <p:spPr>
          <a:xfrm>
            <a:off x="5171342" y="95160"/>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7" name="椭圆 116"/>
          <p:cNvSpPr/>
          <p:nvPr userDrawn="1"/>
        </p:nvSpPr>
        <p:spPr>
          <a:xfrm>
            <a:off x="3801650" y="599635"/>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8" name="椭圆 117"/>
          <p:cNvSpPr/>
          <p:nvPr userDrawn="1"/>
        </p:nvSpPr>
        <p:spPr>
          <a:xfrm>
            <a:off x="3814765" y="123922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9" name="椭圆 118"/>
          <p:cNvSpPr/>
          <p:nvPr userDrawn="1"/>
        </p:nvSpPr>
        <p:spPr>
          <a:xfrm>
            <a:off x="3211922" y="1055672"/>
            <a:ext cx="109602" cy="9749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0" name="椭圆 119"/>
          <p:cNvSpPr/>
          <p:nvPr userDrawn="1"/>
        </p:nvSpPr>
        <p:spPr>
          <a:xfrm>
            <a:off x="1095841" y="829389"/>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1" name="椭圆 120"/>
          <p:cNvSpPr/>
          <p:nvPr userDrawn="1"/>
        </p:nvSpPr>
        <p:spPr>
          <a:xfrm>
            <a:off x="2663928" y="8524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2" name="椭圆 121"/>
          <p:cNvSpPr/>
          <p:nvPr userDrawn="1"/>
        </p:nvSpPr>
        <p:spPr>
          <a:xfrm>
            <a:off x="6363914" y="1122644"/>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3" name="椭圆 122"/>
          <p:cNvSpPr/>
          <p:nvPr userDrawn="1"/>
        </p:nvSpPr>
        <p:spPr>
          <a:xfrm>
            <a:off x="6715789" y="515044"/>
            <a:ext cx="105684" cy="928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4" name="椭圆 123"/>
          <p:cNvSpPr/>
          <p:nvPr userDrawn="1"/>
        </p:nvSpPr>
        <p:spPr>
          <a:xfrm>
            <a:off x="6137100" y="6124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5" name="同心圆 124"/>
          <p:cNvSpPr/>
          <p:nvPr userDrawn="1"/>
        </p:nvSpPr>
        <p:spPr>
          <a:xfrm>
            <a:off x="7014402" y="264301"/>
            <a:ext cx="122060" cy="124553"/>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26" name="同心圆 125"/>
          <p:cNvSpPr/>
          <p:nvPr userDrawn="1"/>
        </p:nvSpPr>
        <p:spPr>
          <a:xfrm>
            <a:off x="4829245" y="1138005"/>
            <a:ext cx="122060" cy="124553"/>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27" name="椭圆 126"/>
          <p:cNvSpPr/>
          <p:nvPr userDrawn="1"/>
        </p:nvSpPr>
        <p:spPr>
          <a:xfrm>
            <a:off x="800494" y="1090699"/>
            <a:ext cx="116101" cy="1278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28" name="直接连接符 127"/>
          <p:cNvCxnSpPr>
            <a:stCxn id="102" idx="5"/>
          </p:cNvCxnSpPr>
          <p:nvPr userDrawn="1"/>
        </p:nvCxnSpPr>
        <p:spPr>
          <a:xfrm>
            <a:off x="6617248" y="628032"/>
            <a:ext cx="458184" cy="81243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9" name="椭圆 128"/>
          <p:cNvSpPr/>
          <p:nvPr userDrawn="1"/>
        </p:nvSpPr>
        <p:spPr>
          <a:xfrm>
            <a:off x="5169123" y="136590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0" name="椭圆 129"/>
          <p:cNvSpPr/>
          <p:nvPr userDrawn="1"/>
        </p:nvSpPr>
        <p:spPr>
          <a:xfrm>
            <a:off x="2925946" y="133842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1" name="椭圆 130"/>
          <p:cNvSpPr/>
          <p:nvPr userDrawn="1"/>
        </p:nvSpPr>
        <p:spPr>
          <a:xfrm>
            <a:off x="1541050" y="1346272"/>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2" name="椭圆 131"/>
          <p:cNvSpPr/>
          <p:nvPr userDrawn="1"/>
        </p:nvSpPr>
        <p:spPr>
          <a:xfrm>
            <a:off x="6851265" y="1032086"/>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3" name="椭圆 132"/>
          <p:cNvSpPr/>
          <p:nvPr userDrawn="1"/>
        </p:nvSpPr>
        <p:spPr>
          <a:xfrm>
            <a:off x="4825922" y="-1085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 name="椭圆 133"/>
          <p:cNvSpPr/>
          <p:nvPr userDrawn="1"/>
        </p:nvSpPr>
        <p:spPr>
          <a:xfrm>
            <a:off x="5851220" y="331376"/>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 name="椭圆 134"/>
          <p:cNvSpPr/>
          <p:nvPr userDrawn="1"/>
        </p:nvSpPr>
        <p:spPr>
          <a:xfrm>
            <a:off x="2534467" y="33226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 name="椭圆 135"/>
          <p:cNvSpPr/>
          <p:nvPr userDrawn="1"/>
        </p:nvSpPr>
        <p:spPr>
          <a:xfrm>
            <a:off x="1357915" y="69940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 name="椭圆 136"/>
          <p:cNvSpPr/>
          <p:nvPr userDrawn="1"/>
        </p:nvSpPr>
        <p:spPr>
          <a:xfrm>
            <a:off x="3395882" y="-8229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 name="椭圆 137"/>
          <p:cNvSpPr/>
          <p:nvPr userDrawn="1"/>
        </p:nvSpPr>
        <p:spPr>
          <a:xfrm>
            <a:off x="3506470" y="853873"/>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 name="椭圆 138"/>
          <p:cNvSpPr/>
          <p:nvPr userDrawn="1"/>
        </p:nvSpPr>
        <p:spPr>
          <a:xfrm>
            <a:off x="-47961" y="54666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 name="椭圆 139"/>
          <p:cNvSpPr/>
          <p:nvPr userDrawn="1"/>
        </p:nvSpPr>
        <p:spPr>
          <a:xfrm>
            <a:off x="6040782" y="1411090"/>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 name="椭圆 140"/>
          <p:cNvSpPr/>
          <p:nvPr userDrawn="1"/>
        </p:nvSpPr>
        <p:spPr>
          <a:xfrm>
            <a:off x="933612" y="51233"/>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 name="椭圆 141"/>
          <p:cNvSpPr/>
          <p:nvPr userDrawn="1"/>
        </p:nvSpPr>
        <p:spPr>
          <a:xfrm>
            <a:off x="2700536" y="-14405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 name="同心圆 142"/>
          <p:cNvSpPr/>
          <p:nvPr userDrawn="1"/>
        </p:nvSpPr>
        <p:spPr>
          <a:xfrm>
            <a:off x="1309714" y="256926"/>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44" name="同心圆 143"/>
          <p:cNvSpPr/>
          <p:nvPr userDrawn="1"/>
        </p:nvSpPr>
        <p:spPr>
          <a:xfrm>
            <a:off x="3186517" y="264301"/>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45" name="同心圆 144"/>
          <p:cNvSpPr/>
          <p:nvPr userDrawn="1"/>
        </p:nvSpPr>
        <p:spPr>
          <a:xfrm>
            <a:off x="4146772" y="411338"/>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46" name="同心圆 145"/>
          <p:cNvSpPr/>
          <p:nvPr userDrawn="1"/>
        </p:nvSpPr>
        <p:spPr>
          <a:xfrm>
            <a:off x="4986397" y="505295"/>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47" name="椭圆 146"/>
          <p:cNvSpPr/>
          <p:nvPr userDrawn="1"/>
        </p:nvSpPr>
        <p:spPr>
          <a:xfrm>
            <a:off x="431456" y="479236"/>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 name="椭圆 147"/>
          <p:cNvSpPr/>
          <p:nvPr userDrawn="1"/>
        </p:nvSpPr>
        <p:spPr>
          <a:xfrm>
            <a:off x="1310848" y="1139509"/>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 name="椭圆 148"/>
          <p:cNvSpPr/>
          <p:nvPr userDrawn="1"/>
        </p:nvSpPr>
        <p:spPr>
          <a:xfrm>
            <a:off x="4594588" y="1118511"/>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 name="椭圆 149"/>
          <p:cNvSpPr/>
          <p:nvPr userDrawn="1"/>
        </p:nvSpPr>
        <p:spPr>
          <a:xfrm>
            <a:off x="5671362" y="514865"/>
            <a:ext cx="105684" cy="928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 name="同心圆 150"/>
          <p:cNvSpPr/>
          <p:nvPr userDrawn="1"/>
        </p:nvSpPr>
        <p:spPr>
          <a:xfrm>
            <a:off x="4929342" y="325588"/>
            <a:ext cx="146474" cy="1397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nvGrpSpPr>
          <p:cNvPr id="152" name="组合 151"/>
          <p:cNvGrpSpPr/>
          <p:nvPr userDrawn="1"/>
        </p:nvGrpSpPr>
        <p:grpSpPr>
          <a:xfrm>
            <a:off x="0" y="5921828"/>
            <a:ext cx="12192000" cy="1024160"/>
            <a:chOff x="0" y="5921828"/>
            <a:chExt cx="12192000" cy="1024160"/>
          </a:xfrm>
        </p:grpSpPr>
        <p:sp>
          <p:nvSpPr>
            <p:cNvPr id="299" name="同心圆 298"/>
            <p:cNvSpPr/>
            <p:nvPr/>
          </p:nvSpPr>
          <p:spPr>
            <a:xfrm>
              <a:off x="7478496" y="6761391"/>
              <a:ext cx="167489" cy="17975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00" name="同心圆 299"/>
            <p:cNvSpPr/>
            <p:nvPr/>
          </p:nvSpPr>
          <p:spPr>
            <a:xfrm>
              <a:off x="502249" y="6382902"/>
              <a:ext cx="197976" cy="18901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05" name="椭圆 304"/>
            <p:cNvSpPr/>
            <p:nvPr/>
          </p:nvSpPr>
          <p:spPr>
            <a:xfrm>
              <a:off x="3072509" y="6737761"/>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6" name="椭圆 305"/>
            <p:cNvSpPr/>
            <p:nvPr/>
          </p:nvSpPr>
          <p:spPr>
            <a:xfrm>
              <a:off x="3407479" y="6092309"/>
              <a:ext cx="194065" cy="20338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7" name="椭圆 306"/>
            <p:cNvSpPr/>
            <p:nvPr/>
          </p:nvSpPr>
          <p:spPr>
            <a:xfrm>
              <a:off x="5132421" y="6079477"/>
              <a:ext cx="194065" cy="20338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8" name="椭圆 307"/>
            <p:cNvSpPr/>
            <p:nvPr/>
          </p:nvSpPr>
          <p:spPr>
            <a:xfrm>
              <a:off x="4452934" y="6042175"/>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9" name="椭圆 308"/>
            <p:cNvSpPr/>
            <p:nvPr/>
          </p:nvSpPr>
          <p:spPr>
            <a:xfrm>
              <a:off x="1995560" y="6019866"/>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0" name="椭圆 309"/>
            <p:cNvSpPr/>
            <p:nvPr/>
          </p:nvSpPr>
          <p:spPr>
            <a:xfrm>
              <a:off x="2165667" y="6709588"/>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3" name="椭圆 312"/>
            <p:cNvSpPr/>
            <p:nvPr/>
          </p:nvSpPr>
          <p:spPr>
            <a:xfrm>
              <a:off x="5968109" y="6229488"/>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9" name="椭圆 318"/>
            <p:cNvSpPr/>
            <p:nvPr/>
          </p:nvSpPr>
          <p:spPr>
            <a:xfrm>
              <a:off x="3100959" y="6216739"/>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1" name="椭圆 320"/>
            <p:cNvSpPr/>
            <p:nvPr/>
          </p:nvSpPr>
          <p:spPr>
            <a:xfrm>
              <a:off x="7734134" y="6769508"/>
              <a:ext cx="120846" cy="11938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2" name="椭圆 321"/>
            <p:cNvSpPr/>
            <p:nvPr/>
          </p:nvSpPr>
          <p:spPr>
            <a:xfrm>
              <a:off x="7072422" y="6185871"/>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3" name="同心圆 322"/>
            <p:cNvSpPr/>
            <p:nvPr/>
          </p:nvSpPr>
          <p:spPr>
            <a:xfrm>
              <a:off x="8075589" y="6447023"/>
              <a:ext cx="139571" cy="16019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32" name="椭圆 331"/>
            <p:cNvSpPr/>
            <p:nvPr/>
          </p:nvSpPr>
          <p:spPr>
            <a:xfrm>
              <a:off x="5573131" y="6093139"/>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3" name="椭圆 332"/>
            <p:cNvSpPr/>
            <p:nvPr/>
          </p:nvSpPr>
          <p:spPr>
            <a:xfrm>
              <a:off x="6745527" y="6533289"/>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4" name="椭圆 333"/>
            <p:cNvSpPr/>
            <p:nvPr/>
          </p:nvSpPr>
          <p:spPr>
            <a:xfrm>
              <a:off x="2952926" y="653443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6" name="椭圆 335"/>
            <p:cNvSpPr/>
            <p:nvPr/>
          </p:nvSpPr>
          <p:spPr>
            <a:xfrm>
              <a:off x="3937926" y="6001255"/>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8" name="椭圆 337"/>
            <p:cNvSpPr/>
            <p:nvPr/>
          </p:nvSpPr>
          <p:spPr>
            <a:xfrm>
              <a:off x="0" y="681018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0" name="椭圆 339"/>
            <p:cNvSpPr/>
            <p:nvPr/>
          </p:nvSpPr>
          <p:spPr>
            <a:xfrm>
              <a:off x="1122397" y="617299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1" name="椭圆 340"/>
            <p:cNvSpPr/>
            <p:nvPr/>
          </p:nvSpPr>
          <p:spPr>
            <a:xfrm>
              <a:off x="3142818" y="5921828"/>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3" name="同心圆 342"/>
            <p:cNvSpPr/>
            <p:nvPr/>
          </p:nvSpPr>
          <p:spPr>
            <a:xfrm>
              <a:off x="1552458" y="6437538"/>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44" name="同心圆 343"/>
            <p:cNvSpPr/>
            <p:nvPr/>
          </p:nvSpPr>
          <p:spPr>
            <a:xfrm>
              <a:off x="3698523" y="6447023"/>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45" name="同心圆 344"/>
            <p:cNvSpPr/>
            <p:nvPr/>
          </p:nvSpPr>
          <p:spPr>
            <a:xfrm>
              <a:off x="4796176" y="6571920"/>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46" name="同心圆 345"/>
            <p:cNvSpPr/>
            <p:nvPr/>
          </p:nvSpPr>
          <p:spPr>
            <a:xfrm>
              <a:off x="5756628" y="6756970"/>
              <a:ext cx="197976" cy="18901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47" name="椭圆 346"/>
            <p:cNvSpPr/>
            <p:nvPr/>
          </p:nvSpPr>
          <p:spPr>
            <a:xfrm>
              <a:off x="548197" y="6723455"/>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0" name="椭圆 349"/>
            <p:cNvSpPr/>
            <p:nvPr/>
          </p:nvSpPr>
          <p:spPr>
            <a:xfrm>
              <a:off x="6539864" y="6769278"/>
              <a:ext cx="120846" cy="11938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1" name="同心圆 350"/>
            <p:cNvSpPr/>
            <p:nvPr/>
          </p:nvSpPr>
          <p:spPr>
            <a:xfrm>
              <a:off x="5691388" y="6525844"/>
              <a:ext cx="167489" cy="17975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69" name="同心圆 368"/>
            <p:cNvSpPr/>
            <p:nvPr/>
          </p:nvSpPr>
          <p:spPr>
            <a:xfrm rot="10800000">
              <a:off x="10690775" y="6662332"/>
              <a:ext cx="189397" cy="1750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70" name="同心圆 369"/>
            <p:cNvSpPr/>
            <p:nvPr/>
          </p:nvSpPr>
          <p:spPr>
            <a:xfrm rot="10800000">
              <a:off x="6517997" y="6359634"/>
              <a:ext cx="189397" cy="175017"/>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71" name="椭圆 370"/>
            <p:cNvSpPr/>
            <p:nvPr/>
          </p:nvSpPr>
          <p:spPr>
            <a:xfrm rot="10800000">
              <a:off x="5260979" y="6211913"/>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2" name="椭圆 371"/>
            <p:cNvSpPr/>
            <p:nvPr/>
          </p:nvSpPr>
          <p:spPr>
            <a:xfrm rot="10800000">
              <a:off x="10365355" y="6482710"/>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3" name="椭圆 382"/>
            <p:cNvSpPr/>
            <p:nvPr/>
          </p:nvSpPr>
          <p:spPr>
            <a:xfrm rot="10800000">
              <a:off x="8779029" y="6399954"/>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4" name="椭圆 383"/>
            <p:cNvSpPr/>
            <p:nvPr/>
          </p:nvSpPr>
          <p:spPr>
            <a:xfrm rot="10800000">
              <a:off x="9434203" y="6612984"/>
              <a:ext cx="119895" cy="116096"/>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7" name="椭圆 386"/>
            <p:cNvSpPr/>
            <p:nvPr/>
          </p:nvSpPr>
          <p:spPr>
            <a:xfrm rot="10800000">
              <a:off x="5990473" y="6538789"/>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1" name="同心圆 390"/>
            <p:cNvSpPr/>
            <p:nvPr/>
          </p:nvSpPr>
          <p:spPr>
            <a:xfrm rot="10800000">
              <a:off x="7651358" y="6482710"/>
              <a:ext cx="133523" cy="148324"/>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92" name="椭圆 391"/>
            <p:cNvSpPr/>
            <p:nvPr/>
          </p:nvSpPr>
          <p:spPr>
            <a:xfrm rot="10800000">
              <a:off x="12064995" y="6535080"/>
              <a:ext cx="127005" cy="1522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4" name="椭圆 393"/>
            <p:cNvSpPr/>
            <p:nvPr/>
          </p:nvSpPr>
          <p:spPr>
            <a:xfrm rot="10800000">
              <a:off x="7227429" y="6171312"/>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5" name="椭圆 394"/>
            <p:cNvSpPr/>
            <p:nvPr/>
          </p:nvSpPr>
          <p:spPr>
            <a:xfrm rot="10800000">
              <a:off x="9681277" y="6204037"/>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6" name="椭圆 395"/>
            <p:cNvSpPr/>
            <p:nvPr/>
          </p:nvSpPr>
          <p:spPr>
            <a:xfrm rot="10800000">
              <a:off x="11196238" y="6194696"/>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7" name="椭圆 396"/>
            <p:cNvSpPr/>
            <p:nvPr/>
          </p:nvSpPr>
          <p:spPr>
            <a:xfrm rot="10800000">
              <a:off x="5521830" y="6704945"/>
              <a:ext cx="51131" cy="522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5" name="椭圆 404"/>
            <p:cNvSpPr/>
            <p:nvPr/>
          </p:nvSpPr>
          <p:spPr>
            <a:xfrm rot="10800000">
              <a:off x="6408430" y="6253607"/>
              <a:ext cx="51131" cy="522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3" name="椭圆 412"/>
            <p:cNvSpPr/>
            <p:nvPr/>
          </p:nvSpPr>
          <p:spPr>
            <a:xfrm rot="10800000">
              <a:off x="11448059" y="6440920"/>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4" name="椭圆 413"/>
            <p:cNvSpPr/>
            <p:nvPr/>
          </p:nvSpPr>
          <p:spPr>
            <a:xfrm rot="10800000">
              <a:off x="7855923" y="6465925"/>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236" name="组合 235"/>
          <p:cNvGrpSpPr/>
          <p:nvPr userDrawn="1"/>
        </p:nvGrpSpPr>
        <p:grpSpPr>
          <a:xfrm>
            <a:off x="0" y="-187198"/>
            <a:ext cx="1307732" cy="1733935"/>
            <a:chOff x="0" y="-187198"/>
            <a:chExt cx="1307732" cy="1733935"/>
          </a:xfrm>
        </p:grpSpPr>
        <p:sp>
          <p:nvSpPr>
            <p:cNvPr id="22" name="同心圆 21"/>
            <p:cNvSpPr/>
            <p:nvPr/>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3" name="椭圆 22"/>
            <p:cNvSpPr/>
            <p:nvPr/>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10" name="直接连接符 109"/>
            <p:cNvCxnSpPr>
              <a:stCxn id="23" idx="5"/>
            </p:cNvCxnSpPr>
            <p:nvPr/>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3" name="椭圆 112"/>
            <p:cNvSpPr/>
            <p:nvPr/>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4" name="椭圆 113"/>
            <p:cNvSpPr/>
            <p:nvPr/>
          </p:nvSpPr>
          <p:spPr>
            <a:xfrm>
              <a:off x="178191" y="137732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15" name="直接连接符 114"/>
            <p:cNvCxnSpPr>
              <a:endCxn id="114" idx="0"/>
            </p:cNvCxnSpPr>
            <p:nvPr/>
          </p:nvCxnSpPr>
          <p:spPr>
            <a:xfrm flipH="1">
              <a:off x="259624" y="553171"/>
              <a:ext cx="289776" cy="8241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13" idx="3"/>
            </p:cNvCxnSpPr>
            <p:nvPr/>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5" name="椭圆 124"/>
            <p:cNvSpPr/>
            <p:nvPr/>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26" name="直接连接符 125"/>
            <p:cNvCxnSpPr>
              <a:stCxn id="113" idx="5"/>
            </p:cNvCxnSpPr>
            <p:nvPr/>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9" name="同心圆 128"/>
            <p:cNvSpPr/>
            <p:nvPr/>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cxnSp>
          <p:nvCxnSpPr>
            <p:cNvPr id="130" name="直接连接符 129"/>
            <p:cNvCxnSpPr/>
            <p:nvPr/>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2" name="椭圆 131"/>
            <p:cNvSpPr/>
            <p:nvPr/>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34" name="直接连接符 133"/>
            <p:cNvCxnSpPr>
              <a:stCxn id="132" idx="3"/>
            </p:cNvCxnSpPr>
            <p:nvPr/>
          </p:nvCxnSpPr>
          <p:spPr>
            <a:xfrm flipH="1">
              <a:off x="916537" y="477151"/>
              <a:ext cx="92757" cy="7531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8" name="椭圆 137"/>
            <p:cNvSpPr/>
            <p:nvPr/>
          </p:nvSpPr>
          <p:spPr>
            <a:xfrm>
              <a:off x="865753" y="1205131"/>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40" name="直接连接符 139"/>
            <p:cNvCxnSpPr/>
            <p:nvPr/>
          </p:nvCxnSpPr>
          <p:spPr>
            <a:xfrm flipH="1">
              <a:off x="578958" y="461826"/>
              <a:ext cx="419902" cy="3862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3" name="椭圆 142"/>
            <p:cNvSpPr/>
            <p:nvPr/>
          </p:nvSpPr>
          <p:spPr>
            <a:xfrm>
              <a:off x="482997" y="820653"/>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7" name="椭圆 206"/>
            <p:cNvSpPr/>
            <p:nvPr/>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8" name="椭圆 207"/>
            <p:cNvSpPr/>
            <p:nvPr/>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9" name="同心圆 208"/>
            <p:cNvSpPr/>
            <p:nvPr/>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10" name="同心圆 209"/>
            <p:cNvSpPr/>
            <p:nvPr/>
          </p:nvSpPr>
          <p:spPr>
            <a:xfrm>
              <a:off x="407318" y="1122761"/>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11" name="同心圆 210"/>
            <p:cNvSpPr/>
            <p:nvPr/>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cxnSp>
          <p:nvCxnSpPr>
            <p:cNvPr id="222" name="直接连接符 221"/>
            <p:cNvCxnSpPr>
              <a:stCxn id="209" idx="4"/>
              <a:endCxn id="208" idx="1"/>
            </p:cNvCxnSpPr>
            <p:nvPr/>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a:endCxn id="22" idx="6"/>
            </p:cNvCxnSpPr>
            <p:nvPr/>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1062435" y="-60434"/>
              <a:ext cx="245297" cy="43436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a:endCxn id="209" idx="0"/>
            </p:cNvCxnSpPr>
            <p:nvPr/>
          </p:nvCxnSpPr>
          <p:spPr>
            <a:xfrm>
              <a:off x="403479" y="-187198"/>
              <a:ext cx="118839" cy="3236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a:endCxn id="23" idx="1"/>
            </p:cNvCxnSpPr>
            <p:nvPr/>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1" name="弧形 40"/>
          <p:cNvSpPr/>
          <p:nvPr userDrawn="1"/>
        </p:nvSpPr>
        <p:spPr>
          <a:xfrm rot="558798">
            <a:off x="3672565" y="1011395"/>
            <a:ext cx="7590690" cy="5671237"/>
          </a:xfrm>
          <a:prstGeom prst="arc">
            <a:avLst>
              <a:gd name="adj1" fmla="val 14287010"/>
              <a:gd name="adj2" fmla="val 558308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 name="弧形 11"/>
          <p:cNvSpPr/>
          <p:nvPr userDrawn="1"/>
        </p:nvSpPr>
        <p:spPr>
          <a:xfrm rot="558798">
            <a:off x="3412680" y="1604745"/>
            <a:ext cx="7885748" cy="5260588"/>
          </a:xfrm>
          <a:prstGeom prst="arc">
            <a:avLst>
              <a:gd name="adj1" fmla="val 14287010"/>
              <a:gd name="adj2" fmla="val 287274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8" name="弧形 7"/>
          <p:cNvSpPr/>
          <p:nvPr userDrawn="1"/>
        </p:nvSpPr>
        <p:spPr>
          <a:xfrm>
            <a:off x="3683000" y="810922"/>
            <a:ext cx="6426200" cy="7164677"/>
          </a:xfrm>
          <a:prstGeom prst="arc">
            <a:avLst>
              <a:gd name="adj1" fmla="val 16921666"/>
              <a:gd name="adj2" fmla="val 282475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45" name="弧形 44"/>
          <p:cNvSpPr/>
          <p:nvPr userDrawn="1"/>
        </p:nvSpPr>
        <p:spPr>
          <a:xfrm>
            <a:off x="3326530" y="1362427"/>
            <a:ext cx="6998570" cy="5594309"/>
          </a:xfrm>
          <a:prstGeom prst="arc">
            <a:avLst>
              <a:gd name="adj1" fmla="val 16904781"/>
              <a:gd name="adj2" fmla="val 3894020"/>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9" name="弧形 98"/>
          <p:cNvSpPr/>
          <p:nvPr userDrawn="1"/>
        </p:nvSpPr>
        <p:spPr>
          <a:xfrm>
            <a:off x="4095365" y="644886"/>
            <a:ext cx="6251437" cy="5745214"/>
          </a:xfrm>
          <a:prstGeom prst="arc">
            <a:avLst>
              <a:gd name="adj1" fmla="val 16577328"/>
              <a:gd name="adj2" fmla="val 519569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 name="弧形 8"/>
          <p:cNvSpPr/>
          <p:nvPr userDrawn="1"/>
        </p:nvSpPr>
        <p:spPr>
          <a:xfrm>
            <a:off x="4153770" y="1562411"/>
            <a:ext cx="6426200" cy="6007099"/>
          </a:xfrm>
          <a:prstGeom prst="arc">
            <a:avLst>
              <a:gd name="adj1" fmla="val 16921666"/>
              <a:gd name="adj2" fmla="val 2917494"/>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 name="弧形 9"/>
          <p:cNvSpPr/>
          <p:nvPr userDrawn="1"/>
        </p:nvSpPr>
        <p:spPr>
          <a:xfrm>
            <a:off x="3918385" y="836322"/>
            <a:ext cx="6426200" cy="7164677"/>
          </a:xfrm>
          <a:prstGeom prst="arc">
            <a:avLst>
              <a:gd name="adj1" fmla="val 18114793"/>
              <a:gd name="adj2" fmla="val 282475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1" name="弧形 10"/>
          <p:cNvSpPr/>
          <p:nvPr userDrawn="1"/>
        </p:nvSpPr>
        <p:spPr>
          <a:xfrm>
            <a:off x="4376455" y="1993900"/>
            <a:ext cx="6426200" cy="5004247"/>
          </a:xfrm>
          <a:prstGeom prst="arc">
            <a:avLst>
              <a:gd name="adj1" fmla="val 16098721"/>
              <a:gd name="adj2" fmla="val 3561325"/>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3" name="弧形 12"/>
          <p:cNvSpPr/>
          <p:nvPr userDrawn="1"/>
        </p:nvSpPr>
        <p:spPr>
          <a:xfrm>
            <a:off x="4376455" y="1255679"/>
            <a:ext cx="6426200" cy="5908998"/>
          </a:xfrm>
          <a:prstGeom prst="arc">
            <a:avLst>
              <a:gd name="adj1" fmla="val 16577328"/>
              <a:gd name="adj2" fmla="val 258167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52" name="弧形 51"/>
          <p:cNvSpPr/>
          <p:nvPr userDrawn="1"/>
        </p:nvSpPr>
        <p:spPr>
          <a:xfrm>
            <a:off x="3869259" y="1729370"/>
            <a:ext cx="6055219" cy="4319100"/>
          </a:xfrm>
          <a:prstGeom prst="arc">
            <a:avLst>
              <a:gd name="adj1" fmla="val 16577328"/>
              <a:gd name="adj2" fmla="val 307197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9" name="弧形 28"/>
          <p:cNvSpPr/>
          <p:nvPr userDrawn="1"/>
        </p:nvSpPr>
        <p:spPr>
          <a:xfrm>
            <a:off x="1206500" y="355881"/>
            <a:ext cx="10423323" cy="6362419"/>
          </a:xfrm>
          <a:prstGeom prst="arc">
            <a:avLst>
              <a:gd name="adj1" fmla="val 16064175"/>
              <a:gd name="adj2" fmla="val 495466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9" name="弧形 68"/>
          <p:cNvSpPr/>
          <p:nvPr userDrawn="1"/>
        </p:nvSpPr>
        <p:spPr>
          <a:xfrm>
            <a:off x="2374457" y="1030416"/>
            <a:ext cx="6426200" cy="5585898"/>
          </a:xfrm>
          <a:prstGeom prst="arc">
            <a:avLst>
              <a:gd name="adj1" fmla="val 16953004"/>
              <a:gd name="adj2" fmla="val 3533047"/>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0" name="弧形 69"/>
          <p:cNvSpPr/>
          <p:nvPr userDrawn="1"/>
        </p:nvSpPr>
        <p:spPr>
          <a:xfrm>
            <a:off x="1893707" y="1944457"/>
            <a:ext cx="7008622" cy="4645627"/>
          </a:xfrm>
          <a:prstGeom prst="arc">
            <a:avLst>
              <a:gd name="adj1" fmla="val 16577328"/>
              <a:gd name="adj2" fmla="val 307197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7" name="弧形 146"/>
          <p:cNvSpPr/>
          <p:nvPr userDrawn="1"/>
        </p:nvSpPr>
        <p:spPr>
          <a:xfrm rot="3143922">
            <a:off x="3372114" y="-313091"/>
            <a:ext cx="7581465" cy="8403771"/>
          </a:xfrm>
          <a:prstGeom prst="arc">
            <a:avLst>
              <a:gd name="adj1" fmla="val 14614116"/>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235" name="组合 234"/>
          <p:cNvGrpSpPr/>
          <p:nvPr userDrawn="1"/>
        </p:nvGrpSpPr>
        <p:grpSpPr>
          <a:xfrm>
            <a:off x="2545440" y="-1106457"/>
            <a:ext cx="9580914" cy="8284758"/>
            <a:chOff x="2545440" y="-1106457"/>
            <a:chExt cx="9580914" cy="8284758"/>
          </a:xfrm>
        </p:grpSpPr>
        <p:sp>
          <p:nvSpPr>
            <p:cNvPr id="14" name="弧形 13"/>
            <p:cNvSpPr/>
            <p:nvPr/>
          </p:nvSpPr>
          <p:spPr>
            <a:xfrm>
              <a:off x="4908114" y="987936"/>
              <a:ext cx="6426200" cy="5492242"/>
            </a:xfrm>
            <a:prstGeom prst="arc">
              <a:avLst>
                <a:gd name="adj1" fmla="val 16577328"/>
                <a:gd name="adj2" fmla="val 6691245"/>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13" name="弧形 212"/>
            <p:cNvSpPr/>
            <p:nvPr/>
          </p:nvSpPr>
          <p:spPr>
            <a:xfrm rot="3529314">
              <a:off x="3663168" y="-974312"/>
              <a:ext cx="7996456" cy="8308770"/>
            </a:xfrm>
            <a:prstGeom prst="arc">
              <a:avLst>
                <a:gd name="adj1" fmla="val 15039599"/>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15" name="弧形 214"/>
            <p:cNvSpPr/>
            <p:nvPr/>
          </p:nvSpPr>
          <p:spPr>
            <a:xfrm rot="2317648">
              <a:off x="3184124" y="762409"/>
              <a:ext cx="6426200" cy="5585898"/>
            </a:xfrm>
            <a:prstGeom prst="arc">
              <a:avLst>
                <a:gd name="adj1" fmla="val 14395450"/>
                <a:gd name="adj2" fmla="val 3533047"/>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233" name="组合 232"/>
            <p:cNvGrpSpPr/>
            <p:nvPr/>
          </p:nvGrpSpPr>
          <p:grpSpPr>
            <a:xfrm>
              <a:off x="2545440" y="-1106457"/>
              <a:ext cx="9580914" cy="8016380"/>
              <a:chOff x="2545440" y="-1106457"/>
              <a:chExt cx="9580914" cy="8016380"/>
            </a:xfrm>
          </p:grpSpPr>
          <p:sp>
            <p:nvSpPr>
              <p:cNvPr id="214" name="弧形 213"/>
              <p:cNvSpPr/>
              <p:nvPr/>
            </p:nvSpPr>
            <p:spPr>
              <a:xfrm rot="4850840">
                <a:off x="3337669" y="-1898686"/>
                <a:ext cx="7996456" cy="9580914"/>
              </a:xfrm>
              <a:prstGeom prst="arc">
                <a:avLst>
                  <a:gd name="adj1" fmla="val 14371226"/>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232" name="组合 231"/>
              <p:cNvGrpSpPr/>
              <p:nvPr/>
            </p:nvGrpSpPr>
            <p:grpSpPr>
              <a:xfrm>
                <a:off x="5488329" y="129986"/>
                <a:ext cx="6213010" cy="6779937"/>
                <a:chOff x="5488329" y="129986"/>
                <a:chExt cx="6213010" cy="6779937"/>
              </a:xfrm>
            </p:grpSpPr>
            <p:cxnSp>
              <p:nvCxnSpPr>
                <p:cNvPr id="219" name="直接连接符 218"/>
                <p:cNvCxnSpPr>
                  <a:stCxn id="60" idx="3"/>
                  <a:endCxn id="216" idx="7"/>
                </p:cNvCxnSpPr>
                <p:nvPr/>
              </p:nvCxnSpPr>
              <p:spPr>
                <a:xfrm flipH="1">
                  <a:off x="6063315" y="3532442"/>
                  <a:ext cx="2167276" cy="28153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7581464" y="872296"/>
                  <a:ext cx="81680" cy="7966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cxnSp>
              <p:nvCxnSpPr>
                <p:cNvPr id="56" name="直接连接符 55"/>
                <p:cNvCxnSpPr>
                  <a:stCxn id="30" idx="7"/>
                  <a:endCxn id="60" idx="3"/>
                </p:cNvCxnSpPr>
                <p:nvPr/>
              </p:nvCxnSpPr>
              <p:spPr>
                <a:xfrm flipV="1">
                  <a:off x="7114116" y="3532442"/>
                  <a:ext cx="1116475" cy="27548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47" idx="5"/>
                  <a:endCxn id="60" idx="1"/>
                </p:cNvCxnSpPr>
                <p:nvPr/>
              </p:nvCxnSpPr>
              <p:spPr>
                <a:xfrm>
                  <a:off x="7388842" y="1462032"/>
                  <a:ext cx="841749" cy="19685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8327768" y="94111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椭圆 17"/>
                <p:cNvSpPr/>
                <p:nvPr/>
              </p:nvSpPr>
              <p:spPr>
                <a:xfrm>
                  <a:off x="8892918" y="138976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同心圆 18"/>
                <p:cNvSpPr/>
                <p:nvPr/>
              </p:nvSpPr>
              <p:spPr>
                <a:xfrm>
                  <a:off x="7812057" y="1230279"/>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0" name="椭圆 19"/>
                <p:cNvSpPr/>
                <p:nvPr/>
              </p:nvSpPr>
              <p:spPr>
                <a:xfrm>
                  <a:off x="7971023" y="1599782"/>
                  <a:ext cx="54000" cy="5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同心圆 20"/>
                <p:cNvSpPr/>
                <p:nvPr/>
              </p:nvSpPr>
              <p:spPr>
                <a:xfrm>
                  <a:off x="7445553" y="1947052"/>
                  <a:ext cx="82549" cy="91298"/>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0" name="椭圆 29"/>
                <p:cNvSpPr/>
                <p:nvPr/>
              </p:nvSpPr>
              <p:spPr>
                <a:xfrm>
                  <a:off x="7012884" y="6269637"/>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 name="椭圆 31"/>
                <p:cNvSpPr/>
                <p:nvPr/>
              </p:nvSpPr>
              <p:spPr>
                <a:xfrm>
                  <a:off x="8933160" y="6751955"/>
                  <a:ext cx="54000" cy="54000"/>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5" name="直接连接符 24"/>
                <p:cNvCxnSpPr/>
                <p:nvPr/>
              </p:nvCxnSpPr>
              <p:spPr>
                <a:xfrm>
                  <a:off x="5529605" y="229178"/>
                  <a:ext cx="426694" cy="418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5488329" y="181419"/>
                  <a:ext cx="57151" cy="63079"/>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5" name="直接连接符 34"/>
                <p:cNvCxnSpPr>
                  <a:stCxn id="28" idx="7"/>
                  <a:endCxn id="36" idx="3"/>
                </p:cNvCxnSpPr>
                <p:nvPr/>
              </p:nvCxnSpPr>
              <p:spPr>
                <a:xfrm flipV="1">
                  <a:off x="5998231" y="375935"/>
                  <a:ext cx="247151" cy="2329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同心圆 35"/>
                <p:cNvSpPr/>
                <p:nvPr/>
              </p:nvSpPr>
              <p:spPr>
                <a:xfrm>
                  <a:off x="6236215" y="323293"/>
                  <a:ext cx="62599" cy="61674"/>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cxnSp>
              <p:nvCxnSpPr>
                <p:cNvPr id="37" name="直接连接符 36"/>
                <p:cNvCxnSpPr/>
                <p:nvPr/>
              </p:nvCxnSpPr>
              <p:spPr>
                <a:xfrm>
                  <a:off x="5998231" y="668607"/>
                  <a:ext cx="593504" cy="1932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5896999" y="59127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 name="椭圆 41"/>
                <p:cNvSpPr/>
                <p:nvPr/>
              </p:nvSpPr>
              <p:spPr>
                <a:xfrm>
                  <a:off x="6581308" y="836885"/>
                  <a:ext cx="54000" cy="5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 name="同心圆 43"/>
                <p:cNvSpPr/>
                <p:nvPr/>
              </p:nvSpPr>
              <p:spPr>
                <a:xfrm>
                  <a:off x="6121806" y="1014382"/>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7" name="椭圆 46"/>
                <p:cNvSpPr/>
                <p:nvPr/>
              </p:nvSpPr>
              <p:spPr>
                <a:xfrm>
                  <a:off x="7287610" y="135921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49" name="直接连接符 48"/>
                <p:cNvCxnSpPr>
                  <a:stCxn id="28" idx="5"/>
                  <a:endCxn id="44" idx="0"/>
                </p:cNvCxnSpPr>
                <p:nvPr/>
              </p:nvCxnSpPr>
              <p:spPr>
                <a:xfrm>
                  <a:off x="5998231" y="694092"/>
                  <a:ext cx="175150" cy="3202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同心圆 50"/>
                <p:cNvSpPr/>
                <p:nvPr/>
              </p:nvSpPr>
              <p:spPr>
                <a:xfrm>
                  <a:off x="7954214" y="6769523"/>
                  <a:ext cx="139193" cy="140400"/>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3" name="椭圆 52"/>
                <p:cNvSpPr/>
                <p:nvPr/>
              </p:nvSpPr>
              <p:spPr>
                <a:xfrm>
                  <a:off x="7091234" y="1711609"/>
                  <a:ext cx="59301" cy="70416"/>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 name="椭圆 53"/>
                <p:cNvSpPr/>
                <p:nvPr/>
              </p:nvSpPr>
              <p:spPr>
                <a:xfrm>
                  <a:off x="8387068" y="5696403"/>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 name="椭圆 59"/>
                <p:cNvSpPr/>
                <p:nvPr/>
              </p:nvSpPr>
              <p:spPr>
                <a:xfrm>
                  <a:off x="8209667" y="3409530"/>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 name="椭圆 70"/>
                <p:cNvSpPr/>
                <p:nvPr/>
              </p:nvSpPr>
              <p:spPr>
                <a:xfrm>
                  <a:off x="8618095" y="2992948"/>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 name="椭圆 73"/>
                <p:cNvSpPr/>
                <p:nvPr/>
              </p:nvSpPr>
              <p:spPr>
                <a:xfrm>
                  <a:off x="8668886" y="2091556"/>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7" name="椭圆 76"/>
                <p:cNvSpPr/>
                <p:nvPr/>
              </p:nvSpPr>
              <p:spPr>
                <a:xfrm>
                  <a:off x="9541264" y="2492522"/>
                  <a:ext cx="64471" cy="63353"/>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8" name="椭圆 77"/>
                <p:cNvSpPr/>
                <p:nvPr/>
              </p:nvSpPr>
              <p:spPr>
                <a:xfrm>
                  <a:off x="9725915" y="2732072"/>
                  <a:ext cx="64471" cy="63353"/>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 name="椭圆 80"/>
                <p:cNvSpPr/>
                <p:nvPr/>
              </p:nvSpPr>
              <p:spPr>
                <a:xfrm>
                  <a:off x="9784641" y="243229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2" name="椭圆 81"/>
                <p:cNvSpPr/>
                <p:nvPr/>
              </p:nvSpPr>
              <p:spPr>
                <a:xfrm>
                  <a:off x="8892918" y="1943140"/>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 name="椭圆 82"/>
                <p:cNvSpPr/>
                <p:nvPr/>
              </p:nvSpPr>
              <p:spPr>
                <a:xfrm>
                  <a:off x="9189788" y="2078031"/>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 name="椭圆 83"/>
                <p:cNvSpPr/>
                <p:nvPr/>
              </p:nvSpPr>
              <p:spPr>
                <a:xfrm>
                  <a:off x="9975611" y="279542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5" name="椭圆 84"/>
                <p:cNvSpPr/>
                <p:nvPr/>
              </p:nvSpPr>
              <p:spPr>
                <a:xfrm>
                  <a:off x="11083598" y="4157031"/>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 name="椭圆 85"/>
                <p:cNvSpPr/>
                <p:nvPr/>
              </p:nvSpPr>
              <p:spPr>
                <a:xfrm>
                  <a:off x="10723002" y="4303204"/>
                  <a:ext cx="153242" cy="146876"/>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 name="同心圆 86"/>
                <p:cNvSpPr/>
                <p:nvPr/>
              </p:nvSpPr>
              <p:spPr>
                <a:xfrm>
                  <a:off x="11098929" y="4830868"/>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8" name="同心圆 87"/>
                <p:cNvSpPr/>
                <p:nvPr/>
              </p:nvSpPr>
              <p:spPr>
                <a:xfrm>
                  <a:off x="10535225" y="3090100"/>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9" name="同心圆 88"/>
                <p:cNvSpPr/>
                <p:nvPr/>
              </p:nvSpPr>
              <p:spPr>
                <a:xfrm>
                  <a:off x="9543175" y="4824270"/>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90" name="同心圆 89"/>
                <p:cNvSpPr/>
                <p:nvPr/>
              </p:nvSpPr>
              <p:spPr>
                <a:xfrm>
                  <a:off x="10198096" y="3531834"/>
                  <a:ext cx="103150" cy="93696"/>
                </a:xfrm>
                <a:prstGeom prst="donut">
                  <a:avLst>
                    <a:gd name="adj" fmla="val 6460"/>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0" name="椭圆 99"/>
                <p:cNvSpPr/>
                <p:nvPr/>
              </p:nvSpPr>
              <p:spPr>
                <a:xfrm>
                  <a:off x="7388842" y="6332104"/>
                  <a:ext cx="97062" cy="117533"/>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1" name="同心圆 100"/>
                <p:cNvSpPr/>
                <p:nvPr/>
              </p:nvSpPr>
              <p:spPr>
                <a:xfrm>
                  <a:off x="6727330" y="625516"/>
                  <a:ext cx="104400" cy="102902"/>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2" name="椭圆 101"/>
                <p:cNvSpPr/>
                <p:nvPr/>
              </p:nvSpPr>
              <p:spPr>
                <a:xfrm>
                  <a:off x="10356722" y="230998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3" name="椭圆 102"/>
                <p:cNvSpPr/>
                <p:nvPr/>
              </p:nvSpPr>
              <p:spPr>
                <a:xfrm>
                  <a:off x="9940291" y="1447307"/>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 name="同心圆 103"/>
                <p:cNvSpPr/>
                <p:nvPr/>
              </p:nvSpPr>
              <p:spPr>
                <a:xfrm>
                  <a:off x="9553540" y="1666276"/>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5" name="同心圆 104"/>
                <p:cNvSpPr/>
                <p:nvPr/>
              </p:nvSpPr>
              <p:spPr>
                <a:xfrm>
                  <a:off x="11201304" y="3098489"/>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8" name="椭圆 107"/>
                <p:cNvSpPr/>
                <p:nvPr/>
              </p:nvSpPr>
              <p:spPr>
                <a:xfrm>
                  <a:off x="10727128" y="5197250"/>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5" name="椭圆 204"/>
                <p:cNvSpPr/>
                <p:nvPr/>
              </p:nvSpPr>
              <p:spPr>
                <a:xfrm>
                  <a:off x="8891236" y="129986"/>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6" name="同心圆 205"/>
                <p:cNvSpPr/>
                <p:nvPr/>
              </p:nvSpPr>
              <p:spPr>
                <a:xfrm>
                  <a:off x="8458505" y="567595"/>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1" name="椭圆 30"/>
                <p:cNvSpPr/>
                <p:nvPr/>
              </p:nvSpPr>
              <p:spPr>
                <a:xfrm>
                  <a:off x="6753225" y="6563665"/>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6" name="椭圆 215"/>
                <p:cNvSpPr/>
                <p:nvPr/>
              </p:nvSpPr>
              <p:spPr>
                <a:xfrm>
                  <a:off x="5941364" y="6326740"/>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8" name="椭圆 227"/>
                <p:cNvSpPr/>
                <p:nvPr/>
              </p:nvSpPr>
              <p:spPr>
                <a:xfrm>
                  <a:off x="8721363" y="3606935"/>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9" name="同心圆 228"/>
                <p:cNvSpPr/>
                <p:nvPr/>
              </p:nvSpPr>
              <p:spPr>
                <a:xfrm>
                  <a:off x="9195330" y="2822191"/>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30" name="同心圆 229"/>
                <p:cNvSpPr/>
                <p:nvPr/>
              </p:nvSpPr>
              <p:spPr>
                <a:xfrm>
                  <a:off x="10618224" y="5858663"/>
                  <a:ext cx="103150" cy="93696"/>
                </a:xfrm>
                <a:prstGeom prst="donut">
                  <a:avLst>
                    <a:gd name="adj" fmla="val 6460"/>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42" name="椭圆 241"/>
                <p:cNvSpPr/>
                <p:nvPr/>
              </p:nvSpPr>
              <p:spPr>
                <a:xfrm>
                  <a:off x="7479559" y="597449"/>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6" name="椭圆 105"/>
                <p:cNvSpPr/>
                <p:nvPr/>
              </p:nvSpPr>
              <p:spPr>
                <a:xfrm>
                  <a:off x="11066277" y="2091556"/>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 name="椭圆 106"/>
                <p:cNvSpPr/>
                <p:nvPr/>
              </p:nvSpPr>
              <p:spPr>
                <a:xfrm>
                  <a:off x="11548097" y="3741919"/>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sp>
        <p:nvSpPr>
          <p:cNvPr id="2" name="标题 1"/>
          <p:cNvSpPr>
            <a:spLocks noGrp="1"/>
          </p:cNvSpPr>
          <p:nvPr>
            <p:ph type="title"/>
          </p:nvPr>
        </p:nvSpPr>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40" name="同心圆 39"/>
          <p:cNvSpPr/>
          <p:nvPr userDrawn="1"/>
        </p:nvSpPr>
        <p:spPr>
          <a:xfrm>
            <a:off x="3203378" y="1068464"/>
            <a:ext cx="1023708" cy="1021839"/>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77" name="直接连接符 76"/>
          <p:cNvCxnSpPr>
            <a:stCxn id="76" idx="2"/>
            <a:endCxn id="69" idx="2"/>
          </p:cNvCxnSpPr>
          <p:nvPr userDrawn="1"/>
        </p:nvCxnSpPr>
        <p:spPr>
          <a:xfrm flipH="1">
            <a:off x="4953582" y="1068464"/>
            <a:ext cx="5531666" cy="501023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9" idx="2"/>
            <a:endCxn id="11" idx="4"/>
          </p:cNvCxnSpPr>
          <p:nvPr userDrawn="1"/>
        </p:nvCxnSpPr>
        <p:spPr>
          <a:xfrm flipH="1" flipV="1">
            <a:off x="115950" y="289419"/>
            <a:ext cx="4837632" cy="578928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饼形 68"/>
          <p:cNvSpPr/>
          <p:nvPr userDrawn="1"/>
        </p:nvSpPr>
        <p:spPr>
          <a:xfrm rot="5400000">
            <a:off x="4148039" y="6107730"/>
            <a:ext cx="1611086" cy="1553029"/>
          </a:xfrm>
          <a:prstGeom prst="pie">
            <a:avLst>
              <a:gd name="adj1" fmla="val 5366942"/>
              <a:gd name="adj2" fmla="val 16200000"/>
            </a:avLst>
          </a:prstGeom>
          <a:solidFill>
            <a:schemeClr val="bg2">
              <a:lumMod val="50000"/>
              <a:alpha val="3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64" name="直接连接符 63"/>
          <p:cNvCxnSpPr>
            <a:stCxn id="14" idx="3"/>
            <a:endCxn id="30" idx="0"/>
          </p:cNvCxnSpPr>
          <p:nvPr userDrawn="1"/>
        </p:nvCxnSpPr>
        <p:spPr>
          <a:xfrm>
            <a:off x="521376" y="553761"/>
            <a:ext cx="122477" cy="229783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endCxn id="30" idx="7"/>
          </p:cNvCxnSpPr>
          <p:nvPr userDrawn="1"/>
        </p:nvCxnSpPr>
        <p:spPr>
          <a:xfrm flipH="1">
            <a:off x="706605" y="716813"/>
            <a:ext cx="6362403" cy="21590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2" idx="3"/>
          </p:cNvCxnSpPr>
          <p:nvPr userDrawn="1"/>
        </p:nvCxnSpPr>
        <p:spPr>
          <a:xfrm flipH="1" flipV="1">
            <a:off x="1120991" y="410248"/>
            <a:ext cx="9642602" cy="61474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2080112" y="4613014"/>
            <a:ext cx="446760" cy="3933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同心圆 10"/>
          <p:cNvSpPr/>
          <p:nvPr userDrawn="1"/>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2" name="椭圆 11"/>
          <p:cNvSpPr/>
          <p:nvPr userDrawn="1"/>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3" name="直接连接符 12"/>
          <p:cNvCxnSpPr>
            <a:stCxn id="12" idx="5"/>
          </p:cNvCxnSpPr>
          <p:nvPr userDrawn="1"/>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椭圆 14"/>
          <p:cNvSpPr/>
          <p:nvPr userDrawn="1"/>
        </p:nvSpPr>
        <p:spPr>
          <a:xfrm>
            <a:off x="5275971" y="568643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6" name="直接连接符 15"/>
          <p:cNvCxnSpPr>
            <a:stCxn id="14" idx="5"/>
            <a:endCxn id="15" idx="0"/>
          </p:cNvCxnSpPr>
          <p:nvPr userDrawn="1"/>
        </p:nvCxnSpPr>
        <p:spPr>
          <a:xfrm>
            <a:off x="636540" y="553761"/>
            <a:ext cx="4720864" cy="513267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4" idx="3"/>
          </p:cNvCxnSpPr>
          <p:nvPr userDrawn="1"/>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椭圆 17"/>
          <p:cNvSpPr/>
          <p:nvPr userDrawn="1"/>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9" name="直接连接符 18"/>
          <p:cNvCxnSpPr>
            <a:stCxn id="14" idx="5"/>
          </p:cNvCxnSpPr>
          <p:nvPr userDrawn="1"/>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同心圆 19"/>
          <p:cNvSpPr/>
          <p:nvPr userDrawn="1"/>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cxnSp>
        <p:nvCxnSpPr>
          <p:cNvPr id="21" name="直接连接符 20"/>
          <p:cNvCxnSpPr/>
          <p:nvPr userDrawn="1"/>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userDrawn="1"/>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3" name="直接连接符 22"/>
          <p:cNvCxnSpPr>
            <a:stCxn id="22" idx="3"/>
          </p:cNvCxnSpPr>
          <p:nvPr userDrawn="1"/>
        </p:nvCxnSpPr>
        <p:spPr>
          <a:xfrm flipH="1">
            <a:off x="7894" y="477151"/>
            <a:ext cx="1001400" cy="639617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椭圆 23"/>
          <p:cNvSpPr/>
          <p:nvPr userDrawn="1"/>
        </p:nvSpPr>
        <p:spPr>
          <a:xfrm>
            <a:off x="11420247" y="3599824"/>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5" name="直接连接符 24"/>
          <p:cNvCxnSpPr>
            <a:endCxn id="26" idx="7"/>
          </p:cNvCxnSpPr>
          <p:nvPr userDrawn="1"/>
        </p:nvCxnSpPr>
        <p:spPr>
          <a:xfrm flipH="1">
            <a:off x="606774" y="461826"/>
            <a:ext cx="392086" cy="7775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userDrawn="1"/>
        </p:nvSpPr>
        <p:spPr>
          <a:xfrm>
            <a:off x="505542" y="1221689"/>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椭圆 26"/>
          <p:cNvSpPr/>
          <p:nvPr userDrawn="1"/>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椭圆 27"/>
          <p:cNvSpPr/>
          <p:nvPr userDrawn="1"/>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同心圆 28"/>
          <p:cNvSpPr/>
          <p:nvPr userDrawn="1"/>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0" name="同心圆 29"/>
          <p:cNvSpPr/>
          <p:nvPr userDrawn="1"/>
        </p:nvSpPr>
        <p:spPr>
          <a:xfrm>
            <a:off x="555107" y="2851595"/>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1" name="同心圆 30"/>
          <p:cNvSpPr/>
          <p:nvPr userDrawn="1"/>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cxnSp>
        <p:nvCxnSpPr>
          <p:cNvPr id="32" name="直接连接符 31"/>
          <p:cNvCxnSpPr>
            <a:stCxn id="29" idx="4"/>
            <a:endCxn id="28" idx="1"/>
          </p:cNvCxnSpPr>
          <p:nvPr userDrawn="1"/>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11" idx="6"/>
          </p:cNvCxnSpPr>
          <p:nvPr userDrawn="1"/>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4" idx="2"/>
          </p:cNvCxnSpPr>
          <p:nvPr userDrawn="1"/>
        </p:nvCxnSpPr>
        <p:spPr>
          <a:xfrm flipH="1" flipV="1">
            <a:off x="1062436" y="373933"/>
            <a:ext cx="10357811" cy="328612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45" idx="0"/>
            <a:endCxn id="29" idx="0"/>
          </p:cNvCxnSpPr>
          <p:nvPr userDrawn="1"/>
        </p:nvCxnSpPr>
        <p:spPr>
          <a:xfrm flipH="1" flipV="1">
            <a:off x="522318" y="136498"/>
            <a:ext cx="1781174" cy="447651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12" idx="1"/>
          </p:cNvCxnSpPr>
          <p:nvPr userDrawn="1"/>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椭圆 41"/>
          <p:cNvSpPr/>
          <p:nvPr userDrawn="1"/>
        </p:nvSpPr>
        <p:spPr>
          <a:xfrm>
            <a:off x="10746224" y="6454912"/>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43" name="直接连接符 42"/>
          <p:cNvCxnSpPr>
            <a:stCxn id="42" idx="5"/>
            <a:endCxn id="48" idx="5"/>
          </p:cNvCxnSpPr>
          <p:nvPr userDrawn="1"/>
        </p:nvCxnSpPr>
        <p:spPr>
          <a:xfrm flipH="1" flipV="1">
            <a:off x="7151834" y="716813"/>
            <a:ext cx="3695622" cy="584092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椭圆 47"/>
          <p:cNvSpPr/>
          <p:nvPr userDrawn="1"/>
        </p:nvSpPr>
        <p:spPr>
          <a:xfrm>
            <a:off x="7050602" y="613992"/>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49" name="直接连接符 48"/>
          <p:cNvCxnSpPr>
            <a:stCxn id="48" idx="2"/>
            <a:endCxn id="29" idx="5"/>
          </p:cNvCxnSpPr>
          <p:nvPr userDrawn="1"/>
        </p:nvCxnSpPr>
        <p:spPr>
          <a:xfrm flipH="1" flipV="1">
            <a:off x="560502" y="228682"/>
            <a:ext cx="6490100" cy="44554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26" idx="1"/>
            <a:endCxn id="18" idx="6"/>
          </p:cNvCxnSpPr>
          <p:nvPr userDrawn="1"/>
        </p:nvCxnSpPr>
        <p:spPr>
          <a:xfrm flipH="1" flipV="1">
            <a:off x="273827" y="1017586"/>
            <a:ext cx="249084" cy="2217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26" idx="6"/>
            <a:endCxn id="28" idx="3"/>
          </p:cNvCxnSpPr>
          <p:nvPr userDrawn="1"/>
        </p:nvCxnSpPr>
        <p:spPr>
          <a:xfrm flipV="1">
            <a:off x="624143" y="950851"/>
            <a:ext cx="572540" cy="33106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6" name="饼形 75"/>
          <p:cNvSpPr/>
          <p:nvPr userDrawn="1"/>
        </p:nvSpPr>
        <p:spPr>
          <a:xfrm rot="16200000" flipV="1">
            <a:off x="9411401" y="-989509"/>
            <a:ext cx="2147694" cy="1968252"/>
          </a:xfrm>
          <a:prstGeom prst="pie">
            <a:avLst>
              <a:gd name="adj1" fmla="val 5366942"/>
              <a:gd name="adj2" fmla="val 16200000"/>
            </a:avLst>
          </a:prstGeom>
          <a:solidFill>
            <a:schemeClr val="bg2">
              <a:lumMod val="50000"/>
              <a:alpha val="3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标题 1"/>
          <p:cNvSpPr>
            <a:spLocks noGrp="1"/>
          </p:cNvSpPr>
          <p:nvPr>
            <p:ph type="title"/>
          </p:nvPr>
        </p:nvSpPr>
        <p:spPr>
          <a:xfrm>
            <a:off x="838835" y="374015"/>
            <a:ext cx="10515600" cy="1325563"/>
          </a:xfrm>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4" name="组合 3"/>
          <p:cNvGrpSpPr/>
          <p:nvPr userDrawn="1"/>
        </p:nvGrpSpPr>
        <p:grpSpPr>
          <a:xfrm>
            <a:off x="0" y="-187198"/>
            <a:ext cx="1307732" cy="1733935"/>
            <a:chOff x="0" y="-187198"/>
            <a:chExt cx="1307732" cy="1733935"/>
          </a:xfrm>
        </p:grpSpPr>
        <p:sp>
          <p:nvSpPr>
            <p:cNvPr id="8" name="同心圆 7"/>
            <p:cNvSpPr/>
            <p:nvPr/>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9" name="椭圆 8"/>
            <p:cNvSpPr/>
            <p:nvPr/>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0" name="直接连接符 9"/>
            <p:cNvCxnSpPr>
              <a:stCxn id="9" idx="5"/>
            </p:cNvCxnSpPr>
            <p:nvPr/>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178191" y="137732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3" name="直接连接符 12"/>
            <p:cNvCxnSpPr>
              <a:endCxn id="12" idx="0"/>
            </p:cNvCxnSpPr>
            <p:nvPr/>
          </p:nvCxnSpPr>
          <p:spPr>
            <a:xfrm flipH="1">
              <a:off x="259624" y="553171"/>
              <a:ext cx="289776" cy="8241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1" idx="3"/>
            </p:cNvCxnSpPr>
            <p:nvPr/>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6" name="直接连接符 15"/>
            <p:cNvCxnSpPr>
              <a:stCxn id="11" idx="5"/>
            </p:cNvCxnSpPr>
            <p:nvPr/>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同心圆 16"/>
            <p:cNvSpPr/>
            <p:nvPr/>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cxnSp>
          <p:nvCxnSpPr>
            <p:cNvPr id="18" name="直接连接符 17"/>
            <p:cNvCxnSpPr/>
            <p:nvPr/>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0" name="直接连接符 19"/>
            <p:cNvCxnSpPr>
              <a:stCxn id="19" idx="3"/>
            </p:cNvCxnSpPr>
            <p:nvPr/>
          </p:nvCxnSpPr>
          <p:spPr>
            <a:xfrm flipH="1">
              <a:off x="916537" y="477151"/>
              <a:ext cx="92757" cy="7531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865753" y="1205131"/>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2" name="直接连接符 21"/>
            <p:cNvCxnSpPr/>
            <p:nvPr/>
          </p:nvCxnSpPr>
          <p:spPr>
            <a:xfrm flipH="1">
              <a:off x="578958" y="461826"/>
              <a:ext cx="419902" cy="3862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482997" y="820653"/>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椭圆 23"/>
            <p:cNvSpPr/>
            <p:nvPr/>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椭圆 24"/>
            <p:cNvSpPr/>
            <p:nvPr/>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同心圆 25"/>
            <p:cNvSpPr/>
            <p:nvPr/>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7" name="同心圆 26"/>
            <p:cNvSpPr/>
            <p:nvPr/>
          </p:nvSpPr>
          <p:spPr>
            <a:xfrm>
              <a:off x="407318" y="1122761"/>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8" name="同心圆 27"/>
            <p:cNvSpPr/>
            <p:nvPr/>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cxnSp>
          <p:nvCxnSpPr>
            <p:cNvPr id="29" name="直接连接符 28"/>
            <p:cNvCxnSpPr>
              <a:stCxn id="26" idx="4"/>
              <a:endCxn id="25" idx="1"/>
            </p:cNvCxnSpPr>
            <p:nvPr/>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8" idx="6"/>
            </p:cNvCxnSpPr>
            <p:nvPr/>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062435" y="-60434"/>
              <a:ext cx="245297" cy="43436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6" idx="0"/>
            </p:cNvCxnSpPr>
            <p:nvPr/>
          </p:nvCxnSpPr>
          <p:spPr>
            <a:xfrm>
              <a:off x="403479" y="-187198"/>
              <a:ext cx="118839" cy="3236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9" idx="1"/>
            </p:cNvCxnSpPr>
            <p:nvPr/>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64" name="饼形 63"/>
          <p:cNvSpPr/>
          <p:nvPr userDrawn="1"/>
        </p:nvSpPr>
        <p:spPr>
          <a:xfrm rot="10800000" flipH="1">
            <a:off x="10541157" y="5189537"/>
            <a:ext cx="3331829" cy="3336925"/>
          </a:xfrm>
          <a:prstGeom prst="pie">
            <a:avLst>
              <a:gd name="adj1" fmla="val 5387752"/>
              <a:gd name="adj2" fmla="val 10811571"/>
            </a:avLst>
          </a:prstGeom>
          <a:solidFill>
            <a:schemeClr val="tx2">
              <a:lumMod val="5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3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65" name="直接连接符 64"/>
          <p:cNvCxnSpPr/>
          <p:nvPr userDrawn="1"/>
        </p:nvCxnSpPr>
        <p:spPr>
          <a:xfrm flipV="1">
            <a:off x="1" y="-10700"/>
            <a:ext cx="1501477" cy="11914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userDrawn="1"/>
        </p:nvCxnSpPr>
        <p:spPr>
          <a:xfrm>
            <a:off x="2" y="348476"/>
            <a:ext cx="1403167" cy="438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userDrawn="1"/>
        </p:nvCxnSpPr>
        <p:spPr>
          <a:xfrm flipV="1">
            <a:off x="2" y="-10700"/>
            <a:ext cx="3628569" cy="797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userDrawn="1"/>
        </p:nvCxnSpPr>
        <p:spPr>
          <a:xfrm>
            <a:off x="2" y="506163"/>
            <a:ext cx="1850033" cy="1500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userDrawn="1"/>
        </p:nvCxnSpPr>
        <p:spPr>
          <a:xfrm flipV="1">
            <a:off x="2" y="-6320"/>
            <a:ext cx="2323714" cy="9592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userDrawn="1"/>
        </p:nvCxnSpPr>
        <p:spPr>
          <a:xfrm flipV="1">
            <a:off x="1" y="414179"/>
            <a:ext cx="2466714" cy="26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userDrawn="1"/>
        </p:nvCxnSpPr>
        <p:spPr>
          <a:xfrm>
            <a:off x="0" y="212691"/>
            <a:ext cx="1689163" cy="9680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userDrawn="1"/>
        </p:nvCxnSpPr>
        <p:spPr>
          <a:xfrm>
            <a:off x="2" y="-10700"/>
            <a:ext cx="1398696" cy="11826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userDrawn="1"/>
        </p:nvCxnSpPr>
        <p:spPr>
          <a:xfrm flipH="1" flipV="1">
            <a:off x="339621" y="-28220"/>
            <a:ext cx="719458" cy="11257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userDrawn="1"/>
        </p:nvCxnSpPr>
        <p:spPr>
          <a:xfrm flipH="1" flipV="1">
            <a:off x="625617" y="-6319"/>
            <a:ext cx="283202" cy="1340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userDrawn="1"/>
        </p:nvCxnSpPr>
        <p:spPr>
          <a:xfrm flipV="1">
            <a:off x="621146" y="-6319"/>
            <a:ext cx="257509" cy="12045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userDrawn="1"/>
        </p:nvCxnSpPr>
        <p:spPr>
          <a:xfrm flipV="1">
            <a:off x="256386" y="-6320"/>
            <a:ext cx="910778" cy="12790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椭圆 102"/>
          <p:cNvSpPr/>
          <p:nvPr userDrawn="1"/>
        </p:nvSpPr>
        <p:spPr>
          <a:xfrm>
            <a:off x="678648" y="535730"/>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 name="椭圆 103"/>
          <p:cNvSpPr/>
          <p:nvPr userDrawn="1"/>
        </p:nvSpPr>
        <p:spPr>
          <a:xfrm>
            <a:off x="197116" y="1202613"/>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5" name="椭圆 104"/>
          <p:cNvSpPr/>
          <p:nvPr userDrawn="1"/>
        </p:nvSpPr>
        <p:spPr>
          <a:xfrm>
            <a:off x="2405023" y="352859"/>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6" name="椭圆 105"/>
          <p:cNvSpPr/>
          <p:nvPr userDrawn="1"/>
        </p:nvSpPr>
        <p:spPr>
          <a:xfrm>
            <a:off x="1313549" y="712030"/>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 name="椭圆 106"/>
          <p:cNvSpPr/>
          <p:nvPr userDrawn="1"/>
        </p:nvSpPr>
        <p:spPr>
          <a:xfrm>
            <a:off x="1007623" y="1060791"/>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 name="椭圆 107"/>
          <p:cNvSpPr/>
          <p:nvPr userDrawn="1"/>
        </p:nvSpPr>
        <p:spPr>
          <a:xfrm>
            <a:off x="222677" y="947976"/>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9" name="椭圆 108"/>
          <p:cNvSpPr/>
          <p:nvPr userDrawn="1"/>
        </p:nvSpPr>
        <p:spPr>
          <a:xfrm>
            <a:off x="85240" y="648442"/>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0" name="椭圆 109"/>
          <p:cNvSpPr/>
          <p:nvPr userDrawn="1"/>
        </p:nvSpPr>
        <p:spPr>
          <a:xfrm>
            <a:off x="440531" y="148057"/>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1" name="椭圆 110"/>
          <p:cNvSpPr/>
          <p:nvPr userDrawn="1"/>
        </p:nvSpPr>
        <p:spPr>
          <a:xfrm>
            <a:off x="1141518" y="455257"/>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2" name="椭圆 111"/>
          <p:cNvSpPr/>
          <p:nvPr userDrawn="1"/>
        </p:nvSpPr>
        <p:spPr>
          <a:xfrm>
            <a:off x="1186287" y="981950"/>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3" name="椭圆 112"/>
          <p:cNvSpPr/>
          <p:nvPr userDrawn="1"/>
        </p:nvSpPr>
        <p:spPr>
          <a:xfrm>
            <a:off x="1272797" y="142049"/>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4" name="同心圆 113"/>
          <p:cNvSpPr/>
          <p:nvPr userDrawn="1"/>
        </p:nvSpPr>
        <p:spPr>
          <a:xfrm>
            <a:off x="820552" y="1334020"/>
            <a:ext cx="241147"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15" name="同心圆 114"/>
          <p:cNvSpPr/>
          <p:nvPr userDrawn="1"/>
        </p:nvSpPr>
        <p:spPr>
          <a:xfrm>
            <a:off x="1812696" y="579252"/>
            <a:ext cx="241147"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16" name="同心圆 115"/>
          <p:cNvSpPr/>
          <p:nvPr userDrawn="1"/>
        </p:nvSpPr>
        <p:spPr>
          <a:xfrm>
            <a:off x="1354356" y="1143483"/>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17" name="同心圆 116"/>
          <p:cNvSpPr/>
          <p:nvPr userDrawn="1"/>
        </p:nvSpPr>
        <p:spPr>
          <a:xfrm>
            <a:off x="549996" y="1162098"/>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18" name="同心圆 117"/>
          <p:cNvSpPr/>
          <p:nvPr userDrawn="1"/>
        </p:nvSpPr>
        <p:spPr>
          <a:xfrm>
            <a:off x="352847" y="427318"/>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19" name="同心圆 118"/>
          <p:cNvSpPr/>
          <p:nvPr userDrawn="1"/>
        </p:nvSpPr>
        <p:spPr>
          <a:xfrm>
            <a:off x="1992359" y="68145"/>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21" name="椭圆 120"/>
          <p:cNvSpPr/>
          <p:nvPr userDrawn="1"/>
        </p:nvSpPr>
        <p:spPr>
          <a:xfrm>
            <a:off x="1632705" y="1119388"/>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28" name="直接连接符 27"/>
          <p:cNvCxnSpPr/>
          <p:nvPr userDrawn="1"/>
        </p:nvCxnSpPr>
        <p:spPr>
          <a:xfrm flipH="1" flipV="1">
            <a:off x="10660490" y="17520"/>
            <a:ext cx="1531507" cy="11914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flipH="1">
            <a:off x="10760766" y="376696"/>
            <a:ext cx="1431231" cy="438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flipH="1" flipV="1">
            <a:off x="8490855" y="-58446"/>
            <a:ext cx="3701141" cy="797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flipH="1">
            <a:off x="10304962" y="534383"/>
            <a:ext cx="1887035" cy="1500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flipH="1" flipV="1">
            <a:off x="9821808" y="21900"/>
            <a:ext cx="2370189" cy="9592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flipH="1" flipV="1">
            <a:off x="9675950" y="442399"/>
            <a:ext cx="2516048" cy="26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flipH="1">
            <a:off x="10469053" y="240911"/>
            <a:ext cx="1722946" cy="9680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flipH="1">
            <a:off x="10765326" y="17520"/>
            <a:ext cx="1426670" cy="11826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userDrawn="1"/>
        </p:nvCxnSpPr>
        <p:spPr>
          <a:xfrm flipV="1">
            <a:off x="11111738" y="0"/>
            <a:ext cx="733848" cy="11257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nvCxnSpPr>
        <p:spPr>
          <a:xfrm flipV="1">
            <a:off x="11265003" y="21901"/>
            <a:ext cx="288867" cy="1340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userDrawn="1"/>
        </p:nvCxnSpPr>
        <p:spPr>
          <a:xfrm flipH="1" flipV="1">
            <a:off x="11295771" y="21901"/>
            <a:ext cx="262659" cy="12045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nvCxnSpPr>
        <p:spPr>
          <a:xfrm flipH="1" flipV="1">
            <a:off x="11001492" y="21900"/>
            <a:ext cx="928993" cy="12790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userDrawn="1"/>
        </p:nvSpPr>
        <p:spPr>
          <a:xfrm flipH="1">
            <a:off x="11354422" y="563950"/>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椭圆 44"/>
          <p:cNvSpPr/>
          <p:nvPr userDrawn="1"/>
        </p:nvSpPr>
        <p:spPr>
          <a:xfrm flipH="1">
            <a:off x="11845585" y="1230833"/>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 name="椭圆 45"/>
          <p:cNvSpPr/>
          <p:nvPr userDrawn="1"/>
        </p:nvSpPr>
        <p:spPr>
          <a:xfrm flipH="1">
            <a:off x="9593520" y="381079"/>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椭圆 47"/>
          <p:cNvSpPr/>
          <p:nvPr userDrawn="1"/>
        </p:nvSpPr>
        <p:spPr>
          <a:xfrm flipH="1">
            <a:off x="10706824" y="740250"/>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椭圆 48"/>
          <p:cNvSpPr/>
          <p:nvPr userDrawn="1"/>
        </p:nvSpPr>
        <p:spPr>
          <a:xfrm flipH="1">
            <a:off x="11106081" y="1089011"/>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 name="椭圆 49"/>
          <p:cNvSpPr/>
          <p:nvPr userDrawn="1"/>
        </p:nvSpPr>
        <p:spPr>
          <a:xfrm flipH="1">
            <a:off x="11906726" y="976196"/>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 name="椭圆 51"/>
          <p:cNvSpPr/>
          <p:nvPr userDrawn="1"/>
        </p:nvSpPr>
        <p:spPr>
          <a:xfrm flipH="1">
            <a:off x="12046912" y="676662"/>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 name="椭圆 52"/>
          <p:cNvSpPr/>
          <p:nvPr userDrawn="1"/>
        </p:nvSpPr>
        <p:spPr>
          <a:xfrm flipH="1">
            <a:off x="11684515" y="176277"/>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 name="椭圆 53"/>
          <p:cNvSpPr/>
          <p:nvPr userDrawn="1"/>
        </p:nvSpPr>
        <p:spPr>
          <a:xfrm flipH="1">
            <a:off x="10969508" y="483477"/>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 name="椭圆 54"/>
          <p:cNvSpPr/>
          <p:nvPr userDrawn="1"/>
        </p:nvSpPr>
        <p:spPr>
          <a:xfrm flipH="1">
            <a:off x="10923844" y="1010170"/>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 name="椭圆 55"/>
          <p:cNvSpPr/>
          <p:nvPr userDrawn="1"/>
        </p:nvSpPr>
        <p:spPr>
          <a:xfrm flipH="1">
            <a:off x="10835603" y="170269"/>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 name="同心圆 56"/>
          <p:cNvSpPr/>
          <p:nvPr userDrawn="1"/>
        </p:nvSpPr>
        <p:spPr>
          <a:xfrm flipH="1">
            <a:off x="11109065" y="1362240"/>
            <a:ext cx="245970"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8" name="同心圆 57"/>
          <p:cNvSpPr/>
          <p:nvPr userDrawn="1"/>
        </p:nvSpPr>
        <p:spPr>
          <a:xfrm flipH="1">
            <a:off x="10097079" y="607472"/>
            <a:ext cx="245970"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9" name="同心圆 58"/>
          <p:cNvSpPr/>
          <p:nvPr userDrawn="1"/>
        </p:nvSpPr>
        <p:spPr>
          <a:xfrm flipH="1">
            <a:off x="10690671" y="1171703"/>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60" name="同心圆 59"/>
          <p:cNvSpPr/>
          <p:nvPr userDrawn="1"/>
        </p:nvSpPr>
        <p:spPr>
          <a:xfrm flipH="1">
            <a:off x="11511119" y="1190318"/>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61" name="同心圆 60"/>
          <p:cNvSpPr/>
          <p:nvPr userDrawn="1"/>
        </p:nvSpPr>
        <p:spPr>
          <a:xfrm flipH="1">
            <a:off x="11712210" y="455538"/>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62" name="同心圆 61"/>
          <p:cNvSpPr/>
          <p:nvPr userDrawn="1"/>
        </p:nvSpPr>
        <p:spPr>
          <a:xfrm flipH="1">
            <a:off x="10039908" y="96365"/>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63" name="椭圆 62"/>
          <p:cNvSpPr/>
          <p:nvPr userDrawn="1"/>
        </p:nvSpPr>
        <p:spPr>
          <a:xfrm flipH="1">
            <a:off x="10381282" y="1147608"/>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40" name="曲线连接符 39"/>
          <p:cNvCxnSpPr/>
          <p:nvPr userDrawn="1"/>
        </p:nvCxnSpPr>
        <p:spPr>
          <a:xfrm flipV="1">
            <a:off x="-104130" y="381000"/>
            <a:ext cx="12296130" cy="6048400"/>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曲线连接符 41"/>
          <p:cNvCxnSpPr/>
          <p:nvPr userDrawn="1"/>
        </p:nvCxnSpPr>
        <p:spPr>
          <a:xfrm flipV="1">
            <a:off x="-39365" y="927100"/>
            <a:ext cx="12231365" cy="4912834"/>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曲线连接符 43"/>
          <p:cNvCxnSpPr/>
          <p:nvPr userDrawn="1"/>
        </p:nvCxnSpPr>
        <p:spPr>
          <a:xfrm flipV="1">
            <a:off x="-104130" y="1466334"/>
            <a:ext cx="12335495" cy="3720608"/>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 name="曲线连接符 46"/>
          <p:cNvCxnSpPr/>
          <p:nvPr userDrawn="1"/>
        </p:nvCxnSpPr>
        <p:spPr>
          <a:xfrm flipV="1">
            <a:off x="-104130" y="2016630"/>
            <a:ext cx="12249125" cy="2509381"/>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曲线连接符 50"/>
          <p:cNvCxnSpPr/>
          <p:nvPr userDrawn="1"/>
        </p:nvCxnSpPr>
        <p:spPr>
          <a:xfrm flipV="1">
            <a:off x="-151135" y="2629929"/>
            <a:ext cx="12421865" cy="1331423"/>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曲线连接符 32"/>
          <p:cNvCxnSpPr/>
          <p:nvPr userDrawn="1"/>
        </p:nvCxnSpPr>
        <p:spPr>
          <a:xfrm flipV="1">
            <a:off x="0" y="0"/>
            <a:ext cx="12192000" cy="6858000"/>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19" name="组合 18"/>
          <p:cNvGrpSpPr/>
          <p:nvPr userDrawn="1"/>
        </p:nvGrpSpPr>
        <p:grpSpPr>
          <a:xfrm>
            <a:off x="-12211664" y="-4006524"/>
            <a:ext cx="26155384" cy="22501629"/>
            <a:chOff x="-12211664" y="-3975409"/>
            <a:chExt cx="26155384" cy="22501629"/>
          </a:xfrm>
        </p:grpSpPr>
        <p:sp>
          <p:nvSpPr>
            <p:cNvPr id="10" name="弧形 9"/>
            <p:cNvSpPr/>
            <p:nvPr/>
          </p:nvSpPr>
          <p:spPr>
            <a:xfrm>
              <a:off x="-12211664" y="0"/>
              <a:ext cx="24403664" cy="13804490"/>
            </a:xfrm>
            <a:prstGeom prst="arc">
              <a:avLst>
                <a:gd name="adj1" fmla="val 16200000"/>
                <a:gd name="adj2" fmla="val 2157960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3" name="弧形 12"/>
            <p:cNvSpPr/>
            <p:nvPr/>
          </p:nvSpPr>
          <p:spPr>
            <a:xfrm rot="265175">
              <a:off x="-7079806" y="-872249"/>
              <a:ext cx="19293260" cy="13549928"/>
            </a:xfrm>
            <a:prstGeom prst="arc">
              <a:avLst>
                <a:gd name="adj1" fmla="val 16200000"/>
                <a:gd name="adj2" fmla="val 2157960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 name="弧形 13"/>
            <p:cNvSpPr/>
            <p:nvPr/>
          </p:nvSpPr>
          <p:spPr>
            <a:xfrm rot="667039">
              <a:off x="-6949177" y="-2396489"/>
              <a:ext cx="19293260" cy="13549928"/>
            </a:xfrm>
            <a:prstGeom prst="arc">
              <a:avLst>
                <a:gd name="adj1" fmla="val 16200000"/>
                <a:gd name="adj2" fmla="val 2102499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5" name="弧形 14"/>
            <p:cNvSpPr/>
            <p:nvPr/>
          </p:nvSpPr>
          <p:spPr>
            <a:xfrm rot="848162">
              <a:off x="-6949177" y="-3975409"/>
              <a:ext cx="19293260" cy="13549928"/>
            </a:xfrm>
            <a:prstGeom prst="arc">
              <a:avLst>
                <a:gd name="adj1" fmla="val 16200000"/>
                <a:gd name="adj2" fmla="val 2102499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6" name="弧形 15"/>
            <p:cNvSpPr/>
            <p:nvPr/>
          </p:nvSpPr>
          <p:spPr>
            <a:xfrm rot="1054644">
              <a:off x="-5969282" y="1756851"/>
              <a:ext cx="19293260" cy="13549928"/>
            </a:xfrm>
            <a:prstGeom prst="arc">
              <a:avLst>
                <a:gd name="adj1" fmla="val 13454952"/>
                <a:gd name="adj2" fmla="val 19905496"/>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7" name="弧形 16"/>
            <p:cNvSpPr/>
            <p:nvPr/>
          </p:nvSpPr>
          <p:spPr>
            <a:xfrm rot="21253924">
              <a:off x="-5349540" y="4976292"/>
              <a:ext cx="19293260" cy="13549928"/>
            </a:xfrm>
            <a:prstGeom prst="arc">
              <a:avLst>
                <a:gd name="adj1" fmla="val 14350323"/>
                <a:gd name="adj2" fmla="val 19905496"/>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8" name="弧形 17"/>
            <p:cNvSpPr/>
            <p:nvPr/>
          </p:nvSpPr>
          <p:spPr>
            <a:xfrm rot="1083825">
              <a:off x="-5465221" y="3020774"/>
              <a:ext cx="19293260" cy="13549928"/>
            </a:xfrm>
            <a:prstGeom prst="arc">
              <a:avLst>
                <a:gd name="adj1" fmla="val 13225388"/>
                <a:gd name="adj2" fmla="val 19275869"/>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20" name="饼形 19"/>
          <p:cNvSpPr/>
          <p:nvPr userDrawn="1"/>
        </p:nvSpPr>
        <p:spPr>
          <a:xfrm>
            <a:off x="10331560" y="5208741"/>
            <a:ext cx="3687097" cy="3298518"/>
          </a:xfrm>
          <a:prstGeom prst="pie">
            <a:avLst>
              <a:gd name="adj1" fmla="val 10807598"/>
              <a:gd name="adj2" fmla="val 16250147"/>
            </a:avLst>
          </a:prstGeom>
          <a:solidFill>
            <a:schemeClr val="tx2">
              <a:lumMod val="50000"/>
            </a:schemeClr>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E5F3F-DE72-47CF-93F5-4A6B2262A42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66F381-4499-4D1C-B5DB-A965A148727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9" Type="http://schemas.openxmlformats.org/officeDocument/2006/relationships/slide" Target="slide22.xml"/><Relationship Id="rId8" Type="http://schemas.openxmlformats.org/officeDocument/2006/relationships/slide" Target="slide21.xml"/><Relationship Id="rId7" Type="http://schemas.openxmlformats.org/officeDocument/2006/relationships/slide" Target="slide20.xml"/><Relationship Id="rId6" Type="http://schemas.openxmlformats.org/officeDocument/2006/relationships/slide" Target="slide17.xml"/><Relationship Id="rId5" Type="http://schemas.openxmlformats.org/officeDocument/2006/relationships/slide" Target="slide14.xml"/><Relationship Id="rId4" Type="http://schemas.openxmlformats.org/officeDocument/2006/relationships/slide" Target="slide10.xml"/><Relationship Id="rId3" Type="http://schemas.openxmlformats.org/officeDocument/2006/relationships/slide" Target="slide8.xml"/><Relationship Id="rId2" Type="http://schemas.openxmlformats.org/officeDocument/2006/relationships/slide" Target="slide1.xml"/><Relationship Id="rId14" Type="http://schemas.openxmlformats.org/officeDocument/2006/relationships/slideLayout" Target="../slideLayouts/slideLayout3.xml"/><Relationship Id="rId13" Type="http://schemas.openxmlformats.org/officeDocument/2006/relationships/slide" Target="slide32.xml"/><Relationship Id="rId12" Type="http://schemas.openxmlformats.org/officeDocument/2006/relationships/slide" Target="slide28.xml"/><Relationship Id="rId11" Type="http://schemas.openxmlformats.org/officeDocument/2006/relationships/slide" Target="slide25.xml"/><Relationship Id="rId10" Type="http://schemas.openxmlformats.org/officeDocument/2006/relationships/slide" Target="slide24.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hyperlink" Target="#_Toc12122 " TargetMode="Externa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jpeg"/><Relationship Id="rId2" Type="http://schemas.openxmlformats.org/officeDocument/2006/relationships/tags" Target="../tags/tag3.xml"/><Relationship Id="rId1" Type="http://schemas.openxmlformats.org/officeDocument/2006/relationships/hyperlink" Target="#_Toc12122 " TargetMode="Externa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emf"/><Relationship Id="rId1" Type="http://schemas.openxmlformats.org/officeDocument/2006/relationships/hyperlink" Target="#_Toc12122 " TargetMode="Externa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hyperlink" Target="#_Toc12122 " TargetMode="Externa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xml"/><Relationship Id="rId1" Type="http://schemas.openxmlformats.org/officeDocument/2006/relationships/hyperlink" Target="#_Toc12122 " TargetMode="Externa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hyperlink" Target="#_Toc12122 " TargetMode="Externa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xml"/><Relationship Id="rId1" Type="http://schemas.openxmlformats.org/officeDocument/2006/relationships/hyperlink" Target="#_Toc12122 " TargetMode="Externa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hyperlink" Target="#_Toc12122 " TargetMode="Externa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hyperlink" Target="#_Toc12122 " TargetMode="Externa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hyperlink" Target="#_Toc12122 " TargetMode="Externa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hyperlink" Target="#_Toc12122 " TargetMode="Externa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hyperlink" Target="#_Toc12122 " TargetMode="Externa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_Toc12122 " TargetMode="Externa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047750" y="1078230"/>
            <a:ext cx="10704195" cy="1428750"/>
          </a:xfrm>
        </p:spPr>
        <p:txBody>
          <a:bodyPr>
            <a:noAutofit/>
          </a:bodyPr>
          <a:p>
            <a:r>
              <a:rPr lang="zh-CN" altLang="en-US" sz="6600" b="1">
                <a:solidFill>
                  <a:srgbClr val="0000FF"/>
                </a:solidFill>
                <a:latin typeface="等线" panose="02010600030101010101" charset="-122"/>
                <a:ea typeface="等线" panose="02010600030101010101" charset="-122"/>
              </a:rPr>
              <a:t>无线传感器网络（</a:t>
            </a:r>
            <a:r>
              <a:rPr lang="zh-CN" altLang="en-US" b="1">
                <a:solidFill>
                  <a:srgbClr val="0000FF"/>
                </a:solidFill>
                <a:latin typeface="等线" panose="02010600030101010101" charset="-122"/>
                <a:ea typeface="等线" panose="02010600030101010101" charset="-122"/>
              </a:rPr>
              <a:t>微课视频版）</a:t>
            </a:r>
            <a:endParaRPr lang="zh-CN" altLang="en-US" b="1">
              <a:solidFill>
                <a:srgbClr val="0000FF"/>
              </a:solidFill>
              <a:latin typeface="等线" panose="02010600030101010101" charset="-122"/>
              <a:ea typeface="等线" panose="02010600030101010101" charset="-122"/>
            </a:endParaRPr>
          </a:p>
        </p:txBody>
      </p:sp>
      <p:sp>
        <p:nvSpPr>
          <p:cNvPr id="3" name="副标题 2"/>
          <p:cNvSpPr>
            <a:spLocks noGrp="1"/>
          </p:cNvSpPr>
          <p:nvPr>
            <p:ph type="subTitle" idx="1"/>
          </p:nvPr>
        </p:nvSpPr>
        <p:spPr>
          <a:xfrm>
            <a:off x="2994025" y="3651885"/>
            <a:ext cx="6203315" cy="701675"/>
          </a:xfrm>
        </p:spPr>
        <p:txBody>
          <a:bodyPr/>
          <a:p>
            <a:r>
              <a:rPr lang="zh-CN" altLang="en-US" sz="3200" b="1">
                <a:solidFill>
                  <a:schemeClr val="accent2">
                    <a:lumMod val="75000"/>
                  </a:schemeClr>
                </a:solidFill>
                <a:latin typeface="黑体" panose="02010609060101010101" charset="-122"/>
                <a:ea typeface="黑体" panose="02010609060101010101" charset="-122"/>
              </a:rPr>
              <a:t>清华大学出版社</a:t>
            </a:r>
            <a:endParaRPr lang="zh-CN" altLang="en-US" sz="3200" b="1">
              <a:solidFill>
                <a:schemeClr val="accent2">
                  <a:lumMod val="75000"/>
                </a:schemeClr>
              </a:solidFill>
              <a:latin typeface="黑体" panose="02010609060101010101" charset="-122"/>
              <a:ea typeface="黑体" panose="02010609060101010101" charset="-122"/>
            </a:endParaRPr>
          </a:p>
        </p:txBody>
      </p:sp>
      <p:sp>
        <p:nvSpPr>
          <p:cNvPr id="4" name="文本框 3"/>
          <p:cNvSpPr txBox="1"/>
          <p:nvPr/>
        </p:nvSpPr>
        <p:spPr>
          <a:xfrm>
            <a:off x="3161030" y="2756535"/>
            <a:ext cx="7414260" cy="645160"/>
          </a:xfrm>
          <a:prstGeom prst="rect">
            <a:avLst/>
          </a:prstGeom>
          <a:noFill/>
        </p:spPr>
        <p:txBody>
          <a:bodyPr wrap="square" rtlCol="0">
            <a:spAutoFit/>
          </a:bodyPr>
          <a:p>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乔建华</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田启川</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谢维成</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楷体" panose="02010609060101010101" charset="-122"/>
                <a:ea typeface="楷体" panose="02010609060101010101" charset="-122"/>
                <a:cs typeface="黑体" panose="02010609060101010101" charset="-122"/>
              </a:rPr>
              <a:t>主编</a:t>
            </a:r>
            <a:endParaRPr lang="zh-CN" altLang="en-US" sz="3600" b="1">
              <a:solidFill>
                <a:schemeClr val="accent2">
                  <a:lumMod val="75000"/>
                </a:schemeClr>
              </a:solidFill>
              <a:latin typeface="楷体" panose="02010609060101010101" charset="-122"/>
              <a:ea typeface="楷体" panose="02010609060101010101" charset="-122"/>
              <a:cs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57395" y="1211580"/>
            <a:ext cx="3077210" cy="1297305"/>
          </a:xfrm>
        </p:spPr>
        <p:txBody>
          <a:bodyPr/>
          <a:p>
            <a:pPr algn="ctr"/>
            <a:r>
              <a:rPr lang="zh-CN" altLang="en-US" sz="5400" b="1">
                <a:solidFill>
                  <a:srgbClr val="0000FF"/>
                </a:solidFill>
              </a:rPr>
              <a:t>第</a:t>
            </a:r>
            <a:r>
              <a:rPr lang="en-US" altLang="zh-CN" sz="5400" b="1">
                <a:solidFill>
                  <a:srgbClr val="0000FF"/>
                </a:solidFill>
              </a:rPr>
              <a:t>2</a:t>
            </a:r>
            <a:r>
              <a:rPr lang="zh-CN" altLang="en-US" sz="5400" b="1">
                <a:solidFill>
                  <a:srgbClr val="0000FF"/>
                </a:solidFill>
              </a:rPr>
              <a:t>章</a:t>
            </a:r>
            <a:endParaRPr lang="zh-CN" altLang="en-US" sz="5400" b="1">
              <a:solidFill>
                <a:srgbClr val="0000FF"/>
              </a:solidFill>
            </a:endParaRPr>
          </a:p>
        </p:txBody>
      </p:sp>
      <p:sp>
        <p:nvSpPr>
          <p:cNvPr id="4" name="文本框 3"/>
          <p:cNvSpPr txBox="1"/>
          <p:nvPr/>
        </p:nvSpPr>
        <p:spPr>
          <a:xfrm>
            <a:off x="1917065" y="2752090"/>
            <a:ext cx="8195310" cy="2122805"/>
          </a:xfrm>
          <a:prstGeom prst="rect">
            <a:avLst/>
          </a:prstGeom>
          <a:noFill/>
        </p:spPr>
        <p:txBody>
          <a:bodyPr wrap="square" rtlCol="0">
            <a:spAutoFit/>
          </a:bodyPr>
          <a:p>
            <a:pPr algn="ctr"/>
            <a:r>
              <a:rPr lang="zh-CN" altLang="en-US" sz="6600" b="1">
                <a:solidFill>
                  <a:srgbClr val="0000FF"/>
                </a:solidFill>
                <a:latin typeface="黑体" panose="02010609060101010101" charset="-122"/>
                <a:ea typeface="黑体" panose="02010609060101010101" charset="-122"/>
              </a:rPr>
              <a:t>无线传感器网络的</a:t>
            </a:r>
            <a:endParaRPr lang="zh-CN" altLang="en-US" sz="6600" b="1">
              <a:solidFill>
                <a:srgbClr val="0000FF"/>
              </a:solidFill>
              <a:latin typeface="黑体" panose="02010609060101010101" charset="-122"/>
              <a:ea typeface="黑体" panose="02010609060101010101" charset="-122"/>
            </a:endParaRPr>
          </a:p>
          <a:p>
            <a:pPr algn="ctr"/>
            <a:r>
              <a:rPr lang="zh-CN" altLang="en-US" sz="6600" b="1">
                <a:solidFill>
                  <a:srgbClr val="0000FF"/>
                </a:solidFill>
                <a:latin typeface="黑体" panose="02010609060101010101" charset="-122"/>
                <a:ea typeface="黑体" panose="02010609060101010101" charset="-122"/>
              </a:rPr>
              <a:t>体系结构</a:t>
            </a:r>
            <a:endParaRPr lang="zh-CN" altLang="en-US" sz="6600" b="1">
              <a:solidFill>
                <a:srgbClr val="0000FF"/>
              </a:solidFill>
              <a:latin typeface="黑体" panose="02010609060101010101" charset="-122"/>
              <a:ea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文本框 21"/>
          <p:cNvSpPr txBox="1"/>
          <p:nvPr>
            <p:custDataLst>
              <p:tags r:id="rId1"/>
            </p:custDataLst>
          </p:nvPr>
        </p:nvSpPr>
        <p:spPr>
          <a:xfrm>
            <a:off x="1902460" y="331470"/>
            <a:ext cx="1733550" cy="855980"/>
          </a:xfrm>
          <a:prstGeom prst="rect">
            <a:avLst/>
          </a:prstGeom>
          <a:noFill/>
        </p:spPr>
        <p:txBody>
          <a:bodyPr wrap="square" lIns="91440" tIns="45720" rIns="91440" bIns="0" rtlCol="0" anchor="b" anchorCtr="0">
            <a:normAutofit/>
          </a:bodyPr>
          <a:lstStyle>
            <a:defPPr>
              <a:defRPr lang="zh-CN"/>
            </a:defPPr>
            <a:lvl1pPr>
              <a:defRPr sz="48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r>
              <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rPr>
              <a:t>目录</a:t>
            </a:r>
            <a:endPar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endParaRPr>
          </a:p>
        </p:txBody>
      </p:sp>
      <p:sp>
        <p:nvSpPr>
          <p:cNvPr id="100" name="文本框 99"/>
          <p:cNvSpPr txBox="1"/>
          <p:nvPr/>
        </p:nvSpPr>
        <p:spPr>
          <a:xfrm>
            <a:off x="1010285" y="1350010"/>
            <a:ext cx="5535930" cy="5507990"/>
          </a:xfrm>
          <a:prstGeom prst="rect">
            <a:avLst/>
          </a:prstGeom>
          <a:noFill/>
          <a:ln w="9525">
            <a:noFill/>
          </a:ln>
        </p:spPr>
        <p:txBody>
          <a:bodyPr wrap="square">
            <a:spAutoFit/>
          </a:bodyPr>
          <a:p>
            <a:pPr indent="0"/>
            <a:r>
              <a:rPr sz="2200" b="1">
                <a:solidFill>
                  <a:schemeClr val="tx1"/>
                </a:solidFill>
                <a:uFillTx/>
                <a:ea typeface="宋体" panose="02010600030101010101" pitchFamily="2" charset="-122"/>
                <a:hlinkClick r:id="rId2" action="ppaction://hlinksldjump"/>
              </a:rPr>
              <a:t>第2章  无线传感器网络的体系结构</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2" action="ppaction://hlinksldjump"/>
              </a:rPr>
              <a:t>2.1  系统结构</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lang="en-US" sz="2200" b="1">
                <a:solidFill>
                  <a:schemeClr val="tx1"/>
                </a:solidFill>
                <a:uFillTx/>
                <a:ea typeface="宋体" panose="02010600030101010101" pitchFamily="2" charset="-122"/>
                <a:hlinkClick r:id="rId3" action="ppaction://hlinksldjump"/>
              </a:rPr>
              <a:t> </a:t>
            </a:r>
            <a:r>
              <a:rPr sz="2200" b="1">
                <a:solidFill>
                  <a:schemeClr val="tx1"/>
                </a:solidFill>
                <a:uFillTx/>
                <a:ea typeface="宋体" panose="02010600030101010101" pitchFamily="2" charset="-122"/>
                <a:hlinkClick r:id="rId3" action="ppaction://hlinksldjump"/>
              </a:rPr>
              <a:t>2.2  节点结构</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3" action="ppaction://hlinksldjump"/>
              </a:rPr>
              <a:t>2.2.1  节点组成结构</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lang="en-US" sz="2200" b="1">
                <a:solidFill>
                  <a:schemeClr val="tx1"/>
                </a:solidFill>
                <a:uFillTx/>
                <a:ea typeface="宋体" panose="02010600030101010101" pitchFamily="2" charset="-122"/>
                <a:hlinkClick r:id="rId4" action="ppaction://hlinksldjump"/>
              </a:rPr>
              <a:t> </a:t>
            </a:r>
            <a:r>
              <a:rPr sz="2200" b="1">
                <a:solidFill>
                  <a:schemeClr val="tx1"/>
                </a:solidFill>
                <a:uFillTx/>
                <a:ea typeface="宋体" panose="02010600030101010101" pitchFamily="2" charset="-122"/>
                <a:hlinkClick r:id="rId4" action="ppaction://hlinksldjump"/>
              </a:rPr>
              <a:t>2.2.2  传感器模块</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5" action="ppaction://hlinksldjump"/>
              </a:rPr>
              <a:t>2.2.3  微处理器模块</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6" action="ppaction://hlinksldjump"/>
              </a:rPr>
              <a:t>2.2.4  无线通信模块</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7" action="ppaction://hlinksldjump"/>
              </a:rPr>
              <a:t>2.2.5  电源模块</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8" action="ppaction://hlinksldjump"/>
              </a:rPr>
              <a:t>2.2.6  典型节点实例</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9" action="ppaction://hlinksldjump"/>
              </a:rPr>
              <a:t>2.3  网络结构</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9" action="ppaction://hlinksldjump"/>
              </a:rPr>
              <a:t>2.3.1  扁平结构和分层结构</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10" action="ppaction://hlinksldjump"/>
              </a:rPr>
              <a:t>2.3.2  单sink和多sink</a:t>
            </a:r>
            <a:r>
              <a:rPr lang="zh-CN" sz="2200" b="1">
                <a:solidFill>
                  <a:schemeClr val="tx1"/>
                </a:solidFill>
                <a:uFillTx/>
                <a:ea typeface="宋体" panose="02010600030101010101" pitchFamily="2" charset="-122"/>
                <a:hlinkClick r:id="rId10" action="ppaction://hlinksldjump"/>
              </a:rPr>
              <a:t>结</a:t>
            </a:r>
            <a:r>
              <a:rPr lang="zh-CN" sz="2200" b="1">
                <a:solidFill>
                  <a:schemeClr val="tx1"/>
                </a:solidFill>
                <a:uFillTx/>
                <a:ea typeface="宋体" panose="02010600030101010101" pitchFamily="2" charset="-122"/>
                <a:hlinkClick r:id="rId10" action="ppaction://hlinksldjump"/>
              </a:rPr>
              <a:t>构</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11" action="ppaction://hlinksldjump"/>
              </a:rPr>
              <a:t>2.4  协议体系结构</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11" action="ppaction://hlinksldjump"/>
              </a:rPr>
              <a:t>2.4.1  传统网络协议OSI参考模型</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sz="2200" b="1">
                <a:solidFill>
                  <a:schemeClr val="tx1"/>
                </a:solidFill>
                <a:uFillTx/>
                <a:ea typeface="宋体" panose="02010600030101010101" pitchFamily="2" charset="-122"/>
                <a:hlinkClick r:id="rId12" action="ppaction://hlinksldjump"/>
              </a:rPr>
              <a:t>2.4.2  WSN协议的分层结构</a:t>
            </a:r>
            <a:r>
              <a:rPr sz="2200" b="1">
                <a:solidFill>
                  <a:schemeClr val="tx1"/>
                </a:solidFill>
                <a:uFillTx/>
                <a:ea typeface="宋体" panose="02010600030101010101" pitchFamily="2" charset="-122"/>
              </a:rPr>
              <a:t>	</a:t>
            </a:r>
            <a:endParaRPr sz="2200" b="1">
              <a:solidFill>
                <a:schemeClr val="tx1"/>
              </a:solidFill>
              <a:uFillTx/>
              <a:ea typeface="宋体" panose="02010600030101010101" pitchFamily="2" charset="-122"/>
            </a:endParaRPr>
          </a:p>
          <a:p>
            <a:pPr indent="0"/>
            <a:r>
              <a:rPr lang="en-US" sz="2200" b="1">
                <a:solidFill>
                  <a:schemeClr val="tx1"/>
                </a:solidFill>
                <a:uFillTx/>
                <a:ea typeface="宋体" panose="02010600030101010101" pitchFamily="2" charset="-122"/>
              </a:rPr>
              <a:t> </a:t>
            </a:r>
            <a:r>
              <a:rPr lang="en-US" sz="2200" b="1">
                <a:solidFill>
                  <a:schemeClr val="tx1"/>
                </a:solidFill>
                <a:uFillTx/>
                <a:ea typeface="宋体" panose="02010600030101010101" pitchFamily="2" charset="-122"/>
                <a:hlinkClick r:id="rId13" action="ppaction://hlinksldjump"/>
              </a:rPr>
              <a:t> </a:t>
            </a:r>
            <a:r>
              <a:rPr sz="2200" b="1">
                <a:solidFill>
                  <a:schemeClr val="tx1"/>
                </a:solidFill>
                <a:uFillTx/>
                <a:ea typeface="宋体" panose="02010600030101010101" pitchFamily="2" charset="-122"/>
                <a:hlinkClick r:id="rId13" action="ppaction://hlinksldjump"/>
              </a:rPr>
              <a:t>习题2	</a:t>
            </a:r>
            <a:endParaRPr sz="2200" b="1">
              <a:solidFill>
                <a:schemeClr val="tx1"/>
              </a:solidFill>
              <a:uFillTx/>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文本框 21"/>
          <p:cNvSpPr txBox="1"/>
          <p:nvPr>
            <p:custDataLst>
              <p:tags r:id="rId1"/>
            </p:custDataLst>
          </p:nvPr>
        </p:nvSpPr>
        <p:spPr>
          <a:xfrm>
            <a:off x="2136140" y="574675"/>
            <a:ext cx="3264535" cy="855980"/>
          </a:xfrm>
          <a:prstGeom prst="rect">
            <a:avLst/>
          </a:prstGeom>
          <a:noFill/>
        </p:spPr>
        <p:txBody>
          <a:bodyPr wrap="square" lIns="91440" tIns="45720" rIns="91440" bIns="0" rtlCol="0" anchor="b" anchorCtr="0">
            <a:noAutofit/>
          </a:bodyPr>
          <a:lstStyle>
            <a:defPPr>
              <a:defRPr lang="zh-CN"/>
            </a:defPPr>
            <a:lvl1pPr>
              <a:defRPr sz="48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r>
              <a:rPr lang="zh-CN" altLang="en-US" sz="5400"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rPr>
              <a:t>重难点</a:t>
            </a:r>
            <a:endParaRPr lang="zh-CN" altLang="en-US" sz="5400"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endParaRPr>
          </a:p>
        </p:txBody>
      </p:sp>
      <p:sp>
        <p:nvSpPr>
          <p:cNvPr id="100" name="文本框 99"/>
          <p:cNvSpPr txBox="1"/>
          <p:nvPr/>
        </p:nvSpPr>
        <p:spPr>
          <a:xfrm>
            <a:off x="634365" y="1974850"/>
            <a:ext cx="6863715" cy="2646045"/>
          </a:xfrm>
          <a:prstGeom prst="rect">
            <a:avLst/>
          </a:prstGeom>
          <a:noFill/>
          <a:ln w="9525">
            <a:noFill/>
          </a:ln>
        </p:spPr>
        <p:txBody>
          <a:bodyPr wrap="square">
            <a:spAutoFit/>
          </a:bodyPr>
          <a:p>
            <a:pPr indent="0"/>
            <a:r>
              <a:rPr lang="en-US" sz="3600" b="1">
                <a:solidFill>
                  <a:schemeClr val="tx1"/>
                </a:solidFill>
                <a:uFillTx/>
                <a:latin typeface="Times New Roman" panose="02020603050405020304" charset="0"/>
                <a:ea typeface="宋体" panose="02010600030101010101" pitchFamily="2" charset="-122"/>
              </a:rPr>
              <a:t>1.  </a:t>
            </a:r>
            <a:r>
              <a:rPr lang="zh-CN" sz="3600" b="1">
                <a:solidFill>
                  <a:schemeClr val="tx1"/>
                </a:solidFill>
                <a:uFillTx/>
                <a:ea typeface="宋体" panose="02010600030101010101" pitchFamily="2" charset="-122"/>
              </a:rPr>
              <a:t>无线传感器网络的组成结构</a:t>
            </a:r>
            <a:r>
              <a:rPr lang="en-US" sz="3600" b="1">
                <a:solidFill>
                  <a:schemeClr val="tx1"/>
                </a:solidFill>
                <a:uFillTx/>
                <a:latin typeface="Times New Roman" panose="02020603050405020304" charset="0"/>
                <a:ea typeface="宋体" panose="02010600030101010101" pitchFamily="2" charset="-122"/>
              </a:rPr>
              <a:t>	2.  </a:t>
            </a:r>
            <a:r>
              <a:rPr lang="zh-CN" sz="3600" b="1">
                <a:uFillTx/>
                <a:ea typeface="宋体" panose="02010600030101010101" pitchFamily="2" charset="-122"/>
                <a:sym typeface="+mn-ea"/>
              </a:rPr>
              <a:t>无线传感器网络的节点结构</a:t>
            </a:r>
            <a:endParaRPr lang="en-US" sz="3600" b="1">
              <a:solidFill>
                <a:schemeClr val="tx1"/>
              </a:solidFill>
              <a:uFillTx/>
              <a:latin typeface="Times New Roman" panose="02020603050405020304" charset="0"/>
              <a:ea typeface="宋体" panose="02010600030101010101" pitchFamily="2" charset="-122"/>
            </a:endParaRPr>
          </a:p>
          <a:p>
            <a:pPr indent="0"/>
            <a:r>
              <a:rPr lang="en-US" sz="3600" b="1">
                <a:solidFill>
                  <a:schemeClr val="tx1"/>
                </a:solidFill>
                <a:uFillTx/>
                <a:latin typeface="Times New Roman" panose="02020603050405020304" charset="0"/>
                <a:ea typeface="宋体" panose="02010600030101010101" pitchFamily="2" charset="-122"/>
              </a:rPr>
              <a:t>3.  </a:t>
            </a:r>
            <a:r>
              <a:rPr lang="zh-CN" sz="3600" b="1">
                <a:solidFill>
                  <a:schemeClr val="tx1"/>
                </a:solidFill>
                <a:uFillTx/>
                <a:ea typeface="宋体" panose="02010600030101010101" pitchFamily="2" charset="-122"/>
              </a:rPr>
              <a:t>无线传感器网络的网络结构</a:t>
            </a:r>
            <a:endParaRPr lang="zh-CN" sz="3600" b="1">
              <a:solidFill>
                <a:schemeClr val="tx1"/>
              </a:solidFill>
              <a:uFillTx/>
              <a:ea typeface="宋体" panose="02010600030101010101" pitchFamily="2" charset="-122"/>
            </a:endParaRPr>
          </a:p>
          <a:p>
            <a:pPr indent="0"/>
            <a:r>
              <a:rPr lang="en-US" sz="3600" b="1">
                <a:solidFill>
                  <a:schemeClr val="tx1"/>
                </a:solidFill>
                <a:uFillTx/>
                <a:latin typeface="Times New Roman" panose="02020603050405020304" charset="0"/>
                <a:ea typeface="宋体" panose="02010600030101010101" pitchFamily="2" charset="-122"/>
              </a:rPr>
              <a:t>4.  </a:t>
            </a:r>
            <a:r>
              <a:rPr lang="zh-CN" sz="3600" b="1">
                <a:solidFill>
                  <a:schemeClr val="tx1"/>
                </a:solidFill>
                <a:uFillTx/>
                <a:ea typeface="宋体" panose="02010600030101010101" pitchFamily="2" charset="-122"/>
              </a:rPr>
              <a:t>无线传感器网络的协议栈结构</a:t>
            </a:r>
            <a:r>
              <a:rPr lang="en-US" sz="2200" b="1">
                <a:solidFill>
                  <a:schemeClr val="tx1"/>
                </a:solidFill>
                <a:uFillTx/>
                <a:latin typeface="Times New Roman" panose="02020603050405020304" charset="0"/>
                <a:ea typeface="宋体" panose="02010600030101010101" pitchFamily="2" charset="-122"/>
              </a:rPr>
              <a:t>	</a:t>
            </a:r>
            <a:endParaRPr lang="zh-CN" altLang="en-US" sz="22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806065" y="365125"/>
            <a:ext cx="8548370" cy="1325880"/>
          </a:xfrm>
        </p:spPr>
        <p:txBody>
          <a:bodyPr>
            <a:normAutofit fontScale="90000"/>
          </a:bodyPr>
          <a:p>
            <a:r>
              <a:rPr lang="zh-CN" altLang="en-US" b="1">
                <a:uFillTx/>
                <a:latin typeface="Times New Roman" panose="02020603050405020304" charset="0"/>
                <a:ea typeface="宋体" panose="02010600030101010101" pitchFamily="2" charset="-122"/>
                <a:sym typeface="+mn-ea"/>
                <a:hlinkClick r:id="rId1"/>
              </a:rPr>
              <a:t>第</a:t>
            </a:r>
            <a:r>
              <a:rPr lang="en-US" b="1">
                <a:uFillTx/>
                <a:latin typeface="Times New Roman" panose="02020603050405020304" charset="0"/>
                <a:ea typeface="宋体" panose="02010600030101010101" pitchFamily="2" charset="-122"/>
                <a:sym typeface="+mn-ea"/>
                <a:hlinkClick r:id="rId1"/>
              </a:rPr>
              <a:t>2</a:t>
            </a:r>
            <a:r>
              <a:rPr lang="zh-CN" altLang="en-US" b="1">
                <a:uFillTx/>
                <a:latin typeface="Times New Roman" panose="02020603050405020304" charset="0"/>
                <a:ea typeface="宋体" panose="02010600030101010101" pitchFamily="2" charset="-122"/>
                <a:sym typeface="+mn-ea"/>
                <a:hlinkClick r:id="rId1"/>
              </a:rPr>
              <a:t>章</a:t>
            </a:r>
            <a:r>
              <a:rPr lang="en-US" b="1">
                <a:uFillTx/>
                <a:latin typeface="Times New Roman" panose="02020603050405020304" charset="0"/>
                <a:ea typeface="宋体" panose="02010600030101010101" pitchFamily="2" charset="-122"/>
                <a:sym typeface="+mn-ea"/>
                <a:hlinkClick r:id="rId1"/>
              </a:rPr>
              <a:t>  </a:t>
            </a:r>
            <a:r>
              <a:rPr lang="zh-CN" b="1">
                <a:uFillTx/>
                <a:ea typeface="宋体" panose="02010600030101010101" pitchFamily="2" charset="-122"/>
                <a:sym typeface="+mn-ea"/>
                <a:hlinkClick r:id="rId1"/>
              </a:rPr>
              <a:t>无线传感器网络的体系结构</a:t>
            </a:r>
            <a:endParaRPr lang="zh-CN" altLang="en-US"/>
          </a:p>
        </p:txBody>
      </p:sp>
      <p:sp>
        <p:nvSpPr>
          <p:cNvPr id="3" name="内容占位符 2"/>
          <p:cNvSpPr>
            <a:spLocks noGrp="1"/>
          </p:cNvSpPr>
          <p:nvPr>
            <p:ph sz="half" idx="1"/>
          </p:nvPr>
        </p:nvSpPr>
        <p:spPr>
          <a:xfrm>
            <a:off x="429895" y="1691005"/>
            <a:ext cx="11332845" cy="5166360"/>
          </a:xfrm>
        </p:spPr>
        <p:txBody>
          <a:bodyPr>
            <a:noAutofit/>
          </a:bodyPr>
          <a:p>
            <a:r>
              <a:rPr lang="zh-CN" altLang="en-US" sz="2400" b="1">
                <a:latin typeface="等线" panose="02010600030101010101" charset="-122"/>
                <a:ea typeface="等线" panose="02010600030101010101" charset="-122"/>
              </a:rPr>
              <a:t>体系结构是无线传感器网络的研究热点之一。</a:t>
            </a:r>
            <a:endParaRPr lang="zh-CN" altLang="en-US" sz="2400" b="1">
              <a:latin typeface="等线" panose="02010600030101010101" charset="-122"/>
              <a:ea typeface="等线" panose="02010600030101010101" charset="-122"/>
            </a:endParaRPr>
          </a:p>
          <a:p>
            <a:r>
              <a:rPr lang="zh-CN" altLang="en-US" sz="2400" b="1">
                <a:latin typeface="等线" panose="02010600030101010101" charset="-122"/>
                <a:ea typeface="等线" panose="02010600030101010101" charset="-122"/>
              </a:rPr>
              <a:t>无线传感器网络是一种大规模自组织网络，在研究无线传感器网络体系结构时，需要考虑以下几个特点：</a:t>
            </a:r>
            <a:endParaRPr lang="zh-CN" altLang="en-US" sz="2400" b="1">
              <a:latin typeface="等线" panose="02010600030101010101" charset="-122"/>
              <a:ea typeface="等线" panose="02010600030101010101" charset="-122"/>
            </a:endParaRPr>
          </a:p>
          <a:p>
            <a:r>
              <a:rPr lang="en-US" altLang="zh-CN" sz="2400" b="1">
                <a:latin typeface="等线" panose="02010600030101010101" charset="-122"/>
                <a:ea typeface="等线" panose="02010600030101010101" charset="-122"/>
              </a:rPr>
              <a:t>       </a:t>
            </a:r>
            <a:r>
              <a:rPr lang="zh-CN" altLang="en-US" sz="2400" b="1">
                <a:latin typeface="等线" panose="02010600030101010101" charset="-122"/>
                <a:ea typeface="等线" panose="02010600030101010101" charset="-122"/>
              </a:rPr>
              <a:t>由于无线传感器网络具有较一般自组织网络更</a:t>
            </a:r>
            <a:r>
              <a:rPr lang="zh-CN" altLang="en-US" sz="2400" b="1">
                <a:solidFill>
                  <a:srgbClr val="FF0000"/>
                </a:solidFill>
                <a:latin typeface="等线" panose="02010600030101010101" charset="-122"/>
                <a:ea typeface="等线" panose="02010600030101010101" charset="-122"/>
              </a:rPr>
              <a:t>众多的节点</a:t>
            </a:r>
            <a:r>
              <a:rPr lang="zh-CN" altLang="en-US" sz="2400" b="1">
                <a:latin typeface="等线" panose="02010600030101010101" charset="-122"/>
                <a:ea typeface="等线" panose="02010600030101010101" charset="-122"/>
              </a:rPr>
              <a:t>，从网络的可扩展性来说要复杂很多；</a:t>
            </a:r>
            <a:endParaRPr lang="zh-CN" altLang="en-US" sz="2400" b="1">
              <a:latin typeface="等线" panose="02010600030101010101" charset="-122"/>
              <a:ea typeface="等线" panose="02010600030101010101" charset="-122"/>
            </a:endParaRPr>
          </a:p>
          <a:p>
            <a:r>
              <a:rPr lang="en-US" altLang="zh-CN" sz="2400" b="1">
                <a:latin typeface="等线" panose="02010600030101010101" charset="-122"/>
                <a:ea typeface="等线" panose="02010600030101010101" charset="-122"/>
              </a:rPr>
              <a:t>       </a:t>
            </a:r>
            <a:r>
              <a:rPr lang="zh-CN" altLang="en-US" sz="2400" b="1">
                <a:latin typeface="等线" panose="02010600030101010101" charset="-122"/>
                <a:ea typeface="等线" panose="02010600030101010101" charset="-122"/>
              </a:rPr>
              <a:t>无线传感器网络节点主要通过电池供电，所以其</a:t>
            </a:r>
            <a:r>
              <a:rPr lang="zh-CN" altLang="en-US" sz="2400" b="1">
                <a:solidFill>
                  <a:srgbClr val="FF0000"/>
                </a:solidFill>
                <a:latin typeface="等线" panose="02010600030101010101" charset="-122"/>
                <a:ea typeface="等线" panose="02010600030101010101" charset="-122"/>
              </a:rPr>
              <a:t>能耗</a:t>
            </a:r>
            <a:r>
              <a:rPr lang="zh-CN" altLang="en-US" sz="2400" b="1">
                <a:latin typeface="等线" panose="02010600030101010101" charset="-122"/>
                <a:ea typeface="等线" panose="02010600030101010101" charset="-122"/>
              </a:rPr>
              <a:t>是在网络系统设计中最重要的因素之一；</a:t>
            </a:r>
            <a:endParaRPr lang="zh-CN" altLang="en-US" sz="2400" b="1">
              <a:latin typeface="等线" panose="02010600030101010101" charset="-122"/>
              <a:ea typeface="等线" panose="02010600030101010101" charset="-122"/>
            </a:endParaRPr>
          </a:p>
          <a:p>
            <a:r>
              <a:rPr lang="en-US" altLang="zh-CN" sz="2400" b="1">
                <a:latin typeface="等线" panose="02010600030101010101" charset="-122"/>
                <a:ea typeface="等线" panose="02010600030101010101" charset="-122"/>
              </a:rPr>
              <a:t>       </a:t>
            </a:r>
            <a:r>
              <a:rPr lang="zh-CN" altLang="en-US" sz="2400" b="1">
                <a:latin typeface="等线" panose="02010600030101010101" charset="-122"/>
                <a:ea typeface="等线" panose="02010600030101010101" charset="-122"/>
              </a:rPr>
              <a:t>由于无线传感器网络应用环境的特殊性，其无线通信信道很不稳定，而且由于能源受限，传感器节点受损概率远大于一般的自组织网络，因此对无线传感器网络的</a:t>
            </a:r>
            <a:r>
              <a:rPr lang="zh-CN" altLang="en-US" sz="2400" b="1">
                <a:solidFill>
                  <a:srgbClr val="FF0000"/>
                </a:solidFill>
                <a:latin typeface="等线" panose="02010600030101010101" charset="-122"/>
                <a:ea typeface="等线" panose="02010600030101010101" charset="-122"/>
              </a:rPr>
              <a:t>健壮性保障</a:t>
            </a:r>
            <a:r>
              <a:rPr lang="zh-CN" altLang="en-US" sz="2400" b="1">
                <a:latin typeface="等线" panose="02010600030101010101" charset="-122"/>
                <a:ea typeface="等线" panose="02010600030101010101" charset="-122"/>
              </a:rPr>
              <a:t>是必需的；</a:t>
            </a:r>
            <a:endParaRPr lang="zh-CN" altLang="en-US" sz="2400" b="1">
              <a:latin typeface="等线" panose="02010600030101010101" charset="-122"/>
              <a:ea typeface="等线" panose="02010600030101010101" charset="-122"/>
            </a:endParaRPr>
          </a:p>
          <a:p>
            <a:r>
              <a:rPr lang="en-US" altLang="zh-CN" sz="2400" b="1">
                <a:latin typeface="等线" panose="02010600030101010101" charset="-122"/>
                <a:ea typeface="等线" panose="02010600030101010101" charset="-122"/>
              </a:rPr>
              <a:t>       </a:t>
            </a:r>
            <a:r>
              <a:rPr lang="zh-CN" altLang="en-US" sz="2400" b="1">
                <a:latin typeface="等线" panose="02010600030101010101" charset="-122"/>
                <a:ea typeface="等线" panose="02010600030101010101" charset="-122"/>
              </a:rPr>
              <a:t>无线传感器网络的</a:t>
            </a:r>
            <a:r>
              <a:rPr lang="zh-CN" altLang="en-US" sz="2400" b="1">
                <a:solidFill>
                  <a:srgbClr val="FF0000"/>
                </a:solidFill>
                <a:latin typeface="等线" panose="02010600030101010101" charset="-122"/>
                <a:ea typeface="等线" panose="02010600030101010101" charset="-122"/>
              </a:rPr>
              <a:t>拓扑结构具有动态变化的特性</a:t>
            </a:r>
            <a:r>
              <a:rPr lang="zh-CN" altLang="en-US" sz="2400" b="1">
                <a:latin typeface="等线" panose="02010600030101010101" charset="-122"/>
                <a:ea typeface="等线" panose="02010600030101010101" charset="-122"/>
              </a:rPr>
              <a:t>。</a:t>
            </a:r>
            <a:endParaRPr lang="zh-CN" altLang="en-US" sz="2400" b="1">
              <a:latin typeface="等线" panose="02010600030101010101" charset="-122"/>
              <a:ea typeface="等线" panose="02010600030101010101" charset="-122"/>
            </a:endParaRPr>
          </a:p>
          <a:p>
            <a:r>
              <a:rPr lang="zh-CN" altLang="en-US" sz="2400" b="1">
                <a:latin typeface="等线" panose="02010600030101010101" charset="-122"/>
                <a:ea typeface="等线" panose="02010600030101010101" charset="-122"/>
              </a:rPr>
              <a:t>这些特点使得无线传感器网络有别于传统的自组织网络，在体系结构设计中需要重点考虑。</a:t>
            </a:r>
            <a:endParaRPr lang="zh-CN" altLang="en-US" sz="2400" b="1">
              <a:latin typeface="等线" panose="02010600030101010101" charset="-122"/>
              <a:ea typeface="等线" panose="0201060003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018790" y="142240"/>
            <a:ext cx="8548370" cy="1325880"/>
          </a:xfrm>
        </p:spPr>
        <p:txBody>
          <a:bodyPr>
            <a:normAutofit/>
          </a:bodyPr>
          <a:p>
            <a:r>
              <a:rPr lang="en-US" b="1">
                <a:uFillTx/>
                <a:latin typeface="Times New Roman" panose="02020603050405020304" charset="0"/>
                <a:ea typeface="宋体" panose="02010600030101010101" pitchFamily="2" charset="-122"/>
                <a:sym typeface="+mn-ea"/>
                <a:hlinkClick r:id="rId1"/>
              </a:rPr>
              <a:t>2.1  </a:t>
            </a:r>
            <a:r>
              <a:rPr lang="zh-CN" b="1">
                <a:uFillTx/>
                <a:ea typeface="宋体" panose="02010600030101010101" pitchFamily="2" charset="-122"/>
                <a:sym typeface="+mn-ea"/>
                <a:hlinkClick r:id="rId1"/>
              </a:rPr>
              <a:t>系统</a:t>
            </a:r>
            <a:r>
              <a:rPr lang="zh-CN" b="1">
                <a:uFillTx/>
                <a:ea typeface="宋体" panose="02010600030101010101" pitchFamily="2" charset="-122"/>
                <a:sym typeface="+mn-ea"/>
                <a:hlinkClick r:id="rId1"/>
              </a:rPr>
              <a:t>结构</a:t>
            </a:r>
            <a:endParaRPr lang="zh-CN" altLang="en-US"/>
          </a:p>
        </p:txBody>
      </p:sp>
      <p:grpSp>
        <p:nvGrpSpPr>
          <p:cNvPr id="9" name="画布 2"/>
          <p:cNvGrpSpPr/>
          <p:nvPr/>
        </p:nvGrpSpPr>
        <p:grpSpPr>
          <a:xfrm>
            <a:off x="4850765" y="1355090"/>
            <a:ext cx="6958330" cy="4147185"/>
            <a:chOff x="0" y="0"/>
            <a:chExt cx="5274310" cy="3072130"/>
          </a:xfrm>
        </p:grpSpPr>
        <p:sp>
          <p:nvSpPr>
            <p:cNvPr id="10" name="画布 2"/>
            <p:cNvSpPr/>
            <p:nvPr/>
          </p:nvSpPr>
          <p:spPr>
            <a:xfrm>
              <a:off x="0" y="0"/>
              <a:ext cx="5274310" cy="3072130"/>
            </a:xfrm>
            <a:noFill/>
            <a:ln>
              <a:noFill/>
            </a:ln>
          </p:spPr>
        </p:sp>
        <p:sp>
          <p:nvSpPr>
            <p:cNvPr id="907" name="云形 12"/>
            <p:cNvSpPr/>
            <p:nvPr/>
          </p:nvSpPr>
          <p:spPr>
            <a:xfrm>
              <a:off x="127635" y="331470"/>
              <a:ext cx="1605280" cy="784225"/>
            </a:xfrm>
            <a:prstGeom prst="cloud">
              <a:avLst/>
            </a:prstGeom>
            <a:solidFill>
              <a:srgbClr val="FFFFFF"/>
            </a:solidFill>
            <a:ln w="25400" cap="flat" cmpd="sng" algn="ctr">
              <a:solidFill>
                <a:srgbClr val="000000"/>
              </a:solidFill>
              <a:prstDash val="solid"/>
            </a:ln>
            <a:effectLst/>
          </p:spPr>
        </p:sp>
        <p:sp>
          <p:nvSpPr>
            <p:cNvPr id="917" name="云形 13"/>
            <p:cNvSpPr/>
            <p:nvPr/>
          </p:nvSpPr>
          <p:spPr>
            <a:xfrm>
              <a:off x="2948940" y="146685"/>
              <a:ext cx="2325370" cy="2403475"/>
            </a:xfrm>
            <a:prstGeom prst="cloud">
              <a:avLst/>
            </a:prstGeom>
            <a:solidFill>
              <a:srgbClr val="FFFFFF"/>
            </a:solidFill>
            <a:ln w="25400" cap="flat" cmpd="sng" algn="ctr">
              <a:solidFill>
                <a:srgbClr val="000000"/>
              </a:solidFill>
              <a:prstDash val="solid"/>
            </a:ln>
            <a:effectLst/>
          </p:spPr>
        </p:sp>
        <p:sp>
          <p:nvSpPr>
            <p:cNvPr id="918" name="矩形 14"/>
            <p:cNvSpPr/>
            <p:nvPr/>
          </p:nvSpPr>
          <p:spPr>
            <a:xfrm>
              <a:off x="2083435" y="499110"/>
              <a:ext cx="857250" cy="513080"/>
            </a:xfrm>
            <a:prstGeom prst="rect">
              <a:avLst/>
            </a:prstGeom>
            <a:solidFill>
              <a:srgbClr val="FFFFFF"/>
            </a:solidFill>
            <a:ln w="25400" cap="flat" cmpd="sng" algn="ctr">
              <a:solidFill>
                <a:srgbClr val="000000"/>
              </a:solidFill>
              <a:prstDash val="solid"/>
            </a:ln>
            <a:effectLst/>
          </p:spPr>
        </p:sp>
        <p:sp>
          <p:nvSpPr>
            <p:cNvPr id="919" name="矩形 15"/>
            <p:cNvSpPr/>
            <p:nvPr/>
          </p:nvSpPr>
          <p:spPr>
            <a:xfrm>
              <a:off x="487680" y="2067560"/>
              <a:ext cx="871855" cy="454660"/>
            </a:xfrm>
            <a:prstGeom prst="rect">
              <a:avLst/>
            </a:prstGeom>
            <a:solidFill>
              <a:srgbClr val="FFFFFF"/>
            </a:solidFill>
            <a:ln w="25400" cap="flat" cmpd="sng" algn="ctr">
              <a:solidFill>
                <a:srgbClr val="000000"/>
              </a:solidFill>
              <a:prstDash val="solid"/>
            </a:ln>
            <a:effectLst/>
          </p:spPr>
        </p:sp>
        <p:sp>
          <p:nvSpPr>
            <p:cNvPr id="920" name="文本框 21"/>
            <p:cNvSpPr txBox="1"/>
            <p:nvPr/>
          </p:nvSpPr>
          <p:spPr>
            <a:xfrm>
              <a:off x="384575" y="611039"/>
              <a:ext cx="1181642" cy="283176"/>
            </a:xfrm>
            <a:prstGeom prst="rect">
              <a:avLst/>
            </a:prstGeom>
            <a:solidFill>
              <a:srgbClr val="FFFFFF"/>
            </a:solidFill>
            <a:ln w="6350">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600" kern="100">
                  <a:latin typeface="Times New Roman" panose="02020603050405020304"/>
                  <a:ea typeface="宋体" panose="02010600030101010101" pitchFamily="2" charset="-122"/>
                  <a:cs typeface="Times New Roman" panose="02020603050405020304"/>
                  <a:sym typeface="Times New Roman" panose="02020603050405020304"/>
                </a:rPr>
                <a:t>卫星或互联网</a:t>
              </a:r>
              <a:endParaRPr lang="en-US" altLang="zh-CN" sz="16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921" name="文本框 22"/>
            <p:cNvSpPr txBox="1"/>
            <p:nvPr/>
          </p:nvSpPr>
          <p:spPr>
            <a:xfrm>
              <a:off x="539750" y="2150745"/>
              <a:ext cx="748665" cy="283210"/>
            </a:xfrm>
            <a:prstGeom prst="rect">
              <a:avLst/>
            </a:prstGeom>
            <a:solidFill>
              <a:srgbClr val="FFFFFF"/>
            </a:solidFill>
            <a:ln w="6350">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rPr>
                <a:t>管理节点</a:t>
              </a:r>
              <a:endPar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922" name="文本框 23"/>
            <p:cNvSpPr txBox="1"/>
            <p:nvPr/>
          </p:nvSpPr>
          <p:spPr>
            <a:xfrm>
              <a:off x="2129155" y="522605"/>
              <a:ext cx="748665" cy="445770"/>
            </a:xfrm>
            <a:prstGeom prst="rect">
              <a:avLst/>
            </a:prstGeom>
            <a:solidFill>
              <a:srgbClr val="FFFFFF"/>
            </a:solidFill>
            <a:ln w="6350">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rPr>
                <a:t>汇聚节点</a:t>
              </a:r>
              <a:endPar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endParaRPr>
            </a:p>
            <a:p>
              <a:pPr algn="just"/>
              <a:r>
                <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rPr>
                <a:t>（sink）</a:t>
              </a:r>
              <a:endPar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endParaRPr>
            </a:p>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928" name="文本框 24"/>
            <p:cNvSpPr txBox="1"/>
            <p:nvPr/>
          </p:nvSpPr>
          <p:spPr>
            <a:xfrm>
              <a:off x="1652905" y="1704340"/>
              <a:ext cx="748665" cy="283210"/>
            </a:xfrm>
            <a:prstGeom prst="rect">
              <a:avLst/>
            </a:prstGeom>
            <a:solidFill>
              <a:srgbClr val="FFFFFF"/>
            </a:solidFill>
            <a:ln w="6350">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rPr>
                <a:t>手机终端</a:t>
              </a:r>
              <a:endPar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929" name="椭圆 27"/>
            <p:cNvSpPr/>
            <p:nvPr/>
          </p:nvSpPr>
          <p:spPr>
            <a:xfrm>
              <a:off x="4420870" y="933450"/>
              <a:ext cx="102870" cy="102870"/>
            </a:xfrm>
            <a:prstGeom prst="ellipse">
              <a:avLst/>
            </a:prstGeom>
            <a:solidFill>
              <a:srgbClr val="000000"/>
            </a:solidFill>
            <a:ln w="25400" cap="flat" cmpd="sng" algn="ctr">
              <a:solidFill>
                <a:srgbClr val="000000">
                  <a:shade val="50000"/>
                </a:srgbClr>
              </a:solidFill>
              <a:prstDash val="solid"/>
            </a:ln>
            <a:effectLst/>
          </p:spPr>
        </p:sp>
        <p:sp>
          <p:nvSpPr>
            <p:cNvPr id="930" name="椭圆 28"/>
            <p:cNvSpPr/>
            <p:nvPr/>
          </p:nvSpPr>
          <p:spPr>
            <a:xfrm>
              <a:off x="4766945" y="904240"/>
              <a:ext cx="102870" cy="102870"/>
            </a:xfrm>
            <a:prstGeom prst="ellipse">
              <a:avLst/>
            </a:prstGeom>
            <a:solidFill>
              <a:srgbClr val="FFFFFF"/>
            </a:solidFill>
            <a:ln w="25400" cap="flat" cmpd="sng" algn="ctr">
              <a:solidFill>
                <a:srgbClr val="000000"/>
              </a:solidFill>
              <a:prstDash val="solid"/>
            </a:ln>
            <a:effectLst/>
          </p:spPr>
        </p:sp>
        <p:sp>
          <p:nvSpPr>
            <p:cNvPr id="931" name="椭圆 29"/>
            <p:cNvSpPr/>
            <p:nvPr/>
          </p:nvSpPr>
          <p:spPr>
            <a:xfrm>
              <a:off x="4758690" y="1190625"/>
              <a:ext cx="102870" cy="102870"/>
            </a:xfrm>
            <a:prstGeom prst="ellipse">
              <a:avLst/>
            </a:prstGeom>
            <a:solidFill>
              <a:srgbClr val="000000"/>
            </a:solidFill>
            <a:ln w="25400" cap="flat" cmpd="sng" algn="ctr">
              <a:solidFill>
                <a:srgbClr val="000000">
                  <a:shade val="50000"/>
                </a:srgbClr>
              </a:solidFill>
              <a:prstDash val="solid"/>
            </a:ln>
            <a:effectLst/>
          </p:spPr>
        </p:sp>
        <p:sp>
          <p:nvSpPr>
            <p:cNvPr id="932" name="椭圆 30"/>
            <p:cNvSpPr/>
            <p:nvPr/>
          </p:nvSpPr>
          <p:spPr>
            <a:xfrm>
              <a:off x="4039870" y="917575"/>
              <a:ext cx="102870" cy="102870"/>
            </a:xfrm>
            <a:prstGeom prst="ellipse">
              <a:avLst/>
            </a:prstGeom>
            <a:solidFill>
              <a:srgbClr val="000000"/>
            </a:solidFill>
            <a:ln w="25400" cap="flat" cmpd="sng" algn="ctr">
              <a:solidFill>
                <a:srgbClr val="000000">
                  <a:shade val="50000"/>
                </a:srgbClr>
              </a:solidFill>
              <a:prstDash val="solid"/>
            </a:ln>
            <a:effectLst/>
          </p:spPr>
        </p:sp>
        <p:sp>
          <p:nvSpPr>
            <p:cNvPr id="933" name="椭圆 31"/>
            <p:cNvSpPr/>
            <p:nvPr/>
          </p:nvSpPr>
          <p:spPr>
            <a:xfrm>
              <a:off x="3392805" y="910590"/>
              <a:ext cx="102870" cy="102870"/>
            </a:xfrm>
            <a:prstGeom prst="ellipse">
              <a:avLst/>
            </a:prstGeom>
            <a:solidFill>
              <a:srgbClr val="000000"/>
            </a:solidFill>
            <a:ln w="25400" cap="flat" cmpd="sng" algn="ctr">
              <a:solidFill>
                <a:srgbClr val="000000">
                  <a:shade val="50000"/>
                </a:srgbClr>
              </a:solidFill>
              <a:prstDash val="solid"/>
            </a:ln>
            <a:effectLst/>
          </p:spPr>
        </p:sp>
        <p:sp>
          <p:nvSpPr>
            <p:cNvPr id="934" name="椭圆 32"/>
            <p:cNvSpPr/>
            <p:nvPr/>
          </p:nvSpPr>
          <p:spPr>
            <a:xfrm>
              <a:off x="3772535" y="747395"/>
              <a:ext cx="102870" cy="102870"/>
            </a:xfrm>
            <a:prstGeom prst="ellipse">
              <a:avLst/>
            </a:prstGeom>
            <a:solidFill>
              <a:srgbClr val="000000"/>
            </a:solidFill>
            <a:ln w="25400" cap="flat" cmpd="sng" algn="ctr">
              <a:solidFill>
                <a:srgbClr val="000000">
                  <a:shade val="50000"/>
                </a:srgbClr>
              </a:solidFill>
              <a:prstDash val="solid"/>
            </a:ln>
            <a:effectLst/>
          </p:spPr>
        </p:sp>
        <p:sp>
          <p:nvSpPr>
            <p:cNvPr id="935" name="椭圆 33"/>
            <p:cNvSpPr/>
            <p:nvPr/>
          </p:nvSpPr>
          <p:spPr>
            <a:xfrm>
              <a:off x="3557270" y="1593850"/>
              <a:ext cx="102870" cy="102870"/>
            </a:xfrm>
            <a:prstGeom prst="ellipse">
              <a:avLst/>
            </a:prstGeom>
            <a:solidFill>
              <a:srgbClr val="FFFFFF"/>
            </a:solidFill>
            <a:ln w="25400" cap="flat" cmpd="sng" algn="ctr">
              <a:solidFill>
                <a:srgbClr val="000000"/>
              </a:solidFill>
              <a:prstDash val="solid"/>
            </a:ln>
            <a:effectLst/>
          </p:spPr>
        </p:sp>
        <p:sp>
          <p:nvSpPr>
            <p:cNvPr id="936" name="椭圆 34"/>
            <p:cNvSpPr/>
            <p:nvPr/>
          </p:nvSpPr>
          <p:spPr>
            <a:xfrm>
              <a:off x="3973830" y="1570355"/>
              <a:ext cx="102870" cy="102870"/>
            </a:xfrm>
            <a:prstGeom prst="ellipse">
              <a:avLst/>
            </a:prstGeom>
            <a:solidFill>
              <a:srgbClr val="FFFFFF"/>
            </a:solidFill>
            <a:ln w="25400" cap="flat" cmpd="sng" algn="ctr">
              <a:solidFill>
                <a:srgbClr val="000000"/>
              </a:solidFill>
              <a:prstDash val="solid"/>
            </a:ln>
            <a:effectLst/>
          </p:spPr>
        </p:sp>
        <p:sp>
          <p:nvSpPr>
            <p:cNvPr id="1146" name="椭圆 35"/>
            <p:cNvSpPr/>
            <p:nvPr/>
          </p:nvSpPr>
          <p:spPr>
            <a:xfrm>
              <a:off x="3561715" y="1129665"/>
              <a:ext cx="102870" cy="102870"/>
            </a:xfrm>
            <a:prstGeom prst="ellipse">
              <a:avLst/>
            </a:prstGeom>
            <a:solidFill>
              <a:srgbClr val="FFFFFF"/>
            </a:solidFill>
            <a:ln w="25400" cap="flat" cmpd="sng" algn="ctr">
              <a:solidFill>
                <a:srgbClr val="000000"/>
              </a:solidFill>
              <a:prstDash val="solid"/>
            </a:ln>
            <a:effectLst/>
          </p:spPr>
        </p:sp>
        <p:sp>
          <p:nvSpPr>
            <p:cNvPr id="1147" name="椭圆 36"/>
            <p:cNvSpPr/>
            <p:nvPr/>
          </p:nvSpPr>
          <p:spPr>
            <a:xfrm>
              <a:off x="3259455" y="1421130"/>
              <a:ext cx="102870" cy="102870"/>
            </a:xfrm>
            <a:prstGeom prst="ellipse">
              <a:avLst/>
            </a:prstGeom>
            <a:solidFill>
              <a:srgbClr val="FFFFFF"/>
            </a:solidFill>
            <a:ln w="25400" cap="flat" cmpd="sng" algn="ctr">
              <a:solidFill>
                <a:srgbClr val="000000"/>
              </a:solidFill>
              <a:prstDash val="solid"/>
            </a:ln>
            <a:effectLst/>
          </p:spPr>
        </p:sp>
        <p:sp>
          <p:nvSpPr>
            <p:cNvPr id="1148" name="椭圆 37"/>
            <p:cNvSpPr/>
            <p:nvPr/>
          </p:nvSpPr>
          <p:spPr>
            <a:xfrm>
              <a:off x="4562475" y="657225"/>
              <a:ext cx="102870" cy="102870"/>
            </a:xfrm>
            <a:prstGeom prst="ellipse">
              <a:avLst/>
            </a:prstGeom>
            <a:solidFill>
              <a:srgbClr val="FFFFFF"/>
            </a:solidFill>
            <a:ln w="25400" cap="flat" cmpd="sng" algn="ctr">
              <a:solidFill>
                <a:srgbClr val="000000"/>
              </a:solidFill>
              <a:prstDash val="solid"/>
            </a:ln>
            <a:effectLst/>
          </p:spPr>
        </p:sp>
        <p:sp>
          <p:nvSpPr>
            <p:cNvPr id="1149" name="椭圆 38"/>
            <p:cNvSpPr/>
            <p:nvPr/>
          </p:nvSpPr>
          <p:spPr>
            <a:xfrm>
              <a:off x="4326890" y="524510"/>
              <a:ext cx="102870" cy="102870"/>
            </a:xfrm>
            <a:prstGeom prst="ellipse">
              <a:avLst/>
            </a:prstGeom>
            <a:solidFill>
              <a:srgbClr val="FFFFFF"/>
            </a:solidFill>
            <a:ln w="25400" cap="flat" cmpd="sng" algn="ctr">
              <a:solidFill>
                <a:srgbClr val="000000"/>
              </a:solidFill>
              <a:prstDash val="solid"/>
            </a:ln>
            <a:effectLst/>
          </p:spPr>
        </p:sp>
        <p:sp>
          <p:nvSpPr>
            <p:cNvPr id="1150" name="椭圆 39"/>
            <p:cNvSpPr/>
            <p:nvPr/>
          </p:nvSpPr>
          <p:spPr>
            <a:xfrm>
              <a:off x="4185920" y="727710"/>
              <a:ext cx="102870" cy="102870"/>
            </a:xfrm>
            <a:prstGeom prst="ellipse">
              <a:avLst/>
            </a:prstGeom>
            <a:solidFill>
              <a:srgbClr val="FFFFFF"/>
            </a:solidFill>
            <a:ln w="25400" cap="flat" cmpd="sng" algn="ctr">
              <a:solidFill>
                <a:srgbClr val="000000"/>
              </a:solidFill>
              <a:prstDash val="solid"/>
            </a:ln>
            <a:effectLst/>
          </p:spPr>
        </p:sp>
        <p:sp>
          <p:nvSpPr>
            <p:cNvPr id="1151" name="椭圆 40"/>
            <p:cNvSpPr/>
            <p:nvPr/>
          </p:nvSpPr>
          <p:spPr>
            <a:xfrm>
              <a:off x="3869690" y="484505"/>
              <a:ext cx="102870" cy="102870"/>
            </a:xfrm>
            <a:prstGeom prst="ellipse">
              <a:avLst/>
            </a:prstGeom>
            <a:solidFill>
              <a:srgbClr val="FFFFFF"/>
            </a:solidFill>
            <a:ln w="25400" cap="flat" cmpd="sng" algn="ctr">
              <a:solidFill>
                <a:srgbClr val="000000"/>
              </a:solidFill>
              <a:prstDash val="solid"/>
            </a:ln>
            <a:effectLst/>
          </p:spPr>
        </p:sp>
        <p:sp>
          <p:nvSpPr>
            <p:cNvPr id="1152" name="椭圆 41"/>
            <p:cNvSpPr/>
            <p:nvPr/>
          </p:nvSpPr>
          <p:spPr>
            <a:xfrm>
              <a:off x="4268470" y="1835150"/>
              <a:ext cx="102870" cy="102870"/>
            </a:xfrm>
            <a:prstGeom prst="ellipse">
              <a:avLst/>
            </a:prstGeom>
            <a:solidFill>
              <a:srgbClr val="FFFFFF"/>
            </a:solidFill>
            <a:ln w="25400" cap="flat" cmpd="sng" algn="ctr">
              <a:solidFill>
                <a:srgbClr val="000000"/>
              </a:solidFill>
              <a:prstDash val="solid"/>
            </a:ln>
            <a:effectLst/>
          </p:spPr>
        </p:sp>
        <p:sp>
          <p:nvSpPr>
            <p:cNvPr id="1153" name="椭圆 42"/>
            <p:cNvSpPr/>
            <p:nvPr/>
          </p:nvSpPr>
          <p:spPr>
            <a:xfrm>
              <a:off x="3350895" y="1856105"/>
              <a:ext cx="102870" cy="102870"/>
            </a:xfrm>
            <a:prstGeom prst="ellipse">
              <a:avLst/>
            </a:prstGeom>
            <a:solidFill>
              <a:srgbClr val="FFFFFF"/>
            </a:solidFill>
            <a:ln w="25400" cap="flat" cmpd="sng" algn="ctr">
              <a:solidFill>
                <a:srgbClr val="000000"/>
              </a:solidFill>
              <a:prstDash val="solid"/>
            </a:ln>
            <a:effectLst/>
          </p:spPr>
        </p:sp>
        <p:sp>
          <p:nvSpPr>
            <p:cNvPr id="1154" name="椭圆 43"/>
            <p:cNvSpPr/>
            <p:nvPr/>
          </p:nvSpPr>
          <p:spPr>
            <a:xfrm>
              <a:off x="3766820" y="1993900"/>
              <a:ext cx="102870" cy="102870"/>
            </a:xfrm>
            <a:prstGeom prst="ellipse">
              <a:avLst/>
            </a:prstGeom>
            <a:solidFill>
              <a:srgbClr val="FFFFFF"/>
            </a:solidFill>
            <a:ln w="25400" cap="flat" cmpd="sng" algn="ctr">
              <a:solidFill>
                <a:srgbClr val="000000"/>
              </a:solidFill>
              <a:prstDash val="solid"/>
            </a:ln>
            <a:effectLst/>
          </p:spPr>
        </p:sp>
        <p:sp>
          <p:nvSpPr>
            <p:cNvPr id="1155" name="椭圆 44"/>
            <p:cNvSpPr/>
            <p:nvPr/>
          </p:nvSpPr>
          <p:spPr>
            <a:xfrm>
              <a:off x="4600575" y="1655445"/>
              <a:ext cx="102870" cy="102870"/>
            </a:xfrm>
            <a:prstGeom prst="ellipse">
              <a:avLst/>
            </a:prstGeom>
            <a:solidFill>
              <a:srgbClr val="FFFFFF"/>
            </a:solidFill>
            <a:ln w="25400" cap="flat" cmpd="sng" algn="ctr">
              <a:solidFill>
                <a:srgbClr val="000000"/>
              </a:solidFill>
              <a:prstDash val="solid"/>
            </a:ln>
            <a:effectLst/>
          </p:spPr>
        </p:sp>
        <p:sp>
          <p:nvSpPr>
            <p:cNvPr id="1156" name="椭圆 45"/>
            <p:cNvSpPr/>
            <p:nvPr/>
          </p:nvSpPr>
          <p:spPr>
            <a:xfrm>
              <a:off x="4284345" y="1323975"/>
              <a:ext cx="102870" cy="102870"/>
            </a:xfrm>
            <a:prstGeom prst="ellipse">
              <a:avLst/>
            </a:prstGeom>
            <a:solidFill>
              <a:srgbClr val="FFFFFF"/>
            </a:solidFill>
            <a:ln w="25400" cap="flat" cmpd="sng" algn="ctr">
              <a:solidFill>
                <a:srgbClr val="000000"/>
              </a:solidFill>
              <a:prstDash val="solid"/>
            </a:ln>
            <a:effectLst/>
          </p:spPr>
        </p:sp>
        <p:sp>
          <p:nvSpPr>
            <p:cNvPr id="1157" name="文本框 46"/>
            <p:cNvSpPr txBox="1"/>
            <p:nvPr/>
          </p:nvSpPr>
          <p:spPr>
            <a:xfrm>
              <a:off x="4003675" y="2700020"/>
              <a:ext cx="908685" cy="283210"/>
            </a:xfrm>
            <a:prstGeom prst="rect">
              <a:avLst/>
            </a:prstGeom>
            <a:solidFill>
              <a:srgbClr val="FFFFFF"/>
            </a:solidFill>
            <a:ln w="6350">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rPr>
                <a:t>传感器节点</a:t>
              </a:r>
              <a:endPar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158" name="文本框 47"/>
            <p:cNvSpPr txBox="1"/>
            <p:nvPr/>
          </p:nvSpPr>
          <p:spPr>
            <a:xfrm>
              <a:off x="2268220" y="2340610"/>
              <a:ext cx="784860" cy="283210"/>
            </a:xfrm>
            <a:prstGeom prst="rect">
              <a:avLst/>
            </a:prstGeom>
            <a:solidFill>
              <a:srgbClr val="FFFFFF"/>
            </a:solidFill>
            <a:ln w="6350">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rPr>
                <a:t>监控区域</a:t>
              </a:r>
              <a:endParaRPr lang="en-US" altLang="zh-CN" sz="140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1159" name="直接箭头连接符 54"/>
            <p:cNvCxnSpPr/>
            <p:nvPr/>
          </p:nvCxnSpPr>
          <p:spPr>
            <a:xfrm flipV="1">
              <a:off x="1731645" y="716280"/>
              <a:ext cx="367030" cy="7620"/>
            </a:xfrm>
            <a:prstGeom prst="straightConnector1">
              <a:avLst/>
            </a:prstGeom>
            <a:noFill/>
            <a:ln w="6350" cap="flat" cmpd="sng" algn="ctr">
              <a:solidFill>
                <a:srgbClr val="000000"/>
              </a:solidFill>
              <a:prstDash val="solid"/>
              <a:headEnd type="triangle" w="med" len="med"/>
              <a:tailEnd type="triangle" w="med" len="med"/>
            </a:ln>
            <a:effectLst/>
          </p:spPr>
        </p:cxnSp>
        <p:cxnSp>
          <p:nvCxnSpPr>
            <p:cNvPr id="1160" name="直接箭头连接符 55"/>
            <p:cNvCxnSpPr/>
            <p:nvPr/>
          </p:nvCxnSpPr>
          <p:spPr>
            <a:xfrm>
              <a:off x="2940685" y="755650"/>
              <a:ext cx="467360" cy="170180"/>
            </a:xfrm>
            <a:prstGeom prst="straightConnector1">
              <a:avLst/>
            </a:prstGeom>
            <a:noFill/>
            <a:ln w="6350" cap="flat" cmpd="sng" algn="ctr">
              <a:solidFill>
                <a:srgbClr val="000000"/>
              </a:solidFill>
              <a:prstDash val="solid"/>
              <a:headEnd type="triangle" w="med" len="med"/>
              <a:tailEnd type="triangle" w="med" len="med"/>
            </a:ln>
            <a:effectLst/>
          </p:spPr>
        </p:cxnSp>
        <p:cxnSp>
          <p:nvCxnSpPr>
            <p:cNvPr id="1161" name="直接箭头连接符 56"/>
            <p:cNvCxnSpPr/>
            <p:nvPr/>
          </p:nvCxnSpPr>
          <p:spPr>
            <a:xfrm flipV="1">
              <a:off x="3495675" y="835025"/>
              <a:ext cx="292100" cy="127000"/>
            </a:xfrm>
            <a:prstGeom prst="straightConnector1">
              <a:avLst/>
            </a:prstGeom>
            <a:noFill/>
            <a:ln w="6350" cap="flat" cmpd="sng" algn="ctr">
              <a:solidFill>
                <a:srgbClr val="000000"/>
              </a:solidFill>
              <a:prstDash val="solid"/>
              <a:headEnd type="triangle" w="med" len="med"/>
              <a:tailEnd type="triangle" w="med" len="med"/>
            </a:ln>
            <a:effectLst/>
          </p:spPr>
        </p:cxnSp>
        <p:cxnSp>
          <p:nvCxnSpPr>
            <p:cNvPr id="1162" name="直接箭头连接符 57"/>
            <p:cNvCxnSpPr/>
            <p:nvPr/>
          </p:nvCxnSpPr>
          <p:spPr>
            <a:xfrm>
              <a:off x="4121785" y="971550"/>
              <a:ext cx="314325" cy="15240"/>
            </a:xfrm>
            <a:prstGeom prst="straightConnector1">
              <a:avLst/>
            </a:prstGeom>
            <a:noFill/>
            <a:ln w="6350" cap="flat" cmpd="sng" algn="ctr">
              <a:solidFill>
                <a:srgbClr val="000000"/>
              </a:solidFill>
              <a:prstDash val="solid"/>
              <a:headEnd type="triangle" w="med" len="med"/>
              <a:tailEnd type="triangle" w="med" len="med"/>
            </a:ln>
            <a:effectLst/>
          </p:spPr>
        </p:cxnSp>
        <p:cxnSp>
          <p:nvCxnSpPr>
            <p:cNvPr id="1163" name="直接箭头连接符 58"/>
            <p:cNvCxnSpPr/>
            <p:nvPr/>
          </p:nvCxnSpPr>
          <p:spPr>
            <a:xfrm>
              <a:off x="4516120" y="1016635"/>
              <a:ext cx="257810" cy="189230"/>
            </a:xfrm>
            <a:prstGeom prst="straightConnector1">
              <a:avLst/>
            </a:prstGeom>
            <a:noFill/>
            <a:ln w="6350" cap="flat" cmpd="sng" algn="ctr">
              <a:solidFill>
                <a:srgbClr val="000000"/>
              </a:solidFill>
              <a:prstDash val="solid"/>
              <a:headEnd type="triangle" w="med" len="med"/>
              <a:tailEnd type="triangle" w="med" len="med"/>
            </a:ln>
            <a:effectLst/>
          </p:spPr>
        </p:cxnSp>
        <p:cxnSp>
          <p:nvCxnSpPr>
            <p:cNvPr id="1164" name="直接箭头连接符 59"/>
            <p:cNvCxnSpPr/>
            <p:nvPr/>
          </p:nvCxnSpPr>
          <p:spPr>
            <a:xfrm>
              <a:off x="3856990" y="824865"/>
              <a:ext cx="198120" cy="111125"/>
            </a:xfrm>
            <a:prstGeom prst="straightConnector1">
              <a:avLst/>
            </a:prstGeom>
            <a:noFill/>
            <a:ln w="6350" cap="flat" cmpd="sng" algn="ctr">
              <a:solidFill>
                <a:srgbClr val="000000"/>
              </a:solidFill>
              <a:prstDash val="solid"/>
              <a:headEnd type="triangle" w="med" len="med"/>
              <a:tailEnd type="triangle" w="med" len="med"/>
            </a:ln>
            <a:effectLst/>
          </p:spPr>
        </p:cxnSp>
        <p:cxnSp>
          <p:nvCxnSpPr>
            <p:cNvPr id="1165" name="直接箭头连接符 61"/>
            <p:cNvCxnSpPr/>
            <p:nvPr/>
          </p:nvCxnSpPr>
          <p:spPr>
            <a:xfrm flipH="1">
              <a:off x="923925" y="1115060"/>
              <a:ext cx="6350" cy="952500"/>
            </a:xfrm>
            <a:prstGeom prst="straightConnector1">
              <a:avLst/>
            </a:prstGeom>
            <a:noFill/>
            <a:ln w="6350" cap="flat" cmpd="sng" algn="ctr">
              <a:solidFill>
                <a:srgbClr val="000000"/>
              </a:solidFill>
              <a:prstDash val="solid"/>
              <a:headEnd type="triangle" w="med" len="med"/>
              <a:tailEnd type="triangle" w="med" len="med"/>
            </a:ln>
            <a:effectLst/>
          </p:spPr>
        </p:cxnSp>
        <p:sp>
          <p:nvSpPr>
            <p:cNvPr id="1166" name="任意多边形 1530"/>
            <p:cNvSpPr/>
            <p:nvPr/>
          </p:nvSpPr>
          <p:spPr>
            <a:xfrm rot="19200000">
              <a:off x="1168400" y="1715770"/>
              <a:ext cx="539115" cy="130810"/>
            </a:xfrm>
            <a:custGeom>
              <a:avLst/>
              <a:gdLst>
                <a:gd name="connsiteX0" fmla="*/ 17 w 2642"/>
                <a:gd name="connsiteY0" fmla="*/ 13 h 409"/>
                <a:gd name="connsiteX1" fmla="*/ 90 w 2642"/>
                <a:gd name="connsiteY1" fmla="*/ 23 h 409"/>
                <a:gd name="connsiteX2" fmla="*/ 40 w 2642"/>
                <a:gd name="connsiteY2" fmla="*/ 3 h 409"/>
                <a:gd name="connsiteX3" fmla="*/ 1905 w 2642"/>
                <a:gd name="connsiteY3" fmla="*/ 55 h 409"/>
                <a:gd name="connsiteX4" fmla="*/ 1502 w 2642"/>
                <a:gd name="connsiteY4" fmla="*/ 231 h 409"/>
                <a:gd name="connsiteX5" fmla="*/ 2642 w 2642"/>
                <a:gd name="connsiteY5" fmla="*/ 409 h 409"/>
                <a:gd name="connsiteX6" fmla="*/ 784 w 2642"/>
                <a:gd name="connsiteY6" fmla="*/ 403 h 409"/>
                <a:gd name="connsiteX7" fmla="*/ 1161 w 2642"/>
                <a:gd name="connsiteY7" fmla="*/ 203 h 409"/>
                <a:gd name="connsiteX8" fmla="*/ 0 w 2642"/>
                <a:gd name="connsiteY8" fmla="*/ 0 h 409"/>
                <a:gd name="connsiteX9" fmla="*/ 17 w 2642"/>
                <a:gd name="connsiteY9" fmla="*/ 13 h 409"/>
                <a:gd name="connsiteX10" fmla="*/ 65 w 2642"/>
                <a:gd name="connsiteY10" fmla="*/ 13 h 409"/>
                <a:gd name="connsiteX11" fmla="*/ 17 w 2642"/>
                <a:gd name="connsiteY11" fmla="*/ 13 h 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42" h="409">
                  <a:moveTo>
                    <a:pt x="17" y="13"/>
                  </a:moveTo>
                  <a:lnTo>
                    <a:pt x="90" y="23"/>
                  </a:lnTo>
                  <a:lnTo>
                    <a:pt x="40" y="3"/>
                  </a:lnTo>
                  <a:lnTo>
                    <a:pt x="1905" y="55"/>
                  </a:lnTo>
                  <a:lnTo>
                    <a:pt x="1502" y="231"/>
                  </a:lnTo>
                  <a:lnTo>
                    <a:pt x="2642" y="409"/>
                  </a:lnTo>
                  <a:lnTo>
                    <a:pt x="784" y="403"/>
                  </a:lnTo>
                  <a:lnTo>
                    <a:pt x="1161" y="203"/>
                  </a:lnTo>
                  <a:lnTo>
                    <a:pt x="0" y="0"/>
                  </a:lnTo>
                  <a:lnTo>
                    <a:pt x="17" y="13"/>
                  </a:lnTo>
                  <a:lnTo>
                    <a:pt x="65" y="13"/>
                  </a:lnTo>
                  <a:lnTo>
                    <a:pt x="17" y="13"/>
                  </a:lnTo>
                  <a:close/>
                </a:path>
              </a:pathLst>
            </a:custGeom>
            <a:solidFill>
              <a:srgbClr val="FFFFFF"/>
            </a:solidFill>
            <a:ln w="25400" cap="flat" cmpd="sng" algn="ctr">
              <a:solidFill>
                <a:srgbClr val="000000"/>
              </a:solidFill>
              <a:prstDash val="solid"/>
            </a:ln>
            <a:effectLst/>
          </p:spPr>
        </p:sp>
        <p:sp>
          <p:nvSpPr>
            <p:cNvPr id="1167" name="任意多边形 1531"/>
            <p:cNvSpPr/>
            <p:nvPr/>
          </p:nvSpPr>
          <p:spPr>
            <a:xfrm rot="840000">
              <a:off x="1215390" y="1263015"/>
              <a:ext cx="539115" cy="130810"/>
            </a:xfrm>
            <a:custGeom>
              <a:avLst/>
              <a:gdLst>
                <a:gd name="connsiteX0" fmla="*/ 17 w 2642"/>
                <a:gd name="connsiteY0" fmla="*/ 13 h 409"/>
                <a:gd name="connsiteX1" fmla="*/ 90 w 2642"/>
                <a:gd name="connsiteY1" fmla="*/ 23 h 409"/>
                <a:gd name="connsiteX2" fmla="*/ 40 w 2642"/>
                <a:gd name="connsiteY2" fmla="*/ 3 h 409"/>
                <a:gd name="connsiteX3" fmla="*/ 1905 w 2642"/>
                <a:gd name="connsiteY3" fmla="*/ 55 h 409"/>
                <a:gd name="connsiteX4" fmla="*/ 1502 w 2642"/>
                <a:gd name="connsiteY4" fmla="*/ 231 h 409"/>
                <a:gd name="connsiteX5" fmla="*/ 2642 w 2642"/>
                <a:gd name="connsiteY5" fmla="*/ 409 h 409"/>
                <a:gd name="connsiteX6" fmla="*/ 784 w 2642"/>
                <a:gd name="connsiteY6" fmla="*/ 403 h 409"/>
                <a:gd name="connsiteX7" fmla="*/ 1161 w 2642"/>
                <a:gd name="connsiteY7" fmla="*/ 203 h 409"/>
                <a:gd name="connsiteX8" fmla="*/ 0 w 2642"/>
                <a:gd name="connsiteY8" fmla="*/ 0 h 409"/>
                <a:gd name="connsiteX9" fmla="*/ 17 w 2642"/>
                <a:gd name="connsiteY9" fmla="*/ 13 h 409"/>
                <a:gd name="connsiteX10" fmla="*/ 65 w 2642"/>
                <a:gd name="connsiteY10" fmla="*/ 13 h 409"/>
                <a:gd name="connsiteX11" fmla="*/ 17 w 2642"/>
                <a:gd name="connsiteY11" fmla="*/ 13 h 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42" h="409">
                  <a:moveTo>
                    <a:pt x="17" y="13"/>
                  </a:moveTo>
                  <a:lnTo>
                    <a:pt x="90" y="23"/>
                  </a:lnTo>
                  <a:lnTo>
                    <a:pt x="40" y="3"/>
                  </a:lnTo>
                  <a:lnTo>
                    <a:pt x="1905" y="55"/>
                  </a:lnTo>
                  <a:lnTo>
                    <a:pt x="1502" y="231"/>
                  </a:lnTo>
                  <a:lnTo>
                    <a:pt x="2642" y="409"/>
                  </a:lnTo>
                  <a:lnTo>
                    <a:pt x="784" y="403"/>
                  </a:lnTo>
                  <a:lnTo>
                    <a:pt x="1161" y="203"/>
                  </a:lnTo>
                  <a:lnTo>
                    <a:pt x="0" y="0"/>
                  </a:lnTo>
                  <a:lnTo>
                    <a:pt x="17" y="13"/>
                  </a:lnTo>
                  <a:lnTo>
                    <a:pt x="65" y="13"/>
                  </a:lnTo>
                  <a:lnTo>
                    <a:pt x="17" y="13"/>
                  </a:lnTo>
                  <a:close/>
                </a:path>
              </a:pathLst>
            </a:custGeom>
            <a:solidFill>
              <a:srgbClr val="FFFFFF"/>
            </a:solidFill>
            <a:ln w="25400" cap="flat" cmpd="sng" algn="ctr">
              <a:solidFill>
                <a:srgbClr val="000000"/>
              </a:solidFill>
              <a:prstDash val="solid"/>
            </a:ln>
            <a:effectLst/>
          </p:spPr>
        </p:sp>
        <p:cxnSp>
          <p:nvCxnSpPr>
            <p:cNvPr id="1168" name="直接连接符 66"/>
            <p:cNvCxnSpPr/>
            <p:nvPr/>
          </p:nvCxnSpPr>
          <p:spPr>
            <a:xfrm flipV="1">
              <a:off x="2961005" y="2267585"/>
              <a:ext cx="381000" cy="198120"/>
            </a:xfrm>
            <a:prstGeom prst="line">
              <a:avLst/>
            </a:prstGeom>
            <a:noFill/>
            <a:ln w="9525" cap="flat" cmpd="sng" algn="ctr">
              <a:solidFill>
                <a:srgbClr val="000000">
                  <a:shade val="95000"/>
                  <a:satMod val="105000"/>
                </a:srgbClr>
              </a:solidFill>
              <a:prstDash val="solid"/>
            </a:ln>
            <a:effectLst/>
          </p:spPr>
        </p:cxnSp>
        <p:cxnSp>
          <p:nvCxnSpPr>
            <p:cNvPr id="1169" name="直接连接符 60"/>
            <p:cNvCxnSpPr/>
            <p:nvPr/>
          </p:nvCxnSpPr>
          <p:spPr>
            <a:xfrm>
              <a:off x="3852545" y="2122805"/>
              <a:ext cx="301625" cy="580390"/>
            </a:xfrm>
            <a:prstGeom prst="line">
              <a:avLst/>
            </a:prstGeom>
            <a:noFill/>
            <a:ln w="9525" cap="flat" cmpd="sng" algn="ctr">
              <a:solidFill>
                <a:srgbClr val="000000">
                  <a:shade val="95000"/>
                  <a:satMod val="105000"/>
                </a:srgbClr>
              </a:solidFill>
              <a:prstDash val="solid"/>
            </a:ln>
            <a:effectLst/>
          </p:spPr>
        </p:cxnSp>
        <p:cxnSp>
          <p:nvCxnSpPr>
            <p:cNvPr id="1170" name="直接连接符 48"/>
            <p:cNvCxnSpPr/>
            <p:nvPr/>
          </p:nvCxnSpPr>
          <p:spPr>
            <a:xfrm flipH="1">
              <a:off x="4324985" y="1970405"/>
              <a:ext cx="22225" cy="746760"/>
            </a:xfrm>
            <a:prstGeom prst="line">
              <a:avLst/>
            </a:prstGeom>
            <a:noFill/>
            <a:ln w="9525" cap="flat" cmpd="sng" algn="ctr">
              <a:solidFill>
                <a:srgbClr val="000000">
                  <a:shade val="95000"/>
                  <a:satMod val="105000"/>
                </a:srgbClr>
              </a:solidFill>
              <a:prstDash val="solid"/>
            </a:ln>
            <a:effectLst/>
          </p:spPr>
        </p:cxnSp>
        <p:sp>
          <p:nvSpPr>
            <p:cNvPr id="1171" name="文本框 1"/>
            <p:cNvSpPr txBox="1"/>
            <p:nvPr/>
          </p:nvSpPr>
          <p:spPr>
            <a:xfrm>
              <a:off x="1804035" y="1174115"/>
              <a:ext cx="457200" cy="589280"/>
            </a:xfrm>
            <a:prstGeom prst="rect">
              <a:avLst/>
            </a:prstGeom>
            <a:noFill/>
            <a:ln>
              <a:noFill/>
            </a:ln>
          </p:spPr>
          <p:txBody>
            <a:bodyPr upright="1"/>
            <a:lstStyle/>
            <a:p>
              <a:pPr algn="just"/>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sp>
        <p:nvSpPr>
          <p:cNvPr id="100" name="文本框 99"/>
          <p:cNvSpPr txBox="1"/>
          <p:nvPr/>
        </p:nvSpPr>
        <p:spPr>
          <a:xfrm>
            <a:off x="5494020" y="5611495"/>
            <a:ext cx="6291580" cy="460375"/>
          </a:xfrm>
          <a:prstGeom prst="rect">
            <a:avLst/>
          </a:prstGeom>
          <a:noFill/>
          <a:ln w="9525">
            <a:noFill/>
          </a:ln>
        </p:spPr>
        <p:txBody>
          <a:bodyPr wrap="square">
            <a:spAutoFit/>
          </a:bodyPr>
          <a:p>
            <a:pPr indent="228600" algn="ctr"/>
            <a:r>
              <a:rPr lang="zh-CN" sz="2400" b="1">
                <a:ea typeface="宋体" panose="02010600030101010101" pitchFamily="2" charset="-122"/>
              </a:rPr>
              <a:t>图</a:t>
            </a:r>
            <a:r>
              <a:rPr lang="en-US" sz="2400" b="1">
                <a:latin typeface="Times New Roman" panose="02020603050405020304" charset="0"/>
                <a:ea typeface="宋体" panose="02010600030101010101" pitchFamily="2" charset="-122"/>
              </a:rPr>
              <a:t>2-1-1  </a:t>
            </a:r>
            <a:r>
              <a:rPr lang="zh-CN" sz="2400" b="1">
                <a:ea typeface="宋体" panose="02010600030101010101" pitchFamily="2" charset="-122"/>
              </a:rPr>
              <a:t>无线传感器网络</a:t>
            </a:r>
            <a:r>
              <a:rPr lang="zh-CN" sz="2400" b="1">
                <a:latin typeface="Times New Roman" panose="02020603050405020304" charset="0"/>
                <a:ea typeface="宋体" panose="02010600030101010101" pitchFamily="2" charset="-122"/>
              </a:rPr>
              <a:t>的系统</a:t>
            </a:r>
            <a:r>
              <a:rPr lang="zh-CN" sz="2400" b="1">
                <a:ea typeface="宋体" panose="02010600030101010101" pitchFamily="2" charset="-122"/>
              </a:rPr>
              <a:t>结构</a:t>
            </a:r>
            <a:endParaRPr lang="zh-CN" altLang="en-US" sz="2400" b="1"/>
          </a:p>
        </p:txBody>
      </p:sp>
      <p:pic>
        <p:nvPicPr>
          <p:cNvPr id="11" name="图片 1"/>
          <p:cNvPicPr>
            <a:picLocks noChangeAspect="1"/>
          </p:cNvPicPr>
          <p:nvPr/>
        </p:nvPicPr>
        <p:blipFill>
          <a:blip r:embed="rId2"/>
          <a:stretch>
            <a:fillRect/>
          </a:stretch>
        </p:blipFill>
        <p:spPr>
          <a:xfrm>
            <a:off x="7325360" y="3178175"/>
            <a:ext cx="274320" cy="411480"/>
          </a:xfrm>
          <a:prstGeom prst="rect">
            <a:avLst/>
          </a:prstGeom>
          <a:noFill/>
          <a:ln>
            <a:noFill/>
          </a:ln>
        </p:spPr>
      </p:pic>
      <p:sp>
        <p:nvSpPr>
          <p:cNvPr id="3" name="文本框 2"/>
          <p:cNvSpPr txBox="1"/>
          <p:nvPr/>
        </p:nvSpPr>
        <p:spPr>
          <a:xfrm>
            <a:off x="318135" y="1802765"/>
            <a:ext cx="4700905" cy="4154170"/>
          </a:xfrm>
          <a:prstGeom prst="rect">
            <a:avLst/>
          </a:prstGeom>
          <a:noFill/>
          <a:ln w="9525">
            <a:noFill/>
          </a:ln>
        </p:spPr>
        <p:txBody>
          <a:bodyPr wrap="square">
            <a:spAutoFit/>
          </a:bodyPr>
          <a:p>
            <a:pPr indent="0"/>
            <a:r>
              <a:rPr lang="en-US" altLang="zh-CN" sz="2400" b="1">
                <a:ea typeface="宋体" panose="02010600030101010101" pitchFamily="2" charset="-122"/>
              </a:rPr>
              <a:t>       </a:t>
            </a:r>
            <a:r>
              <a:rPr lang="zh-CN" sz="2400" b="1">
                <a:ea typeface="宋体" panose="02010600030101010101" pitchFamily="2" charset="-122"/>
              </a:rPr>
              <a:t>无线</a:t>
            </a:r>
            <a:r>
              <a:rPr lang="zh-CN" sz="2400" b="1">
                <a:latin typeface="Times New Roman" panose="02020603050405020304" charset="0"/>
                <a:ea typeface="宋体" panose="02010600030101010101" pitchFamily="2" charset="-122"/>
              </a:rPr>
              <a:t>传</a:t>
            </a:r>
            <a:r>
              <a:rPr lang="zh-CN" sz="2400" b="1">
                <a:ea typeface="宋体" panose="02010600030101010101" pitchFamily="2" charset="-122"/>
              </a:rPr>
              <a:t>感器网络是由部署在</a:t>
            </a:r>
            <a:r>
              <a:rPr lang="zh-CN" sz="2400" b="1">
                <a:latin typeface="Times New Roman" panose="02020603050405020304" charset="0"/>
                <a:ea typeface="宋体" panose="02010600030101010101" pitchFamily="2" charset="-122"/>
              </a:rPr>
              <a:t>监测区域</a:t>
            </a:r>
            <a:r>
              <a:rPr lang="zh-CN" sz="2400" b="1">
                <a:ea typeface="宋体" panose="02010600030101010101" pitchFamily="2" charset="-122"/>
              </a:rPr>
              <a:t>内</a:t>
            </a:r>
            <a:r>
              <a:rPr lang="zh-CN" sz="2400" b="1">
                <a:solidFill>
                  <a:srgbClr val="FF0000"/>
                </a:solidFill>
                <a:ea typeface="宋体" panose="02010600030101010101" pitchFamily="2" charset="-122"/>
              </a:rPr>
              <a:t>大量</a:t>
            </a:r>
            <a:r>
              <a:rPr lang="zh-CN" sz="2400" b="1">
                <a:ea typeface="宋体" panose="02010600030101010101" pitchFamily="2" charset="-122"/>
              </a:rPr>
              <a:t>的</a:t>
            </a:r>
            <a:r>
              <a:rPr lang="zh-CN" sz="2400" b="1">
                <a:solidFill>
                  <a:srgbClr val="FF0000"/>
                </a:solidFill>
                <a:latin typeface="Times New Roman" panose="02020603050405020304" charset="0"/>
                <a:ea typeface="宋体" panose="02010600030101010101" pitchFamily="2" charset="-122"/>
              </a:rPr>
              <a:t>廉价微型</a:t>
            </a:r>
            <a:r>
              <a:rPr lang="zh-CN" sz="2400" b="1">
                <a:solidFill>
                  <a:srgbClr val="FF0000"/>
                </a:solidFill>
                <a:ea typeface="宋体" panose="02010600030101010101" pitchFamily="2" charset="-122"/>
              </a:rPr>
              <a:t>传感器</a:t>
            </a:r>
            <a:r>
              <a:rPr lang="zh-CN" sz="2400" b="1">
                <a:ea typeface="宋体" panose="02010600030101010101" pitchFamily="2" charset="-122"/>
              </a:rPr>
              <a:t>通过</a:t>
            </a:r>
            <a:r>
              <a:rPr lang="zh-CN" sz="2400" b="1">
                <a:solidFill>
                  <a:srgbClr val="FF0000"/>
                </a:solidFill>
                <a:ea typeface="宋体" panose="02010600030101010101" pitchFamily="2" charset="-122"/>
              </a:rPr>
              <a:t>无线通信</a:t>
            </a:r>
            <a:r>
              <a:rPr lang="zh-CN" sz="2400" b="1">
                <a:solidFill>
                  <a:srgbClr val="FF0000"/>
                </a:solidFill>
                <a:latin typeface="Times New Roman" panose="02020603050405020304" charset="0"/>
                <a:ea typeface="宋体" panose="02010600030101010101" pitchFamily="2" charset="-122"/>
              </a:rPr>
              <a:t>方式</a:t>
            </a:r>
            <a:r>
              <a:rPr lang="zh-CN" sz="2400" b="1">
                <a:latin typeface="Times New Roman" panose="02020603050405020304" charset="0"/>
                <a:ea typeface="宋体" panose="02010600030101010101" pitchFamily="2" charset="-122"/>
              </a:rPr>
              <a:t>形成的</a:t>
            </a:r>
            <a:r>
              <a:rPr lang="zh-CN" sz="2400" b="1">
                <a:ea typeface="宋体" panose="02010600030101010101" pitchFamily="2" charset="-122"/>
              </a:rPr>
              <a:t>一个</a:t>
            </a:r>
            <a:r>
              <a:rPr lang="zh-CN" sz="2400" b="1">
                <a:solidFill>
                  <a:srgbClr val="FF0000"/>
                </a:solidFill>
                <a:ea typeface="宋体" panose="02010600030101010101" pitchFamily="2" charset="-122"/>
              </a:rPr>
              <a:t>多跳的自组织的网络</a:t>
            </a:r>
            <a:r>
              <a:rPr lang="zh-CN" sz="2400" b="1">
                <a:ea typeface="宋体" panose="02010600030101010101" pitchFamily="2" charset="-122"/>
              </a:rPr>
              <a:t>系统，其目的是</a:t>
            </a:r>
            <a:r>
              <a:rPr lang="zh-CN" sz="2400" b="1">
                <a:solidFill>
                  <a:srgbClr val="FF0000"/>
                </a:solidFill>
                <a:ea typeface="宋体" panose="02010600030101010101" pitchFamily="2" charset="-122"/>
              </a:rPr>
              <a:t>协作地感知、采集和处理</a:t>
            </a:r>
            <a:r>
              <a:rPr lang="zh-CN" sz="2400" b="1">
                <a:ea typeface="宋体" panose="02010600030101010101" pitchFamily="2" charset="-122"/>
              </a:rPr>
              <a:t>网</a:t>
            </a:r>
            <a:r>
              <a:rPr lang="zh-CN" sz="2400" b="1">
                <a:latin typeface="Times New Roman" panose="02020603050405020304" charset="0"/>
                <a:ea typeface="宋体" panose="02010600030101010101" pitchFamily="2" charset="-122"/>
              </a:rPr>
              <a:t>络覆盖区域中被感</a:t>
            </a:r>
            <a:r>
              <a:rPr lang="zh-CN" sz="2400" b="1">
                <a:ea typeface="宋体" panose="02010600030101010101" pitchFamily="2" charset="-122"/>
              </a:rPr>
              <a:t>知对象的信息，并经过无线网络发送给观察者</a:t>
            </a:r>
            <a:r>
              <a:rPr lang="zh-CN" sz="2400" b="1">
                <a:latin typeface="Times New Roman" panose="02020603050405020304" charset="0"/>
                <a:ea typeface="宋体" panose="02010600030101010101" pitchFamily="2" charset="-122"/>
              </a:rPr>
              <a:t>。</a:t>
            </a:r>
            <a:endParaRPr lang="zh-CN" sz="2400" b="1">
              <a:latin typeface="Times New Roman" panose="02020603050405020304" charset="0"/>
              <a:ea typeface="宋体" panose="02010600030101010101" pitchFamily="2" charset="-122"/>
            </a:endParaRPr>
          </a:p>
          <a:p>
            <a:pPr indent="0"/>
            <a:r>
              <a:rPr lang="zh-CN" sz="2400" b="1">
                <a:latin typeface="Times New Roman" panose="02020603050405020304" charset="0"/>
                <a:ea typeface="宋体" panose="02010600030101010101" pitchFamily="2" charset="-122"/>
              </a:rPr>
              <a:t> </a:t>
            </a:r>
            <a:r>
              <a:rPr lang="en-US" altLang="zh-CN" sz="2400" b="1">
                <a:latin typeface="Times New Roman" panose="02020603050405020304" charset="0"/>
                <a:ea typeface="宋体" panose="02010600030101010101" pitchFamily="2" charset="-122"/>
              </a:rPr>
              <a:t>       </a:t>
            </a:r>
            <a:r>
              <a:rPr lang="zh-CN" sz="2400" b="1">
                <a:solidFill>
                  <a:srgbClr val="FF0000"/>
                </a:solidFill>
                <a:ea typeface="宋体" panose="02010600030101010101" pitchFamily="2" charset="-122"/>
              </a:rPr>
              <a:t>传感器、感知对象和观察</a:t>
            </a:r>
            <a:r>
              <a:rPr lang="zh-CN" sz="2400" b="1">
                <a:solidFill>
                  <a:srgbClr val="FF0000"/>
                </a:solidFill>
                <a:latin typeface="Times New Roman" panose="02020603050405020304" charset="0"/>
                <a:ea typeface="宋体" panose="02010600030101010101" pitchFamily="2" charset="-122"/>
              </a:rPr>
              <a:t>者</a:t>
            </a:r>
            <a:r>
              <a:rPr lang="zh-CN" sz="2400" b="1">
                <a:ea typeface="宋体" panose="02010600030101010101" pitchFamily="2" charset="-122"/>
              </a:rPr>
              <a:t>构</a:t>
            </a:r>
            <a:r>
              <a:rPr lang="zh-CN" sz="2400" b="1">
                <a:latin typeface="Times New Roman" panose="02020603050405020304" charset="0"/>
                <a:ea typeface="宋体" panose="02010600030101010101" pitchFamily="2" charset="-122"/>
              </a:rPr>
              <a:t>成了</a:t>
            </a:r>
            <a:r>
              <a:rPr lang="zh-CN" sz="2400" b="1">
                <a:ea typeface="宋体" panose="02010600030101010101" pitchFamily="2" charset="-122"/>
              </a:rPr>
              <a:t>无线</a:t>
            </a:r>
            <a:r>
              <a:rPr lang="zh-CN" sz="2400" b="1">
                <a:latin typeface="Times New Roman" panose="02020603050405020304" charset="0"/>
                <a:ea typeface="宋体" panose="02010600030101010101" pitchFamily="2" charset="-122"/>
              </a:rPr>
              <a:t>传</a:t>
            </a:r>
            <a:r>
              <a:rPr lang="zh-CN" sz="2400" b="1">
                <a:ea typeface="宋体" panose="02010600030101010101" pitchFamily="2" charset="-122"/>
              </a:rPr>
              <a:t>感器网络的</a:t>
            </a:r>
            <a:r>
              <a:rPr lang="en-US" sz="2400" b="1">
                <a:latin typeface="Times New Roman" panose="02020603050405020304" charset="0"/>
                <a:ea typeface="宋体" panose="02010600030101010101" pitchFamily="2" charset="-122"/>
              </a:rPr>
              <a:t>3</a:t>
            </a:r>
            <a:r>
              <a:rPr lang="zh-CN" sz="2400" b="1">
                <a:ea typeface="宋体" panose="02010600030101010101" pitchFamily="2" charset="-122"/>
              </a:rPr>
              <a:t>个要素</a:t>
            </a:r>
            <a:r>
              <a:rPr lang="zh-CN" sz="2400" b="1">
                <a:latin typeface="Times New Roman" panose="02020603050405020304" charset="0"/>
                <a:ea typeface="宋体" panose="02010600030101010101" pitchFamily="2" charset="-122"/>
              </a:rPr>
              <a:t>。</a:t>
            </a:r>
            <a:endParaRPr lang="zh-CN" sz="2400" b="1">
              <a:latin typeface="Times New Roman" panose="02020603050405020304" charset="0"/>
              <a:ea typeface="宋体" panose="02010600030101010101" pitchFamily="2" charset="-122"/>
            </a:endParaRPr>
          </a:p>
          <a:p>
            <a:pPr indent="0"/>
            <a:r>
              <a:rPr lang="zh-CN" sz="2400" b="1">
                <a:latin typeface="Times New Roman" panose="02020603050405020304" charset="0"/>
                <a:ea typeface="宋体" panose="02010600030101010101" pitchFamily="2" charset="-122"/>
              </a:rPr>
              <a:t> </a:t>
            </a:r>
            <a:r>
              <a:rPr lang="en-US" altLang="zh-CN" sz="2400" b="1">
                <a:latin typeface="Times New Roman" panose="02020603050405020304" charset="0"/>
                <a:ea typeface="宋体" panose="02010600030101010101" pitchFamily="2" charset="-122"/>
              </a:rPr>
              <a:t>      </a:t>
            </a:r>
            <a:r>
              <a:rPr lang="zh-CN" sz="2400" b="1">
                <a:ea typeface="宋体" panose="02010600030101010101" pitchFamily="2" charset="-122"/>
              </a:rPr>
              <a:t>无线传感器网络</a:t>
            </a:r>
            <a:r>
              <a:rPr lang="zh-CN" sz="2400" b="1">
                <a:latin typeface="Times New Roman" panose="02020603050405020304" charset="0"/>
                <a:ea typeface="宋体" panose="02010600030101010101" pitchFamily="2" charset="-122"/>
              </a:rPr>
              <a:t>的系统</a:t>
            </a:r>
            <a:r>
              <a:rPr lang="zh-CN" sz="2400" b="1">
                <a:ea typeface="宋体" panose="02010600030101010101" pitchFamily="2" charset="-122"/>
              </a:rPr>
              <a:t>结构如图</a:t>
            </a:r>
            <a:r>
              <a:rPr lang="en-US" sz="2400" b="1">
                <a:latin typeface="Times New Roman" panose="02020603050405020304" charset="0"/>
                <a:ea typeface="宋体" panose="02010600030101010101" pitchFamily="2" charset="-122"/>
              </a:rPr>
              <a:t>2-1-1</a:t>
            </a:r>
            <a:r>
              <a:rPr lang="zh-CN" sz="2400" b="1">
                <a:ea typeface="宋体" panose="02010600030101010101" pitchFamily="2" charset="-122"/>
              </a:rPr>
              <a:t>所示</a:t>
            </a:r>
            <a:r>
              <a:rPr lang="zh-CN" sz="2400" b="1">
                <a:latin typeface="Times New Roman" panose="02020603050405020304" charset="0"/>
                <a:ea typeface="宋体" panose="02010600030101010101" pitchFamily="2" charset="-122"/>
              </a:rPr>
              <a:t>。</a:t>
            </a:r>
            <a:endParaRPr lang="zh-CN" altLang="en-US" sz="240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41630" y="1214120"/>
            <a:ext cx="10909300" cy="5692775"/>
          </a:xfrm>
          <a:prstGeom prst="rect">
            <a:avLst/>
          </a:prstGeom>
          <a:noFill/>
          <a:ln w="9525">
            <a:noFill/>
          </a:ln>
        </p:spPr>
        <p:txBody>
          <a:bodyPr wrap="square">
            <a:spAutoFit/>
          </a:bodyPr>
          <a:p>
            <a:pPr indent="0"/>
            <a:r>
              <a:rPr lang="en-US" altLang="zh-CN" sz="2800" b="1">
                <a:ea typeface="宋体" panose="02010600030101010101" pitchFamily="2" charset="-122"/>
              </a:rPr>
              <a:t>       </a:t>
            </a:r>
            <a:r>
              <a:rPr lang="zh-CN" sz="2200" b="1">
                <a:ea typeface="宋体" panose="02010600030101010101" pitchFamily="2" charset="-122"/>
              </a:rPr>
              <a:t>无线传感器网络系统通常包括</a:t>
            </a:r>
            <a:r>
              <a:rPr lang="zh-CN" sz="2200" b="1">
                <a:solidFill>
                  <a:srgbClr val="0000FF"/>
                </a:solidFill>
                <a:ea typeface="宋体" panose="02010600030101010101" pitchFamily="2" charset="-122"/>
              </a:rPr>
              <a:t>传感器节点（sensor node）、</a:t>
            </a:r>
            <a:endParaRPr lang="zh-CN" sz="2200" b="1">
              <a:solidFill>
                <a:srgbClr val="0000FF"/>
              </a:solidFill>
              <a:ea typeface="宋体" panose="02010600030101010101" pitchFamily="2" charset="-122"/>
            </a:endParaRPr>
          </a:p>
          <a:p>
            <a:pPr indent="0"/>
            <a:r>
              <a:rPr lang="zh-CN" sz="2200" b="1">
                <a:solidFill>
                  <a:srgbClr val="0000FF"/>
                </a:solidFill>
                <a:ea typeface="宋体" panose="02010600030101010101" pitchFamily="2" charset="-122"/>
              </a:rPr>
              <a:t>汇聚节点（sink node）和管理节点。</a:t>
            </a:r>
            <a:endParaRPr lang="zh-CN" sz="2800" b="1">
              <a:ea typeface="宋体" panose="02010600030101010101" pitchFamily="2" charset="-122"/>
            </a:endParaRPr>
          </a:p>
          <a:p>
            <a:pPr indent="0"/>
            <a:r>
              <a:rPr lang="en-US" altLang="zh-CN" sz="2800" b="1">
                <a:ea typeface="宋体" panose="02010600030101010101" pitchFamily="2" charset="-122"/>
              </a:rPr>
              <a:t>    </a:t>
            </a:r>
            <a:r>
              <a:rPr lang="en-US" altLang="zh-CN" sz="2000" b="1">
                <a:ea typeface="宋体" panose="02010600030101010101" pitchFamily="2" charset="-122"/>
              </a:rPr>
              <a:t> </a:t>
            </a:r>
            <a:r>
              <a:rPr lang="zh-CN" sz="2200" b="1">
                <a:solidFill>
                  <a:srgbClr val="0000FF"/>
                </a:solidFill>
                <a:ea typeface="宋体" panose="02010600030101010101" pitchFamily="2" charset="-122"/>
              </a:rPr>
              <a:t>传感器节点</a:t>
            </a:r>
            <a:r>
              <a:rPr lang="zh-CN" sz="2200" b="1">
                <a:ea typeface="宋体" panose="02010600030101010101" pitchFamily="2" charset="-122"/>
              </a:rPr>
              <a:t>通常是微型价廉的嵌入式设备，它的处理能力、存储能力和通信能力相对较弱，通过能量有限的电池供电。从网络功能上看，每个传感器节点兼有传统网络的</a:t>
            </a:r>
            <a:r>
              <a:rPr lang="zh-CN" sz="2200" b="1">
                <a:solidFill>
                  <a:srgbClr val="FF0000"/>
                </a:solidFill>
                <a:ea typeface="宋体" panose="02010600030101010101" pitchFamily="2" charset="-122"/>
              </a:rPr>
              <a:t>终端节点</a:t>
            </a:r>
            <a:r>
              <a:rPr lang="zh-CN" sz="2200" b="1">
                <a:ea typeface="宋体" panose="02010600030101010101" pitchFamily="2" charset="-122"/>
              </a:rPr>
              <a:t>和</a:t>
            </a:r>
            <a:r>
              <a:rPr lang="zh-CN" sz="2200" b="1">
                <a:solidFill>
                  <a:srgbClr val="FF0000"/>
                </a:solidFill>
                <a:ea typeface="宋体" panose="02010600030101010101" pitchFamily="2" charset="-122"/>
              </a:rPr>
              <a:t>网络路由器</a:t>
            </a:r>
            <a:r>
              <a:rPr lang="zh-CN" sz="2200" b="1">
                <a:ea typeface="宋体" panose="02010600030101010101" pitchFamily="2" charset="-122"/>
              </a:rPr>
              <a:t>的双重功能：</a:t>
            </a:r>
            <a:endParaRPr lang="zh-CN" sz="2200" b="1">
              <a:ea typeface="宋体" panose="02010600030101010101" pitchFamily="2" charset="-122"/>
            </a:endParaRPr>
          </a:p>
          <a:p>
            <a:pPr indent="0"/>
            <a:r>
              <a:rPr lang="en-US" altLang="zh-CN" sz="2200" b="1">
                <a:ea typeface="宋体" panose="02010600030101010101" pitchFamily="2" charset="-122"/>
              </a:rPr>
              <a:t>        </a:t>
            </a:r>
            <a:r>
              <a:rPr lang="zh-CN" sz="2200" b="1">
                <a:ea typeface="宋体" panose="02010600030101010101" pitchFamily="2" charset="-122"/>
              </a:rPr>
              <a:t>①负责</a:t>
            </a:r>
            <a:r>
              <a:rPr lang="zh-CN" sz="2200" b="1">
                <a:solidFill>
                  <a:srgbClr val="FF0000"/>
                </a:solidFill>
                <a:ea typeface="宋体" panose="02010600030101010101" pitchFamily="2" charset="-122"/>
              </a:rPr>
              <a:t>本地信息的采集和数据处理</a:t>
            </a:r>
            <a:r>
              <a:rPr lang="zh-CN" sz="2200" b="1">
                <a:ea typeface="宋体" panose="02010600030101010101" pitchFamily="2" charset="-122"/>
              </a:rPr>
              <a:t>；</a:t>
            </a:r>
            <a:endParaRPr lang="zh-CN" sz="2200" b="1">
              <a:ea typeface="宋体" panose="02010600030101010101" pitchFamily="2" charset="-122"/>
            </a:endParaRPr>
          </a:p>
          <a:p>
            <a:pPr indent="0"/>
            <a:r>
              <a:rPr lang="en-US" altLang="zh-CN" sz="2200" b="1">
                <a:ea typeface="宋体" panose="02010600030101010101" pitchFamily="2" charset="-122"/>
              </a:rPr>
              <a:t>        </a:t>
            </a:r>
            <a:r>
              <a:rPr lang="zh-CN" sz="2200" b="1">
                <a:ea typeface="宋体" panose="02010600030101010101" pitchFamily="2" charset="-122"/>
              </a:rPr>
              <a:t>②</a:t>
            </a:r>
            <a:r>
              <a:rPr lang="zh-CN" sz="2200" b="1">
                <a:ea typeface="宋体" panose="02010600030101010101" pitchFamily="2" charset="-122"/>
              </a:rPr>
              <a:t>对其他节点转发来的数据进行</a:t>
            </a:r>
            <a:r>
              <a:rPr lang="zh-CN" sz="2200" b="1">
                <a:solidFill>
                  <a:srgbClr val="FF0000"/>
                </a:solidFill>
                <a:ea typeface="宋体" panose="02010600030101010101" pitchFamily="2" charset="-122"/>
              </a:rPr>
              <a:t>存储、管理和融合等处理</a:t>
            </a:r>
            <a:r>
              <a:rPr lang="zh-CN" sz="2200" b="1">
                <a:ea typeface="宋体" panose="02010600030101010101" pitchFamily="2" charset="-122"/>
              </a:rPr>
              <a:t>；</a:t>
            </a:r>
            <a:endParaRPr lang="zh-CN" sz="2200" b="1">
              <a:ea typeface="宋体" panose="02010600030101010101" pitchFamily="2" charset="-122"/>
            </a:endParaRPr>
          </a:p>
          <a:p>
            <a:pPr indent="0"/>
            <a:r>
              <a:rPr lang="en-US" altLang="zh-CN" sz="2200" b="1">
                <a:ea typeface="宋体" panose="02010600030101010101" pitchFamily="2" charset="-122"/>
              </a:rPr>
              <a:t>        </a:t>
            </a:r>
            <a:r>
              <a:rPr lang="zh-CN" sz="2200" b="1">
                <a:ea typeface="宋体" panose="02010600030101010101" pitchFamily="2" charset="-122"/>
              </a:rPr>
              <a:t>③</a:t>
            </a:r>
            <a:r>
              <a:rPr lang="zh-CN" sz="2200" b="1">
                <a:ea typeface="宋体" panose="02010600030101010101" pitchFamily="2" charset="-122"/>
              </a:rPr>
              <a:t>把自己和其他节点的数据</a:t>
            </a:r>
            <a:r>
              <a:rPr lang="zh-CN" sz="2200" b="1">
                <a:solidFill>
                  <a:srgbClr val="FF0000"/>
                </a:solidFill>
                <a:ea typeface="宋体" panose="02010600030101010101" pitchFamily="2" charset="-122"/>
              </a:rPr>
              <a:t>转发给下一跳节点或直接发送给汇聚节点</a:t>
            </a:r>
            <a:r>
              <a:rPr lang="zh-CN" sz="2200" b="1">
                <a:ea typeface="宋体" panose="02010600030101010101" pitchFamily="2" charset="-122"/>
              </a:rPr>
              <a:t>；</a:t>
            </a:r>
            <a:endParaRPr lang="zh-CN" sz="2200" b="1">
              <a:ea typeface="宋体" panose="02010600030101010101" pitchFamily="2" charset="-122"/>
            </a:endParaRPr>
          </a:p>
          <a:p>
            <a:pPr indent="0"/>
            <a:r>
              <a:rPr lang="en-US" altLang="zh-CN" sz="2200" b="1">
                <a:ea typeface="宋体" panose="02010600030101010101" pitchFamily="2" charset="-122"/>
              </a:rPr>
              <a:t>        </a:t>
            </a:r>
            <a:r>
              <a:rPr lang="zh-CN" sz="2200" b="1">
                <a:ea typeface="宋体" panose="02010600030101010101" pitchFamily="2" charset="-122"/>
              </a:rPr>
              <a:t>④</a:t>
            </a:r>
            <a:r>
              <a:rPr lang="zh-CN" sz="2200" b="1">
                <a:ea typeface="宋体" panose="02010600030101010101" pitchFamily="2" charset="-122"/>
              </a:rPr>
              <a:t>另外，相邻节点之间还可通过合作实现协同通信机制、事件联合判断等功能。</a:t>
            </a:r>
            <a:endParaRPr lang="zh-CN" sz="2200" b="1">
              <a:ea typeface="宋体" panose="02010600030101010101" pitchFamily="2" charset="-122"/>
            </a:endParaRPr>
          </a:p>
          <a:p>
            <a:pPr indent="0"/>
            <a:r>
              <a:rPr lang="en-US" sz="2200" b="1">
                <a:solidFill>
                  <a:srgbClr val="FF0000"/>
                </a:solidFill>
                <a:ea typeface="宋体" panose="02010600030101010101" pitchFamily="2" charset="-122"/>
                <a:sym typeface="+mn-ea"/>
              </a:rPr>
              <a:t>       </a:t>
            </a:r>
            <a:r>
              <a:rPr lang="zh-CN" sz="2200" b="1">
                <a:solidFill>
                  <a:srgbClr val="0000FF"/>
                </a:solidFill>
                <a:ea typeface="宋体" panose="02010600030101010101" pitchFamily="2" charset="-122"/>
                <a:sym typeface="+mn-ea"/>
              </a:rPr>
              <a:t>汇聚节点</a:t>
            </a:r>
            <a:r>
              <a:rPr sz="2200" b="1">
                <a:ea typeface="宋体" panose="02010600030101010101" pitchFamily="2" charset="-122"/>
                <a:sym typeface="+mn-ea"/>
              </a:rPr>
              <a:t>又称</a:t>
            </a:r>
            <a:r>
              <a:rPr lang="zh-CN" sz="2200" b="1">
                <a:solidFill>
                  <a:srgbClr val="0000FF"/>
                </a:solidFill>
                <a:ea typeface="宋体" panose="02010600030101010101" pitchFamily="2" charset="-122"/>
                <a:sym typeface="+mn-ea"/>
              </a:rPr>
              <a:t>网关节点或基站</a:t>
            </a:r>
            <a:r>
              <a:rPr sz="2200" b="1">
                <a:ea typeface="宋体" panose="02010600030101010101" pitchFamily="2" charset="-122"/>
                <a:sym typeface="+mn-ea"/>
              </a:rPr>
              <a:t>，</a:t>
            </a:r>
            <a:r>
              <a:rPr sz="2200" b="1">
                <a:solidFill>
                  <a:srgbClr val="FF0000"/>
                </a:solidFill>
                <a:ea typeface="宋体" panose="02010600030101010101" pitchFamily="2" charset="-122"/>
                <a:sym typeface="+mn-ea"/>
              </a:rPr>
              <a:t>连接传感器网络与Internet等外部网络</a:t>
            </a:r>
            <a:r>
              <a:rPr sz="2200" b="1">
                <a:ea typeface="宋体" panose="02010600030101010101" pitchFamily="2" charset="-122"/>
                <a:sym typeface="+mn-ea"/>
              </a:rPr>
              <a:t>，实现两种网络之间的</a:t>
            </a:r>
            <a:r>
              <a:rPr sz="2200" b="1">
                <a:solidFill>
                  <a:srgbClr val="FF0000"/>
                </a:solidFill>
                <a:ea typeface="宋体" panose="02010600030101010101" pitchFamily="2" charset="-122"/>
                <a:sym typeface="+mn-ea"/>
              </a:rPr>
              <a:t>通信协议转换</a:t>
            </a:r>
            <a:r>
              <a:rPr sz="2200" b="1">
                <a:ea typeface="宋体" panose="02010600030101010101" pitchFamily="2" charset="-122"/>
                <a:sym typeface="+mn-ea"/>
              </a:rPr>
              <a:t>。汇聚节点把收集的数据转发到外部网络上，同时还向传感器网络转发外部管理节点的监测任务。一般来说，汇聚节点的处理能力、存储能力和通信能力相对比较强，既可以是增强的传感器节点，有足够的能量供给和更多的内存与计算资源，也可以是没有监测功能仅带有多种通信接口的转发设备。</a:t>
            </a:r>
            <a:endParaRPr sz="2200" b="1">
              <a:ea typeface="宋体" panose="02010600030101010101" pitchFamily="2" charset="-122"/>
            </a:endParaRPr>
          </a:p>
          <a:p>
            <a:pPr indent="0"/>
            <a:r>
              <a:rPr lang="en-US" sz="2200" b="1">
                <a:ea typeface="宋体" panose="02010600030101010101" pitchFamily="2" charset="-122"/>
                <a:sym typeface="+mn-ea"/>
              </a:rPr>
              <a:t>       </a:t>
            </a:r>
            <a:r>
              <a:rPr lang="zh-CN" sz="2200" b="1">
                <a:solidFill>
                  <a:srgbClr val="0000FF"/>
                </a:solidFill>
                <a:ea typeface="宋体" panose="02010600030101010101" pitchFamily="2" charset="-122"/>
                <a:sym typeface="+mn-ea"/>
              </a:rPr>
              <a:t>管理节点</a:t>
            </a:r>
            <a:r>
              <a:rPr sz="2200" b="1">
                <a:ea typeface="宋体" panose="02010600030101010101" pitchFamily="2" charset="-122"/>
                <a:sym typeface="+mn-ea"/>
              </a:rPr>
              <a:t>用于</a:t>
            </a:r>
            <a:r>
              <a:rPr sz="2200" b="1">
                <a:solidFill>
                  <a:srgbClr val="FF0000"/>
                </a:solidFill>
                <a:ea typeface="宋体" panose="02010600030101010101" pitchFamily="2" charset="-122"/>
                <a:sym typeface="+mn-ea"/>
              </a:rPr>
              <a:t>动态地管理整个无线传感器网络，直接面向用户</a:t>
            </a:r>
            <a:r>
              <a:rPr sz="2200" b="1">
                <a:ea typeface="宋体" panose="02010600030101010101" pitchFamily="2" charset="-122"/>
                <a:sym typeface="+mn-ea"/>
              </a:rPr>
              <a:t>。用户通过管理节点访问无线传感器网络的资源，配置和管理网络，发布监测任务以及收集监测数据。</a:t>
            </a:r>
            <a:endParaRPr lang="zh-CN" sz="2200" b="1">
              <a:ea typeface="宋体" panose="02010600030101010101" pitchFamily="2" charset="-122"/>
            </a:endParaRPr>
          </a:p>
        </p:txBody>
      </p:sp>
      <p:sp>
        <p:nvSpPr>
          <p:cNvPr id="4" name="标题 1"/>
          <p:cNvSpPr>
            <a:spLocks noGrp="1"/>
          </p:cNvSpPr>
          <p:nvPr/>
        </p:nvSpPr>
        <p:spPr>
          <a:xfrm>
            <a:off x="786765" y="0"/>
            <a:ext cx="854837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黑体" panose="02010609060101010101" charset="-122"/>
                <a:ea typeface="黑体" panose="02010609060101010101" charset="-122"/>
                <a:cs typeface="+mj-cs"/>
              </a:defRPr>
            </a:lvl1pPr>
          </a:lstStyle>
          <a:p>
            <a:r>
              <a:rPr lang="en-US" b="1">
                <a:uFillTx/>
                <a:latin typeface="Times New Roman" panose="02020603050405020304" charset="0"/>
                <a:ea typeface="宋体" panose="02010600030101010101" pitchFamily="2" charset="-122"/>
                <a:sym typeface="+mn-ea"/>
                <a:hlinkClick r:id="rId1"/>
              </a:rPr>
              <a:t>2.1  </a:t>
            </a:r>
            <a:r>
              <a:rPr lang="zh-CN" b="1">
                <a:uFillTx/>
                <a:ea typeface="宋体" panose="02010600030101010101" pitchFamily="2" charset="-122"/>
                <a:sym typeface="+mn-ea"/>
                <a:hlinkClick r:id="rId1"/>
              </a:rPr>
              <a:t>系统</a:t>
            </a:r>
            <a:r>
              <a:rPr lang="zh-CN" b="1">
                <a:uFillTx/>
                <a:ea typeface="宋体" panose="02010600030101010101" pitchFamily="2" charset="-122"/>
                <a:sym typeface="+mn-ea"/>
                <a:hlinkClick r:id="rId1"/>
              </a:rPr>
              <a:t>结构</a:t>
            </a:r>
            <a:endParaRPr lang="zh-CN" altLang="en-US"/>
          </a:p>
        </p:txBody>
      </p:sp>
      <p:pic>
        <p:nvPicPr>
          <p:cNvPr id="102" name="图片 101"/>
          <p:cNvPicPr/>
          <p:nvPr>
            <p:custDataLst>
              <p:tags r:id="rId2"/>
            </p:custDataLst>
          </p:nvPr>
        </p:nvPicPr>
        <p:blipFill>
          <a:blip r:embed="rId3"/>
          <a:srcRect t="17869" b="15270"/>
          <a:stretch>
            <a:fillRect/>
          </a:stretch>
        </p:blipFill>
        <p:spPr>
          <a:xfrm>
            <a:off x="9020175" y="214630"/>
            <a:ext cx="3171825" cy="185991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a:xfrm>
            <a:off x="2912110" y="0"/>
            <a:ext cx="8851900" cy="1325880"/>
          </a:xfrm>
        </p:spPr>
        <p:txBody>
          <a:bodyPr>
            <a:normAutofit/>
          </a:bodyPr>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grpSp>
        <p:nvGrpSpPr>
          <p:cNvPr id="1128" name="画布 1128"/>
          <p:cNvGrpSpPr/>
          <p:nvPr/>
        </p:nvGrpSpPr>
        <p:grpSpPr>
          <a:xfrm>
            <a:off x="4351020" y="1418590"/>
            <a:ext cx="7768590" cy="4138930"/>
            <a:chOff x="0" y="0"/>
            <a:chExt cx="5274310" cy="2729230"/>
          </a:xfrm>
        </p:grpSpPr>
        <p:sp>
          <p:nvSpPr>
            <p:cNvPr id="2" name="画布 1128"/>
            <p:cNvSpPr/>
            <p:nvPr/>
          </p:nvSpPr>
          <p:spPr>
            <a:xfrm>
              <a:off x="0" y="0"/>
              <a:ext cx="5274310" cy="2729230"/>
            </a:xfrm>
          </p:spPr>
        </p:sp>
        <p:sp>
          <p:nvSpPr>
            <p:cNvPr id="1129" name="文本框 909"/>
            <p:cNvSpPr txBox="1"/>
            <p:nvPr/>
          </p:nvSpPr>
          <p:spPr>
            <a:xfrm>
              <a:off x="518160" y="140335"/>
              <a:ext cx="1085850" cy="1514475"/>
            </a:xfrm>
            <a:prstGeom prst="rect">
              <a:avLst/>
            </a:prstGeom>
            <a:solidFill>
              <a:schemeClr val="lt1"/>
            </a:solidFill>
            <a:ln w="1270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just"/>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just"/>
              <a:r>
                <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rPr>
                <a:t>             </a:t>
              </a:r>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传感器</a:t>
              </a: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16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A/D转换器</a:t>
              </a:r>
              <a:endParaRPr lang="en-US" altLang="zh-CN" sz="16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zh-CN" altLang="en-US" sz="1600" b="1" kern="100">
                  <a:latin typeface="Times New Roman" panose="02020603050405020304"/>
                  <a:ea typeface="宋体" panose="02010600030101010101" pitchFamily="2" charset="-122"/>
                  <a:cs typeface="Times New Roman" panose="02020603050405020304"/>
                  <a:sym typeface="Times New Roman" panose="02020603050405020304"/>
                </a:rPr>
                <a:t>传感器</a:t>
              </a:r>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模块</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132" name="文本框 910"/>
            <p:cNvSpPr txBox="1"/>
            <p:nvPr/>
          </p:nvSpPr>
          <p:spPr>
            <a:xfrm>
              <a:off x="3682365" y="149860"/>
              <a:ext cx="1085850" cy="1514475"/>
            </a:xfrm>
            <a:prstGeom prst="rect">
              <a:avLst/>
            </a:prstGeom>
            <a:solidFill>
              <a:schemeClr val="lt1"/>
            </a:solidFill>
            <a:ln w="1270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无线</a:t>
              </a:r>
              <a:r>
                <a:rPr lang="zh-CN" altLang="en-US" sz="1600" b="1" kern="100">
                  <a:latin typeface="Times New Roman" panose="02020603050405020304"/>
                  <a:ea typeface="宋体" panose="02010600030101010101" pitchFamily="2" charset="-122"/>
                  <a:cs typeface="Times New Roman" panose="02020603050405020304"/>
                  <a:sym typeface="Times New Roman" panose="02020603050405020304"/>
                </a:rPr>
                <a:t>收发</a:t>
              </a:r>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器</a:t>
              </a:r>
              <a:endParaRPr lang="en-US" altLang="zh-CN" sz="16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zh-CN" altLang="en-US" sz="1600" b="1" kern="100">
                  <a:latin typeface="Times New Roman" panose="02020603050405020304"/>
                  <a:ea typeface="宋体" panose="02010600030101010101" pitchFamily="2" charset="-122"/>
                  <a:cs typeface="Times New Roman" panose="02020603050405020304"/>
                  <a:sym typeface="Times New Roman" panose="02020603050405020304"/>
                </a:rPr>
                <a:t>无线</a:t>
              </a:r>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通信模块</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133" name="文本框 911"/>
            <p:cNvSpPr txBox="1"/>
            <p:nvPr/>
          </p:nvSpPr>
          <p:spPr>
            <a:xfrm>
              <a:off x="2105025" y="134620"/>
              <a:ext cx="1085850" cy="1514475"/>
            </a:xfrm>
            <a:prstGeom prst="rect">
              <a:avLst/>
            </a:prstGeom>
            <a:solidFill>
              <a:schemeClr val="lt1"/>
            </a:solidFill>
            <a:ln w="1270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微处理器</a:t>
              </a:r>
              <a:endParaRPr lang="en-US" altLang="zh-CN" sz="900" b="1"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存储器</a:t>
              </a: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处理</a:t>
              </a:r>
              <a:r>
                <a:rPr lang="zh-CN" altLang="en-US" sz="1600" b="1" kern="100">
                  <a:latin typeface="Times New Roman" panose="02020603050405020304"/>
                  <a:ea typeface="宋体" panose="02010600030101010101" pitchFamily="2" charset="-122"/>
                  <a:cs typeface="Times New Roman" panose="02020603050405020304"/>
                  <a:sym typeface="Times New Roman" panose="02020603050405020304"/>
                </a:rPr>
                <a:t>器</a:t>
              </a:r>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模块</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134" name="右箭头 912"/>
            <p:cNvSpPr/>
            <p:nvPr/>
          </p:nvSpPr>
          <p:spPr>
            <a:xfrm>
              <a:off x="1608455" y="819150"/>
              <a:ext cx="483235" cy="175895"/>
            </a:xfrm>
            <a:prstGeom prst="rightArrow">
              <a:avLst/>
            </a:prstGeom>
          </p:spPr>
          <p:style>
            <a:lnRef idx="2">
              <a:schemeClr val="dk1"/>
            </a:lnRef>
            <a:fillRef idx="1">
              <a:schemeClr val="lt1"/>
            </a:fillRef>
            <a:effectRef idx="0">
              <a:schemeClr val="dk1"/>
            </a:effectRef>
            <a:fontRef idx="minor">
              <a:schemeClr val="dk1"/>
            </a:fontRef>
          </p:style>
        </p:sp>
        <p:sp>
          <p:nvSpPr>
            <p:cNvPr id="1135" name="右箭头 913"/>
            <p:cNvSpPr/>
            <p:nvPr/>
          </p:nvSpPr>
          <p:spPr>
            <a:xfrm>
              <a:off x="3190875" y="788035"/>
              <a:ext cx="483235" cy="175895"/>
            </a:xfrm>
            <a:prstGeom prst="rightArrow">
              <a:avLst/>
            </a:prstGeom>
          </p:spPr>
          <p:style>
            <a:lnRef idx="2">
              <a:schemeClr val="dk1"/>
            </a:lnRef>
            <a:fillRef idx="1">
              <a:schemeClr val="lt1"/>
            </a:fillRef>
            <a:effectRef idx="0">
              <a:schemeClr val="dk1"/>
            </a:effectRef>
            <a:fontRef idx="minor">
              <a:schemeClr val="dk1"/>
            </a:fontRef>
          </p:style>
        </p:sp>
        <p:sp>
          <p:nvSpPr>
            <p:cNvPr id="1136" name="右箭头 923"/>
            <p:cNvSpPr/>
            <p:nvPr/>
          </p:nvSpPr>
          <p:spPr>
            <a:xfrm rot="16200000">
              <a:off x="831850" y="1791335"/>
              <a:ext cx="423545" cy="175895"/>
            </a:xfrm>
            <a:prstGeom prst="rightArrow">
              <a:avLst/>
            </a:prstGeom>
          </p:spPr>
          <p:style>
            <a:lnRef idx="2">
              <a:schemeClr val="dk1"/>
            </a:lnRef>
            <a:fillRef idx="1">
              <a:schemeClr val="lt1"/>
            </a:fillRef>
            <a:effectRef idx="0">
              <a:schemeClr val="dk1"/>
            </a:effectRef>
            <a:fontRef idx="minor">
              <a:schemeClr val="dk1"/>
            </a:fontRef>
          </p:style>
        </p:sp>
        <p:sp>
          <p:nvSpPr>
            <p:cNvPr id="1137" name="右箭头 924"/>
            <p:cNvSpPr/>
            <p:nvPr/>
          </p:nvSpPr>
          <p:spPr>
            <a:xfrm rot="16200000">
              <a:off x="2454910" y="1781810"/>
              <a:ext cx="432435" cy="175895"/>
            </a:xfrm>
            <a:prstGeom prst="rightArrow">
              <a:avLst/>
            </a:prstGeom>
          </p:spPr>
          <p:style>
            <a:lnRef idx="2">
              <a:schemeClr val="dk1"/>
            </a:lnRef>
            <a:fillRef idx="1">
              <a:schemeClr val="lt1"/>
            </a:fillRef>
            <a:effectRef idx="0">
              <a:schemeClr val="dk1"/>
            </a:effectRef>
            <a:fontRef idx="minor">
              <a:schemeClr val="dk1"/>
            </a:fontRef>
          </p:style>
        </p:sp>
        <p:sp>
          <p:nvSpPr>
            <p:cNvPr id="1138" name="右箭头 925"/>
            <p:cNvSpPr/>
            <p:nvPr/>
          </p:nvSpPr>
          <p:spPr>
            <a:xfrm rot="16200000">
              <a:off x="4048760" y="1794013"/>
              <a:ext cx="410210" cy="175895"/>
            </a:xfrm>
            <a:prstGeom prst="rightArrow">
              <a:avLst/>
            </a:prstGeom>
          </p:spPr>
          <p:style>
            <a:lnRef idx="2">
              <a:schemeClr val="dk1"/>
            </a:lnRef>
            <a:fillRef idx="1">
              <a:schemeClr val="lt1"/>
            </a:fillRef>
            <a:effectRef idx="0">
              <a:schemeClr val="dk1"/>
            </a:effectRef>
            <a:fontRef idx="minor">
              <a:schemeClr val="dk1"/>
            </a:fontRef>
          </p:style>
        </p:sp>
        <p:sp>
          <p:nvSpPr>
            <p:cNvPr id="1139" name="文本框 927"/>
            <p:cNvSpPr txBox="1"/>
            <p:nvPr/>
          </p:nvSpPr>
          <p:spPr>
            <a:xfrm>
              <a:off x="2301614" y="2152783"/>
              <a:ext cx="1143000" cy="25717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zh-CN" altLang="en-US" b="1" kern="100">
                  <a:latin typeface="Times New Roman" panose="02020603050405020304"/>
                  <a:ea typeface="宋体" panose="02010600030101010101" pitchFamily="2" charset="-122"/>
                  <a:cs typeface="Times New Roman" panose="02020603050405020304"/>
                  <a:sym typeface="Times New Roman" panose="02020603050405020304"/>
                </a:rPr>
                <a:t>电源</a:t>
              </a:r>
              <a:r>
                <a:rPr lang="en-US" altLang="zh-CN" b="1" kern="100">
                  <a:latin typeface="Times New Roman" panose="02020603050405020304"/>
                  <a:ea typeface="宋体" panose="02010600030101010101" pitchFamily="2" charset="-122"/>
                  <a:cs typeface="Times New Roman" panose="02020603050405020304"/>
                  <a:sym typeface="Times New Roman" panose="02020603050405020304"/>
                </a:rPr>
                <a:t>模块</a:t>
              </a:r>
              <a:endParaRPr lang="en-US" altLang="zh-CN"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140" name="任意多边形 917"/>
            <p:cNvSpPr/>
            <p:nvPr/>
          </p:nvSpPr>
          <p:spPr>
            <a:xfrm>
              <a:off x="507365" y="2085975"/>
              <a:ext cx="4248150" cy="390525"/>
            </a:xfrm>
            <a:custGeom>
              <a:avLst/>
              <a:gdLst>
                <a:gd name="connsiteX0" fmla="*/ 690 w 5897"/>
                <a:gd name="connsiteY0" fmla="*/ 0 h 615"/>
                <a:gd name="connsiteX1" fmla="*/ 5195 w 5897"/>
                <a:gd name="connsiteY1" fmla="*/ 0 h 615"/>
                <a:gd name="connsiteX2" fmla="*/ 5897 w 5897"/>
                <a:gd name="connsiteY2" fmla="*/ 312 h 615"/>
                <a:gd name="connsiteX3" fmla="*/ 5195 w 5897"/>
                <a:gd name="connsiteY3" fmla="*/ 615 h 615"/>
                <a:gd name="connsiteX4" fmla="*/ 690 w 5897"/>
                <a:gd name="connsiteY4" fmla="*/ 615 h 615"/>
                <a:gd name="connsiteX5" fmla="*/ 0 w 5897"/>
                <a:gd name="connsiteY5" fmla="*/ 347 h 615"/>
                <a:gd name="connsiteX6" fmla="*/ 690 w 5897"/>
                <a:gd name="connsiteY6" fmla="*/ 0 h 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7" h="615">
                  <a:moveTo>
                    <a:pt x="690" y="0"/>
                  </a:moveTo>
                  <a:lnTo>
                    <a:pt x="5195" y="0"/>
                  </a:lnTo>
                  <a:cubicBezTo>
                    <a:pt x="5785" y="0"/>
                    <a:pt x="5897" y="142"/>
                    <a:pt x="5897" y="312"/>
                  </a:cubicBezTo>
                  <a:cubicBezTo>
                    <a:pt x="5897" y="481"/>
                    <a:pt x="5785" y="615"/>
                    <a:pt x="5195" y="615"/>
                  </a:cubicBezTo>
                  <a:lnTo>
                    <a:pt x="690" y="615"/>
                  </a:lnTo>
                  <a:cubicBezTo>
                    <a:pt x="100" y="615"/>
                    <a:pt x="0" y="516"/>
                    <a:pt x="0" y="347"/>
                  </a:cubicBezTo>
                  <a:cubicBezTo>
                    <a:pt x="0" y="177"/>
                    <a:pt x="100" y="0"/>
                    <a:pt x="690" y="0"/>
                  </a:cubicBezTo>
                  <a:close/>
                </a:path>
              </a:pathLst>
            </a:custGeom>
            <a:noFill/>
          </p:spPr>
          <p:style>
            <a:lnRef idx="2">
              <a:schemeClr val="dk1"/>
            </a:lnRef>
            <a:fillRef idx="1">
              <a:schemeClr val="lt1"/>
            </a:fillRef>
            <a:effectRef idx="0">
              <a:schemeClr val="dk1"/>
            </a:effectRef>
            <a:fontRef idx="minor">
              <a:schemeClr val="dk1"/>
            </a:fontRef>
          </p:style>
        </p:sp>
        <p:sp>
          <p:nvSpPr>
            <p:cNvPr id="1141" name="流程图: 终止 922"/>
            <p:cNvSpPr/>
            <p:nvPr/>
          </p:nvSpPr>
          <p:spPr>
            <a:xfrm>
              <a:off x="3790525" y="409984"/>
              <a:ext cx="906780" cy="271145"/>
            </a:xfrm>
            <a:prstGeom prst="flowChartTerminator">
              <a:avLst/>
            </a:prstGeom>
            <a:noFill/>
          </p:spPr>
          <p:style>
            <a:lnRef idx="2">
              <a:schemeClr val="dk1"/>
            </a:lnRef>
            <a:fillRef idx="1">
              <a:schemeClr val="lt1"/>
            </a:fillRef>
            <a:effectRef idx="0">
              <a:schemeClr val="dk1"/>
            </a:effectRef>
            <a:fontRef idx="minor">
              <a:schemeClr val="dk1"/>
            </a:fontRef>
          </p:style>
        </p:sp>
        <p:sp>
          <p:nvSpPr>
            <p:cNvPr id="1142" name="流程图: 终止 921"/>
            <p:cNvSpPr/>
            <p:nvPr/>
          </p:nvSpPr>
          <p:spPr>
            <a:xfrm>
              <a:off x="2181860" y="743585"/>
              <a:ext cx="906780" cy="271145"/>
            </a:xfrm>
            <a:prstGeom prst="flowChartTerminator">
              <a:avLst/>
            </a:prstGeom>
            <a:noFill/>
          </p:spPr>
          <p:style>
            <a:lnRef idx="2">
              <a:schemeClr val="dk1"/>
            </a:lnRef>
            <a:fillRef idx="1">
              <a:schemeClr val="lt1"/>
            </a:fillRef>
            <a:effectRef idx="0">
              <a:schemeClr val="dk1"/>
            </a:effectRef>
            <a:fontRef idx="minor">
              <a:schemeClr val="dk1"/>
            </a:fontRef>
          </p:style>
        </p:sp>
        <p:sp>
          <p:nvSpPr>
            <p:cNvPr id="1143" name="流程图: 终止 920"/>
            <p:cNvSpPr/>
            <p:nvPr/>
          </p:nvSpPr>
          <p:spPr>
            <a:xfrm>
              <a:off x="2178120" y="293749"/>
              <a:ext cx="906780" cy="271145"/>
            </a:xfrm>
            <a:prstGeom prst="flowChartTerminator">
              <a:avLst/>
            </a:prstGeom>
            <a:noFill/>
          </p:spPr>
          <p:style>
            <a:lnRef idx="2">
              <a:schemeClr val="dk1"/>
            </a:lnRef>
            <a:fillRef idx="1">
              <a:schemeClr val="lt1"/>
            </a:fillRef>
            <a:effectRef idx="0">
              <a:schemeClr val="dk1"/>
            </a:effectRef>
            <a:fontRef idx="minor">
              <a:schemeClr val="dk1"/>
            </a:fontRef>
          </p:style>
        </p:sp>
        <p:sp>
          <p:nvSpPr>
            <p:cNvPr id="1144" name="流程图: 终止 919"/>
            <p:cNvSpPr/>
            <p:nvPr/>
          </p:nvSpPr>
          <p:spPr>
            <a:xfrm>
              <a:off x="612601" y="325370"/>
              <a:ext cx="906780" cy="271145"/>
            </a:xfrm>
            <a:prstGeom prst="flowChartTerminator">
              <a:avLst/>
            </a:prstGeom>
            <a:noFill/>
          </p:spPr>
          <p:style>
            <a:lnRef idx="2">
              <a:schemeClr val="dk1"/>
            </a:lnRef>
            <a:fillRef idx="1">
              <a:schemeClr val="lt1"/>
            </a:fillRef>
            <a:effectRef idx="0">
              <a:schemeClr val="dk1"/>
            </a:effectRef>
            <a:fontRef idx="minor">
              <a:schemeClr val="dk1"/>
            </a:fontRef>
          </p:style>
        </p:sp>
        <p:sp>
          <p:nvSpPr>
            <p:cNvPr id="1145" name="流程图: 终止 918"/>
            <p:cNvSpPr/>
            <p:nvPr/>
          </p:nvSpPr>
          <p:spPr>
            <a:xfrm>
              <a:off x="611575" y="762023"/>
              <a:ext cx="906780" cy="271145"/>
            </a:xfrm>
            <a:prstGeom prst="flowChartTerminator">
              <a:avLst/>
            </a:prstGeom>
            <a:noFill/>
          </p:spPr>
          <p:style>
            <a:lnRef idx="2">
              <a:schemeClr val="dk1"/>
            </a:lnRef>
            <a:fillRef idx="1">
              <a:schemeClr val="lt1"/>
            </a:fillRef>
            <a:effectRef idx="0">
              <a:schemeClr val="dk1"/>
            </a:effectRef>
            <a:fontRef idx="minor">
              <a:schemeClr val="dk1"/>
            </a:fontRef>
          </p:style>
        </p:sp>
      </p:grpSp>
      <p:sp>
        <p:nvSpPr>
          <p:cNvPr id="3" name="文本框 2"/>
          <p:cNvSpPr txBox="1"/>
          <p:nvPr/>
        </p:nvSpPr>
        <p:spPr>
          <a:xfrm>
            <a:off x="5834380" y="5551170"/>
            <a:ext cx="5080000" cy="398780"/>
          </a:xfrm>
          <a:prstGeom prst="rect">
            <a:avLst/>
          </a:prstGeom>
          <a:noFill/>
          <a:ln w="9525">
            <a:noFill/>
          </a:ln>
        </p:spPr>
        <p:txBody>
          <a:bodyPr>
            <a:spAutoFit/>
          </a:bodyPr>
          <a:p>
            <a:pPr indent="0" algn="ctr"/>
            <a:r>
              <a:rPr lang="zh-CN" sz="2000" b="1">
                <a:ea typeface="宋体" panose="02010600030101010101" pitchFamily="2" charset="-122"/>
              </a:rPr>
              <a:t>图</a:t>
            </a:r>
            <a:r>
              <a:rPr lang="en-US" sz="2000" b="1">
                <a:latin typeface="Times New Roman" panose="02020603050405020304" charset="0"/>
                <a:ea typeface="宋体" panose="02010600030101010101" pitchFamily="2" charset="-122"/>
              </a:rPr>
              <a:t>2-2-1  </a:t>
            </a:r>
            <a:r>
              <a:rPr lang="zh-CN" sz="2000" b="1">
                <a:ea typeface="宋体" panose="02010600030101010101" pitchFamily="2" charset="-122"/>
              </a:rPr>
              <a:t>传感器节点组成结构</a:t>
            </a:r>
            <a:endParaRPr lang="zh-CN" altLang="en-US" sz="2000" b="1"/>
          </a:p>
        </p:txBody>
      </p:sp>
      <p:sp>
        <p:nvSpPr>
          <p:cNvPr id="4" name="文本框 3"/>
          <p:cNvSpPr txBox="1"/>
          <p:nvPr/>
        </p:nvSpPr>
        <p:spPr>
          <a:xfrm>
            <a:off x="0" y="1609090"/>
            <a:ext cx="5101590" cy="5169535"/>
          </a:xfrm>
          <a:prstGeom prst="rect">
            <a:avLst/>
          </a:prstGeom>
          <a:noFill/>
        </p:spPr>
        <p:txBody>
          <a:bodyPr wrap="square" rtlCol="0" anchor="t">
            <a:spAutoFit/>
          </a:bodyPr>
          <a:p>
            <a:pPr marL="285750" indent="-285750">
              <a:buFont typeface="Arial" panose="020B0604020202020204" pitchFamily="34" charset="0"/>
              <a:buChar char="•"/>
            </a:pPr>
            <a:r>
              <a:rPr sz="2200" b="1">
                <a:uFillTx/>
                <a:ea typeface="宋体" panose="02010600030101010101" pitchFamily="2" charset="-122"/>
                <a:sym typeface="+mn-ea"/>
              </a:rPr>
              <a:t>（1）</a:t>
            </a:r>
            <a:r>
              <a:rPr sz="2200" b="1">
                <a:solidFill>
                  <a:srgbClr val="FF0000"/>
                </a:solidFill>
                <a:uFillTx/>
                <a:ea typeface="宋体" panose="02010600030101010101" pitchFamily="2" charset="-122"/>
                <a:sym typeface="+mn-ea"/>
              </a:rPr>
              <a:t>传感器模块</a:t>
            </a:r>
            <a:r>
              <a:rPr sz="2200" b="1">
                <a:uFillTx/>
                <a:ea typeface="宋体" panose="02010600030101010101" pitchFamily="2" charset="-122"/>
                <a:sym typeface="+mn-ea"/>
              </a:rPr>
              <a:t>：由传感器和模/数转换器组成，传感器负责对感知对象的信息进行采集和数据转换。</a:t>
            </a:r>
            <a:endParaRPr sz="2200" b="1">
              <a:uFillTx/>
              <a:ea typeface="宋体" panose="02010600030101010101" pitchFamily="2" charset="-122"/>
              <a:sym typeface="+mn-ea"/>
            </a:endParaRPr>
          </a:p>
          <a:p>
            <a:pPr marL="285750" indent="-285750">
              <a:buFont typeface="Arial" panose="020B0604020202020204" pitchFamily="34" charset="0"/>
              <a:buChar char="•"/>
            </a:pPr>
            <a:r>
              <a:rPr sz="2200" b="1">
                <a:uFillTx/>
                <a:ea typeface="宋体" panose="02010600030101010101" pitchFamily="2" charset="-122"/>
                <a:sym typeface="+mn-ea"/>
              </a:rPr>
              <a:t>（2）</a:t>
            </a:r>
            <a:r>
              <a:rPr sz="2200" b="1">
                <a:solidFill>
                  <a:srgbClr val="FF0000"/>
                </a:solidFill>
                <a:uFillTx/>
                <a:ea typeface="宋体" panose="02010600030101010101" pitchFamily="2" charset="-122"/>
                <a:sym typeface="+mn-ea"/>
              </a:rPr>
              <a:t>处理器模块</a:t>
            </a:r>
            <a:r>
              <a:rPr sz="2200" b="1">
                <a:uFillTx/>
                <a:ea typeface="宋体" panose="02010600030101010101" pitchFamily="2" charset="-122"/>
                <a:sym typeface="+mn-ea"/>
              </a:rPr>
              <a:t>：由嵌入式系统构成，包括微处理器、存储器等。负责控制整个节点的操作，存储和处理自身采集的数据以及传感器其他节点发来的数据，运行网络通信协议。</a:t>
            </a:r>
            <a:endParaRPr sz="2200" b="1">
              <a:uFillTx/>
              <a:ea typeface="宋体" panose="02010600030101010101" pitchFamily="2" charset="-122"/>
              <a:sym typeface="+mn-ea"/>
            </a:endParaRPr>
          </a:p>
          <a:p>
            <a:pPr marL="285750" indent="-285750">
              <a:buFont typeface="Arial" panose="020B0604020202020204" pitchFamily="34" charset="0"/>
              <a:buChar char="•"/>
            </a:pPr>
            <a:r>
              <a:rPr sz="2200" b="1">
                <a:uFillTx/>
                <a:ea typeface="宋体" panose="02010600030101010101" pitchFamily="2" charset="-122"/>
                <a:sym typeface="+mn-ea"/>
              </a:rPr>
              <a:t>（3）</a:t>
            </a:r>
            <a:r>
              <a:rPr sz="2200" b="1">
                <a:solidFill>
                  <a:srgbClr val="FF0000"/>
                </a:solidFill>
                <a:uFillTx/>
                <a:ea typeface="宋体" panose="02010600030101010101" pitchFamily="2" charset="-122"/>
                <a:sym typeface="+mn-ea"/>
              </a:rPr>
              <a:t>无线通信模块</a:t>
            </a:r>
            <a:r>
              <a:rPr sz="2200" b="1">
                <a:uFillTx/>
                <a:ea typeface="宋体" panose="02010600030101010101" pitchFamily="2" charset="-122"/>
                <a:sym typeface="+mn-ea"/>
              </a:rPr>
              <a:t>：由无线收发器组成，无线通信模块负责实现传感器节点之间以及传感器节点与用户节点管理控制节点之间的通信，交互控制消息和收/发业务数据。</a:t>
            </a:r>
            <a:endParaRPr sz="2200" b="1">
              <a:uFillTx/>
              <a:ea typeface="宋体" panose="02010600030101010101" pitchFamily="2" charset="-122"/>
              <a:sym typeface="+mn-ea"/>
            </a:endParaRPr>
          </a:p>
          <a:p>
            <a:pPr marL="285750" indent="-285750">
              <a:buFont typeface="Arial" panose="020B0604020202020204" pitchFamily="34" charset="0"/>
              <a:buChar char="•"/>
            </a:pPr>
            <a:r>
              <a:rPr sz="2200" b="1">
                <a:uFillTx/>
                <a:ea typeface="宋体" panose="02010600030101010101" pitchFamily="2" charset="-122"/>
                <a:sym typeface="+mn-ea"/>
              </a:rPr>
              <a:t>（4）</a:t>
            </a:r>
            <a:r>
              <a:rPr sz="2200" b="1">
                <a:solidFill>
                  <a:srgbClr val="FF0000"/>
                </a:solidFill>
                <a:uFillTx/>
                <a:ea typeface="宋体" panose="02010600030101010101" pitchFamily="2" charset="-122"/>
                <a:sym typeface="+mn-ea"/>
              </a:rPr>
              <a:t>电源模块</a:t>
            </a:r>
            <a:r>
              <a:rPr sz="2200" b="1">
                <a:uFillTx/>
                <a:ea typeface="宋体" panose="02010600030101010101" pitchFamily="2" charset="-122"/>
                <a:sym typeface="+mn-ea"/>
              </a:rPr>
              <a:t>：为传感器节点提供运行所需的能量，通常采用微型电池。</a:t>
            </a:r>
            <a:endParaRPr sz="2200" b="1">
              <a:uFillTx/>
              <a:ea typeface="宋体" panose="02010600030101010101" pitchFamily="2" charset="-122"/>
              <a:sym typeface="+mn-ea"/>
            </a:endParaRPr>
          </a:p>
        </p:txBody>
      </p:sp>
      <p:sp>
        <p:nvSpPr>
          <p:cNvPr id="100" name="文本框 99"/>
          <p:cNvSpPr txBox="1"/>
          <p:nvPr/>
        </p:nvSpPr>
        <p:spPr>
          <a:xfrm>
            <a:off x="2205355" y="984250"/>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.1  节点组成结构</a:t>
            </a:r>
            <a:endParaRPr lang="zh-CN" altLang="en-US"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1"/>
          <p:cNvSpPr>
            <a:spLocks noGrp="1"/>
          </p:cNvSpPr>
          <p:nvPr/>
        </p:nvSpPr>
        <p:spPr>
          <a:xfrm>
            <a:off x="2697480"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pic>
        <p:nvPicPr>
          <p:cNvPr id="109" name="图片 5"/>
          <p:cNvPicPr/>
          <p:nvPr/>
        </p:nvPicPr>
        <p:blipFill>
          <a:blip r:embed="rId2" cstate="print"/>
          <a:srcRect/>
          <a:stretch>
            <a:fillRect/>
          </a:stretch>
        </p:blipFill>
        <p:spPr>
          <a:xfrm>
            <a:off x="5495290" y="1508125"/>
            <a:ext cx="6179820" cy="4110355"/>
          </a:xfrm>
          <a:prstGeom prst="rect">
            <a:avLst/>
          </a:prstGeom>
          <a:noFill/>
          <a:ln w="9525">
            <a:noFill/>
            <a:miter lim="800000"/>
            <a:headEnd/>
            <a:tailEnd/>
          </a:ln>
        </p:spPr>
      </p:pic>
      <p:sp>
        <p:nvSpPr>
          <p:cNvPr id="3" name="文本框 2"/>
          <p:cNvSpPr txBox="1"/>
          <p:nvPr/>
        </p:nvSpPr>
        <p:spPr>
          <a:xfrm>
            <a:off x="6045200" y="5961380"/>
            <a:ext cx="5080000" cy="398780"/>
          </a:xfrm>
          <a:prstGeom prst="rect">
            <a:avLst/>
          </a:prstGeom>
          <a:noFill/>
          <a:ln w="9525">
            <a:noFill/>
          </a:ln>
        </p:spPr>
        <p:txBody>
          <a:bodyPr>
            <a:spAutoFit/>
          </a:bodyPr>
          <a:p>
            <a:pPr indent="228600" algn="ctr"/>
            <a:r>
              <a:rPr lang="zh-CN" sz="2000" b="1">
                <a:ea typeface="宋体" panose="02010600030101010101" pitchFamily="2" charset="-122"/>
              </a:rPr>
              <a:t>图</a:t>
            </a:r>
            <a:r>
              <a:rPr lang="en-US" sz="2000" b="1">
                <a:latin typeface="Times New Roman" panose="02020603050405020304" charset="0"/>
                <a:ea typeface="宋体" panose="02010600030101010101" pitchFamily="2" charset="-122"/>
              </a:rPr>
              <a:t>2-2-2 </a:t>
            </a:r>
            <a:r>
              <a:rPr lang="zh-CN" sz="2000" b="1">
                <a:ea typeface="宋体" panose="02010600030101010101" pitchFamily="2" charset="-122"/>
              </a:rPr>
              <a:t>能量消耗的比例示意图</a:t>
            </a:r>
            <a:endParaRPr lang="zh-CN" altLang="en-US" sz="2000" b="1"/>
          </a:p>
        </p:txBody>
      </p:sp>
      <p:sp>
        <p:nvSpPr>
          <p:cNvPr id="100" name="文本框 99"/>
          <p:cNvSpPr txBox="1"/>
          <p:nvPr/>
        </p:nvSpPr>
        <p:spPr>
          <a:xfrm>
            <a:off x="115570" y="2330450"/>
            <a:ext cx="4765675" cy="2676525"/>
          </a:xfrm>
          <a:prstGeom prst="rect">
            <a:avLst/>
          </a:prstGeom>
          <a:noFill/>
          <a:ln w="9525">
            <a:noFill/>
          </a:ln>
        </p:spPr>
        <p:txBody>
          <a:bodyPr wrap="square">
            <a:spAutoFit/>
          </a:bodyPr>
          <a:p>
            <a:pPr indent="266700"/>
            <a:r>
              <a:rPr lang="en-US" altLang="zh-CN" sz="2800" b="1">
                <a:latin typeface="等线" panose="02010600030101010101" charset="-122"/>
                <a:ea typeface="等线" panose="02010600030101010101" charset="-122"/>
                <a:cs typeface="等线" panose="02010600030101010101" charset="-122"/>
              </a:rPr>
              <a:t>    </a:t>
            </a:r>
            <a:r>
              <a:rPr lang="zh-CN" sz="2800" b="1">
                <a:latin typeface="等线" panose="02010600030101010101" charset="-122"/>
                <a:ea typeface="等线" panose="02010600030101010101" charset="-122"/>
                <a:cs typeface="等线" panose="02010600030101010101" charset="-122"/>
              </a:rPr>
              <a:t>传感器节点在实现各种网络协议和应用系统时，存在以下约束。</a:t>
            </a:r>
            <a:r>
              <a:rPr lang="en-US" sz="2800" b="1">
                <a:latin typeface="等线" panose="02010600030101010101" charset="-122"/>
                <a:ea typeface="等线" panose="02010600030101010101" charset="-122"/>
                <a:cs typeface="等线" panose="02010600030101010101" charset="-122"/>
              </a:rPr>
              <a:t> </a:t>
            </a:r>
            <a:r>
              <a:rPr lang="en-US" sz="2800" b="1">
                <a:solidFill>
                  <a:srgbClr val="FF0000"/>
                </a:solidFill>
                <a:latin typeface="等线" panose="02010600030101010101" charset="-122"/>
                <a:ea typeface="等线" panose="02010600030101010101" charset="-122"/>
                <a:cs typeface="等线" panose="02010600030101010101" charset="-122"/>
              </a:rPr>
              <a:t>  1</a:t>
            </a:r>
            <a:r>
              <a:rPr lang="zh-CN" altLang="en-US" sz="2800" b="1">
                <a:solidFill>
                  <a:srgbClr val="FF0000"/>
                </a:solidFill>
                <a:latin typeface="等线" panose="02010600030101010101" charset="-122"/>
                <a:ea typeface="等线" panose="02010600030101010101" charset="-122"/>
                <a:cs typeface="等线" panose="02010600030101010101" charset="-122"/>
              </a:rPr>
              <a:t>）</a:t>
            </a:r>
            <a:r>
              <a:rPr lang="zh-CN" sz="2800" b="1">
                <a:solidFill>
                  <a:srgbClr val="FF0000"/>
                </a:solidFill>
                <a:latin typeface="等线" panose="02010600030101010101" charset="-122"/>
                <a:ea typeface="等线" panose="02010600030101010101" charset="-122"/>
                <a:cs typeface="等线" panose="02010600030101010101" charset="-122"/>
              </a:rPr>
              <a:t>电源能量有限</a:t>
            </a:r>
            <a:endParaRPr lang="zh-CN" sz="2800" b="1">
              <a:solidFill>
                <a:srgbClr val="FF0000"/>
              </a:solidFill>
              <a:latin typeface="等线" panose="02010600030101010101" charset="-122"/>
              <a:ea typeface="等线" panose="02010600030101010101" charset="-122"/>
              <a:cs typeface="等线" panose="02010600030101010101" charset="-122"/>
            </a:endParaRPr>
          </a:p>
          <a:p>
            <a:pPr indent="266700"/>
            <a:r>
              <a:rPr lang="zh-CN" altLang="en-US" sz="2800" b="1">
                <a:solidFill>
                  <a:srgbClr val="FF0000"/>
                </a:solidFill>
                <a:latin typeface="等线" panose="02010600030101010101" charset="-122"/>
                <a:ea typeface="等线" panose="02010600030101010101" charset="-122"/>
                <a:cs typeface="等线" panose="02010600030101010101" charset="-122"/>
              </a:rPr>
              <a:t>2）通信能力有限</a:t>
            </a:r>
            <a:endParaRPr lang="zh-CN" altLang="en-US" sz="2800" b="1">
              <a:solidFill>
                <a:srgbClr val="FF0000"/>
              </a:solidFill>
              <a:latin typeface="等线" panose="02010600030101010101" charset="-122"/>
              <a:ea typeface="等线" panose="02010600030101010101" charset="-122"/>
              <a:cs typeface="等线" panose="02010600030101010101" charset="-122"/>
            </a:endParaRPr>
          </a:p>
          <a:p>
            <a:pPr indent="266700"/>
            <a:r>
              <a:rPr lang="zh-CN" altLang="en-US" sz="2800" b="1">
                <a:solidFill>
                  <a:srgbClr val="FF0000"/>
                </a:solidFill>
                <a:latin typeface="等线" panose="02010600030101010101" charset="-122"/>
                <a:ea typeface="等线" panose="02010600030101010101" charset="-122"/>
                <a:cs typeface="等线" panose="02010600030101010101" charset="-122"/>
              </a:rPr>
              <a:t>3）计算和存储能力有限</a:t>
            </a:r>
            <a:endParaRPr lang="zh-CN" altLang="en-US" sz="2800" b="1">
              <a:solidFill>
                <a:srgbClr val="FF0000"/>
              </a:solidFill>
              <a:latin typeface="等线" panose="02010600030101010101" charset="-122"/>
              <a:ea typeface="等线" panose="02010600030101010101" charset="-122"/>
              <a:cs typeface="等线" panose="02010600030101010101" charset="-122"/>
            </a:endParaRPr>
          </a:p>
        </p:txBody>
      </p:sp>
      <p:sp>
        <p:nvSpPr>
          <p:cNvPr id="2" name="文本框 1"/>
          <p:cNvSpPr txBox="1"/>
          <p:nvPr/>
        </p:nvSpPr>
        <p:spPr>
          <a:xfrm>
            <a:off x="1765935" y="123507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.1  节点组成结构</a:t>
            </a:r>
            <a:endParaRPr lang="zh-CN" altLang="en-US" sz="2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409575" y="1727835"/>
            <a:ext cx="10909300" cy="4523105"/>
          </a:xfrm>
          <a:prstGeom prst="rect">
            <a:avLst/>
          </a:prstGeom>
          <a:noFill/>
          <a:ln w="9525">
            <a:noFill/>
          </a:ln>
        </p:spPr>
        <p:txBody>
          <a:bodyPr wrap="square">
            <a:spAutoFit/>
          </a:bodyPr>
          <a:p>
            <a:pPr indent="0"/>
            <a:r>
              <a:rPr lang="en-US" sz="2400" b="1">
                <a:ea typeface="宋体" panose="02010600030101010101" pitchFamily="2" charset="-122"/>
              </a:rPr>
              <a:t>       </a:t>
            </a:r>
            <a:r>
              <a:rPr sz="2400" b="1">
                <a:ea typeface="宋体" panose="02010600030101010101" pitchFamily="2" charset="-122"/>
              </a:rPr>
              <a:t>传感器在现实中的应用非常广泛，渗透在工业、医疗、军事和航天等各个领域，所以有些机构把传感器网络称为未来三大高科技产业之一。传感器网络研究的近期意义不是创造出多少新的应用，而是通过网络技术为现有的传感器应用提供新的解决办法。网络化的传感器模块相对于传统传感器的应用有如下的特点：</a:t>
            </a:r>
            <a:endParaRPr sz="2400" b="1">
              <a:ea typeface="宋体" panose="02010600030101010101" pitchFamily="2" charset="-122"/>
            </a:endParaRPr>
          </a:p>
          <a:p>
            <a:pPr indent="0"/>
            <a:r>
              <a:rPr lang="en-US" sz="2400" b="1">
                <a:ea typeface="宋体" panose="02010600030101010101" pitchFamily="2" charset="-122"/>
              </a:rPr>
              <a:t>      </a:t>
            </a:r>
            <a:r>
              <a:rPr sz="2400" b="1">
                <a:ea typeface="宋体" panose="02010600030101010101" pitchFamily="2" charset="-122"/>
              </a:rPr>
              <a:t>（1）传感器模块是硬件平台中真正与外部信号量接触的模块，一般包括传感器探头和变送系统两部分。探头采集外部的温度、光照和磁场等需要传感的信息，将其送入变送系统，后者将上述物理量转化为系统可以识别的原始电信号，并且通过积分电路、放大电路整形处理，最后经过A/D转换器转换成数字信号送入处理器模块。</a:t>
            </a:r>
            <a:endParaRPr sz="2400" b="1">
              <a:ea typeface="宋体" panose="02010600030101010101" pitchFamily="2" charset="-122"/>
            </a:endParaRPr>
          </a:p>
          <a:p>
            <a:pPr indent="0"/>
            <a:r>
              <a:rPr lang="en-US" sz="2400" b="1">
                <a:ea typeface="宋体" panose="02010600030101010101" pitchFamily="2" charset="-122"/>
              </a:rPr>
              <a:t>     </a:t>
            </a:r>
            <a:r>
              <a:rPr sz="2400" b="1">
                <a:ea typeface="宋体" panose="02010600030101010101" pitchFamily="2" charset="-122"/>
              </a:rPr>
              <a:t>（2）对于不同的探测物理量，传感器模块将采用不同的信号处理方式。因此，对于温度、湿度、光照、声音等不同的信号量，需要设计相应的检测与传感器电路，同时需要预留相应的扩展接口，以便于扩展更多的物理信号量。</a:t>
            </a:r>
            <a:endParaRPr sz="2400" b="1">
              <a:ea typeface="宋体" panose="02010600030101010101" pitchFamily="2" charset="-122"/>
            </a:endParaRPr>
          </a:p>
        </p:txBody>
      </p:sp>
      <p:sp>
        <p:nvSpPr>
          <p:cNvPr id="2" name="标题 1"/>
          <p:cNvSpPr>
            <a:spLocks noGrp="1"/>
          </p:cNvSpPr>
          <p:nvPr/>
        </p:nvSpPr>
        <p:spPr>
          <a:xfrm>
            <a:off x="939800" y="9461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3" name="文本框 2"/>
          <p:cNvSpPr txBox="1"/>
          <p:nvPr/>
        </p:nvSpPr>
        <p:spPr>
          <a:xfrm>
            <a:off x="939800" y="1080770"/>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lang="en-US" altLang="zh-CN" sz="2800" b="1">
                <a:solidFill>
                  <a:srgbClr val="000000"/>
                </a:solidFill>
                <a:cs typeface="Times New Roman" panose="02020603050405020304" charset="0"/>
              </a:rPr>
              <a:t>2</a:t>
            </a:r>
            <a:r>
              <a:rPr lang="zh-CN" sz="2800" b="1">
                <a:solidFill>
                  <a:srgbClr val="000000"/>
                </a:solidFill>
                <a:cs typeface="Times New Roman" panose="02020603050405020304" charset="0"/>
              </a:rPr>
              <a:t>  传感器模块</a:t>
            </a:r>
            <a:endParaRPr lang="zh-CN" alt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409575" y="1727835"/>
            <a:ext cx="10909300" cy="4154170"/>
          </a:xfrm>
          <a:prstGeom prst="rect">
            <a:avLst/>
          </a:prstGeom>
          <a:noFill/>
          <a:ln w="9525">
            <a:noFill/>
          </a:ln>
        </p:spPr>
        <p:txBody>
          <a:bodyPr wrap="square">
            <a:spAutoFit/>
          </a:bodyPr>
          <a:p>
            <a:pPr indent="0"/>
            <a:r>
              <a:rPr lang="en-US" sz="2400" b="1">
                <a:ea typeface="宋体" panose="02010600030101010101" pitchFamily="2" charset="-122"/>
              </a:rPr>
              <a:t>       </a:t>
            </a:r>
            <a:r>
              <a:rPr sz="2400" b="1">
                <a:ea typeface="宋体" panose="02010600030101010101" pitchFamily="2" charset="-122"/>
              </a:rPr>
              <a:t>传感器模块的主要任务是采集节点周围的环境信息，并将这些信息</a:t>
            </a:r>
            <a:r>
              <a:rPr lang="zh-CN" sz="2400" b="1">
                <a:ea typeface="宋体" panose="02010600030101010101" pitchFamily="2" charset="-122"/>
              </a:rPr>
              <a:t>转换成</a:t>
            </a:r>
            <a:r>
              <a:rPr sz="2400" b="1">
                <a:ea typeface="宋体" panose="02010600030101010101" pitchFamily="2" charset="-122"/>
              </a:rPr>
              <a:t>数字信号的形式传送给微处理器处理。传感模块一般通过连接的传感器来监测外部信息，具体传感器的选择要考虑检测对象、信号源、能耗精度和采样频率等应用要求，除此之外，传感器必须能够适应恶劣环境的要求，抗腐蚀、密闭性好。传感器种类很多，可以监测温湿度、光照、噪声、振动、磁场、加速度等物理量。</a:t>
            </a:r>
            <a:endParaRPr sz="2400" b="1">
              <a:ea typeface="宋体" panose="02010600030101010101" pitchFamily="2" charset="-122"/>
            </a:endParaRPr>
          </a:p>
          <a:p>
            <a:pPr indent="0"/>
            <a:r>
              <a:rPr lang="en-US" sz="2400" b="1">
                <a:ea typeface="宋体" panose="02010600030101010101" pitchFamily="2" charset="-122"/>
              </a:rPr>
              <a:t>       </a:t>
            </a:r>
            <a:r>
              <a:rPr sz="2400" b="1">
                <a:ea typeface="宋体" panose="02010600030101010101" pitchFamily="2" charset="-122"/>
              </a:rPr>
              <a:t>传感模块的电路有两种设计方案：（1）对于体积较小，应用电路简单的传感器，可以将这传感器电路集成在节点的PCB板上，有利于节省节点的成本；（2）传感模块电路与节点主体电路分别制板，把所有传感器集成到传感器面板上，并通过标准接口与节点母板相连，便于根据应用需要定制传感参量，而无需更改节点主体部分的电路。对于体积较大，控制电路复杂的传感器一般也采取后一种方案，独立设计传感器电路，方便节点的设计。</a:t>
            </a:r>
            <a:endParaRPr sz="2400" b="1">
              <a:ea typeface="宋体" panose="02010600030101010101" pitchFamily="2" charset="-122"/>
            </a:endParaRPr>
          </a:p>
        </p:txBody>
      </p:sp>
      <p:sp>
        <p:nvSpPr>
          <p:cNvPr id="2" name="标题 1"/>
          <p:cNvSpPr>
            <a:spLocks noGrp="1"/>
          </p:cNvSpPr>
          <p:nvPr/>
        </p:nvSpPr>
        <p:spPr>
          <a:xfrm>
            <a:off x="939800" y="9461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3" name="文本框 2"/>
          <p:cNvSpPr txBox="1"/>
          <p:nvPr/>
        </p:nvSpPr>
        <p:spPr>
          <a:xfrm>
            <a:off x="939800" y="1080770"/>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lang="en-US" altLang="zh-CN" sz="2800" b="1">
                <a:solidFill>
                  <a:srgbClr val="000000"/>
                </a:solidFill>
                <a:cs typeface="Times New Roman" panose="02020603050405020304" charset="0"/>
              </a:rPr>
              <a:t>2.1</a:t>
            </a:r>
            <a:r>
              <a:rPr lang="zh-CN" sz="2800" b="1">
                <a:solidFill>
                  <a:srgbClr val="000000"/>
                </a:solidFill>
                <a:cs typeface="Times New Roman" panose="02020603050405020304" charset="0"/>
              </a:rPr>
              <a:t>  标量传感器</a:t>
            </a:r>
            <a:endParaRPr lang="zh-CN" altLang="en-US"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471805" y="1595755"/>
            <a:ext cx="10909300" cy="5262245"/>
          </a:xfrm>
          <a:prstGeom prst="rect">
            <a:avLst/>
          </a:prstGeom>
          <a:noFill/>
          <a:ln w="9525">
            <a:noFill/>
          </a:ln>
        </p:spPr>
        <p:txBody>
          <a:bodyPr wrap="square">
            <a:spAutoFit/>
          </a:bodyPr>
          <a:p>
            <a:pPr indent="0"/>
            <a:r>
              <a:rPr lang="en-US" sz="2400" b="1">
                <a:ea typeface="宋体" panose="02010600030101010101" pitchFamily="2" charset="-122"/>
              </a:rPr>
              <a:t>       </a:t>
            </a:r>
            <a:r>
              <a:rPr sz="2400" b="1">
                <a:ea typeface="宋体" panose="02010600030101010101" pitchFamily="2" charset="-122"/>
              </a:rPr>
              <a:t>环境中的标量信息主要包含温度、湿度、光照以及CO2等信息。标量感知节点主要具备以下特点：</a:t>
            </a:r>
            <a:endParaRPr sz="2400" b="1">
              <a:ea typeface="宋体" panose="02010600030101010101" pitchFamily="2" charset="-122"/>
            </a:endParaRPr>
          </a:p>
          <a:p>
            <a:pPr indent="0"/>
            <a:r>
              <a:rPr lang="en-US" sz="2400" b="1">
                <a:ea typeface="宋体" panose="02010600030101010101" pitchFamily="2" charset="-122"/>
              </a:rPr>
              <a:t>      </a:t>
            </a:r>
            <a:r>
              <a:rPr sz="2400" b="1">
                <a:ea typeface="宋体" panose="02010600030101010101" pitchFamily="2" charset="-122"/>
              </a:rPr>
              <a:t>（1）传感器节点处理能力较低。无线传感器网络中标量感知节点首先通过节点上各种各样的标量传感器对环境信息进行转换，转换的结果一般都比较简单，并且不需要CPU再做其他处理就可以进行数据的传输。例如，在智能楼宇的实际系统中，温度、光照、湿度以及CO2等标量数据都是通过采集后进行极少的额外处理就发送出去了。</a:t>
            </a:r>
            <a:endParaRPr sz="2400" b="1">
              <a:ea typeface="宋体" panose="02010600030101010101" pitchFamily="2" charset="-122"/>
            </a:endParaRPr>
          </a:p>
          <a:p>
            <a:pPr indent="0"/>
            <a:r>
              <a:rPr lang="en-US" sz="2400" b="1">
                <a:ea typeface="宋体" panose="02010600030101010101" pitchFamily="2" charset="-122"/>
              </a:rPr>
              <a:t>      </a:t>
            </a:r>
            <a:r>
              <a:rPr sz="2400" b="1">
                <a:ea typeface="宋体" panose="02010600030101010101" pitchFamily="2" charset="-122"/>
              </a:rPr>
              <a:t>（2）传感器节点输入与输出系统简单。无线传感器网络中标量信息在采集的过程都是通过各类传感器实现，并且采集的标量信息一股数据量都十分小，对于数据的发送也不需要引入环形缓存等特殊的机制。例如，实际的智能楼宇系统中直接通过串口把采集的标量信息发送出去。</a:t>
            </a:r>
            <a:endParaRPr sz="2400" b="1">
              <a:ea typeface="宋体" panose="02010600030101010101" pitchFamily="2" charset="-122"/>
            </a:endParaRPr>
          </a:p>
          <a:p>
            <a:pPr indent="0"/>
            <a:r>
              <a:rPr lang="en-US" sz="2400" b="1">
                <a:ea typeface="宋体" panose="02010600030101010101" pitchFamily="2" charset="-122"/>
              </a:rPr>
              <a:t>      </a:t>
            </a:r>
            <a:r>
              <a:rPr sz="2400" b="1">
                <a:ea typeface="宋体" panose="02010600030101010101" pitchFamily="2" charset="-122"/>
              </a:rPr>
              <a:t>（3）传感器节点能量消耗低。标量信息成功采集后无须CPU进行太多额外的处理，同时在采集与发送的整个过程中也都很少需要复杂的程序来进行实现，所以大多时候CPU以及外围硬件都处于较为空闲的状态，降低了对能量的开销。</a:t>
            </a:r>
            <a:endParaRPr sz="2400" b="1">
              <a:ea typeface="宋体" panose="02010600030101010101" pitchFamily="2" charset="-122"/>
            </a:endParaRPr>
          </a:p>
        </p:txBody>
      </p:sp>
      <p:sp>
        <p:nvSpPr>
          <p:cNvPr id="2" name="标题 1"/>
          <p:cNvSpPr>
            <a:spLocks noGrp="1"/>
          </p:cNvSpPr>
          <p:nvPr/>
        </p:nvSpPr>
        <p:spPr>
          <a:xfrm>
            <a:off x="939800" y="9461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3" name="文本框 2"/>
          <p:cNvSpPr txBox="1"/>
          <p:nvPr/>
        </p:nvSpPr>
        <p:spPr>
          <a:xfrm>
            <a:off x="939800" y="1080770"/>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lang="en-US" altLang="zh-CN" sz="2800" b="1">
                <a:solidFill>
                  <a:srgbClr val="000000"/>
                </a:solidFill>
                <a:cs typeface="Times New Roman" panose="02020603050405020304" charset="0"/>
              </a:rPr>
              <a:t>2.1</a:t>
            </a:r>
            <a:r>
              <a:rPr lang="zh-CN" sz="2800" b="1">
                <a:solidFill>
                  <a:srgbClr val="000000"/>
                </a:solidFill>
                <a:cs typeface="Times New Roman" panose="02020603050405020304" charset="0"/>
              </a:rPr>
              <a:t>  标量传感器</a:t>
            </a:r>
            <a:endParaRPr lang="zh-CN" altLang="en-US"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939800" y="9461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3" name="文本框 2"/>
          <p:cNvSpPr txBox="1"/>
          <p:nvPr/>
        </p:nvSpPr>
        <p:spPr>
          <a:xfrm>
            <a:off x="939800" y="1080770"/>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lang="en-US" altLang="zh-CN" sz="2800" b="1">
                <a:solidFill>
                  <a:srgbClr val="000000"/>
                </a:solidFill>
                <a:cs typeface="Times New Roman" panose="02020603050405020304" charset="0"/>
              </a:rPr>
              <a:t>2.1</a:t>
            </a:r>
            <a:r>
              <a:rPr lang="zh-CN" sz="2800" b="1">
                <a:solidFill>
                  <a:srgbClr val="000000"/>
                </a:solidFill>
                <a:cs typeface="Times New Roman" panose="02020603050405020304" charset="0"/>
              </a:rPr>
              <a:t>  标量传感器</a:t>
            </a:r>
            <a:endParaRPr lang="zh-CN" altLang="en-US" sz="2800"/>
          </a:p>
        </p:txBody>
      </p:sp>
      <p:graphicFrame>
        <p:nvGraphicFramePr>
          <p:cNvPr id="4" name="表格 3"/>
          <p:cNvGraphicFramePr/>
          <p:nvPr>
            <p:custDataLst>
              <p:tags r:id="rId2"/>
            </p:custDataLst>
          </p:nvPr>
        </p:nvGraphicFramePr>
        <p:xfrm>
          <a:off x="1269365" y="1943735"/>
          <a:ext cx="9653905" cy="4929505"/>
        </p:xfrm>
        <a:graphic>
          <a:graphicData uri="http://schemas.openxmlformats.org/drawingml/2006/table">
            <a:tbl>
              <a:tblPr firstRow="1" bandRow="1">
                <a:tableStyleId>{5940675A-B579-460E-94D1-54222C63F5DA}</a:tableStyleId>
              </a:tblPr>
              <a:tblGrid>
                <a:gridCol w="1693545"/>
                <a:gridCol w="7960360"/>
              </a:tblGrid>
              <a:tr h="365760">
                <a:tc>
                  <a:txBody>
                    <a:bodyPr/>
                    <a:p>
                      <a:pPr indent="0" algn="ctr">
                        <a:buNone/>
                      </a:pPr>
                      <a:r>
                        <a:rPr lang="en-US" sz="2400" b="1">
                          <a:gradFill>
                            <a:gsLst>
                              <a:gs pos="0">
                                <a:srgbClr val="007BD3"/>
                              </a:gs>
                              <a:gs pos="100000">
                                <a:srgbClr val="034373"/>
                              </a:gs>
                            </a:gsLst>
                            <a:lin scaled="0"/>
                          </a:gradFill>
                          <a:latin typeface="宋体" panose="02010600030101010101" pitchFamily="2" charset="-122"/>
                          <a:ea typeface="宋体" panose="02010600030101010101" pitchFamily="2" charset="-122"/>
                          <a:cs typeface="宋体" panose="02010600030101010101" pitchFamily="2" charset="-122"/>
                        </a:rPr>
                        <a:t>分类</a:t>
                      </a:r>
                      <a:endParaRPr lang="en-US" altLang="en-US" sz="2400" b="1">
                        <a:gradFill>
                          <a:gsLst>
                            <a:gs pos="0">
                              <a:srgbClr val="007BD3"/>
                            </a:gs>
                            <a:gs pos="100000">
                              <a:srgbClr val="034373"/>
                            </a:gs>
                          </a:gsLst>
                          <a:lin scaled="0"/>
                        </a:gra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gradFill>
                            <a:gsLst>
                              <a:gs pos="0">
                                <a:srgbClr val="007BD3"/>
                              </a:gs>
                              <a:gs pos="100000">
                                <a:srgbClr val="034373"/>
                              </a:gs>
                            </a:gsLst>
                            <a:lin scaled="0"/>
                          </a:gradFill>
                          <a:latin typeface="宋体" panose="02010600030101010101" pitchFamily="2" charset="-122"/>
                          <a:ea typeface="宋体" panose="02010600030101010101" pitchFamily="2" charset="-122"/>
                          <a:cs typeface="宋体" panose="02010600030101010101" pitchFamily="2" charset="-122"/>
                        </a:rPr>
                        <a:t>                     元器件</a:t>
                      </a:r>
                      <a:endParaRPr lang="en-US" altLang="en-US" sz="2400" b="1">
                        <a:gradFill>
                          <a:gsLst>
                            <a:gs pos="0">
                              <a:srgbClr val="007BD3"/>
                            </a:gs>
                            <a:gs pos="100000">
                              <a:srgbClr val="034373"/>
                            </a:gs>
                          </a:gsLst>
                          <a:lin scaled="0"/>
                        </a:gra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温度</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热敏电阻、热电偶</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压力</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压力计、气压计、电离计</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3065">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光学</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光敏二极管、光敏晶体管、红外传感器、CCD传感器</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声学</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压电谐振器、传声器</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26720">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机械</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应变计、触觉传感器、电容隔膜、压阻元件</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振动</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加速度计、陀螺仪、光电传感器</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流量</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水流计、风速计、空气流量传感器</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0365">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位置</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全球定位系统、超声波传感器、红外传感器、倾斜仪</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电磁</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霍尔效应传感器、磁强计</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7515">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化学</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pH传感器、电化学传感器、红外气体传感器</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湿度</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电容/电阻式传感器、湿度计、湿度传感器</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辐射</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400" b="1">
                          <a:latin typeface="宋体" panose="02010600030101010101" pitchFamily="2" charset="-122"/>
                          <a:ea typeface="宋体" panose="02010600030101010101" pitchFamily="2" charset="-122"/>
                          <a:cs typeface="宋体" panose="02010600030101010101" pitchFamily="2" charset="-122"/>
                        </a:rPr>
                        <a:t>电离探测器、Geiger-Mueller计数器</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00" name="文本框 99"/>
          <p:cNvSpPr txBox="1"/>
          <p:nvPr/>
        </p:nvSpPr>
        <p:spPr>
          <a:xfrm>
            <a:off x="4196080" y="1483360"/>
            <a:ext cx="5080000" cy="460375"/>
          </a:xfrm>
          <a:prstGeom prst="rect">
            <a:avLst/>
          </a:prstGeom>
          <a:noFill/>
          <a:ln w="9525">
            <a:noFill/>
          </a:ln>
        </p:spPr>
        <p:txBody>
          <a:bodyPr>
            <a:spAutoFit/>
          </a:bodyPr>
          <a:p>
            <a:pPr indent="0"/>
            <a:r>
              <a:rPr lang="zh-CN" sz="2400" b="1">
                <a:ea typeface="宋体" panose="02010600030101010101" pitchFamily="2" charset="-122"/>
              </a:rPr>
              <a:t>表</a:t>
            </a:r>
            <a:r>
              <a:rPr lang="en-US" sz="2400" b="1">
                <a:latin typeface="Times New Roman" panose="02020603050405020304" charset="0"/>
                <a:ea typeface="宋体" panose="02010600030101010101" pitchFamily="2" charset="-122"/>
              </a:rPr>
              <a:t>2-2-1   </a:t>
            </a:r>
            <a:r>
              <a:rPr lang="zh-CN" sz="2400" b="1">
                <a:ea typeface="宋体" panose="02010600030101010101" pitchFamily="2" charset="-122"/>
              </a:rPr>
              <a:t>传感器分类及常用元器件</a:t>
            </a:r>
            <a:endParaRPr lang="zh-CN" altLang="en-US" sz="240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939800" y="9461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3" name="文本框 2"/>
          <p:cNvSpPr txBox="1"/>
          <p:nvPr/>
        </p:nvSpPr>
        <p:spPr>
          <a:xfrm>
            <a:off x="939800" y="115633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  多媒体传感器</a:t>
            </a:r>
            <a:endParaRPr lang="zh-CN" altLang="en-US" sz="2800"/>
          </a:p>
        </p:txBody>
      </p:sp>
      <p:sp>
        <p:nvSpPr>
          <p:cNvPr id="5" name="文本框 4"/>
          <p:cNvSpPr txBox="1"/>
          <p:nvPr/>
        </p:nvSpPr>
        <p:spPr>
          <a:xfrm>
            <a:off x="480060" y="1753235"/>
            <a:ext cx="11431905" cy="4831080"/>
          </a:xfrm>
          <a:prstGeom prst="rect">
            <a:avLst/>
          </a:prstGeom>
          <a:noFill/>
          <a:ln w="9525">
            <a:noFill/>
          </a:ln>
        </p:spPr>
        <p:txBody>
          <a:bodyPr wrap="square">
            <a:spAutoFit/>
          </a:bodyPr>
          <a:p>
            <a:pPr indent="266700"/>
            <a:r>
              <a:rPr lang="en-US" altLang="zh-CN" sz="2200" b="1">
                <a:ea typeface="宋体" panose="02010600030101010101" pitchFamily="2" charset="-122"/>
              </a:rPr>
              <a:t>    </a:t>
            </a:r>
            <a:r>
              <a:rPr lang="zh-CN" sz="2200" b="1">
                <a:ea typeface="宋体" panose="02010600030101010101" pitchFamily="2" charset="-122"/>
              </a:rPr>
              <a:t>媒体信息是当前多媒体信息的一种简称。多媒体信息主要包含声音、图像以及视频。应用的传感器有音频传感器、低分辨率视频传感器</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中分辨率视频传感器</a:t>
            </a:r>
            <a:r>
              <a:rPr lang="zh-CN" sz="2200" b="1">
                <a:latin typeface="Times New Roman" panose="02020603050405020304" charset="0"/>
                <a:ea typeface="宋体" panose="02010600030101010101" pitchFamily="2" charset="-122"/>
              </a:rPr>
              <a:t>。如</a:t>
            </a:r>
            <a:r>
              <a:rPr lang="en-US" sz="2200" b="1">
                <a:latin typeface="Times New Roman" panose="02020603050405020304" charset="0"/>
                <a:ea typeface="宋体" panose="02010600030101010101" pitchFamily="2" charset="-122"/>
              </a:rPr>
              <a:t>COMS</a:t>
            </a:r>
            <a:r>
              <a:rPr lang="zh-CN" sz="2200" b="1">
                <a:latin typeface="Times New Roman" panose="02020603050405020304" charset="0"/>
                <a:ea typeface="宋体" panose="02010600030101010101" pitchFamily="2" charset="-122"/>
              </a:rPr>
              <a:t>影像传感器、</a:t>
            </a:r>
            <a:r>
              <a:rPr lang="en-US" sz="2200" b="1">
                <a:latin typeface="Times New Roman" panose="02020603050405020304" charset="0"/>
                <a:ea typeface="宋体" panose="02010600030101010101" pitchFamily="2" charset="-122"/>
              </a:rPr>
              <a:t>CCD</a:t>
            </a:r>
            <a:r>
              <a:rPr lang="zh-CN" sz="2200" b="1">
                <a:latin typeface="Times New Roman" panose="02020603050405020304" charset="0"/>
                <a:ea typeface="宋体" panose="02010600030101010101" pitchFamily="2" charset="-122"/>
              </a:rPr>
              <a:t>视频摄像机、指纹传感器等。</a:t>
            </a:r>
            <a:r>
              <a:rPr lang="zh-CN" sz="2200" b="1">
                <a:ea typeface="宋体" panose="02010600030101010101" pitchFamily="2" charset="-122"/>
              </a:rPr>
              <a:t>媒体感知节点就是专门用于采集环境中多媒体信息数据的节点。这些节点主要具备以下特点：</a:t>
            </a:r>
            <a:endParaRPr lang="zh-CN" sz="2200" b="1">
              <a:latin typeface="Times New Roman" panose="02020603050405020304" charset="0"/>
              <a:ea typeface="宋体" panose="02010600030101010101" pitchFamily="2" charset="-122"/>
            </a:endParaRPr>
          </a:p>
          <a:p>
            <a:pPr indent="266700"/>
            <a:r>
              <a:rPr lang="en-US" altLang="zh-CN" sz="2200" b="1">
                <a:latin typeface="Times New Roman" panose="02020603050405020304" charset="0"/>
                <a:ea typeface="宋体" panose="02010600030101010101" pitchFamily="2" charset="-122"/>
              </a:rPr>
              <a:t>       </a:t>
            </a:r>
            <a:r>
              <a:rPr lang="zh-CN" sz="2200" b="1">
                <a:latin typeface="Times New Roman" panose="02020603050405020304" charset="0"/>
                <a:ea typeface="宋体" panose="02010600030101010101" pitchFamily="2" charset="-122"/>
              </a:rPr>
              <a:t>（</a:t>
            </a:r>
            <a:r>
              <a:rPr lang="en-US" sz="2200" b="1">
                <a:latin typeface="Times New Roman" panose="02020603050405020304" charset="0"/>
                <a:ea typeface="宋体" panose="02010600030101010101" pitchFamily="2" charset="-122"/>
              </a:rPr>
              <a:t>1</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传感器节点处理能力较强。声音、图像以及视频这些媒体信息在通过声电转换后，还必须使用</a:t>
            </a:r>
            <a:r>
              <a:rPr lang="en-US" sz="2200" b="1">
                <a:latin typeface="Times New Roman" panose="02020603050405020304" charset="0"/>
                <a:ea typeface="宋体" panose="02010600030101010101" pitchFamily="2" charset="-122"/>
              </a:rPr>
              <a:t>CPU</a:t>
            </a:r>
            <a:r>
              <a:rPr lang="zh-CN" sz="2200" b="1">
                <a:ea typeface="宋体" panose="02010600030101010101" pitchFamily="2" charset="-122"/>
              </a:rPr>
              <a:t>对其进行采样、量化以及压缩编码处理。处理的过程中将涉及较为复杂的算法实现，所以</a:t>
            </a:r>
            <a:r>
              <a:rPr lang="en-US" sz="2200" b="1">
                <a:latin typeface="Times New Roman" panose="02020603050405020304" charset="0"/>
                <a:ea typeface="宋体" panose="02010600030101010101" pitchFamily="2" charset="-122"/>
              </a:rPr>
              <a:t>CPU</a:t>
            </a:r>
            <a:r>
              <a:rPr lang="zh-CN" sz="2200" b="1">
                <a:ea typeface="宋体" panose="02010600030101010101" pitchFamily="2" charset="-122"/>
              </a:rPr>
              <a:t>必须有较好的处理能力才能够很好地完成这些工作。</a:t>
            </a:r>
            <a:endParaRPr lang="zh-CN" sz="2200" b="1">
              <a:latin typeface="Times New Roman" panose="02020603050405020304" charset="0"/>
              <a:ea typeface="宋体" panose="02010600030101010101" pitchFamily="2" charset="-122"/>
            </a:endParaRPr>
          </a:p>
          <a:p>
            <a:pPr indent="266700"/>
            <a:r>
              <a:rPr lang="en-US" altLang="zh-CN" sz="2200" b="1">
                <a:latin typeface="Times New Roman" panose="02020603050405020304" charset="0"/>
                <a:ea typeface="宋体" panose="02010600030101010101" pitchFamily="2" charset="-122"/>
              </a:rPr>
              <a:t>       </a:t>
            </a:r>
            <a:r>
              <a:rPr lang="zh-CN" sz="2200" b="1">
                <a:latin typeface="Times New Roman" panose="02020603050405020304" charset="0"/>
                <a:ea typeface="宋体" panose="02010600030101010101" pitchFamily="2" charset="-122"/>
              </a:rPr>
              <a:t>（</a:t>
            </a:r>
            <a:r>
              <a:rPr lang="en-US" sz="2200" b="1">
                <a:latin typeface="Times New Roman" panose="02020603050405020304" charset="0"/>
                <a:ea typeface="宋体" panose="02010600030101010101" pitchFamily="2" charset="-122"/>
              </a:rPr>
              <a:t>2</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传感器节点输入与输出系统复杂。无线传感器网络中媒体信息在采集的过程中都需要专门的一些设备，短时间内都会产生大量的数据信息，由于媒体信息一般都具备实时性，所以这些媒体信息也需要在短时间内发送出去。因此，在数据发送的过程中会引入一些特殊的缓存机制以及发送方式来保证数据采集、处理发送之前的独立性。</a:t>
            </a:r>
            <a:endParaRPr lang="zh-CN" sz="2200" b="1">
              <a:latin typeface="Times New Roman" panose="02020603050405020304" charset="0"/>
              <a:ea typeface="宋体" panose="02010600030101010101" pitchFamily="2" charset="-122"/>
            </a:endParaRPr>
          </a:p>
          <a:p>
            <a:pPr indent="266700"/>
            <a:r>
              <a:rPr lang="en-US" altLang="zh-CN" sz="2200" b="1">
                <a:latin typeface="Times New Roman" panose="02020603050405020304" charset="0"/>
                <a:ea typeface="宋体" panose="02010600030101010101" pitchFamily="2" charset="-122"/>
              </a:rPr>
              <a:t>       </a:t>
            </a:r>
            <a:r>
              <a:rPr lang="zh-CN" sz="2200" b="1">
                <a:latin typeface="Times New Roman" panose="02020603050405020304" charset="0"/>
                <a:ea typeface="宋体" panose="02010600030101010101" pitchFamily="2" charset="-122"/>
              </a:rPr>
              <a:t>（</a:t>
            </a:r>
            <a:r>
              <a:rPr lang="en-US" sz="2200" b="1">
                <a:latin typeface="Times New Roman" panose="02020603050405020304" charset="0"/>
                <a:ea typeface="宋体" panose="02010600030101010101" pitchFamily="2" charset="-122"/>
              </a:rPr>
              <a:t>3</a:t>
            </a:r>
            <a:r>
              <a:rPr lang="zh-CN" sz="2200" b="1">
                <a:latin typeface="Times New Roman" panose="02020603050405020304" charset="0"/>
                <a:ea typeface="宋体" panose="02010600030101010101" pitchFamily="2" charset="-122"/>
              </a:rPr>
              <a:t>）</a:t>
            </a:r>
            <a:r>
              <a:rPr lang="zh-CN" sz="2200" b="1">
                <a:ea typeface="宋体" panose="02010600030101010101" pitchFamily="2" charset="-122"/>
              </a:rPr>
              <a:t>传感器节点能量消耗高。</a:t>
            </a:r>
            <a:r>
              <a:rPr lang="zh-CN" sz="2200" b="1">
                <a:latin typeface="Times New Roman" panose="02020603050405020304" charset="0"/>
                <a:ea typeface="宋体" panose="02010600030101010101" pitchFamily="2" charset="-122"/>
              </a:rPr>
              <a:t>对多</a:t>
            </a:r>
            <a:r>
              <a:rPr lang="zh-CN" sz="2200" b="1">
                <a:ea typeface="宋体" panose="02010600030101010101" pitchFamily="2" charset="-122"/>
              </a:rPr>
              <a:t>媒体信息的采集</a:t>
            </a:r>
            <a:r>
              <a:rPr lang="zh-CN" sz="2200" b="1">
                <a:latin typeface="Times New Roman" panose="02020603050405020304" charset="0"/>
                <a:ea typeface="宋体" panose="02010600030101010101" pitchFamily="2" charset="-122"/>
              </a:rPr>
              <a:t>来说，</a:t>
            </a:r>
            <a:r>
              <a:rPr lang="zh-CN" sz="2200" b="1">
                <a:ea typeface="宋体" panose="02010600030101010101" pitchFamily="2" charset="-122"/>
              </a:rPr>
              <a:t>不但采集部分需要较多硬件的支持，处理也需要不断地执行复杂的软件程序，而且数据发送的过程中也需要特殊的缓有机制，这些复杂的过程就导致了进行媒体信息采集时会有较大的能量开销。</a:t>
            </a:r>
            <a:endParaRPr lang="zh-CN" altLang="en-US" sz="22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1"/>
          <p:cNvSpPr>
            <a:spLocks noGrp="1"/>
          </p:cNvSpPr>
          <p:nvPr/>
        </p:nvSpPr>
        <p:spPr>
          <a:xfrm>
            <a:off x="2697480"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100" name="文本框 99"/>
          <p:cNvSpPr txBox="1"/>
          <p:nvPr/>
        </p:nvSpPr>
        <p:spPr>
          <a:xfrm>
            <a:off x="115570" y="1757045"/>
            <a:ext cx="11825605" cy="4892675"/>
          </a:xfrm>
          <a:prstGeom prst="rect">
            <a:avLst/>
          </a:prstGeom>
          <a:noFill/>
          <a:ln w="9525">
            <a:noFill/>
          </a:ln>
        </p:spPr>
        <p:txBody>
          <a:bodyPr wrap="square">
            <a:spAutoFit/>
          </a:bodyPr>
          <a:p>
            <a:pPr indent="266700"/>
            <a:r>
              <a:rPr lang="en-US" altLang="zh-CN" sz="2400" b="1">
                <a:latin typeface="等线" panose="02010600030101010101" charset="-122"/>
                <a:ea typeface="等线" panose="02010600030101010101" charset="-122"/>
                <a:cs typeface="等线" panose="02010600030101010101" charset="-122"/>
              </a:rPr>
              <a:t>    </a:t>
            </a:r>
            <a:r>
              <a:rPr sz="2400" b="1">
                <a:latin typeface="等线" panose="02010600030101010101" charset="-122"/>
                <a:ea typeface="等线" panose="02010600030101010101" charset="-122"/>
                <a:cs typeface="等线" panose="02010600030101010101" charset="-122"/>
              </a:rPr>
              <a:t>处理器模块是传感器节点的计算核心，所有的设备控制、任务调度、能量计算和功能协调、通信协议的执行、数据整合和数据转储程序都将在这个模块的支持下完成，所以处理器的选择在传感器节点设计中是至关重要的。作为硬件平台的中心模块，除了应具备一般单片机的基本性能外还应该具有适合整个网络要的特点：</a:t>
            </a:r>
            <a:endParaRPr sz="2400" b="1">
              <a:latin typeface="等线" panose="02010600030101010101" charset="-122"/>
              <a:ea typeface="等线" panose="02010600030101010101" charset="-122"/>
              <a:cs typeface="等线" panose="02010600030101010101" charset="-122"/>
            </a:endParaRPr>
          </a:p>
          <a:p>
            <a:pPr indent="266700"/>
            <a:r>
              <a:rPr sz="2400" b="1">
                <a:latin typeface="等线" panose="02010600030101010101" charset="-122"/>
                <a:ea typeface="等线" panose="02010600030101010101" charset="-122"/>
                <a:cs typeface="等线" panose="02010600030101010101" charset="-122"/>
              </a:rPr>
              <a:t>（1）尽可能高的集成度。受外形尺寸限制，模块必须能够集成更多的节点的关键部位。</a:t>
            </a:r>
            <a:endParaRPr sz="2400" b="1">
              <a:latin typeface="等线" panose="02010600030101010101" charset="-122"/>
              <a:ea typeface="等线" panose="02010600030101010101" charset="-122"/>
              <a:cs typeface="等线" panose="02010600030101010101" charset="-122"/>
            </a:endParaRPr>
          </a:p>
          <a:p>
            <a:pPr indent="266700"/>
            <a:r>
              <a:rPr sz="2400" b="1">
                <a:latin typeface="等线" panose="02010600030101010101" charset="-122"/>
                <a:ea typeface="等线" panose="02010600030101010101" charset="-122"/>
                <a:cs typeface="等线" panose="02010600030101010101" charset="-122"/>
              </a:rPr>
              <a:t>（2）尽可能低的能源消耗。处理器的功耗一般很大，而无线网络中没有持续的能源供给，这就要求节点的设计必须将节能作为一个重要因素来考虑。</a:t>
            </a:r>
            <a:endParaRPr sz="2400" b="1">
              <a:latin typeface="等线" panose="02010600030101010101" charset="-122"/>
              <a:ea typeface="等线" panose="02010600030101010101" charset="-122"/>
              <a:cs typeface="等线" panose="02010600030101010101" charset="-122"/>
            </a:endParaRPr>
          </a:p>
          <a:p>
            <a:pPr indent="266700"/>
            <a:r>
              <a:rPr sz="2400" b="1">
                <a:latin typeface="等线" panose="02010600030101010101" charset="-122"/>
                <a:ea typeface="等线" panose="02010600030101010101" charset="-122"/>
                <a:cs typeface="等线" panose="02010600030101010101" charset="-122"/>
              </a:rPr>
              <a:t>（3）尽量快的运行速度。网络对节点的实时性要求很高，要求处理署的实施处理能力要强。</a:t>
            </a:r>
            <a:endParaRPr sz="2400" b="1">
              <a:latin typeface="等线" panose="02010600030101010101" charset="-122"/>
              <a:ea typeface="等线" panose="02010600030101010101" charset="-122"/>
              <a:cs typeface="等线" panose="02010600030101010101" charset="-122"/>
            </a:endParaRPr>
          </a:p>
          <a:p>
            <a:pPr indent="266700"/>
            <a:r>
              <a:rPr sz="2400" b="1">
                <a:latin typeface="等线" panose="02010600030101010101" charset="-122"/>
                <a:ea typeface="等线" panose="02010600030101010101" charset="-122"/>
                <a:cs typeface="等线" panose="02010600030101010101" charset="-122"/>
              </a:rPr>
              <a:t>（4）尽可能多的I/O和扩展接口。多功能的传感器产品是发展的趋势，而在前期设计中，不可能把所有功能都包括进来，这就要求系统有很强的可扩展性。</a:t>
            </a:r>
            <a:endParaRPr sz="2400" b="1">
              <a:latin typeface="等线" panose="02010600030101010101" charset="-122"/>
              <a:ea typeface="等线" panose="02010600030101010101" charset="-122"/>
              <a:cs typeface="等线" panose="02010600030101010101" charset="-122"/>
            </a:endParaRPr>
          </a:p>
          <a:p>
            <a:pPr indent="266700"/>
            <a:r>
              <a:rPr sz="2400" b="1">
                <a:latin typeface="等线" panose="02010600030101010101" charset="-122"/>
                <a:ea typeface="等线" panose="02010600030101010101" charset="-122"/>
                <a:cs typeface="等线" panose="02010600030101010101" charset="-122"/>
              </a:rPr>
              <a:t>（5）尽可能低的成本。如果传感器节点成本过高，必然会影响网络化的布局。</a:t>
            </a:r>
            <a:endParaRPr sz="2400" b="1">
              <a:latin typeface="等线" panose="02010600030101010101" charset="-122"/>
              <a:ea typeface="等线" panose="02010600030101010101" charset="-122"/>
              <a:cs typeface="等线" panose="02010600030101010101" charset="-122"/>
            </a:endParaRPr>
          </a:p>
        </p:txBody>
      </p:sp>
      <p:sp>
        <p:nvSpPr>
          <p:cNvPr id="2" name="文本框 1"/>
          <p:cNvSpPr txBox="1"/>
          <p:nvPr/>
        </p:nvSpPr>
        <p:spPr>
          <a:xfrm>
            <a:off x="1765935" y="123507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lang="en-US" altLang="zh-CN" sz="2800" b="1">
                <a:solidFill>
                  <a:srgbClr val="000000"/>
                </a:solidFill>
                <a:cs typeface="Times New Roman" panose="02020603050405020304" charset="0"/>
              </a:rPr>
              <a:t>3</a:t>
            </a:r>
            <a:r>
              <a:rPr lang="zh-CN" sz="2800" b="1">
                <a:solidFill>
                  <a:srgbClr val="000000"/>
                </a:solidFill>
                <a:cs typeface="Times New Roman" panose="02020603050405020304" charset="0"/>
              </a:rPr>
              <a:t>  微处理器模块</a:t>
            </a:r>
            <a:endParaRPr lang="zh-CN" altLang="en-US" sz="2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1"/>
          <p:cNvSpPr>
            <a:spLocks noGrp="1"/>
          </p:cNvSpPr>
          <p:nvPr/>
        </p:nvSpPr>
        <p:spPr>
          <a:xfrm>
            <a:off x="2697480"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100" name="文本框 99"/>
          <p:cNvSpPr txBox="1"/>
          <p:nvPr/>
        </p:nvSpPr>
        <p:spPr>
          <a:xfrm>
            <a:off x="115570" y="1757045"/>
            <a:ext cx="4796155" cy="1938020"/>
          </a:xfrm>
          <a:prstGeom prst="rect">
            <a:avLst/>
          </a:prstGeom>
          <a:noFill/>
          <a:ln w="9525">
            <a:noFill/>
          </a:ln>
        </p:spPr>
        <p:txBody>
          <a:bodyPr wrap="square">
            <a:spAutoFit/>
          </a:bodyPr>
          <a:p>
            <a:pPr indent="266700"/>
            <a:r>
              <a:rPr lang="zh-CN" sz="2400" b="1">
                <a:latin typeface="等线" panose="02010600030101010101" charset="-122"/>
                <a:ea typeface="等线" panose="02010600030101010101" charset="-122"/>
                <a:cs typeface="等线" panose="02010600030101010101" charset="-122"/>
              </a:rPr>
              <a:t>目前常用的微处理器：</a:t>
            </a:r>
            <a:endParaRPr lang="zh-CN" sz="2400" b="1">
              <a:latin typeface="等线" panose="02010600030101010101" charset="-122"/>
              <a:ea typeface="等线" panose="02010600030101010101" charset="-122"/>
              <a:cs typeface="等线" panose="02010600030101010101" charset="-122"/>
            </a:endParaRPr>
          </a:p>
          <a:p>
            <a:pPr indent="266700"/>
            <a:r>
              <a:rPr lang="zh-CN" sz="2400" b="1">
                <a:solidFill>
                  <a:srgbClr val="FF0000"/>
                </a:solidFill>
                <a:latin typeface="等线" panose="02010600030101010101" charset="-122"/>
                <a:ea typeface="等线" panose="02010600030101010101" charset="-122"/>
                <a:cs typeface="等线" panose="02010600030101010101" charset="-122"/>
              </a:rPr>
              <a:t>1）微控制器（MCU）</a:t>
            </a:r>
            <a:endParaRPr lang="zh-CN" sz="2400" b="1">
              <a:solidFill>
                <a:srgbClr val="FF0000"/>
              </a:solidFill>
              <a:latin typeface="等线" panose="02010600030101010101" charset="-122"/>
              <a:ea typeface="等线" panose="02010600030101010101" charset="-122"/>
              <a:cs typeface="等线" panose="02010600030101010101" charset="-122"/>
            </a:endParaRPr>
          </a:p>
          <a:p>
            <a:pPr indent="266700"/>
            <a:r>
              <a:rPr lang="zh-CN" sz="2400" b="1">
                <a:solidFill>
                  <a:srgbClr val="FF0000"/>
                </a:solidFill>
                <a:latin typeface="等线" panose="02010600030101010101" charset="-122"/>
                <a:ea typeface="等线" panose="02010600030101010101" charset="-122"/>
                <a:cs typeface="等线" panose="02010600030101010101" charset="-122"/>
              </a:rPr>
              <a:t>2）嵌入式 CPU</a:t>
            </a:r>
            <a:endParaRPr lang="zh-CN" sz="2400" b="1">
              <a:solidFill>
                <a:srgbClr val="FF0000"/>
              </a:solidFill>
              <a:latin typeface="等线" panose="02010600030101010101" charset="-122"/>
              <a:ea typeface="等线" panose="02010600030101010101" charset="-122"/>
              <a:cs typeface="等线" panose="02010600030101010101" charset="-122"/>
            </a:endParaRPr>
          </a:p>
          <a:p>
            <a:pPr indent="266700"/>
            <a:r>
              <a:rPr lang="zh-CN" sz="2400" b="1">
                <a:solidFill>
                  <a:srgbClr val="FF0000"/>
                </a:solidFill>
                <a:latin typeface="等线" panose="02010600030101010101" charset="-122"/>
                <a:ea typeface="等线" panose="02010600030101010101" charset="-122"/>
                <a:cs typeface="等线" panose="02010600030101010101" charset="-122"/>
              </a:rPr>
              <a:t>3）数字信号处理器（DSP）</a:t>
            </a:r>
            <a:endParaRPr lang="zh-CN" sz="2400" b="1">
              <a:solidFill>
                <a:srgbClr val="FF0000"/>
              </a:solidFill>
              <a:latin typeface="等线" panose="02010600030101010101" charset="-122"/>
              <a:ea typeface="等线" panose="02010600030101010101" charset="-122"/>
              <a:cs typeface="等线" panose="02010600030101010101" charset="-122"/>
            </a:endParaRPr>
          </a:p>
          <a:p>
            <a:pPr indent="266700"/>
            <a:r>
              <a:rPr lang="zh-CN" sz="2400" b="1">
                <a:solidFill>
                  <a:srgbClr val="FF0000"/>
                </a:solidFill>
                <a:latin typeface="等线" panose="02010600030101010101" charset="-122"/>
                <a:ea typeface="等线" panose="02010600030101010101" charset="-122"/>
                <a:cs typeface="等线" panose="02010600030101010101" charset="-122"/>
              </a:rPr>
              <a:t>4）现场可编程门阵列（FPGA）</a:t>
            </a:r>
            <a:endParaRPr lang="zh-CN" sz="2400" b="1">
              <a:solidFill>
                <a:srgbClr val="FF0000"/>
              </a:solidFill>
              <a:latin typeface="等线" panose="02010600030101010101" charset="-122"/>
              <a:ea typeface="等线" panose="02010600030101010101" charset="-122"/>
              <a:cs typeface="等线" panose="02010600030101010101" charset="-122"/>
            </a:endParaRPr>
          </a:p>
        </p:txBody>
      </p:sp>
      <p:sp>
        <p:nvSpPr>
          <p:cNvPr id="2" name="文本框 1"/>
          <p:cNvSpPr txBox="1"/>
          <p:nvPr/>
        </p:nvSpPr>
        <p:spPr>
          <a:xfrm>
            <a:off x="1765935" y="123507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lang="en-US" altLang="zh-CN" sz="2800" b="1">
                <a:solidFill>
                  <a:srgbClr val="000000"/>
                </a:solidFill>
                <a:cs typeface="Times New Roman" panose="02020603050405020304" charset="0"/>
              </a:rPr>
              <a:t>3</a:t>
            </a:r>
            <a:r>
              <a:rPr lang="zh-CN" sz="2800" b="1">
                <a:solidFill>
                  <a:srgbClr val="000000"/>
                </a:solidFill>
                <a:cs typeface="Times New Roman" panose="02020603050405020304" charset="0"/>
              </a:rPr>
              <a:t>  微处理器模块</a:t>
            </a:r>
            <a:endParaRPr lang="zh-CN" altLang="en-US" sz="2800"/>
          </a:p>
        </p:txBody>
      </p:sp>
      <p:sp>
        <p:nvSpPr>
          <p:cNvPr id="3" name="文本框 2"/>
          <p:cNvSpPr txBox="1"/>
          <p:nvPr/>
        </p:nvSpPr>
        <p:spPr>
          <a:xfrm>
            <a:off x="6355715" y="935672"/>
            <a:ext cx="5080000" cy="398780"/>
          </a:xfrm>
          <a:prstGeom prst="rect">
            <a:avLst/>
          </a:prstGeom>
          <a:noFill/>
          <a:ln w="9525">
            <a:noFill/>
          </a:ln>
        </p:spPr>
        <p:txBody>
          <a:bodyPr>
            <a:spAutoFit/>
          </a:bodyPr>
          <a:p>
            <a:pPr indent="228600" algn="ctr"/>
            <a:r>
              <a:rPr lang="zh-CN" sz="2000" b="1">
                <a:ea typeface="宋体" panose="02010600030101010101" pitchFamily="2" charset="-122"/>
              </a:rPr>
              <a:t>表</a:t>
            </a:r>
            <a:r>
              <a:rPr lang="en-US" sz="2000" b="1">
                <a:latin typeface="Times New Roman" panose="02020603050405020304" charset="0"/>
                <a:ea typeface="宋体" panose="02010600030101010101" pitchFamily="2" charset="-122"/>
              </a:rPr>
              <a:t>2-2-2 </a:t>
            </a:r>
            <a:r>
              <a:rPr lang="zh-CN" sz="2000" b="1">
                <a:ea typeface="宋体" panose="02010600030101010101" pitchFamily="2" charset="-122"/>
              </a:rPr>
              <a:t>传感器节点常用的处理器</a:t>
            </a:r>
            <a:endParaRPr lang="zh-CN" altLang="en-US" sz="2000" b="1"/>
          </a:p>
        </p:txBody>
      </p:sp>
      <p:graphicFrame>
        <p:nvGraphicFramePr>
          <p:cNvPr id="5" name="表格 4"/>
          <p:cNvGraphicFramePr/>
          <p:nvPr>
            <p:custDataLst>
              <p:tags r:id="rId2"/>
            </p:custDataLst>
          </p:nvPr>
        </p:nvGraphicFramePr>
        <p:xfrm>
          <a:off x="5240655" y="1371600"/>
          <a:ext cx="6715125" cy="5486400"/>
        </p:xfrm>
        <a:graphic>
          <a:graphicData uri="http://schemas.openxmlformats.org/drawingml/2006/table">
            <a:tbl>
              <a:tblPr firstRow="1" bandRow="1">
                <a:tableStyleId>{5940675A-B579-460E-94D1-54222C63F5DA}</a:tableStyleId>
              </a:tblPr>
              <a:tblGrid>
                <a:gridCol w="1258570"/>
                <a:gridCol w="1927860"/>
                <a:gridCol w="967105"/>
                <a:gridCol w="903605"/>
                <a:gridCol w="819785"/>
                <a:gridCol w="838200"/>
              </a:tblGrid>
              <a:tr h="912495">
                <a:tc>
                  <a:txBody>
                    <a:bodyPr/>
                    <a:p>
                      <a:pPr indent="0" algn="ctr">
                        <a:buNone/>
                      </a:pPr>
                      <a:r>
                        <a:rPr lang="en-US" sz="1800" b="0">
                          <a:latin typeface="Times New Roman" panose="02020603050405020304" charset="0"/>
                          <a:cs typeface="Times New Roman" panose="02020603050405020304" charset="0"/>
                        </a:rPr>
                        <a:t>厂商</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Times New Roman" panose="02020603050405020304" charset="0"/>
                          <a:cs typeface="Times New Roman" panose="02020603050405020304" charset="0"/>
                        </a:rPr>
                        <a:t>芯片型号</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Times New Roman" panose="02020603050405020304" charset="0"/>
                          <a:cs typeface="Times New Roman" panose="02020603050405020304" charset="0"/>
                        </a:rPr>
                        <a:t>RAM容量/KB</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Times New Roman" panose="02020603050405020304" charset="0"/>
                          <a:cs typeface="Times New Roman" panose="02020603050405020304" charset="0"/>
                        </a:rPr>
                        <a:t>Flash容量/KB</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Times New Roman" panose="02020603050405020304" charset="0"/>
                          <a:cs typeface="Times New Roman" panose="02020603050405020304" charset="0"/>
                        </a:rPr>
                        <a:t>正常工作电流/mA</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latin typeface="Times New Roman" panose="02020603050405020304" charset="0"/>
                          <a:cs typeface="Times New Roman" panose="02020603050405020304" charset="0"/>
                        </a:rPr>
                        <a:t>休眠模式下的电流/µA</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7965">
                <a:tc rowSpan="3">
                  <a:txBody>
                    <a:bodyPr/>
                    <a:p>
                      <a:pPr indent="0" algn="ctr">
                        <a:buNone/>
                      </a:pPr>
                      <a:r>
                        <a:rPr lang="en-US" sz="1800" b="0">
                          <a:latin typeface="Times New Roman" panose="02020603050405020304" charset="0"/>
                          <a:cs typeface="Times New Roman" panose="02020603050405020304" charset="0"/>
                        </a:rPr>
                        <a:t>Atmel</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Mega103</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4</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128</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5.5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860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lgn="ctr" fontAlgn="auto">
                        <a:lnSpc>
                          <a:spcPct val="100000"/>
                        </a:lnSpc>
                        <a:buNone/>
                      </a:pPr>
                      <a:r>
                        <a:rPr lang="en-US" sz="1800" b="0">
                          <a:latin typeface="Times New Roman" panose="02020603050405020304" charset="0"/>
                          <a:cs typeface="Times New Roman" panose="02020603050405020304" charset="0"/>
                        </a:rPr>
                        <a:t>Mega128</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4</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128</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8</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20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304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p>
                      <a:pPr indent="0" algn="ctr" fontAlgn="auto">
                        <a:lnSpc>
                          <a:spcPct val="100000"/>
                        </a:lnSpc>
                        <a:buNone/>
                      </a:pPr>
                      <a:r>
                        <a:rPr lang="en-US" sz="1800" b="0">
                          <a:latin typeface="Times New Roman" panose="02020603050405020304" charset="0"/>
                          <a:cs typeface="Times New Roman" panose="02020603050405020304" charset="0"/>
                        </a:rPr>
                        <a:t>Mega165/325/645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4</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64</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2.5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2</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3525">
                <a:tc>
                  <a:txBody>
                    <a:bodyPr/>
                    <a:p>
                      <a:pPr indent="0" algn="ctr">
                        <a:buNone/>
                      </a:pPr>
                      <a:r>
                        <a:rPr lang="en-US" sz="1800" b="0">
                          <a:latin typeface="Times New Roman" panose="02020603050405020304" charset="0"/>
                          <a:cs typeface="Times New Roman" panose="02020603050405020304" charset="0"/>
                        </a:rPr>
                        <a:t>Microchip</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PIC16F87x</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0.36</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8</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2</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7965">
                <a:tc rowSpan="2">
                  <a:txBody>
                    <a:bodyPr/>
                    <a:p>
                      <a:pPr indent="0" algn="ctr">
                        <a:buNone/>
                      </a:pPr>
                      <a:r>
                        <a:rPr lang="en-US" sz="1800" b="0">
                          <a:latin typeface="Times New Roman" panose="02020603050405020304" charset="0"/>
                          <a:cs typeface="Times New Roman" panose="02020603050405020304" charset="0"/>
                        </a:rPr>
                        <a:t>Intel</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8051 8位</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0.5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32</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30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796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p>
                      <a:pPr indent="0" algn="ctr" fontAlgn="auto">
                        <a:lnSpc>
                          <a:spcPct val="100000"/>
                        </a:lnSpc>
                        <a:buNone/>
                      </a:pPr>
                      <a:r>
                        <a:rPr lang="en-US" sz="1800" b="0">
                          <a:latin typeface="Times New Roman" panose="02020603050405020304" charset="0"/>
                          <a:cs typeface="Times New Roman" panose="02020603050405020304" charset="0"/>
                        </a:rPr>
                        <a:t>8051 16位</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16</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45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7965">
                <a:tc>
                  <a:txBody>
                    <a:bodyPr/>
                    <a:p>
                      <a:pPr indent="0" algn="ctr">
                        <a:buNone/>
                      </a:pPr>
                      <a:r>
                        <a:rPr lang="en-US" sz="1800" b="0">
                          <a:latin typeface="Times New Roman" panose="02020603050405020304" charset="0"/>
                          <a:cs typeface="Times New Roman" panose="02020603050405020304" charset="0"/>
                        </a:rPr>
                        <a:t>Philips</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80C51 16位</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2</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60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3</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8600">
                <a:tc rowSpan="3">
                  <a:txBody>
                    <a:bodyPr/>
                    <a:p>
                      <a:pPr indent="0" algn="ctr">
                        <a:buNone/>
                      </a:pPr>
                      <a:r>
                        <a:rPr lang="en-US" sz="1800" b="0">
                          <a:latin typeface="Times New Roman" panose="02020603050405020304" charset="0"/>
                          <a:cs typeface="Times New Roman" panose="02020603050405020304" charset="0"/>
                        </a:rPr>
                        <a:t>Motorola</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HC05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0.5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32</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6.6</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90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796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lgn="ctr" fontAlgn="auto">
                        <a:lnSpc>
                          <a:spcPct val="100000"/>
                        </a:lnSpc>
                        <a:buNone/>
                      </a:pPr>
                      <a:r>
                        <a:rPr lang="en-US" sz="1800" b="0">
                          <a:latin typeface="Times New Roman" panose="02020603050405020304" charset="0"/>
                          <a:cs typeface="Times New Roman" panose="02020603050405020304" charset="0"/>
                        </a:rPr>
                        <a:t>HC08</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2</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32</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8</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100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796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p>
                      <a:pPr indent="0" algn="ctr" fontAlgn="auto">
                        <a:lnSpc>
                          <a:spcPct val="100000"/>
                        </a:lnSpc>
                        <a:buNone/>
                      </a:pPr>
                      <a:r>
                        <a:rPr lang="en-US" sz="1800" b="0">
                          <a:latin typeface="Times New Roman" panose="02020603050405020304" charset="0"/>
                          <a:cs typeface="Times New Roman" panose="02020603050405020304" charset="0"/>
                        </a:rPr>
                        <a:t>HCS08</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4</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60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6.5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7965">
                <a:tc rowSpan="2">
                  <a:txBody>
                    <a:bodyPr/>
                    <a:p>
                      <a:pPr indent="0" algn="ctr">
                        <a:buNone/>
                      </a:pPr>
                      <a:r>
                        <a:rPr lang="en-US" sz="1800" b="0">
                          <a:latin typeface="Times New Roman" panose="02020603050405020304" charset="0"/>
                          <a:cs typeface="Times New Roman" panose="02020603050405020304" charset="0"/>
                        </a:rPr>
                        <a:t>TI</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MSP430F14x16</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2</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60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860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p>
                      <a:pPr indent="0" algn="ctr" fontAlgn="auto">
                        <a:lnSpc>
                          <a:spcPct val="100000"/>
                        </a:lnSpc>
                        <a:buNone/>
                      </a:pPr>
                      <a:r>
                        <a:rPr lang="en-US" sz="1800" b="0">
                          <a:latin typeface="Times New Roman" panose="02020603050405020304" charset="0"/>
                          <a:cs typeface="Times New Roman" panose="02020603050405020304" charset="0"/>
                        </a:rPr>
                        <a:t>MSP430F16x16</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48</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2</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73050">
                <a:tc>
                  <a:txBody>
                    <a:bodyPr/>
                    <a:p>
                      <a:pPr indent="0" algn="ctr">
                        <a:buNone/>
                      </a:pPr>
                      <a:r>
                        <a:rPr lang="en-US" sz="1800" b="0">
                          <a:latin typeface="Times New Roman" panose="02020603050405020304" charset="0"/>
                          <a:cs typeface="Times New Roman" panose="02020603050405020304" charset="0"/>
                        </a:rPr>
                        <a:t>Atmel</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AT91 ARM Thumb</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256</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1024</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38</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160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4000">
                <a:tc>
                  <a:txBody>
                    <a:bodyPr/>
                    <a:p>
                      <a:pPr indent="0" algn="ctr">
                        <a:buNone/>
                      </a:pPr>
                      <a:r>
                        <a:rPr lang="en-US" sz="1800" b="0">
                          <a:latin typeface="Times New Roman" panose="02020603050405020304" charset="0"/>
                          <a:cs typeface="Times New Roman" panose="02020603050405020304" charset="0"/>
                        </a:rPr>
                        <a:t>Intel</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XScale PXA27X</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256</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N/A</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39</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574</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7965">
                <a:tc>
                  <a:txBody>
                    <a:bodyPr/>
                    <a:p>
                      <a:pPr indent="0" algn="ctr">
                        <a:buNone/>
                      </a:pPr>
                      <a:r>
                        <a:rPr lang="en-US" sz="1800" b="0">
                          <a:latin typeface="Times New Roman" panose="02020603050405020304" charset="0"/>
                          <a:cs typeface="Times New Roman" panose="02020603050405020304" charset="0"/>
                        </a:rPr>
                        <a:t>Samsung</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S3C44B0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8</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N/A</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60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5</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7965">
                <a:tc>
                  <a:txBody>
                    <a:bodyPr/>
                    <a:p>
                      <a:pPr indent="0" algn="ctr">
                        <a:buNone/>
                      </a:pPr>
                      <a:r>
                        <a:rPr lang="en-US" sz="1800" b="0">
                          <a:latin typeface="Times New Roman" panose="02020603050405020304" charset="0"/>
                          <a:cs typeface="Times New Roman" panose="02020603050405020304" charset="0"/>
                        </a:rPr>
                        <a:t>ST</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STM32F407</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192</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1024</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40</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00000"/>
                        </a:lnSpc>
                        <a:buNone/>
                      </a:pPr>
                      <a:r>
                        <a:rPr lang="en-US" sz="1800" b="0">
                          <a:latin typeface="Times New Roman" panose="02020603050405020304" charset="0"/>
                          <a:cs typeface="Times New Roman" panose="02020603050405020304" charset="0"/>
                        </a:rPr>
                        <a:t>12</a:t>
                      </a:r>
                      <a:endParaRPr lang="en-US" altLang="en-US" sz="18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939800" y="9461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3" name="文本框 2"/>
          <p:cNvSpPr txBox="1"/>
          <p:nvPr/>
        </p:nvSpPr>
        <p:spPr>
          <a:xfrm>
            <a:off x="939800" y="115633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lang="en-US" altLang="zh-CN" sz="2800" b="1">
                <a:solidFill>
                  <a:srgbClr val="000000"/>
                </a:solidFill>
                <a:cs typeface="Times New Roman" panose="02020603050405020304" charset="0"/>
              </a:rPr>
              <a:t>4</a:t>
            </a:r>
            <a:r>
              <a:rPr lang="zh-CN" sz="2800" b="1">
                <a:solidFill>
                  <a:srgbClr val="000000"/>
                </a:solidFill>
                <a:cs typeface="Times New Roman" panose="02020603050405020304" charset="0"/>
              </a:rPr>
              <a:t>  无线通信模块</a:t>
            </a:r>
            <a:endParaRPr lang="zh-CN" altLang="en-US" sz="2800"/>
          </a:p>
        </p:txBody>
      </p:sp>
      <p:sp>
        <p:nvSpPr>
          <p:cNvPr id="5" name="文本框 4"/>
          <p:cNvSpPr txBox="1"/>
          <p:nvPr/>
        </p:nvSpPr>
        <p:spPr>
          <a:xfrm>
            <a:off x="480060" y="1753235"/>
            <a:ext cx="11431905" cy="429895"/>
          </a:xfrm>
          <a:prstGeom prst="rect">
            <a:avLst/>
          </a:prstGeom>
          <a:noFill/>
          <a:ln w="9525">
            <a:noFill/>
          </a:ln>
        </p:spPr>
        <p:txBody>
          <a:bodyPr wrap="square">
            <a:spAutoFit/>
          </a:bodyPr>
          <a:p>
            <a:pPr indent="266700"/>
            <a:r>
              <a:rPr lang="en-US" altLang="zh-CN" sz="2200" b="1">
                <a:ea typeface="宋体" panose="02010600030101010101" pitchFamily="2" charset="-122"/>
              </a:rPr>
              <a:t>    </a:t>
            </a:r>
            <a:endParaRPr lang="zh-CN" altLang="en-US" sz="2200" b="1"/>
          </a:p>
        </p:txBody>
      </p:sp>
      <p:sp>
        <p:nvSpPr>
          <p:cNvPr id="7" name="文本框 6"/>
          <p:cNvSpPr txBox="1"/>
          <p:nvPr/>
        </p:nvSpPr>
        <p:spPr>
          <a:xfrm>
            <a:off x="716915" y="1678305"/>
            <a:ext cx="10170160" cy="1198880"/>
          </a:xfrm>
          <a:prstGeom prst="rect">
            <a:avLst/>
          </a:prstGeom>
          <a:noFill/>
          <a:ln w="9525">
            <a:noFill/>
          </a:ln>
        </p:spPr>
        <p:txBody>
          <a:bodyPr wrap="square">
            <a:spAutoFit/>
          </a:bodyPr>
          <a:p>
            <a:pPr indent="266700"/>
            <a:r>
              <a:rPr lang="en-US" altLang="zh-CN" sz="2400" b="1">
                <a:latin typeface="等线" panose="02010600030101010101" charset="-122"/>
                <a:ea typeface="等线" panose="02010600030101010101" charset="-122"/>
                <a:cs typeface="等线" panose="02010600030101010101" charset="-122"/>
              </a:rPr>
              <a:t>    </a:t>
            </a:r>
            <a:r>
              <a:rPr lang="zh-CN" sz="2400" b="1">
                <a:latin typeface="等线" panose="02010600030101010101" charset="-122"/>
                <a:ea typeface="等线" panose="02010600030101010101" charset="-122"/>
                <a:cs typeface="等线" panose="02010600030101010101" charset="-122"/>
              </a:rPr>
              <a:t>无线通信模块由</a:t>
            </a:r>
            <a:r>
              <a:rPr lang="zh-CN" sz="2400" b="1">
                <a:solidFill>
                  <a:srgbClr val="FF0000"/>
                </a:solidFill>
                <a:latin typeface="等线" panose="02010600030101010101" charset="-122"/>
                <a:ea typeface="等线" panose="02010600030101010101" charset="-122"/>
                <a:cs typeface="等线" panose="02010600030101010101" charset="-122"/>
              </a:rPr>
              <a:t>无线射频电路和天线</a:t>
            </a:r>
            <a:r>
              <a:rPr lang="zh-CN" sz="2400" b="1">
                <a:latin typeface="等线" panose="02010600030101010101" charset="-122"/>
                <a:ea typeface="等线" panose="02010600030101010101" charset="-122"/>
                <a:cs typeface="等线" panose="02010600030101010101" charset="-122"/>
              </a:rPr>
              <a:t>组成，目前采用的传输媒体包括</a:t>
            </a:r>
            <a:r>
              <a:rPr lang="zh-CN" sz="2400" b="1">
                <a:solidFill>
                  <a:srgbClr val="FF0000"/>
                </a:solidFill>
                <a:latin typeface="等线" panose="02010600030101010101" charset="-122"/>
                <a:ea typeface="等线" panose="02010600030101010101" charset="-122"/>
                <a:cs typeface="等线" panose="02010600030101010101" charset="-122"/>
              </a:rPr>
              <a:t>无线电、红外线和光波</a:t>
            </a:r>
            <a:r>
              <a:rPr lang="zh-CN" sz="2400" b="1">
                <a:latin typeface="等线" panose="02010600030101010101" charset="-122"/>
                <a:ea typeface="等线" panose="02010600030101010101" charset="-122"/>
                <a:cs typeface="等线" panose="02010600030101010101" charset="-122"/>
              </a:rPr>
              <a:t>等。它是传感器节点中最主要的耗能模块，是传感器节点的设计重点。表</a:t>
            </a:r>
            <a:r>
              <a:rPr lang="en-US" sz="2400" b="1">
                <a:latin typeface="等线" panose="02010600030101010101" charset="-122"/>
                <a:ea typeface="等线" panose="02010600030101010101" charset="-122"/>
                <a:cs typeface="等线" panose="02010600030101010101" charset="-122"/>
              </a:rPr>
              <a:t>2-2-3</a:t>
            </a:r>
            <a:r>
              <a:rPr lang="zh-CN" sz="2400" b="1">
                <a:latin typeface="等线" panose="02010600030101010101" charset="-122"/>
                <a:ea typeface="等线" panose="02010600030101010101" charset="-122"/>
                <a:cs typeface="等线" panose="02010600030101010101" charset="-122"/>
              </a:rPr>
              <a:t>列出了传感网常用的无线通信技术。</a:t>
            </a:r>
            <a:endParaRPr lang="zh-CN" altLang="en-US" b="1">
              <a:latin typeface="等线" panose="02010600030101010101" charset="-122"/>
              <a:ea typeface="等线" panose="02010600030101010101" charset="-122"/>
              <a:cs typeface="等线" panose="02010600030101010101" charset="-122"/>
            </a:endParaRPr>
          </a:p>
        </p:txBody>
      </p:sp>
      <p:graphicFrame>
        <p:nvGraphicFramePr>
          <p:cNvPr id="8" name="表格 7"/>
          <p:cNvGraphicFramePr/>
          <p:nvPr>
            <p:custDataLst>
              <p:tags r:id="rId2"/>
            </p:custDataLst>
          </p:nvPr>
        </p:nvGraphicFramePr>
        <p:xfrm>
          <a:off x="1376045" y="3644900"/>
          <a:ext cx="9317990" cy="2508885"/>
        </p:xfrm>
        <a:graphic>
          <a:graphicData uri="http://schemas.openxmlformats.org/drawingml/2006/table">
            <a:tbl>
              <a:tblPr firstRow="1" bandRow="1">
                <a:tableStyleId>{5940675A-B579-460E-94D1-54222C63F5DA}</a:tableStyleId>
              </a:tblPr>
              <a:tblGrid>
                <a:gridCol w="1729105"/>
                <a:gridCol w="2224405"/>
                <a:gridCol w="1814830"/>
                <a:gridCol w="1468120"/>
                <a:gridCol w="2081530"/>
              </a:tblGrid>
              <a:tr h="375285">
                <a:tc>
                  <a:txBody>
                    <a:bodyPr/>
                    <a:p>
                      <a:pPr indent="0" algn="ctr">
                        <a:buNone/>
                      </a:pPr>
                      <a:r>
                        <a:rPr lang="en-US" sz="2000" b="0">
                          <a:solidFill>
                            <a:srgbClr val="0000FF"/>
                          </a:solidFill>
                          <a:latin typeface="Times New Roman" panose="02020603050405020304" charset="0"/>
                          <a:cs typeface="Times New Roman" panose="02020603050405020304" charset="0"/>
                        </a:rPr>
                        <a:t>无线技术</a:t>
                      </a:r>
                      <a:endParaRPr lang="en-US" altLang="en-US" sz="2000" b="0">
                        <a:solidFill>
                          <a:srgbClr val="0000FF"/>
                        </a:solidFill>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FF"/>
                          </a:solidFill>
                          <a:latin typeface="Times New Roman" panose="02020603050405020304" charset="0"/>
                          <a:cs typeface="Times New Roman" panose="02020603050405020304" charset="0"/>
                        </a:rPr>
                        <a:t>频率</a:t>
                      </a:r>
                      <a:endParaRPr lang="en-US" altLang="en-US" sz="2000" b="0">
                        <a:solidFill>
                          <a:srgbClr val="0000FF"/>
                        </a:solidFill>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FF"/>
                          </a:solidFill>
                          <a:latin typeface="Times New Roman" panose="02020603050405020304" charset="0"/>
                          <a:cs typeface="Times New Roman" panose="02020603050405020304" charset="0"/>
                        </a:rPr>
                        <a:t>距离/m</a:t>
                      </a:r>
                      <a:endParaRPr lang="en-US" altLang="en-US" sz="2000" b="0">
                        <a:solidFill>
                          <a:srgbClr val="0000FF"/>
                        </a:solidFill>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FF"/>
                          </a:solidFill>
                          <a:latin typeface="Times New Roman" panose="02020603050405020304" charset="0"/>
                          <a:cs typeface="Times New Roman" panose="02020603050405020304" charset="0"/>
                        </a:rPr>
                        <a:t>功耗</a:t>
                      </a:r>
                      <a:endParaRPr lang="en-US" altLang="en-US" sz="2000" b="0">
                        <a:solidFill>
                          <a:srgbClr val="0000FF"/>
                        </a:solidFill>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FF"/>
                          </a:solidFill>
                          <a:latin typeface="Times New Roman" panose="02020603050405020304" charset="0"/>
                          <a:cs typeface="Times New Roman" panose="02020603050405020304" charset="0"/>
                        </a:rPr>
                        <a:t>输出速率/(kb/s)</a:t>
                      </a:r>
                      <a:endParaRPr lang="en-US" altLang="en-US" sz="2000" b="0">
                        <a:solidFill>
                          <a:srgbClr val="0000FF"/>
                        </a:solidFill>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5270">
                <a:tc>
                  <a:txBody>
                    <a:bodyPr/>
                    <a:p>
                      <a:pPr indent="0" algn="ctr">
                        <a:buNone/>
                      </a:pPr>
                      <a:r>
                        <a:rPr lang="en-US" sz="2000" b="0">
                          <a:latin typeface="Times New Roman" panose="02020603050405020304" charset="0"/>
                          <a:cs typeface="Times New Roman" panose="02020603050405020304" charset="0"/>
                        </a:rPr>
                        <a:t>Bluetooth</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2.4GHz</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低</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10000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5270">
                <a:tc>
                  <a:txBody>
                    <a:bodyPr/>
                    <a:p>
                      <a:pPr indent="0" algn="ctr">
                        <a:buNone/>
                      </a:pPr>
                      <a:r>
                        <a:rPr lang="en-US" sz="2000" b="0">
                          <a:latin typeface="Times New Roman" panose="02020603050405020304" charset="0"/>
                          <a:ea typeface="宋体" panose="02010600030101010101" pitchFamily="2" charset="-122"/>
                          <a:cs typeface="Times New Roman" panose="02020603050405020304" charset="0"/>
                        </a:rPr>
                        <a:t>IEEE </a:t>
                      </a:r>
                      <a:r>
                        <a:rPr lang="en-US" sz="2000" b="0">
                          <a:latin typeface="Times New Roman" panose="02020603050405020304" charset="0"/>
                          <a:cs typeface="Times New Roman" panose="02020603050405020304" charset="0"/>
                        </a:rPr>
                        <a:t>802.11b</a:t>
                      </a:r>
                      <a:endParaRPr lang="en-US" altLang="en-US" sz="2000" b="0">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2.4GHz</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高</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11000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5270">
                <a:tc>
                  <a:txBody>
                    <a:bodyPr/>
                    <a:p>
                      <a:pPr indent="0" algn="ctr">
                        <a:buNone/>
                      </a:pPr>
                      <a:r>
                        <a:rPr lang="en-US" sz="2000" b="0">
                          <a:latin typeface="Times New Roman" panose="02020603050405020304" charset="0"/>
                          <a:cs typeface="Times New Roman" panose="02020603050405020304" charset="0"/>
                        </a:rPr>
                        <a:t>RFID</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50kHz~5.8GHz</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&lt;5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Times New Roman" panose="02020603050405020304" charset="0"/>
                          <a:cs typeface="Times New Roman" panose="02020603050405020304" charset="0"/>
                        </a:rPr>
                        <a:t>—</a:t>
                      </a:r>
                      <a:endParaRPr lang="en-US" altLang="en-US" sz="2000" b="0">
                        <a:solidFill>
                          <a:srgbClr val="000000"/>
                        </a:solidFill>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5270">
                <a:tc>
                  <a:txBody>
                    <a:bodyPr/>
                    <a:p>
                      <a:pPr indent="0" algn="ctr">
                        <a:buNone/>
                      </a:pPr>
                      <a:r>
                        <a:rPr lang="en-US" sz="2000" b="0">
                          <a:latin typeface="Times New Roman" panose="02020603050405020304" charset="0"/>
                          <a:cs typeface="Times New Roman" panose="02020603050405020304" charset="0"/>
                        </a:rPr>
                        <a:t>ZigBee</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2.4GHz</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10~75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低</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250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5270">
                <a:tc>
                  <a:txBody>
                    <a:bodyPr/>
                    <a:p>
                      <a:pPr indent="0" algn="ctr">
                        <a:buNone/>
                      </a:pPr>
                      <a:r>
                        <a:rPr lang="en-US" sz="2000" b="0">
                          <a:latin typeface="Times New Roman" panose="02020603050405020304" charset="0"/>
                          <a:cs typeface="Times New Roman" panose="02020603050405020304" charset="0"/>
                        </a:rPr>
                        <a:t>IrDA</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0.3THz～400THz</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低</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16000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5270">
                <a:tc>
                  <a:txBody>
                    <a:bodyPr/>
                    <a:p>
                      <a:pPr indent="0" algn="ctr">
                        <a:buNone/>
                      </a:pPr>
                      <a:r>
                        <a:rPr lang="en-US" sz="2000" b="0">
                          <a:latin typeface="Times New Roman" panose="02020603050405020304" charset="0"/>
                          <a:cs typeface="Times New Roman" panose="02020603050405020304" charset="0"/>
                        </a:rPr>
                        <a:t>UWB</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3.1~10.6GHz</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低</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100000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5270">
                <a:tc>
                  <a:txBody>
                    <a:bodyPr/>
                    <a:p>
                      <a:pPr indent="0" algn="ctr">
                        <a:buNone/>
                      </a:pPr>
                      <a:r>
                        <a:rPr lang="en-US" sz="2000" b="0">
                          <a:latin typeface="Times New Roman" panose="02020603050405020304" charset="0"/>
                          <a:cs typeface="Times New Roman" panose="02020603050405020304" charset="0"/>
                        </a:rPr>
                        <a:t>RF</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300~1000MHz</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几百~几千</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低</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几百</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0" name="文本框 9"/>
          <p:cNvSpPr txBox="1"/>
          <p:nvPr/>
        </p:nvSpPr>
        <p:spPr>
          <a:xfrm>
            <a:off x="3495040" y="3134995"/>
            <a:ext cx="5080000" cy="398780"/>
          </a:xfrm>
          <a:prstGeom prst="rect">
            <a:avLst/>
          </a:prstGeom>
          <a:noFill/>
          <a:ln w="9525">
            <a:noFill/>
          </a:ln>
        </p:spPr>
        <p:txBody>
          <a:bodyPr>
            <a:spAutoFit/>
          </a:bodyPr>
          <a:p>
            <a:pPr indent="266700" algn="ctr"/>
            <a:r>
              <a:rPr lang="zh-CN" sz="2000" b="1">
                <a:ea typeface="宋体" panose="02010600030101010101" pitchFamily="2" charset="-122"/>
              </a:rPr>
              <a:t>表</a:t>
            </a:r>
            <a:r>
              <a:rPr lang="en-US" sz="2000" b="1">
                <a:latin typeface="Times New Roman" panose="02020603050405020304" charset="0"/>
                <a:ea typeface="宋体" panose="02010600030101010101" pitchFamily="2" charset="-122"/>
              </a:rPr>
              <a:t>2-2-3 </a:t>
            </a:r>
            <a:r>
              <a:rPr lang="zh-CN" sz="2000" b="1">
                <a:ea typeface="宋体" panose="02010600030101010101" pitchFamily="2" charset="-122"/>
              </a:rPr>
              <a:t>传感器网络常用的无线通信技术</a:t>
            </a:r>
            <a:endParaRPr lang="zh-CN" altLang="en-US" sz="2000"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939800" y="9461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3" name="文本框 2"/>
          <p:cNvSpPr txBox="1"/>
          <p:nvPr/>
        </p:nvSpPr>
        <p:spPr>
          <a:xfrm>
            <a:off x="939800" y="115633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lang="en-US" altLang="zh-CN" sz="2800" b="1">
                <a:solidFill>
                  <a:srgbClr val="000000"/>
                </a:solidFill>
                <a:cs typeface="Times New Roman" panose="02020603050405020304" charset="0"/>
              </a:rPr>
              <a:t>4</a:t>
            </a:r>
            <a:r>
              <a:rPr lang="zh-CN" sz="2800" b="1">
                <a:solidFill>
                  <a:srgbClr val="000000"/>
                </a:solidFill>
                <a:cs typeface="Times New Roman" panose="02020603050405020304" charset="0"/>
              </a:rPr>
              <a:t>  无线通信模块</a:t>
            </a:r>
            <a:endParaRPr lang="zh-CN" altLang="en-US" sz="2800"/>
          </a:p>
        </p:txBody>
      </p:sp>
      <p:sp>
        <p:nvSpPr>
          <p:cNvPr id="5" name="文本框 4"/>
          <p:cNvSpPr txBox="1"/>
          <p:nvPr/>
        </p:nvSpPr>
        <p:spPr>
          <a:xfrm>
            <a:off x="480060" y="1753235"/>
            <a:ext cx="11431905" cy="429895"/>
          </a:xfrm>
          <a:prstGeom prst="rect">
            <a:avLst/>
          </a:prstGeom>
          <a:noFill/>
          <a:ln w="9525">
            <a:noFill/>
          </a:ln>
        </p:spPr>
        <p:txBody>
          <a:bodyPr wrap="square">
            <a:spAutoFit/>
          </a:bodyPr>
          <a:p>
            <a:pPr indent="266700"/>
            <a:r>
              <a:rPr lang="en-US" altLang="zh-CN" sz="2200" b="1">
                <a:ea typeface="宋体" panose="02010600030101010101" pitchFamily="2" charset="-122"/>
              </a:rPr>
              <a:t>    </a:t>
            </a:r>
            <a:endParaRPr lang="zh-CN" altLang="en-US" sz="2200" b="1"/>
          </a:p>
        </p:txBody>
      </p:sp>
      <p:sp>
        <p:nvSpPr>
          <p:cNvPr id="7" name="文本框 6"/>
          <p:cNvSpPr txBox="1"/>
          <p:nvPr/>
        </p:nvSpPr>
        <p:spPr>
          <a:xfrm>
            <a:off x="716915" y="1753235"/>
            <a:ext cx="10170160" cy="4399915"/>
          </a:xfrm>
          <a:prstGeom prst="rect">
            <a:avLst/>
          </a:prstGeom>
          <a:noFill/>
          <a:ln w="9525">
            <a:noFill/>
          </a:ln>
        </p:spPr>
        <p:txBody>
          <a:bodyPr wrap="square">
            <a:spAutoFit/>
          </a:bodyPr>
          <a:p>
            <a:pPr indent="266700"/>
            <a:r>
              <a:rPr lang="en-US" sz="2000" b="1">
                <a:latin typeface="等线" panose="02010600030101010101" charset="-122"/>
                <a:ea typeface="等线" panose="02010600030101010101" charset="-122"/>
                <a:cs typeface="等线" panose="02010600030101010101" charset="-122"/>
              </a:rPr>
              <a:t>    </a:t>
            </a:r>
            <a:r>
              <a:rPr sz="2000" b="1">
                <a:latin typeface="等线" panose="02010600030101010101" charset="-122"/>
                <a:ea typeface="等线" panose="02010600030101010101" charset="-122"/>
                <a:cs typeface="等线" panose="02010600030101010101" charset="-122"/>
              </a:rPr>
              <a:t>在协议标准方面，目前传感器网络的无线通信模块设计有两个可用标准: IEEE802.15.4 和IEEE 802.15.3a。IEEE 802.15.3a标准的提交者把UWB作为一个可行的高速率WPAN的物理层选择方案，传感器网络正是其潜在的应用对象之一。</a:t>
            </a:r>
            <a:endParaRPr sz="2000" b="1">
              <a:latin typeface="等线" panose="02010600030101010101" charset="-122"/>
              <a:ea typeface="等线" panose="02010600030101010101" charset="-122"/>
              <a:cs typeface="等线" panose="02010600030101010101" charset="-122"/>
            </a:endParaRPr>
          </a:p>
          <a:p>
            <a:pPr indent="266700"/>
            <a:r>
              <a:rPr lang="en-US" sz="2000" b="1">
                <a:latin typeface="等线" panose="02010600030101010101" charset="-122"/>
                <a:ea typeface="等线" panose="02010600030101010101" charset="-122"/>
                <a:cs typeface="等线" panose="02010600030101010101" charset="-122"/>
              </a:rPr>
              <a:t>    </a:t>
            </a:r>
            <a:r>
              <a:rPr sz="2000" b="1">
                <a:latin typeface="等线" panose="02010600030101010101" charset="-122"/>
                <a:ea typeface="等线" panose="02010600030101010101" charset="-122"/>
                <a:cs typeface="等线" panose="02010600030101010101" charset="-122"/>
              </a:rPr>
              <a:t>物理层主要解决编码调制、通信速率和通信频段的选取等问题。物理层的编码调制关系到频率带宽、通信速率、收发功率等一切问题，采用不同的调制方式应用于不同的节点技术中，节点本身的通信速率受到网络结构的限制，不可能很大，一般都是低功耗、低数据量传输。但是，提高通信速率从而节省通信时间，对于系统最为关键的节能问题有一定帮助。在频段的选择方面，无线传感器网络推荐使用免许可证频段——ISM（工业、科学和医疗）频段，其通信频率达2.4GHz。</a:t>
            </a:r>
            <a:endParaRPr sz="2000" b="1">
              <a:latin typeface="等线" panose="02010600030101010101" charset="-122"/>
              <a:ea typeface="等线" panose="02010600030101010101" charset="-122"/>
              <a:cs typeface="等线" panose="02010600030101010101" charset="-122"/>
            </a:endParaRPr>
          </a:p>
          <a:p>
            <a:pPr indent="266700"/>
            <a:r>
              <a:rPr lang="en-US" sz="2000" b="1">
                <a:latin typeface="等线" panose="02010600030101010101" charset="-122"/>
                <a:ea typeface="等线" panose="02010600030101010101" charset="-122"/>
                <a:cs typeface="等线" panose="02010600030101010101" charset="-122"/>
              </a:rPr>
              <a:t>    </a:t>
            </a:r>
            <a:r>
              <a:rPr sz="2000" b="1">
                <a:latin typeface="等线" panose="02010600030101010101" charset="-122"/>
                <a:ea typeface="等线" panose="02010600030101010101" charset="-122"/>
                <a:cs typeface="等线" panose="02010600030101010101" charset="-122"/>
              </a:rPr>
              <a:t>链路层负责数据流的多路复用、数据帧检测，介质接入和差错控制等，保证了无线传感器网络内点对点和点对多点的连接。本层采用了超低功耗的 IEEE 802.15.4的无线数据通信协议，即ZigBee 协议。ZigBee 技术是一个具有统一技术标准的短距离无线通信技术，具有3个工作频段，分别为700MHz、866MHz、2.4GHz，划分为16个信道，数据传输速率为 250kb/s，用ZigBee技术组成的无线传感器网络结构简单、体积小、成本低、功耗低。</a:t>
            </a:r>
            <a:endParaRPr sz="2000" b="1">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939800" y="9461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3" name="文本框 2"/>
          <p:cNvSpPr txBox="1"/>
          <p:nvPr/>
        </p:nvSpPr>
        <p:spPr>
          <a:xfrm>
            <a:off x="939800" y="115633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lang="en-US" altLang="zh-CN" sz="2800" b="1">
                <a:solidFill>
                  <a:srgbClr val="000000"/>
                </a:solidFill>
                <a:cs typeface="Times New Roman" panose="02020603050405020304" charset="0"/>
              </a:rPr>
              <a:t>4</a:t>
            </a:r>
            <a:r>
              <a:rPr lang="zh-CN" sz="2800" b="1">
                <a:solidFill>
                  <a:srgbClr val="000000"/>
                </a:solidFill>
                <a:cs typeface="Times New Roman" panose="02020603050405020304" charset="0"/>
              </a:rPr>
              <a:t>  无线通信模块</a:t>
            </a:r>
            <a:endParaRPr lang="zh-CN" altLang="en-US" sz="2800"/>
          </a:p>
        </p:txBody>
      </p:sp>
      <p:sp>
        <p:nvSpPr>
          <p:cNvPr id="5" name="文本框 4"/>
          <p:cNvSpPr txBox="1"/>
          <p:nvPr/>
        </p:nvSpPr>
        <p:spPr>
          <a:xfrm>
            <a:off x="480060" y="1753235"/>
            <a:ext cx="11431905" cy="429895"/>
          </a:xfrm>
          <a:prstGeom prst="rect">
            <a:avLst/>
          </a:prstGeom>
          <a:noFill/>
          <a:ln w="9525">
            <a:noFill/>
          </a:ln>
        </p:spPr>
        <p:txBody>
          <a:bodyPr wrap="square">
            <a:spAutoFit/>
          </a:bodyPr>
          <a:p>
            <a:pPr indent="266700"/>
            <a:r>
              <a:rPr lang="en-US" altLang="zh-CN" sz="2200" b="1">
                <a:ea typeface="宋体" panose="02010600030101010101" pitchFamily="2" charset="-122"/>
              </a:rPr>
              <a:t>    </a:t>
            </a:r>
            <a:endParaRPr lang="zh-CN" altLang="en-US" sz="2200" b="1"/>
          </a:p>
        </p:txBody>
      </p:sp>
      <p:sp>
        <p:nvSpPr>
          <p:cNvPr id="100" name="文本框 99"/>
          <p:cNvSpPr txBox="1"/>
          <p:nvPr/>
        </p:nvSpPr>
        <p:spPr>
          <a:xfrm>
            <a:off x="2268855" y="1678305"/>
            <a:ext cx="7348855" cy="398780"/>
          </a:xfrm>
          <a:prstGeom prst="rect">
            <a:avLst/>
          </a:prstGeom>
          <a:noFill/>
          <a:ln w="9525">
            <a:noFill/>
          </a:ln>
        </p:spPr>
        <p:txBody>
          <a:bodyPr wrap="square">
            <a:spAutoFit/>
          </a:bodyPr>
          <a:p>
            <a:pPr indent="228600" algn="ctr"/>
            <a:r>
              <a:rPr lang="zh-CN" sz="2000" b="1">
                <a:ea typeface="宋体" panose="02010600030101010101" pitchFamily="2" charset="-122"/>
              </a:rPr>
              <a:t>表</a:t>
            </a:r>
            <a:r>
              <a:rPr lang="en-US" sz="2000" b="1">
                <a:latin typeface="Times New Roman" panose="02020603050405020304" charset="0"/>
                <a:ea typeface="宋体" panose="02010600030101010101" pitchFamily="2" charset="-122"/>
              </a:rPr>
              <a:t>2-2-4  </a:t>
            </a:r>
            <a:r>
              <a:rPr lang="zh-CN" sz="2000" b="1">
                <a:ea typeface="宋体" panose="02010600030101010101" pitchFamily="2" charset="-122"/>
              </a:rPr>
              <a:t>常用无线射频芯片的主要参数</a:t>
            </a:r>
            <a:endParaRPr lang="zh-CN" altLang="en-US" sz="2000" b="1"/>
          </a:p>
        </p:txBody>
      </p:sp>
      <p:graphicFrame>
        <p:nvGraphicFramePr>
          <p:cNvPr id="4" name="表格 3"/>
          <p:cNvGraphicFramePr/>
          <p:nvPr>
            <p:custDataLst>
              <p:tags r:id="rId2"/>
            </p:custDataLst>
          </p:nvPr>
        </p:nvGraphicFramePr>
        <p:xfrm>
          <a:off x="907415" y="2213610"/>
          <a:ext cx="10577195" cy="4006215"/>
        </p:xfrm>
        <a:graphic>
          <a:graphicData uri="http://schemas.openxmlformats.org/drawingml/2006/table">
            <a:tbl>
              <a:tblPr firstRow="1" bandRow="1">
                <a:tableStyleId>{5940675A-B579-460E-94D1-54222C63F5DA}</a:tableStyleId>
              </a:tblPr>
              <a:tblGrid>
                <a:gridCol w="1273810"/>
                <a:gridCol w="1641475"/>
                <a:gridCol w="1849120"/>
                <a:gridCol w="1416685"/>
                <a:gridCol w="1449705"/>
                <a:gridCol w="1473835"/>
                <a:gridCol w="1472565"/>
              </a:tblGrid>
              <a:tr h="445135">
                <a:tc>
                  <a:txBody>
                    <a:bodyPr/>
                    <a:p>
                      <a:pPr indent="0" algn="ctr">
                        <a:buNone/>
                      </a:pPr>
                      <a:r>
                        <a:rPr lang="en-US" sz="2000" b="0">
                          <a:latin typeface="Times New Roman" panose="02020603050405020304" charset="0"/>
                          <a:cs typeface="Times New Roman" panose="02020603050405020304" charset="0"/>
                        </a:rPr>
                        <a:t>芯片</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频段/MHz</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传输速率/(kb/s)</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电流/mA</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灵敏度/dB</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功率/dBm</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调制方式</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5135">
                <a:tc>
                  <a:txBody>
                    <a:bodyPr/>
                    <a:p>
                      <a:pPr indent="0" algn="ctr">
                        <a:buNone/>
                      </a:pPr>
                      <a:r>
                        <a:rPr lang="en-US" sz="2000" b="0">
                          <a:latin typeface="Times New Roman" panose="02020603050405020304" charset="0"/>
                          <a:cs typeface="Times New Roman" panose="02020603050405020304" charset="0"/>
                        </a:rPr>
                        <a:t>TR1000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916</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115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3.0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-106</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OOK/FSK</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5135">
                <a:tc>
                  <a:txBody>
                    <a:bodyPr/>
                    <a:p>
                      <a:pPr indent="0" algn="ctr">
                        <a:buNone/>
                      </a:pPr>
                      <a:r>
                        <a:rPr lang="en-US" sz="2000" b="0">
                          <a:latin typeface="Times New Roman" panose="02020603050405020304" charset="0"/>
                          <a:cs typeface="Times New Roman" panose="02020603050405020304" charset="0"/>
                        </a:rPr>
                        <a:t>CC1000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300~1000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76.8</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5.3</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-110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-20~10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FSK</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5135">
                <a:tc>
                  <a:txBody>
                    <a:bodyPr/>
                    <a:p>
                      <a:pPr indent="0" algn="ctr">
                        <a:buNone/>
                      </a:pPr>
                      <a:r>
                        <a:rPr lang="en-US" sz="2000" b="0">
                          <a:latin typeface="Times New Roman" panose="02020603050405020304" charset="0"/>
                          <a:cs typeface="Times New Roman" panose="02020603050405020304" charset="0"/>
                        </a:rPr>
                        <a:t>CC1010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402~904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153.6</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19.9</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-118</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-20~10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GFSK</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5135">
                <a:tc>
                  <a:txBody>
                    <a:bodyPr/>
                    <a:p>
                      <a:pPr indent="0" algn="ctr">
                        <a:buNone/>
                      </a:pPr>
                      <a:r>
                        <a:rPr lang="en-US" sz="2000" b="0">
                          <a:latin typeface="Times New Roman" panose="02020603050405020304" charset="0"/>
                          <a:cs typeface="Times New Roman" panose="02020603050405020304" charset="0"/>
                        </a:rPr>
                        <a:t>CC2420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2400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250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19.7</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-94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-3</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O-QPSK</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5135">
                <a:tc>
                  <a:txBody>
                    <a:bodyPr/>
                    <a:p>
                      <a:pPr indent="0" algn="ctr">
                        <a:buNone/>
                      </a:pPr>
                      <a:r>
                        <a:rPr lang="en-US" sz="2000" b="0">
                          <a:latin typeface="Times New Roman" panose="02020603050405020304" charset="0"/>
                          <a:cs typeface="Times New Roman" panose="02020603050405020304" charset="0"/>
                        </a:rPr>
                        <a:t>CC2530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2460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250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-110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-27.5~4.5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O-QPSK</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5135">
                <a:tc>
                  <a:txBody>
                    <a:bodyPr/>
                    <a:p>
                      <a:pPr indent="0" algn="ctr">
                        <a:buNone/>
                      </a:pPr>
                      <a:r>
                        <a:rPr lang="en-US" sz="2000" b="0">
                          <a:latin typeface="Times New Roman" panose="02020603050405020304" charset="0"/>
                          <a:cs typeface="Times New Roman" panose="02020603050405020304" charset="0"/>
                        </a:rPr>
                        <a:t>nRF905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433~915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12.5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GFSK</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5135">
                <a:tc>
                  <a:txBody>
                    <a:bodyPr/>
                    <a:p>
                      <a:pPr indent="0" algn="ctr">
                        <a:buNone/>
                      </a:pPr>
                      <a:r>
                        <a:rPr lang="en-US" sz="2000" b="0">
                          <a:latin typeface="Times New Roman" panose="02020603050405020304" charset="0"/>
                          <a:cs typeface="Times New Roman" panose="02020603050405020304" charset="0"/>
                        </a:rPr>
                        <a:t>nRF2401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2400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1000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-85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GFSK</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5135">
                <a:tc>
                  <a:txBody>
                    <a:bodyPr/>
                    <a:p>
                      <a:pPr indent="0" algn="ctr">
                        <a:buNone/>
                      </a:pPr>
                      <a:r>
                        <a:rPr lang="en-US" sz="2000" b="0">
                          <a:latin typeface="Times New Roman" panose="02020603050405020304" charset="0"/>
                          <a:cs typeface="Times New Roman" panose="02020603050405020304" charset="0"/>
                        </a:rPr>
                        <a:t>9Xstream</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902~928</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-140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-110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16~20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FHSS</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1"/>
          <p:cNvSpPr>
            <a:spLocks noGrp="1"/>
          </p:cNvSpPr>
          <p:nvPr/>
        </p:nvSpPr>
        <p:spPr>
          <a:xfrm>
            <a:off x="2697480"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100" name="文本框 99"/>
          <p:cNvSpPr txBox="1"/>
          <p:nvPr/>
        </p:nvSpPr>
        <p:spPr>
          <a:xfrm>
            <a:off x="115570" y="1757045"/>
            <a:ext cx="11825605" cy="5200650"/>
          </a:xfrm>
          <a:prstGeom prst="rect">
            <a:avLst/>
          </a:prstGeom>
          <a:noFill/>
          <a:ln w="9525">
            <a:noFill/>
          </a:ln>
        </p:spPr>
        <p:txBody>
          <a:bodyPr wrap="square">
            <a:spAutoFit/>
          </a:bodyPr>
          <a:p>
            <a:pPr indent="266700"/>
            <a:r>
              <a:rPr lang="en-US" altLang="zh-CN" sz="2400" b="1">
                <a:latin typeface="等线" panose="02010600030101010101" charset="-122"/>
                <a:ea typeface="等线" panose="02010600030101010101" charset="-122"/>
                <a:cs typeface="等线" panose="02010600030101010101" charset="-122"/>
              </a:rPr>
              <a:t>  </a:t>
            </a:r>
            <a:r>
              <a:rPr lang="en-US" altLang="zh-CN" sz="2200" b="1">
                <a:latin typeface="等线" panose="02010600030101010101" charset="-122"/>
                <a:ea typeface="等线" panose="02010600030101010101" charset="-122"/>
                <a:cs typeface="等线" panose="02010600030101010101" charset="-122"/>
              </a:rPr>
              <a:t>  </a:t>
            </a:r>
            <a:r>
              <a:rPr sz="2200" b="1">
                <a:latin typeface="等线" panose="02010600030101010101" charset="-122"/>
                <a:ea typeface="等线" panose="02010600030101010101" charset="-122"/>
                <a:cs typeface="等线" panose="02010600030101010101" charset="-122"/>
              </a:rPr>
              <a:t>电源模块是任何电子系统的必备基础模块。对传感器节点来说，电源模块直接关系到传感器点的寿命、成本、体积和设计复杂度。如果能够采用大容量电源，那么网络各层通信协议的设计、网络功耗管理等方面的指标都可以降低，从而降低设计难度。电池储能大小与形状、活动离子的扩散速度、电极材料的选择等因素有关。无线传感器网络的电池一般不易更换，所以选择电池非常重要。</a:t>
            </a:r>
            <a:endParaRPr sz="2200" b="1">
              <a:latin typeface="等线" panose="02010600030101010101" charset="-122"/>
              <a:ea typeface="等线" panose="02010600030101010101" charset="-122"/>
              <a:cs typeface="等线" panose="02010600030101010101" charset="-122"/>
            </a:endParaRPr>
          </a:p>
          <a:p>
            <a:pPr indent="266700"/>
            <a:r>
              <a:rPr lang="en-US" sz="2200" b="1">
                <a:latin typeface="等线" panose="02010600030101010101" charset="-122"/>
                <a:ea typeface="等线" panose="02010600030101010101" charset="-122"/>
                <a:cs typeface="等线" panose="02010600030101010101" charset="-122"/>
              </a:rPr>
              <a:t>    </a:t>
            </a:r>
            <a:r>
              <a:rPr sz="2200" b="1">
                <a:latin typeface="等线" panose="02010600030101010101" charset="-122"/>
                <a:ea typeface="等线" panose="02010600030101010101" charset="-122"/>
                <a:cs typeface="等线" panose="02010600030101010101" charset="-122"/>
              </a:rPr>
              <a:t>电池供电是目前最常见的传感器节点供电方式。由于无线传感器网络工作环境具有不确定性，例如节点可能会工作在战场、矿井、沙漠等人烟稀少或者危险的区域，节点的电能供给无法来自外界供给，一般只能通过自身存储的电能。</a:t>
            </a:r>
            <a:endParaRPr sz="2200" b="1">
              <a:latin typeface="等线" panose="02010600030101010101" charset="-122"/>
              <a:ea typeface="等线" panose="02010600030101010101" charset="-122"/>
              <a:cs typeface="等线" panose="02010600030101010101" charset="-122"/>
            </a:endParaRPr>
          </a:p>
          <a:p>
            <a:pPr indent="266700"/>
            <a:r>
              <a:rPr lang="en-US" sz="2200" b="1">
                <a:latin typeface="等线" panose="02010600030101010101" charset="-122"/>
                <a:ea typeface="等线" panose="02010600030101010101" charset="-122"/>
                <a:cs typeface="等线" panose="02010600030101010101" charset="-122"/>
              </a:rPr>
              <a:t>    </a:t>
            </a:r>
            <a:r>
              <a:rPr sz="2200" b="1">
                <a:latin typeface="等线" panose="02010600030101010101" charset="-122"/>
                <a:ea typeface="等线" panose="02010600030101010101" charset="-122"/>
                <a:cs typeface="等线" panose="02010600030101010101" charset="-122"/>
              </a:rPr>
              <a:t>在某些情况下，传感器节点可以直接从外界的环境中获取足够的能量，包括通过光电效应、机械振动等不同方式获取能量。最常见的能量收集技术包括太阳能、风能、热能、电磁能、机械能的收集等。</a:t>
            </a:r>
            <a:endParaRPr sz="2200" b="1">
              <a:latin typeface="等线" panose="02010600030101010101" charset="-122"/>
              <a:ea typeface="等线" panose="02010600030101010101" charset="-122"/>
              <a:cs typeface="等线" panose="02010600030101010101" charset="-122"/>
            </a:endParaRPr>
          </a:p>
          <a:p>
            <a:pPr indent="266700"/>
            <a:r>
              <a:rPr lang="en-US" sz="2200" b="1">
                <a:latin typeface="等线" panose="02010600030101010101" charset="-122"/>
                <a:ea typeface="等线" panose="02010600030101010101" charset="-122"/>
                <a:cs typeface="等线" panose="02010600030101010101" charset="-122"/>
              </a:rPr>
              <a:t>    </a:t>
            </a:r>
            <a:r>
              <a:rPr sz="2200" b="1">
                <a:latin typeface="等线" panose="02010600030101010101" charset="-122"/>
                <a:ea typeface="等线" panose="02010600030101010101" charset="-122"/>
                <a:cs typeface="等线" panose="02010600030101010101" charset="-122"/>
              </a:rPr>
              <a:t>节点所需的电压通常不止一种，这是因为模拟电路与数字电路所要求的最优供电电压不同，非易失性存储器和压电发生器及其他的用户界面需要使用较高的电源电压。任何电压转换电路都会有固定开销，对于占空比非常低的传感器节点而言，这种开销占总功率的比例可能是非常大的。</a:t>
            </a:r>
            <a:endParaRPr sz="2200" b="1">
              <a:latin typeface="等线" panose="02010600030101010101" charset="-122"/>
              <a:ea typeface="等线" panose="02010600030101010101" charset="-122"/>
              <a:cs typeface="等线" panose="02010600030101010101" charset="-122"/>
            </a:endParaRPr>
          </a:p>
        </p:txBody>
      </p:sp>
      <p:sp>
        <p:nvSpPr>
          <p:cNvPr id="2" name="文本框 1"/>
          <p:cNvSpPr txBox="1"/>
          <p:nvPr/>
        </p:nvSpPr>
        <p:spPr>
          <a:xfrm>
            <a:off x="1765935" y="123507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lang="en-US" altLang="zh-CN" sz="2800" b="1">
                <a:solidFill>
                  <a:srgbClr val="000000"/>
                </a:solidFill>
                <a:cs typeface="Times New Roman" panose="02020603050405020304" charset="0"/>
              </a:rPr>
              <a:t>5</a:t>
            </a:r>
            <a:r>
              <a:rPr lang="zh-CN" sz="2800" b="1">
                <a:solidFill>
                  <a:srgbClr val="000000"/>
                </a:solidFill>
                <a:cs typeface="Times New Roman" panose="02020603050405020304" charset="0"/>
              </a:rPr>
              <a:t>  电源模块</a:t>
            </a:r>
            <a:endParaRPr lang="zh-CN" altLang="en-US" sz="2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939800" y="9461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2.2  </a:t>
            </a:r>
            <a:r>
              <a:rPr lang="zh-CN" b="1">
                <a:uFillTx/>
                <a:ea typeface="宋体" panose="02010600030101010101" pitchFamily="2" charset="-122"/>
                <a:sym typeface="+mn-ea"/>
                <a:hlinkClick r:id="rId1"/>
              </a:rPr>
              <a:t>节点结构</a:t>
            </a:r>
            <a:endParaRPr lang="zh-CN" altLang="en-US"/>
          </a:p>
        </p:txBody>
      </p:sp>
      <p:sp>
        <p:nvSpPr>
          <p:cNvPr id="3" name="文本框 2"/>
          <p:cNvSpPr txBox="1"/>
          <p:nvPr/>
        </p:nvSpPr>
        <p:spPr>
          <a:xfrm>
            <a:off x="939800" y="115633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2.2</a:t>
            </a:r>
            <a:r>
              <a:rPr lang="zh-CN" sz="2800" b="1">
                <a:solidFill>
                  <a:srgbClr val="000000"/>
                </a:solidFill>
                <a:cs typeface="Times New Roman" panose="02020603050405020304" charset="0"/>
              </a:rPr>
              <a:t>.</a:t>
            </a:r>
            <a:r>
              <a:rPr sz="2800" b="1">
                <a:solidFill>
                  <a:srgbClr val="000000"/>
                </a:solidFill>
                <a:cs typeface="Times New Roman" panose="02020603050405020304" charset="0"/>
              </a:rPr>
              <a:t>6  典型节点实例</a:t>
            </a:r>
            <a:endParaRPr sz="2800" b="1">
              <a:solidFill>
                <a:srgbClr val="000000"/>
              </a:solidFill>
              <a:cs typeface="Times New Roman" panose="02020603050405020304" charset="0"/>
            </a:endParaRPr>
          </a:p>
        </p:txBody>
      </p:sp>
      <p:sp>
        <p:nvSpPr>
          <p:cNvPr id="5" name="文本框 4"/>
          <p:cNvSpPr txBox="1"/>
          <p:nvPr/>
        </p:nvSpPr>
        <p:spPr>
          <a:xfrm>
            <a:off x="480060" y="1753235"/>
            <a:ext cx="11431905" cy="429895"/>
          </a:xfrm>
          <a:prstGeom prst="rect">
            <a:avLst/>
          </a:prstGeom>
          <a:noFill/>
          <a:ln w="9525">
            <a:noFill/>
          </a:ln>
        </p:spPr>
        <p:txBody>
          <a:bodyPr wrap="square">
            <a:spAutoFit/>
          </a:bodyPr>
          <a:p>
            <a:pPr indent="266700"/>
            <a:r>
              <a:rPr lang="en-US" altLang="zh-CN" sz="2200" b="1">
                <a:ea typeface="宋体" panose="02010600030101010101" pitchFamily="2" charset="-122"/>
              </a:rPr>
              <a:t>    </a:t>
            </a:r>
            <a:endParaRPr lang="zh-CN" altLang="en-US" sz="2200" b="1"/>
          </a:p>
        </p:txBody>
      </p:sp>
      <p:sp>
        <p:nvSpPr>
          <p:cNvPr id="100" name="文本框 99"/>
          <p:cNvSpPr txBox="1"/>
          <p:nvPr/>
        </p:nvSpPr>
        <p:spPr>
          <a:xfrm>
            <a:off x="2268855" y="1678305"/>
            <a:ext cx="7348855" cy="398780"/>
          </a:xfrm>
          <a:prstGeom prst="rect">
            <a:avLst/>
          </a:prstGeom>
          <a:noFill/>
          <a:ln w="9525">
            <a:noFill/>
          </a:ln>
        </p:spPr>
        <p:txBody>
          <a:bodyPr wrap="square">
            <a:spAutoFit/>
          </a:bodyPr>
          <a:p>
            <a:pPr indent="228600" algn="ctr"/>
            <a:r>
              <a:rPr sz="2000" b="1">
                <a:ea typeface="宋体" panose="02010600030101010101" pitchFamily="2" charset="-122"/>
              </a:rPr>
              <a:t>表2-2-5 典型无线传感器网络节点</a:t>
            </a:r>
            <a:endParaRPr sz="2000" b="1">
              <a:ea typeface="宋体" panose="02010600030101010101" pitchFamily="2" charset="-122"/>
            </a:endParaRPr>
          </a:p>
        </p:txBody>
      </p:sp>
      <p:graphicFrame>
        <p:nvGraphicFramePr>
          <p:cNvPr id="6" name="表格 5"/>
          <p:cNvGraphicFramePr/>
          <p:nvPr>
            <p:custDataLst>
              <p:tags r:id="rId2"/>
            </p:custDataLst>
          </p:nvPr>
        </p:nvGraphicFramePr>
        <p:xfrm>
          <a:off x="1134110" y="2136775"/>
          <a:ext cx="10418445" cy="4267200"/>
        </p:xfrm>
        <a:graphic>
          <a:graphicData uri="http://schemas.openxmlformats.org/drawingml/2006/table">
            <a:tbl>
              <a:tblPr firstRow="1" bandRow="1">
                <a:tableStyleId>{5940675A-B579-460E-94D1-54222C63F5DA}</a:tableStyleId>
              </a:tblPr>
              <a:tblGrid>
                <a:gridCol w="1486535"/>
                <a:gridCol w="2700020"/>
                <a:gridCol w="2294255"/>
                <a:gridCol w="2491105"/>
                <a:gridCol w="1446530"/>
              </a:tblGrid>
              <a:tr h="292100">
                <a:tc>
                  <a:txBody>
                    <a:bodyPr/>
                    <a:p>
                      <a:pPr indent="0" algn="ctr">
                        <a:buNone/>
                      </a:pPr>
                      <a:r>
                        <a:rPr lang="en-US" sz="2000" b="0">
                          <a:solidFill>
                            <a:srgbClr val="0000FF"/>
                          </a:solidFill>
                          <a:latin typeface="Times New Roman" panose="02020603050405020304" charset="0"/>
                          <a:cs typeface="Times New Roman" panose="02020603050405020304" charset="0"/>
                        </a:rPr>
                        <a:t>节点名称</a:t>
                      </a:r>
                      <a:endParaRPr lang="en-US" altLang="en-US" sz="2000" b="0">
                        <a:solidFill>
                          <a:srgbClr val="0000FF"/>
                        </a:solidFill>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FF"/>
                          </a:solidFill>
                          <a:latin typeface="Times New Roman" panose="02020603050405020304" charset="0"/>
                          <a:cs typeface="Times New Roman" panose="02020603050405020304" charset="0"/>
                        </a:rPr>
                        <a:t>处理器（公司）</a:t>
                      </a:r>
                      <a:endParaRPr lang="en-US" altLang="en-US" sz="2000" b="0">
                        <a:solidFill>
                          <a:srgbClr val="0000FF"/>
                        </a:solidFill>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FF"/>
                          </a:solidFill>
                          <a:latin typeface="Times New Roman" panose="02020603050405020304" charset="0"/>
                          <a:cs typeface="Times New Roman" panose="02020603050405020304" charset="0"/>
                        </a:rPr>
                        <a:t>无线芯片（技术）</a:t>
                      </a:r>
                      <a:endParaRPr lang="en-US" altLang="en-US" sz="2000" b="0">
                        <a:solidFill>
                          <a:srgbClr val="0000FF"/>
                        </a:solidFill>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FF"/>
                          </a:solidFill>
                          <a:latin typeface="Times New Roman" panose="02020603050405020304" charset="0"/>
                          <a:cs typeface="Times New Roman" panose="02020603050405020304" charset="0"/>
                        </a:rPr>
                        <a:t>电池类型</a:t>
                      </a:r>
                      <a:endParaRPr lang="en-US" altLang="en-US" sz="2000" b="0">
                        <a:solidFill>
                          <a:srgbClr val="0000FF"/>
                        </a:solidFill>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FF"/>
                          </a:solidFill>
                          <a:latin typeface="Times New Roman" panose="02020603050405020304" charset="0"/>
                          <a:cs typeface="Times New Roman" panose="02020603050405020304" charset="0"/>
                        </a:rPr>
                        <a:t>发布年份</a:t>
                      </a:r>
                      <a:endParaRPr lang="en-US" altLang="en-US" sz="2000" b="0">
                        <a:solidFill>
                          <a:srgbClr val="0000FF"/>
                        </a:solidFill>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830">
                <a:tc>
                  <a:txBody>
                    <a:bodyPr/>
                    <a:p>
                      <a:pPr indent="0" algn="ctr">
                        <a:buNone/>
                      </a:pPr>
                      <a:r>
                        <a:rPr lang="en-US" sz="2000" b="0">
                          <a:latin typeface="Times New Roman" panose="02020603050405020304" charset="0"/>
                          <a:cs typeface="Times New Roman" panose="02020603050405020304" charset="0"/>
                        </a:rPr>
                        <a:t>WeC</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AT90S8535(Atmel)</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TR1000(RF)</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Lithium</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1998</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1465">
                <a:tc>
                  <a:txBody>
                    <a:bodyPr/>
                    <a:p>
                      <a:pPr indent="0" algn="ctr">
                        <a:buNone/>
                      </a:pPr>
                      <a:r>
                        <a:rPr lang="en-US" sz="2000" b="0">
                          <a:latin typeface="Times New Roman" panose="02020603050405020304" charset="0"/>
                          <a:cs typeface="Times New Roman" panose="02020603050405020304" charset="0"/>
                        </a:rPr>
                        <a:t>Rence</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ATmega163(Atmel)</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TR1000(RF)</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AA</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1999</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2100">
                <a:tc>
                  <a:txBody>
                    <a:bodyPr/>
                    <a:p>
                      <a:pPr indent="0" algn="ctr">
                        <a:buNone/>
                      </a:pPr>
                      <a:r>
                        <a:rPr lang="en-US" sz="2000" b="0">
                          <a:latin typeface="Times New Roman" panose="02020603050405020304" charset="0"/>
                          <a:cs typeface="Times New Roman" panose="02020603050405020304" charset="0"/>
                        </a:rPr>
                        <a:t>Mica</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ATmega128L(Atmel)</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TR1000(RF)</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AA</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830">
                <a:tc>
                  <a:txBody>
                    <a:bodyPr/>
                    <a:p>
                      <a:pPr indent="0" algn="ctr">
                        <a:buNone/>
                      </a:pPr>
                      <a:r>
                        <a:rPr lang="en-US" sz="2000" b="0">
                          <a:latin typeface="Times New Roman" panose="02020603050405020304" charset="0"/>
                          <a:cs typeface="Times New Roman" panose="02020603050405020304" charset="0"/>
                        </a:rPr>
                        <a:t>Mica2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ATmega128L(Atmel)</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CC1000(RF)</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AA</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2100">
                <a:tc>
                  <a:txBody>
                    <a:bodyPr/>
                    <a:p>
                      <a:pPr indent="0" algn="ctr">
                        <a:buNone/>
                      </a:pPr>
                      <a:r>
                        <a:rPr lang="en-US" sz="2000" b="0">
                          <a:latin typeface="Times New Roman" panose="02020603050405020304" charset="0"/>
                          <a:cs typeface="Times New Roman" panose="02020603050405020304" charset="0"/>
                        </a:rPr>
                        <a:t>Mica2Dot</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ATmega128L(Atmel)</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CC1000(RF)</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Lithium</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2100">
                <a:tc>
                  <a:txBody>
                    <a:bodyPr/>
                    <a:p>
                      <a:pPr indent="0" algn="ctr">
                        <a:buNone/>
                      </a:pPr>
                      <a:r>
                        <a:rPr lang="en-US" sz="2000" b="0">
                          <a:latin typeface="Times New Roman" panose="02020603050405020304" charset="0"/>
                          <a:cs typeface="Times New Roman" panose="02020603050405020304" charset="0"/>
                        </a:rPr>
                        <a:t>Mica3</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ATmega128L(Atmel)</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CC1020(RF)</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AA</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2003</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830">
                <a:tc>
                  <a:txBody>
                    <a:bodyPr/>
                    <a:p>
                      <a:pPr indent="0" algn="ctr">
                        <a:buNone/>
                      </a:pPr>
                      <a:r>
                        <a:rPr lang="en-US" sz="2000" b="0">
                          <a:latin typeface="Times New Roman" panose="02020603050405020304" charset="0"/>
                          <a:cs typeface="Times New Roman" panose="02020603050405020304" charset="0"/>
                        </a:rPr>
                        <a:t>Micaz</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ATmega128L(Atmel)</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CC2420(ZigBee)</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AA</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2003</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1465">
                <a:tc>
                  <a:txBody>
                    <a:bodyPr/>
                    <a:p>
                      <a:pPr indent="0" algn="ctr">
                        <a:buNone/>
                      </a:pPr>
                      <a:r>
                        <a:rPr lang="en-US" sz="2000" b="0">
                          <a:latin typeface="Times New Roman" panose="02020603050405020304" charset="0"/>
                          <a:cs typeface="Times New Roman" panose="02020603050405020304" charset="0"/>
                        </a:rPr>
                        <a:t>Toles</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MSP430F49(TI)</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CC2420(ZigBee)</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AA</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75590">
                <a:tc>
                  <a:txBody>
                    <a:bodyPr/>
                    <a:p>
                      <a:pPr indent="0" algn="ctr">
                        <a:buNone/>
                      </a:pPr>
                      <a:r>
                        <a:rPr lang="en-US" sz="2000" b="0">
                          <a:latin typeface="Times New Roman" panose="02020603050405020304" charset="0"/>
                          <a:cs typeface="Times New Roman" panose="02020603050405020304" charset="0"/>
                        </a:rPr>
                        <a:t>XYZnode</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ML67Q500x(OKI)</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CC2420(ZigBee)</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NiMn Rechargeble</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2100">
                <a:tc>
                  <a:txBody>
                    <a:bodyPr/>
                    <a:p>
                      <a:pPr indent="0" algn="ctr">
                        <a:buNone/>
                      </a:pPr>
                      <a:r>
                        <a:rPr lang="en-US" sz="2000" b="0">
                          <a:latin typeface="Times New Roman" panose="02020603050405020304" charset="0"/>
                          <a:cs typeface="Times New Roman" panose="02020603050405020304" charset="0"/>
                        </a:rPr>
                        <a:t>Platform1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PIC16LF877(Microchip)</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Blu</a:t>
                      </a:r>
                      <a:r>
                        <a:rPr lang="en-US" sz="2000" b="0">
                          <a:latin typeface="宋体" panose="02010600030101010101" pitchFamily="2" charset="-122"/>
                          <a:ea typeface="宋体" panose="02010600030101010101" pitchFamily="2" charset="-122"/>
                          <a:cs typeface="宋体" panose="02010600030101010101" pitchFamily="2" charset="-122"/>
                        </a:rPr>
                        <a:t>e</a:t>
                      </a:r>
                      <a:r>
                        <a:rPr lang="en-US" sz="2000" b="0">
                          <a:latin typeface="Times New Roman" panose="02020603050405020304" charset="0"/>
                          <a:cs typeface="Times New Roman" panose="02020603050405020304" charset="0"/>
                        </a:rPr>
                        <a:t>tooth &amp; RF</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AA</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1465">
                <a:tc>
                  <a:txBody>
                    <a:bodyPr/>
                    <a:p>
                      <a:pPr indent="0" algn="ctr">
                        <a:buNone/>
                      </a:pPr>
                      <a:r>
                        <a:rPr lang="en-US" sz="2000" b="0">
                          <a:latin typeface="Times New Roman" panose="02020603050405020304" charset="0"/>
                          <a:cs typeface="Times New Roman" panose="02020603050405020304" charset="0"/>
                        </a:rPr>
                        <a:t>Platform2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TMS320C55xx(TI)</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UWB</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Lithium</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830">
                <a:tc>
                  <a:txBody>
                    <a:bodyPr/>
                    <a:p>
                      <a:pPr indent="0" algn="ctr">
                        <a:buNone/>
                      </a:pPr>
                      <a:r>
                        <a:rPr lang="en-US" sz="2000" b="0">
                          <a:latin typeface="Times New Roman" panose="02020603050405020304" charset="0"/>
                          <a:cs typeface="Times New Roman" panose="02020603050405020304" charset="0"/>
                        </a:rPr>
                        <a:t>Platform3</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p>
                      <a:pPr indent="0" algn="ctr">
                        <a:buNone/>
                      </a:pPr>
                      <a:r>
                        <a:rPr lang="en-US" sz="2000" b="0">
                          <a:latin typeface="Times New Roman" panose="02020603050405020304" charset="0"/>
                          <a:cs typeface="Times New Roman" panose="02020603050405020304" charset="0"/>
                        </a:rPr>
                        <a:t>ARM7TDMI核+Bluetooth集成（</a:t>
                      </a:r>
                      <a:r>
                        <a:rPr lang="en-US" sz="2000" b="0">
                          <a:solidFill>
                            <a:srgbClr val="000000"/>
                          </a:solidFill>
                          <a:latin typeface="Times New Roman" panose="02020603050405020304" charset="0"/>
                          <a:cs typeface="Times New Roman" panose="02020603050405020304" charset="0"/>
                        </a:rPr>
                        <a:t>Zeevo</a:t>
                      </a:r>
                      <a:r>
                        <a:rPr lang="en-US" sz="2000" b="0">
                          <a:latin typeface="Times New Roman" panose="02020603050405020304" charset="0"/>
                          <a:cs typeface="Times New Roman" panose="02020603050405020304" charset="0"/>
                        </a:rPr>
                        <a:t>）</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p>
                      <a:pPr indent="0" algn="ctr">
                        <a:buNone/>
                      </a:pPr>
                      <a:r>
                        <a:rPr lang="en-US" sz="2000" b="0">
                          <a:latin typeface="Times New Roman" panose="02020603050405020304" charset="0"/>
                          <a:cs typeface="Times New Roman" panose="02020603050405020304" charset="0"/>
                        </a:rPr>
                        <a:t>Battery</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2100">
                <a:tc>
                  <a:txBody>
                    <a:bodyPr/>
                    <a:p>
                      <a:pPr indent="0" algn="ctr">
                        <a:buNone/>
                      </a:pPr>
                      <a:r>
                        <a:rPr lang="en-US" sz="2000" b="0">
                          <a:latin typeface="Times New Roman" panose="02020603050405020304" charset="0"/>
                          <a:cs typeface="Times New Roman" panose="02020603050405020304" charset="0"/>
                        </a:rPr>
                        <a:t>Zabranct</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MSP430F149(TI)</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9Xstream(RF)</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Batteries</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2685415"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2.3  </a:t>
            </a:r>
            <a:r>
              <a:rPr lang="zh-CN" b="1">
                <a:uFillTx/>
                <a:ea typeface="宋体" panose="02010600030101010101" pitchFamily="2" charset="-122"/>
                <a:sym typeface="+mn-ea"/>
                <a:hlinkClick r:id="rId1"/>
              </a:rPr>
              <a:t>网络结构</a:t>
            </a:r>
            <a:endParaRPr lang="zh-CN" altLang="en-US"/>
          </a:p>
        </p:txBody>
      </p:sp>
      <p:pic>
        <p:nvPicPr>
          <p:cNvPr id="34" name="图片 628"/>
          <p:cNvPicPr>
            <a:picLocks noChangeAspect="1"/>
          </p:cNvPicPr>
          <p:nvPr/>
        </p:nvPicPr>
        <p:blipFill>
          <a:blip r:embed="rId2"/>
          <a:srcRect r="17751"/>
          <a:stretch>
            <a:fillRect/>
          </a:stretch>
        </p:blipFill>
        <p:spPr>
          <a:xfrm>
            <a:off x="266700" y="1754505"/>
            <a:ext cx="5516880" cy="2672715"/>
          </a:xfrm>
          <a:prstGeom prst="rect">
            <a:avLst/>
          </a:prstGeom>
          <a:noFill/>
          <a:ln>
            <a:noFill/>
          </a:ln>
        </p:spPr>
      </p:pic>
      <p:pic>
        <p:nvPicPr>
          <p:cNvPr id="42" name="图片 632"/>
          <p:cNvPicPr>
            <a:picLocks noChangeAspect="1"/>
          </p:cNvPicPr>
          <p:nvPr/>
        </p:nvPicPr>
        <p:blipFill>
          <a:blip r:embed="rId3"/>
          <a:stretch>
            <a:fillRect/>
          </a:stretch>
        </p:blipFill>
        <p:spPr>
          <a:xfrm>
            <a:off x="6518910" y="1508125"/>
            <a:ext cx="5067935" cy="3326130"/>
          </a:xfrm>
          <a:prstGeom prst="rect">
            <a:avLst/>
          </a:prstGeom>
          <a:noFill/>
          <a:ln>
            <a:noFill/>
          </a:ln>
        </p:spPr>
      </p:pic>
      <p:sp>
        <p:nvSpPr>
          <p:cNvPr id="5" name="文本框 4"/>
          <p:cNvSpPr txBox="1"/>
          <p:nvPr/>
        </p:nvSpPr>
        <p:spPr>
          <a:xfrm>
            <a:off x="6405880" y="5018405"/>
            <a:ext cx="5080000" cy="398780"/>
          </a:xfrm>
          <a:prstGeom prst="rect">
            <a:avLst/>
          </a:prstGeom>
          <a:noFill/>
          <a:ln w="9525">
            <a:noFill/>
          </a:ln>
        </p:spPr>
        <p:txBody>
          <a:bodyPr>
            <a:spAutoFit/>
          </a:bodyPr>
          <a:p>
            <a:pPr indent="0" algn="ctr"/>
            <a:r>
              <a:rPr lang="zh-CN" sz="2000" b="1">
                <a:latin typeface="Times New Roman" panose="02020603050405020304" charset="0"/>
                <a:ea typeface="宋体" panose="02010600030101010101" pitchFamily="2" charset="-122"/>
              </a:rPr>
              <a:t>图</a:t>
            </a:r>
            <a:r>
              <a:rPr lang="en-US" sz="2000" b="1">
                <a:latin typeface="Times New Roman" panose="02020603050405020304" charset="0"/>
                <a:ea typeface="宋体" panose="02010600030101010101" pitchFamily="2" charset="-122"/>
              </a:rPr>
              <a:t>2-3-2  </a:t>
            </a:r>
            <a:r>
              <a:rPr lang="zh-CN" sz="2000" b="1">
                <a:latin typeface="Times New Roman" panose="02020603050405020304" charset="0"/>
                <a:ea typeface="宋体" panose="02010600030101010101" pitchFamily="2" charset="-122"/>
              </a:rPr>
              <a:t>分层</a:t>
            </a:r>
            <a:r>
              <a:rPr lang="zh-CN" sz="2000" b="1">
                <a:latin typeface="Times New Roman" panose="02020603050405020304" charset="0"/>
                <a:ea typeface="宋体" panose="02010600030101010101" pitchFamily="2" charset="-122"/>
              </a:rPr>
              <a:t>网络拓扑结构</a:t>
            </a:r>
            <a:endParaRPr lang="zh-CN" altLang="en-US" sz="2000" b="1"/>
          </a:p>
        </p:txBody>
      </p:sp>
      <p:sp>
        <p:nvSpPr>
          <p:cNvPr id="6" name="文本框 5"/>
          <p:cNvSpPr txBox="1"/>
          <p:nvPr/>
        </p:nvSpPr>
        <p:spPr>
          <a:xfrm>
            <a:off x="703580" y="5018405"/>
            <a:ext cx="5080000" cy="398780"/>
          </a:xfrm>
          <a:prstGeom prst="rect">
            <a:avLst/>
          </a:prstGeom>
          <a:noFill/>
          <a:ln w="9525">
            <a:noFill/>
          </a:ln>
        </p:spPr>
        <p:txBody>
          <a:bodyPr>
            <a:spAutoFit/>
          </a:bodyPr>
          <a:p>
            <a:pPr indent="0" algn="ctr"/>
            <a:r>
              <a:rPr lang="zh-CN" sz="2000" b="1">
                <a:ea typeface="宋体" panose="02010600030101010101" pitchFamily="2" charset="-122"/>
              </a:rPr>
              <a:t>图</a:t>
            </a:r>
            <a:r>
              <a:rPr lang="en-US" sz="2000" b="1">
                <a:latin typeface="Times New Roman" panose="02020603050405020304" charset="0"/>
                <a:ea typeface="宋体" panose="02010600030101010101" pitchFamily="2" charset="-122"/>
              </a:rPr>
              <a:t>2-3-1  </a:t>
            </a:r>
            <a:r>
              <a:rPr lang="zh-CN" sz="2000" b="1">
                <a:ea typeface="宋体" panose="02010600030101010101" pitchFamily="2" charset="-122"/>
              </a:rPr>
              <a:t>平面网络拓扑结构</a:t>
            </a:r>
            <a:endParaRPr lang="zh-CN" altLang="en-US" sz="2000" b="1"/>
          </a:p>
        </p:txBody>
      </p:sp>
      <p:sp>
        <p:nvSpPr>
          <p:cNvPr id="2" name="文本框 1"/>
          <p:cNvSpPr txBox="1"/>
          <p:nvPr/>
        </p:nvSpPr>
        <p:spPr>
          <a:xfrm>
            <a:off x="1862455" y="115125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a:t>
            </a:r>
            <a:r>
              <a:rPr sz="2800" b="1">
                <a:solidFill>
                  <a:srgbClr val="000000"/>
                </a:solidFill>
                <a:cs typeface="Times New Roman" panose="02020603050405020304" charset="0"/>
              </a:rPr>
              <a:t>3.1  扁平结构和分层结构</a:t>
            </a:r>
            <a:endParaRPr sz="2800" b="1">
              <a:solidFill>
                <a:srgbClr val="000000"/>
              </a:solidFill>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2685415"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2.3  </a:t>
            </a:r>
            <a:r>
              <a:rPr lang="zh-CN" b="1">
                <a:uFillTx/>
                <a:ea typeface="宋体" panose="02010600030101010101" pitchFamily="2" charset="-122"/>
                <a:sym typeface="+mn-ea"/>
                <a:hlinkClick r:id="rId1"/>
              </a:rPr>
              <a:t>网络结构</a:t>
            </a:r>
            <a:endParaRPr lang="zh-CN" altLang="en-US"/>
          </a:p>
        </p:txBody>
      </p:sp>
      <p:sp>
        <p:nvSpPr>
          <p:cNvPr id="5" name="文本框 4"/>
          <p:cNvSpPr txBox="1"/>
          <p:nvPr/>
        </p:nvSpPr>
        <p:spPr>
          <a:xfrm>
            <a:off x="6730365" y="5434330"/>
            <a:ext cx="5080000" cy="398780"/>
          </a:xfrm>
          <a:prstGeom prst="rect">
            <a:avLst/>
          </a:prstGeom>
          <a:noFill/>
          <a:ln w="9525">
            <a:noFill/>
          </a:ln>
        </p:spPr>
        <p:txBody>
          <a:bodyPr>
            <a:spAutoFit/>
          </a:bodyPr>
          <a:p>
            <a:pPr indent="0" algn="ctr"/>
            <a:r>
              <a:rPr lang="zh-CN" sz="2000" b="1">
                <a:latin typeface="Times New Roman" panose="02020603050405020304" charset="0"/>
                <a:ea typeface="宋体" panose="02010600030101010101" pitchFamily="2" charset="-122"/>
              </a:rPr>
              <a:t>图</a:t>
            </a:r>
            <a:r>
              <a:rPr lang="en-US" sz="2000" b="1">
                <a:latin typeface="Times New Roman" panose="02020603050405020304" charset="0"/>
                <a:ea typeface="宋体" panose="02010600030101010101" pitchFamily="2" charset="-122"/>
              </a:rPr>
              <a:t>2-3-4  </a:t>
            </a:r>
            <a:r>
              <a:rPr lang="en-US" altLang="zh-CN" sz="2000" b="1">
                <a:latin typeface="Times New Roman" panose="02020603050405020304" charset="0"/>
                <a:ea typeface="宋体" panose="02010600030101010101" pitchFamily="2" charset="-122"/>
              </a:rPr>
              <a:t>MESH</a:t>
            </a:r>
            <a:r>
              <a:rPr lang="zh-CN" sz="2000" b="1">
                <a:latin typeface="Times New Roman" panose="02020603050405020304" charset="0"/>
                <a:ea typeface="宋体" panose="02010600030101010101" pitchFamily="2" charset="-122"/>
              </a:rPr>
              <a:t>网络（对等网）拓扑结构</a:t>
            </a:r>
            <a:endParaRPr lang="zh-CN" altLang="en-US" sz="2000" b="1"/>
          </a:p>
        </p:txBody>
      </p:sp>
      <p:sp>
        <p:nvSpPr>
          <p:cNvPr id="6" name="文本框 5"/>
          <p:cNvSpPr txBox="1"/>
          <p:nvPr/>
        </p:nvSpPr>
        <p:spPr>
          <a:xfrm>
            <a:off x="847725" y="5332730"/>
            <a:ext cx="5080000" cy="398780"/>
          </a:xfrm>
          <a:prstGeom prst="rect">
            <a:avLst/>
          </a:prstGeom>
          <a:noFill/>
          <a:ln w="9525">
            <a:noFill/>
          </a:ln>
        </p:spPr>
        <p:txBody>
          <a:bodyPr>
            <a:spAutoFit/>
          </a:bodyPr>
          <a:p>
            <a:pPr indent="0" algn="ctr"/>
            <a:r>
              <a:rPr lang="zh-CN" sz="2000" b="1">
                <a:ea typeface="宋体" panose="02010600030101010101" pitchFamily="2" charset="-122"/>
              </a:rPr>
              <a:t>图</a:t>
            </a:r>
            <a:r>
              <a:rPr lang="en-US" sz="2000" b="1">
                <a:latin typeface="Times New Roman" panose="02020603050405020304" charset="0"/>
                <a:ea typeface="宋体" panose="02010600030101010101" pitchFamily="2" charset="-122"/>
              </a:rPr>
              <a:t>2-3-3  </a:t>
            </a:r>
            <a:r>
              <a:rPr lang="zh-CN" sz="2000" b="1">
                <a:ea typeface="宋体" panose="02010600030101010101" pitchFamily="2" charset="-122"/>
              </a:rPr>
              <a:t>混合</a:t>
            </a:r>
            <a:r>
              <a:rPr lang="zh-CN" sz="2000" b="1">
                <a:ea typeface="宋体" panose="02010600030101010101" pitchFamily="2" charset="-122"/>
              </a:rPr>
              <a:t>网络拓扑结构</a:t>
            </a:r>
            <a:endParaRPr lang="zh-CN" altLang="en-US" sz="2000" b="1"/>
          </a:p>
        </p:txBody>
      </p:sp>
      <p:pic>
        <p:nvPicPr>
          <p:cNvPr id="43" name="图片 633"/>
          <p:cNvPicPr>
            <a:picLocks noChangeAspect="1"/>
          </p:cNvPicPr>
          <p:nvPr/>
        </p:nvPicPr>
        <p:blipFill>
          <a:blip r:embed="rId2"/>
          <a:stretch>
            <a:fillRect/>
          </a:stretch>
        </p:blipFill>
        <p:spPr>
          <a:xfrm>
            <a:off x="725805" y="1727835"/>
            <a:ext cx="5889625" cy="3284220"/>
          </a:xfrm>
          <a:prstGeom prst="rect">
            <a:avLst/>
          </a:prstGeom>
          <a:noFill/>
          <a:ln>
            <a:noFill/>
          </a:ln>
        </p:spPr>
      </p:pic>
      <p:pic>
        <p:nvPicPr>
          <p:cNvPr id="41" name="图片 41" descr="20081127153817370"/>
          <p:cNvPicPr>
            <a:picLocks noChangeAspect="1"/>
          </p:cNvPicPr>
          <p:nvPr/>
        </p:nvPicPr>
        <p:blipFill>
          <a:blip r:embed="rId3"/>
          <a:srcRect b="17010"/>
          <a:stretch>
            <a:fillRect/>
          </a:stretch>
        </p:blipFill>
        <p:spPr>
          <a:xfrm>
            <a:off x="7474585" y="1437005"/>
            <a:ext cx="3989070" cy="3662045"/>
          </a:xfrm>
          <a:prstGeom prst="rect">
            <a:avLst/>
          </a:prstGeom>
        </p:spPr>
      </p:pic>
      <p:sp>
        <p:nvSpPr>
          <p:cNvPr id="2" name="文本框 1"/>
          <p:cNvSpPr txBox="1"/>
          <p:nvPr/>
        </p:nvSpPr>
        <p:spPr>
          <a:xfrm>
            <a:off x="1862455" y="115125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a:t>
            </a:r>
            <a:r>
              <a:rPr sz="2800" b="1">
                <a:solidFill>
                  <a:srgbClr val="000000"/>
                </a:solidFill>
                <a:cs typeface="Times New Roman" panose="02020603050405020304" charset="0"/>
              </a:rPr>
              <a:t>3.1  扁平结构和分层结构</a:t>
            </a:r>
            <a:endParaRPr sz="2800" b="1">
              <a:solidFill>
                <a:srgbClr val="000000"/>
              </a:solidFill>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2685415"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2.3 </a:t>
            </a:r>
            <a:r>
              <a:rPr lang="zh-CN" b="1">
                <a:uFillTx/>
                <a:ea typeface="宋体" panose="02010600030101010101" pitchFamily="2" charset="-122"/>
                <a:sym typeface="+mn-ea"/>
                <a:hlinkClick r:id="rId1"/>
              </a:rPr>
              <a:t>网络结构</a:t>
            </a:r>
            <a:endParaRPr lang="zh-CN" altLang="en-US"/>
          </a:p>
        </p:txBody>
      </p:sp>
      <p:sp>
        <p:nvSpPr>
          <p:cNvPr id="5" name="文本框 4"/>
          <p:cNvSpPr txBox="1"/>
          <p:nvPr/>
        </p:nvSpPr>
        <p:spPr>
          <a:xfrm>
            <a:off x="6729095" y="5363210"/>
            <a:ext cx="5080000" cy="398780"/>
          </a:xfrm>
          <a:prstGeom prst="rect">
            <a:avLst/>
          </a:prstGeom>
          <a:noFill/>
          <a:ln w="9525">
            <a:noFill/>
          </a:ln>
        </p:spPr>
        <p:txBody>
          <a:bodyPr>
            <a:spAutoFit/>
          </a:bodyPr>
          <a:p>
            <a:pPr indent="0" algn="ctr"/>
            <a:r>
              <a:rPr lang="zh-CN" sz="2000" b="1">
                <a:latin typeface="Times New Roman" panose="02020603050405020304" charset="0"/>
                <a:ea typeface="宋体" panose="02010600030101010101" pitchFamily="2" charset="-122"/>
              </a:rPr>
              <a:t>图</a:t>
            </a:r>
            <a:r>
              <a:rPr lang="en-US" sz="2000" b="1">
                <a:latin typeface="Times New Roman" panose="02020603050405020304" charset="0"/>
                <a:ea typeface="宋体" panose="02010600030101010101" pitchFamily="2" charset="-122"/>
              </a:rPr>
              <a:t>2-3-5(b)  </a:t>
            </a:r>
            <a:r>
              <a:rPr lang="zh-CN" sz="2000" b="1">
                <a:latin typeface="Times New Roman" panose="02020603050405020304" charset="0"/>
                <a:ea typeface="宋体" panose="02010600030101010101" pitchFamily="2" charset="-122"/>
              </a:rPr>
              <a:t>多</a:t>
            </a:r>
            <a:r>
              <a:rPr lang="en-US" altLang="zh-CN" sz="2000" b="1">
                <a:latin typeface="Times New Roman" panose="02020603050405020304" charset="0"/>
                <a:ea typeface="宋体" panose="02010600030101010101" pitchFamily="2" charset="-122"/>
              </a:rPr>
              <a:t>sink</a:t>
            </a:r>
            <a:r>
              <a:rPr lang="zh-CN" altLang="en-US" sz="2000" b="1">
                <a:latin typeface="Times New Roman" panose="02020603050405020304" charset="0"/>
                <a:ea typeface="宋体" panose="02010600030101010101" pitchFamily="2" charset="-122"/>
              </a:rPr>
              <a:t>网络</a:t>
            </a:r>
            <a:endParaRPr lang="zh-CN" altLang="en-US" sz="2000" b="1">
              <a:latin typeface="Times New Roman" panose="02020603050405020304" charset="0"/>
              <a:ea typeface="宋体" panose="02010600030101010101" pitchFamily="2" charset="-122"/>
            </a:endParaRPr>
          </a:p>
        </p:txBody>
      </p:sp>
      <p:sp>
        <p:nvSpPr>
          <p:cNvPr id="6" name="文本框 5"/>
          <p:cNvSpPr txBox="1"/>
          <p:nvPr/>
        </p:nvSpPr>
        <p:spPr>
          <a:xfrm>
            <a:off x="688340" y="5302250"/>
            <a:ext cx="5080000" cy="398780"/>
          </a:xfrm>
          <a:prstGeom prst="rect">
            <a:avLst/>
          </a:prstGeom>
          <a:noFill/>
          <a:ln w="9525">
            <a:noFill/>
          </a:ln>
        </p:spPr>
        <p:txBody>
          <a:bodyPr>
            <a:spAutoFit/>
          </a:bodyPr>
          <a:p>
            <a:pPr indent="0" algn="ctr"/>
            <a:r>
              <a:rPr lang="zh-CN" sz="2000" b="1">
                <a:ea typeface="宋体" panose="02010600030101010101" pitchFamily="2" charset="-122"/>
              </a:rPr>
              <a:t>图</a:t>
            </a:r>
            <a:r>
              <a:rPr lang="en-US" sz="2000" b="1">
                <a:latin typeface="Times New Roman" panose="02020603050405020304" charset="0"/>
                <a:ea typeface="宋体" panose="02010600030101010101" pitchFamily="2" charset="-122"/>
              </a:rPr>
              <a:t>2-3-5</a:t>
            </a:r>
            <a:r>
              <a:rPr lang="en-US" altLang="zh-CN" sz="2000" b="1">
                <a:latin typeface="Times New Roman" panose="02020603050405020304" charset="0"/>
                <a:ea typeface="宋体" panose="02010600030101010101" pitchFamily="2" charset="-122"/>
              </a:rPr>
              <a:t>(</a:t>
            </a:r>
            <a:r>
              <a:rPr lang="en-US" altLang="zh-CN" sz="2000" b="1">
                <a:latin typeface="Times New Roman" panose="02020603050405020304" charset="0"/>
                <a:ea typeface="宋体" panose="02010600030101010101" pitchFamily="2" charset="-122"/>
              </a:rPr>
              <a:t>a)</a:t>
            </a:r>
            <a:r>
              <a:rPr lang="en-US" sz="2000" b="1">
                <a:latin typeface="Times New Roman" panose="02020603050405020304" charset="0"/>
                <a:ea typeface="宋体" panose="02010600030101010101" pitchFamily="2" charset="-122"/>
              </a:rPr>
              <a:t>  </a:t>
            </a:r>
            <a:r>
              <a:rPr lang="zh-CN" sz="2000" b="1">
                <a:ea typeface="宋体" panose="02010600030101010101" pitchFamily="2" charset="-122"/>
              </a:rPr>
              <a:t>单</a:t>
            </a:r>
            <a:r>
              <a:rPr lang="en-US" altLang="zh-CN" sz="2000" b="1">
                <a:ea typeface="宋体" panose="02010600030101010101" pitchFamily="2" charset="-122"/>
              </a:rPr>
              <a:t>sink</a:t>
            </a:r>
            <a:r>
              <a:rPr lang="zh-CN" altLang="en-US" sz="2000" b="1">
                <a:ea typeface="宋体" panose="02010600030101010101" pitchFamily="2" charset="-122"/>
              </a:rPr>
              <a:t>网络</a:t>
            </a:r>
            <a:endParaRPr lang="zh-CN" altLang="en-US" sz="2000" b="1"/>
          </a:p>
        </p:txBody>
      </p:sp>
      <p:pic>
        <p:nvPicPr>
          <p:cNvPr id="46" name="图片 636"/>
          <p:cNvPicPr>
            <a:picLocks noChangeAspect="1"/>
          </p:cNvPicPr>
          <p:nvPr/>
        </p:nvPicPr>
        <p:blipFill>
          <a:blip r:embed="rId2"/>
          <a:stretch>
            <a:fillRect/>
          </a:stretch>
        </p:blipFill>
        <p:spPr>
          <a:xfrm>
            <a:off x="314325" y="2025650"/>
            <a:ext cx="5828030" cy="2562860"/>
          </a:xfrm>
          <a:prstGeom prst="rect">
            <a:avLst/>
          </a:prstGeom>
          <a:noFill/>
          <a:ln>
            <a:noFill/>
          </a:ln>
        </p:spPr>
      </p:pic>
      <p:pic>
        <p:nvPicPr>
          <p:cNvPr id="48" name="图片 638"/>
          <p:cNvPicPr>
            <a:picLocks noChangeAspect="1"/>
          </p:cNvPicPr>
          <p:nvPr/>
        </p:nvPicPr>
        <p:blipFill>
          <a:blip r:embed="rId3"/>
          <a:stretch>
            <a:fillRect/>
          </a:stretch>
        </p:blipFill>
        <p:spPr>
          <a:xfrm>
            <a:off x="6376670" y="1990090"/>
            <a:ext cx="5433060" cy="2951480"/>
          </a:xfrm>
          <a:prstGeom prst="rect">
            <a:avLst/>
          </a:prstGeom>
          <a:noFill/>
          <a:ln>
            <a:noFill/>
          </a:ln>
        </p:spPr>
      </p:pic>
      <p:sp>
        <p:nvSpPr>
          <p:cNvPr id="2" name="文本框 1"/>
          <p:cNvSpPr txBox="1"/>
          <p:nvPr/>
        </p:nvSpPr>
        <p:spPr>
          <a:xfrm>
            <a:off x="1872615" y="1202055"/>
            <a:ext cx="5080000" cy="521970"/>
          </a:xfrm>
          <a:prstGeom prst="rect">
            <a:avLst/>
          </a:prstGeom>
          <a:noFill/>
          <a:ln w="9525">
            <a:noFill/>
          </a:ln>
        </p:spPr>
        <p:txBody>
          <a:bodyPr>
            <a:spAutoFit/>
          </a:bodyPr>
          <a:p>
            <a:pPr indent="0"/>
            <a:r>
              <a:rPr lang="en-US" altLang="zh-CN" sz="2800" b="1">
                <a:solidFill>
                  <a:srgbClr val="000000"/>
                </a:solidFill>
                <a:cs typeface="Times New Roman" panose="02020603050405020304" charset="0"/>
              </a:rPr>
              <a:t>2.</a:t>
            </a:r>
            <a:r>
              <a:rPr sz="2800" b="1">
                <a:solidFill>
                  <a:srgbClr val="000000"/>
                </a:solidFill>
                <a:cs typeface="Times New Roman" panose="02020603050405020304" charset="0"/>
              </a:rPr>
              <a:t>3.</a:t>
            </a:r>
            <a:r>
              <a:rPr lang="en-US" sz="2800" b="1">
                <a:solidFill>
                  <a:srgbClr val="000000"/>
                </a:solidFill>
                <a:cs typeface="Times New Roman" panose="02020603050405020304" charset="0"/>
              </a:rPr>
              <a:t>2</a:t>
            </a:r>
            <a:r>
              <a:rPr sz="2800" b="1">
                <a:solidFill>
                  <a:srgbClr val="000000"/>
                </a:solidFill>
                <a:cs typeface="Times New Roman" panose="02020603050405020304" charset="0"/>
              </a:rPr>
              <a:t>  单sink和多sink</a:t>
            </a:r>
            <a:r>
              <a:rPr lang="zh-CN" sz="2800" b="1">
                <a:solidFill>
                  <a:srgbClr val="000000"/>
                </a:solidFill>
                <a:cs typeface="Times New Roman" panose="02020603050405020304" charset="0"/>
              </a:rPr>
              <a:t>结构</a:t>
            </a:r>
            <a:endParaRPr lang="zh-CN" sz="2800" b="1">
              <a:solidFill>
                <a:srgbClr val="000000"/>
              </a:solidFill>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2685415"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2.4  </a:t>
            </a:r>
            <a:r>
              <a:rPr lang="zh-CN" b="1">
                <a:uFillTx/>
                <a:ea typeface="宋体" panose="02010600030101010101" pitchFamily="2" charset="-122"/>
                <a:sym typeface="+mn-ea"/>
                <a:hlinkClick r:id="rId1"/>
              </a:rPr>
              <a:t>协议体系结构</a:t>
            </a:r>
            <a:endParaRPr lang="zh-CN" altLang="en-US"/>
          </a:p>
        </p:txBody>
      </p:sp>
      <p:sp>
        <p:nvSpPr>
          <p:cNvPr id="2" name="文本框 1"/>
          <p:cNvSpPr txBox="1"/>
          <p:nvPr/>
        </p:nvSpPr>
        <p:spPr>
          <a:xfrm>
            <a:off x="1872615" y="1202055"/>
            <a:ext cx="5556250" cy="521970"/>
          </a:xfrm>
          <a:prstGeom prst="rect">
            <a:avLst/>
          </a:prstGeom>
          <a:noFill/>
          <a:ln w="9525">
            <a:noFill/>
          </a:ln>
        </p:spPr>
        <p:txBody>
          <a:bodyPr wrap="square">
            <a:spAutoFit/>
          </a:bodyPr>
          <a:p>
            <a:pPr indent="0"/>
            <a:r>
              <a:rPr lang="en-US" altLang="zh-CN" sz="2800" b="1">
                <a:solidFill>
                  <a:srgbClr val="000000"/>
                </a:solidFill>
                <a:cs typeface="Times New Roman" panose="02020603050405020304" charset="0"/>
              </a:rPr>
              <a:t>2.4.1</a:t>
            </a:r>
            <a:r>
              <a:rPr sz="2800" b="1">
                <a:solidFill>
                  <a:srgbClr val="000000"/>
                </a:solidFill>
                <a:cs typeface="Times New Roman" panose="02020603050405020304" charset="0"/>
              </a:rPr>
              <a:t>  传统网络协议OSI参考模型</a:t>
            </a:r>
            <a:endParaRPr sz="2800" b="1">
              <a:solidFill>
                <a:srgbClr val="000000"/>
              </a:solidFill>
              <a:cs typeface="Times New Roman" panose="02020603050405020304" charset="0"/>
            </a:endParaRPr>
          </a:p>
        </p:txBody>
      </p:sp>
      <p:sp>
        <p:nvSpPr>
          <p:cNvPr id="4" name="文本框 3"/>
          <p:cNvSpPr txBox="1"/>
          <p:nvPr/>
        </p:nvSpPr>
        <p:spPr>
          <a:xfrm>
            <a:off x="868045" y="1915160"/>
            <a:ext cx="9927590" cy="4399915"/>
          </a:xfrm>
          <a:prstGeom prst="rect">
            <a:avLst/>
          </a:prstGeom>
          <a:noFill/>
          <a:ln w="9525">
            <a:noFill/>
          </a:ln>
        </p:spPr>
        <p:txBody>
          <a:bodyPr wrap="square">
            <a:spAutoFit/>
          </a:bodyPr>
          <a:p>
            <a:pPr indent="0"/>
            <a:r>
              <a:rPr lang="en-US" altLang="zh-CN" sz="2800" b="1">
                <a:latin typeface="等线" panose="02010600030101010101" charset="-122"/>
                <a:ea typeface="等线" panose="02010600030101010101" charset="-122"/>
                <a:cs typeface="等线" panose="02010600030101010101" charset="-122"/>
              </a:rPr>
              <a:t>       </a:t>
            </a:r>
            <a:r>
              <a:rPr lang="zh-CN" sz="2800" b="1">
                <a:solidFill>
                  <a:srgbClr val="FF0000"/>
                </a:solidFill>
                <a:latin typeface="等线" panose="02010600030101010101" charset="-122"/>
                <a:ea typeface="等线" panose="02010600030101010101" charset="-122"/>
                <a:cs typeface="等线" panose="02010600030101010101" charset="-122"/>
              </a:rPr>
              <a:t>开放式系统互连网络参考模型（</a:t>
            </a:r>
            <a:r>
              <a:rPr lang="en-US" sz="2800" b="1">
                <a:solidFill>
                  <a:srgbClr val="FF0000"/>
                </a:solidFill>
                <a:latin typeface="等线" panose="02010600030101010101" charset="-122"/>
                <a:ea typeface="等线" panose="02010600030101010101" charset="-122"/>
                <a:cs typeface="等线" panose="02010600030101010101" charset="-122"/>
              </a:rPr>
              <a:t>Open System Interconnect</a:t>
            </a:r>
            <a:r>
              <a:rPr lang="zh-CN" sz="2800" b="1">
                <a:solidFill>
                  <a:srgbClr val="FF0000"/>
                </a:solidFill>
                <a:latin typeface="等线" panose="02010600030101010101" charset="-122"/>
                <a:ea typeface="等线" panose="02010600030101010101" charset="-122"/>
                <a:cs typeface="等线" panose="02010600030101010101" charset="-122"/>
              </a:rPr>
              <a:t>，</a:t>
            </a:r>
            <a:r>
              <a:rPr lang="en-US" sz="2800" b="1">
                <a:solidFill>
                  <a:srgbClr val="FF0000"/>
                </a:solidFill>
                <a:latin typeface="等线" panose="02010600030101010101" charset="-122"/>
                <a:ea typeface="等线" panose="02010600030101010101" charset="-122"/>
                <a:cs typeface="等线" panose="02010600030101010101" charset="-122"/>
              </a:rPr>
              <a:t>OSI</a:t>
            </a:r>
            <a:r>
              <a:rPr lang="zh-CN" sz="2800" b="1">
                <a:latin typeface="等线" panose="02010600030101010101" charset="-122"/>
                <a:ea typeface="等线" panose="02010600030101010101" charset="-122"/>
                <a:cs typeface="等线" panose="02010600030101010101" charset="-122"/>
              </a:rPr>
              <a:t>）是国际标准化组织（</a:t>
            </a:r>
            <a:r>
              <a:rPr lang="en-US" sz="2800" b="1">
                <a:latin typeface="等线" panose="02010600030101010101" charset="-122"/>
                <a:ea typeface="等线" panose="02010600030101010101" charset="-122"/>
                <a:cs typeface="等线" panose="02010600030101010101" charset="-122"/>
              </a:rPr>
              <a:t>International Organization for Standardization, ISO</a:t>
            </a:r>
            <a:r>
              <a:rPr lang="zh-CN" sz="2800" b="1">
                <a:latin typeface="等线" panose="02010600030101010101" charset="-122"/>
                <a:ea typeface="等线" panose="02010600030101010101" charset="-122"/>
                <a:cs typeface="等线" panose="02010600030101010101" charset="-122"/>
              </a:rPr>
              <a:t>）组织在</a:t>
            </a:r>
            <a:r>
              <a:rPr lang="en-US" sz="2800" b="1">
                <a:latin typeface="等线" panose="02010600030101010101" charset="-122"/>
                <a:ea typeface="等线" panose="02010600030101010101" charset="-122"/>
                <a:cs typeface="等线" panose="02010600030101010101" charset="-122"/>
              </a:rPr>
              <a:t>1985</a:t>
            </a:r>
            <a:r>
              <a:rPr lang="zh-CN" sz="2800" b="1">
                <a:latin typeface="等线" panose="02010600030101010101" charset="-122"/>
                <a:ea typeface="等线" panose="02010600030101010101" charset="-122"/>
                <a:cs typeface="等线" panose="02010600030101010101" charset="-122"/>
              </a:rPr>
              <a:t>年研究的网络互连模型，</a:t>
            </a:r>
            <a:r>
              <a:rPr lang="en-US" sz="2800" b="1">
                <a:solidFill>
                  <a:srgbClr val="FF0000"/>
                </a:solidFill>
                <a:latin typeface="等线" panose="02010600030101010101" charset="-122"/>
                <a:ea typeface="等线" panose="02010600030101010101" charset="-122"/>
                <a:cs typeface="等线" panose="02010600030101010101" charset="-122"/>
              </a:rPr>
              <a:t>OSI</a:t>
            </a:r>
            <a:r>
              <a:rPr lang="zh-CN" sz="2800" b="1">
                <a:solidFill>
                  <a:srgbClr val="FF0000"/>
                </a:solidFill>
                <a:latin typeface="等线" panose="02010600030101010101" charset="-122"/>
                <a:ea typeface="等线" panose="02010600030101010101" charset="-122"/>
                <a:cs typeface="等线" panose="02010600030101010101" charset="-122"/>
              </a:rPr>
              <a:t>定义了网络互连的七层框架（物理层、数据链路层、网络层、传输层、会话层、表示层、应用层）</a:t>
            </a:r>
            <a:r>
              <a:rPr lang="zh-CN" sz="2800" b="1">
                <a:latin typeface="等线" panose="02010600030101010101" charset="-122"/>
                <a:ea typeface="等线" panose="02010600030101010101" charset="-122"/>
                <a:cs typeface="等线" panose="02010600030101010101" charset="-122"/>
              </a:rPr>
              <a:t>，如图</a:t>
            </a:r>
            <a:r>
              <a:rPr lang="en-US" sz="2800" b="1">
                <a:latin typeface="等线" panose="02010600030101010101" charset="-122"/>
                <a:ea typeface="等线" panose="02010600030101010101" charset="-122"/>
                <a:cs typeface="等线" panose="02010600030101010101" charset="-122"/>
              </a:rPr>
              <a:t>2-4-1</a:t>
            </a:r>
            <a:r>
              <a:rPr lang="zh-CN" sz="2800" b="1">
                <a:latin typeface="等线" panose="02010600030101010101" charset="-122"/>
                <a:ea typeface="等线" panose="02010600030101010101" charset="-122"/>
                <a:cs typeface="等线" panose="02010600030101010101" charset="-122"/>
              </a:rPr>
              <a:t>所示。</a:t>
            </a:r>
            <a:endParaRPr lang="zh-CN" sz="2800" b="1">
              <a:latin typeface="等线" panose="02010600030101010101" charset="-122"/>
              <a:ea typeface="等线" panose="02010600030101010101" charset="-122"/>
              <a:cs typeface="等线" panose="02010600030101010101" charset="-122"/>
            </a:endParaRPr>
          </a:p>
          <a:p>
            <a:pPr indent="0"/>
            <a:r>
              <a:rPr lang="zh-CN" sz="2800" b="1">
                <a:latin typeface="等线" panose="02010600030101010101" charset="-122"/>
                <a:ea typeface="等线" panose="02010600030101010101" charset="-122"/>
                <a:cs typeface="等线" panose="02010600030101010101" charset="-122"/>
              </a:rPr>
              <a:t> </a:t>
            </a:r>
            <a:r>
              <a:rPr lang="en-US" altLang="zh-CN" sz="2800" b="1">
                <a:latin typeface="等线" panose="02010600030101010101" charset="-122"/>
                <a:ea typeface="等线" panose="02010600030101010101" charset="-122"/>
                <a:cs typeface="等线" panose="02010600030101010101" charset="-122"/>
              </a:rPr>
              <a:t>     </a:t>
            </a:r>
            <a:r>
              <a:rPr lang="zh-CN" sz="2800" b="1">
                <a:latin typeface="等线" panose="02010600030101010101" charset="-122"/>
                <a:ea typeface="等线" panose="02010600030101010101" charset="-122"/>
                <a:cs typeface="等线" panose="02010600030101010101" charset="-122"/>
              </a:rPr>
              <a:t>每一层实现各自的功能和协议，并完成与相邻层的接口通信。</a:t>
            </a:r>
            <a:r>
              <a:rPr lang="en-US" sz="2800" b="1">
                <a:latin typeface="等线" panose="02010600030101010101" charset="-122"/>
                <a:ea typeface="等线" panose="02010600030101010101" charset="-122"/>
                <a:cs typeface="等线" panose="02010600030101010101" charset="-122"/>
              </a:rPr>
              <a:t>OSI</a:t>
            </a:r>
            <a:r>
              <a:rPr lang="zh-CN" sz="2800" b="1">
                <a:latin typeface="等线" panose="02010600030101010101" charset="-122"/>
                <a:ea typeface="等线" panose="02010600030101010101" charset="-122"/>
                <a:cs typeface="等线" panose="02010600030101010101" charset="-122"/>
              </a:rPr>
              <a:t>的服务定义详细说明了各层所提供的服务，某一层的服务就是该层及其下各层的一种能力，它通过接口提供给更高一层，非相邻层之间不允许直接交互。</a:t>
            </a:r>
            <a:endParaRPr lang="zh-CN" altLang="en-US" sz="2800" b="1">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2685415"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2.4  </a:t>
            </a:r>
            <a:r>
              <a:rPr lang="zh-CN" b="1">
                <a:uFillTx/>
                <a:ea typeface="宋体" panose="02010600030101010101" pitchFamily="2" charset="-122"/>
                <a:sym typeface="+mn-ea"/>
                <a:hlinkClick r:id="rId1"/>
              </a:rPr>
              <a:t>协议体系结构</a:t>
            </a:r>
            <a:endParaRPr lang="zh-CN" altLang="en-US"/>
          </a:p>
        </p:txBody>
      </p:sp>
      <p:pic>
        <p:nvPicPr>
          <p:cNvPr id="107" name="图片 572" descr="IMG_256"/>
          <p:cNvPicPr>
            <a:picLocks noChangeAspect="1"/>
          </p:cNvPicPr>
          <p:nvPr/>
        </p:nvPicPr>
        <p:blipFill>
          <a:blip r:embed="rId2"/>
          <a:srcRect l="43010"/>
          <a:stretch>
            <a:fillRect/>
          </a:stretch>
        </p:blipFill>
        <p:spPr>
          <a:xfrm>
            <a:off x="142240" y="1837055"/>
            <a:ext cx="3402330" cy="3234055"/>
          </a:xfrm>
          <a:prstGeom prst="rect">
            <a:avLst/>
          </a:prstGeom>
          <a:noFill/>
          <a:ln w="9525">
            <a:noFill/>
          </a:ln>
        </p:spPr>
      </p:pic>
      <p:pic>
        <p:nvPicPr>
          <p:cNvPr id="108" name="图片 573" descr="IMG_256"/>
          <p:cNvPicPr>
            <a:picLocks noChangeAspect="1"/>
          </p:cNvPicPr>
          <p:nvPr/>
        </p:nvPicPr>
        <p:blipFill>
          <a:blip r:embed="rId3"/>
          <a:stretch>
            <a:fillRect/>
          </a:stretch>
        </p:blipFill>
        <p:spPr>
          <a:xfrm>
            <a:off x="3473450" y="1820545"/>
            <a:ext cx="8406765" cy="3216910"/>
          </a:xfrm>
          <a:prstGeom prst="rect">
            <a:avLst/>
          </a:prstGeom>
          <a:noFill/>
          <a:ln w="9525">
            <a:noFill/>
          </a:ln>
        </p:spPr>
      </p:pic>
      <p:sp>
        <p:nvSpPr>
          <p:cNvPr id="100" name="文本框 99"/>
          <p:cNvSpPr txBox="1"/>
          <p:nvPr/>
        </p:nvSpPr>
        <p:spPr>
          <a:xfrm>
            <a:off x="2945130" y="5071110"/>
            <a:ext cx="6712585" cy="398780"/>
          </a:xfrm>
          <a:prstGeom prst="rect">
            <a:avLst/>
          </a:prstGeom>
          <a:noFill/>
          <a:ln w="9525">
            <a:noFill/>
          </a:ln>
        </p:spPr>
        <p:txBody>
          <a:bodyPr wrap="square">
            <a:spAutoFit/>
          </a:bodyPr>
          <a:p>
            <a:pPr indent="0"/>
            <a:r>
              <a:rPr lang="zh-CN" sz="2000" b="1">
                <a:latin typeface="Times New Roman" panose="02020603050405020304" charset="0"/>
                <a:ea typeface="宋体" panose="02010600030101010101" pitchFamily="2" charset="-122"/>
              </a:rPr>
              <a:t>图</a:t>
            </a:r>
            <a:r>
              <a:rPr lang="en-US" sz="2000" b="1">
                <a:latin typeface="Times New Roman" panose="02020603050405020304" charset="0"/>
                <a:ea typeface="宋体" panose="02010600030101010101" pitchFamily="2" charset="-122"/>
              </a:rPr>
              <a:t>2-4-2  </a:t>
            </a:r>
            <a:r>
              <a:rPr lang="en-US" sz="2000" b="1">
                <a:latin typeface="Times New Roman" panose="02020603050405020304" charset="0"/>
                <a:ea typeface="宋体" panose="02010600030101010101" pitchFamily="2" charset="-122"/>
                <a:sym typeface="+mn-ea"/>
              </a:rPr>
              <a:t>OSI</a:t>
            </a:r>
            <a:r>
              <a:rPr lang="zh-CN" sz="2000" b="1">
                <a:latin typeface="Times New Roman" panose="02020603050405020304" charset="0"/>
                <a:ea typeface="宋体" panose="02010600030101010101" pitchFamily="2" charset="-122"/>
                <a:sym typeface="+mn-ea"/>
              </a:rPr>
              <a:t>七层模型和</a:t>
            </a:r>
            <a:r>
              <a:rPr lang="en-US" sz="2000" b="1">
                <a:latin typeface="Times New Roman" panose="02020603050405020304" charset="0"/>
                <a:ea typeface="宋体" panose="02010600030101010101" pitchFamily="2" charset="-122"/>
              </a:rPr>
              <a:t>TCP/IP</a:t>
            </a:r>
            <a:r>
              <a:rPr lang="zh-CN" sz="2000" b="1">
                <a:latin typeface="Times New Roman" panose="02020603050405020304" charset="0"/>
                <a:ea typeface="宋体" panose="02010600030101010101" pitchFamily="2" charset="-122"/>
              </a:rPr>
              <a:t>五层模型对应关系</a:t>
            </a:r>
            <a:endParaRPr lang="zh-CN" altLang="en-US" sz="2000" b="1"/>
          </a:p>
        </p:txBody>
      </p:sp>
      <p:sp>
        <p:nvSpPr>
          <p:cNvPr id="2" name="文本框 1"/>
          <p:cNvSpPr txBox="1"/>
          <p:nvPr/>
        </p:nvSpPr>
        <p:spPr>
          <a:xfrm>
            <a:off x="1872615" y="1202055"/>
            <a:ext cx="5556250" cy="521970"/>
          </a:xfrm>
          <a:prstGeom prst="rect">
            <a:avLst/>
          </a:prstGeom>
          <a:noFill/>
          <a:ln w="9525">
            <a:noFill/>
          </a:ln>
        </p:spPr>
        <p:txBody>
          <a:bodyPr wrap="square">
            <a:spAutoFit/>
          </a:bodyPr>
          <a:p>
            <a:pPr indent="0"/>
            <a:r>
              <a:rPr lang="en-US" altLang="zh-CN" sz="2800" b="1">
                <a:solidFill>
                  <a:srgbClr val="000000"/>
                </a:solidFill>
                <a:cs typeface="Times New Roman" panose="02020603050405020304" charset="0"/>
              </a:rPr>
              <a:t>2.4.1</a:t>
            </a:r>
            <a:r>
              <a:rPr sz="2800" b="1">
                <a:solidFill>
                  <a:srgbClr val="000000"/>
                </a:solidFill>
                <a:cs typeface="Times New Roman" panose="02020603050405020304" charset="0"/>
              </a:rPr>
              <a:t>  传统网络协议OSI参考模型</a:t>
            </a:r>
            <a:endParaRPr sz="2800" b="1">
              <a:solidFill>
                <a:srgbClr val="000000"/>
              </a:solidFill>
              <a:cs typeface="Times New Roman" panose="02020603050405020304" charset="0"/>
            </a:endParaRPr>
          </a:p>
        </p:txBody>
      </p:sp>
      <p:sp>
        <p:nvSpPr>
          <p:cNvPr id="4" name="文本框 3"/>
          <p:cNvSpPr txBox="1"/>
          <p:nvPr/>
        </p:nvSpPr>
        <p:spPr>
          <a:xfrm>
            <a:off x="422275" y="5503545"/>
            <a:ext cx="11064240" cy="1322070"/>
          </a:xfrm>
          <a:prstGeom prst="rect">
            <a:avLst/>
          </a:prstGeom>
          <a:noFill/>
          <a:ln w="9525">
            <a:noFill/>
          </a:ln>
        </p:spPr>
        <p:txBody>
          <a:bodyPr wrap="square">
            <a:spAutoFit/>
          </a:bodyPr>
          <a:p>
            <a:pPr indent="266700"/>
            <a:r>
              <a:rPr lang="en-US" altLang="zh-CN" sz="2000" b="1">
                <a:latin typeface="等线" panose="02010600030101010101" charset="-122"/>
                <a:ea typeface="等线" panose="02010600030101010101" charset="-122"/>
                <a:cs typeface="等线" panose="02010600030101010101" charset="-122"/>
              </a:rPr>
              <a:t>   </a:t>
            </a:r>
            <a:r>
              <a:rPr lang="zh-CN" sz="2000" b="1">
                <a:latin typeface="等线" panose="02010600030101010101" charset="-122"/>
                <a:ea typeface="等线" panose="02010600030101010101" charset="-122"/>
                <a:cs typeface="等线" panose="02010600030101010101" charset="-122"/>
              </a:rPr>
              <a:t>将</a:t>
            </a:r>
            <a:r>
              <a:rPr lang="en-US" altLang="zh-CN" sz="2000" b="1">
                <a:latin typeface="等线" panose="02010600030101010101" charset="-122"/>
                <a:ea typeface="等线" panose="02010600030101010101" charset="-122"/>
                <a:cs typeface="等线" panose="02010600030101010101" charset="-122"/>
              </a:rPr>
              <a:t>OSI</a:t>
            </a:r>
            <a:r>
              <a:rPr lang="zh-CN" altLang="en-US" sz="2000" b="1">
                <a:latin typeface="等线" panose="02010600030101010101" charset="-122"/>
                <a:ea typeface="等线" panose="02010600030101010101" charset="-122"/>
                <a:cs typeface="等线" panose="02010600030101010101" charset="-122"/>
              </a:rPr>
              <a:t>最上面</a:t>
            </a:r>
            <a:r>
              <a:rPr lang="zh-CN" sz="2000" b="1">
                <a:latin typeface="等线" panose="02010600030101010101" charset="-122"/>
                <a:ea typeface="等线" panose="02010600030101010101" charset="-122"/>
                <a:cs typeface="等线" panose="02010600030101010101" charset="-122"/>
              </a:rPr>
              <a:t>的三层合并为一个整体的应用层，即成为</a:t>
            </a:r>
            <a:r>
              <a:rPr lang="en-US" sz="2000" b="1">
                <a:solidFill>
                  <a:srgbClr val="FF0000"/>
                </a:solidFill>
                <a:latin typeface="等线" panose="02010600030101010101" charset="-122"/>
                <a:ea typeface="等线" panose="02010600030101010101" charset="-122"/>
                <a:cs typeface="等线" panose="02010600030101010101" charset="-122"/>
              </a:rPr>
              <a:t>TCP/IP</a:t>
            </a:r>
            <a:r>
              <a:rPr lang="zh-CN" sz="2000" b="1">
                <a:solidFill>
                  <a:srgbClr val="FF0000"/>
                </a:solidFill>
                <a:latin typeface="等线" panose="02010600030101010101" charset="-122"/>
                <a:ea typeface="等线" panose="02010600030101010101" charset="-122"/>
                <a:cs typeface="等线" panose="02010600030101010101" charset="-122"/>
              </a:rPr>
              <a:t>五层模型</a:t>
            </a:r>
            <a:r>
              <a:rPr lang="zh-CN" sz="2000" b="1">
                <a:latin typeface="等线" panose="02010600030101010101" charset="-122"/>
                <a:ea typeface="等线" panose="02010600030101010101" charset="-122"/>
                <a:cs typeface="等线" panose="02010600030101010101" charset="-122"/>
              </a:rPr>
              <a:t>，再将最下面两层合并成网络接口层即形成</a:t>
            </a:r>
            <a:r>
              <a:rPr lang="en-US" sz="2000" b="1">
                <a:solidFill>
                  <a:srgbClr val="FF0000"/>
                </a:solidFill>
                <a:latin typeface="等线" panose="02010600030101010101" charset="-122"/>
                <a:ea typeface="等线" panose="02010600030101010101" charset="-122"/>
                <a:cs typeface="等线" panose="02010600030101010101" charset="-122"/>
              </a:rPr>
              <a:t>TCP/IP</a:t>
            </a:r>
            <a:r>
              <a:rPr lang="zh-CN" sz="2000" b="1">
                <a:solidFill>
                  <a:srgbClr val="FF0000"/>
                </a:solidFill>
                <a:latin typeface="等线" panose="02010600030101010101" charset="-122"/>
                <a:ea typeface="等线" panose="02010600030101010101" charset="-122"/>
                <a:cs typeface="等线" panose="02010600030101010101" charset="-122"/>
              </a:rPr>
              <a:t>四层模型</a:t>
            </a:r>
            <a:r>
              <a:rPr lang="zh-CN" sz="2000" b="1">
                <a:latin typeface="等线" panose="02010600030101010101" charset="-122"/>
                <a:ea typeface="等线" panose="02010600030101010101" charset="-122"/>
                <a:cs typeface="等线" panose="02010600030101010101" charset="-122"/>
              </a:rPr>
              <a:t>。</a:t>
            </a:r>
            <a:r>
              <a:rPr lang="en-US" sz="2000" b="1">
                <a:latin typeface="等线" panose="02010600030101010101" charset="-122"/>
                <a:ea typeface="等线" panose="02010600030101010101" charset="-122"/>
                <a:cs typeface="等线" panose="02010600030101010101" charset="-122"/>
              </a:rPr>
              <a:t>TCP/IP</a:t>
            </a:r>
            <a:r>
              <a:rPr lang="zh-CN" sz="2000" b="1">
                <a:latin typeface="等线" panose="02010600030101010101" charset="-122"/>
                <a:ea typeface="等线" panose="02010600030101010101" charset="-122"/>
                <a:cs typeface="等线" panose="02010600030101010101" charset="-122"/>
              </a:rPr>
              <a:t>五层模型和</a:t>
            </a:r>
            <a:r>
              <a:rPr lang="en-US" sz="2000" b="1">
                <a:latin typeface="等线" panose="02010600030101010101" charset="-122"/>
                <a:ea typeface="等线" panose="02010600030101010101" charset="-122"/>
                <a:cs typeface="等线" panose="02010600030101010101" charset="-122"/>
              </a:rPr>
              <a:t>OSI</a:t>
            </a:r>
            <a:r>
              <a:rPr lang="zh-CN" sz="2000" b="1">
                <a:latin typeface="等线" panose="02010600030101010101" charset="-122"/>
                <a:ea typeface="等线" panose="02010600030101010101" charset="-122"/>
                <a:cs typeface="等线" panose="02010600030101010101" charset="-122"/>
              </a:rPr>
              <a:t>的七层模型对应关系如图</a:t>
            </a:r>
            <a:r>
              <a:rPr lang="en-US" sz="2000" b="1">
                <a:latin typeface="等线" panose="02010600030101010101" charset="-122"/>
                <a:ea typeface="等线" panose="02010600030101010101" charset="-122"/>
                <a:cs typeface="等线" panose="02010600030101010101" charset="-122"/>
              </a:rPr>
              <a:t>2-4-2</a:t>
            </a:r>
            <a:r>
              <a:rPr lang="zh-CN" sz="2000" b="1">
                <a:latin typeface="等线" panose="02010600030101010101" charset="-122"/>
                <a:ea typeface="等线" panose="02010600030101010101" charset="-122"/>
                <a:cs typeface="等线" panose="02010600030101010101" charset="-122"/>
              </a:rPr>
              <a:t>所示。在每一层都工作着不同的设备，例如，常用的交换机就工作在数据链路层的，一般的路由器是工作在网络层的。在每一层实现的协议也各不同，即每一层的服务也不同。</a:t>
            </a:r>
            <a:endParaRPr lang="zh-CN" altLang="en-US" sz="2000" b="1">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2745740" y="0"/>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2.4  </a:t>
            </a:r>
            <a:r>
              <a:rPr lang="zh-CN" b="1">
                <a:uFillTx/>
                <a:ea typeface="宋体" panose="02010600030101010101" pitchFamily="2" charset="-122"/>
                <a:sym typeface="+mn-ea"/>
                <a:hlinkClick r:id="rId1"/>
              </a:rPr>
              <a:t>协议体系结构</a:t>
            </a:r>
            <a:endParaRPr lang="zh-CN" altLang="en-US"/>
          </a:p>
        </p:txBody>
      </p:sp>
      <p:sp>
        <p:nvSpPr>
          <p:cNvPr id="2" name="文本框 1"/>
          <p:cNvSpPr txBox="1"/>
          <p:nvPr/>
        </p:nvSpPr>
        <p:spPr>
          <a:xfrm>
            <a:off x="2014220" y="958850"/>
            <a:ext cx="5556250" cy="521970"/>
          </a:xfrm>
          <a:prstGeom prst="rect">
            <a:avLst/>
          </a:prstGeom>
          <a:noFill/>
          <a:ln w="9525">
            <a:noFill/>
          </a:ln>
        </p:spPr>
        <p:txBody>
          <a:bodyPr wrap="square">
            <a:spAutoFit/>
          </a:bodyPr>
          <a:p>
            <a:pPr indent="0"/>
            <a:r>
              <a:rPr lang="en-US" altLang="zh-CN" sz="2800" b="1">
                <a:solidFill>
                  <a:srgbClr val="000000"/>
                </a:solidFill>
                <a:cs typeface="Times New Roman" panose="02020603050405020304" charset="0"/>
              </a:rPr>
              <a:t>2.4.1</a:t>
            </a:r>
            <a:r>
              <a:rPr sz="2800" b="1">
                <a:solidFill>
                  <a:srgbClr val="000000"/>
                </a:solidFill>
                <a:cs typeface="Times New Roman" panose="02020603050405020304" charset="0"/>
              </a:rPr>
              <a:t>  传统网络协议OSI参考模型</a:t>
            </a:r>
            <a:endParaRPr sz="2800" b="1">
              <a:solidFill>
                <a:srgbClr val="000000"/>
              </a:solidFill>
              <a:cs typeface="Times New Roman" panose="02020603050405020304" charset="0"/>
            </a:endParaRPr>
          </a:p>
        </p:txBody>
      </p:sp>
      <p:sp>
        <p:nvSpPr>
          <p:cNvPr id="4" name="文本框 3"/>
          <p:cNvSpPr txBox="1"/>
          <p:nvPr/>
        </p:nvSpPr>
        <p:spPr>
          <a:xfrm>
            <a:off x="326390" y="1503680"/>
            <a:ext cx="11539855" cy="5354320"/>
          </a:xfrm>
          <a:prstGeom prst="rect">
            <a:avLst/>
          </a:prstGeom>
          <a:noFill/>
          <a:ln w="9525">
            <a:noFill/>
          </a:ln>
        </p:spPr>
        <p:txBody>
          <a:bodyPr wrap="square">
            <a:spAutoFit/>
          </a:bodyPr>
          <a:p>
            <a:pPr indent="0"/>
            <a:r>
              <a:rPr b="1">
                <a:latin typeface="等线" panose="02010600030101010101" charset="-122"/>
                <a:ea typeface="等线" panose="02010600030101010101" charset="-122"/>
                <a:cs typeface="等线" panose="02010600030101010101" charset="-122"/>
              </a:rPr>
              <a:t>1.</a:t>
            </a:r>
            <a:r>
              <a:rPr b="1">
                <a:solidFill>
                  <a:srgbClr val="FF0000"/>
                </a:solidFill>
                <a:latin typeface="等线" panose="02010600030101010101" charset="-122"/>
                <a:ea typeface="等线" panose="02010600030101010101" charset="-122"/>
                <a:cs typeface="等线" panose="02010600030101010101" charset="-122"/>
              </a:rPr>
              <a:t>物理层</a:t>
            </a:r>
            <a:r>
              <a:rPr lang="zh-CN" b="1">
                <a:latin typeface="等线" panose="02010600030101010101" charset="-122"/>
                <a:ea typeface="等线" panose="02010600030101010101" charset="-122"/>
                <a:cs typeface="等线" panose="02010600030101010101" charset="-122"/>
              </a:rPr>
              <a:t>：</a:t>
            </a:r>
            <a:r>
              <a:rPr b="1">
                <a:latin typeface="等线" panose="02010600030101010101" charset="-122"/>
                <a:ea typeface="等线" panose="02010600030101010101" charset="-122"/>
                <a:cs typeface="等线" panose="02010600030101010101" charset="-122"/>
              </a:rPr>
              <a:t>实际最终信号的传输是通过物理层实现的。通过物理介质传输比特流，规定了电平、速度和电缆针脚。常用的物理层传输介质有（各种物理设备）集线器、中继器、调制解调器、网线、双绞线、同轴电缆等。</a:t>
            </a:r>
            <a:endParaRPr b="1">
              <a:latin typeface="等线" panose="02010600030101010101" charset="-122"/>
              <a:ea typeface="等线" panose="02010600030101010101" charset="-122"/>
              <a:cs typeface="等线" panose="02010600030101010101" charset="-122"/>
            </a:endParaRPr>
          </a:p>
          <a:p>
            <a:pPr indent="0"/>
            <a:r>
              <a:rPr b="1">
                <a:latin typeface="等线" panose="02010600030101010101" charset="-122"/>
                <a:ea typeface="等线" panose="02010600030101010101" charset="-122"/>
                <a:cs typeface="等线" panose="02010600030101010101" charset="-122"/>
              </a:rPr>
              <a:t>2.</a:t>
            </a:r>
            <a:r>
              <a:rPr b="1">
                <a:solidFill>
                  <a:srgbClr val="FF0000"/>
                </a:solidFill>
                <a:latin typeface="等线" panose="02010600030101010101" charset="-122"/>
                <a:ea typeface="等线" panose="02010600030101010101" charset="-122"/>
                <a:cs typeface="等线" panose="02010600030101010101" charset="-122"/>
              </a:rPr>
              <a:t>数据链路层</a:t>
            </a:r>
            <a:r>
              <a:rPr b="1">
                <a:latin typeface="等线" panose="02010600030101010101" charset="-122"/>
                <a:ea typeface="等线" panose="02010600030101010101" charset="-122"/>
                <a:cs typeface="等线" panose="02010600030101010101" charset="-122"/>
              </a:rPr>
              <a:t> </a:t>
            </a:r>
            <a:r>
              <a:rPr lang="zh-CN" b="1">
                <a:latin typeface="等线" panose="02010600030101010101" charset="-122"/>
                <a:ea typeface="等线" panose="02010600030101010101" charset="-122"/>
                <a:cs typeface="等线" panose="02010600030101010101" charset="-122"/>
              </a:rPr>
              <a:t>：</a:t>
            </a:r>
            <a:r>
              <a:rPr b="1">
                <a:latin typeface="等线" panose="02010600030101010101" charset="-122"/>
                <a:ea typeface="等线" panose="02010600030101010101" charset="-122"/>
                <a:cs typeface="等线" panose="02010600030101010101" charset="-122"/>
              </a:rPr>
              <a:t> 将比特组合成字节，再将字节组合成帧，使用链路层地址（以太网使用MAC地址）来访问介质,并进行差错检测。数据链路层又分为两个子层：逻辑链路控制子层（LLC）和介质访问控制子层（MAC）。 MAC子层处理CSMA/CD算法、数据出错校验、成帧等；LLC子层定义了一些字段使上次协议能共享数据链路层。在实际使用中，LLC子层并非必需的。</a:t>
            </a:r>
            <a:endParaRPr b="1">
              <a:latin typeface="等线" panose="02010600030101010101" charset="-122"/>
              <a:ea typeface="等线" panose="02010600030101010101" charset="-122"/>
              <a:cs typeface="等线" panose="02010600030101010101" charset="-122"/>
            </a:endParaRPr>
          </a:p>
          <a:p>
            <a:pPr indent="0"/>
            <a:r>
              <a:rPr b="1">
                <a:latin typeface="等线" panose="02010600030101010101" charset="-122"/>
                <a:ea typeface="等线" panose="02010600030101010101" charset="-122"/>
                <a:cs typeface="等线" panose="02010600030101010101" charset="-122"/>
              </a:rPr>
              <a:t>3.</a:t>
            </a:r>
            <a:r>
              <a:rPr b="1">
                <a:solidFill>
                  <a:srgbClr val="FF0000"/>
                </a:solidFill>
                <a:latin typeface="等线" panose="02010600030101010101" charset="-122"/>
                <a:ea typeface="等线" panose="02010600030101010101" charset="-122"/>
                <a:cs typeface="等线" panose="02010600030101010101" charset="-122"/>
              </a:rPr>
              <a:t>网络层</a:t>
            </a:r>
            <a:r>
              <a:rPr lang="zh-CN" b="1">
                <a:latin typeface="等线" panose="02010600030101010101" charset="-122"/>
                <a:ea typeface="等线" panose="02010600030101010101" charset="-122"/>
                <a:cs typeface="等线" panose="02010600030101010101" charset="-122"/>
              </a:rPr>
              <a:t>：</a:t>
            </a:r>
            <a:r>
              <a:rPr b="1">
                <a:latin typeface="等线" panose="02010600030101010101" charset="-122"/>
                <a:ea typeface="等线" panose="02010600030101010101" charset="-122"/>
                <a:cs typeface="等线" panose="02010600030101010101" charset="-122"/>
              </a:rPr>
              <a:t> 本层通过IP寻址来建立两个节点之间的连接，为源端的运输层送来的分组，选择合适的路由和交换节点，正确无误地按照地址传送给目的端的运输层，就是通常说的IP层。IP是Internet的基础。</a:t>
            </a:r>
            <a:endParaRPr b="1">
              <a:latin typeface="等线" panose="02010600030101010101" charset="-122"/>
              <a:ea typeface="等线" panose="02010600030101010101" charset="-122"/>
              <a:cs typeface="等线" panose="02010600030101010101" charset="-122"/>
            </a:endParaRPr>
          </a:p>
          <a:p>
            <a:pPr indent="0"/>
            <a:r>
              <a:rPr b="1">
                <a:latin typeface="等线" panose="02010600030101010101" charset="-122"/>
                <a:ea typeface="等线" panose="02010600030101010101" charset="-122"/>
                <a:cs typeface="等线" panose="02010600030101010101" charset="-122"/>
              </a:rPr>
              <a:t>4.</a:t>
            </a:r>
            <a:r>
              <a:rPr b="1">
                <a:solidFill>
                  <a:srgbClr val="FF0000"/>
                </a:solidFill>
                <a:latin typeface="等线" panose="02010600030101010101" charset="-122"/>
                <a:ea typeface="等线" panose="02010600030101010101" charset="-122"/>
                <a:cs typeface="等线" panose="02010600030101010101" charset="-122"/>
              </a:rPr>
              <a:t>传输层</a:t>
            </a:r>
            <a:r>
              <a:rPr lang="zh-CN" b="1">
                <a:latin typeface="等线" panose="02010600030101010101" charset="-122"/>
                <a:ea typeface="等线" panose="02010600030101010101" charset="-122"/>
                <a:cs typeface="等线" panose="02010600030101010101" charset="-122"/>
              </a:rPr>
              <a:t>：</a:t>
            </a:r>
            <a:r>
              <a:rPr b="1">
                <a:latin typeface="等线" panose="02010600030101010101" charset="-122"/>
                <a:ea typeface="等线" panose="02010600030101010101" charset="-122"/>
                <a:cs typeface="等线" panose="02010600030101010101" charset="-122"/>
              </a:rPr>
              <a:t>传输层建立了主机端到端的链接，传输层的作用是为上层协议提供端到端的可靠和透明的数据传输服务，包括处理差错控制和流量控制等问题。该层向高层屏蔽了下层数据通信的细节，使高层用户看到的只是在两个传输实体间的一条主机到主机的、可由用户控制和设定的、可靠的数据通路。我们通常说的TCP、UDP就是在这一层。端口号即是这里的“端”。</a:t>
            </a:r>
            <a:endParaRPr b="1">
              <a:latin typeface="等线" panose="02010600030101010101" charset="-122"/>
              <a:ea typeface="等线" panose="02010600030101010101" charset="-122"/>
              <a:cs typeface="等线" panose="02010600030101010101" charset="-122"/>
            </a:endParaRPr>
          </a:p>
          <a:p>
            <a:pPr indent="0"/>
            <a:r>
              <a:rPr b="1">
                <a:latin typeface="等线" panose="02010600030101010101" charset="-122"/>
                <a:ea typeface="等线" panose="02010600030101010101" charset="-122"/>
                <a:cs typeface="等线" panose="02010600030101010101" charset="-122"/>
              </a:rPr>
              <a:t>5.</a:t>
            </a:r>
            <a:r>
              <a:rPr b="1">
                <a:solidFill>
                  <a:srgbClr val="FF0000"/>
                </a:solidFill>
                <a:latin typeface="等线" panose="02010600030101010101" charset="-122"/>
                <a:ea typeface="等线" panose="02010600030101010101" charset="-122"/>
                <a:cs typeface="等线" panose="02010600030101010101" charset="-122"/>
              </a:rPr>
              <a:t>会话层</a:t>
            </a:r>
            <a:r>
              <a:rPr lang="zh-CN" b="1">
                <a:latin typeface="等线" panose="02010600030101010101" charset="-122"/>
                <a:ea typeface="等线" panose="02010600030101010101" charset="-122"/>
                <a:cs typeface="等线" panose="02010600030101010101" charset="-122"/>
              </a:rPr>
              <a:t>：</a:t>
            </a:r>
            <a:r>
              <a:rPr b="1">
                <a:latin typeface="等线" panose="02010600030101010101" charset="-122"/>
                <a:ea typeface="等线" panose="02010600030101010101" charset="-122"/>
                <a:cs typeface="等线" panose="02010600030101010101" charset="-122"/>
              </a:rPr>
              <a:t>会话层就是负责建立、管理和终止表示层实体之间的通信会话。该层的通信由不同设备中的应用程序之间的服务请求和响应组成。</a:t>
            </a:r>
            <a:endParaRPr b="1">
              <a:latin typeface="等线" panose="02010600030101010101" charset="-122"/>
              <a:ea typeface="等线" panose="02010600030101010101" charset="-122"/>
              <a:cs typeface="等线" panose="02010600030101010101" charset="-122"/>
            </a:endParaRPr>
          </a:p>
          <a:p>
            <a:pPr indent="0"/>
            <a:r>
              <a:rPr b="1">
                <a:latin typeface="等线" panose="02010600030101010101" charset="-122"/>
                <a:ea typeface="等线" panose="02010600030101010101" charset="-122"/>
                <a:cs typeface="等线" panose="02010600030101010101" charset="-122"/>
              </a:rPr>
              <a:t>6.</a:t>
            </a:r>
            <a:r>
              <a:rPr b="1">
                <a:solidFill>
                  <a:srgbClr val="FF0000"/>
                </a:solidFill>
                <a:latin typeface="等线" panose="02010600030101010101" charset="-122"/>
                <a:ea typeface="等线" panose="02010600030101010101" charset="-122"/>
                <a:cs typeface="等线" panose="02010600030101010101" charset="-122"/>
              </a:rPr>
              <a:t>表示层</a:t>
            </a:r>
            <a:r>
              <a:rPr lang="zh-CN" b="1">
                <a:latin typeface="等线" panose="02010600030101010101" charset="-122"/>
                <a:ea typeface="等线" panose="02010600030101010101" charset="-122"/>
                <a:cs typeface="等线" panose="02010600030101010101" charset="-122"/>
              </a:rPr>
              <a:t>：</a:t>
            </a:r>
            <a:r>
              <a:rPr b="1">
                <a:latin typeface="等线" panose="02010600030101010101" charset="-122"/>
                <a:ea typeface="等线" panose="02010600030101010101" charset="-122"/>
                <a:cs typeface="等线" panose="02010600030101010101" charset="-122"/>
              </a:rPr>
              <a:t>表示层提供各种用于应用层数据的编码和转换功能，确保一个系统的应用层发送的数据能被另一个系统的应用层识别。如果必要，该层可提供一种标准表示形式，用于将计算机内部的多种数据格式转换成通信中采用的标准表示形式。数据压缩和加密也是表示层可提供的转换功能之一。  </a:t>
            </a:r>
            <a:endParaRPr b="1">
              <a:latin typeface="等线" panose="02010600030101010101" charset="-122"/>
              <a:ea typeface="等线" panose="02010600030101010101" charset="-122"/>
              <a:cs typeface="等线" panose="02010600030101010101" charset="-122"/>
            </a:endParaRPr>
          </a:p>
          <a:p>
            <a:pPr indent="0"/>
            <a:r>
              <a:rPr b="1">
                <a:latin typeface="等线" panose="02010600030101010101" charset="-122"/>
                <a:ea typeface="等线" panose="02010600030101010101" charset="-122"/>
                <a:cs typeface="等线" panose="02010600030101010101" charset="-122"/>
              </a:rPr>
              <a:t>7.</a:t>
            </a:r>
            <a:r>
              <a:rPr b="1">
                <a:solidFill>
                  <a:srgbClr val="FF0000"/>
                </a:solidFill>
                <a:latin typeface="等线" panose="02010600030101010101" charset="-122"/>
                <a:ea typeface="等线" panose="02010600030101010101" charset="-122"/>
                <a:cs typeface="等线" panose="02010600030101010101" charset="-122"/>
              </a:rPr>
              <a:t>应用层</a:t>
            </a:r>
            <a:r>
              <a:rPr lang="zh-CN" b="1">
                <a:latin typeface="等线" panose="02010600030101010101" charset="-122"/>
                <a:ea typeface="等线" panose="02010600030101010101" charset="-122"/>
                <a:cs typeface="等线" panose="02010600030101010101" charset="-122"/>
              </a:rPr>
              <a:t>：</a:t>
            </a:r>
            <a:r>
              <a:rPr b="1">
                <a:latin typeface="等线" panose="02010600030101010101" charset="-122"/>
                <a:ea typeface="等线" panose="02010600030101010101" charset="-122"/>
                <a:cs typeface="等线" panose="02010600030101010101" charset="-122"/>
              </a:rPr>
              <a:t> 应用层是OSI参考模型中最靠近用户的一层，是为计算机用户提供应用接口，也为用户直接提供各种网络服务。常见应用层的网络服务协议有HTTP、HTTPS、FTP、POP3、DNS、SMTP等。</a:t>
            </a:r>
            <a:endParaRPr b="1">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2685415"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2.4  </a:t>
            </a:r>
            <a:r>
              <a:rPr lang="zh-CN" b="1">
                <a:uFillTx/>
                <a:ea typeface="宋体" panose="02010600030101010101" pitchFamily="2" charset="-122"/>
                <a:sym typeface="+mn-ea"/>
                <a:hlinkClick r:id="rId1"/>
              </a:rPr>
              <a:t>协议体系结构</a:t>
            </a:r>
            <a:endParaRPr lang="zh-CN" altLang="en-US"/>
          </a:p>
        </p:txBody>
      </p:sp>
      <p:sp>
        <p:nvSpPr>
          <p:cNvPr id="100" name="文本框 99"/>
          <p:cNvSpPr txBox="1"/>
          <p:nvPr/>
        </p:nvSpPr>
        <p:spPr>
          <a:xfrm>
            <a:off x="5840730" y="6133465"/>
            <a:ext cx="5466080" cy="398780"/>
          </a:xfrm>
          <a:prstGeom prst="rect">
            <a:avLst/>
          </a:prstGeom>
          <a:noFill/>
          <a:ln w="9525">
            <a:noFill/>
          </a:ln>
        </p:spPr>
        <p:txBody>
          <a:bodyPr wrap="square">
            <a:spAutoFit/>
          </a:bodyPr>
          <a:p>
            <a:pPr indent="0"/>
            <a:r>
              <a:rPr sz="2000" b="1">
                <a:latin typeface="Times New Roman" panose="02020603050405020304" charset="0"/>
                <a:ea typeface="宋体" panose="02010600030101010101" pitchFamily="2" charset="-122"/>
              </a:rPr>
              <a:t>图2-4-3  无线传感器网络的协议体系结构</a:t>
            </a:r>
            <a:endParaRPr sz="2000" b="1">
              <a:latin typeface="Times New Roman" panose="02020603050405020304" charset="0"/>
              <a:ea typeface="宋体" panose="02010600030101010101" pitchFamily="2" charset="-122"/>
            </a:endParaRPr>
          </a:p>
        </p:txBody>
      </p:sp>
      <p:grpSp>
        <p:nvGrpSpPr>
          <p:cNvPr id="4" name="画布 4"/>
          <p:cNvGrpSpPr/>
          <p:nvPr/>
        </p:nvGrpSpPr>
        <p:grpSpPr>
          <a:xfrm>
            <a:off x="4423410" y="1781810"/>
            <a:ext cx="7155180" cy="4426585"/>
            <a:chOff x="0" y="0"/>
            <a:chExt cx="5274310" cy="3072130"/>
          </a:xfrm>
        </p:grpSpPr>
        <p:sp>
          <p:nvSpPr>
            <p:cNvPr id="2" name="画布 4"/>
            <p:cNvSpPr/>
            <p:nvPr/>
          </p:nvSpPr>
          <p:spPr>
            <a:xfrm>
              <a:off x="0" y="0"/>
              <a:ext cx="5274310" cy="3072130"/>
            </a:xfrm>
          </p:spPr>
        </p:sp>
        <p:sp>
          <p:nvSpPr>
            <p:cNvPr id="8" name="矩形 68"/>
            <p:cNvSpPr/>
            <p:nvPr/>
          </p:nvSpPr>
          <p:spPr>
            <a:xfrm>
              <a:off x="1432560" y="421005"/>
              <a:ext cx="1670685" cy="278765"/>
            </a:xfrm>
            <a:prstGeom prst="rect">
              <a:avLst/>
            </a:prstGeom>
          </p:spPr>
          <p:style>
            <a:lnRef idx="2">
              <a:schemeClr val="dk1"/>
            </a:lnRef>
            <a:fillRef idx="1">
              <a:schemeClr val="lt1"/>
            </a:fillRef>
            <a:effectRef idx="0">
              <a:schemeClr val="dk1"/>
            </a:effectRef>
            <a:fontRef idx="minor">
              <a:schemeClr val="dk1"/>
            </a:fontRef>
          </p:style>
        </p:sp>
        <p:sp>
          <p:nvSpPr>
            <p:cNvPr id="10" name="矩形 69"/>
            <p:cNvSpPr/>
            <p:nvPr/>
          </p:nvSpPr>
          <p:spPr>
            <a:xfrm>
              <a:off x="3443605" y="413385"/>
              <a:ext cx="1670685" cy="278765"/>
            </a:xfrm>
            <a:prstGeom prst="rect">
              <a:avLst/>
            </a:prstGeom>
          </p:spPr>
          <p:style>
            <a:lnRef idx="2">
              <a:schemeClr val="dk1"/>
            </a:lnRef>
            <a:fillRef idx="1">
              <a:schemeClr val="lt1"/>
            </a:fillRef>
            <a:effectRef idx="0">
              <a:schemeClr val="dk1"/>
            </a:effectRef>
            <a:fontRef idx="minor">
              <a:schemeClr val="dk1"/>
            </a:fontRef>
          </p:style>
        </p:sp>
        <p:sp>
          <p:nvSpPr>
            <p:cNvPr id="52" name="矩形 71"/>
            <p:cNvSpPr/>
            <p:nvPr/>
          </p:nvSpPr>
          <p:spPr>
            <a:xfrm>
              <a:off x="1410970" y="1058545"/>
              <a:ext cx="946150" cy="278765"/>
            </a:xfrm>
            <a:prstGeom prst="rect">
              <a:avLst/>
            </a:prstGeom>
          </p:spPr>
          <p:style>
            <a:lnRef idx="2">
              <a:schemeClr val="dk1"/>
            </a:lnRef>
            <a:fillRef idx="1">
              <a:schemeClr val="lt1"/>
            </a:fillRef>
            <a:effectRef idx="0">
              <a:schemeClr val="dk1"/>
            </a:effectRef>
            <a:fontRef idx="minor">
              <a:schemeClr val="dk1"/>
            </a:fontRef>
          </p:style>
        </p:sp>
        <p:sp>
          <p:nvSpPr>
            <p:cNvPr id="89" name="矩形 72"/>
            <p:cNvSpPr/>
            <p:nvPr/>
          </p:nvSpPr>
          <p:spPr>
            <a:xfrm>
              <a:off x="2517140" y="1065530"/>
              <a:ext cx="543560" cy="278765"/>
            </a:xfrm>
            <a:prstGeom prst="rect">
              <a:avLst/>
            </a:prstGeom>
          </p:spPr>
          <p:style>
            <a:lnRef idx="2">
              <a:schemeClr val="dk1"/>
            </a:lnRef>
            <a:fillRef idx="1">
              <a:schemeClr val="lt1"/>
            </a:fillRef>
            <a:effectRef idx="0">
              <a:schemeClr val="dk1"/>
            </a:effectRef>
            <a:fontRef idx="minor">
              <a:schemeClr val="dk1"/>
            </a:fontRef>
          </p:style>
        </p:sp>
        <p:sp>
          <p:nvSpPr>
            <p:cNvPr id="238" name="矩形 73"/>
            <p:cNvSpPr/>
            <p:nvPr/>
          </p:nvSpPr>
          <p:spPr>
            <a:xfrm>
              <a:off x="1403350" y="1865630"/>
              <a:ext cx="1670685" cy="278765"/>
            </a:xfrm>
            <a:prstGeom prst="rect">
              <a:avLst/>
            </a:prstGeom>
          </p:spPr>
          <p:style>
            <a:lnRef idx="2">
              <a:schemeClr val="dk1"/>
            </a:lnRef>
            <a:fillRef idx="1">
              <a:schemeClr val="lt1"/>
            </a:fillRef>
            <a:effectRef idx="0">
              <a:schemeClr val="dk1"/>
            </a:effectRef>
            <a:fontRef idx="minor">
              <a:schemeClr val="dk1"/>
            </a:fontRef>
          </p:style>
        </p:sp>
        <p:sp>
          <p:nvSpPr>
            <p:cNvPr id="239" name="矩形 74"/>
            <p:cNvSpPr/>
            <p:nvPr/>
          </p:nvSpPr>
          <p:spPr>
            <a:xfrm>
              <a:off x="1402080" y="1476375"/>
              <a:ext cx="1670685" cy="278765"/>
            </a:xfrm>
            <a:prstGeom prst="rect">
              <a:avLst/>
            </a:prstGeom>
          </p:spPr>
          <p:style>
            <a:lnRef idx="2">
              <a:schemeClr val="dk1"/>
            </a:lnRef>
            <a:fillRef idx="1">
              <a:schemeClr val="lt1"/>
            </a:fillRef>
            <a:effectRef idx="0">
              <a:schemeClr val="dk1"/>
            </a:effectRef>
            <a:fontRef idx="minor">
              <a:schemeClr val="dk1"/>
            </a:fontRef>
          </p:style>
        </p:sp>
        <p:sp>
          <p:nvSpPr>
            <p:cNvPr id="240" name="矩形 75"/>
            <p:cNvSpPr/>
            <p:nvPr/>
          </p:nvSpPr>
          <p:spPr>
            <a:xfrm>
              <a:off x="1403985" y="2649220"/>
              <a:ext cx="1670685" cy="278765"/>
            </a:xfrm>
            <a:prstGeom prst="rect">
              <a:avLst/>
            </a:prstGeom>
          </p:spPr>
          <p:style>
            <a:lnRef idx="2">
              <a:schemeClr val="dk1"/>
            </a:lnRef>
            <a:fillRef idx="1">
              <a:schemeClr val="lt1"/>
            </a:fillRef>
            <a:effectRef idx="0">
              <a:schemeClr val="dk1"/>
            </a:effectRef>
            <a:fontRef idx="minor">
              <a:schemeClr val="dk1"/>
            </a:fontRef>
          </p:style>
        </p:sp>
        <p:sp>
          <p:nvSpPr>
            <p:cNvPr id="241" name="矩形 76"/>
            <p:cNvSpPr/>
            <p:nvPr/>
          </p:nvSpPr>
          <p:spPr>
            <a:xfrm>
              <a:off x="1407160" y="2259330"/>
              <a:ext cx="1670685" cy="278765"/>
            </a:xfrm>
            <a:prstGeom prst="rect">
              <a:avLst/>
            </a:prstGeom>
          </p:spPr>
          <p:style>
            <a:lnRef idx="2">
              <a:schemeClr val="dk1"/>
            </a:lnRef>
            <a:fillRef idx="1">
              <a:schemeClr val="lt1"/>
            </a:fillRef>
            <a:effectRef idx="0">
              <a:schemeClr val="dk1"/>
            </a:effectRef>
            <a:fontRef idx="minor">
              <a:schemeClr val="dk1"/>
            </a:fontRef>
          </p:style>
        </p:sp>
        <p:cxnSp>
          <p:nvCxnSpPr>
            <p:cNvPr id="242" name="直接连接符 83"/>
            <p:cNvCxnSpPr/>
            <p:nvPr/>
          </p:nvCxnSpPr>
          <p:spPr>
            <a:xfrm>
              <a:off x="161290" y="2978785"/>
              <a:ext cx="507746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3" name="直接连接符 84"/>
            <p:cNvCxnSpPr/>
            <p:nvPr/>
          </p:nvCxnSpPr>
          <p:spPr>
            <a:xfrm>
              <a:off x="196850" y="1395730"/>
              <a:ext cx="507746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4" name="直接连接符 85"/>
            <p:cNvCxnSpPr/>
            <p:nvPr/>
          </p:nvCxnSpPr>
          <p:spPr>
            <a:xfrm>
              <a:off x="196850" y="1805305"/>
              <a:ext cx="507746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5" name="直接连接符 86"/>
            <p:cNvCxnSpPr/>
            <p:nvPr/>
          </p:nvCxnSpPr>
          <p:spPr>
            <a:xfrm>
              <a:off x="196850" y="2199005"/>
              <a:ext cx="507746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6" name="直接连接符 87"/>
            <p:cNvCxnSpPr/>
            <p:nvPr/>
          </p:nvCxnSpPr>
          <p:spPr>
            <a:xfrm>
              <a:off x="190500" y="2590800"/>
              <a:ext cx="507746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7" name="矩形 80"/>
            <p:cNvSpPr/>
            <p:nvPr/>
          </p:nvSpPr>
          <p:spPr>
            <a:xfrm rot="16200000">
              <a:off x="3516630" y="1812290"/>
              <a:ext cx="1209675" cy="372745"/>
            </a:xfrm>
            <a:prstGeom prst="rect">
              <a:avLst/>
            </a:prstGeom>
          </p:spPr>
          <p:style>
            <a:lnRef idx="2">
              <a:schemeClr val="dk1"/>
            </a:lnRef>
            <a:fillRef idx="1">
              <a:schemeClr val="lt1"/>
            </a:fillRef>
            <a:effectRef idx="0">
              <a:schemeClr val="dk1"/>
            </a:effectRef>
            <a:fontRef idx="minor">
              <a:schemeClr val="dk1"/>
            </a:fontRef>
          </p:style>
        </p:sp>
        <p:sp>
          <p:nvSpPr>
            <p:cNvPr id="248" name="矩形 79"/>
            <p:cNvSpPr/>
            <p:nvPr/>
          </p:nvSpPr>
          <p:spPr>
            <a:xfrm rot="16200000">
              <a:off x="3319780" y="2025650"/>
              <a:ext cx="791210" cy="352425"/>
            </a:xfrm>
            <a:prstGeom prst="rect">
              <a:avLst/>
            </a:prstGeom>
          </p:spPr>
          <p:style>
            <a:lnRef idx="2">
              <a:schemeClr val="dk1"/>
            </a:lnRef>
            <a:fillRef idx="1">
              <a:schemeClr val="lt1"/>
            </a:fillRef>
            <a:effectRef idx="0">
              <a:schemeClr val="dk1"/>
            </a:effectRef>
            <a:fontRef idx="minor">
              <a:schemeClr val="dk1"/>
            </a:fontRef>
          </p:style>
        </p:sp>
        <p:sp>
          <p:nvSpPr>
            <p:cNvPr id="249" name="矩形 78"/>
            <p:cNvSpPr/>
            <p:nvPr/>
          </p:nvSpPr>
          <p:spPr>
            <a:xfrm rot="16200000">
              <a:off x="3644900" y="1522730"/>
              <a:ext cx="1788160" cy="367030"/>
            </a:xfrm>
            <a:prstGeom prst="rect">
              <a:avLst/>
            </a:prstGeom>
          </p:spPr>
          <p:style>
            <a:lnRef idx="2">
              <a:schemeClr val="dk1"/>
            </a:lnRef>
            <a:fillRef idx="1">
              <a:schemeClr val="lt1"/>
            </a:fillRef>
            <a:effectRef idx="0">
              <a:schemeClr val="dk1"/>
            </a:effectRef>
            <a:fontRef idx="minor">
              <a:schemeClr val="dk1"/>
            </a:fontRef>
          </p:style>
        </p:sp>
        <p:sp>
          <p:nvSpPr>
            <p:cNvPr id="250" name="矩形 77"/>
            <p:cNvSpPr/>
            <p:nvPr/>
          </p:nvSpPr>
          <p:spPr>
            <a:xfrm rot="16200000">
              <a:off x="3839845" y="1708150"/>
              <a:ext cx="2196465" cy="360045"/>
            </a:xfrm>
            <a:prstGeom prst="rect">
              <a:avLst/>
            </a:prstGeom>
          </p:spPr>
          <p:style>
            <a:lnRef idx="2">
              <a:schemeClr val="dk1"/>
            </a:lnRef>
            <a:fillRef idx="1">
              <a:schemeClr val="lt1"/>
            </a:fillRef>
            <a:effectRef idx="0">
              <a:schemeClr val="dk1"/>
            </a:effectRef>
            <a:fontRef idx="minor">
              <a:schemeClr val="dk1"/>
            </a:fontRef>
          </p:style>
        </p:sp>
        <p:sp>
          <p:nvSpPr>
            <p:cNvPr id="251" name="文本框 88"/>
            <p:cNvSpPr txBox="1"/>
            <p:nvPr/>
          </p:nvSpPr>
          <p:spPr>
            <a:xfrm>
              <a:off x="428625" y="1515745"/>
              <a:ext cx="615950" cy="26416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传输层</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52" name="文本框 89"/>
            <p:cNvSpPr txBox="1"/>
            <p:nvPr/>
          </p:nvSpPr>
          <p:spPr>
            <a:xfrm>
              <a:off x="421640" y="1113790"/>
              <a:ext cx="615950" cy="26416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应用层</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53" name="文本框 90"/>
            <p:cNvSpPr txBox="1"/>
            <p:nvPr/>
          </p:nvSpPr>
          <p:spPr>
            <a:xfrm>
              <a:off x="435610" y="1919605"/>
              <a:ext cx="615950" cy="26416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网络层</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54" name="文本框 91"/>
            <p:cNvSpPr txBox="1"/>
            <p:nvPr/>
          </p:nvSpPr>
          <p:spPr>
            <a:xfrm>
              <a:off x="190508" y="2311479"/>
              <a:ext cx="1210919" cy="26398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数据链路层层</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55" name="文本框 92"/>
            <p:cNvSpPr txBox="1"/>
            <p:nvPr/>
          </p:nvSpPr>
          <p:spPr>
            <a:xfrm>
              <a:off x="472440" y="2705100"/>
              <a:ext cx="615950" cy="26416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物理层</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56" name="文本框 93"/>
            <p:cNvSpPr txBox="1"/>
            <p:nvPr/>
          </p:nvSpPr>
          <p:spPr>
            <a:xfrm>
              <a:off x="1569936" y="436735"/>
              <a:ext cx="1250238" cy="256488"/>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36000" rIns="91440" bIns="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应用服务接口</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57" name="文本框 94"/>
            <p:cNvSpPr txBox="1"/>
            <p:nvPr/>
          </p:nvSpPr>
          <p:spPr>
            <a:xfrm>
              <a:off x="3739948" y="423514"/>
              <a:ext cx="1265685" cy="253844"/>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3600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网络管理接口</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58" name="文本框 95"/>
            <p:cNvSpPr txBox="1"/>
            <p:nvPr/>
          </p:nvSpPr>
          <p:spPr>
            <a:xfrm>
              <a:off x="1511300" y="1068705"/>
              <a:ext cx="798195" cy="25590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3600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时间同步</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59" name="文本框 96"/>
            <p:cNvSpPr txBox="1"/>
            <p:nvPr/>
          </p:nvSpPr>
          <p:spPr>
            <a:xfrm>
              <a:off x="2554605" y="1076960"/>
              <a:ext cx="488315" cy="25590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3600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定位</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60" name="文本框 97"/>
            <p:cNvSpPr txBox="1"/>
            <p:nvPr/>
          </p:nvSpPr>
          <p:spPr>
            <a:xfrm>
              <a:off x="1695381" y="2664481"/>
              <a:ext cx="1347598" cy="256048"/>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3600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声、光、电、磁</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61" name="文本框 98"/>
            <p:cNvSpPr txBox="1"/>
            <p:nvPr/>
          </p:nvSpPr>
          <p:spPr>
            <a:xfrm>
              <a:off x="1971040" y="2272030"/>
              <a:ext cx="628015" cy="25590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3600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MAC</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62" name="文本框 99"/>
            <p:cNvSpPr txBox="1"/>
            <p:nvPr/>
          </p:nvSpPr>
          <p:spPr>
            <a:xfrm>
              <a:off x="1948180" y="1882775"/>
              <a:ext cx="798195" cy="25590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3600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路由</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63" name="文本框 100"/>
            <p:cNvSpPr txBox="1"/>
            <p:nvPr/>
          </p:nvSpPr>
          <p:spPr>
            <a:xfrm>
              <a:off x="1838960" y="1489710"/>
              <a:ext cx="798195" cy="260985"/>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3600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传输控制</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64" name="文本框 104"/>
            <p:cNvSpPr txBox="1"/>
            <p:nvPr/>
          </p:nvSpPr>
          <p:spPr>
            <a:xfrm>
              <a:off x="3546475" y="1891030"/>
              <a:ext cx="339090" cy="65913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eaVert" wrap="square" lIns="36000" tIns="45720" rIns="3600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拓扑控制</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65" name="文本框 105"/>
            <p:cNvSpPr txBox="1"/>
            <p:nvPr/>
          </p:nvSpPr>
          <p:spPr>
            <a:xfrm>
              <a:off x="3952240" y="1640205"/>
              <a:ext cx="344805" cy="65913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eaVert" wrap="square" lIns="36000" tIns="45720" rIns="3600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服务质量</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66" name="文本框 106"/>
            <p:cNvSpPr txBox="1"/>
            <p:nvPr/>
          </p:nvSpPr>
          <p:spPr>
            <a:xfrm>
              <a:off x="4364355" y="1036955"/>
              <a:ext cx="339090" cy="1408430"/>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eaVert" wrap="square" lIns="36000" tIns="45720" rIns="3600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安全 \ 移动 \ 能量</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67" name="文本框 107"/>
            <p:cNvSpPr txBox="1"/>
            <p:nvPr/>
          </p:nvSpPr>
          <p:spPr>
            <a:xfrm>
              <a:off x="4770657" y="1430517"/>
              <a:ext cx="345910" cy="1046666"/>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eaVert" wrap="square" lIns="36000" tIns="45720" rIns="3600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网络管理</a:t>
              </a:r>
              <a:r>
                <a:rPr lang="zh-CN" altLang="en-US" sz="1600" b="1" kern="100">
                  <a:latin typeface="Times New Roman" panose="02020603050405020304"/>
                  <a:ea typeface="宋体" panose="02010600030101010101" pitchFamily="2" charset="-122"/>
                  <a:cs typeface="Times New Roman" panose="02020603050405020304"/>
                  <a:sym typeface="Times New Roman" panose="02020603050405020304"/>
                </a:rPr>
                <a:t>平台</a:t>
              </a:r>
              <a:endParaRPr lang="zh-CN" altLang="en-US"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68" name="文本框 108"/>
            <p:cNvSpPr txBox="1"/>
            <p:nvPr/>
          </p:nvSpPr>
          <p:spPr>
            <a:xfrm>
              <a:off x="2554305" y="59054"/>
              <a:ext cx="1231983" cy="256488"/>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rPr>
                <a:t>应用支撑平台</a:t>
              </a:r>
              <a:endParaRPr lang="en-US" altLang="zh-CN" sz="1600" b="1"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sp>
        <p:nvSpPr>
          <p:cNvPr id="5" name="文本框 4"/>
          <p:cNvSpPr txBox="1"/>
          <p:nvPr/>
        </p:nvSpPr>
        <p:spPr>
          <a:xfrm>
            <a:off x="1800860" y="1266825"/>
            <a:ext cx="5556250" cy="521970"/>
          </a:xfrm>
          <a:prstGeom prst="rect">
            <a:avLst/>
          </a:prstGeom>
          <a:noFill/>
          <a:ln w="9525">
            <a:noFill/>
          </a:ln>
        </p:spPr>
        <p:txBody>
          <a:bodyPr wrap="square">
            <a:spAutoFit/>
          </a:bodyPr>
          <a:p>
            <a:pPr indent="0"/>
            <a:r>
              <a:rPr lang="en-US" altLang="zh-CN" sz="2800" b="1">
                <a:solidFill>
                  <a:srgbClr val="000000"/>
                </a:solidFill>
                <a:cs typeface="Times New Roman" panose="02020603050405020304" charset="0"/>
              </a:rPr>
              <a:t>2.4.2</a:t>
            </a:r>
            <a:r>
              <a:rPr sz="2800" b="1">
                <a:solidFill>
                  <a:srgbClr val="000000"/>
                </a:solidFill>
                <a:cs typeface="Times New Roman" panose="02020603050405020304" charset="0"/>
              </a:rPr>
              <a:t>  </a:t>
            </a:r>
            <a:r>
              <a:rPr lang="en-US" sz="2800" b="1">
                <a:solidFill>
                  <a:srgbClr val="000000"/>
                </a:solidFill>
                <a:cs typeface="Times New Roman" panose="02020603050405020304" charset="0"/>
              </a:rPr>
              <a:t>WSN</a:t>
            </a:r>
            <a:r>
              <a:rPr sz="2800" b="1">
                <a:solidFill>
                  <a:srgbClr val="000000"/>
                </a:solidFill>
                <a:cs typeface="Times New Roman" panose="02020603050405020304" charset="0"/>
              </a:rPr>
              <a:t>协议</a:t>
            </a:r>
            <a:r>
              <a:rPr lang="zh-CN" sz="2800" b="1">
                <a:solidFill>
                  <a:srgbClr val="000000"/>
                </a:solidFill>
                <a:cs typeface="Times New Roman" panose="02020603050405020304" charset="0"/>
              </a:rPr>
              <a:t>的分层结构</a:t>
            </a:r>
            <a:endParaRPr lang="zh-CN" sz="2800" b="1">
              <a:solidFill>
                <a:srgbClr val="000000"/>
              </a:solidFill>
              <a:cs typeface="Times New Roman" panose="02020603050405020304" charset="0"/>
            </a:endParaRPr>
          </a:p>
        </p:txBody>
      </p:sp>
      <p:sp>
        <p:nvSpPr>
          <p:cNvPr id="6" name="文本框 5"/>
          <p:cNvSpPr txBox="1"/>
          <p:nvPr/>
        </p:nvSpPr>
        <p:spPr>
          <a:xfrm>
            <a:off x="502920" y="2277745"/>
            <a:ext cx="3406140" cy="2676525"/>
          </a:xfrm>
          <a:prstGeom prst="rect">
            <a:avLst/>
          </a:prstGeom>
          <a:noFill/>
          <a:ln w="9525">
            <a:noFill/>
          </a:ln>
        </p:spPr>
        <p:txBody>
          <a:bodyPr wrap="square">
            <a:spAutoFit/>
          </a:bodyPr>
          <a:p>
            <a:pPr indent="0"/>
            <a:r>
              <a:rPr lang="en-US" altLang="zh-CN" sz="2800" b="1">
                <a:latin typeface="等线" panose="02010600030101010101" charset="-122"/>
                <a:ea typeface="等线" panose="02010600030101010101" charset="-122"/>
                <a:cs typeface="等线" panose="02010600030101010101" charset="-122"/>
              </a:rPr>
              <a:t>       </a:t>
            </a:r>
            <a:r>
              <a:rPr lang="en-US" sz="2800" b="1">
                <a:latin typeface="等线" panose="02010600030101010101" charset="-122"/>
                <a:ea typeface="等线" panose="02010600030101010101" charset="-122"/>
                <a:cs typeface="等线" panose="02010600030101010101" charset="-122"/>
              </a:rPr>
              <a:t>无线传感器网络的体系结构由</a:t>
            </a:r>
            <a:r>
              <a:rPr lang="en-US" sz="2800" b="1">
                <a:solidFill>
                  <a:srgbClr val="FF0000"/>
                </a:solidFill>
                <a:latin typeface="等线" panose="02010600030101010101" charset="-122"/>
                <a:ea typeface="等线" panose="02010600030101010101" charset="-122"/>
                <a:cs typeface="等线" panose="02010600030101010101" charset="-122"/>
              </a:rPr>
              <a:t>分层的网络通信协议、网络管理平台</a:t>
            </a:r>
            <a:r>
              <a:rPr lang="zh-CN" sz="2800" b="1">
                <a:latin typeface="等线" panose="02010600030101010101" charset="-122"/>
                <a:ea typeface="等线" panose="02010600030101010101" charset="-122"/>
                <a:cs typeface="等线" panose="02010600030101010101" charset="-122"/>
              </a:rPr>
              <a:t>以及应用支撑平台</a:t>
            </a:r>
            <a:r>
              <a:rPr lang="en-US" sz="2800" b="1">
                <a:latin typeface="等线" panose="02010600030101010101" charset="-122"/>
                <a:ea typeface="等线" panose="02010600030101010101" charset="-122"/>
                <a:cs typeface="等线" panose="02010600030101010101" charset="-122"/>
              </a:rPr>
              <a:t>3</a:t>
            </a:r>
            <a:r>
              <a:rPr lang="zh-CN" sz="2800" b="1">
                <a:latin typeface="等线" panose="02010600030101010101" charset="-122"/>
                <a:ea typeface="等线" panose="02010600030101010101" charset="-122"/>
                <a:cs typeface="等线" panose="02010600030101010101" charset="-122"/>
              </a:rPr>
              <a:t>部分组成，如图</a:t>
            </a:r>
            <a:r>
              <a:rPr lang="en-US" sz="2800" b="1">
                <a:latin typeface="等线" panose="02010600030101010101" charset="-122"/>
                <a:ea typeface="等线" panose="02010600030101010101" charset="-122"/>
                <a:cs typeface="等线" panose="02010600030101010101" charset="-122"/>
              </a:rPr>
              <a:t>2-4-3</a:t>
            </a:r>
            <a:r>
              <a:rPr lang="zh-CN" sz="2800" b="1">
                <a:latin typeface="等线" panose="02010600030101010101" charset="-122"/>
                <a:ea typeface="等线" panose="02010600030101010101" charset="-122"/>
                <a:cs typeface="等线" panose="02010600030101010101" charset="-122"/>
              </a:rPr>
              <a:t>所示。</a:t>
            </a:r>
            <a:endParaRPr lang="zh-CN" altLang="en-US" sz="2800" b="1">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2685415"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2.4  </a:t>
            </a:r>
            <a:r>
              <a:rPr lang="zh-CN" b="1">
                <a:uFillTx/>
                <a:ea typeface="宋体" panose="02010600030101010101" pitchFamily="2" charset="-122"/>
                <a:sym typeface="+mn-ea"/>
                <a:hlinkClick r:id="rId1"/>
              </a:rPr>
              <a:t>协议体系结构</a:t>
            </a:r>
            <a:endParaRPr lang="zh-CN" altLang="en-US"/>
          </a:p>
        </p:txBody>
      </p:sp>
      <p:sp>
        <p:nvSpPr>
          <p:cNvPr id="5" name="文本框 4"/>
          <p:cNvSpPr txBox="1"/>
          <p:nvPr/>
        </p:nvSpPr>
        <p:spPr>
          <a:xfrm>
            <a:off x="1800860" y="1266825"/>
            <a:ext cx="5556250" cy="521970"/>
          </a:xfrm>
          <a:prstGeom prst="rect">
            <a:avLst/>
          </a:prstGeom>
          <a:noFill/>
          <a:ln w="9525">
            <a:noFill/>
          </a:ln>
        </p:spPr>
        <p:txBody>
          <a:bodyPr wrap="square">
            <a:spAutoFit/>
          </a:bodyPr>
          <a:p>
            <a:pPr indent="0"/>
            <a:r>
              <a:rPr lang="en-US" altLang="zh-CN" sz="2800" b="1">
                <a:solidFill>
                  <a:srgbClr val="000000"/>
                </a:solidFill>
                <a:cs typeface="Times New Roman" panose="02020603050405020304" charset="0"/>
              </a:rPr>
              <a:t>2.4.2</a:t>
            </a:r>
            <a:r>
              <a:rPr sz="2800" b="1">
                <a:solidFill>
                  <a:srgbClr val="000000"/>
                </a:solidFill>
                <a:cs typeface="Times New Roman" panose="02020603050405020304" charset="0"/>
              </a:rPr>
              <a:t>  </a:t>
            </a:r>
            <a:r>
              <a:rPr lang="en-US" sz="2800" b="1">
                <a:solidFill>
                  <a:srgbClr val="000000"/>
                </a:solidFill>
                <a:cs typeface="Times New Roman" panose="02020603050405020304" charset="0"/>
              </a:rPr>
              <a:t>WSN</a:t>
            </a:r>
            <a:r>
              <a:rPr sz="2800" b="1">
                <a:solidFill>
                  <a:srgbClr val="000000"/>
                </a:solidFill>
                <a:cs typeface="Times New Roman" panose="02020603050405020304" charset="0"/>
              </a:rPr>
              <a:t>协议</a:t>
            </a:r>
            <a:r>
              <a:rPr lang="zh-CN" sz="2800" b="1">
                <a:solidFill>
                  <a:srgbClr val="000000"/>
                </a:solidFill>
                <a:cs typeface="Times New Roman" panose="02020603050405020304" charset="0"/>
              </a:rPr>
              <a:t>的分层结构</a:t>
            </a:r>
            <a:endParaRPr lang="zh-CN" sz="2800" b="1">
              <a:solidFill>
                <a:srgbClr val="000000"/>
              </a:solidFill>
              <a:cs typeface="Times New Roman" panose="02020603050405020304" charset="0"/>
            </a:endParaRPr>
          </a:p>
        </p:txBody>
      </p:sp>
      <p:sp>
        <p:nvSpPr>
          <p:cNvPr id="6" name="文本框 5"/>
          <p:cNvSpPr txBox="1"/>
          <p:nvPr/>
        </p:nvSpPr>
        <p:spPr>
          <a:xfrm>
            <a:off x="234315" y="1971675"/>
            <a:ext cx="11724005" cy="4492625"/>
          </a:xfrm>
          <a:prstGeom prst="rect">
            <a:avLst/>
          </a:prstGeom>
          <a:noFill/>
          <a:ln w="9525">
            <a:noFill/>
          </a:ln>
        </p:spPr>
        <p:txBody>
          <a:bodyPr wrap="square">
            <a:spAutoFit/>
          </a:bodyPr>
          <a:p>
            <a:pPr indent="0"/>
            <a:r>
              <a:rPr lang="en-US" altLang="zh-CN" sz="2200" b="1">
                <a:latin typeface="等线" panose="02010600030101010101" charset="-122"/>
                <a:ea typeface="等线" panose="02010600030101010101" charset="-122"/>
                <a:cs typeface="等线" panose="02010600030101010101" charset="-122"/>
              </a:rPr>
              <a:t>       </a:t>
            </a:r>
            <a:r>
              <a:rPr sz="2200" b="1">
                <a:latin typeface="等线" panose="02010600030101010101" charset="-122"/>
                <a:ea typeface="等线" panose="02010600030101010101" charset="-122"/>
                <a:cs typeface="等线" panose="02010600030101010101" charset="-122"/>
              </a:rPr>
              <a:t>1.</a:t>
            </a:r>
            <a:r>
              <a:rPr sz="2200" b="1">
                <a:solidFill>
                  <a:srgbClr val="FF0000"/>
                </a:solidFill>
                <a:latin typeface="等线" panose="02010600030101010101" charset="-122"/>
                <a:ea typeface="等线" panose="02010600030101010101" charset="-122"/>
                <a:cs typeface="等线" panose="02010600030101010101" charset="-122"/>
              </a:rPr>
              <a:t>分层的网络通信协议</a:t>
            </a:r>
            <a:endParaRPr sz="2200" b="1">
              <a:latin typeface="等线" panose="02010600030101010101" charset="-122"/>
              <a:ea typeface="等线" panose="02010600030101010101" charset="-122"/>
              <a:cs typeface="等线" panose="02010600030101010101" charset="-122"/>
            </a:endParaRPr>
          </a:p>
          <a:p>
            <a:pPr indent="0"/>
            <a:r>
              <a:rPr lang="en-US" sz="2200" b="1">
                <a:latin typeface="等线" panose="02010600030101010101" charset="-122"/>
                <a:ea typeface="等线" panose="02010600030101010101" charset="-122"/>
                <a:cs typeface="等线" panose="02010600030101010101" charset="-122"/>
              </a:rPr>
              <a:t>      </a:t>
            </a:r>
            <a:r>
              <a:rPr sz="2200" b="1">
                <a:latin typeface="等线" panose="02010600030101010101" charset="-122"/>
                <a:ea typeface="等线" panose="02010600030101010101" charset="-122"/>
                <a:cs typeface="等线" panose="02010600030101010101" charset="-122"/>
              </a:rPr>
              <a:t>分层的网络通信协议类似于传统Internet中的TCP/IP体系，它由物理层、数据链路层、网络层、传输层和应用层组成。</a:t>
            </a:r>
            <a:endParaRPr sz="2200" b="1">
              <a:latin typeface="等线" panose="02010600030101010101" charset="-122"/>
              <a:ea typeface="等线" panose="02010600030101010101" charset="-122"/>
              <a:cs typeface="等线" panose="02010600030101010101" charset="-122"/>
            </a:endParaRPr>
          </a:p>
          <a:p>
            <a:pPr indent="0"/>
            <a:r>
              <a:rPr sz="2200" b="1">
                <a:latin typeface="等线" panose="02010600030101010101" charset="-122"/>
                <a:ea typeface="等线" panose="02010600030101010101" charset="-122"/>
                <a:cs typeface="等线" panose="02010600030101010101" charset="-122"/>
              </a:rPr>
              <a:t>（1）物理层：负责信号的调制和数据的收发，所采用的传输介质有无线电、红外线和光波等。</a:t>
            </a:r>
            <a:endParaRPr sz="2200" b="1">
              <a:latin typeface="等线" panose="02010600030101010101" charset="-122"/>
              <a:ea typeface="等线" panose="02010600030101010101" charset="-122"/>
              <a:cs typeface="等线" panose="02010600030101010101" charset="-122"/>
            </a:endParaRPr>
          </a:p>
          <a:p>
            <a:pPr indent="0"/>
            <a:r>
              <a:rPr sz="2200" b="1">
                <a:latin typeface="等线" panose="02010600030101010101" charset="-122"/>
                <a:ea typeface="等线" panose="02010600030101010101" charset="-122"/>
                <a:cs typeface="等线" panose="02010600030101010101" charset="-122"/>
              </a:rPr>
              <a:t>（2）数据链路层：负责数据成帧、帧检测、介质访问和差错控制。其中，介质访问协议（MAC协议）保证可靠的点对点和点对多点通信，差错控制则保证源节点发出的信息可以完整无误地到达目标节点。</a:t>
            </a:r>
            <a:endParaRPr sz="2200" b="1">
              <a:latin typeface="等线" panose="02010600030101010101" charset="-122"/>
              <a:ea typeface="等线" panose="02010600030101010101" charset="-122"/>
              <a:cs typeface="等线" panose="02010600030101010101" charset="-122"/>
            </a:endParaRPr>
          </a:p>
          <a:p>
            <a:pPr indent="0"/>
            <a:r>
              <a:rPr sz="2200" b="1">
                <a:latin typeface="等线" panose="02010600030101010101" charset="-122"/>
                <a:ea typeface="等线" panose="02010600030101010101" charset="-122"/>
                <a:cs typeface="等线" panose="02010600030101010101" charset="-122"/>
              </a:rPr>
              <a:t>（3）网络层：负责路由发现和维护。通常，大多数节点无法直接和网关通信，需要中间节点通过多跳路由的方式将数据传送至汇聚节点。</a:t>
            </a:r>
            <a:endParaRPr sz="2200" b="1">
              <a:latin typeface="等线" panose="02010600030101010101" charset="-122"/>
              <a:ea typeface="等线" panose="02010600030101010101" charset="-122"/>
              <a:cs typeface="等线" panose="02010600030101010101" charset="-122"/>
            </a:endParaRPr>
          </a:p>
          <a:p>
            <a:pPr indent="0"/>
            <a:r>
              <a:rPr sz="2200" b="1">
                <a:latin typeface="等线" panose="02010600030101010101" charset="-122"/>
                <a:ea typeface="等线" panose="02010600030101010101" charset="-122"/>
                <a:cs typeface="等线" panose="02010600030101010101" charset="-122"/>
              </a:rPr>
              <a:t>（4）传输层：负责数据流的传输控制，主要通过汇聚节点采集传感器节点中的数据信息，并使用卫星、移动通信网络、Internet或者其他的链路与外部网络通信。</a:t>
            </a:r>
            <a:endParaRPr sz="2200" b="1">
              <a:latin typeface="等线" panose="02010600030101010101" charset="-122"/>
              <a:ea typeface="等线" panose="02010600030101010101" charset="-122"/>
              <a:cs typeface="等线" panose="02010600030101010101" charset="-122"/>
            </a:endParaRPr>
          </a:p>
          <a:p>
            <a:pPr indent="0"/>
            <a:r>
              <a:rPr sz="2200" b="1">
                <a:latin typeface="等线" panose="02010600030101010101" charset="-122"/>
                <a:ea typeface="等线" panose="02010600030101010101" charset="-122"/>
                <a:cs typeface="等线" panose="02010600030101010101" charset="-122"/>
              </a:rPr>
              <a:t>（5）应用层：负责使用通信和组网技术向应用系统提供服务。该层对上层屏蔽底层网络细节，使用户可以方便地对无线传感器网络进行操作。其主要研究内容包括时间同步和定位等。</a:t>
            </a:r>
            <a:endParaRPr sz="2200" b="1">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2827020" y="0"/>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2.4  </a:t>
            </a:r>
            <a:r>
              <a:rPr lang="zh-CN" b="1">
                <a:uFillTx/>
                <a:ea typeface="宋体" panose="02010600030101010101" pitchFamily="2" charset="-122"/>
                <a:sym typeface="+mn-ea"/>
                <a:hlinkClick r:id="rId1"/>
              </a:rPr>
              <a:t>协议体系结构</a:t>
            </a:r>
            <a:endParaRPr lang="zh-CN" altLang="en-US"/>
          </a:p>
        </p:txBody>
      </p:sp>
      <p:sp>
        <p:nvSpPr>
          <p:cNvPr id="5" name="文本框 4"/>
          <p:cNvSpPr txBox="1"/>
          <p:nvPr/>
        </p:nvSpPr>
        <p:spPr>
          <a:xfrm>
            <a:off x="2075180" y="972820"/>
            <a:ext cx="5556250" cy="521970"/>
          </a:xfrm>
          <a:prstGeom prst="rect">
            <a:avLst/>
          </a:prstGeom>
          <a:noFill/>
          <a:ln w="9525">
            <a:noFill/>
          </a:ln>
        </p:spPr>
        <p:txBody>
          <a:bodyPr wrap="square">
            <a:spAutoFit/>
          </a:bodyPr>
          <a:p>
            <a:pPr indent="0"/>
            <a:r>
              <a:rPr lang="en-US" altLang="zh-CN" sz="2800" b="1">
                <a:solidFill>
                  <a:srgbClr val="000000"/>
                </a:solidFill>
                <a:cs typeface="Times New Roman" panose="02020603050405020304" charset="0"/>
              </a:rPr>
              <a:t>2.4.2</a:t>
            </a:r>
            <a:r>
              <a:rPr sz="2800" b="1">
                <a:solidFill>
                  <a:srgbClr val="000000"/>
                </a:solidFill>
                <a:cs typeface="Times New Roman" panose="02020603050405020304" charset="0"/>
              </a:rPr>
              <a:t>  </a:t>
            </a:r>
            <a:r>
              <a:rPr lang="en-US" sz="2800" b="1">
                <a:solidFill>
                  <a:srgbClr val="000000"/>
                </a:solidFill>
                <a:cs typeface="Times New Roman" panose="02020603050405020304" charset="0"/>
              </a:rPr>
              <a:t>WSN</a:t>
            </a:r>
            <a:r>
              <a:rPr sz="2800" b="1">
                <a:solidFill>
                  <a:srgbClr val="000000"/>
                </a:solidFill>
                <a:cs typeface="Times New Roman" panose="02020603050405020304" charset="0"/>
              </a:rPr>
              <a:t>协议</a:t>
            </a:r>
            <a:r>
              <a:rPr lang="zh-CN" sz="2800" b="1">
                <a:solidFill>
                  <a:srgbClr val="000000"/>
                </a:solidFill>
                <a:cs typeface="Times New Roman" panose="02020603050405020304" charset="0"/>
              </a:rPr>
              <a:t>的分层结构</a:t>
            </a:r>
            <a:endParaRPr lang="zh-CN" sz="2800" b="1">
              <a:solidFill>
                <a:srgbClr val="000000"/>
              </a:solidFill>
              <a:cs typeface="Times New Roman" panose="02020603050405020304" charset="0"/>
            </a:endParaRPr>
          </a:p>
        </p:txBody>
      </p:sp>
      <p:sp>
        <p:nvSpPr>
          <p:cNvPr id="6" name="文本框 5"/>
          <p:cNvSpPr txBox="1"/>
          <p:nvPr/>
        </p:nvSpPr>
        <p:spPr>
          <a:xfrm>
            <a:off x="234315" y="1565910"/>
            <a:ext cx="11724005" cy="5354320"/>
          </a:xfrm>
          <a:prstGeom prst="rect">
            <a:avLst/>
          </a:prstGeom>
          <a:noFill/>
          <a:ln w="9525">
            <a:noFill/>
          </a:ln>
        </p:spPr>
        <p:txBody>
          <a:bodyPr wrap="square">
            <a:spAutoFit/>
          </a:bodyPr>
          <a:p>
            <a:pPr indent="0"/>
            <a:r>
              <a:rPr lang="en-US" sz="1900" b="1">
                <a:latin typeface="等线" panose="02010600030101010101" charset="-122"/>
                <a:ea typeface="等线" panose="02010600030101010101" charset="-122"/>
                <a:cs typeface="等线" panose="02010600030101010101" charset="-122"/>
              </a:rPr>
              <a:t>        </a:t>
            </a:r>
            <a:r>
              <a:rPr sz="1900" b="1">
                <a:latin typeface="等线" panose="02010600030101010101" charset="-122"/>
                <a:ea typeface="等线" panose="02010600030101010101" charset="-122"/>
                <a:cs typeface="等线" panose="02010600030101010101" charset="-122"/>
              </a:rPr>
              <a:t>2.</a:t>
            </a:r>
            <a:r>
              <a:rPr sz="1900" b="1">
                <a:solidFill>
                  <a:srgbClr val="FF0000"/>
                </a:solidFill>
                <a:latin typeface="等线" panose="02010600030101010101" charset="-122"/>
                <a:ea typeface="等线" panose="02010600030101010101" charset="-122"/>
                <a:cs typeface="等线" panose="02010600030101010101" charset="-122"/>
              </a:rPr>
              <a:t>网络管理平台</a:t>
            </a:r>
            <a:endParaRPr sz="1900" b="1">
              <a:latin typeface="等线" panose="02010600030101010101" charset="-122"/>
              <a:ea typeface="等线" panose="02010600030101010101" charset="-122"/>
              <a:cs typeface="等线" panose="02010600030101010101" charset="-122"/>
            </a:endParaRPr>
          </a:p>
          <a:p>
            <a:pPr indent="0"/>
            <a:r>
              <a:rPr lang="en-US" sz="1900" b="1">
                <a:latin typeface="等线" panose="02010600030101010101" charset="-122"/>
                <a:ea typeface="等线" panose="02010600030101010101" charset="-122"/>
                <a:cs typeface="等线" panose="02010600030101010101" charset="-122"/>
              </a:rPr>
              <a:t>        </a:t>
            </a:r>
            <a:r>
              <a:rPr sz="1900" b="1">
                <a:latin typeface="等线" panose="02010600030101010101" charset="-122"/>
                <a:ea typeface="等线" panose="02010600030101010101" charset="-122"/>
                <a:cs typeface="等线" panose="02010600030101010101" charset="-122"/>
              </a:rPr>
              <a:t>网络管理平台主要进行对传感器节点自身的管理以及用户对传感器网络的管理。它包括拓扑控制、服务质量管理、能量管理、安全管理、移动管理和网络管理等。</a:t>
            </a:r>
            <a:endParaRPr sz="1900" b="1">
              <a:latin typeface="等线" panose="02010600030101010101" charset="-122"/>
              <a:ea typeface="等线" panose="02010600030101010101" charset="-122"/>
              <a:cs typeface="等线" panose="02010600030101010101" charset="-122"/>
            </a:endParaRPr>
          </a:p>
          <a:p>
            <a:pPr indent="0"/>
            <a:r>
              <a:rPr sz="1900" b="1">
                <a:latin typeface="等线" panose="02010600030101010101" charset="-122"/>
                <a:ea typeface="等线" panose="02010600030101010101" charset="-122"/>
                <a:cs typeface="等线" panose="02010600030101010101" charset="-122"/>
              </a:rPr>
              <a:t>（1）拓扑控制。为了节约能源，传感器节点会在某些时刻进入休眠状态，这导致网络拓扑结构不断变化，因而需要通过拓扑控制技术管理各节点状态的转换，使网络保持畅通，数据能够有效传输。拓扑控制利用链路层、路由层完成拓扑生成，反过来又为它们提供基础信息支持，优化MAC协议和路由协议，降低能耗。</a:t>
            </a:r>
            <a:endParaRPr sz="1900" b="1">
              <a:latin typeface="等线" panose="02010600030101010101" charset="-122"/>
              <a:ea typeface="等线" panose="02010600030101010101" charset="-122"/>
              <a:cs typeface="等线" panose="02010600030101010101" charset="-122"/>
            </a:endParaRPr>
          </a:p>
          <a:p>
            <a:pPr indent="0"/>
            <a:r>
              <a:rPr sz="1900" b="1">
                <a:latin typeface="等线" panose="02010600030101010101" charset="-122"/>
                <a:ea typeface="等线" panose="02010600030101010101" charset="-122"/>
                <a:cs typeface="等线" panose="02010600030101010101" charset="-122"/>
              </a:rPr>
              <a:t>（2）服务质量（QoS）管理。在各协议层设计队列管理、优先级机制或者带预留等机制，并对特定应用的数据进行特别处理。它是网络与用户之间以及网络上互相通信的用户之间关于信息传输与共享的质量约定。为满足用户的要求，无线传感器网络必须能够为用户提供足够的资源。</a:t>
            </a:r>
            <a:endParaRPr sz="1900" b="1">
              <a:latin typeface="等线" panose="02010600030101010101" charset="-122"/>
              <a:ea typeface="等线" panose="02010600030101010101" charset="-122"/>
              <a:cs typeface="等线" panose="02010600030101010101" charset="-122"/>
            </a:endParaRPr>
          </a:p>
          <a:p>
            <a:pPr indent="0"/>
            <a:r>
              <a:rPr sz="1900" b="1">
                <a:latin typeface="等线" panose="02010600030101010101" charset="-122"/>
                <a:ea typeface="等线" panose="02010600030101010101" charset="-122"/>
                <a:cs typeface="等线" panose="02010600030101010101" charset="-122"/>
              </a:rPr>
              <a:t>（3）能量管理。在无线传感器网络中，电源能量是各个节点最宝贵的资源。为了使无线传感器网络的使用时间尽可能地长，需要合理、有效地控制节点对能量的使用。每个协议层中都要增加能量控制代码，并提供给操作系统进行能量分配决策。</a:t>
            </a:r>
            <a:endParaRPr sz="1900" b="1">
              <a:latin typeface="等线" panose="02010600030101010101" charset="-122"/>
              <a:ea typeface="等线" panose="02010600030101010101" charset="-122"/>
              <a:cs typeface="等线" panose="02010600030101010101" charset="-122"/>
            </a:endParaRPr>
          </a:p>
          <a:p>
            <a:pPr indent="0"/>
            <a:r>
              <a:rPr sz="1900" b="1">
                <a:latin typeface="等线" panose="02010600030101010101" charset="-122"/>
                <a:ea typeface="等线" panose="02010600030101010101" charset="-122"/>
                <a:cs typeface="等线" panose="02010600030101010101" charset="-122"/>
              </a:rPr>
              <a:t>（4）安全管理。由于节点随机部署、网络拓扑的动态性以及无线信道的不稳定，传统的安全机制无法在无线传感器网络中使用，因此需要设计新型的网络安全机制，这需要采用扩频通信、接入认证、鉴权、数字水印和数据加密等技术。</a:t>
            </a:r>
            <a:endParaRPr sz="1900" b="1">
              <a:latin typeface="等线" panose="02010600030101010101" charset="-122"/>
              <a:ea typeface="等线" panose="02010600030101010101" charset="-122"/>
              <a:cs typeface="等线" panose="02010600030101010101" charset="-122"/>
            </a:endParaRPr>
          </a:p>
          <a:p>
            <a:pPr indent="0"/>
            <a:r>
              <a:rPr sz="1900" b="1">
                <a:latin typeface="等线" panose="02010600030101010101" charset="-122"/>
                <a:ea typeface="等线" panose="02010600030101010101" charset="-122"/>
                <a:cs typeface="等线" panose="02010600030101010101" charset="-122"/>
              </a:rPr>
              <a:t>（5）移动管理。用来检测和控制节点的移动，维护到汇聚节点的路由，还可以使传感器节点跟踪其邻居节点。</a:t>
            </a:r>
            <a:endParaRPr sz="1900" b="1">
              <a:latin typeface="等线" panose="02010600030101010101" charset="-122"/>
              <a:ea typeface="等线" panose="02010600030101010101" charset="-122"/>
              <a:cs typeface="等线" panose="02010600030101010101" charset="-122"/>
            </a:endParaRPr>
          </a:p>
          <a:p>
            <a:pPr indent="0"/>
            <a:r>
              <a:rPr sz="1900" b="1">
                <a:latin typeface="等线" panose="02010600030101010101" charset="-122"/>
                <a:ea typeface="等线" panose="02010600030101010101" charset="-122"/>
                <a:cs typeface="等线" panose="02010600030101010101" charset="-122"/>
              </a:rPr>
              <a:t>（6）网络管理。是对网络上的设备及传输系统进行有效监视、控制、诊断和测试所采用的技术和方法，它要求各层协议嵌入各类信息接口，并定时收集协议运行状态和流量信息，协调控制网络中各个协议组件的运行。</a:t>
            </a:r>
            <a:endParaRPr sz="1900" b="1">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2685415" y="182245"/>
            <a:ext cx="8893175"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uFillTx/>
                <a:latin typeface="Times New Roman" panose="02020603050405020304" charset="0"/>
                <a:ea typeface="宋体" panose="02010600030101010101" pitchFamily="2" charset="-122"/>
                <a:sym typeface="+mn-ea"/>
                <a:hlinkClick r:id="rId1"/>
              </a:rPr>
              <a:t>2.4  </a:t>
            </a:r>
            <a:r>
              <a:rPr lang="zh-CN" b="1">
                <a:uFillTx/>
                <a:ea typeface="宋体" panose="02010600030101010101" pitchFamily="2" charset="-122"/>
                <a:sym typeface="+mn-ea"/>
                <a:hlinkClick r:id="rId1"/>
              </a:rPr>
              <a:t>协议体系结构</a:t>
            </a:r>
            <a:endParaRPr lang="zh-CN" altLang="en-US"/>
          </a:p>
        </p:txBody>
      </p:sp>
      <p:sp>
        <p:nvSpPr>
          <p:cNvPr id="5" name="文本框 4"/>
          <p:cNvSpPr txBox="1"/>
          <p:nvPr/>
        </p:nvSpPr>
        <p:spPr>
          <a:xfrm>
            <a:off x="1800860" y="1266825"/>
            <a:ext cx="5556250" cy="521970"/>
          </a:xfrm>
          <a:prstGeom prst="rect">
            <a:avLst/>
          </a:prstGeom>
          <a:noFill/>
          <a:ln w="9525">
            <a:noFill/>
          </a:ln>
        </p:spPr>
        <p:txBody>
          <a:bodyPr wrap="square">
            <a:spAutoFit/>
          </a:bodyPr>
          <a:p>
            <a:pPr indent="0"/>
            <a:r>
              <a:rPr lang="en-US" altLang="zh-CN" sz="2800" b="1">
                <a:solidFill>
                  <a:srgbClr val="000000"/>
                </a:solidFill>
                <a:cs typeface="Times New Roman" panose="02020603050405020304" charset="0"/>
              </a:rPr>
              <a:t>2.4.2</a:t>
            </a:r>
            <a:r>
              <a:rPr sz="2800" b="1">
                <a:solidFill>
                  <a:srgbClr val="000000"/>
                </a:solidFill>
                <a:cs typeface="Times New Roman" panose="02020603050405020304" charset="0"/>
              </a:rPr>
              <a:t>  </a:t>
            </a:r>
            <a:r>
              <a:rPr lang="en-US" sz="2800" b="1">
                <a:solidFill>
                  <a:srgbClr val="000000"/>
                </a:solidFill>
                <a:cs typeface="Times New Roman" panose="02020603050405020304" charset="0"/>
              </a:rPr>
              <a:t>WSN</a:t>
            </a:r>
            <a:r>
              <a:rPr sz="2800" b="1">
                <a:solidFill>
                  <a:srgbClr val="000000"/>
                </a:solidFill>
                <a:cs typeface="Times New Roman" panose="02020603050405020304" charset="0"/>
              </a:rPr>
              <a:t>协议</a:t>
            </a:r>
            <a:r>
              <a:rPr lang="zh-CN" sz="2800" b="1">
                <a:solidFill>
                  <a:srgbClr val="000000"/>
                </a:solidFill>
                <a:cs typeface="Times New Roman" panose="02020603050405020304" charset="0"/>
              </a:rPr>
              <a:t>的分层结构</a:t>
            </a:r>
            <a:endParaRPr lang="zh-CN" sz="2800" b="1">
              <a:solidFill>
                <a:srgbClr val="000000"/>
              </a:solidFill>
              <a:cs typeface="Times New Roman" panose="02020603050405020304" charset="0"/>
            </a:endParaRPr>
          </a:p>
        </p:txBody>
      </p:sp>
      <p:sp>
        <p:nvSpPr>
          <p:cNvPr id="6" name="文本框 5"/>
          <p:cNvSpPr txBox="1"/>
          <p:nvPr/>
        </p:nvSpPr>
        <p:spPr>
          <a:xfrm>
            <a:off x="234315" y="1971675"/>
            <a:ext cx="11724005" cy="4154170"/>
          </a:xfrm>
          <a:prstGeom prst="rect">
            <a:avLst/>
          </a:prstGeom>
          <a:noFill/>
          <a:ln w="9525">
            <a:noFill/>
          </a:ln>
        </p:spPr>
        <p:txBody>
          <a:bodyPr wrap="square">
            <a:spAutoFit/>
          </a:bodyPr>
          <a:p>
            <a:pPr indent="0"/>
            <a:r>
              <a:rPr lang="en-US" altLang="zh-CN" sz="2200" b="1">
                <a:latin typeface="等线" panose="02010600030101010101" charset="-122"/>
                <a:ea typeface="等线" panose="02010600030101010101" charset="-122"/>
                <a:cs typeface="等线" panose="02010600030101010101" charset="-122"/>
              </a:rPr>
              <a:t>        </a:t>
            </a:r>
            <a:r>
              <a:rPr sz="2400" b="1">
                <a:latin typeface="等线" panose="02010600030101010101" charset="-122"/>
                <a:ea typeface="等线" panose="02010600030101010101" charset="-122"/>
                <a:cs typeface="等线" panose="02010600030101010101" charset="-122"/>
              </a:rPr>
              <a:t>3.</a:t>
            </a:r>
            <a:r>
              <a:rPr sz="2400" b="1">
                <a:solidFill>
                  <a:srgbClr val="FF0000"/>
                </a:solidFill>
                <a:latin typeface="等线" panose="02010600030101010101" charset="-122"/>
                <a:ea typeface="等线" panose="02010600030101010101" charset="-122"/>
                <a:cs typeface="等线" panose="02010600030101010101" charset="-122"/>
              </a:rPr>
              <a:t>应用支撑平台</a:t>
            </a:r>
            <a:r>
              <a:rPr sz="2400" b="1">
                <a:latin typeface="等线" panose="02010600030101010101" charset="-122"/>
                <a:ea typeface="等线" panose="02010600030101010101" charset="-122"/>
                <a:cs typeface="等线" panose="02010600030101010101" charset="-122"/>
              </a:rPr>
              <a:t>   </a:t>
            </a:r>
            <a:endParaRPr sz="2400" b="1">
              <a:latin typeface="等线" panose="02010600030101010101" charset="-122"/>
              <a:ea typeface="等线" panose="02010600030101010101" charset="-122"/>
              <a:cs typeface="等线" panose="02010600030101010101" charset="-122"/>
            </a:endParaRPr>
          </a:p>
          <a:p>
            <a:pPr indent="0"/>
            <a:r>
              <a:rPr lang="en-US" sz="2400" b="1">
                <a:latin typeface="等线" panose="02010600030101010101" charset="-122"/>
                <a:ea typeface="等线" panose="02010600030101010101" charset="-122"/>
                <a:cs typeface="等线" panose="02010600030101010101" charset="-122"/>
              </a:rPr>
              <a:t>       </a:t>
            </a:r>
            <a:r>
              <a:rPr sz="2400" b="1">
                <a:latin typeface="等线" panose="02010600030101010101" charset="-122"/>
                <a:ea typeface="等线" panose="02010600030101010101" charset="-122"/>
                <a:cs typeface="等线" panose="02010600030101010101" charset="-122"/>
              </a:rPr>
              <a:t>应用支撑平台建立在分层的网络通信协议和管理平台的基础之上。它包括一系列基于检测任务的应用层软件，通过应用</a:t>
            </a:r>
            <a:r>
              <a:rPr lang="zh-CN" sz="2400" b="1">
                <a:latin typeface="等线" panose="02010600030101010101" charset="-122"/>
                <a:ea typeface="等线" panose="02010600030101010101" charset="-122"/>
                <a:cs typeface="等线" panose="02010600030101010101" charset="-122"/>
              </a:rPr>
              <a:t>服务</a:t>
            </a:r>
            <a:r>
              <a:rPr sz="2400" b="1">
                <a:latin typeface="等线" panose="02010600030101010101" charset="-122"/>
                <a:ea typeface="等线" panose="02010600030101010101" charset="-122"/>
                <a:cs typeface="等线" panose="02010600030101010101" charset="-122"/>
              </a:rPr>
              <a:t>接口和网络管理接口来为终端用户提供具体的应用支持。</a:t>
            </a:r>
            <a:endParaRPr sz="2400" b="1">
              <a:latin typeface="等线" panose="02010600030101010101" charset="-122"/>
              <a:ea typeface="等线" panose="02010600030101010101" charset="-122"/>
              <a:cs typeface="等线" panose="02010600030101010101" charset="-122"/>
            </a:endParaRPr>
          </a:p>
          <a:p>
            <a:pPr indent="0"/>
            <a:r>
              <a:rPr sz="2400" b="1">
                <a:latin typeface="等线" panose="02010600030101010101" charset="-122"/>
                <a:ea typeface="等线" panose="02010600030101010101" charset="-122"/>
                <a:cs typeface="等线" panose="02010600030101010101" charset="-122"/>
              </a:rPr>
              <a:t>（1）时间同步。无线传感器网络的通信协议和应用要求各节点间的时钟必须保持同步，这样多个传感器节点才能相互配合工作。此外，节点的休眠和唤醒也需要时钟同步。   </a:t>
            </a:r>
            <a:endParaRPr sz="2400" b="1">
              <a:latin typeface="等线" panose="02010600030101010101" charset="-122"/>
              <a:ea typeface="等线" panose="02010600030101010101" charset="-122"/>
              <a:cs typeface="等线" panose="02010600030101010101" charset="-122"/>
            </a:endParaRPr>
          </a:p>
          <a:p>
            <a:pPr indent="0"/>
            <a:r>
              <a:rPr sz="2400" b="1">
                <a:latin typeface="等线" panose="02010600030101010101" charset="-122"/>
                <a:ea typeface="等线" panose="02010600030101010101" charset="-122"/>
                <a:cs typeface="等线" panose="02010600030101010101" charset="-122"/>
              </a:rPr>
              <a:t>（2）定位。确定每个传感器节点的相对位置或绝对位置。节点定位在军事侦察、环境监测、紧急救援等环境中尤为重要。</a:t>
            </a:r>
            <a:endParaRPr sz="2400" b="1">
              <a:latin typeface="等线" panose="02010600030101010101" charset="-122"/>
              <a:ea typeface="等线" panose="02010600030101010101" charset="-122"/>
              <a:cs typeface="等线" panose="02010600030101010101" charset="-122"/>
            </a:endParaRPr>
          </a:p>
          <a:p>
            <a:pPr indent="0"/>
            <a:r>
              <a:rPr sz="2400" b="1">
                <a:latin typeface="等线" panose="02010600030101010101" charset="-122"/>
                <a:ea typeface="等线" panose="02010600030101010101" charset="-122"/>
                <a:cs typeface="等线" panose="02010600030101010101" charset="-122"/>
              </a:rPr>
              <a:t>（3）应用服务接口。无线传感器网络的应用是多种多样的，针对不同的应用环境，有各种应用层的协议，如任务安排和数据分发协议、节点查询和数据分发协议。</a:t>
            </a:r>
            <a:endParaRPr sz="2400" b="1">
              <a:latin typeface="等线" panose="02010600030101010101" charset="-122"/>
              <a:ea typeface="等线" panose="02010600030101010101" charset="-122"/>
              <a:cs typeface="等线" panose="02010600030101010101" charset="-122"/>
            </a:endParaRPr>
          </a:p>
          <a:p>
            <a:pPr indent="0"/>
            <a:r>
              <a:rPr sz="2400" b="1">
                <a:latin typeface="等线" panose="02010600030101010101" charset="-122"/>
                <a:ea typeface="等线" panose="02010600030101010101" charset="-122"/>
                <a:cs typeface="等线" panose="02010600030101010101" charset="-122"/>
              </a:rPr>
              <a:t>（4）网络管理接口。主要是传感器管理协议，用来将数据传输到应用层。</a:t>
            </a:r>
            <a:endParaRPr sz="2400" b="1">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1193165" y="196215"/>
            <a:ext cx="4187190" cy="132588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b="1">
                <a:uFillTx/>
                <a:ea typeface="宋体" panose="02010600030101010101" pitchFamily="2" charset="-122"/>
                <a:sym typeface="+mn-ea"/>
                <a:hlinkClick r:id="rId1"/>
              </a:rPr>
              <a:t>习题</a:t>
            </a:r>
            <a:r>
              <a:rPr lang="en-US" altLang="zh-CN" b="1">
                <a:uFillTx/>
                <a:ea typeface="宋体" panose="02010600030101010101" pitchFamily="2" charset="-122"/>
                <a:sym typeface="+mn-ea"/>
                <a:hlinkClick r:id="rId1"/>
              </a:rPr>
              <a:t>2</a:t>
            </a:r>
            <a:endParaRPr lang="zh-CN" altLang="en-US"/>
          </a:p>
        </p:txBody>
      </p:sp>
      <p:sp>
        <p:nvSpPr>
          <p:cNvPr id="5" name="文本框 4"/>
          <p:cNvSpPr txBox="1"/>
          <p:nvPr/>
        </p:nvSpPr>
        <p:spPr>
          <a:xfrm>
            <a:off x="480060" y="1753235"/>
            <a:ext cx="11431905" cy="429895"/>
          </a:xfrm>
          <a:prstGeom prst="rect">
            <a:avLst/>
          </a:prstGeom>
          <a:noFill/>
          <a:ln w="9525">
            <a:noFill/>
          </a:ln>
        </p:spPr>
        <p:txBody>
          <a:bodyPr wrap="square">
            <a:spAutoFit/>
          </a:bodyPr>
          <a:p>
            <a:pPr indent="266700"/>
            <a:r>
              <a:rPr lang="en-US" altLang="zh-CN" sz="2200" b="1">
                <a:ea typeface="宋体" panose="02010600030101010101" pitchFamily="2" charset="-122"/>
              </a:rPr>
              <a:t>    </a:t>
            </a:r>
            <a:endParaRPr lang="zh-CN" altLang="en-US" sz="2200" b="1"/>
          </a:p>
        </p:txBody>
      </p:sp>
      <p:sp>
        <p:nvSpPr>
          <p:cNvPr id="100" name="文本框 99"/>
          <p:cNvSpPr txBox="1"/>
          <p:nvPr/>
        </p:nvSpPr>
        <p:spPr>
          <a:xfrm>
            <a:off x="479425" y="1753235"/>
            <a:ext cx="11432540" cy="4030980"/>
          </a:xfrm>
          <a:prstGeom prst="rect">
            <a:avLst/>
          </a:prstGeom>
          <a:noFill/>
          <a:ln w="9525">
            <a:noFill/>
          </a:ln>
        </p:spPr>
        <p:txBody>
          <a:bodyPr wrap="square">
            <a:spAutoFit/>
          </a:bodyPr>
          <a:p>
            <a:pPr indent="228600" algn="l"/>
            <a:r>
              <a:rPr sz="3200" b="1">
                <a:ea typeface="宋体" panose="02010600030101010101" pitchFamily="2" charset="-122"/>
              </a:rPr>
              <a:t>1.典型的无线传感器网络的系统结构有哪些组成?简述各组成的功能和特点。</a:t>
            </a:r>
            <a:endParaRPr sz="3200" b="1">
              <a:ea typeface="宋体" panose="02010600030101010101" pitchFamily="2" charset="-122"/>
            </a:endParaRPr>
          </a:p>
          <a:p>
            <a:pPr indent="228600" algn="l"/>
            <a:r>
              <a:rPr sz="3200" b="1">
                <a:ea typeface="宋体" panose="02010600030101010101" pitchFamily="2" charset="-122"/>
              </a:rPr>
              <a:t>2.简述无线传感器网络节点的组成结构及各构成的功能和特点。</a:t>
            </a:r>
            <a:endParaRPr sz="3200" b="1">
              <a:ea typeface="宋体" panose="02010600030101010101" pitchFamily="2" charset="-122"/>
            </a:endParaRPr>
          </a:p>
          <a:p>
            <a:pPr indent="228600" algn="l"/>
            <a:r>
              <a:rPr sz="3200" b="1">
                <a:ea typeface="宋体" panose="02010600030101010101" pitchFamily="2" charset="-122"/>
              </a:rPr>
              <a:t>3.简述传感器的作用、分类和性能要求。</a:t>
            </a:r>
            <a:endParaRPr sz="3200" b="1">
              <a:ea typeface="宋体" panose="02010600030101010101" pitchFamily="2" charset="-122"/>
            </a:endParaRPr>
          </a:p>
          <a:p>
            <a:pPr indent="228600" algn="l"/>
            <a:r>
              <a:rPr sz="3200" b="1">
                <a:ea typeface="宋体" panose="02010600030101010101" pitchFamily="2" charset="-122"/>
              </a:rPr>
              <a:t>4.简述标量传感器和多媒体传感器的区别。</a:t>
            </a:r>
            <a:endParaRPr sz="3200" b="1">
              <a:ea typeface="宋体" panose="02010600030101010101" pitchFamily="2" charset="-122"/>
            </a:endParaRPr>
          </a:p>
          <a:p>
            <a:pPr indent="228600" algn="l"/>
            <a:r>
              <a:rPr sz="3200" b="1">
                <a:ea typeface="宋体" panose="02010600030101010101" pitchFamily="2" charset="-122"/>
              </a:rPr>
              <a:t>5.简述传感器节点各个模块的常用器件。</a:t>
            </a:r>
            <a:endParaRPr sz="3200" b="1">
              <a:ea typeface="宋体" panose="02010600030101010101" pitchFamily="2" charset="-122"/>
            </a:endParaRPr>
          </a:p>
          <a:p>
            <a:pPr indent="228600" algn="l"/>
            <a:r>
              <a:rPr sz="3200" b="1">
                <a:ea typeface="宋体" panose="02010600030101010101" pitchFamily="2" charset="-122"/>
              </a:rPr>
              <a:t>6.简述无线传感器网络的拓扑体系结构。</a:t>
            </a:r>
            <a:endParaRPr sz="3200" b="1">
              <a:ea typeface="宋体" panose="02010600030101010101" pitchFamily="2" charset="-122"/>
            </a:endParaRPr>
          </a:p>
          <a:p>
            <a:pPr indent="228600" algn="l"/>
            <a:r>
              <a:rPr sz="3200" b="1">
                <a:ea typeface="宋体" panose="02010600030101010101" pitchFamily="2" charset="-122"/>
              </a:rPr>
              <a:t>7.简述无线传感器网络的协议体系结构。</a:t>
            </a:r>
            <a:endParaRPr sz="3200" b="1">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custDataLst>
              <p:tags r:id="rId1"/>
            </p:custDataLst>
          </p:nvPr>
        </p:nvSpPr>
        <p:spPr>
          <a:xfrm>
            <a:off x="2921000" y="2829121"/>
            <a:ext cx="6350000" cy="1200150"/>
          </a:xfrm>
          <a:prstGeom prst="rect">
            <a:avLst/>
          </a:prstGeom>
        </p:spPr>
        <p:txBody>
          <a:bodyPr vert="horz" wrap="square" lIns="0" tIns="0" rIns="0" bIns="0" rtlCol="0" anchor="b" anchorCtr="0">
            <a:noAutofit/>
          </a:bodyPr>
          <a:lstStyle>
            <a:lvl1pPr marL="0" marR="0" algn="ctr" defTabSz="914400" rtl="0" eaLnBrk="1" fontAlgn="auto" latinLnBrk="0" hangingPunct="1">
              <a:lnSpc>
                <a:spcPct val="100000"/>
              </a:lnSpc>
              <a:spcBef>
                <a:spcPct val="0"/>
              </a:spcBef>
              <a:buClrTx/>
              <a:buSzTx/>
              <a:buFontTx/>
              <a:buNone/>
              <a:defRPr kumimoji="0" lang="zh-CN" altLang="en-US" sz="7000" b="1" i="0" u="none" strike="noStrike" kern="1200" cap="none" spc="1000" normalizeH="0" baseline="0" noProof="1" dirty="0">
                <a:solidFill>
                  <a:srgbClr val="000000">
                    <a:lumMod val="85000"/>
                    <a:lumOff val="15000"/>
                  </a:srgbClr>
                </a:solidFill>
                <a:uFillTx/>
                <a:latin typeface="Arial" panose="020B0604020202020204" pitchFamily="34" charset="0"/>
                <a:ea typeface="汉仪旗黑-85S" panose="00020600040101010101" pitchFamily="18" charset="-122"/>
                <a:cs typeface="+mn-ea"/>
              </a:defRPr>
            </a:lvl1pPr>
          </a:lstStyle>
          <a:p>
            <a:r>
              <a:rPr lang="zh-CN" altLang="en-US" sz="8000">
                <a:solidFill>
                  <a:srgbClr val="000000">
                    <a:lumMod val="85000"/>
                    <a:lumOff val="15000"/>
                  </a:srgbClr>
                </a:solidFill>
                <a:latin typeface="等线" panose="02010600030101010101" charset="-122"/>
                <a:ea typeface="等线" panose="02010600030101010101" charset="-122"/>
              </a:rPr>
              <a:t>THANKS</a:t>
            </a:r>
            <a:endParaRPr lang="zh-CN" altLang="en-US" sz="8000">
              <a:solidFill>
                <a:srgbClr val="000000">
                  <a:lumMod val="85000"/>
                  <a:lumOff val="15000"/>
                </a:srgbClr>
              </a:solidFill>
              <a:latin typeface="等线" panose="02010600030101010101" charset="-122"/>
              <a:ea typeface="等线" panose="02010600030101010101" charset="-122"/>
            </a:endParaRPr>
          </a:p>
        </p:txBody>
      </p:sp>
    </p:spTree>
  </p:cSld>
  <p:clrMapOvr>
    <a:masterClrMapping/>
  </p:clrMapOvr>
</p:sld>
</file>

<file path=ppt/tags/tag1.xml><?xml version="1.0" encoding="utf-8"?>
<p:tagLst xmlns:p="http://schemas.openxmlformats.org/presentationml/2006/main">
  <p:tag name="KSO_WM_UNIT_ISCONTENTSTITLE" val="1"/>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450"/>
  <p:tag name="KSO_WM_UNIT_ID" val="custom20204450_4*a*1"/>
  <p:tag name="KSO_WM_UNIT_ISNUMDGMTITLE" val="0"/>
  <p:tag name="KSO_WM_UNIT_TEXT_FILL_FORE_SCHEMECOLOR_INDEX" val="13"/>
  <p:tag name="KSO_WM_UNIT_TEXT_FILL_TYPE" val="1"/>
  <p:tag name="KSO_WM_UNIT_USESOURCEFORMAT_APPLY" val="1"/>
</p:tagLst>
</file>

<file path=ppt/tags/tag2.xml><?xml version="1.0" encoding="utf-8"?>
<p:tagLst xmlns:p="http://schemas.openxmlformats.org/presentationml/2006/main">
  <p:tag name="KSO_WM_UNIT_ISCONTENTSTITLE" val="1"/>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450"/>
  <p:tag name="KSO_WM_UNIT_ID" val="custom20204450_4*a*1"/>
  <p:tag name="KSO_WM_UNIT_ISNUMDGMTITLE" val="0"/>
  <p:tag name="KSO_WM_UNIT_TEXT_FILL_FORE_SCHEMECOLOR_INDEX" val="13"/>
  <p:tag name="KSO_WM_UNIT_TEXT_FILL_TYPE" val="1"/>
  <p:tag name="KSO_WM_UNIT_USESOURCEFORMAT_APPLY" val="1"/>
</p:tagLst>
</file>

<file path=ppt/tags/tag3.xml><?xml version="1.0" encoding="utf-8"?>
<p:tagLst xmlns:p="http://schemas.openxmlformats.org/presentationml/2006/main">
  <p:tag name="KSO_WM_UNIT_PLACING_PICTURE_USER_VIEWPORT" val="{&quot;height&quot;:10800,&quot;width&quot;:14400}"/>
  <p:tag name="KSO_WM_BEAUTIFY_FLAG" val=""/>
</p:tagLst>
</file>

<file path=ppt/tags/tag4.xml><?xml version="1.0" encoding="utf-8"?>
<p:tagLst xmlns:p="http://schemas.openxmlformats.org/presentationml/2006/main">
  <p:tag name="KSO_WM_UNIT_TABLE_BEAUTIFY" val="smartTable{b9cf731a-fb49-4c8c-861b-d59706a6b066}"/>
  <p:tag name="TABLE_ENDDRAG_ORIGIN_RECT" val="760*394"/>
  <p:tag name="TABLE_ENDDRAG_RECT" val="98*139*760*394"/>
</p:tagLst>
</file>

<file path=ppt/tags/tag5.xml><?xml version="1.0" encoding="utf-8"?>
<p:tagLst xmlns:p="http://schemas.openxmlformats.org/presentationml/2006/main">
  <p:tag name="KSO_WM_UNIT_TABLE_BEAUTIFY" val="smartTable{429a67d1-a013-48c4-8160-2d4845e74ed9}"/>
  <p:tag name="TABLE_ENDDRAG_ORIGIN_RECT" val="475*431"/>
  <p:tag name="TABLE_ENDDRAG_RECT" val="437*103*475*431"/>
</p:tagLst>
</file>

<file path=ppt/tags/tag6.xml><?xml version="1.0" encoding="utf-8"?>
<p:tagLst xmlns:p="http://schemas.openxmlformats.org/presentationml/2006/main">
  <p:tag name="KSO_WM_UNIT_TABLE_BEAUTIFY" val="smartTable{a384c746-e5d4-46de-b01f-f092a397f5e5}"/>
  <p:tag name="TABLE_ENDDRAG_ORIGIN_RECT" val="733*245"/>
  <p:tag name="TABLE_ENDDRAG_RECT" val="128*353*733*245"/>
</p:tagLst>
</file>

<file path=ppt/tags/tag7.xml><?xml version="1.0" encoding="utf-8"?>
<p:tagLst xmlns:p="http://schemas.openxmlformats.org/presentationml/2006/main">
  <p:tag name="KSO_WM_UNIT_TABLE_BEAUTIFY" val="smartTable{2f867a7e-8177-4a6d-aa3e-32665eb376b8}"/>
  <p:tag name="TABLE_ENDDRAG_ORIGIN_RECT" val="832*315"/>
  <p:tag name="TABLE_ENDDRAG_RECT" val="74*174*832*315"/>
</p:tagLst>
</file>

<file path=ppt/tags/tag8.xml><?xml version="1.0" encoding="utf-8"?>
<p:tagLst xmlns:p="http://schemas.openxmlformats.org/presentationml/2006/main">
  <p:tag name="KSO_WM_UNIT_TABLE_BEAUTIFY" val="smartTable{69459b6b-d2f7-45a0-900d-c2ec18d81fbb}"/>
  <p:tag name="TABLE_ENDDRAG_ORIGIN_RECT" val="568*317"/>
  <p:tag name="TABLE_ENDDRAG_RECT" val="261*189*568*317"/>
</p:tagLst>
</file>

<file path=ppt/tags/tag9.xml><?xml version="1.0" encoding="utf-8"?>
<p:tagLst xmlns:p="http://schemas.openxmlformats.org/presentationml/2006/main">
  <p:tag name="KSO_WM_UNIT_ISCONTENTSTITLE" val="0"/>
  <p:tag name="KSO_WM_UNIT_ISNUMDGMTITLE" val="0"/>
  <p:tag name="KSO_WM_UNIT_NOCLEAR" val="1"/>
  <p:tag name="KSO_WM_UNIT_VALUE" val="7"/>
  <p:tag name="KSO_WM_UNIT_HIGHLIGHT" val="0"/>
  <p:tag name="KSO_WM_UNIT_COMPATIBLE" val="0"/>
  <p:tag name="KSO_WM_UNIT_DIAGRAM_ISNUMVISUAL" val="0"/>
  <p:tag name="KSO_WM_UNIT_DIAGRAM_ISREFERUNIT" val="0"/>
  <p:tag name="KSO_WM_UNIT_TYPE" val="a"/>
  <p:tag name="KSO_WM_UNIT_INDEX" val="1"/>
  <p:tag name="KSO_WM_UNIT_ID" val="custom20193369_54*a*1"/>
  <p:tag name="KSO_WM_TEMPLATE_CATEGORY" val="custom"/>
  <p:tag name="KSO_WM_TEMPLATE_INDEX" val="20193369"/>
  <p:tag name="KSO_WM_UNIT_LAYERLEVEL" val="1"/>
  <p:tag name="KSO_WM_TAG_VERSION" val="1.0"/>
  <p:tag name="KSO_WM_BEAUTIFY_FLAG" val="#wm#"/>
  <p:tag name="KSO_WM_UNIT_PRESET_TEXT" val="THANKS"/>
  <p:tag name="KSO_WM_UNIT_DEFAULT_FONT" val="24;80;4"/>
  <p:tag name="KSO_WM_UNIT_BLOCK" val="0"/>
  <p:tag name="KSO_WM_UNIT_DEC_AREA_ID" val="29d931bbccae4e79a9c5d395ee684df6"/>
  <p:tag name="KSO_WM_CHIP_GROUPID" val="5ebdf5a90ac41c4a0a525507"/>
  <p:tag name="KSO_WM_CHIP_XID" val="5ebdf5a90ac41c4a0a525508"/>
  <p:tag name="KSO_WM_CHIP_FILLAREA_FILL_RULE" val="{&quot;fill_align&quot;:&quot;cm&quot;,&quot;fill_mode&quot;:&quot;adaptive&quot;,&quot;sacle_strategy&quot;:&quot;smart&quot;}"/>
  <p:tag name="KSO_WM_ASSEMBLE_CHIP_INDEX" val="c35d8afa0f0641e58b128f4a92c6b79a"/>
  <p:tag name="KSO_WM_UNIT_TEXT_FILL_FORE_SCHEMECOLOR_INDEX_BRIGHTNESS" val="0.15"/>
  <p:tag name="KSO_WM_UNIT_TEXT_FILL_FORE_SCHEMECOLOR_INDEX" val="13"/>
  <p:tag name="KSO_WM_UNIT_TEXT_FILL_TYPE" val="1"/>
</p:tagLst>
</file>

<file path=ppt/tags/tag10.xml><?xml version="1.0" encoding="utf-8"?>
<p:tagLst xmlns:p="http://schemas.openxmlformats.org/presentationml/2006/main">
  <p:tag name="KSO_WPP_MARK_KEY" val="8e2969b6-2cfa-438e-bbdd-15d9705cc6df"/>
  <p:tag name="COMMONDATA" val="eyJoZGlkIjoiYmNlYWRiMTM4YmE0MDkyMzUwZTUwNGQyMmZmMjVhMm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11060</Words>
  <Application>WPS 演示</Application>
  <PresentationFormat>宽屏</PresentationFormat>
  <Paragraphs>992</Paragraphs>
  <Slides>33</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33</vt:i4>
      </vt:variant>
    </vt:vector>
  </HeadingPairs>
  <TitlesOfParts>
    <vt:vector size="48" baseType="lpstr">
      <vt:lpstr>Arial</vt:lpstr>
      <vt:lpstr>宋体</vt:lpstr>
      <vt:lpstr>Wingdings</vt:lpstr>
      <vt:lpstr>汉仪中宋简</vt:lpstr>
      <vt:lpstr>黑体</vt:lpstr>
      <vt:lpstr>等线</vt:lpstr>
      <vt:lpstr>楷体</vt:lpstr>
      <vt:lpstr>微软雅黑</vt:lpstr>
      <vt:lpstr>Times New Roman</vt:lpstr>
      <vt:lpstr>Times New Roman</vt:lpstr>
      <vt:lpstr>Arial Unicode MS</vt:lpstr>
      <vt:lpstr>等线 Light</vt:lpstr>
      <vt:lpstr>Calibri</vt:lpstr>
      <vt:lpstr>汉仪旗黑-85S</vt:lpstr>
      <vt:lpstr>Office 主题​​</vt:lpstr>
      <vt:lpstr>无线传感器网络（微课视频版）</vt:lpstr>
      <vt:lpstr>第2章</vt:lpstr>
      <vt:lpstr>PowerPoint 演示文稿</vt:lpstr>
      <vt:lpstr>PowerPoint 演示文稿</vt:lpstr>
      <vt:lpstr>第2章  无线传感器网络的体系结构</vt:lpstr>
      <vt:lpstr>2.1  系统结构</vt:lpstr>
      <vt:lpstr>PowerPoint 演示文稿</vt:lpstr>
      <vt:lpstr>2.2  节点结构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BN</cp:lastModifiedBy>
  <cp:revision>404</cp:revision>
  <dcterms:created xsi:type="dcterms:W3CDTF">2016-05-24T01:15:00Z</dcterms:created>
  <dcterms:modified xsi:type="dcterms:W3CDTF">2023-08-08T03:42:30Z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388EF999D3DC4AEAAA28E8FECAF25967</vt:lpwstr>
  </property>
  <property fmtid="{D5CDD505-2E9C-101B-9397-08002B2CF9AE}" pid="3" name="KSOProductBuildVer">
    <vt:lpwstr>2052-12.1.0.15120</vt:lpwstr>
  </property>
</Properties>
</file>