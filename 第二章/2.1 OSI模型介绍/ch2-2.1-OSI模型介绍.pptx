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308" r:id="rId2"/>
    <p:sldId id="356" r:id="rId3"/>
    <p:sldId id="268" r:id="rId4"/>
    <p:sldId id="358" r:id="rId5"/>
    <p:sldId id="357" r:id="rId6"/>
    <p:sldId id="396" r:id="rId7"/>
    <p:sldId id="398" r:id="rId8"/>
    <p:sldId id="397" r:id="rId9"/>
    <p:sldId id="399" r:id="rId10"/>
    <p:sldId id="400" r:id="rId11"/>
    <p:sldId id="401" r:id="rId12"/>
    <p:sldId id="402" r:id="rId13"/>
    <p:sldId id="403" r:id="rId14"/>
    <p:sldId id="404" r:id="rId15"/>
    <p:sldId id="405" r:id="rId16"/>
    <p:sldId id="406" r:id="rId17"/>
    <p:sldId id="407" r:id="rId18"/>
    <p:sldId id="410" r:id="rId19"/>
    <p:sldId id="408" r:id="rId20"/>
    <p:sldId id="411" r:id="rId21"/>
    <p:sldId id="412" r:id="rId22"/>
  </p:sldIdLst>
  <p:sldSz cx="9144000" cy="6858000" type="screen4x3"/>
  <p:notesSz cx="6797675" cy="9929813"/>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71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97" autoAdjust="0"/>
    <p:restoredTop sz="85589" autoAdjust="0"/>
  </p:normalViewPr>
  <p:slideViewPr>
    <p:cSldViewPr snapToGrid="0">
      <p:cViewPr varScale="1">
        <p:scale>
          <a:sx n="118" d="100"/>
          <a:sy n="118" d="100"/>
        </p:scale>
        <p:origin x="80" y="480"/>
      </p:cViewPr>
      <p:guideLst/>
    </p:cSldViewPr>
  </p:slideViewPr>
  <p:outlineViewPr>
    <p:cViewPr>
      <p:scale>
        <a:sx n="33" d="100"/>
        <a:sy n="33" d="100"/>
      </p:scale>
      <p:origin x="0" y="-21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1069F05F-BA99-464B-84BC-EE47876CF1AB}" type="datetimeFigureOut">
              <a:rPr lang="zh-CN" altLang="en-US" smtClean="0"/>
              <a:t>2025/3/28</a:t>
            </a:fld>
            <a:endParaRPr lang="zh-CN" altLang="en-US"/>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A828F138-0C07-463C-B78B-D719DC40AE32}" type="slidenum">
              <a:rPr lang="zh-CN" altLang="en-US" smtClean="0"/>
              <a:t>‹#›</a:t>
            </a:fld>
            <a:endParaRPr lang="zh-CN" altLang="en-US"/>
          </a:p>
        </p:txBody>
      </p:sp>
    </p:spTree>
    <p:extLst>
      <p:ext uri="{BB962C8B-B14F-4D97-AF65-F5344CB8AC3E}">
        <p14:creationId xmlns:p14="http://schemas.microsoft.com/office/powerpoint/2010/main" val="21282448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C4050E63-5F5B-4DCE-99AD-DF256DAD281B}" type="datetimeFigureOut">
              <a:rPr lang="zh-CN" altLang="en-US" smtClean="0"/>
              <a:t>2025/3/28</a:t>
            </a:fld>
            <a:endParaRPr lang="zh-CN" altLang="en-US"/>
          </a:p>
        </p:txBody>
      </p:sp>
      <p:sp>
        <p:nvSpPr>
          <p:cNvPr id="4" name="幻灯片图像占位符 3"/>
          <p:cNvSpPr>
            <a:spLocks noGrp="1" noRot="1" noChangeAspect="1"/>
          </p:cNvSpPr>
          <p:nvPr>
            <p:ph type="sldImg" idx="2"/>
          </p:nvPr>
        </p:nvSpPr>
        <p:spPr>
          <a:xfrm>
            <a:off x="1165225" y="1241425"/>
            <a:ext cx="4467225"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CCA23522-C775-4476-A110-0DF264BE082A}" type="slidenum">
              <a:rPr lang="zh-CN" altLang="en-US" smtClean="0"/>
              <a:t>‹#›</a:t>
            </a:fld>
            <a:endParaRPr lang="zh-CN" altLang="en-US"/>
          </a:p>
        </p:txBody>
      </p:sp>
    </p:spTree>
    <p:extLst>
      <p:ext uri="{BB962C8B-B14F-4D97-AF65-F5344CB8AC3E}">
        <p14:creationId xmlns:p14="http://schemas.microsoft.com/office/powerpoint/2010/main" val="104307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之前介绍了无线传感器网络的引入，主要分为三个方面：</a:t>
            </a:r>
            <a:endParaRPr lang="en-US" altLang="zh-CN" dirty="0"/>
          </a:p>
          <a:p>
            <a:endParaRPr lang="en-US" altLang="zh-CN" dirty="0"/>
          </a:p>
          <a:p>
            <a:r>
              <a:rPr lang="zh-CN" altLang="en-US" dirty="0"/>
              <a:t>传感器：至于选取何种传感器，应当根据具体的场景和任务类型选取。关于传感器的选择和传感过程具体的应该在传感器应用等课程中讲授，不是本门课的重点，所以我们不会花太多时间。</a:t>
            </a:r>
            <a:endParaRPr lang="en-US" altLang="zh-CN" dirty="0"/>
          </a:p>
          <a:p>
            <a:endParaRPr lang="en-US" altLang="zh-CN" dirty="0"/>
          </a:p>
          <a:p>
            <a:r>
              <a:rPr lang="zh-CN" altLang="en-US" dirty="0"/>
              <a:t>我们现在讲的是传感器感知到数据后需要通过无线的方式将其传输出去，这需要网络的协助。但是网络究竟是如何工作的，如何完成数据可靠传输的，需要组网和对应的协议的协助。</a:t>
            </a:r>
            <a:endParaRPr lang="en-US" altLang="zh-CN" dirty="0"/>
          </a:p>
          <a:p>
            <a:endParaRPr lang="en-US" altLang="zh-CN" dirty="0"/>
          </a:p>
          <a:p>
            <a:r>
              <a:rPr lang="zh-CN" altLang="en-US" dirty="0"/>
              <a:t>我们本章主要来讲网络协议。</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a:t>
            </a:fld>
            <a:endParaRPr lang="zh-CN" altLang="en-US"/>
          </a:p>
        </p:txBody>
      </p:sp>
    </p:spTree>
    <p:extLst>
      <p:ext uri="{BB962C8B-B14F-4D97-AF65-F5344CB8AC3E}">
        <p14:creationId xmlns:p14="http://schemas.microsoft.com/office/powerpoint/2010/main" val="316143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a:t>
            </a:fld>
            <a:endParaRPr lang="zh-CN" altLang="en-US"/>
          </a:p>
        </p:txBody>
      </p:sp>
    </p:spTree>
    <p:extLst>
      <p:ext uri="{BB962C8B-B14F-4D97-AF65-F5344CB8AC3E}">
        <p14:creationId xmlns:p14="http://schemas.microsoft.com/office/powerpoint/2010/main" val="2984436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a:t>
            </a:fld>
            <a:endParaRPr lang="zh-CN" altLang="en-US"/>
          </a:p>
        </p:txBody>
      </p:sp>
    </p:spTree>
    <p:extLst>
      <p:ext uri="{BB962C8B-B14F-4D97-AF65-F5344CB8AC3E}">
        <p14:creationId xmlns:p14="http://schemas.microsoft.com/office/powerpoint/2010/main" val="1241686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物理层：要有媒介（路），但是什么媒介都没有明确指出。</a:t>
            </a:r>
            <a:endParaRPr lang="en-US" altLang="zh-CN" dirty="0"/>
          </a:p>
          <a:p>
            <a:r>
              <a:rPr lang="zh-CN" altLang="en-US" dirty="0"/>
              <a:t>具体的网络会明确化</a:t>
            </a:r>
            <a:endParaRPr lang="en-US" altLang="zh-CN" dirty="0"/>
          </a:p>
          <a:p>
            <a:endParaRPr lang="en-US" altLang="zh-CN" dirty="0"/>
          </a:p>
          <a:p>
            <a:r>
              <a:rPr lang="zh-CN" altLang="en-US" dirty="0"/>
              <a:t>大象放冰箱里一共分几步 这个例子 </a:t>
            </a:r>
            <a:endParaRPr lang="en-US" altLang="zh-CN" dirty="0"/>
          </a:p>
          <a:p>
            <a:r>
              <a:rPr lang="zh-CN" altLang="en-US" dirty="0"/>
              <a:t>网络通信要分七步</a:t>
            </a:r>
            <a:endParaRPr lang="en-US" altLang="zh-CN" dirty="0"/>
          </a:p>
          <a:p>
            <a:endParaRPr lang="en-US" altLang="zh-CN" dirty="0"/>
          </a:p>
          <a:p>
            <a:r>
              <a:rPr lang="zh-CN" altLang="en-US" dirty="0"/>
              <a:t>所谓标准化，指的是各个厂商不同、类型不同的产品互联互通。这样防止一个公司一个生产标准，不同公司间标准不同导致兼容性出现问题，一个公司生产的路由器不能使用另外一个公司的交换机，因为两者采用的通信协议不兼容。</a:t>
            </a:r>
            <a:endParaRPr lang="en-US" altLang="zh-CN" dirty="0"/>
          </a:p>
          <a:p>
            <a:r>
              <a:rPr lang="zh-CN" altLang="en-US" dirty="0"/>
              <a:t>维护人员需要学习维护多个不同厂商的设备，增加了设备维护难度；两个人说话采用不同的方言，导致的直接结果就是对话效率低下</a:t>
            </a:r>
            <a:endParaRPr lang="en-US" altLang="zh-CN" dirty="0"/>
          </a:p>
          <a:p>
            <a:endParaRPr lang="en-US" altLang="zh-CN" dirty="0"/>
          </a:p>
          <a:p>
            <a:r>
              <a:rPr lang="zh-CN" altLang="en-US" dirty="0"/>
              <a:t>易于理解和设计</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4</a:t>
            </a:fld>
            <a:endParaRPr lang="zh-CN" altLang="en-US"/>
          </a:p>
        </p:txBody>
      </p:sp>
    </p:spTree>
    <p:extLst>
      <p:ext uri="{BB962C8B-B14F-4D97-AF65-F5344CB8AC3E}">
        <p14:creationId xmlns:p14="http://schemas.microsoft.com/office/powerpoint/2010/main" val="354587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3GPP</a:t>
            </a:r>
            <a:r>
              <a:rPr lang="zh-CN" altLang="en-US" dirty="0"/>
              <a:t>的规范包括通信系统的空中接口规范、核心网络规范以及业务规范等，涵盖了从</a:t>
            </a:r>
            <a:r>
              <a:rPr lang="en-US" altLang="zh-CN" dirty="0"/>
              <a:t>3G</a:t>
            </a:r>
            <a:r>
              <a:rPr lang="zh-CN" altLang="en-US" dirty="0"/>
              <a:t>到</a:t>
            </a:r>
            <a:r>
              <a:rPr lang="en-US" altLang="zh-CN" dirty="0"/>
              <a:t>6G</a:t>
            </a:r>
            <a:r>
              <a:rPr lang="zh-CN" altLang="en-US" dirty="0"/>
              <a:t>额移动通信技术。</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5</a:t>
            </a:fld>
            <a:endParaRPr lang="zh-CN" altLang="en-US"/>
          </a:p>
        </p:txBody>
      </p:sp>
    </p:spTree>
    <p:extLst>
      <p:ext uri="{BB962C8B-B14F-4D97-AF65-F5344CB8AC3E}">
        <p14:creationId xmlns:p14="http://schemas.microsoft.com/office/powerpoint/2010/main" val="4041464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这里再强调一下，</a:t>
            </a:r>
            <a:r>
              <a:rPr lang="en-US" altLang="zh-CN" dirty="0"/>
              <a:t>OSI</a:t>
            </a:r>
            <a:r>
              <a:rPr lang="zh-CN" altLang="en-US"/>
              <a:t>七层模型</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6</a:t>
            </a:fld>
            <a:endParaRPr lang="zh-CN" altLang="en-US"/>
          </a:p>
        </p:txBody>
      </p:sp>
    </p:spTree>
    <p:extLst>
      <p:ext uri="{BB962C8B-B14F-4D97-AF65-F5344CB8AC3E}">
        <p14:creationId xmlns:p14="http://schemas.microsoft.com/office/powerpoint/2010/main" val="6170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应用层是</a:t>
            </a:r>
            <a:r>
              <a:rPr lang="en-US" altLang="zh-CN" dirty="0"/>
              <a:t>OSI</a:t>
            </a:r>
            <a:r>
              <a:rPr lang="zh-CN" altLang="en-US" dirty="0"/>
              <a:t>七层模型的最上层，离负责具体传输的物理层最远，负责直接和用户进行交互</a:t>
            </a:r>
            <a:endParaRPr lang="en-US" altLang="zh-CN" dirty="0"/>
          </a:p>
          <a:p>
            <a:endParaRPr lang="en-US" altLang="zh-CN" dirty="0"/>
          </a:p>
          <a:p>
            <a:r>
              <a:rPr lang="zh-CN" altLang="en-US" dirty="0"/>
              <a:t>直接为应用程序（浏览器、邮箱客户端）提供网络服务</a:t>
            </a:r>
            <a:endParaRPr lang="en-US" altLang="zh-CN" dirty="0"/>
          </a:p>
          <a:p>
            <a:endParaRPr lang="en-US" altLang="zh-CN" dirty="0"/>
          </a:p>
          <a:p>
            <a:r>
              <a:rPr lang="zh-CN" altLang="en-US" dirty="0"/>
              <a:t>比如信件投递或者快递运送中的面单填写，用户需要按照一定规则填写必要信息，形成邮件</a:t>
            </a:r>
            <a:r>
              <a:rPr lang="en-US" altLang="zh-CN" dirty="0"/>
              <a:t>/</a:t>
            </a:r>
            <a:r>
              <a:rPr lang="zh-CN" altLang="en-US" dirty="0"/>
              <a:t>快递系统能够识别的数据</a:t>
            </a:r>
            <a:endParaRPr lang="en-US" altLang="zh-CN" dirty="0"/>
          </a:p>
          <a:p>
            <a:endParaRPr lang="en-US" altLang="zh-CN" dirty="0"/>
          </a:p>
          <a:p>
            <a:r>
              <a:rPr lang="zh-CN" altLang="en-US" dirty="0"/>
              <a:t>误区</a:t>
            </a:r>
            <a:r>
              <a:rPr lang="en-US" altLang="zh-CN" dirty="0"/>
              <a:t>1</a:t>
            </a:r>
            <a:r>
              <a:rPr lang="zh-CN" altLang="en-US" dirty="0"/>
              <a:t>：应用层</a:t>
            </a:r>
            <a:r>
              <a:rPr lang="en-US" altLang="zh-CN" dirty="0"/>
              <a:t>=</a:t>
            </a:r>
            <a:r>
              <a:rPr lang="zh-CN" altLang="en-US" dirty="0"/>
              <a:t>应用程序界面？</a:t>
            </a:r>
            <a:endParaRPr lang="en-US" altLang="zh-CN" dirty="0"/>
          </a:p>
          <a:p>
            <a:r>
              <a:rPr lang="en-US" altLang="zh-CN" dirty="0"/>
              <a:t>ANS</a:t>
            </a:r>
            <a:r>
              <a:rPr lang="zh-CN" altLang="en-US" dirty="0"/>
              <a:t>：应用层是协议（规则），软件是协议的实现（如</a:t>
            </a:r>
            <a:r>
              <a:rPr lang="en-US" altLang="zh-CN" dirty="0"/>
              <a:t>Chrome</a:t>
            </a:r>
            <a:r>
              <a:rPr lang="zh-CN" altLang="en-US" dirty="0"/>
              <a:t>是</a:t>
            </a:r>
            <a:r>
              <a:rPr lang="en-US" altLang="zh-CN" dirty="0"/>
              <a:t>HTTP</a:t>
            </a:r>
            <a:r>
              <a:rPr lang="zh-CN" altLang="en-US" dirty="0"/>
              <a:t>协议的具体实现）</a:t>
            </a:r>
            <a:endParaRPr lang="en-US" altLang="zh-CN" dirty="0"/>
          </a:p>
          <a:p>
            <a:endParaRPr lang="en-US" altLang="zh-CN" dirty="0"/>
          </a:p>
          <a:p>
            <a:r>
              <a:rPr lang="zh-CN" altLang="en-US" dirty="0"/>
              <a:t>误区</a:t>
            </a:r>
            <a:r>
              <a:rPr lang="en-US" altLang="zh-CN" dirty="0"/>
              <a:t>2</a:t>
            </a:r>
            <a:r>
              <a:rPr lang="zh-CN" altLang="en-US" dirty="0"/>
              <a:t>：所有的数据都会经过应用层？</a:t>
            </a:r>
            <a:endParaRPr lang="en-US" altLang="zh-CN" dirty="0"/>
          </a:p>
          <a:p>
            <a:r>
              <a:rPr lang="en-US" altLang="zh-CN" dirty="0"/>
              <a:t>ANS</a:t>
            </a:r>
            <a:r>
              <a:rPr lang="zh-CN" altLang="en-US" dirty="0"/>
              <a:t>：</a:t>
            </a:r>
            <a:r>
              <a:rPr lang="en-US" altLang="zh-CN" dirty="0"/>
              <a:t>PING</a:t>
            </a:r>
            <a:r>
              <a:rPr lang="zh-CN" altLang="en-US" dirty="0"/>
              <a:t>命令使用的是</a:t>
            </a:r>
            <a:r>
              <a:rPr lang="en-US" altLang="zh-CN" dirty="0"/>
              <a:t>IMCP</a:t>
            </a:r>
            <a:r>
              <a:rPr lang="zh-CN" altLang="en-US" dirty="0"/>
              <a:t>协议，是一种网络层协议，就是看</a:t>
            </a:r>
            <a:r>
              <a:rPr lang="en-US" altLang="zh-CN" dirty="0"/>
              <a:t>IP</a:t>
            </a:r>
            <a:r>
              <a:rPr lang="zh-CN" altLang="en-US" dirty="0"/>
              <a:t>地址，是不经过应用层的。</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7</a:t>
            </a:fld>
            <a:endParaRPr lang="zh-CN" altLang="en-US"/>
          </a:p>
        </p:txBody>
      </p:sp>
    </p:spTree>
    <p:extLst>
      <p:ext uri="{BB962C8B-B14F-4D97-AF65-F5344CB8AC3E}">
        <p14:creationId xmlns:p14="http://schemas.microsoft.com/office/powerpoint/2010/main" val="601183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位于第六层，就是应用层的下一层</a:t>
            </a:r>
            <a:endParaRPr lang="en-US" altLang="zh-CN" dirty="0"/>
          </a:p>
          <a:p>
            <a:endParaRPr lang="en-US" altLang="zh-CN" dirty="0"/>
          </a:p>
          <a:p>
            <a:r>
              <a:rPr lang="zh-CN" altLang="en-US" dirty="0"/>
              <a:t>主要任务就是加密、翻译，确保应用层数据能够被接收方正确理解。对数据进行格式化、加密和压缩。</a:t>
            </a:r>
            <a:endParaRPr lang="en-US" altLang="zh-CN" dirty="0"/>
          </a:p>
          <a:p>
            <a:endParaRPr lang="en-US" altLang="zh-CN" dirty="0"/>
          </a:p>
          <a:p>
            <a:r>
              <a:rPr lang="zh-CN" altLang="en-US" dirty="0"/>
              <a:t>格式化：不同的终端可能采用的编码方法不一样，文件格式也可能不一样。格式化的主要作用就是将数据转化为一种标准格式，确保收发双方能够互相理解数据。</a:t>
            </a:r>
            <a:endParaRPr lang="en-US" altLang="zh-CN" dirty="0"/>
          </a:p>
          <a:p>
            <a:r>
              <a:rPr lang="en-US" altLang="zh-CN" dirty="0"/>
              <a:t>    </a:t>
            </a:r>
          </a:p>
          <a:p>
            <a:r>
              <a:rPr lang="en-US" altLang="zh-CN" dirty="0"/>
              <a:t>              </a:t>
            </a:r>
            <a:r>
              <a:rPr lang="zh-CN" altLang="en-US" dirty="0"/>
              <a:t>例如，一台电脑使用</a:t>
            </a:r>
            <a:r>
              <a:rPr lang="en-US" altLang="zh-CN" dirty="0"/>
              <a:t>ASCII</a:t>
            </a:r>
            <a:r>
              <a:rPr lang="zh-CN" altLang="en-US" dirty="0"/>
              <a:t>码进行编码，而另一台电脑的应用程序使用</a:t>
            </a:r>
            <a:r>
              <a:rPr lang="en-US" altLang="zh-CN" dirty="0"/>
              <a:t>UTF-8</a:t>
            </a:r>
            <a:r>
              <a:rPr lang="zh-CN" altLang="en-US" dirty="0"/>
              <a:t>（</a:t>
            </a:r>
            <a:r>
              <a:rPr lang="en-US" altLang="zh-CN" dirty="0"/>
              <a:t>Linux</a:t>
            </a:r>
            <a:r>
              <a:rPr lang="zh-CN" altLang="en-US" dirty="0"/>
              <a:t>）进行编码，表示层就需要将数据编码成对方能理解的数据格式。</a:t>
            </a:r>
            <a:endParaRPr lang="en-US" altLang="zh-CN" dirty="0"/>
          </a:p>
          <a:p>
            <a:endParaRPr lang="en-US" altLang="zh-CN" dirty="0"/>
          </a:p>
          <a:p>
            <a:endParaRPr lang="en-US" altLang="zh-CN" dirty="0"/>
          </a:p>
          <a:p>
            <a:r>
              <a:rPr lang="zh-CN" altLang="en-US" dirty="0"/>
              <a:t>加密：   如果通信双方需要加密数据，就是通过表示层进行的加密，即使被窃听也不会被正确解读</a:t>
            </a:r>
            <a:endParaRPr lang="en-US" altLang="zh-CN" dirty="0"/>
          </a:p>
          <a:p>
            <a:r>
              <a:rPr lang="en-US" altLang="zh-CN" dirty="0"/>
              <a:t>           </a:t>
            </a:r>
          </a:p>
          <a:p>
            <a:r>
              <a:rPr lang="en-US" altLang="zh-CN" dirty="0"/>
              <a:t>             </a:t>
            </a:r>
            <a:r>
              <a:rPr lang="zh-CN" altLang="en-US" dirty="0"/>
              <a:t>例如，</a:t>
            </a:r>
            <a:r>
              <a:rPr lang="en-US" altLang="zh-CN" dirty="0"/>
              <a:t>Https</a:t>
            </a:r>
            <a:r>
              <a:rPr lang="zh-CN" altLang="en-US" dirty="0"/>
              <a:t>就是加密的</a:t>
            </a:r>
            <a:r>
              <a:rPr lang="en-US" altLang="zh-CN" dirty="0"/>
              <a:t>HTTP</a:t>
            </a:r>
            <a:r>
              <a:rPr lang="zh-CN" altLang="en-US" dirty="0"/>
              <a:t>数据</a:t>
            </a:r>
            <a:endParaRPr lang="en-US" altLang="zh-CN" dirty="0"/>
          </a:p>
          <a:p>
            <a:endParaRPr lang="en-US" altLang="zh-CN" dirty="0"/>
          </a:p>
          <a:p>
            <a:endParaRPr lang="en-US" altLang="zh-CN" dirty="0"/>
          </a:p>
          <a:p>
            <a:r>
              <a:rPr lang="zh-CN" altLang="en-US" dirty="0"/>
              <a:t>压缩：  为了提高传输效率，表示层还需要对数据进行压缩。通过压缩可以减少传输的数据量，提高传输速度，尤其是在带宽资源受限的网络中。</a:t>
            </a:r>
            <a:endParaRPr lang="en-US" altLang="zh-CN" dirty="0"/>
          </a:p>
          <a:p>
            <a:r>
              <a:rPr lang="en-US" altLang="zh-CN" dirty="0"/>
              <a:t>         </a:t>
            </a:r>
          </a:p>
          <a:p>
            <a:r>
              <a:rPr lang="en-US" altLang="zh-CN" dirty="0"/>
              <a:t>           </a:t>
            </a:r>
            <a:r>
              <a:rPr lang="zh-CN" altLang="en-US" dirty="0"/>
              <a:t>例如，常见的图片格式（</a:t>
            </a:r>
            <a:r>
              <a:rPr lang="en-US" altLang="zh-CN" dirty="0"/>
              <a:t>JPG</a:t>
            </a:r>
            <a:r>
              <a:rPr lang="zh-CN" altLang="en-US" dirty="0"/>
              <a:t>、</a:t>
            </a:r>
            <a:r>
              <a:rPr lang="en-US" altLang="zh-CN" dirty="0"/>
              <a:t>PNG</a:t>
            </a:r>
            <a:r>
              <a:rPr lang="zh-CN" altLang="en-US" dirty="0"/>
              <a:t>）或者视频格式（</a:t>
            </a:r>
            <a:r>
              <a:rPr lang="en-US" altLang="zh-CN" dirty="0"/>
              <a:t>H.264</a:t>
            </a:r>
            <a:r>
              <a:rPr lang="zh-CN" altLang="en-US" dirty="0"/>
              <a:t>、</a:t>
            </a:r>
            <a:r>
              <a:rPr lang="en-US" altLang="zh-CN" dirty="0"/>
              <a:t>MP4</a:t>
            </a:r>
            <a:r>
              <a:rPr lang="zh-CN" altLang="en-US" dirty="0"/>
              <a:t>）背后都有表示层。</a:t>
            </a:r>
            <a:endParaRPr lang="en-US" altLang="zh-CN" dirty="0"/>
          </a:p>
          <a:p>
            <a:endParaRPr lang="en-US" altLang="zh-CN" dirty="0"/>
          </a:p>
          <a:p>
            <a:endParaRPr lang="en-US" altLang="zh-CN" dirty="0"/>
          </a:p>
          <a:p>
            <a:r>
              <a:rPr lang="zh-CN" altLang="en-US" dirty="0"/>
              <a:t>总的来说，假如传输的是一段视频，就是通过对视频进行压缩、加密和转换格式，保证不同终端都能够正确播放（强调播放而非接收）该段视频。</a:t>
            </a:r>
            <a:endParaRPr lang="en-US" altLang="zh-CN" dirty="0"/>
          </a:p>
          <a:p>
            <a:endParaRPr lang="en-US" altLang="zh-CN" dirty="0"/>
          </a:p>
          <a:p>
            <a:r>
              <a:rPr lang="zh-CN" altLang="en-US" dirty="0"/>
              <a:t>表示层就是一个“翻译员”，让不同平台、不同系统之间能够顺利交换数据，同时确保数据传输是高效、安全的。</a:t>
            </a:r>
            <a:endParaRPr lang="en-US" altLang="zh-CN" dirty="0"/>
          </a:p>
          <a:p>
            <a:endParaRPr lang="en-US" altLang="zh-CN" dirty="0"/>
          </a:p>
          <a:p>
            <a:r>
              <a:rPr lang="zh-CN" altLang="en-US" dirty="0"/>
              <a:t>表示层的职责并非控制数据传输，而是处理数据的“内容和格式”。</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8</a:t>
            </a:fld>
            <a:endParaRPr lang="zh-CN" altLang="en-US"/>
          </a:p>
        </p:txBody>
      </p:sp>
    </p:spTree>
    <p:extLst>
      <p:ext uri="{BB962C8B-B14F-4D97-AF65-F5344CB8AC3E}">
        <p14:creationId xmlns:p14="http://schemas.microsoft.com/office/powerpoint/2010/main" val="1476911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位于第五层，介于表示层和传输层之间</a:t>
            </a:r>
            <a:endParaRPr lang="en-US" altLang="zh-CN" dirty="0"/>
          </a:p>
          <a:p>
            <a:endParaRPr lang="en-US" altLang="zh-CN" dirty="0"/>
          </a:p>
          <a:p>
            <a:r>
              <a:rPr lang="zh-CN" altLang="en-US" dirty="0"/>
              <a:t>主要任务就是对双方多轮会话进行建立、管理和终止。</a:t>
            </a:r>
            <a:endParaRPr lang="en-US" altLang="zh-CN" dirty="0"/>
          </a:p>
          <a:p>
            <a:endParaRPr lang="en-US" altLang="zh-CN" dirty="0"/>
          </a:p>
          <a:p>
            <a:r>
              <a:rPr lang="zh-CN" altLang="en-US" dirty="0"/>
              <a:t>会话层主要负责双方通话的初始化，确保双方可以有序地进行交互。一旦会话建立，还需要管理会话的生命周期。这包括跟踪双方的状态、记录会话的各个阶段并加以控制，如控制数据流的方向和传输的顺序；通话结束后，通知双方会话结束，不会出现数据丢失或中途断开的问题。</a:t>
            </a:r>
            <a:endParaRPr lang="en-US" altLang="zh-CN" dirty="0"/>
          </a:p>
          <a:p>
            <a:endParaRPr lang="en-US" altLang="zh-CN" dirty="0"/>
          </a:p>
          <a:p>
            <a:endParaRPr lang="en-US" altLang="zh-CN" dirty="0"/>
          </a:p>
          <a:p>
            <a:r>
              <a:rPr lang="zh-CN" altLang="en-US" dirty="0"/>
              <a:t>在长时间会话中，通信可能会因为某些原因中断，如网络丢包或延迟。会话层会负责进行数据同步，标记数据交换的位置，确保会话恢复后双方从断点开始传输而无需之前的传输。</a:t>
            </a:r>
            <a:endParaRPr lang="en-US" altLang="zh-CN" dirty="0"/>
          </a:p>
          <a:p>
            <a:endParaRPr lang="en-US" altLang="zh-CN" dirty="0"/>
          </a:p>
          <a:p>
            <a:endParaRPr lang="en-US" altLang="zh-CN" dirty="0"/>
          </a:p>
          <a:p>
            <a:r>
              <a:rPr lang="zh-CN" altLang="en-US" dirty="0"/>
              <a:t>半双工</a:t>
            </a:r>
            <a:r>
              <a:rPr lang="en-US" altLang="zh-CN" dirty="0"/>
              <a:t>/</a:t>
            </a:r>
            <a:r>
              <a:rPr lang="zh-CN" altLang="en-US" dirty="0"/>
              <a:t>全双工确认是控制和管理通信模式，保证在合适时机切换双方发送和接收任务。全双工指的是双方同时可以发送和接收数据（如手机通信）；半双工指的是终端同时只能是发送方或接收方，不能边接受边发送（对讲机）。</a:t>
            </a:r>
            <a:endParaRPr lang="en-US" altLang="zh-CN" dirty="0"/>
          </a:p>
          <a:p>
            <a:endParaRPr lang="en-US" altLang="zh-CN" dirty="0"/>
          </a:p>
          <a:p>
            <a:r>
              <a:rPr lang="zh-CN" altLang="en-US" dirty="0"/>
              <a:t>会话层的主要功能总的来说就是管理通信会话的生命周期，确保数据的有序交换，并为上层应用提供会话控制和数据同步等服务。</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9</a:t>
            </a:fld>
            <a:endParaRPr lang="zh-CN" altLang="en-US"/>
          </a:p>
        </p:txBody>
      </p:sp>
    </p:spTree>
    <p:extLst>
      <p:ext uri="{BB962C8B-B14F-4D97-AF65-F5344CB8AC3E}">
        <p14:creationId xmlns:p14="http://schemas.microsoft.com/office/powerpoint/2010/main" val="2312089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位于第四层，介于会话层和网络层之间。</a:t>
            </a:r>
            <a:endParaRPr lang="en-US" altLang="zh-CN" dirty="0"/>
          </a:p>
          <a:p>
            <a:endParaRPr lang="en-US" altLang="zh-CN" dirty="0"/>
          </a:p>
          <a:p>
            <a:r>
              <a:rPr lang="zh-CN" altLang="en-US" dirty="0"/>
              <a:t>承下启下的作用，高层就是关于内容而不关心如何传输；下层是关心传输过程，而不关心传输的是什么内容。</a:t>
            </a:r>
            <a:endParaRPr lang="en-US" altLang="zh-CN" dirty="0"/>
          </a:p>
          <a:p>
            <a:endParaRPr lang="en-US" altLang="zh-CN" dirty="0"/>
          </a:p>
          <a:p>
            <a:r>
              <a:rPr lang="zh-CN" altLang="en-US" dirty="0"/>
              <a:t>传输层的主要任务就是提供端到端（强调端到端）的数据可靠传输服务。</a:t>
            </a:r>
            <a:endParaRPr lang="en-US" altLang="zh-CN" dirty="0"/>
          </a:p>
          <a:p>
            <a:endParaRPr lang="en-US" altLang="zh-CN" dirty="0"/>
          </a:p>
          <a:p>
            <a:r>
              <a:rPr lang="zh-CN" altLang="en-US" dirty="0"/>
              <a:t>用快递来作比喻的话，传输层就像邮局系统或者将东西打包好，负责将信件从一个地方送到另一个地方，确保快递内容不被篡改并按时送到，确保收件人收到的是完整并且正确的信件（保证数据的顺序和完整性）</a:t>
            </a:r>
            <a:endParaRPr lang="en-US" altLang="zh-CN" dirty="0"/>
          </a:p>
          <a:p>
            <a:endParaRPr lang="en-US" altLang="zh-CN" dirty="0"/>
          </a:p>
          <a:p>
            <a:r>
              <a:rPr lang="zh-CN" altLang="en-US" dirty="0"/>
              <a:t>要实现该目的，需要进行如下操作</a:t>
            </a:r>
            <a:endParaRPr lang="en-US" altLang="zh-CN" dirty="0"/>
          </a:p>
          <a:p>
            <a:endParaRPr lang="en-US" altLang="zh-CN" dirty="0"/>
          </a:p>
          <a:p>
            <a:pPr marL="228600" indent="-228600">
              <a:buAutoNum type="arabicPeriod"/>
            </a:pPr>
            <a:r>
              <a:rPr lang="zh-CN" altLang="en-US" dirty="0"/>
              <a:t>数据分段与重组：     一般数据非常大，不可能通过一个段全部传输完毕，就如同一根长棍子的话，运输是很难的；数据分段与重组就是将应用层传下来的数据分成适合网络层（下层）数据传输的小数据块</a:t>
            </a:r>
            <a:r>
              <a:rPr lang="en-US" altLang="zh-CN" dirty="0"/>
              <a:t>(segment</a:t>
            </a:r>
            <a:r>
              <a:rPr lang="zh-CN" altLang="en-US" dirty="0"/>
              <a:t>，段</a:t>
            </a:r>
            <a:r>
              <a:rPr lang="en-US" altLang="zh-CN" dirty="0"/>
              <a:t>)</a:t>
            </a:r>
            <a:r>
              <a:rPr lang="zh-CN" altLang="en-US" dirty="0"/>
              <a:t>，这些段会在对端被重新组装成原始数据。</a:t>
            </a:r>
            <a:endParaRPr lang="en-US" altLang="zh-CN" dirty="0"/>
          </a:p>
          <a:p>
            <a:pPr marL="228600" indent="-228600">
              <a:buAutoNum type="arabicPeriod"/>
            </a:pPr>
            <a:endParaRPr lang="en-US" altLang="zh-CN" dirty="0"/>
          </a:p>
          <a:p>
            <a:pPr marL="228600" indent="-228600">
              <a:buAutoNum type="arabicPeriod"/>
            </a:pPr>
            <a:r>
              <a:rPr lang="zh-CN" altLang="en-US" dirty="0"/>
              <a:t>流量控制：防止接收方的缓冲区溢出，确保发送方不会过快发送数据，接收方能及时处理。</a:t>
            </a:r>
            <a:endParaRPr lang="en-US" altLang="zh-CN" dirty="0"/>
          </a:p>
          <a:p>
            <a:pPr marL="228600" indent="-228600">
              <a:buAutoNum type="arabicPeriod"/>
            </a:pPr>
            <a:endParaRPr lang="en-US" altLang="zh-CN" dirty="0"/>
          </a:p>
          <a:p>
            <a:pPr marL="228600" indent="-228600">
              <a:buAutoNum type="arabicPeriod"/>
            </a:pPr>
            <a:r>
              <a:rPr lang="zh-CN" altLang="en-US" dirty="0"/>
              <a:t>错误检测与修正：通过校验和的机制检测传输中的错误。如果发现错误，传输层要求重新发送数据。</a:t>
            </a:r>
            <a:endParaRPr lang="en-US" altLang="zh-CN" dirty="0"/>
          </a:p>
          <a:p>
            <a:pPr marL="228600" indent="-228600">
              <a:buAutoNum type="arabicPeriod"/>
            </a:pPr>
            <a:endParaRPr lang="en-US" altLang="zh-CN" dirty="0"/>
          </a:p>
          <a:p>
            <a:pPr marL="228600" indent="-228600">
              <a:buAutoNum type="arabicPeriod"/>
            </a:pPr>
            <a:r>
              <a:rPr lang="zh-CN" altLang="en-US" dirty="0"/>
              <a:t>可靠性保证：针对</a:t>
            </a:r>
            <a:r>
              <a:rPr lang="en-US" altLang="zh-CN" dirty="0"/>
              <a:t>TCP</a:t>
            </a:r>
            <a:r>
              <a:rPr lang="zh-CN" altLang="en-US" dirty="0"/>
              <a:t>协议，传输层提供数据的可靠传输，确保数据无丢失、无重复且按正确顺序到达。</a:t>
            </a:r>
            <a:endParaRPr lang="en-US" altLang="zh-CN" dirty="0"/>
          </a:p>
          <a:p>
            <a:pPr marL="228600" indent="-228600">
              <a:buAutoNum type="arabicPeriod"/>
            </a:pPr>
            <a:endParaRPr lang="en-US" altLang="zh-CN" dirty="0"/>
          </a:p>
          <a:p>
            <a:pPr marL="0" indent="0">
              <a:buNone/>
            </a:pPr>
            <a:endParaRPr lang="en-US" altLang="zh-CN" dirty="0"/>
          </a:p>
          <a:p>
            <a:pPr marL="0" indent="0">
              <a:buNone/>
            </a:pPr>
            <a:r>
              <a:rPr lang="zh-CN" altLang="en-US" dirty="0"/>
              <a:t>常用的协议有两种：</a:t>
            </a:r>
            <a:endParaRPr lang="en-US" altLang="zh-CN" dirty="0"/>
          </a:p>
          <a:p>
            <a:pPr marL="0" indent="0">
              <a:buNone/>
            </a:pPr>
            <a:endParaRPr lang="en-US" altLang="zh-CN" dirty="0"/>
          </a:p>
          <a:p>
            <a:pPr marL="228600" indent="-228600">
              <a:buAutoNum type="arabicPeriod"/>
            </a:pPr>
            <a:r>
              <a:rPr lang="en-US" altLang="zh-CN" dirty="0"/>
              <a:t>TCP</a:t>
            </a:r>
            <a:r>
              <a:rPr lang="zh-CN" altLang="en-US" dirty="0"/>
              <a:t>：</a:t>
            </a:r>
            <a:r>
              <a:rPr lang="en-US" altLang="zh-CN" dirty="0"/>
              <a:t>Transmission Control Protocol</a:t>
            </a:r>
            <a:r>
              <a:rPr lang="zh-CN" altLang="en-US" dirty="0"/>
              <a:t>传输控制协议，面向连接的传输协议，提供流量控制、拥塞控制、错误检测等机制。要经过几次握手进行数据传输；可靠性较高，但传输速度较慢。</a:t>
            </a:r>
            <a:endParaRPr lang="en-US" altLang="zh-CN" dirty="0"/>
          </a:p>
          <a:p>
            <a:pPr marL="228600" indent="-228600">
              <a:buAutoNum type="arabicPeriod"/>
            </a:pPr>
            <a:endParaRPr lang="en-US" altLang="zh-CN" dirty="0"/>
          </a:p>
          <a:p>
            <a:pPr marL="228600" indent="-228600">
              <a:buAutoNum type="arabicPeriod"/>
            </a:pPr>
            <a:r>
              <a:rPr lang="en-US" altLang="zh-CN" dirty="0"/>
              <a:t>UDP</a:t>
            </a:r>
            <a:r>
              <a:rPr lang="zh-CN" altLang="en-US" dirty="0"/>
              <a:t>：</a:t>
            </a:r>
            <a:r>
              <a:rPr lang="en-US" altLang="zh-CN" dirty="0"/>
              <a:t>User Datagram Protocol</a:t>
            </a:r>
            <a:r>
              <a:rPr lang="zh-CN" altLang="en-US" dirty="0"/>
              <a:t>用户数据报协议，不面向连接的传输协议，不保证可靠性和顺序，适用于实时性要求较高且可靠性要求不是特别高的应用。</a:t>
            </a:r>
            <a:endParaRPr lang="en-US" altLang="zh-CN" dirty="0"/>
          </a:p>
          <a:p>
            <a:endParaRPr lang="en-US" altLang="zh-CN" dirty="0"/>
          </a:p>
          <a:p>
            <a:endParaRPr lang="en-US" altLang="zh-CN" dirty="0"/>
          </a:p>
          <a:p>
            <a:r>
              <a:rPr lang="zh-CN" altLang="en-US" dirty="0"/>
              <a:t>总的来说，传输层是确保应用程序之间可靠通信的关键层，承上启下。</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10</a:t>
            </a:fld>
            <a:endParaRPr lang="zh-CN" altLang="en-US"/>
          </a:p>
        </p:txBody>
      </p:sp>
    </p:spTree>
    <p:extLst>
      <p:ext uri="{BB962C8B-B14F-4D97-AF65-F5344CB8AC3E}">
        <p14:creationId xmlns:p14="http://schemas.microsoft.com/office/powerpoint/2010/main" val="301762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位于第三层</a:t>
            </a:r>
            <a:endParaRPr lang="en-US" altLang="zh-CN" dirty="0"/>
          </a:p>
          <a:p>
            <a:endParaRPr lang="en-US" altLang="zh-CN" dirty="0"/>
          </a:p>
          <a:p>
            <a:r>
              <a:rPr lang="zh-CN" altLang="en-US" dirty="0"/>
              <a:t>主要任务就是对实现不同网络的用户之间的数据包传输，关注端到端</a:t>
            </a:r>
            <a:endParaRPr lang="en-US" altLang="zh-CN" dirty="0"/>
          </a:p>
          <a:p>
            <a:endParaRPr lang="en-US" altLang="zh-CN" dirty="0"/>
          </a:p>
          <a:p>
            <a:r>
              <a:rPr lang="zh-CN" altLang="en-US" dirty="0"/>
              <a:t>主要有三个作用：逻辑寻址、路由和分组转发</a:t>
            </a:r>
            <a:endParaRPr lang="en-US" altLang="zh-CN" dirty="0"/>
          </a:p>
          <a:p>
            <a:endParaRPr lang="en-US" altLang="zh-CN" dirty="0"/>
          </a:p>
          <a:p>
            <a:r>
              <a:rPr lang="zh-CN" altLang="en-US" dirty="0"/>
              <a:t>逻辑寻址：根据</a:t>
            </a:r>
            <a:r>
              <a:rPr lang="en-US" altLang="zh-CN" dirty="0"/>
              <a:t>IP</a:t>
            </a:r>
            <a:r>
              <a:rPr lang="zh-CN" altLang="en-US" dirty="0"/>
              <a:t>地址寻找到目标用户所在的网络。就如同快递传输中的找到收件人所在的菜鸟驿站</a:t>
            </a:r>
            <a:endParaRPr lang="en-US" altLang="zh-CN" dirty="0"/>
          </a:p>
          <a:p>
            <a:endParaRPr lang="en-US" altLang="zh-CN" dirty="0"/>
          </a:p>
          <a:p>
            <a:r>
              <a:rPr lang="zh-CN" altLang="en-US" dirty="0"/>
              <a:t>路由：根据目标用户地址，从多个可用路径中选取一个最优路径进行数据传输。就如同从快递系统中建立起收件人和发件人</a:t>
            </a:r>
            <a:r>
              <a:rPr lang="en-US" altLang="zh-CN" dirty="0"/>
              <a:t>(</a:t>
            </a:r>
            <a:r>
              <a:rPr lang="zh-CN" altLang="en-US" dirty="0"/>
              <a:t>菜鸟驿站</a:t>
            </a:r>
            <a:r>
              <a:rPr lang="en-US" altLang="zh-CN" dirty="0"/>
              <a:t>)</a:t>
            </a:r>
            <a:r>
              <a:rPr lang="zh-CN" altLang="en-US" dirty="0"/>
              <a:t>之间的最佳传输路径。这通过一个路由表维护和获取。</a:t>
            </a:r>
            <a:endParaRPr lang="en-US" altLang="zh-CN" dirty="0"/>
          </a:p>
          <a:p>
            <a:endParaRPr lang="en-US" altLang="zh-CN" dirty="0"/>
          </a:p>
          <a:p>
            <a:r>
              <a:rPr lang="zh-CN" altLang="en-US" dirty="0"/>
              <a:t>分组转发：根据</a:t>
            </a:r>
            <a:r>
              <a:rPr lang="en-US" altLang="zh-CN" dirty="0"/>
              <a:t>IP</a:t>
            </a:r>
            <a:r>
              <a:rPr lang="zh-CN" altLang="en-US" dirty="0"/>
              <a:t>地址和路由表，对途中经过的数据包转发到合适的下一跳。 如同快递系统中从北京到常州的快递到郑州了，郑州从路由表可以查出要到常州的快递下一站是南京，接着这个快递就会发向南京，一直到最后一站即常州的某个菜鸟驿站。</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11</a:t>
            </a:fld>
            <a:endParaRPr lang="zh-CN" altLang="en-US"/>
          </a:p>
        </p:txBody>
      </p:sp>
    </p:spTree>
    <p:extLst>
      <p:ext uri="{BB962C8B-B14F-4D97-AF65-F5344CB8AC3E}">
        <p14:creationId xmlns:p14="http://schemas.microsoft.com/office/powerpoint/2010/main" val="2576170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数据链路层位于</a:t>
            </a:r>
            <a:r>
              <a:rPr lang="en-US" altLang="zh-CN" dirty="0"/>
              <a:t>OSI</a:t>
            </a:r>
            <a:r>
              <a:rPr lang="zh-CN" altLang="en-US" dirty="0"/>
              <a:t>模型的第二层，主要保证数据在物理介质上传输的可靠性，主要关注的是单跳传输。</a:t>
            </a:r>
            <a:endParaRPr lang="en-US" altLang="zh-CN" dirty="0"/>
          </a:p>
          <a:p>
            <a:endParaRPr lang="en-US" altLang="zh-CN" dirty="0"/>
          </a:p>
          <a:p>
            <a:r>
              <a:rPr lang="zh-CN" altLang="en-US" dirty="0"/>
              <a:t>以快递传输为例，数据链路层关注的就是每一跳的传输以及最后一跳，即菜鸟驿站到用户手中这一部分的数据传输。计算机网络就是指的局域网内的传输</a:t>
            </a:r>
            <a:endParaRPr lang="en-US" altLang="zh-CN" dirty="0"/>
          </a:p>
          <a:p>
            <a:endParaRPr lang="en-US" altLang="zh-CN" dirty="0"/>
          </a:p>
          <a:p>
            <a:r>
              <a:rPr lang="zh-CN" altLang="en-US" dirty="0"/>
              <a:t>封装成帧：帧</a:t>
            </a:r>
            <a:r>
              <a:rPr lang="en-US" altLang="zh-CN" dirty="0"/>
              <a:t>Frame</a:t>
            </a:r>
            <a:r>
              <a:rPr lang="zh-CN" altLang="en-US" dirty="0"/>
              <a:t>是计算机网络中除了比特之外应该算第二小的基本单位了，帧的形成就是在数据链路层进行的；</a:t>
            </a:r>
            <a:endParaRPr lang="en-US" altLang="zh-CN" dirty="0"/>
          </a:p>
          <a:p>
            <a:endParaRPr lang="en-US" altLang="zh-CN" dirty="0"/>
          </a:p>
          <a:p>
            <a:r>
              <a:rPr lang="zh-CN" altLang="en-US" dirty="0"/>
              <a:t>另外，保证每个帧在每一跳传输的错误检测与纠正以及流量控制。传输层关注的是端到端的，而数据链路层关注的是每一跳。传输层关注的是封装之前的内容，数据链路层关注的是封装后的内容？？（个人理解）</a:t>
            </a:r>
            <a:endParaRPr lang="en-US" altLang="zh-CN" dirty="0"/>
          </a:p>
          <a:p>
            <a:endParaRPr lang="en-US" altLang="zh-CN" dirty="0"/>
          </a:p>
          <a:p>
            <a:r>
              <a:rPr lang="zh-CN" altLang="en-US" dirty="0"/>
              <a:t>访问控制是数据链路层一个非常重要的功能，大家如何访问网络资源。多个设备可能会同时访问同一物理介质，数据链路层的</a:t>
            </a:r>
            <a:r>
              <a:rPr lang="en-US" altLang="zh-CN" dirty="0"/>
              <a:t>MAC</a:t>
            </a:r>
            <a:r>
              <a:rPr lang="zh-CN" altLang="en-US" dirty="0"/>
              <a:t>协议负责访问控制机制，协调设备的访问，避免发生冲突。</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12</a:t>
            </a:fld>
            <a:endParaRPr lang="zh-CN" altLang="en-US"/>
          </a:p>
        </p:txBody>
      </p:sp>
    </p:spTree>
    <p:extLst>
      <p:ext uri="{BB962C8B-B14F-4D97-AF65-F5344CB8AC3E}">
        <p14:creationId xmlns:p14="http://schemas.microsoft.com/office/powerpoint/2010/main" val="4021930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a:t>
            </a:r>
            <a:r>
              <a:rPr lang="en-US" altLang="zh-CN" dirty="0"/>
              <a:t>OSI</a:t>
            </a:r>
            <a:r>
              <a:rPr lang="zh-CN" altLang="en-US" dirty="0"/>
              <a:t>模型的最底层，负责真实的数据比特流传输过程。对应快递传输就是究竟要采用什么方式传输快递，火车？飞机？小三轮或者自行车</a:t>
            </a:r>
            <a:endParaRPr lang="en-US" altLang="zh-CN" dirty="0"/>
          </a:p>
          <a:p>
            <a:endParaRPr lang="en-US" altLang="zh-CN" dirty="0"/>
          </a:p>
          <a:p>
            <a:r>
              <a:rPr lang="zh-CN" altLang="en-US" dirty="0"/>
              <a:t>要负责选用合适的装车、传输、避免交通事故等等</a:t>
            </a:r>
            <a:endParaRPr lang="en-US" altLang="zh-CN" dirty="0"/>
          </a:p>
          <a:p>
            <a:endParaRPr lang="en-US" altLang="zh-CN" dirty="0"/>
          </a:p>
          <a:p>
            <a:r>
              <a:rPr lang="zh-CN" altLang="en-US" dirty="0"/>
              <a:t>在介质上传输需要</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13</a:t>
            </a:fld>
            <a:endParaRPr lang="zh-CN" altLang="en-US"/>
          </a:p>
        </p:txBody>
      </p:sp>
    </p:spTree>
    <p:extLst>
      <p:ext uri="{BB962C8B-B14F-4D97-AF65-F5344CB8AC3E}">
        <p14:creationId xmlns:p14="http://schemas.microsoft.com/office/powerpoint/2010/main" val="1259616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之前讲了</a:t>
            </a:r>
            <a:r>
              <a:rPr lang="en-US" altLang="zh-CN" dirty="0"/>
              <a:t>OSI</a:t>
            </a:r>
            <a:r>
              <a:rPr lang="zh-CN" altLang="en-US" dirty="0"/>
              <a:t>模型的七层架构，每一层呢都是独立的，只为其上层或者下层进行联系，是一种模块化的设计思想，</a:t>
            </a:r>
            <a:endParaRPr lang="en-US" altLang="zh-CN" dirty="0"/>
          </a:p>
          <a:p>
            <a:endParaRPr lang="en-US" altLang="zh-CN" dirty="0"/>
          </a:p>
          <a:p>
            <a:r>
              <a:rPr lang="zh-CN" altLang="en-US" dirty="0"/>
              <a:t>但是这种架构模型设计起来是非常复杂的，有很多功能可以合并到一起执行而无需再增加一个接口，导致复杂度升高，数据处理的速度下降等等。</a:t>
            </a:r>
            <a:endParaRPr lang="en-US" altLang="zh-CN" dirty="0"/>
          </a:p>
          <a:p>
            <a:endParaRPr lang="en-US" altLang="zh-CN" dirty="0"/>
          </a:p>
          <a:p>
            <a:r>
              <a:rPr lang="zh-CN" altLang="en-US" dirty="0"/>
              <a:t>在众多</a:t>
            </a:r>
            <a:r>
              <a:rPr lang="en-US" altLang="zh-CN" dirty="0"/>
              <a:t>OSI</a:t>
            </a:r>
            <a:r>
              <a:rPr lang="zh-CN" altLang="en-US" dirty="0"/>
              <a:t>架构变种中，</a:t>
            </a:r>
            <a:r>
              <a:rPr lang="en-US" altLang="zh-CN" dirty="0"/>
              <a:t>TCP/IP</a:t>
            </a:r>
            <a:r>
              <a:rPr lang="zh-CN" altLang="en-US" dirty="0"/>
              <a:t>架构是一种非常常用的网络架构。</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14</a:t>
            </a:fld>
            <a:endParaRPr lang="zh-CN" altLang="en-US"/>
          </a:p>
        </p:txBody>
      </p:sp>
    </p:spTree>
    <p:extLst>
      <p:ext uri="{BB962C8B-B14F-4D97-AF65-F5344CB8AC3E}">
        <p14:creationId xmlns:p14="http://schemas.microsoft.com/office/powerpoint/2010/main" val="2520923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比如说</a:t>
            </a:r>
            <a:r>
              <a:rPr lang="en-US" altLang="zh-CN" dirty="0"/>
              <a:t>TCP/IP</a:t>
            </a:r>
            <a:r>
              <a:rPr lang="zh-CN" altLang="en-US" dirty="0"/>
              <a:t>协议一般是有四层，其中</a:t>
            </a:r>
            <a:r>
              <a:rPr lang="en-US" altLang="zh-CN" dirty="0"/>
              <a:t>OSI</a:t>
            </a:r>
            <a:r>
              <a:rPr lang="zh-CN" altLang="en-US" dirty="0"/>
              <a:t>的传输层和网络层是保留的，但是表示层和会话层这两层的功能合并到了应用层，形成应用层；数据链路层和物理层也进行了合并形成了网络接口层。</a:t>
            </a:r>
            <a:endParaRPr lang="en-US" altLang="zh-CN" dirty="0"/>
          </a:p>
          <a:p>
            <a:endParaRPr lang="en-US" altLang="zh-CN" dirty="0"/>
          </a:p>
          <a:p>
            <a:r>
              <a:rPr lang="zh-CN" altLang="en-US" dirty="0"/>
              <a:t>无线传感器网络采用的协议也是基于</a:t>
            </a:r>
            <a:r>
              <a:rPr lang="en-US" altLang="zh-CN" dirty="0"/>
              <a:t>TCP/IP</a:t>
            </a:r>
            <a:r>
              <a:rPr lang="zh-CN" altLang="en-US" dirty="0"/>
              <a:t>协议修改得到的，主要针对无线传感器网络的特点，如能耗降低方面，对</a:t>
            </a:r>
            <a:r>
              <a:rPr lang="en-US" altLang="zh-CN" dirty="0"/>
              <a:t>TCP/IP</a:t>
            </a:r>
            <a:r>
              <a:rPr lang="zh-CN" altLang="en-US" dirty="0"/>
              <a:t>协议进行了修改，我们之后会逐层的去讲解。</a:t>
            </a:r>
            <a:endParaRPr lang="en-US" altLang="zh-CN" dirty="0"/>
          </a:p>
          <a:p>
            <a:endParaRPr lang="en-US" altLang="zh-CN" dirty="0"/>
          </a:p>
          <a:p>
            <a:r>
              <a:rPr lang="zh-CN" altLang="en-US" dirty="0"/>
              <a:t>关于</a:t>
            </a:r>
            <a:r>
              <a:rPr lang="en-US" altLang="zh-CN" dirty="0"/>
              <a:t>OSI</a:t>
            </a:r>
            <a:r>
              <a:rPr lang="zh-CN" altLang="en-US" dirty="0"/>
              <a:t>模型的讲解到这里就告一段落，</a:t>
            </a:r>
            <a:r>
              <a:rPr lang="en-US" altLang="zh-CN" dirty="0"/>
              <a:t>OSI</a:t>
            </a:r>
            <a:r>
              <a:rPr lang="zh-CN" altLang="en-US" dirty="0"/>
              <a:t>模型的每一层究竟如何运作，其详细情况会在计算机网络中进行阐述，我们本门课就不过多讨论和介绍，只介绍和无线传感器网络相关的方面。</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15</a:t>
            </a:fld>
            <a:endParaRPr lang="zh-CN" altLang="en-US"/>
          </a:p>
        </p:txBody>
      </p:sp>
    </p:spTree>
    <p:extLst>
      <p:ext uri="{BB962C8B-B14F-4D97-AF65-F5344CB8AC3E}">
        <p14:creationId xmlns:p14="http://schemas.microsoft.com/office/powerpoint/2010/main" val="772500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比如说</a:t>
            </a:r>
            <a:r>
              <a:rPr lang="en-US" altLang="zh-CN" dirty="0"/>
              <a:t>TCP/IP</a:t>
            </a:r>
            <a:r>
              <a:rPr lang="zh-CN" altLang="en-US" dirty="0"/>
              <a:t>协议一般是有四层，其中</a:t>
            </a:r>
            <a:r>
              <a:rPr lang="en-US" altLang="zh-CN" dirty="0"/>
              <a:t>OSI</a:t>
            </a:r>
            <a:r>
              <a:rPr lang="zh-CN" altLang="en-US" dirty="0"/>
              <a:t>的传输层和网络层是保留的，但是表示层和会话层这两层的功能合并到了应用层，形成应用层；数据链路层和物理层也进行了合并形成了网络接口层。</a:t>
            </a:r>
            <a:endParaRPr lang="en-US" altLang="zh-CN" dirty="0"/>
          </a:p>
          <a:p>
            <a:endParaRPr lang="en-US" altLang="zh-CN" dirty="0"/>
          </a:p>
          <a:p>
            <a:r>
              <a:rPr lang="zh-CN" altLang="en-US" dirty="0"/>
              <a:t>无线传感器网络采用的协议也是基于</a:t>
            </a:r>
            <a:r>
              <a:rPr lang="en-US" altLang="zh-CN" dirty="0"/>
              <a:t>TCP/IP</a:t>
            </a:r>
            <a:r>
              <a:rPr lang="zh-CN" altLang="en-US" dirty="0"/>
              <a:t>协议修改得到的，主要针对无线传感器网络的特点，如能耗降低方面，对</a:t>
            </a:r>
            <a:r>
              <a:rPr lang="en-US" altLang="zh-CN" dirty="0"/>
              <a:t>TCP/IP</a:t>
            </a:r>
            <a:r>
              <a:rPr lang="zh-CN" altLang="en-US" dirty="0"/>
              <a:t>协议进行了修改，我们之后会逐层的去讲解。</a:t>
            </a:r>
            <a:endParaRPr lang="en-US" altLang="zh-CN" dirty="0"/>
          </a:p>
          <a:p>
            <a:endParaRPr lang="en-US" altLang="zh-CN" dirty="0"/>
          </a:p>
          <a:p>
            <a:r>
              <a:rPr lang="zh-CN" altLang="en-US" dirty="0"/>
              <a:t>关于</a:t>
            </a:r>
            <a:r>
              <a:rPr lang="en-US" altLang="zh-CN" dirty="0"/>
              <a:t>OSI</a:t>
            </a:r>
            <a:r>
              <a:rPr lang="zh-CN" altLang="en-US" dirty="0"/>
              <a:t>模型的讲解到这里就告一段落，</a:t>
            </a:r>
            <a:r>
              <a:rPr lang="en-US" altLang="zh-CN" dirty="0"/>
              <a:t>OSI</a:t>
            </a:r>
            <a:r>
              <a:rPr lang="zh-CN" altLang="en-US" dirty="0"/>
              <a:t>模型的每一层究竟如何运作，其详细情况会在计算机网络中进行阐述，我们本门课就不过多讨论和介绍，只介绍和无线传感器网络相关的方面。</a:t>
            </a:r>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16</a:t>
            </a:fld>
            <a:endParaRPr lang="zh-CN" altLang="en-US"/>
          </a:p>
        </p:txBody>
      </p:sp>
    </p:spTree>
    <p:extLst>
      <p:ext uri="{BB962C8B-B14F-4D97-AF65-F5344CB8AC3E}">
        <p14:creationId xmlns:p14="http://schemas.microsoft.com/office/powerpoint/2010/main" val="2074026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17</a:t>
            </a:fld>
            <a:endParaRPr lang="zh-CN" altLang="en-US"/>
          </a:p>
        </p:txBody>
      </p:sp>
    </p:spTree>
    <p:extLst>
      <p:ext uri="{BB962C8B-B14F-4D97-AF65-F5344CB8AC3E}">
        <p14:creationId xmlns:p14="http://schemas.microsoft.com/office/powerpoint/2010/main" val="1752205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92961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6032" y="365126"/>
            <a:ext cx="8631936"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079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46888" y="365126"/>
            <a:ext cx="8650224"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246888" y="1825625"/>
            <a:ext cx="8650224"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Date Placeholder 3"/>
          <p:cNvSpPr>
            <a:spLocks noGrp="1"/>
          </p:cNvSpPr>
          <p:nvPr>
            <p:ph type="dt" sz="half" idx="10"/>
          </p:nvPr>
        </p:nvSpPr>
        <p:spPr>
          <a:xfrm>
            <a:off x="246888" y="6356351"/>
            <a:ext cx="2057400" cy="365125"/>
          </a:xfrm>
        </p:spPr>
        <p:txBody>
          <a:bodyPr/>
          <a:lstStyle/>
          <a:p>
            <a:endParaRPr lang="zh-CN" altLang="en-US" dirty="0"/>
          </a:p>
        </p:txBody>
      </p:sp>
      <p:sp>
        <p:nvSpPr>
          <p:cNvPr id="6" name="Footer Placeholder 4"/>
          <p:cNvSpPr>
            <a:spLocks noGrp="1"/>
          </p:cNvSpPr>
          <p:nvPr>
            <p:ph type="ftr" sz="quarter" idx="11"/>
          </p:nvPr>
        </p:nvSpPr>
        <p:spPr>
          <a:xfrm>
            <a:off x="3028950" y="6356351"/>
            <a:ext cx="3086100" cy="365125"/>
          </a:xfrm>
        </p:spPr>
        <p:txBody>
          <a:bodyPr/>
          <a:lstStyle/>
          <a:p>
            <a:endParaRPr lang="zh-CN" altLang="en-US"/>
          </a:p>
        </p:txBody>
      </p:sp>
      <p:sp>
        <p:nvSpPr>
          <p:cNvPr id="8" name="Slide Number Placeholder 5"/>
          <p:cNvSpPr>
            <a:spLocks noGrp="1"/>
          </p:cNvSpPr>
          <p:nvPr>
            <p:ph type="sldNum" sz="quarter" idx="12"/>
          </p:nvPr>
        </p:nvSpPr>
        <p:spPr>
          <a:xfrm>
            <a:off x="6839712"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3370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38062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14979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50652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74137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6" name="矩形 5"/>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Date Placeholder 3"/>
          <p:cNvSpPr>
            <a:spLocks noGrp="1"/>
          </p:cNvSpPr>
          <p:nvPr>
            <p:ph type="dt" sz="half" idx="10"/>
          </p:nvPr>
        </p:nvSpPr>
        <p:spPr>
          <a:xfrm>
            <a:off x="256032" y="6356350"/>
            <a:ext cx="2057400" cy="365125"/>
          </a:xfrm>
        </p:spPr>
        <p:txBody>
          <a:bodyPr/>
          <a:lstStyle/>
          <a:p>
            <a:endParaRPr lang="zh-CN" altLang="en-US"/>
          </a:p>
        </p:txBody>
      </p:sp>
      <p:sp>
        <p:nvSpPr>
          <p:cNvPr id="5" name="Footer Placeholder 4"/>
          <p:cNvSpPr>
            <a:spLocks noGrp="1"/>
          </p:cNvSpPr>
          <p:nvPr>
            <p:ph type="ftr" sz="quarter" idx="11"/>
          </p:nvPr>
        </p:nvSpPr>
        <p:spPr>
          <a:xfrm>
            <a:off x="3028950" y="6356351"/>
            <a:ext cx="3086100" cy="365125"/>
          </a:xfrm>
        </p:spPr>
        <p:txBody>
          <a:bodyPr/>
          <a:lstStyle/>
          <a:p>
            <a:endParaRPr lang="zh-CN" altLang="en-US"/>
          </a:p>
        </p:txBody>
      </p:sp>
      <p:sp>
        <p:nvSpPr>
          <p:cNvPr id="7" name="Slide Number Placeholder 5"/>
          <p:cNvSpPr>
            <a:spLocks noGrp="1"/>
          </p:cNvSpPr>
          <p:nvPr>
            <p:ph type="sldNum" sz="quarter" idx="12"/>
          </p:nvPr>
        </p:nvSpPr>
        <p:spPr>
          <a:xfrm>
            <a:off x="6830568" y="6356350"/>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91295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8480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矩形 4"/>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Date Placeholder 3"/>
          <p:cNvSpPr>
            <a:spLocks noGrp="1"/>
          </p:cNvSpPr>
          <p:nvPr>
            <p:ph type="dt" sz="half" idx="10"/>
          </p:nvPr>
        </p:nvSpPr>
        <p:spPr>
          <a:xfrm>
            <a:off x="628650" y="6356351"/>
            <a:ext cx="2057400" cy="365125"/>
          </a:xfrm>
        </p:spPr>
        <p:txBody>
          <a:bodyPr/>
          <a:lstStyle/>
          <a:p>
            <a:endParaRPr lang="zh-CN" altLang="en-US"/>
          </a:p>
        </p:txBody>
      </p:sp>
      <p:sp>
        <p:nvSpPr>
          <p:cNvPr id="4" name="Footer Placeholder 4"/>
          <p:cNvSpPr>
            <a:spLocks noGrp="1"/>
          </p:cNvSpPr>
          <p:nvPr>
            <p:ph type="ftr" sz="quarter" idx="11"/>
          </p:nvPr>
        </p:nvSpPr>
        <p:spPr>
          <a:xfrm>
            <a:off x="3028950" y="6356351"/>
            <a:ext cx="3086100" cy="365125"/>
          </a:xfr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366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254783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253423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05398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084668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6032" y="365126"/>
            <a:ext cx="8631936"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56032" y="1825625"/>
            <a:ext cx="8631936"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256032" y="6366766"/>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30568" y="633933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225629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63" r:id="rId4"/>
    <p:sldLayoutId id="2147483664" r:id="rId5"/>
    <p:sldLayoutId id="2147483665" r:id="rId6"/>
    <p:sldLayoutId id="2147483666" r:id="rId7"/>
    <p:sldLayoutId id="2147483673" r:id="rId8"/>
    <p:sldLayoutId id="2147483667" r:id="rId9"/>
    <p:sldLayoutId id="2147483672" r:id="rId10"/>
    <p:sldLayoutId id="2147483668" r:id="rId11"/>
    <p:sldLayoutId id="2147483669" r:id="rId12"/>
    <p:sldLayoutId id="2147483670" r:id="rId13"/>
    <p:sldLayoutId id="2147483671" r:id="rId14"/>
  </p:sldLayoutIdLst>
  <p:hf hdr="0" ftr="0" dt="0"/>
  <p:txStyles>
    <p:title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2.tmp"/><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9.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19.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slideLayout" Target="../slideLayouts/slideLayout9.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image" Target="../media/image2.tmp"/><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20.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slideLayout" Target="../slideLayouts/slideLayout9.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 Type="http://schemas.openxmlformats.org/officeDocument/2006/relationships/tags" Target="../tags/tag43.xml"/><Relationship Id="rId16" Type="http://schemas.openxmlformats.org/officeDocument/2006/relationships/tags" Target="../tags/tag57.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tags" Target="../tags/tag56.xml"/><Relationship Id="rId10" Type="http://schemas.openxmlformats.org/officeDocument/2006/relationships/tags" Target="../tags/tag51.xml"/><Relationship Id="rId19" Type="http://schemas.openxmlformats.org/officeDocument/2006/relationships/image" Target="../media/image2.tmp"/><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s>
</file>

<file path=ppt/slides/_rels/slide21.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image" Target="../media/image2.tmp"/><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2</a:t>
            </a:r>
            <a:r>
              <a:rPr lang="zh-CN" altLang="en-US" sz="5400" b="1" dirty="0">
                <a:solidFill>
                  <a:schemeClr val="tx1"/>
                </a:solidFill>
                <a:effectLst/>
                <a:latin typeface="Times New Roman" panose="02020603050405020304" pitchFamily="18" charset="0"/>
                <a:cs typeface="Times New Roman" panose="02020603050405020304" pitchFamily="18" charset="0"/>
              </a:rPr>
              <a:t>章 传感器网络的</a:t>
            </a:r>
            <a:br>
              <a:rPr lang="en-US" altLang="zh-CN" sz="5400" b="1" dirty="0">
                <a:solidFill>
                  <a:schemeClr val="tx1"/>
                </a:solidFill>
                <a:effectLst/>
                <a:latin typeface="Times New Roman" panose="02020603050405020304" pitchFamily="18" charset="0"/>
                <a:cs typeface="Times New Roman" panose="02020603050405020304" pitchFamily="18" charset="0"/>
              </a:rPr>
            </a:br>
            <a:r>
              <a:rPr lang="zh-CN" altLang="en-US" sz="5400" b="1" dirty="0">
                <a:solidFill>
                  <a:schemeClr val="tx1"/>
                </a:solidFill>
                <a:effectLst/>
              </a:rPr>
              <a:t>协议架构及关键技术</a:t>
            </a:r>
            <a:endParaRPr lang="zh-CN" altLang="en-US" sz="3200" b="1" dirty="0">
              <a:solidFill>
                <a:schemeClr val="tx1"/>
              </a:solidFill>
              <a:effectLst/>
            </a:endParaRPr>
          </a:p>
        </p:txBody>
      </p:sp>
      <p:sp>
        <p:nvSpPr>
          <p:cNvPr id="3" name="内容占位符 2"/>
          <p:cNvSpPr>
            <a:spLocks noGrp="1"/>
          </p:cNvSpPr>
          <p:nvPr>
            <p:ph idx="1"/>
          </p:nvPr>
        </p:nvSpPr>
        <p:spPr>
          <a:xfrm>
            <a:off x="531743" y="1924590"/>
            <a:ext cx="8080513" cy="4351338"/>
          </a:xfrm>
        </p:spPr>
        <p:txBody>
          <a:bodyPr>
            <a:normAutofit/>
          </a:bodyPr>
          <a:lstStyle/>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2.1 OSI</a:t>
            </a:r>
            <a:r>
              <a:rPr lang="zh-CN" altLang="en-US" sz="3600" b="1" spc="300" dirty="0">
                <a:latin typeface="Times New Roman" panose="02020603050405020304" pitchFamily="18" charset="0"/>
                <a:cs typeface="Times New Roman" panose="02020603050405020304" pitchFamily="18" charset="0"/>
              </a:rPr>
              <a:t>七层模型介绍</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2.2 </a:t>
            </a:r>
            <a:r>
              <a:rPr lang="zh-CN" altLang="en-US" sz="3600" b="1" spc="300" dirty="0">
                <a:latin typeface="Times New Roman" panose="02020603050405020304" pitchFamily="18" charset="0"/>
                <a:cs typeface="Times New Roman" panose="02020603050405020304" pitchFamily="18" charset="0"/>
              </a:rPr>
              <a:t>物理层协议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2.3 </a:t>
            </a:r>
            <a:r>
              <a:rPr lang="zh-CN" altLang="en-US" sz="3600" b="1" spc="300" dirty="0">
                <a:latin typeface="Times New Roman" panose="02020603050405020304" pitchFamily="18" charset="0"/>
                <a:cs typeface="Times New Roman" panose="02020603050405020304" pitchFamily="18" charset="0"/>
              </a:rPr>
              <a:t>数据链路层协议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2.4 </a:t>
            </a:r>
            <a:r>
              <a:rPr lang="zh-CN" altLang="en-US" sz="3600" b="1" spc="300" dirty="0">
                <a:latin typeface="Times New Roman" panose="02020603050405020304" pitchFamily="18" charset="0"/>
                <a:cs typeface="Times New Roman" panose="02020603050405020304" pitchFamily="18" charset="0"/>
              </a:rPr>
              <a:t>网络层协议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2.5 </a:t>
            </a:r>
            <a:r>
              <a:rPr lang="zh-CN" altLang="en-US" sz="3600" b="1" spc="300" dirty="0">
                <a:latin typeface="Times New Roman" panose="02020603050405020304" pitchFamily="18" charset="0"/>
                <a:cs typeface="Times New Roman" panose="02020603050405020304" pitchFamily="18" charset="0"/>
              </a:rPr>
              <a:t>传输层协议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2.6 </a:t>
            </a:r>
            <a:r>
              <a:rPr lang="zh-CN" altLang="en-US" sz="3600" b="1" spc="300" dirty="0">
                <a:latin typeface="Times New Roman" panose="02020603050405020304" pitchFamily="18" charset="0"/>
                <a:cs typeface="Times New Roman" panose="02020603050405020304" pitchFamily="18" charset="0"/>
              </a:rPr>
              <a:t>总结</a:t>
            </a:r>
            <a:endParaRPr lang="en-US" altLang="zh-CN" sz="3600" b="1" spc="3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1</a:t>
            </a:fld>
            <a:endParaRPr lang="zh-CN" altLang="en-US" dirty="0"/>
          </a:p>
        </p:txBody>
      </p:sp>
    </p:spTree>
    <p:extLst>
      <p:ext uri="{BB962C8B-B14F-4D97-AF65-F5344CB8AC3E}">
        <p14:creationId xmlns:p14="http://schemas.microsoft.com/office/powerpoint/2010/main" val="164131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2</a:t>
            </a:r>
            <a:r>
              <a:rPr lang="zh-CN" altLang="en-US" sz="5400" b="1" dirty="0">
                <a:solidFill>
                  <a:schemeClr val="tx1"/>
                </a:solidFill>
                <a:effectLst/>
                <a:latin typeface="Times New Roman" panose="02020603050405020304" pitchFamily="18" charset="0"/>
                <a:cs typeface="Times New Roman" panose="02020603050405020304" pitchFamily="18" charset="0"/>
              </a:rPr>
              <a:t>章 传感器网络的</a:t>
            </a:r>
            <a:br>
              <a:rPr lang="en-US" altLang="zh-CN" sz="5400" b="1" dirty="0">
                <a:solidFill>
                  <a:schemeClr val="tx1"/>
                </a:solidFill>
                <a:effectLst/>
                <a:latin typeface="Times New Roman" panose="02020603050405020304" pitchFamily="18" charset="0"/>
                <a:cs typeface="Times New Roman" panose="02020603050405020304" pitchFamily="18" charset="0"/>
              </a:rPr>
            </a:br>
            <a:r>
              <a:rPr lang="zh-CN" altLang="en-US" sz="5400" b="1" dirty="0">
                <a:solidFill>
                  <a:schemeClr val="tx1"/>
                </a:solidFill>
                <a:effectLst/>
              </a:rPr>
              <a:t>协议架构及关键技术</a:t>
            </a:r>
            <a:endParaRPr lang="zh-CN" altLang="en-US" sz="3200" b="1" dirty="0">
              <a:solidFill>
                <a:schemeClr val="tx1"/>
              </a:solidFill>
              <a:effectLst/>
            </a:endParaRPr>
          </a:p>
        </p:txBody>
      </p:sp>
      <p:sp>
        <p:nvSpPr>
          <p:cNvPr id="3" name="内容占位符 2"/>
          <p:cNvSpPr>
            <a:spLocks noGrp="1"/>
          </p:cNvSpPr>
          <p:nvPr>
            <p:ph idx="1"/>
          </p:nvPr>
        </p:nvSpPr>
        <p:spPr>
          <a:xfrm>
            <a:off x="531743" y="1924590"/>
            <a:ext cx="8080513" cy="4351338"/>
          </a:xfrm>
        </p:spPr>
        <p:txBody>
          <a:bodyPr>
            <a:normAutofit/>
          </a:bodyPr>
          <a:lstStyle/>
          <a:p>
            <a:pPr marL="0" indent="0">
              <a:lnSpc>
                <a:spcPct val="100000"/>
              </a:lnSpc>
              <a:buNone/>
            </a:pPr>
            <a:r>
              <a:rPr lang="en-US" altLang="zh-CN" sz="3600" b="1" spc="300" dirty="0">
                <a:solidFill>
                  <a:srgbClr val="C00000"/>
                </a:solidFill>
                <a:latin typeface="Times New Roman" panose="02020603050405020304" pitchFamily="18" charset="0"/>
                <a:cs typeface="Times New Roman" panose="02020603050405020304" pitchFamily="18" charset="0"/>
              </a:rPr>
              <a:t>2.1 OSI</a:t>
            </a:r>
            <a:r>
              <a:rPr lang="zh-CN" altLang="en-US" sz="3600" b="1" spc="300" dirty="0">
                <a:solidFill>
                  <a:srgbClr val="C00000"/>
                </a:solidFill>
                <a:latin typeface="Times New Roman" panose="02020603050405020304" pitchFamily="18" charset="0"/>
                <a:cs typeface="Times New Roman" panose="02020603050405020304" pitchFamily="18" charset="0"/>
              </a:rPr>
              <a:t>七层模型介绍</a:t>
            </a:r>
            <a:endParaRPr lang="en-US" altLang="zh-CN" sz="3600" b="1" spc="300" dirty="0">
              <a:solidFill>
                <a:srgbClr val="C00000"/>
              </a:solidFill>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2.2 </a:t>
            </a:r>
            <a:r>
              <a:rPr lang="zh-CN" altLang="en-US" sz="3600" b="1" spc="300" dirty="0">
                <a:latin typeface="Times New Roman" panose="02020603050405020304" pitchFamily="18" charset="0"/>
                <a:cs typeface="Times New Roman" panose="02020603050405020304" pitchFamily="18" charset="0"/>
              </a:rPr>
              <a:t>物理层协议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2.3 </a:t>
            </a:r>
            <a:r>
              <a:rPr lang="zh-CN" altLang="en-US" sz="3600" b="1" spc="300" dirty="0">
                <a:latin typeface="Times New Roman" panose="02020603050405020304" pitchFamily="18" charset="0"/>
                <a:cs typeface="Times New Roman" panose="02020603050405020304" pitchFamily="18" charset="0"/>
              </a:rPr>
              <a:t>数据链路层协议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2.4 </a:t>
            </a:r>
            <a:r>
              <a:rPr lang="zh-CN" altLang="en-US" sz="3600" b="1" spc="300" dirty="0">
                <a:latin typeface="Times New Roman" panose="02020603050405020304" pitchFamily="18" charset="0"/>
                <a:cs typeface="Times New Roman" panose="02020603050405020304" pitchFamily="18" charset="0"/>
              </a:rPr>
              <a:t>网络层协议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2.5 </a:t>
            </a:r>
            <a:r>
              <a:rPr lang="zh-CN" altLang="en-US" sz="3600" b="1" spc="300" dirty="0">
                <a:latin typeface="Times New Roman" panose="02020603050405020304" pitchFamily="18" charset="0"/>
                <a:cs typeface="Times New Roman" panose="02020603050405020304" pitchFamily="18" charset="0"/>
              </a:rPr>
              <a:t>传输层协议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2.6 </a:t>
            </a:r>
            <a:r>
              <a:rPr lang="zh-CN" altLang="en-US" sz="3600" b="1" spc="300" dirty="0">
                <a:latin typeface="Times New Roman" panose="02020603050405020304" pitchFamily="18" charset="0"/>
                <a:cs typeface="Times New Roman" panose="02020603050405020304" pitchFamily="18" charset="0"/>
              </a:rPr>
              <a:t>总结</a:t>
            </a:r>
            <a:endParaRPr lang="en-US" altLang="zh-CN" sz="3600" b="1" spc="3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2</a:t>
            </a:fld>
            <a:endParaRPr lang="zh-CN" altLang="en-US" dirty="0"/>
          </a:p>
        </p:txBody>
      </p:sp>
    </p:spTree>
    <p:extLst>
      <p:ext uri="{BB962C8B-B14F-4D97-AF65-F5344CB8AC3E}">
        <p14:creationId xmlns:p14="http://schemas.microsoft.com/office/powerpoint/2010/main" val="497505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9" name="标题 5"/>
          <p:cNvSpPr>
            <a:spLocks noGrp="1"/>
          </p:cNvSpPr>
          <p:nvPr>
            <p:ph type="title"/>
          </p:nvPr>
        </p:nvSpPr>
        <p:spPr>
          <a:xfrm>
            <a:off x="272374" y="395005"/>
            <a:ext cx="8615594" cy="943638"/>
          </a:xfrm>
        </p:spPr>
        <p:txBody>
          <a:bodyPr>
            <a:noAutofit/>
          </a:bodyPr>
          <a:lstStyle/>
          <a:p>
            <a:pPr algn="ctr"/>
            <a:r>
              <a:rPr lang="en-US" altLang="zh-CN" dirty="0">
                <a:solidFill>
                  <a:schemeClr val="tx1"/>
                </a:solidFill>
                <a:effectLst/>
                <a:latin typeface="微软雅黑" panose="020B0503020204020204" pitchFamily="34" charset="-122"/>
                <a:ea typeface="微软雅黑" panose="020B0503020204020204" pitchFamily="34" charset="-122"/>
              </a:rPr>
              <a:t>2.1 OSI</a:t>
            </a:r>
            <a:r>
              <a:rPr lang="zh-CN" altLang="en-US" dirty="0">
                <a:solidFill>
                  <a:schemeClr val="tx1"/>
                </a:solidFill>
                <a:effectLst/>
                <a:latin typeface="微软雅黑" panose="020B0503020204020204" pitchFamily="34" charset="-122"/>
                <a:ea typeface="微软雅黑" panose="020B0503020204020204" pitchFamily="34" charset="-122"/>
              </a:rPr>
              <a:t>七层模型介绍</a:t>
            </a:r>
            <a:endParaRPr lang="en-US" altLang="zh-CN" dirty="0">
              <a:solidFill>
                <a:schemeClr val="tx1"/>
              </a:solidFill>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72208" y="1203018"/>
            <a:ext cx="4313273" cy="670120"/>
          </a:xfrm>
          <a:prstGeom prst="rect">
            <a:avLst/>
          </a:prstGeom>
          <a:noFill/>
        </p:spPr>
        <p:txBody>
          <a:bodyPr wrap="square" rtlCol="0">
            <a:spAutoFit/>
          </a:bodyPr>
          <a:lstStyle/>
          <a:p>
            <a:pPr>
              <a:lnSpc>
                <a:spcPct val="130000"/>
              </a:lnSpc>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什么是</a:t>
            </a: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七层模型？</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89F9ABC6-A230-43B0-BF13-3185658B390F}"/>
              </a:ext>
            </a:extLst>
          </p:cNvPr>
          <p:cNvSpPr txBox="1"/>
          <p:nvPr/>
        </p:nvSpPr>
        <p:spPr>
          <a:xfrm>
            <a:off x="16872" y="1873138"/>
            <a:ext cx="9127128" cy="4689554"/>
          </a:xfrm>
          <a:prstGeom prst="rect">
            <a:avLst/>
          </a:prstGeom>
          <a:noFill/>
        </p:spPr>
        <p:txBody>
          <a:bodyPr wrap="square" rtlCol="0">
            <a:spAutoFit/>
          </a:bodyPr>
          <a:lstStyle/>
          <a:p>
            <a:pPr marL="571500" indent="-571500" algn="just">
              <a:lnSpc>
                <a:spcPct val="140000"/>
              </a:lnSpc>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开放系统互联参考模型</a:t>
            </a:r>
            <a:r>
              <a:rPr lang="en-US" altLang="zh-CN" sz="2400" dirty="0">
                <a:latin typeface="Times New Roman" panose="02020603050405020304" pitchFamily="18" charset="0"/>
                <a:cs typeface="Times New Roman" panose="02020603050405020304" pitchFamily="18" charset="0"/>
              </a:rPr>
              <a:t>(Open Systems Interconnection, OSI)</a:t>
            </a:r>
          </a:p>
          <a:p>
            <a:pPr marL="571500" indent="-571500" algn="just">
              <a:lnSpc>
                <a:spcPct val="140000"/>
              </a:lnSpc>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由国际标准化组织</a:t>
            </a:r>
            <a:r>
              <a:rPr lang="en-US" altLang="zh-CN" sz="2400" dirty="0">
                <a:latin typeface="Times New Roman" panose="02020603050405020304" pitchFamily="18" charset="0"/>
                <a:cs typeface="Times New Roman" panose="02020603050405020304" pitchFamily="18" charset="0"/>
              </a:rPr>
              <a:t>(International Organization for Standardization, ISO)</a:t>
            </a:r>
            <a:r>
              <a:rPr lang="zh-CN" altLang="en-US" sz="2400" dirty="0">
                <a:latin typeface="Times New Roman" panose="02020603050405020304" pitchFamily="18" charset="0"/>
                <a:cs typeface="Times New Roman" panose="02020603050405020304" pitchFamily="18" charset="0"/>
              </a:rPr>
              <a:t>于</a:t>
            </a:r>
            <a:r>
              <a:rPr lang="en-US" altLang="zh-CN" sz="2400" dirty="0">
                <a:latin typeface="Times New Roman" panose="02020603050405020304" pitchFamily="18" charset="0"/>
                <a:cs typeface="Times New Roman" panose="02020603050405020304" pitchFamily="18" charset="0"/>
              </a:rPr>
              <a:t>1984</a:t>
            </a:r>
            <a:r>
              <a:rPr lang="zh-CN" altLang="en-US" sz="2400" dirty="0">
                <a:latin typeface="Times New Roman" panose="02020603050405020304" pitchFamily="18" charset="0"/>
                <a:cs typeface="Times New Roman" panose="02020603050405020304" pitchFamily="18" charset="0"/>
              </a:rPr>
              <a:t>年提出的计算机网络通信协议框架</a:t>
            </a:r>
            <a:endParaRPr lang="en-US" altLang="zh-CN" sz="2400" dirty="0">
              <a:latin typeface="Times New Roman" panose="02020603050405020304" pitchFamily="18" charset="0"/>
              <a:cs typeface="Times New Roman" panose="02020603050405020304" pitchFamily="18" charset="0"/>
            </a:endParaRPr>
          </a:p>
          <a:p>
            <a:pPr marL="571500" indent="-571500" algn="just">
              <a:lnSpc>
                <a:spcPct val="14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目的：</a:t>
            </a:r>
            <a:r>
              <a:rPr lang="zh-CN" altLang="en-US" sz="2400" dirty="0">
                <a:latin typeface="Times New Roman" panose="02020603050405020304" pitchFamily="18" charset="0"/>
                <a:cs typeface="Times New Roman" panose="02020603050405020304" pitchFamily="18" charset="0"/>
              </a:rPr>
              <a:t>指导计算机通信协议的设计和功能划分，使不同厂商的设备和系统可无缝进行通信</a:t>
            </a:r>
            <a:endParaRPr lang="en-US" altLang="zh-CN" sz="2400" dirty="0">
              <a:latin typeface="Times New Roman" panose="02020603050405020304" pitchFamily="18" charset="0"/>
              <a:cs typeface="Times New Roman" panose="02020603050405020304" pitchFamily="18" charset="0"/>
            </a:endParaRPr>
          </a:p>
          <a:p>
            <a:pPr marL="571500" indent="-571500" algn="just">
              <a:lnSpc>
                <a:spcPct val="14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内容：</a:t>
            </a:r>
            <a:r>
              <a:rPr lang="zh-CN" altLang="en-US" sz="2400" dirty="0">
                <a:latin typeface="Times New Roman" panose="02020603050405020304" pitchFamily="18" charset="0"/>
                <a:cs typeface="Times New Roman" panose="02020603050405020304" pitchFamily="18" charset="0"/>
              </a:rPr>
              <a:t>物理层、数据链路层、网络层、传输层、会话层、表示层、应用层</a:t>
            </a:r>
            <a:endParaRPr lang="en-US" altLang="zh-CN" sz="2400" dirty="0">
              <a:latin typeface="Times New Roman" panose="02020603050405020304" pitchFamily="18" charset="0"/>
              <a:cs typeface="Times New Roman" panose="02020603050405020304" pitchFamily="18" charset="0"/>
            </a:endParaRPr>
          </a:p>
          <a:p>
            <a:pPr marL="571500" indent="-571500" algn="just">
              <a:lnSpc>
                <a:spcPct val="14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关系：</a:t>
            </a:r>
            <a:r>
              <a:rPr lang="zh-CN" altLang="en-US" sz="2400" dirty="0">
                <a:latin typeface="Times New Roman" panose="02020603050405020304" pitchFamily="18" charset="0"/>
                <a:cs typeface="Times New Roman" panose="02020603050405020304" pitchFamily="18" charset="0"/>
              </a:rPr>
              <a:t>互相独立，每层具有其特定功能和协议</a:t>
            </a:r>
            <a:endParaRPr lang="en-US" altLang="zh-CN" sz="2400" dirty="0">
              <a:latin typeface="Times New Roman" panose="02020603050405020304" pitchFamily="18" charset="0"/>
              <a:cs typeface="Times New Roman" panose="02020603050405020304" pitchFamily="18" charset="0"/>
            </a:endParaRPr>
          </a:p>
          <a:p>
            <a:pPr marL="571500" indent="-571500" algn="just">
              <a:lnSpc>
                <a:spcPct val="14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作用：</a:t>
            </a:r>
            <a:r>
              <a:rPr lang="zh-CN" altLang="en-US" sz="2400" dirty="0">
                <a:latin typeface="Times New Roman" panose="02020603050405020304" pitchFamily="18" charset="0"/>
                <a:cs typeface="Times New Roman" panose="02020603050405020304" pitchFamily="18" charset="0"/>
              </a:rPr>
              <a:t>独立分析每一层的功能和性能</a:t>
            </a:r>
            <a:endParaRPr lang="en-US" altLang="zh-CN" sz="24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25BACDC-A412-455F-8BC4-136AB9E03321}"/>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Tree>
    <p:extLst>
      <p:ext uri="{BB962C8B-B14F-4D97-AF65-F5344CB8AC3E}">
        <p14:creationId xmlns:p14="http://schemas.microsoft.com/office/powerpoint/2010/main" val="71295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9" name="标题 5"/>
          <p:cNvSpPr>
            <a:spLocks noGrp="1"/>
          </p:cNvSpPr>
          <p:nvPr>
            <p:ph type="title"/>
          </p:nvPr>
        </p:nvSpPr>
        <p:spPr>
          <a:xfrm>
            <a:off x="272374" y="395005"/>
            <a:ext cx="8615594" cy="943638"/>
          </a:xfrm>
        </p:spPr>
        <p:txBody>
          <a:bodyPr>
            <a:noAutofit/>
          </a:bodyPr>
          <a:lstStyle/>
          <a:p>
            <a:pPr algn="ctr"/>
            <a:r>
              <a:rPr lang="en-US" altLang="zh-CN" dirty="0">
                <a:solidFill>
                  <a:schemeClr val="tx1"/>
                </a:solidFill>
                <a:effectLst/>
                <a:latin typeface="微软雅黑" panose="020B0503020204020204" pitchFamily="34" charset="-122"/>
                <a:ea typeface="微软雅黑" panose="020B0503020204020204" pitchFamily="34" charset="-122"/>
              </a:rPr>
              <a:t>2.1 OSI</a:t>
            </a:r>
            <a:r>
              <a:rPr lang="zh-CN" altLang="en-US" dirty="0">
                <a:solidFill>
                  <a:schemeClr val="tx1"/>
                </a:solidFill>
                <a:effectLst/>
                <a:latin typeface="微软雅黑" panose="020B0503020204020204" pitchFamily="34" charset="-122"/>
                <a:ea typeface="微软雅黑" panose="020B0503020204020204" pitchFamily="34" charset="-122"/>
              </a:rPr>
              <a:t>七层模型介绍</a:t>
            </a:r>
            <a:endParaRPr lang="en-US" altLang="zh-CN" dirty="0">
              <a:solidFill>
                <a:schemeClr val="tx1"/>
              </a:solidFill>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89F9ABC6-A230-43B0-BF13-3185658B390F}"/>
              </a:ext>
            </a:extLst>
          </p:cNvPr>
          <p:cNvSpPr txBox="1"/>
          <p:nvPr/>
        </p:nvSpPr>
        <p:spPr>
          <a:xfrm>
            <a:off x="633296" y="1292680"/>
            <a:ext cx="2025742" cy="670120"/>
          </a:xfrm>
          <a:prstGeom prst="rect">
            <a:avLst/>
          </a:prstGeom>
          <a:noFill/>
        </p:spPr>
        <p:txBody>
          <a:bodyPr wrap="square" rtlCol="0">
            <a:spAutoFit/>
          </a:bodyPr>
          <a:lstStyle/>
          <a:p>
            <a:pPr algn="just">
              <a:lnSpc>
                <a:spcPct val="130000"/>
              </a:lnSpc>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特点：</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a:extLst>
              <a:ext uri="{FF2B5EF4-FFF2-40B4-BE49-F238E27FC236}">
                <a16:creationId xmlns:a16="http://schemas.microsoft.com/office/drawing/2014/main" id="{DD4F68B1-E1E2-4E95-A5FA-B50A2D0DFD55}"/>
              </a:ext>
            </a:extLst>
          </p:cNvPr>
          <p:cNvSpPr txBox="1"/>
          <p:nvPr/>
        </p:nvSpPr>
        <p:spPr>
          <a:xfrm>
            <a:off x="633296" y="3110045"/>
            <a:ext cx="7082238" cy="525337"/>
          </a:xfrm>
          <a:prstGeom prst="rect">
            <a:avLst/>
          </a:prstGeom>
          <a:noFill/>
        </p:spPr>
        <p:txBody>
          <a:bodyPr wrap="square" rtlCol="0">
            <a:spAutoFit/>
          </a:bodyPr>
          <a:lstStyle/>
          <a:p>
            <a:pPr marL="571500" indent="-571500" algn="just">
              <a:lnSpc>
                <a:spcPct val="130000"/>
              </a:lnSpc>
              <a:buFont typeface="+mj-lt"/>
              <a:buAutoNum type="alphaLcPeriod" startAt="2"/>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易于理解和设计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BE4A89D0-6F12-4CFB-9D53-B5A3642B4515}"/>
              </a:ext>
            </a:extLst>
          </p:cNvPr>
          <p:cNvSpPr txBox="1"/>
          <p:nvPr/>
        </p:nvSpPr>
        <p:spPr>
          <a:xfrm>
            <a:off x="633296" y="4136026"/>
            <a:ext cx="7082238" cy="525337"/>
          </a:xfrm>
          <a:prstGeom prst="rect">
            <a:avLst/>
          </a:prstGeom>
          <a:noFill/>
        </p:spPr>
        <p:txBody>
          <a:bodyPr wrap="square" rtlCol="0">
            <a:spAutoFit/>
          </a:bodyPr>
          <a:lstStyle/>
          <a:p>
            <a:pPr marL="571500" indent="-571500" algn="just">
              <a:lnSpc>
                <a:spcPct val="130000"/>
              </a:lnSpc>
              <a:buFont typeface="+mj-lt"/>
              <a:buAutoNum type="alphaLcPeriod" startAt="3"/>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易于维护</a:t>
            </a:r>
          </a:p>
        </p:txBody>
      </p:sp>
      <p:sp>
        <p:nvSpPr>
          <p:cNvPr id="13" name="文本框 12">
            <a:extLst>
              <a:ext uri="{FF2B5EF4-FFF2-40B4-BE49-F238E27FC236}">
                <a16:creationId xmlns:a16="http://schemas.microsoft.com/office/drawing/2014/main" id="{AE27C88C-957E-45DC-B11D-E0A644416C26}"/>
              </a:ext>
            </a:extLst>
          </p:cNvPr>
          <p:cNvSpPr txBox="1"/>
          <p:nvPr/>
        </p:nvSpPr>
        <p:spPr>
          <a:xfrm>
            <a:off x="1135988" y="2546785"/>
            <a:ext cx="7155026" cy="489236"/>
          </a:xfrm>
          <a:prstGeom prst="rect">
            <a:avLst/>
          </a:prstGeom>
          <a:noFill/>
        </p:spPr>
        <p:txBody>
          <a:bodyPr wrap="square" rtlCol="0">
            <a:spAutoFit/>
          </a:bodyPr>
          <a:lstStyle/>
          <a:p>
            <a:pPr algn="just">
              <a:lnSpc>
                <a:spcPct val="130000"/>
              </a:lnSpc>
            </a:pPr>
            <a:r>
              <a:rPr lang="zh-CN" altLang="en-US" sz="2200" dirty="0">
                <a:solidFill>
                  <a:schemeClr val="accent1">
                    <a:lumMod val="75000"/>
                  </a:schemeClr>
                </a:solidFill>
                <a:latin typeface="Times New Roman" panose="02020603050405020304" pitchFamily="18" charset="0"/>
                <a:cs typeface="Times New Roman" panose="02020603050405020304" pitchFamily="18" charset="0"/>
              </a:rPr>
              <a:t>保证厂商不同、类型不同的产品互联互通</a:t>
            </a:r>
            <a:endParaRPr lang="en-US" altLang="zh-CN" sz="2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89FCDA21-4CC2-42E8-AF3A-FDAD3BC85190}"/>
              </a:ext>
            </a:extLst>
          </p:cNvPr>
          <p:cNvSpPr txBox="1"/>
          <p:nvPr/>
        </p:nvSpPr>
        <p:spPr>
          <a:xfrm>
            <a:off x="1135988" y="3646790"/>
            <a:ext cx="7082238" cy="489236"/>
          </a:xfrm>
          <a:prstGeom prst="rect">
            <a:avLst/>
          </a:prstGeom>
          <a:noFill/>
        </p:spPr>
        <p:txBody>
          <a:bodyPr wrap="square" rtlCol="0">
            <a:spAutoFit/>
          </a:bodyPr>
          <a:lstStyle/>
          <a:p>
            <a:pPr algn="just">
              <a:lnSpc>
                <a:spcPct val="130000"/>
              </a:lnSpc>
            </a:pPr>
            <a:r>
              <a:rPr lang="zh-CN" altLang="en-US" sz="2200" dirty="0">
                <a:solidFill>
                  <a:schemeClr val="accent1">
                    <a:lumMod val="75000"/>
                  </a:schemeClr>
                </a:solidFill>
                <a:latin typeface="Times New Roman" panose="02020603050405020304" pitchFamily="18" charset="0"/>
                <a:cs typeface="Times New Roman" panose="02020603050405020304" pitchFamily="18" charset="0"/>
              </a:rPr>
              <a:t>各层功能相对独立且明确，可针对每个层次独立设计</a:t>
            </a:r>
            <a:endParaRPr lang="en-US" altLang="zh-CN" sz="2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72892A8E-2E46-4123-8225-5057F7F76490}"/>
              </a:ext>
            </a:extLst>
          </p:cNvPr>
          <p:cNvSpPr txBox="1"/>
          <p:nvPr/>
        </p:nvSpPr>
        <p:spPr>
          <a:xfrm>
            <a:off x="633296" y="5193728"/>
            <a:ext cx="7082238" cy="525337"/>
          </a:xfrm>
          <a:prstGeom prst="rect">
            <a:avLst/>
          </a:prstGeom>
          <a:noFill/>
        </p:spPr>
        <p:txBody>
          <a:bodyPr wrap="square" rtlCol="0">
            <a:spAutoFit/>
          </a:bodyPr>
          <a:lstStyle/>
          <a:p>
            <a:pPr marL="571500" indent="-571500" algn="just">
              <a:lnSpc>
                <a:spcPct val="130000"/>
              </a:lnSpc>
              <a:buFont typeface="+mj-lt"/>
              <a:buAutoNum type="alphaLcPeriod" startAt="4"/>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协议具备独立性</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09470D05-F381-4A66-B11F-BE9A273D19CB}"/>
              </a:ext>
            </a:extLst>
          </p:cNvPr>
          <p:cNvSpPr txBox="1"/>
          <p:nvPr/>
        </p:nvSpPr>
        <p:spPr>
          <a:xfrm>
            <a:off x="1135988" y="4660361"/>
            <a:ext cx="7082238" cy="489236"/>
          </a:xfrm>
          <a:prstGeom prst="rect">
            <a:avLst/>
          </a:prstGeom>
          <a:noFill/>
        </p:spPr>
        <p:txBody>
          <a:bodyPr wrap="square" rtlCol="0">
            <a:spAutoFit/>
          </a:bodyPr>
          <a:lstStyle/>
          <a:p>
            <a:pPr algn="just">
              <a:lnSpc>
                <a:spcPct val="130000"/>
              </a:lnSpc>
            </a:pPr>
            <a:r>
              <a:rPr lang="zh-CN" altLang="en-US" sz="2200" dirty="0">
                <a:solidFill>
                  <a:schemeClr val="accent1">
                    <a:lumMod val="75000"/>
                  </a:schemeClr>
                </a:solidFill>
                <a:latin typeface="Times New Roman" panose="02020603050405020304" pitchFamily="18" charset="0"/>
                <a:cs typeface="Times New Roman" panose="02020603050405020304" pitchFamily="18" charset="0"/>
              </a:rPr>
              <a:t>某一层出现故障时，可进行故障隔离，不影响其它层次</a:t>
            </a:r>
            <a:endParaRPr lang="en-US" altLang="zh-CN" sz="2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255B5A74-E8A9-454F-8B31-B35F594B3C9F}"/>
              </a:ext>
            </a:extLst>
          </p:cNvPr>
          <p:cNvSpPr txBox="1"/>
          <p:nvPr/>
        </p:nvSpPr>
        <p:spPr>
          <a:xfrm>
            <a:off x="1135988" y="5719065"/>
            <a:ext cx="7082238" cy="489236"/>
          </a:xfrm>
          <a:prstGeom prst="rect">
            <a:avLst/>
          </a:prstGeom>
          <a:noFill/>
        </p:spPr>
        <p:txBody>
          <a:bodyPr wrap="square" rtlCol="0">
            <a:spAutoFit/>
          </a:bodyPr>
          <a:lstStyle/>
          <a:p>
            <a:pPr algn="just">
              <a:lnSpc>
                <a:spcPct val="130000"/>
              </a:lnSpc>
            </a:pPr>
            <a:r>
              <a:rPr lang="zh-CN" altLang="en-US" sz="2200" dirty="0">
                <a:solidFill>
                  <a:schemeClr val="accent1">
                    <a:lumMod val="75000"/>
                  </a:schemeClr>
                </a:solidFill>
                <a:latin typeface="Times New Roman" panose="02020603050405020304" pitchFamily="18" charset="0"/>
                <a:cs typeface="Times New Roman" panose="02020603050405020304" pitchFamily="18" charset="0"/>
              </a:rPr>
              <a:t>每一层的协议的设计和演进相互独立</a:t>
            </a:r>
            <a:endParaRPr lang="en-US" altLang="zh-CN" sz="2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9845D5D-7821-4FAF-AEEF-E3B4A3EE9727}"/>
              </a:ext>
            </a:extLst>
          </p:cNvPr>
          <p:cNvSpPr txBox="1"/>
          <p:nvPr/>
        </p:nvSpPr>
        <p:spPr>
          <a:xfrm>
            <a:off x="633296" y="2064557"/>
            <a:ext cx="7082238" cy="525337"/>
          </a:xfrm>
          <a:prstGeom prst="rect">
            <a:avLst/>
          </a:prstGeom>
          <a:noFill/>
        </p:spPr>
        <p:txBody>
          <a:bodyPr wrap="square" rtlCol="0">
            <a:spAutoFit/>
          </a:bodyPr>
          <a:lstStyle/>
          <a:p>
            <a:pPr marL="571500" indent="-571500" algn="just">
              <a:lnSpc>
                <a:spcPct val="130000"/>
              </a:lnSpc>
              <a:buFont typeface="+mj-lt"/>
              <a:buAutoNum type="alphaLcPeriod"/>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标准化</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74DF39B4-F0AC-4C12-9271-95D54204A7BC}"/>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Tree>
    <p:extLst>
      <p:ext uri="{BB962C8B-B14F-4D97-AF65-F5344CB8AC3E}">
        <p14:creationId xmlns:p14="http://schemas.microsoft.com/office/powerpoint/2010/main" val="195259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12" grpId="0"/>
      <p:bldP spid="13" grpId="0"/>
      <p:bldP spid="14" grpId="0"/>
      <p:bldP spid="15"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5</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8615593" cy="670120"/>
          </a:xfrm>
          <a:prstGeom prst="rect">
            <a:avLst/>
          </a:prstGeom>
          <a:noFill/>
        </p:spPr>
        <p:txBody>
          <a:bodyPr wrap="square" rtlCol="0">
            <a:spAutoFit/>
          </a:bodyPr>
          <a:lstStyle/>
          <a:p>
            <a:pPr>
              <a:lnSpc>
                <a:spcPct val="130000"/>
              </a:lnSpc>
            </a:pP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通信领域各标准化组织</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89F9ABC6-A230-43B0-BF13-3185658B390F}"/>
              </a:ext>
            </a:extLst>
          </p:cNvPr>
          <p:cNvSpPr txBox="1"/>
          <p:nvPr/>
        </p:nvSpPr>
        <p:spPr>
          <a:xfrm>
            <a:off x="16872" y="1290679"/>
            <a:ext cx="9127128" cy="4846520"/>
          </a:xfrm>
          <a:prstGeom prst="rect">
            <a:avLst/>
          </a:prstGeom>
          <a:noFill/>
        </p:spPr>
        <p:txBody>
          <a:bodyPr wrap="square" rtlCol="0">
            <a:spAutoFit/>
          </a:bodyPr>
          <a:lstStyle/>
          <a:p>
            <a:pPr marL="571500" indent="-571500" algn="just">
              <a:lnSpc>
                <a:spcPct val="130000"/>
              </a:lnSpc>
              <a:buFont typeface="Arial" panose="020B0604020202020204" pitchFamily="34" charset="0"/>
              <a:buChar char="•"/>
            </a:pPr>
            <a:r>
              <a:rPr lang="en-US" altLang="zh-CN" sz="2400" b="1" u="sng" dirty="0">
                <a:latin typeface="微软雅黑" panose="020B0503020204020204" pitchFamily="34" charset="-122"/>
                <a:ea typeface="微软雅黑" panose="020B0503020204020204" pitchFamily="34" charset="-122"/>
                <a:cs typeface="Times New Roman" panose="02020603050405020304" pitchFamily="18" charset="0"/>
              </a:rPr>
              <a:t>ISO</a:t>
            </a:r>
            <a:r>
              <a:rPr lang="zh-CN" altLang="en-US" sz="2400" b="1" u="sng"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国际化标准化组织，涵盖从制造业到信息技术、从食品安全到环境保护等众多领域。</a:t>
            </a:r>
            <a:r>
              <a:rPr lang="zh-CN" altLang="en-US" sz="2400" b="1" dirty="0">
                <a:latin typeface="Times New Roman" panose="02020603050405020304" pitchFamily="18" charset="0"/>
                <a:cs typeface="Times New Roman" panose="02020603050405020304" pitchFamily="18" charset="0"/>
              </a:rPr>
              <a:t>典型标准：</a:t>
            </a:r>
            <a:r>
              <a:rPr lang="en-US" altLang="zh-CN" sz="2400" b="1" dirty="0">
                <a:latin typeface="Times New Roman" panose="02020603050405020304" pitchFamily="18" charset="0"/>
                <a:cs typeface="Times New Roman" panose="02020603050405020304" pitchFamily="18" charset="0"/>
              </a:rPr>
              <a:t>OSI</a:t>
            </a:r>
            <a:r>
              <a:rPr lang="zh-CN" altLang="en-US" sz="2400" b="1" dirty="0">
                <a:latin typeface="Times New Roman" panose="02020603050405020304" pitchFamily="18" charset="0"/>
                <a:cs typeface="Times New Roman" panose="02020603050405020304" pitchFamily="18" charset="0"/>
              </a:rPr>
              <a:t>七层模型</a:t>
            </a:r>
            <a:endParaRPr lang="en-US" altLang="zh-CN" sz="2400" b="1" dirty="0">
              <a:latin typeface="Times New Roman" panose="02020603050405020304" pitchFamily="18" charset="0"/>
              <a:cs typeface="Times New Roman" panose="02020603050405020304" pitchFamily="18" charset="0"/>
            </a:endParaRPr>
          </a:p>
          <a:p>
            <a:pPr marL="571500" indent="-571500" algn="just">
              <a:lnSpc>
                <a:spcPct val="130000"/>
              </a:lnSpc>
              <a:buFont typeface="Arial" panose="020B0604020202020204" pitchFamily="34" charset="0"/>
              <a:buChar char="•"/>
            </a:pPr>
            <a:r>
              <a:rPr lang="en-US" altLang="zh-CN" sz="2400" b="1" u="sng" dirty="0">
                <a:latin typeface="微软雅黑" panose="020B0503020204020204" pitchFamily="34" charset="-122"/>
                <a:ea typeface="微软雅黑" panose="020B0503020204020204" pitchFamily="34" charset="-122"/>
                <a:cs typeface="Times New Roman" panose="02020603050405020304" pitchFamily="18" charset="0"/>
              </a:rPr>
              <a:t>IEEE</a:t>
            </a:r>
            <a:r>
              <a:rPr lang="zh-CN" altLang="en-US" sz="2400" b="1" u="sng"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电气与电子工程师协会</a:t>
            </a:r>
            <a:r>
              <a:rPr lang="en-US" altLang="zh-CN" sz="2400" dirty="0">
                <a:latin typeface="Times New Roman" panose="02020603050405020304" pitchFamily="18" charset="0"/>
                <a:cs typeface="Times New Roman" panose="02020603050405020304" pitchFamily="18" charset="0"/>
              </a:rPr>
              <a:t>(institute of electrical and electronics engineers)</a:t>
            </a:r>
            <a:r>
              <a:rPr lang="zh-CN" altLang="en-US" sz="2400" b="1" dirty="0">
                <a:latin typeface="Times New Roman" panose="02020603050405020304" pitchFamily="18" charset="0"/>
                <a:cs typeface="Times New Roman" panose="02020603050405020304" pitchFamily="18" charset="0"/>
              </a:rPr>
              <a:t>。典型标准：</a:t>
            </a:r>
            <a:r>
              <a:rPr lang="en-US" altLang="zh-CN" sz="2400" b="1" dirty="0" err="1">
                <a:latin typeface="Times New Roman" panose="02020603050405020304" pitchFamily="18" charset="0"/>
                <a:cs typeface="Times New Roman" panose="02020603050405020304" pitchFamily="18" charset="0"/>
              </a:rPr>
              <a:t>WiFi</a:t>
            </a:r>
            <a:r>
              <a:rPr lang="zh-CN" altLang="en-US" sz="2400" b="1" dirty="0">
                <a:latin typeface="Times New Roman" panose="02020603050405020304" pitchFamily="18" charset="0"/>
                <a:cs typeface="Times New Roman" panose="02020603050405020304" pitchFamily="18" charset="0"/>
              </a:rPr>
              <a:t>标准、</a:t>
            </a:r>
            <a:r>
              <a:rPr lang="en-US" altLang="zh-CN" sz="2400" b="1" dirty="0">
                <a:latin typeface="Times New Roman" panose="02020603050405020304" pitchFamily="18" charset="0"/>
                <a:cs typeface="Times New Roman" panose="02020603050405020304" pitchFamily="18" charset="0"/>
              </a:rPr>
              <a:t>ZigBee</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DSRC</a:t>
            </a:r>
          </a:p>
          <a:p>
            <a:pPr marL="571500" indent="-571500" algn="just">
              <a:lnSpc>
                <a:spcPct val="130000"/>
              </a:lnSpc>
              <a:buFont typeface="Arial" panose="020B0604020202020204" pitchFamily="34" charset="0"/>
              <a:buChar char="•"/>
            </a:pPr>
            <a:r>
              <a:rPr lang="en-US" altLang="zh-CN" sz="2400" b="1" u="sng" dirty="0">
                <a:latin typeface="微软雅黑" panose="020B0503020204020204" pitchFamily="34" charset="-122"/>
                <a:ea typeface="微软雅黑" panose="020B0503020204020204" pitchFamily="34" charset="-122"/>
                <a:cs typeface="Times New Roman" panose="02020603050405020304" pitchFamily="18" charset="0"/>
              </a:rPr>
              <a:t>ITU</a:t>
            </a:r>
            <a:r>
              <a:rPr lang="zh-CN" altLang="en-US" sz="2400" b="1" u="sng"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国际电信联盟（</a:t>
            </a:r>
            <a:r>
              <a:rPr lang="en-US" altLang="zh-CN" sz="2400" dirty="0">
                <a:latin typeface="Times New Roman" panose="02020603050405020304" pitchFamily="18" charset="0"/>
                <a:cs typeface="Times New Roman" panose="02020603050405020304" pitchFamily="18" charset="0"/>
              </a:rPr>
              <a:t>international telecommunication union</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联合国系统内的专门机构，专注于信息和通信技术领域事务。引导各代移动通信标准建立</a:t>
            </a:r>
            <a:endParaRPr lang="en-US" altLang="zh-CN" sz="2400" dirty="0">
              <a:latin typeface="Times New Roman" panose="02020603050405020304" pitchFamily="18" charset="0"/>
              <a:cs typeface="Times New Roman" panose="02020603050405020304" pitchFamily="18" charset="0"/>
            </a:endParaRPr>
          </a:p>
          <a:p>
            <a:pPr marL="571500" indent="-571500" algn="just">
              <a:lnSpc>
                <a:spcPct val="130000"/>
              </a:lnSpc>
              <a:buFont typeface="Arial" panose="020B0604020202020204" pitchFamily="34" charset="0"/>
              <a:buChar char="•"/>
            </a:pPr>
            <a:r>
              <a:rPr lang="en-US" altLang="zh-CN" sz="2400" b="1" u="sng" dirty="0">
                <a:latin typeface="微软雅黑" panose="020B0503020204020204" pitchFamily="34" charset="-122"/>
                <a:ea typeface="微软雅黑" panose="020B0503020204020204" pitchFamily="34" charset="-122"/>
                <a:cs typeface="Times New Roman" panose="02020603050405020304" pitchFamily="18" charset="0"/>
              </a:rPr>
              <a:t>3GPP</a:t>
            </a:r>
            <a:r>
              <a:rPr lang="zh-CN" altLang="en-US" sz="2400" b="1" u="sng"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第三代合作伙伴计划</a:t>
            </a:r>
            <a:r>
              <a:rPr lang="en-US" altLang="zh-CN" sz="2400" dirty="0">
                <a:latin typeface="Times New Roman" panose="02020603050405020304" pitchFamily="18" charset="0"/>
                <a:cs typeface="Times New Roman" panose="02020603050405020304" pitchFamily="18" charset="0"/>
              </a:rPr>
              <a:t>(3</a:t>
            </a:r>
            <a:r>
              <a:rPr lang="en-US" altLang="zh-CN" sz="2400" baseline="30000" dirty="0">
                <a:latin typeface="Times New Roman" panose="02020603050405020304" pitchFamily="18" charset="0"/>
                <a:cs typeface="Times New Roman" panose="02020603050405020304" pitchFamily="18" charset="0"/>
              </a:rPr>
              <a:t>rd</a:t>
            </a:r>
            <a:r>
              <a:rPr lang="en-US" altLang="zh-CN" sz="2400" dirty="0">
                <a:latin typeface="Times New Roman" panose="02020603050405020304" pitchFamily="18" charset="0"/>
                <a:cs typeface="Times New Roman" panose="02020603050405020304" pitchFamily="18" charset="0"/>
              </a:rPr>
              <a:t> generation partnership project)</a:t>
            </a:r>
            <a:r>
              <a:rPr lang="zh-CN" altLang="en-US" sz="2400" dirty="0">
                <a:latin typeface="Times New Roman" panose="02020603050405020304" pitchFamily="18" charset="0"/>
                <a:cs typeface="Times New Roman" panose="02020603050405020304" pitchFamily="18" charset="0"/>
              </a:rPr>
              <a:t>主要致力于推动移动通信技术的发展和应用。</a:t>
            </a:r>
            <a:r>
              <a:rPr lang="zh-CN" altLang="en-US" sz="2400" b="1" dirty="0">
                <a:latin typeface="Times New Roman" panose="02020603050405020304" pitchFamily="18" charset="0"/>
                <a:cs typeface="Times New Roman" panose="02020603050405020304" pitchFamily="18" charset="0"/>
              </a:rPr>
              <a:t>制定</a:t>
            </a:r>
            <a:r>
              <a:rPr lang="en-US" altLang="zh-CN" sz="2400" b="1" dirty="0">
                <a:latin typeface="Times New Roman" panose="02020603050405020304" pitchFamily="18" charset="0"/>
                <a:cs typeface="Times New Roman" panose="02020603050405020304" pitchFamily="18" charset="0"/>
              </a:rPr>
              <a:t>3G</a:t>
            </a:r>
            <a:r>
              <a:rPr lang="zh-CN" altLang="en-US" sz="2400" b="1" dirty="0">
                <a:latin typeface="Times New Roman" panose="02020603050405020304" pitchFamily="18" charset="0"/>
                <a:cs typeface="Times New Roman" panose="02020603050405020304" pitchFamily="18" charset="0"/>
              </a:rPr>
              <a:t>到</a:t>
            </a:r>
            <a:r>
              <a:rPr lang="en-US" altLang="zh-CN" sz="2400" b="1" dirty="0">
                <a:latin typeface="Times New Roman" panose="02020603050405020304" pitchFamily="18" charset="0"/>
                <a:cs typeface="Times New Roman" panose="02020603050405020304" pitchFamily="18" charset="0"/>
              </a:rPr>
              <a:t>6G</a:t>
            </a:r>
            <a:r>
              <a:rPr lang="zh-CN" altLang="en-US" sz="2400" b="1" dirty="0">
                <a:latin typeface="Times New Roman" panose="02020603050405020304" pitchFamily="18" charset="0"/>
                <a:cs typeface="Times New Roman" panose="02020603050405020304" pitchFamily="18" charset="0"/>
              </a:rPr>
              <a:t>的各种规范</a:t>
            </a:r>
            <a:endParaRPr lang="en-US" altLang="zh-CN" sz="24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23451764-4BD7-4B41-B060-59B7772B9642}"/>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Tree>
    <p:extLst>
      <p:ext uri="{BB962C8B-B14F-4D97-AF65-F5344CB8AC3E}">
        <p14:creationId xmlns:p14="http://schemas.microsoft.com/office/powerpoint/2010/main" val="252662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6</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8615593" cy="59747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 OSI</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七层模型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数据链路层</a:t>
            </a:r>
          </a:p>
        </p:txBody>
      </p:sp>
      <p:grpSp>
        <p:nvGrpSpPr>
          <p:cNvPr id="3" name="组合 2">
            <a:extLst>
              <a:ext uri="{FF2B5EF4-FFF2-40B4-BE49-F238E27FC236}">
                <a16:creationId xmlns:a16="http://schemas.microsoft.com/office/drawing/2014/main" id="{2B4D3FBA-E090-4BAA-9ECC-11F2008E76FA}"/>
              </a:ext>
            </a:extLst>
          </p:cNvPr>
          <p:cNvGrpSpPr/>
          <p:nvPr/>
        </p:nvGrpSpPr>
        <p:grpSpPr>
          <a:xfrm>
            <a:off x="3089307" y="1887940"/>
            <a:ext cx="5863286" cy="3393744"/>
            <a:chOff x="3089307" y="1887940"/>
            <a:chExt cx="5863286" cy="3393744"/>
          </a:xfrm>
        </p:grpSpPr>
        <p:pic>
          <p:nvPicPr>
            <p:cNvPr id="5" name="图片 4">
              <a:extLst>
                <a:ext uri="{FF2B5EF4-FFF2-40B4-BE49-F238E27FC236}">
                  <a16:creationId xmlns:a16="http://schemas.microsoft.com/office/drawing/2014/main" id="{2A4C2A2E-BC86-4B75-B8F4-70CAA646ACAA}"/>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858" b="99020" l="4116" r="99148">
                          <a14:foregroundMark x1="18950" y1="14338" x2="15117" y2="29657"/>
                          <a14:foregroundMark x1="15117" y1="29657" x2="30518" y2="53431"/>
                          <a14:foregroundMark x1="30518" y1="53431" x2="37251" y2="48810"/>
                          <a14:foregroundMark x1="35045" y1="44672" x2="31796" y2="44240"/>
                          <a14:foregroundMark x1="31796" y1="44240" x2="26969" y2="29902"/>
                          <a14:foregroundMark x1="26969" y1="29902" x2="51526" y2="15686"/>
                          <a14:foregroundMark x1="51526" y1="15686" x2="83889" y2="29657"/>
                          <a14:foregroundMark x1="83889" y1="29657" x2="78141" y2="47549"/>
                          <a14:foregroundMark x1="78141" y1="47549" x2="76792" y2="74877"/>
                          <a14:foregroundMark x1="76792" y1="74877" x2="80625" y2="87623"/>
                          <a14:foregroundMark x1="80625" y1="87623" x2="93896" y2="83946"/>
                          <a14:foregroundMark x1="93896" y1="83946" x2="96948" y2="41176"/>
                          <a14:foregroundMark x1="96948" y1="41176" x2="93967" y2="22917"/>
                          <a14:foregroundMark x1="93967" y1="22917" x2="77857" y2="7475"/>
                          <a14:foregroundMark x1="77857" y1="7475" x2="8020" y2="11029"/>
                          <a14:foregroundMark x1="8020" y1="11029" x2="1632" y2="34681"/>
                          <a14:foregroundMark x1="1632" y1="34681" x2="1774" y2="82475"/>
                          <a14:foregroundMark x1="1774" y1="82475" x2="6175" y2="96569"/>
                          <a14:foregroundMark x1="6175" y1="96569" x2="34634" y2="98897"/>
                          <a14:foregroundMark x1="34634" y1="98897" x2="42583" y2="95956"/>
                          <a14:foregroundMark x1="42583" y1="95956" x2="44003" y2="44853"/>
                          <a14:foregroundMark x1="44003" y1="44853" x2="59830" y2="35417"/>
                          <a14:foregroundMark x1="59830" y1="35417" x2="68488" y2="43505"/>
                          <a14:foregroundMark x1="68488" y1="43505" x2="69553" y2="82721"/>
                          <a14:foregroundMark x1="69553" y1="82721" x2="77715" y2="97917"/>
                          <a14:foregroundMark x1="77715" y1="97917" x2="89922" y2="97181"/>
                          <a14:foregroundMark x1="89922" y1="97181" x2="95813" y2="86887"/>
                          <a14:foregroundMark x1="95813" y1="86887" x2="95245" y2="82230"/>
                          <a14:foregroundMark x1="33996" y1="11520" x2="30873" y2="10294"/>
                          <a14:foregroundMark x1="12491" y1="1961" x2="568" y2="7966"/>
                          <a14:foregroundMark x1="568" y1="7966" x2="2413" y2="90686"/>
                          <a14:foregroundMark x1="2413" y1="90686" x2="11427" y2="91054"/>
                          <a14:foregroundMark x1="11427" y1="91054" x2="18027" y2="78186"/>
                          <a14:foregroundMark x1="18027" y1="78186" x2="17459" y2="62500"/>
                          <a14:foregroundMark x1="17459" y1="62500" x2="11639" y2="51103"/>
                          <a14:foregroundMark x1="5749" y1="52328" x2="213" y2="68873"/>
                          <a14:foregroundMark x1="213" y1="68873" x2="2413" y2="83333"/>
                          <a14:foregroundMark x1="2413" y1="83333" x2="10930" y2="81495"/>
                          <a14:foregroundMark x1="10930" y1="81495" x2="17956" y2="63480"/>
                          <a14:foregroundMark x1="17956" y1="63480" x2="7523" y2="48775"/>
                          <a14:foregroundMark x1="7523" y1="48775" x2="4400" y2="48897"/>
                          <a14:foregroundMark x1="46913" y1="50368" x2="61036" y2="53799"/>
                          <a14:foregroundMark x1="61036" y1="53799" x2="47764" y2="51593"/>
                          <a14:foregroundMark x1="49823" y1="84804" x2="56991" y2="92525"/>
                          <a14:foregroundMark x1="56991" y1="92525" x2="68204" y2="90074"/>
                          <a14:foregroundMark x1="68204" y1="90074" x2="57842" y2="84436"/>
                          <a14:foregroundMark x1="57842" y1="84436" x2="51029" y2="84314"/>
                          <a14:foregroundMark x1="53442" y1="77083" x2="45351" y2="76348"/>
                          <a14:foregroundMark x1="45351" y1="76348" x2="59617" y2="80760"/>
                          <a14:foregroundMark x1="59617" y1="80760" x2="53868" y2="75980"/>
                          <a14:foregroundMark x1="55216" y1="91912" x2="47126" y2="96691"/>
                          <a14:foregroundMark x1="47126" y1="96691" x2="60681" y2="99142"/>
                          <a14:foregroundMark x1="60681" y1="99142" x2="53584" y2="92034"/>
                          <a14:foregroundMark x1="7026" y1="98407" x2="71" y2="90441"/>
                          <a14:foregroundMark x1="71" y1="90441" x2="852" y2="6618"/>
                          <a14:foregroundMark x1="852" y1="6618" x2="48545" y2="980"/>
                          <a14:foregroundMark x1="48545" y1="980" x2="92051" y2="4044"/>
                          <a14:foregroundMark x1="92051" y1="4044" x2="98935" y2="68260"/>
                          <a14:foregroundMark x1="98935" y1="68260" x2="99219" y2="98775"/>
                          <a14:foregroundMark x1="99219" y1="98775" x2="99077" y2="99020"/>
                          <a14:foregroundMark x1="54649" y1="1593" x2="53584" y2="858"/>
                          <a14:backgroundMark x1="36977" y1="43995" x2="37331" y2="44118"/>
                          <a14:backgroundMark x1="37331" y1="43750" x2="43009" y2="46936"/>
                          <a14:backgroundMark x1="36125" y1="42525" x2="42654" y2="47549"/>
                          <a14:backgroundMark x1="25692" y1="50123" x2="25692" y2="50123"/>
                          <a14:backgroundMark x1="40028" y1="42034" x2="37331" y2="45221"/>
                          <a14:backgroundMark x1="36551" y1="44608" x2="42158" y2="48162"/>
                          <a14:backgroundMark x1="40809" y1="43015" x2="43293" y2="45833"/>
                          <a14:backgroundMark x1="40880" y1="43015" x2="41306" y2="43260"/>
                          <a14:backgroundMark x1="36551" y1="43995" x2="40241" y2="48897"/>
                        </a14:backgroundRemoval>
                      </a14:imgEffect>
                    </a14:imgLayer>
                  </a14:imgProps>
                </a:ext>
                <a:ext uri="{28A0092B-C50C-407E-A947-70E740481C1C}">
                  <a14:useLocalDpi xmlns:a14="http://schemas.microsoft.com/office/drawing/2010/main" val="0"/>
                </a:ext>
              </a:extLst>
            </a:blip>
            <a:stretch>
              <a:fillRect/>
            </a:stretch>
          </p:blipFill>
          <p:spPr>
            <a:xfrm>
              <a:off x="3089307" y="1887940"/>
              <a:ext cx="5863286" cy="3393744"/>
            </a:xfrm>
            <a:prstGeom prst="rect">
              <a:avLst/>
            </a:prstGeom>
          </p:spPr>
        </p:pic>
        <p:sp>
          <p:nvSpPr>
            <p:cNvPr id="2" name="矩形 1">
              <a:extLst>
                <a:ext uri="{FF2B5EF4-FFF2-40B4-BE49-F238E27FC236}">
                  <a16:creationId xmlns:a16="http://schemas.microsoft.com/office/drawing/2014/main" id="{B49A4BAB-2E7E-48FB-B6FD-CDDE0CA36621}"/>
                </a:ext>
              </a:extLst>
            </p:cNvPr>
            <p:cNvSpPr/>
            <p:nvPr/>
          </p:nvSpPr>
          <p:spPr>
            <a:xfrm>
              <a:off x="5122460" y="3311857"/>
              <a:ext cx="532262" cy="329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3560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animBg="1"/>
      <p:bldP spid="9"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7</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532473"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应用层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(Application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4583372"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直接为应用程序提供网络服务</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5" y="2169572"/>
            <a:ext cx="5713429" cy="1005788"/>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常见协议包括：</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网页</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FTP(</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文件传输</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SMTP(</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邮件</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域名解析</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752BDE3-6AFC-459A-ABCD-E01EAE07157B}"/>
              </a:ext>
            </a:extLst>
          </p:cNvPr>
          <p:cNvSpPr txBox="1"/>
          <p:nvPr/>
        </p:nvSpPr>
        <p:spPr>
          <a:xfrm>
            <a:off x="3275894" y="3233731"/>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不关心具体的传输过程</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505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8</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6134115"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表示层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(Presentation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确保应用层数据能够被接收方正确理解</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18181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格式化</a:t>
            </a:r>
            <a:endParaRPr lang="zh-CN" altLang="en-US" sz="2400" b="1"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5333A91C-AC91-4A7A-911B-1784EB3C2E86}"/>
              </a:ext>
            </a:extLst>
          </p:cNvPr>
          <p:cNvSpPr txBox="1"/>
          <p:nvPr/>
        </p:nvSpPr>
        <p:spPr>
          <a:xfrm>
            <a:off x="3593070" y="3518624"/>
            <a:ext cx="5294898"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加密</a:t>
            </a:r>
            <a:endParaRPr lang="zh-CN" altLang="en-US" sz="2400" b="1"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E914F695-18E8-4C02-AEC9-5243B220AB4A}"/>
              </a:ext>
            </a:extLst>
          </p:cNvPr>
          <p:cNvSpPr txBox="1"/>
          <p:nvPr/>
        </p:nvSpPr>
        <p:spPr>
          <a:xfrm>
            <a:off x="3576727" y="4395328"/>
            <a:ext cx="5294898"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压缩</a:t>
            </a:r>
            <a:endParaRPr lang="zh-CN" altLang="en-US" sz="2400" b="1"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5C9DA381-5102-4674-BFCC-865004F7E0D3}"/>
              </a:ext>
            </a:extLst>
          </p:cNvPr>
          <p:cNvSpPr txBox="1"/>
          <p:nvPr/>
        </p:nvSpPr>
        <p:spPr>
          <a:xfrm>
            <a:off x="3593070" y="2699804"/>
            <a:ext cx="5294898" cy="85356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将数据转化为标准格式，保证发送方和接收方能够互相理解</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FD0AC2F9-0162-43AE-B96C-13B016E25141}"/>
              </a:ext>
            </a:extLst>
          </p:cNvPr>
          <p:cNvSpPr txBox="1"/>
          <p:nvPr/>
        </p:nvSpPr>
        <p:spPr>
          <a:xfrm>
            <a:off x="3576727" y="3956904"/>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对传输的数据进行加密操作，提高传输安全性</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88C45520-CE4E-4CB1-92CF-744595FF2686}"/>
              </a:ext>
            </a:extLst>
          </p:cNvPr>
          <p:cNvSpPr txBox="1"/>
          <p:nvPr/>
        </p:nvSpPr>
        <p:spPr>
          <a:xfrm>
            <a:off x="3588521" y="4899179"/>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对数据进行压缩，提高传输效率和速度</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04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p:bldP spid="23" grpId="0"/>
      <p:bldP spid="24"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9</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173081"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会话层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(Session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830997"/>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建立一个可靠的通信会话，确保数据在多轮交互中能够正常传输</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会话建立、管理和终止</a:t>
            </a:r>
            <a:endParaRPr lang="zh-CN" altLang="en-US" sz="2400" b="1"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5C9DA381-5102-4674-BFCC-865004F7E0D3}"/>
              </a:ext>
            </a:extLst>
          </p:cNvPr>
          <p:cNvSpPr txBox="1"/>
          <p:nvPr/>
        </p:nvSpPr>
        <p:spPr>
          <a:xfrm>
            <a:off x="3576727" y="2931909"/>
            <a:ext cx="5294898" cy="125367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初始化会话，确保双方有序交互；</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管理会话的生命周期；</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会话结束后，优雅地终止对话。</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327D23C-B264-43B6-981D-8C0F8D5932C6}"/>
              </a:ext>
            </a:extLst>
          </p:cNvPr>
          <p:cNvSpPr txBox="1"/>
          <p:nvPr/>
        </p:nvSpPr>
        <p:spPr>
          <a:xfrm>
            <a:off x="3510182" y="4139366"/>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数据同步</a:t>
            </a:r>
            <a:endParaRPr lang="zh-CN" altLang="en-US" sz="2400" b="1"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65C99112-F4B5-4E64-886E-295C7F5A4452}"/>
              </a:ext>
            </a:extLst>
          </p:cNvPr>
          <p:cNvSpPr txBox="1"/>
          <p:nvPr/>
        </p:nvSpPr>
        <p:spPr>
          <a:xfrm>
            <a:off x="3510181" y="5305522"/>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半双工</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全双工确认</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7091FAF-1122-43E6-A209-14FAB45BB5D3}"/>
              </a:ext>
            </a:extLst>
          </p:cNvPr>
          <p:cNvSpPr txBox="1"/>
          <p:nvPr/>
        </p:nvSpPr>
        <p:spPr>
          <a:xfrm>
            <a:off x="3576727" y="4736737"/>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若网络中断，负责数据的同步与标记</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369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10</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173081"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传输层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(Transport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56032" y="5098451"/>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830997"/>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承上启下，关注数据传输，提供端到端的数据传输服务。</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33189"/>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主要作用</a:t>
            </a:r>
            <a:endParaRPr lang="zh-CN" altLang="en-US" sz="2400" b="1"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5C9DA381-5102-4674-BFCC-865004F7E0D3}"/>
              </a:ext>
            </a:extLst>
          </p:cNvPr>
          <p:cNvSpPr txBox="1"/>
          <p:nvPr/>
        </p:nvSpPr>
        <p:spPr>
          <a:xfrm>
            <a:off x="3576727" y="2858846"/>
            <a:ext cx="5294898" cy="1653786"/>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数据分段与重组</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流量控制</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错误检测与纠正</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可靠性保证</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7091FAF-1122-43E6-A209-14FAB45BB5D3}"/>
              </a:ext>
            </a:extLst>
          </p:cNvPr>
          <p:cNvSpPr txBox="1"/>
          <p:nvPr/>
        </p:nvSpPr>
        <p:spPr>
          <a:xfrm>
            <a:off x="3593070" y="5040528"/>
            <a:ext cx="5294898" cy="453457"/>
          </a:xfrm>
          <a:prstGeom prst="rect">
            <a:avLst/>
          </a:prstGeom>
          <a:noFill/>
        </p:spPr>
        <p:txBody>
          <a:bodyPr wrap="square">
            <a:spAutoFit/>
          </a:bodyPr>
          <a:lstStyle/>
          <a:p>
            <a:pPr algn="just">
              <a:lnSpc>
                <a:spcPct val="130000"/>
              </a:lnSpc>
            </a:pP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TCP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Transmission Control Protocol</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1B4DB7F2-02C0-412D-B1A7-8AA724C474A1}"/>
              </a:ext>
            </a:extLst>
          </p:cNvPr>
          <p:cNvSpPr txBox="1"/>
          <p:nvPr/>
        </p:nvSpPr>
        <p:spPr>
          <a:xfrm>
            <a:off x="3298642" y="4530678"/>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常用协议</a:t>
            </a:r>
            <a:endParaRPr lang="zh-CN" altLang="en-US" sz="2400" b="1"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67256DC3-0094-4AE8-A551-59CCD43048EB}"/>
              </a:ext>
            </a:extLst>
          </p:cNvPr>
          <p:cNvSpPr txBox="1"/>
          <p:nvPr/>
        </p:nvSpPr>
        <p:spPr>
          <a:xfrm>
            <a:off x="3576727" y="5479614"/>
            <a:ext cx="5294898" cy="453457"/>
          </a:xfrm>
          <a:prstGeom prst="rect">
            <a:avLst/>
          </a:prstGeom>
          <a:noFill/>
        </p:spPr>
        <p:txBody>
          <a:bodyPr wrap="square">
            <a:spAutoFit/>
          </a:bodyPr>
          <a:lstStyle/>
          <a:p>
            <a:pPr algn="just">
              <a:lnSpc>
                <a:spcPct val="130000"/>
              </a:lnSpc>
            </a:pP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UDP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User Datagram</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Protocol</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658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20" grpId="0"/>
      <p:bldP spid="29" grpId="0"/>
      <p:bldP spid="22"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11</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173081"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E.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(Network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在不同网络之间实现数据包端到端传输</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主要作用</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327D23C-B264-43B6-981D-8C0F8D5932C6}"/>
              </a:ext>
            </a:extLst>
          </p:cNvPr>
          <p:cNvSpPr txBox="1"/>
          <p:nvPr/>
        </p:nvSpPr>
        <p:spPr>
          <a:xfrm>
            <a:off x="3662070" y="3013865"/>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逻辑寻址</a:t>
            </a:r>
            <a:endParaRPr lang="zh-CN" altLang="en-US" sz="2400" b="1"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65C99112-F4B5-4E64-886E-295C7F5A4452}"/>
              </a:ext>
            </a:extLst>
          </p:cNvPr>
          <p:cNvSpPr txBox="1"/>
          <p:nvPr/>
        </p:nvSpPr>
        <p:spPr>
          <a:xfrm>
            <a:off x="3662069" y="3972750"/>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7091FAF-1122-43E6-A209-14FAB45BB5D3}"/>
              </a:ext>
            </a:extLst>
          </p:cNvPr>
          <p:cNvSpPr txBox="1"/>
          <p:nvPr/>
        </p:nvSpPr>
        <p:spPr>
          <a:xfrm>
            <a:off x="3662070" y="3519293"/>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根据</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地址寻找到目标用户</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1E0D7F1F-6F56-4B2F-9108-B30A374D41EE}"/>
              </a:ext>
            </a:extLst>
          </p:cNvPr>
          <p:cNvSpPr txBox="1"/>
          <p:nvPr/>
        </p:nvSpPr>
        <p:spPr>
          <a:xfrm>
            <a:off x="3662068" y="4498407"/>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寻找最优路径传输数据包</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0C04DB2-EB38-4092-A61E-A1F9E3E38D5F}"/>
              </a:ext>
            </a:extLst>
          </p:cNvPr>
          <p:cNvSpPr txBox="1"/>
          <p:nvPr/>
        </p:nvSpPr>
        <p:spPr>
          <a:xfrm>
            <a:off x="3662069" y="4995572"/>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分组转发</a:t>
            </a:r>
            <a:endParaRPr lang="zh-CN" altLang="en-US" sz="2400" b="1"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8D9AC44-54E5-45F9-AF06-F3F1E9624582}"/>
              </a:ext>
            </a:extLst>
          </p:cNvPr>
          <p:cNvSpPr txBox="1"/>
          <p:nvPr/>
        </p:nvSpPr>
        <p:spPr>
          <a:xfrm>
            <a:off x="3662068" y="5458540"/>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根据</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地址和路由表，对数据包进行转发</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69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7" grpId="0"/>
      <p:bldP spid="29" grpId="0"/>
      <p:bldP spid="22" grpId="0"/>
      <p:bldP spid="23"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12</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6134115"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F.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数据链路层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(Data Link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830997"/>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确保数据在物理介质上传输的可靠性，关注单跳传输</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主要作用</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327D23C-B264-43B6-981D-8C0F8D5932C6}"/>
              </a:ext>
            </a:extLst>
          </p:cNvPr>
          <p:cNvSpPr txBox="1"/>
          <p:nvPr/>
        </p:nvSpPr>
        <p:spPr>
          <a:xfrm>
            <a:off x="3651590" y="2898537"/>
            <a:ext cx="492796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封装成帧</a:t>
            </a:r>
            <a:endParaRPr lang="zh-CN" altLang="en-US" sz="2400" b="1"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B235C100-FBA2-4492-BE14-426A57F77D3C}"/>
              </a:ext>
            </a:extLst>
          </p:cNvPr>
          <p:cNvSpPr txBox="1"/>
          <p:nvPr/>
        </p:nvSpPr>
        <p:spPr>
          <a:xfrm>
            <a:off x="3651590" y="3405216"/>
            <a:ext cx="492796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错误检测与纠正</a:t>
            </a:r>
            <a:endParaRPr lang="zh-CN" altLang="en-US" sz="2400" b="1"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C1F9C2AF-46F4-4C3A-A21A-929D586E44AF}"/>
              </a:ext>
            </a:extLst>
          </p:cNvPr>
          <p:cNvSpPr txBox="1"/>
          <p:nvPr/>
        </p:nvSpPr>
        <p:spPr>
          <a:xfrm>
            <a:off x="3651590" y="3863786"/>
            <a:ext cx="492796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流量控制</a:t>
            </a:r>
            <a:endParaRPr lang="zh-CN" altLang="en-US" sz="2400" b="1"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1D060809-B6C4-42A8-BD39-320207198BBB}"/>
              </a:ext>
            </a:extLst>
          </p:cNvPr>
          <p:cNvSpPr txBox="1"/>
          <p:nvPr/>
        </p:nvSpPr>
        <p:spPr>
          <a:xfrm>
            <a:off x="3651589" y="4373270"/>
            <a:ext cx="492796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访问控制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协议</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2B3379EF-69CA-43E4-9529-40B9D02885A0}"/>
              </a:ext>
            </a:extLst>
          </p:cNvPr>
          <p:cNvSpPr txBox="1"/>
          <p:nvPr/>
        </p:nvSpPr>
        <p:spPr>
          <a:xfrm>
            <a:off x="3275895" y="4855326"/>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常见协议</a:t>
            </a:r>
            <a:endParaRPr lang="zh-CN" altLang="en-US" sz="2400" b="1"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8F1CB1C2-2519-45D5-95A7-3E05B2ED0B31}"/>
              </a:ext>
            </a:extLst>
          </p:cNvPr>
          <p:cNvSpPr txBox="1"/>
          <p:nvPr/>
        </p:nvSpPr>
        <p:spPr>
          <a:xfrm>
            <a:off x="3651589" y="5348637"/>
            <a:ext cx="4927965"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TDMA</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FDMA</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CDMA</a:t>
            </a:r>
            <a:endParaRPr lang="zh-CN" altLang="en-US" sz="2400" b="1"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E5E245B-FD5B-4432-93D2-C9DB61074AA7}"/>
              </a:ext>
            </a:extLst>
          </p:cNvPr>
          <p:cNvSpPr txBox="1"/>
          <p:nvPr/>
        </p:nvSpPr>
        <p:spPr>
          <a:xfrm>
            <a:off x="3651588" y="5807678"/>
            <a:ext cx="4927965"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CSMA/CD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CSMA/CA</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713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20" grpId="0"/>
      <p:bldP spid="21" grpId="0"/>
      <p:bldP spid="22" grpId="0"/>
      <p:bldP spid="23" grpId="0"/>
      <p:bldP spid="25" grpId="0"/>
      <p:bldP spid="26" grpId="0"/>
      <p:bldP spid="28"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13</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6838109"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物理层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(Physical Layer, PHY)</a:t>
            </a: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最底层协议层，负责数据比特流传输</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主要工作</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327D23C-B264-43B6-981D-8C0F8D5932C6}"/>
              </a:ext>
            </a:extLst>
          </p:cNvPr>
          <p:cNvSpPr txBox="1"/>
          <p:nvPr/>
        </p:nvSpPr>
        <p:spPr>
          <a:xfrm>
            <a:off x="3627824" y="2970902"/>
            <a:ext cx="47996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选择合适的传输介质</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7091FAF-1122-43E6-A209-14FAB45BB5D3}"/>
              </a:ext>
            </a:extLst>
          </p:cNvPr>
          <p:cNvSpPr txBox="1"/>
          <p:nvPr/>
        </p:nvSpPr>
        <p:spPr>
          <a:xfrm>
            <a:off x="3694427" y="4021730"/>
            <a:ext cx="2712063"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信道编码</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1B4D0E04-1DE1-4E8D-B0C2-90887ADFE9B0}"/>
              </a:ext>
            </a:extLst>
          </p:cNvPr>
          <p:cNvSpPr txBox="1"/>
          <p:nvPr/>
        </p:nvSpPr>
        <p:spPr>
          <a:xfrm>
            <a:off x="3627824" y="3496316"/>
            <a:ext cx="468733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对数据进行编码变换</a:t>
            </a:r>
            <a:endParaRPr lang="zh-CN" altLang="en-US" sz="2400" b="1"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6E4209E-2F8F-41A6-88DC-89F0B5469480}"/>
              </a:ext>
            </a:extLst>
          </p:cNvPr>
          <p:cNvSpPr txBox="1"/>
          <p:nvPr/>
        </p:nvSpPr>
        <p:spPr>
          <a:xfrm>
            <a:off x="3694427" y="4436897"/>
            <a:ext cx="2712063"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信源编码</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974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9" grpId="0"/>
      <p:bldP spid="22"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14</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173081"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 OSI</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七层模型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461665"/>
          </a:xfrm>
          <a:prstGeom prst="rect">
            <a:avLst/>
          </a:prstGeom>
          <a:noFill/>
        </p:spPr>
        <p:txBody>
          <a:bodyPr wrap="square">
            <a:spAutoFit/>
          </a:bodyPr>
          <a:lstStyle/>
          <a:p>
            <a:pPr algn="just"/>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各层独立，便于模块化设计和教学</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gn="just">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设计复杂，并没有被大多数系统采用</a:t>
            </a:r>
            <a:endParaRPr lang="zh-CN" altLang="en-US" sz="2400" b="1"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FB2B4BA-E9CE-461C-B07F-FB1059974081}"/>
              </a:ext>
            </a:extLst>
          </p:cNvPr>
          <p:cNvSpPr txBox="1"/>
          <p:nvPr/>
        </p:nvSpPr>
        <p:spPr>
          <a:xfrm>
            <a:off x="3275896" y="3035496"/>
            <a:ext cx="5713429" cy="1005788"/>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各个系统根据需要对</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模型进行大规模修改和简化</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9214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15</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6" y="693208"/>
            <a:ext cx="2716804"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七层模型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数据链路层</a:t>
            </a:r>
          </a:p>
        </p:txBody>
      </p:sp>
      <p:sp>
        <p:nvSpPr>
          <p:cNvPr id="16" name="矩形 15">
            <a:extLst>
              <a:ext uri="{FF2B5EF4-FFF2-40B4-BE49-F238E27FC236}">
                <a16:creationId xmlns:a16="http://schemas.microsoft.com/office/drawing/2014/main" id="{D6B5F4DD-51C9-418E-9E68-EAB80B572A0F}"/>
              </a:ext>
            </a:extLst>
          </p:cNvPr>
          <p:cNvSpPr/>
          <p:nvPr/>
        </p:nvSpPr>
        <p:spPr>
          <a:xfrm>
            <a:off x="4649619" y="1479230"/>
            <a:ext cx="2465137" cy="20699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17" name="矩形 16">
            <a:extLst>
              <a:ext uri="{FF2B5EF4-FFF2-40B4-BE49-F238E27FC236}">
                <a16:creationId xmlns:a16="http://schemas.microsoft.com/office/drawing/2014/main" id="{2EC9304C-B68F-4E8F-9F34-5F2EFBCB0CEA}"/>
              </a:ext>
            </a:extLst>
          </p:cNvPr>
          <p:cNvSpPr/>
          <p:nvPr/>
        </p:nvSpPr>
        <p:spPr>
          <a:xfrm>
            <a:off x="4649618" y="364660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8" name="矩形 17">
            <a:extLst>
              <a:ext uri="{FF2B5EF4-FFF2-40B4-BE49-F238E27FC236}">
                <a16:creationId xmlns:a16="http://schemas.microsoft.com/office/drawing/2014/main" id="{06A9CB0A-CB90-4A74-8D81-AAC9C8CC702D}"/>
              </a:ext>
            </a:extLst>
          </p:cNvPr>
          <p:cNvSpPr/>
          <p:nvPr/>
        </p:nvSpPr>
        <p:spPr>
          <a:xfrm>
            <a:off x="4649617" y="4364582"/>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21" name="矩形 20">
            <a:extLst>
              <a:ext uri="{FF2B5EF4-FFF2-40B4-BE49-F238E27FC236}">
                <a16:creationId xmlns:a16="http://schemas.microsoft.com/office/drawing/2014/main" id="{1B8A0469-BA9B-492B-A9A9-29796E171918}"/>
              </a:ext>
            </a:extLst>
          </p:cNvPr>
          <p:cNvSpPr/>
          <p:nvPr/>
        </p:nvSpPr>
        <p:spPr>
          <a:xfrm>
            <a:off x="4649616" y="5092955"/>
            <a:ext cx="2465137" cy="136921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网络接口层</a:t>
            </a:r>
          </a:p>
        </p:txBody>
      </p:sp>
      <p:sp>
        <p:nvSpPr>
          <p:cNvPr id="2" name="右大括号 1">
            <a:extLst>
              <a:ext uri="{FF2B5EF4-FFF2-40B4-BE49-F238E27FC236}">
                <a16:creationId xmlns:a16="http://schemas.microsoft.com/office/drawing/2014/main" id="{20EAB2F4-E85C-4B7F-92FE-701CEF5F2F8E}"/>
              </a:ext>
            </a:extLst>
          </p:cNvPr>
          <p:cNvSpPr/>
          <p:nvPr/>
        </p:nvSpPr>
        <p:spPr>
          <a:xfrm>
            <a:off x="2840966" y="1765045"/>
            <a:ext cx="230037" cy="1663955"/>
          </a:xfrm>
          <a:prstGeom prst="rightBrace">
            <a:avLst>
              <a:gd name="adj1" fmla="val 75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B0E3C6E4-0455-4E28-B962-CDCC50CB7839}"/>
              </a:ext>
            </a:extLst>
          </p:cNvPr>
          <p:cNvSpPr/>
          <p:nvPr/>
        </p:nvSpPr>
        <p:spPr>
          <a:xfrm>
            <a:off x="3252892" y="2378940"/>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8C229FC0-7C66-4885-A7F5-FBE5A4297D2C}"/>
              </a:ext>
            </a:extLst>
          </p:cNvPr>
          <p:cNvSpPr/>
          <p:nvPr/>
        </p:nvSpPr>
        <p:spPr>
          <a:xfrm>
            <a:off x="2840965" y="5144170"/>
            <a:ext cx="230037" cy="1291263"/>
          </a:xfrm>
          <a:prstGeom prst="rightBrace">
            <a:avLst>
              <a:gd name="adj1" fmla="val 75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7A5127EA-564D-44C6-BE78-110B5D5964D4}"/>
              </a:ext>
            </a:extLst>
          </p:cNvPr>
          <p:cNvSpPr/>
          <p:nvPr/>
        </p:nvSpPr>
        <p:spPr>
          <a:xfrm>
            <a:off x="3252891" y="5564827"/>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574529D5-1295-4DD2-B37D-92C7C637B888}"/>
              </a:ext>
            </a:extLst>
          </p:cNvPr>
          <p:cNvSpPr/>
          <p:nvPr/>
        </p:nvSpPr>
        <p:spPr>
          <a:xfrm>
            <a:off x="3252891" y="3744169"/>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78FF060F-3E83-4048-A023-5F147B82E3CF}"/>
              </a:ext>
            </a:extLst>
          </p:cNvPr>
          <p:cNvSpPr/>
          <p:nvPr/>
        </p:nvSpPr>
        <p:spPr>
          <a:xfrm>
            <a:off x="3252890" y="4467341"/>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D79E6DD5-DCE6-4D58-9C51-04F30D8C36A8}"/>
              </a:ext>
            </a:extLst>
          </p:cNvPr>
          <p:cNvSpPr txBox="1"/>
          <p:nvPr/>
        </p:nvSpPr>
        <p:spPr>
          <a:xfrm>
            <a:off x="4352665" y="693208"/>
            <a:ext cx="2951839"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TCP/IP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四层模型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5575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250" fill="hold"/>
                                        <p:tgtEl>
                                          <p:spTgt spid="24"/>
                                        </p:tgtEl>
                                        <p:attrNameLst>
                                          <p:attrName>ppt_x</p:attrName>
                                        </p:attrNameLst>
                                      </p:cBhvr>
                                      <p:tavLst>
                                        <p:tav tm="0">
                                          <p:val>
                                            <p:strVal val="0-#ppt_w/2"/>
                                          </p:val>
                                        </p:tav>
                                        <p:tav tm="100000">
                                          <p:val>
                                            <p:strVal val="#ppt_x"/>
                                          </p:val>
                                        </p:tav>
                                      </p:tavLst>
                                    </p:anim>
                                    <p:anim calcmode="lin" valueType="num">
                                      <p:cBhvr additive="base">
                                        <p:cTn id="12" dur="125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1250" fill="hold"/>
                                        <p:tgtEl>
                                          <p:spTgt spid="25"/>
                                        </p:tgtEl>
                                        <p:attrNameLst>
                                          <p:attrName>ppt_x</p:attrName>
                                        </p:attrNameLst>
                                      </p:cBhvr>
                                      <p:tavLst>
                                        <p:tav tm="0">
                                          <p:val>
                                            <p:strVal val="0-#ppt_w/2"/>
                                          </p:val>
                                        </p:tav>
                                        <p:tav tm="100000">
                                          <p:val>
                                            <p:strVal val="#ppt_x"/>
                                          </p:val>
                                        </p:tav>
                                      </p:tavLst>
                                    </p:anim>
                                    <p:anim calcmode="lin" valueType="num">
                                      <p:cBhvr additive="base">
                                        <p:cTn id="16" dur="125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1250" fill="hold"/>
                                        <p:tgtEl>
                                          <p:spTgt spid="2"/>
                                        </p:tgtEl>
                                        <p:attrNameLst>
                                          <p:attrName>ppt_x</p:attrName>
                                        </p:attrNameLst>
                                      </p:cBhvr>
                                      <p:tavLst>
                                        <p:tav tm="0">
                                          <p:val>
                                            <p:strVal val="0-#ppt_w/2"/>
                                          </p:val>
                                        </p:tav>
                                        <p:tav tm="100000">
                                          <p:val>
                                            <p:strVal val="#ppt_x"/>
                                          </p:val>
                                        </p:tav>
                                      </p:tavLst>
                                    </p:anim>
                                    <p:anim calcmode="lin" valueType="num">
                                      <p:cBhvr additive="base">
                                        <p:cTn id="42" dur="1250" fill="hold"/>
                                        <p:tgtEl>
                                          <p:spTgt spid="2"/>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1250" fill="hold"/>
                                        <p:tgtEl>
                                          <p:spTgt spid="3"/>
                                        </p:tgtEl>
                                        <p:attrNameLst>
                                          <p:attrName>ppt_x</p:attrName>
                                        </p:attrNameLst>
                                      </p:cBhvr>
                                      <p:tavLst>
                                        <p:tav tm="0">
                                          <p:val>
                                            <p:strVal val="0-#ppt_w/2"/>
                                          </p:val>
                                        </p:tav>
                                        <p:tav tm="100000">
                                          <p:val>
                                            <p:strVal val="#ppt_x"/>
                                          </p:val>
                                        </p:tav>
                                      </p:tavLst>
                                    </p:anim>
                                    <p:anim calcmode="lin" valueType="num">
                                      <p:cBhvr additive="base">
                                        <p:cTn id="46" dur="125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21" grpId="0" animBg="1"/>
      <p:bldP spid="2" grpId="0" animBg="1"/>
      <p:bldP spid="3" grpId="0" animBg="1"/>
      <p:bldP spid="24" grpId="0" animBg="1"/>
      <p:bldP spid="25" grpId="0" animBg="1"/>
      <p:bldP spid="26" grpId="0" animBg="1"/>
      <p:bldP spid="27" grpId="0" animBg="1"/>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16</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6" y="693208"/>
            <a:ext cx="2716804"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七层模型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数据链路层</a:t>
            </a:r>
          </a:p>
        </p:txBody>
      </p:sp>
      <p:sp>
        <p:nvSpPr>
          <p:cNvPr id="16" name="矩形 15">
            <a:extLst>
              <a:ext uri="{FF2B5EF4-FFF2-40B4-BE49-F238E27FC236}">
                <a16:creationId xmlns:a16="http://schemas.microsoft.com/office/drawing/2014/main" id="{D6B5F4DD-51C9-418E-9E68-EAB80B572A0F}"/>
              </a:ext>
            </a:extLst>
          </p:cNvPr>
          <p:cNvSpPr/>
          <p:nvPr/>
        </p:nvSpPr>
        <p:spPr>
          <a:xfrm>
            <a:off x="4649619" y="1479230"/>
            <a:ext cx="2465137" cy="20699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应用层</a:t>
            </a:r>
          </a:p>
        </p:txBody>
      </p:sp>
      <p:sp>
        <p:nvSpPr>
          <p:cNvPr id="17" name="矩形 16">
            <a:extLst>
              <a:ext uri="{FF2B5EF4-FFF2-40B4-BE49-F238E27FC236}">
                <a16:creationId xmlns:a16="http://schemas.microsoft.com/office/drawing/2014/main" id="{2EC9304C-B68F-4E8F-9F34-5F2EFBCB0CEA}"/>
              </a:ext>
            </a:extLst>
          </p:cNvPr>
          <p:cNvSpPr/>
          <p:nvPr/>
        </p:nvSpPr>
        <p:spPr>
          <a:xfrm>
            <a:off x="4649618" y="364660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传输层</a:t>
            </a:r>
          </a:p>
        </p:txBody>
      </p:sp>
      <p:sp>
        <p:nvSpPr>
          <p:cNvPr id="18" name="矩形 17">
            <a:extLst>
              <a:ext uri="{FF2B5EF4-FFF2-40B4-BE49-F238E27FC236}">
                <a16:creationId xmlns:a16="http://schemas.microsoft.com/office/drawing/2014/main" id="{06A9CB0A-CB90-4A74-8D81-AAC9C8CC702D}"/>
              </a:ext>
            </a:extLst>
          </p:cNvPr>
          <p:cNvSpPr/>
          <p:nvPr/>
        </p:nvSpPr>
        <p:spPr>
          <a:xfrm>
            <a:off x="4649617" y="4364582"/>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21" name="矩形 20">
            <a:extLst>
              <a:ext uri="{FF2B5EF4-FFF2-40B4-BE49-F238E27FC236}">
                <a16:creationId xmlns:a16="http://schemas.microsoft.com/office/drawing/2014/main" id="{1B8A0469-BA9B-492B-A9A9-29796E171918}"/>
              </a:ext>
            </a:extLst>
          </p:cNvPr>
          <p:cNvSpPr/>
          <p:nvPr/>
        </p:nvSpPr>
        <p:spPr>
          <a:xfrm>
            <a:off x="4649616" y="5092955"/>
            <a:ext cx="2465137" cy="136921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网络接口层</a:t>
            </a:r>
          </a:p>
        </p:txBody>
      </p:sp>
      <p:sp>
        <p:nvSpPr>
          <p:cNvPr id="2" name="右大括号 1">
            <a:extLst>
              <a:ext uri="{FF2B5EF4-FFF2-40B4-BE49-F238E27FC236}">
                <a16:creationId xmlns:a16="http://schemas.microsoft.com/office/drawing/2014/main" id="{20EAB2F4-E85C-4B7F-92FE-701CEF5F2F8E}"/>
              </a:ext>
            </a:extLst>
          </p:cNvPr>
          <p:cNvSpPr/>
          <p:nvPr/>
        </p:nvSpPr>
        <p:spPr>
          <a:xfrm>
            <a:off x="2840966" y="1765045"/>
            <a:ext cx="230037" cy="1663955"/>
          </a:xfrm>
          <a:prstGeom prst="rightBrace">
            <a:avLst>
              <a:gd name="adj1" fmla="val 75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B0E3C6E4-0455-4E28-B962-CDCC50CB7839}"/>
              </a:ext>
            </a:extLst>
          </p:cNvPr>
          <p:cNvSpPr/>
          <p:nvPr/>
        </p:nvSpPr>
        <p:spPr>
          <a:xfrm>
            <a:off x="3252892" y="2378940"/>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8C229FC0-7C66-4885-A7F5-FBE5A4297D2C}"/>
              </a:ext>
            </a:extLst>
          </p:cNvPr>
          <p:cNvSpPr/>
          <p:nvPr/>
        </p:nvSpPr>
        <p:spPr>
          <a:xfrm>
            <a:off x="2840965" y="5144170"/>
            <a:ext cx="230037" cy="1291263"/>
          </a:xfrm>
          <a:prstGeom prst="rightBrace">
            <a:avLst>
              <a:gd name="adj1" fmla="val 75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7A5127EA-564D-44C6-BE78-110B5D5964D4}"/>
              </a:ext>
            </a:extLst>
          </p:cNvPr>
          <p:cNvSpPr/>
          <p:nvPr/>
        </p:nvSpPr>
        <p:spPr>
          <a:xfrm>
            <a:off x="3252891" y="5564827"/>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574529D5-1295-4DD2-B37D-92C7C637B888}"/>
              </a:ext>
            </a:extLst>
          </p:cNvPr>
          <p:cNvSpPr/>
          <p:nvPr/>
        </p:nvSpPr>
        <p:spPr>
          <a:xfrm>
            <a:off x="3252891" y="3744169"/>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78FF060F-3E83-4048-A023-5F147B82E3CF}"/>
              </a:ext>
            </a:extLst>
          </p:cNvPr>
          <p:cNvSpPr/>
          <p:nvPr/>
        </p:nvSpPr>
        <p:spPr>
          <a:xfrm>
            <a:off x="3252890" y="4467341"/>
            <a:ext cx="1170065" cy="425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D79E6DD5-DCE6-4D58-9C51-04F30D8C36A8}"/>
              </a:ext>
            </a:extLst>
          </p:cNvPr>
          <p:cNvSpPr txBox="1"/>
          <p:nvPr/>
        </p:nvSpPr>
        <p:spPr>
          <a:xfrm>
            <a:off x="4352665" y="693208"/>
            <a:ext cx="2951839"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TCP/IP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四层模型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3309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17</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6" y="693208"/>
            <a:ext cx="2716804" cy="597921"/>
          </a:xfrm>
          <a:prstGeom prst="rect">
            <a:avLst/>
          </a:prstGeom>
          <a:noFill/>
        </p:spPr>
        <p:txBody>
          <a:bodyPr wrap="square" rtlCol="0">
            <a:spAutoFit/>
          </a:bodyPr>
          <a:lstStyle/>
          <a:p>
            <a:pPr>
              <a:lnSpc>
                <a:spcPct val="130000"/>
              </a:lnSpc>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总结</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133EDB1-EFFD-47ED-98D3-273827FFB2B5}"/>
              </a:ext>
            </a:extLst>
          </p:cNvPr>
          <p:cNvSpPr txBox="1"/>
          <p:nvPr/>
        </p:nvSpPr>
        <p:spPr>
          <a:xfrm>
            <a:off x="6830546" y="0"/>
            <a:ext cx="2313454"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2.1 OSI</a:t>
            </a:r>
            <a:r>
              <a:rPr lang="zh-CN" altLang="en-US" b="1" dirty="0">
                <a:latin typeface="Times New Roman" panose="02020603050405020304" pitchFamily="18" charset="0"/>
                <a:cs typeface="Times New Roman" panose="02020603050405020304" pitchFamily="18" charset="0"/>
              </a:rPr>
              <a:t>七层模型介绍</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B00319B4-6329-48EB-BD7A-AEBC0A45146B}"/>
              </a:ext>
            </a:extLst>
          </p:cNvPr>
          <p:cNvSpPr txBox="1"/>
          <p:nvPr/>
        </p:nvSpPr>
        <p:spPr>
          <a:xfrm>
            <a:off x="809116" y="5933959"/>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物理层</a:t>
            </a:r>
          </a:p>
        </p:txBody>
      </p:sp>
      <p:sp>
        <p:nvSpPr>
          <p:cNvPr id="31" name="文本框 30">
            <a:extLst>
              <a:ext uri="{FF2B5EF4-FFF2-40B4-BE49-F238E27FC236}">
                <a16:creationId xmlns:a16="http://schemas.microsoft.com/office/drawing/2014/main" id="{8744DC05-DAAA-40A7-9F11-310DF338E15B}"/>
              </a:ext>
            </a:extLst>
          </p:cNvPr>
          <p:cNvSpPr txBox="1"/>
          <p:nvPr/>
        </p:nvSpPr>
        <p:spPr>
          <a:xfrm>
            <a:off x="322668" y="5172417"/>
            <a:ext cx="2364547"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数据链路层</a:t>
            </a:r>
          </a:p>
        </p:txBody>
      </p:sp>
      <p:sp>
        <p:nvSpPr>
          <p:cNvPr id="32" name="文本框 31">
            <a:extLst>
              <a:ext uri="{FF2B5EF4-FFF2-40B4-BE49-F238E27FC236}">
                <a16:creationId xmlns:a16="http://schemas.microsoft.com/office/drawing/2014/main" id="{174AAF6B-681C-4485-9153-808C82D8C96B}"/>
              </a:ext>
            </a:extLst>
          </p:cNvPr>
          <p:cNvSpPr txBox="1"/>
          <p:nvPr/>
        </p:nvSpPr>
        <p:spPr>
          <a:xfrm>
            <a:off x="803769" y="4449244"/>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网络层</a:t>
            </a:r>
          </a:p>
        </p:txBody>
      </p:sp>
      <p:sp>
        <p:nvSpPr>
          <p:cNvPr id="33" name="文本框 32">
            <a:extLst>
              <a:ext uri="{FF2B5EF4-FFF2-40B4-BE49-F238E27FC236}">
                <a16:creationId xmlns:a16="http://schemas.microsoft.com/office/drawing/2014/main" id="{9C96DF43-B185-4EAF-83B4-7A833BEA16F4}"/>
              </a:ext>
            </a:extLst>
          </p:cNvPr>
          <p:cNvSpPr txBox="1"/>
          <p:nvPr/>
        </p:nvSpPr>
        <p:spPr>
          <a:xfrm>
            <a:off x="803768" y="3726071"/>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传输层</a:t>
            </a:r>
          </a:p>
        </p:txBody>
      </p:sp>
      <p:sp>
        <p:nvSpPr>
          <p:cNvPr id="34" name="文本框 33">
            <a:extLst>
              <a:ext uri="{FF2B5EF4-FFF2-40B4-BE49-F238E27FC236}">
                <a16:creationId xmlns:a16="http://schemas.microsoft.com/office/drawing/2014/main" id="{79583DCC-868F-4BFE-8B0C-715E95D83CF3}"/>
              </a:ext>
            </a:extLst>
          </p:cNvPr>
          <p:cNvSpPr txBox="1"/>
          <p:nvPr/>
        </p:nvSpPr>
        <p:spPr>
          <a:xfrm>
            <a:off x="803768" y="3002898"/>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会话层</a:t>
            </a:r>
          </a:p>
        </p:txBody>
      </p:sp>
      <p:sp>
        <p:nvSpPr>
          <p:cNvPr id="35" name="文本框 34">
            <a:extLst>
              <a:ext uri="{FF2B5EF4-FFF2-40B4-BE49-F238E27FC236}">
                <a16:creationId xmlns:a16="http://schemas.microsoft.com/office/drawing/2014/main" id="{FBDE8459-9C8B-4BF4-B831-4E97BAD37F0F}"/>
              </a:ext>
            </a:extLst>
          </p:cNvPr>
          <p:cNvSpPr txBox="1"/>
          <p:nvPr/>
        </p:nvSpPr>
        <p:spPr>
          <a:xfrm>
            <a:off x="803767" y="2299506"/>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表示层</a:t>
            </a:r>
          </a:p>
        </p:txBody>
      </p:sp>
      <p:sp>
        <p:nvSpPr>
          <p:cNvPr id="36" name="文本框 35">
            <a:extLst>
              <a:ext uri="{FF2B5EF4-FFF2-40B4-BE49-F238E27FC236}">
                <a16:creationId xmlns:a16="http://schemas.microsoft.com/office/drawing/2014/main" id="{CED39610-3275-4C67-AEC8-CE8F43CC0F24}"/>
              </a:ext>
            </a:extLst>
          </p:cNvPr>
          <p:cNvSpPr txBox="1"/>
          <p:nvPr/>
        </p:nvSpPr>
        <p:spPr>
          <a:xfrm>
            <a:off x="803767" y="1596114"/>
            <a:ext cx="1391653" cy="461665"/>
          </a:xfrm>
          <a:prstGeom prst="rect">
            <a:avLst/>
          </a:prstGeom>
          <a:noFill/>
        </p:spPr>
        <p:txBody>
          <a:bodyPr wrap="square">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应用层</a:t>
            </a:r>
          </a:p>
        </p:txBody>
      </p:sp>
      <p:sp>
        <p:nvSpPr>
          <p:cNvPr id="38" name="文本框 37">
            <a:extLst>
              <a:ext uri="{FF2B5EF4-FFF2-40B4-BE49-F238E27FC236}">
                <a16:creationId xmlns:a16="http://schemas.microsoft.com/office/drawing/2014/main" id="{6A7BBEB4-145F-478D-9AFE-B8D1C157C81B}"/>
              </a:ext>
            </a:extLst>
          </p:cNvPr>
          <p:cNvSpPr txBox="1"/>
          <p:nvPr/>
        </p:nvSpPr>
        <p:spPr>
          <a:xfrm>
            <a:off x="2920512" y="1527985"/>
            <a:ext cx="4860758"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直接为应用程序提供网络服务</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文本框 39">
            <a:extLst>
              <a:ext uri="{FF2B5EF4-FFF2-40B4-BE49-F238E27FC236}">
                <a16:creationId xmlns:a16="http://schemas.microsoft.com/office/drawing/2014/main" id="{CDD88342-C973-4F05-B9AD-B01AFD8E02BF}"/>
              </a:ext>
            </a:extLst>
          </p:cNvPr>
          <p:cNvSpPr txBox="1"/>
          <p:nvPr/>
        </p:nvSpPr>
        <p:spPr>
          <a:xfrm>
            <a:off x="2920512" y="2229934"/>
            <a:ext cx="530459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确保数据能够被接收方正确理解</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文本框 40">
            <a:extLst>
              <a:ext uri="{FF2B5EF4-FFF2-40B4-BE49-F238E27FC236}">
                <a16:creationId xmlns:a16="http://schemas.microsoft.com/office/drawing/2014/main" id="{FB601194-351B-493F-BF1E-25363075783E}"/>
              </a:ext>
            </a:extLst>
          </p:cNvPr>
          <p:cNvSpPr txBox="1"/>
          <p:nvPr/>
        </p:nvSpPr>
        <p:spPr>
          <a:xfrm>
            <a:off x="2920512" y="2930993"/>
            <a:ext cx="590082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建立一个可靠通信会话并进行管理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a:extLst>
              <a:ext uri="{FF2B5EF4-FFF2-40B4-BE49-F238E27FC236}">
                <a16:creationId xmlns:a16="http://schemas.microsoft.com/office/drawing/2014/main" id="{3E1E5DAB-95FC-4C2D-BAE4-E92E431DE663}"/>
              </a:ext>
            </a:extLst>
          </p:cNvPr>
          <p:cNvSpPr txBox="1"/>
          <p:nvPr/>
        </p:nvSpPr>
        <p:spPr>
          <a:xfrm>
            <a:off x="2920512" y="3657942"/>
            <a:ext cx="590082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提供端到端数据传输服务</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a:extLst>
              <a:ext uri="{FF2B5EF4-FFF2-40B4-BE49-F238E27FC236}">
                <a16:creationId xmlns:a16="http://schemas.microsoft.com/office/drawing/2014/main" id="{C9208D66-3A54-4C34-9467-CEC869022D27}"/>
              </a:ext>
            </a:extLst>
          </p:cNvPr>
          <p:cNvSpPr txBox="1"/>
          <p:nvPr/>
        </p:nvSpPr>
        <p:spPr>
          <a:xfrm>
            <a:off x="2920512" y="4377871"/>
            <a:ext cx="590082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不同网络间实现数据包端到端传输</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a:extLst>
              <a:ext uri="{FF2B5EF4-FFF2-40B4-BE49-F238E27FC236}">
                <a16:creationId xmlns:a16="http://schemas.microsoft.com/office/drawing/2014/main" id="{66495B7B-7340-428C-93C8-AAE1170F9E6F}"/>
              </a:ext>
            </a:extLst>
          </p:cNvPr>
          <p:cNvSpPr txBox="1"/>
          <p:nvPr/>
        </p:nvSpPr>
        <p:spPr>
          <a:xfrm>
            <a:off x="2920512" y="5104288"/>
            <a:ext cx="590082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确保单跳可靠传输</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文本框 44">
            <a:extLst>
              <a:ext uri="{FF2B5EF4-FFF2-40B4-BE49-F238E27FC236}">
                <a16:creationId xmlns:a16="http://schemas.microsoft.com/office/drawing/2014/main" id="{921BD905-8292-4139-AFED-E1CEAABAA560}"/>
              </a:ext>
            </a:extLst>
          </p:cNvPr>
          <p:cNvSpPr txBox="1"/>
          <p:nvPr/>
        </p:nvSpPr>
        <p:spPr>
          <a:xfrm>
            <a:off x="2920512" y="5847712"/>
            <a:ext cx="5900820"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实际比特流传输</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46919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2" grpId="0"/>
      <p:bldP spid="33" grpId="0"/>
      <p:bldP spid="34" grpId="0"/>
      <p:bldP spid="35" grpId="0"/>
      <p:bldP spid="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51AC62-4343-4479-9EF3-AE83299191AF}"/>
              </a:ext>
            </a:extLst>
          </p:cNvPr>
          <p:cNvSpPr>
            <a:spLocks noGrp="1"/>
          </p:cNvSpPr>
          <p:nvPr>
            <p:ph type="sldNum" sz="quarter" idx="12"/>
          </p:nvPr>
        </p:nvSpPr>
        <p:spPr/>
        <p:txBody>
          <a:bodyPr/>
          <a:lstStyle/>
          <a:p>
            <a:fld id="{E663D701-F6D3-45BB-89CD-EE32AA93FC3C}" type="slidenum">
              <a:rPr lang="zh-CN" altLang="en-US" smtClean="0"/>
              <a:t>18</a:t>
            </a:fld>
            <a:endParaRPr lang="zh-CN" altLang="en-US"/>
          </a:p>
        </p:txBody>
      </p:sp>
      <p:sp>
        <p:nvSpPr>
          <p:cNvPr id="5" name="文本框 4">
            <a:extLst>
              <a:ext uri="{FF2B5EF4-FFF2-40B4-BE49-F238E27FC236}">
                <a16:creationId xmlns:a16="http://schemas.microsoft.com/office/drawing/2014/main" id="{E60DD681-0C04-44C0-839E-1BB7242AFFBF}"/>
              </a:ext>
            </a:extLst>
          </p:cNvPr>
          <p:cNvSpPr txBox="1"/>
          <p:nvPr>
            <p:custDataLst>
              <p:tags r:id="rId2"/>
            </p:custDataLst>
          </p:nvPr>
        </p:nvSpPr>
        <p:spPr>
          <a:xfrm>
            <a:off x="914400" y="635000"/>
            <a:ext cx="7315200" cy="1422981"/>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实际负责数据比特流传输的为</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a:t>
            </a:r>
          </a:p>
        </p:txBody>
      </p:sp>
      <p:sp>
        <p:nvSpPr>
          <p:cNvPr id="6" name="文本框 5">
            <a:extLst>
              <a:ext uri="{FF2B5EF4-FFF2-40B4-BE49-F238E27FC236}">
                <a16:creationId xmlns:a16="http://schemas.microsoft.com/office/drawing/2014/main" id="{60C2D971-5213-4AAF-89F6-F2B1D4345B5D}"/>
              </a:ext>
            </a:extLst>
          </p:cNvPr>
          <p:cNvSpPr txBox="1"/>
          <p:nvPr>
            <p:custDataLst>
              <p:tags r:id="rId3"/>
            </p:custDataLst>
          </p:nvPr>
        </p:nvSpPr>
        <p:spPr>
          <a:xfrm>
            <a:off x="1828800" y="2011735"/>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物理层</a:t>
            </a:r>
          </a:p>
        </p:txBody>
      </p:sp>
      <p:sp>
        <p:nvSpPr>
          <p:cNvPr id="7" name="文本框 6">
            <a:extLst>
              <a:ext uri="{FF2B5EF4-FFF2-40B4-BE49-F238E27FC236}">
                <a16:creationId xmlns:a16="http://schemas.microsoft.com/office/drawing/2014/main" id="{E14150B6-A46B-4CDF-A1F8-F740ECC47EDA}"/>
              </a:ext>
            </a:extLst>
          </p:cNvPr>
          <p:cNvSpPr txBox="1"/>
          <p:nvPr>
            <p:custDataLst>
              <p:tags r:id="rId4"/>
            </p:custDataLst>
          </p:nvPr>
        </p:nvSpPr>
        <p:spPr>
          <a:xfrm>
            <a:off x="1828800" y="265563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数据链路层</a:t>
            </a:r>
          </a:p>
        </p:txBody>
      </p:sp>
      <p:sp>
        <p:nvSpPr>
          <p:cNvPr id="8" name="文本框 7">
            <a:extLst>
              <a:ext uri="{FF2B5EF4-FFF2-40B4-BE49-F238E27FC236}">
                <a16:creationId xmlns:a16="http://schemas.microsoft.com/office/drawing/2014/main" id="{1D8449C0-E164-43AA-B521-5751CBED6092}"/>
              </a:ext>
            </a:extLst>
          </p:cNvPr>
          <p:cNvSpPr txBox="1"/>
          <p:nvPr>
            <p:custDataLst>
              <p:tags r:id="rId5"/>
            </p:custDataLst>
          </p:nvPr>
        </p:nvSpPr>
        <p:spPr>
          <a:xfrm>
            <a:off x="1828800" y="3305907"/>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网络层</a:t>
            </a:r>
          </a:p>
        </p:txBody>
      </p:sp>
      <p:sp>
        <p:nvSpPr>
          <p:cNvPr id="9" name="文本框 8">
            <a:extLst>
              <a:ext uri="{FF2B5EF4-FFF2-40B4-BE49-F238E27FC236}">
                <a16:creationId xmlns:a16="http://schemas.microsoft.com/office/drawing/2014/main" id="{5744936A-206F-4252-A8BA-A4DEC0DFD733}"/>
              </a:ext>
            </a:extLst>
          </p:cNvPr>
          <p:cNvSpPr txBox="1"/>
          <p:nvPr>
            <p:custDataLst>
              <p:tags r:id="rId6"/>
            </p:custDataLst>
          </p:nvPr>
        </p:nvSpPr>
        <p:spPr>
          <a:xfrm>
            <a:off x="1828800" y="3924099"/>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传输层</a:t>
            </a:r>
          </a:p>
        </p:txBody>
      </p:sp>
      <p:sp>
        <p:nvSpPr>
          <p:cNvPr id="10" name="椭圆 9">
            <a:extLst>
              <a:ext uri="{FF2B5EF4-FFF2-40B4-BE49-F238E27FC236}">
                <a16:creationId xmlns:a16="http://schemas.microsoft.com/office/drawing/2014/main" id="{DFF69949-F6B7-413B-BC1B-B4BF86FDDD0A}"/>
              </a:ext>
            </a:extLst>
          </p:cNvPr>
          <p:cNvSpPr>
            <a:spLocks noChangeAspect="1"/>
          </p:cNvSpPr>
          <p:nvPr>
            <p:custDataLst>
              <p:tags r:id="rId7"/>
            </p:custDataLst>
          </p:nvPr>
        </p:nvSpPr>
        <p:spPr>
          <a:xfrm>
            <a:off x="1114425" y="207602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6EAA3270-9ED6-42DD-8DE9-987179BFDBCA}"/>
              </a:ext>
            </a:extLst>
          </p:cNvPr>
          <p:cNvSpPr>
            <a:spLocks noChangeAspect="1"/>
          </p:cNvSpPr>
          <p:nvPr>
            <p:custDataLst>
              <p:tags r:id="rId8"/>
            </p:custDataLst>
          </p:nvPr>
        </p:nvSpPr>
        <p:spPr>
          <a:xfrm>
            <a:off x="1114425" y="271992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9AB7A7F3-96DB-4E87-B56C-DEA8FDD814A1}"/>
              </a:ext>
            </a:extLst>
          </p:cNvPr>
          <p:cNvSpPr>
            <a:spLocks noChangeAspect="1"/>
          </p:cNvSpPr>
          <p:nvPr>
            <p:custDataLst>
              <p:tags r:id="rId9"/>
            </p:custDataLst>
          </p:nvPr>
        </p:nvSpPr>
        <p:spPr>
          <a:xfrm>
            <a:off x="1114425" y="3370201"/>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98D0D8F7-53E5-4226-B73E-49107609E6C7}"/>
              </a:ext>
            </a:extLst>
          </p:cNvPr>
          <p:cNvSpPr>
            <a:spLocks noChangeAspect="1"/>
          </p:cNvSpPr>
          <p:nvPr>
            <p:custDataLst>
              <p:tags r:id="rId10"/>
            </p:custDataLst>
          </p:nvPr>
        </p:nvSpPr>
        <p:spPr>
          <a:xfrm>
            <a:off x="1114425" y="398839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FCB39DC2-D057-442F-AC02-61590642D78D}"/>
              </a:ext>
            </a:extLst>
          </p:cNvPr>
          <p:cNvSpPr/>
          <p:nvPr>
            <p:custDataLst>
              <p:tags r:id="rId11"/>
            </p:custDataLst>
          </p:nvPr>
        </p:nvSpPr>
        <p:spPr>
          <a:xfrm>
            <a:off x="6172200" y="621506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1" name="文本框 20">
            <a:extLst>
              <a:ext uri="{FF2B5EF4-FFF2-40B4-BE49-F238E27FC236}">
                <a16:creationId xmlns:a16="http://schemas.microsoft.com/office/drawing/2014/main" id="{90F50E44-FC4C-4082-A5BE-1DDB87286DC9}"/>
              </a:ext>
            </a:extLst>
          </p:cNvPr>
          <p:cNvSpPr txBox="1"/>
          <p:nvPr>
            <p:custDataLst>
              <p:tags r:id="rId12"/>
            </p:custDataLst>
          </p:nvPr>
        </p:nvSpPr>
        <p:spPr>
          <a:xfrm>
            <a:off x="1828800" y="4563689"/>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会话层</a:t>
            </a:r>
          </a:p>
        </p:txBody>
      </p:sp>
      <p:sp>
        <p:nvSpPr>
          <p:cNvPr id="22" name="椭圆 21">
            <a:extLst>
              <a:ext uri="{FF2B5EF4-FFF2-40B4-BE49-F238E27FC236}">
                <a16:creationId xmlns:a16="http://schemas.microsoft.com/office/drawing/2014/main" id="{F476A8A7-FF9C-4666-89CA-7A77BEB56E33}"/>
              </a:ext>
            </a:extLst>
          </p:cNvPr>
          <p:cNvSpPr>
            <a:spLocks noChangeAspect="1"/>
          </p:cNvSpPr>
          <p:nvPr>
            <p:custDataLst>
              <p:tags r:id="rId13"/>
            </p:custDataLst>
          </p:nvPr>
        </p:nvSpPr>
        <p:spPr>
          <a:xfrm>
            <a:off x="1114425" y="462798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3" name="文本框 22">
            <a:extLst>
              <a:ext uri="{FF2B5EF4-FFF2-40B4-BE49-F238E27FC236}">
                <a16:creationId xmlns:a16="http://schemas.microsoft.com/office/drawing/2014/main" id="{F9466A9B-556B-44CF-B2D9-5CC2683CC0BA}"/>
              </a:ext>
            </a:extLst>
          </p:cNvPr>
          <p:cNvSpPr txBox="1"/>
          <p:nvPr>
            <p:custDataLst>
              <p:tags r:id="rId14"/>
            </p:custDataLst>
          </p:nvPr>
        </p:nvSpPr>
        <p:spPr>
          <a:xfrm>
            <a:off x="1828800" y="5181877"/>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表示层</a:t>
            </a:r>
          </a:p>
        </p:txBody>
      </p:sp>
      <p:sp>
        <p:nvSpPr>
          <p:cNvPr id="24" name="椭圆 23">
            <a:extLst>
              <a:ext uri="{FF2B5EF4-FFF2-40B4-BE49-F238E27FC236}">
                <a16:creationId xmlns:a16="http://schemas.microsoft.com/office/drawing/2014/main" id="{CE56ABD1-1E1B-4293-BA67-84C15C306D48}"/>
              </a:ext>
            </a:extLst>
          </p:cNvPr>
          <p:cNvSpPr>
            <a:spLocks noChangeAspect="1"/>
          </p:cNvSpPr>
          <p:nvPr>
            <p:custDataLst>
              <p:tags r:id="rId15"/>
            </p:custDataLst>
          </p:nvPr>
        </p:nvSpPr>
        <p:spPr>
          <a:xfrm>
            <a:off x="1114425" y="525686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F</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5" name="文本框 24">
            <a:extLst>
              <a:ext uri="{FF2B5EF4-FFF2-40B4-BE49-F238E27FC236}">
                <a16:creationId xmlns:a16="http://schemas.microsoft.com/office/drawing/2014/main" id="{B1C50BE0-5786-4710-9FC8-5D8D53AD28F4}"/>
              </a:ext>
            </a:extLst>
          </p:cNvPr>
          <p:cNvSpPr txBox="1"/>
          <p:nvPr>
            <p:custDataLst>
              <p:tags r:id="rId16"/>
            </p:custDataLst>
          </p:nvPr>
        </p:nvSpPr>
        <p:spPr>
          <a:xfrm>
            <a:off x="1828800" y="5725206"/>
            <a:ext cx="6400800" cy="642938"/>
          </a:xfrm>
          <a:prstGeom prst="rect">
            <a:avLst/>
          </a:prstGeom>
          <a:noFill/>
        </p:spPr>
        <p:txBody>
          <a:bodyPr vert="horz" rtlCol="0" anchor="ctr" anchorCtr="0">
            <a:noAutofit/>
          </a:bodyPr>
          <a:lstStyle/>
          <a:p>
            <a:pPr>
              <a:lnSpc>
                <a:spcPct val="150000"/>
              </a:lnSpc>
            </a:pP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应用层</a:t>
            </a:r>
          </a:p>
        </p:txBody>
      </p:sp>
      <p:sp>
        <p:nvSpPr>
          <p:cNvPr id="26" name="椭圆 25">
            <a:extLst>
              <a:ext uri="{FF2B5EF4-FFF2-40B4-BE49-F238E27FC236}">
                <a16:creationId xmlns:a16="http://schemas.microsoft.com/office/drawing/2014/main" id="{61570150-B595-4FB0-83E7-EC876688BC0D}"/>
              </a:ext>
            </a:extLst>
          </p:cNvPr>
          <p:cNvSpPr>
            <a:spLocks noChangeAspect="1"/>
          </p:cNvSpPr>
          <p:nvPr>
            <p:custDataLst>
              <p:tags r:id="rId17"/>
            </p:custDataLst>
          </p:nvPr>
        </p:nvSpPr>
        <p:spPr>
          <a:xfrm>
            <a:off x="1114425" y="587827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G</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9" name="组合 18">
            <a:extLst>
              <a:ext uri="{FF2B5EF4-FFF2-40B4-BE49-F238E27FC236}">
                <a16:creationId xmlns:a16="http://schemas.microsoft.com/office/drawing/2014/main" id="{0A23E281-EFAF-4BBC-91A7-12E9911B382B}"/>
              </a:ext>
            </a:extLst>
          </p:cNvPr>
          <p:cNvGrpSpPr/>
          <p:nvPr>
            <p:custDataLst>
              <p:tags r:id="rId18"/>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94F64C40-2ED5-4880-BAF7-CA6A1A072AFA}"/>
                </a:ext>
              </a:extLst>
            </p:cNvPr>
            <p:cNvSpPr/>
            <p:nvPr>
              <p:custDataLst>
                <p:tags r:id="rId2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7DD5E792-A8E7-4A7F-851B-A545DAB6E00C}"/>
                </a:ext>
              </a:extLst>
            </p:cNvPr>
            <p:cNvSpPr/>
            <p:nvPr>
              <p:custDataLst>
                <p:tags r:id="rId2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6A82B6EB-AECE-4056-9DE5-EF824242F8EB}"/>
                </a:ext>
              </a:extLst>
            </p:cNvPr>
            <p:cNvSpPr txBox="1"/>
            <p:nvPr>
              <p:custDataLst>
                <p:tags r:id="rId2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8679D76A-881B-47FD-BDEB-F1D46DC78088}"/>
                </a:ext>
              </a:extLst>
            </p:cNvPr>
            <p:cNvSpPr txBox="1"/>
            <p:nvPr>
              <p:custDataLst>
                <p:tags r:id="rId2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866281FB-B9B5-49DD-B88D-720EC8729EEB}"/>
              </a:ext>
            </a:extLst>
          </p:cNvPr>
          <p:cNvPicPr>
            <a:picLocks/>
          </p:cNvPicPr>
          <p:nvPr>
            <p:custDataLst>
              <p:tags r:id="rId19"/>
            </p:custDataLst>
          </p:nvPr>
        </p:nvPicPr>
        <p:blipFill>
          <a:blip r:embed="rId2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19169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01DDE0A-243D-4A50-9040-29921D52BB20}"/>
              </a:ext>
            </a:extLst>
          </p:cNvPr>
          <p:cNvSpPr>
            <a:spLocks noGrp="1"/>
          </p:cNvSpPr>
          <p:nvPr>
            <p:ph type="sldNum" sz="quarter" idx="12"/>
          </p:nvPr>
        </p:nvSpPr>
        <p:spPr/>
        <p:txBody>
          <a:bodyPr/>
          <a:lstStyle/>
          <a:p>
            <a:fld id="{E663D701-F6D3-45BB-89CD-EE32AA93FC3C}" type="slidenum">
              <a:rPr lang="zh-CN" altLang="en-US" smtClean="0"/>
              <a:t>19</a:t>
            </a:fld>
            <a:endParaRPr lang="zh-CN" altLang="en-US"/>
          </a:p>
        </p:txBody>
      </p:sp>
      <p:sp>
        <p:nvSpPr>
          <p:cNvPr id="6" name="文本框 5">
            <a:extLst>
              <a:ext uri="{FF2B5EF4-FFF2-40B4-BE49-F238E27FC236}">
                <a16:creationId xmlns:a16="http://schemas.microsoft.com/office/drawing/2014/main" id="{9E258D5F-AEF5-49DF-8219-60CA8523080B}"/>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OSI</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七层模型中有差错控制的是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a:t>
            </a:r>
          </a:p>
        </p:txBody>
      </p:sp>
      <p:sp>
        <p:nvSpPr>
          <p:cNvPr id="7" name="文本框 6">
            <a:extLst>
              <a:ext uri="{FF2B5EF4-FFF2-40B4-BE49-F238E27FC236}">
                <a16:creationId xmlns:a16="http://schemas.microsoft.com/office/drawing/2014/main" id="{52748C5A-AB71-4E5A-8E15-9BBDA56CA7D1}"/>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物理层</a:t>
            </a:r>
          </a:p>
        </p:txBody>
      </p:sp>
      <p:sp>
        <p:nvSpPr>
          <p:cNvPr id="8" name="文本框 7">
            <a:extLst>
              <a:ext uri="{FF2B5EF4-FFF2-40B4-BE49-F238E27FC236}">
                <a16:creationId xmlns:a16="http://schemas.microsoft.com/office/drawing/2014/main" id="{77ABAC15-E300-43D2-8CF4-3759338E831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数据链路层</a:t>
            </a:r>
          </a:p>
        </p:txBody>
      </p:sp>
      <p:sp>
        <p:nvSpPr>
          <p:cNvPr id="9" name="文本框 8">
            <a:extLst>
              <a:ext uri="{FF2B5EF4-FFF2-40B4-BE49-F238E27FC236}">
                <a16:creationId xmlns:a16="http://schemas.microsoft.com/office/drawing/2014/main" id="{7DAFD574-0891-4AAC-BE23-574DA251AEEF}"/>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传输层</a:t>
            </a:r>
          </a:p>
        </p:txBody>
      </p:sp>
      <p:sp>
        <p:nvSpPr>
          <p:cNvPr id="10" name="文本框 9">
            <a:extLst>
              <a:ext uri="{FF2B5EF4-FFF2-40B4-BE49-F238E27FC236}">
                <a16:creationId xmlns:a16="http://schemas.microsoft.com/office/drawing/2014/main" id="{9627E689-D124-4DD3-A2EB-ED294C69EDC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应用层</a:t>
            </a:r>
          </a:p>
        </p:txBody>
      </p:sp>
      <p:sp>
        <p:nvSpPr>
          <p:cNvPr id="11" name="矩形 10">
            <a:extLst>
              <a:ext uri="{FF2B5EF4-FFF2-40B4-BE49-F238E27FC236}">
                <a16:creationId xmlns:a16="http://schemas.microsoft.com/office/drawing/2014/main" id="{A9734405-906B-4236-AEA2-D79BF1BF015F}"/>
              </a:ext>
            </a:extLst>
          </p:cNvPr>
          <p:cNvSpPr>
            <a:spLocks noChangeAspect="1"/>
          </p:cNvSpPr>
          <p:nvPr>
            <p:custDataLst>
              <p:tags r:id="rId7"/>
            </p:custDataLst>
          </p:nvPr>
        </p:nvSpPr>
        <p:spPr>
          <a:xfrm>
            <a:off x="11144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A249EF29-535B-441B-95D2-735AB8942104}"/>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CCA26C08-9C39-4F85-8C9A-DCDF13B94458}"/>
              </a:ext>
            </a:extLst>
          </p:cNvPr>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282C1A5B-7501-4C3D-861A-A4DD30C77C64}"/>
              </a:ext>
            </a:extLst>
          </p:cNvPr>
          <p:cNvSpPr>
            <a:spLocks noChangeAspect="1"/>
          </p:cNvSpPr>
          <p:nvPr>
            <p:custDataLst>
              <p:tags r:id="rId10"/>
            </p:custDataLst>
          </p:nvPr>
        </p:nvSpPr>
        <p:spPr>
          <a:xfrm>
            <a:off x="11144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87AFFB95-3445-4740-B4DE-3CFE8AA7234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70F1E521-9C42-4444-9A63-F9880B2B1675}"/>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65D56E37-1C14-4CC6-86B6-8AB5BDA40AB7}"/>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0AB05D69-880A-4BBC-9AB5-AC81EC2C00B4}"/>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C66E8D52-3BC2-4D21-A6D9-BB310ED0427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a:extLst>
                <a:ext uri="{FF2B5EF4-FFF2-40B4-BE49-F238E27FC236}">
                  <a16:creationId xmlns:a16="http://schemas.microsoft.com/office/drawing/2014/main" id="{CC6A8792-6935-4F99-B636-732FF7DE37F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64B97537-CE99-468C-96C9-FA5CF0CBE46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54205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369ADA9-B32D-4238-9DFD-B2219C4B3E98}"/>
              </a:ext>
            </a:extLst>
          </p:cNvPr>
          <p:cNvSpPr>
            <a:spLocks noGrp="1"/>
          </p:cNvSpPr>
          <p:nvPr>
            <p:ph type="sldNum" sz="quarter" idx="12"/>
          </p:nvPr>
        </p:nvSpPr>
        <p:spPr/>
        <p:txBody>
          <a:bodyPr/>
          <a:lstStyle/>
          <a:p>
            <a:fld id="{E663D701-F6D3-45BB-89CD-EE32AA93FC3C}" type="slidenum">
              <a:rPr lang="zh-CN" altLang="en-US" smtClean="0"/>
              <a:t>20</a:t>
            </a:fld>
            <a:endParaRPr lang="zh-CN" altLang="en-US"/>
          </a:p>
        </p:txBody>
      </p:sp>
      <p:sp>
        <p:nvSpPr>
          <p:cNvPr id="5" name="文本框 4">
            <a:extLst>
              <a:ext uri="{FF2B5EF4-FFF2-40B4-BE49-F238E27FC236}">
                <a16:creationId xmlns:a16="http://schemas.microsoft.com/office/drawing/2014/main" id="{9F41C206-5119-432F-B697-14AD1F7602BD}"/>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TCP/IP</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协议将</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OSI</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模型修改为</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a:t>
            </a:r>
          </a:p>
        </p:txBody>
      </p:sp>
      <p:sp>
        <p:nvSpPr>
          <p:cNvPr id="6" name="文本框 5">
            <a:extLst>
              <a:ext uri="{FF2B5EF4-FFF2-40B4-BE49-F238E27FC236}">
                <a16:creationId xmlns:a16="http://schemas.microsoft.com/office/drawing/2014/main" id="{CE7A44C4-9185-4AE7-8B5E-B45753BD354A}"/>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4</a:t>
            </a:r>
            <a:endPar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endParaRPr>
          </a:p>
        </p:txBody>
      </p:sp>
      <p:sp>
        <p:nvSpPr>
          <p:cNvPr id="7" name="文本框 6">
            <a:extLst>
              <a:ext uri="{FF2B5EF4-FFF2-40B4-BE49-F238E27FC236}">
                <a16:creationId xmlns:a16="http://schemas.microsoft.com/office/drawing/2014/main" id="{6EC9C1A4-4367-4698-A265-80707F17EA7B}"/>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5</a:t>
            </a:r>
            <a:endPar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endParaRPr>
          </a:p>
        </p:txBody>
      </p:sp>
      <p:sp>
        <p:nvSpPr>
          <p:cNvPr id="8" name="文本框 7">
            <a:extLst>
              <a:ext uri="{FF2B5EF4-FFF2-40B4-BE49-F238E27FC236}">
                <a16:creationId xmlns:a16="http://schemas.microsoft.com/office/drawing/2014/main" id="{D57942AF-455D-4024-BDF0-F71000A5E40E}"/>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6</a:t>
            </a:r>
            <a:endPar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endParaRPr>
          </a:p>
        </p:txBody>
      </p:sp>
      <p:sp>
        <p:nvSpPr>
          <p:cNvPr id="9" name="文本框 8">
            <a:extLst>
              <a:ext uri="{FF2B5EF4-FFF2-40B4-BE49-F238E27FC236}">
                <a16:creationId xmlns:a16="http://schemas.microsoft.com/office/drawing/2014/main" id="{C1D180AA-8724-41D9-822D-3B1DE849DAB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7</a:t>
            </a:r>
            <a:endPar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endParaRPr>
          </a:p>
        </p:txBody>
      </p:sp>
      <p:sp>
        <p:nvSpPr>
          <p:cNvPr id="10" name="椭圆 9">
            <a:extLst>
              <a:ext uri="{FF2B5EF4-FFF2-40B4-BE49-F238E27FC236}">
                <a16:creationId xmlns:a16="http://schemas.microsoft.com/office/drawing/2014/main" id="{D116B4FF-0BA5-4116-A5A6-EC023AC6B5DB}"/>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250DE3E5-10FC-45AE-9B1F-F16362A4D84D}"/>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0FDE097C-EC07-4860-BAC0-79544AA60A2A}"/>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8389A2D5-F6E8-4CCC-ACD4-3D888E9A746C}"/>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E9512D9F-17F7-4908-BF76-1EB3B2BB8E3C}"/>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86F87B94-6578-42DF-9FC1-2AA6EA3B30E6}"/>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A93EA254-024B-47EF-B6B6-E8E63116EBB8}"/>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17C18FB9-C1FD-4649-96A6-AB1A2FDC6C5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25692DC1-D924-4821-9141-B26D9C8FA38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27054E2B-B17E-4E26-81E4-343F74BE0DC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7249368C-2E60-4D61-90FC-6D534B0C86E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181203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3A7CEFA-79B5-44B0-8653-36AFC40FF8A6}"/>
              </a:ext>
            </a:extLst>
          </p:cNvPr>
          <p:cNvSpPr>
            <a:spLocks noGrp="1"/>
          </p:cNvSpPr>
          <p:nvPr>
            <p:ph type="sldNum" sz="quarter" idx="12"/>
          </p:nvPr>
        </p:nvSpPr>
        <p:spPr/>
        <p:txBody>
          <a:bodyPr/>
          <a:lstStyle/>
          <a:p>
            <a:fld id="{E663D701-F6D3-45BB-89CD-EE32AA93FC3C}" type="slidenum">
              <a:rPr lang="zh-CN" altLang="en-US" smtClean="0"/>
              <a:t>21</a:t>
            </a:fld>
            <a:endParaRPr lang="zh-CN" altLang="en-US"/>
          </a:p>
        </p:txBody>
      </p:sp>
      <p:sp>
        <p:nvSpPr>
          <p:cNvPr id="5" name="文本框 4">
            <a:extLst>
              <a:ext uri="{FF2B5EF4-FFF2-40B4-BE49-F238E27FC236}">
                <a16:creationId xmlns:a16="http://schemas.microsoft.com/office/drawing/2014/main" id="{F55B43AA-CF50-4050-AF93-4B3720F8B2F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“所有的网络节点设备都具备七层的完整功能”这句话是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p>
        </p:txBody>
      </p:sp>
      <p:sp>
        <p:nvSpPr>
          <p:cNvPr id="6" name="文本框 5">
            <a:extLst>
              <a:ext uri="{FF2B5EF4-FFF2-40B4-BE49-F238E27FC236}">
                <a16:creationId xmlns:a16="http://schemas.microsoft.com/office/drawing/2014/main" id="{EC882278-3737-4275-A94E-8860FF18ECB3}"/>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正确</a:t>
            </a:r>
          </a:p>
        </p:txBody>
      </p:sp>
      <p:sp>
        <p:nvSpPr>
          <p:cNvPr id="7" name="文本框 6">
            <a:extLst>
              <a:ext uri="{FF2B5EF4-FFF2-40B4-BE49-F238E27FC236}">
                <a16:creationId xmlns:a16="http://schemas.microsoft.com/office/drawing/2014/main" id="{CCB74D4D-D927-4584-895F-41D0CC3679B9}"/>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错误</a:t>
            </a:r>
          </a:p>
        </p:txBody>
      </p:sp>
      <p:sp>
        <p:nvSpPr>
          <p:cNvPr id="10" name="椭圆 9">
            <a:extLst>
              <a:ext uri="{FF2B5EF4-FFF2-40B4-BE49-F238E27FC236}">
                <a16:creationId xmlns:a16="http://schemas.microsoft.com/office/drawing/2014/main" id="{B3E4BF64-5D08-4161-AB92-BFD25D703628}"/>
              </a:ext>
            </a:extLst>
          </p:cNvPr>
          <p:cNvSpPr>
            <a:spLocks noChangeAspect="1"/>
          </p:cNvSpPr>
          <p:nvPr>
            <p:custDataLst>
              <p:tags r:id="rId5"/>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9534466-BFCE-44C2-B132-25047632E0A7}"/>
              </a:ext>
            </a:extLst>
          </p:cNvPr>
          <p:cNvSpPr>
            <a:spLocks noChangeAspect="1"/>
          </p:cNvSpPr>
          <p:nvPr>
            <p:custDataLst>
              <p:tags r:id="rId6"/>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8F39D72A-0C7D-4334-8E18-1752BF3CF67C}"/>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6CD0F57D-E15D-4820-9BCC-224E1C24D1D6}"/>
              </a:ext>
            </a:extLst>
          </p:cNvPr>
          <p:cNvGrpSpPr/>
          <p:nvPr>
            <p:custDataLst>
              <p:tags r:id="rId8"/>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0D0A85CA-1E52-445F-82B0-869785012845}"/>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729CAFB2-0032-41E6-90A4-E7137704CE83}"/>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042140FD-D5A4-4520-BB3A-69AFE72C581B}"/>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0EC99E30-6395-4F0E-A135-E6612FADE7F1}"/>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18B3ABA6-C63E-4F0A-ACC4-50EFC2067060}"/>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572294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78"/>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38728</TotalTime>
  <Words>3575</Words>
  <Application>Microsoft Office PowerPoint</Application>
  <PresentationFormat>全屏显示(4:3)</PresentationFormat>
  <Paragraphs>455</Paragraphs>
  <Slides>21</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等线</vt:lpstr>
      <vt:lpstr>华文中宋</vt:lpstr>
      <vt:lpstr>Microsoft Yahei</vt:lpstr>
      <vt:lpstr>Microsoft Yahei</vt:lpstr>
      <vt:lpstr>Arial</vt:lpstr>
      <vt:lpstr>Gill Sans MT</vt:lpstr>
      <vt:lpstr>Times New Roman</vt:lpstr>
      <vt:lpstr>Office 主题​​</vt:lpstr>
      <vt:lpstr>第2章 传感器网络的 协议架构及关键技术</vt:lpstr>
      <vt:lpstr>第2章 传感器网络的 协议架构及关键技术</vt:lpstr>
      <vt:lpstr>2.1 OSI七层模型介绍</vt:lpstr>
      <vt:lpstr>2.1 OSI七层模型介绍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JunchaoMa</cp:lastModifiedBy>
  <cp:revision>1622</cp:revision>
  <cp:lastPrinted>2023-04-24T23:34:43Z</cp:lastPrinted>
  <dcterms:created xsi:type="dcterms:W3CDTF">2022-06-15T01:28:12Z</dcterms:created>
  <dcterms:modified xsi:type="dcterms:W3CDTF">2025-03-28T14:47:22Z</dcterms:modified>
</cp:coreProperties>
</file>