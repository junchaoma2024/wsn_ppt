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3"/>
  </p:notesMasterIdLst>
  <p:sldIdLst>
    <p:sldId id="612" r:id="rId3"/>
    <p:sldId id="321" r:id="rId4"/>
    <p:sldId id="284" r:id="rId5"/>
    <p:sldId id="287" r:id="rId6"/>
    <p:sldId id="288" r:id="rId7"/>
    <p:sldId id="322" r:id="rId8"/>
    <p:sldId id="501" r:id="rId9"/>
    <p:sldId id="323" r:id="rId10"/>
    <p:sldId id="324" r:id="rId11"/>
    <p:sldId id="325" r:id="rId12"/>
    <p:sldId id="502" r:id="rId13"/>
    <p:sldId id="326" r:id="rId14"/>
    <p:sldId id="341" r:id="rId15"/>
    <p:sldId id="503" r:id="rId16"/>
    <p:sldId id="343" r:id="rId17"/>
    <p:sldId id="504" r:id="rId18"/>
    <p:sldId id="505" r:id="rId19"/>
    <p:sldId id="506" r:id="rId20"/>
    <p:sldId id="507" r:id="rId21"/>
    <p:sldId id="331" r:id="rId22"/>
    <p:sldId id="332" r:id="rId23"/>
    <p:sldId id="333" r:id="rId24"/>
    <p:sldId id="334" r:id="rId25"/>
    <p:sldId id="335" r:id="rId26"/>
    <p:sldId id="336" r:id="rId27"/>
    <p:sldId id="337" r:id="rId28"/>
    <p:sldId id="338" r:id="rId29"/>
    <p:sldId id="344" r:id="rId30"/>
    <p:sldId id="345" r:id="rId31"/>
    <p:sldId id="366" r:id="rId32"/>
    <p:sldId id="347" r:id="rId33"/>
    <p:sldId id="367" r:id="rId34"/>
    <p:sldId id="349" r:id="rId35"/>
    <p:sldId id="368" r:id="rId36"/>
    <p:sldId id="390" r:id="rId37"/>
    <p:sldId id="391" r:id="rId38"/>
    <p:sldId id="392" r:id="rId39"/>
    <p:sldId id="393" r:id="rId40"/>
    <p:sldId id="394" r:id="rId41"/>
    <p:sldId id="395"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26" r:id="rId59"/>
    <p:sldId id="428" r:id="rId60"/>
    <p:sldId id="429" r:id="rId61"/>
    <p:sldId id="430" r:id="rId62"/>
    <p:sldId id="431" r:id="rId63"/>
    <p:sldId id="432" r:id="rId64"/>
    <p:sldId id="433" r:id="rId65"/>
    <p:sldId id="434" r:id="rId66"/>
    <p:sldId id="435" r:id="rId67"/>
    <p:sldId id="436" r:id="rId68"/>
    <p:sldId id="437" r:id="rId69"/>
    <p:sldId id="438" r:id="rId70"/>
    <p:sldId id="439" r:id="rId71"/>
    <p:sldId id="440" r:id="rId72"/>
    <p:sldId id="441" r:id="rId73"/>
    <p:sldId id="442" r:id="rId74"/>
    <p:sldId id="443" r:id="rId75"/>
    <p:sldId id="444" r:id="rId76"/>
    <p:sldId id="445" r:id="rId77"/>
    <p:sldId id="446" r:id="rId78"/>
    <p:sldId id="447" r:id="rId79"/>
    <p:sldId id="448" r:id="rId80"/>
    <p:sldId id="449" r:id="rId81"/>
    <p:sldId id="450" r:id="rId82"/>
    <p:sldId id="451" r:id="rId83"/>
    <p:sldId id="452" r:id="rId84"/>
    <p:sldId id="453" r:id="rId85"/>
    <p:sldId id="454" r:id="rId86"/>
    <p:sldId id="455" r:id="rId87"/>
    <p:sldId id="456" r:id="rId88"/>
    <p:sldId id="457" r:id="rId89"/>
    <p:sldId id="458" r:id="rId90"/>
    <p:sldId id="459" r:id="rId91"/>
    <p:sldId id="460" r:id="rId92"/>
    <p:sldId id="461" r:id="rId93"/>
    <p:sldId id="476" r:id="rId94"/>
    <p:sldId id="477" r:id="rId95"/>
    <p:sldId id="463" r:id="rId96"/>
    <p:sldId id="464" r:id="rId97"/>
    <p:sldId id="465" r:id="rId98"/>
    <p:sldId id="466" r:id="rId99"/>
    <p:sldId id="467" r:id="rId100"/>
    <p:sldId id="468" r:id="rId101"/>
    <p:sldId id="469" r:id="rId102"/>
    <p:sldId id="470" r:id="rId103"/>
    <p:sldId id="471" r:id="rId104"/>
    <p:sldId id="508" r:id="rId105"/>
    <p:sldId id="472" r:id="rId106"/>
    <p:sldId id="473" r:id="rId107"/>
    <p:sldId id="474" r:id="rId108"/>
    <p:sldId id="475" r:id="rId109"/>
    <p:sldId id="478" r:id="rId110"/>
    <p:sldId id="295" r:id="rId111"/>
    <p:sldId id="479" r:id="rId112"/>
    <p:sldId id="480" r:id="rId114"/>
    <p:sldId id="481" r:id="rId115"/>
    <p:sldId id="482" r:id="rId116"/>
    <p:sldId id="483" r:id="rId117"/>
    <p:sldId id="484" r:id="rId118"/>
    <p:sldId id="485" r:id="rId119"/>
    <p:sldId id="320" r:id="rId120"/>
  </p:sldIdLst>
  <p:sldSz cx="12192000" cy="6858000"/>
  <p:notesSz cx="6858000" cy="9144000"/>
  <p:custDataLst>
    <p:tags r:id="rId1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563C1"/>
    <a:srgbClr val="B3B3B3"/>
    <a:srgbClr val="316AAB"/>
    <a:srgbClr val="F2F2F2"/>
    <a:srgbClr val="E6E6E6"/>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18" autoAdjust="0"/>
    <p:restoredTop sz="93814" autoAdjust="0"/>
  </p:normalViewPr>
  <p:slideViewPr>
    <p:cSldViewPr snapToGrid="0">
      <p:cViewPr varScale="1">
        <p:scale>
          <a:sx n="107" d="100"/>
          <a:sy n="107" d="100"/>
        </p:scale>
        <p:origin x="3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5" Type="http://schemas.openxmlformats.org/officeDocument/2006/relationships/tags" Target="tags/tag9.xml"/><Relationship Id="rId124" Type="http://schemas.openxmlformats.org/officeDocument/2006/relationships/commentAuthors" Target="commentAuthors.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notesMaster" Target="notesMasters/notesMaster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33.emf"/><Relationship Id="rId3" Type="http://schemas.openxmlformats.org/officeDocument/2006/relationships/image" Target="../media/image32.emf"/><Relationship Id="rId2" Type="http://schemas.openxmlformats.org/officeDocument/2006/relationships/image" Target="../media/image31.wmf"/><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37.e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e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51.wmf"/><Relationship Id="rId8" Type="http://schemas.openxmlformats.org/officeDocument/2006/relationships/image" Target="../media/image50.wmf"/><Relationship Id="rId7" Type="http://schemas.openxmlformats.org/officeDocument/2006/relationships/image" Target="../media/image49.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2" Type="http://schemas.openxmlformats.org/officeDocument/2006/relationships/image" Target="../media/image54.wmf"/><Relationship Id="rId11" Type="http://schemas.openxmlformats.org/officeDocument/2006/relationships/image" Target="../media/image53.wmf"/><Relationship Id="rId10" Type="http://schemas.openxmlformats.org/officeDocument/2006/relationships/image" Target="../media/image52.wmf"/><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e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79.wmf"/><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1.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6.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9.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755B6-0C3E-4F0C-BF6C-16E867B5A9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2432D-7D6E-451E-9D5A-7906F4008F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汉仪中宋简" panose="02010600000101010101" charset="-122"/>
                <a:ea typeface="汉仪中宋简" panose="02010600000101010101"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7" name="弧形 6"/>
          <p:cNvSpPr/>
          <p:nvPr userDrawn="1"/>
        </p:nvSpPr>
        <p:spPr>
          <a:xfrm>
            <a:off x="-342900" y="4635500"/>
            <a:ext cx="12534900" cy="4762500"/>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556000" y="4279900"/>
            <a:ext cx="6261100" cy="5118100"/>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723900" y="4457700"/>
            <a:ext cx="7645400" cy="5118100"/>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609600" y="4279900"/>
            <a:ext cx="7950200" cy="5118100"/>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rot="20669223">
            <a:off x="4802771" y="4781083"/>
            <a:ext cx="7645400" cy="4627022"/>
          </a:xfrm>
          <a:prstGeom prst="arc">
            <a:avLst>
              <a:gd name="adj1" fmla="val 11936525"/>
              <a:gd name="adj2" fmla="val 21351808"/>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a:off x="2863850" y="4781083"/>
            <a:ext cx="7645400" cy="4627022"/>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1530350" y="5003800"/>
            <a:ext cx="7645400" cy="4394200"/>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a:off x="2329369" y="5435600"/>
            <a:ext cx="4357181" cy="4224048"/>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userDrawn="1"/>
        </p:nvSpPr>
        <p:spPr>
          <a:xfrm rot="814006">
            <a:off x="-400500" y="4962915"/>
            <a:ext cx="5030602" cy="4224048"/>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 name="直接连接符 15"/>
          <p:cNvCxnSpPr/>
          <p:nvPr userDrawn="1"/>
        </p:nvCxnSpPr>
        <p:spPr>
          <a:xfrm>
            <a:off x="1162050" y="5003800"/>
            <a:ext cx="857250" cy="1854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181100" y="5003800"/>
            <a:ext cx="2952750" cy="1397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299531" y="5003800"/>
            <a:ext cx="5290304" cy="1473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5603882" y="5010755"/>
            <a:ext cx="2009768" cy="139004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V="1">
            <a:off x="2600709" y="4524678"/>
            <a:ext cx="3909876" cy="195232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flipH="1">
            <a:off x="4107972" y="4493233"/>
            <a:ext cx="1074026" cy="19456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7444474" y="4577081"/>
            <a:ext cx="2060574" cy="196689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7961228" y="5200650"/>
            <a:ext cx="160047" cy="12001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341109" y="5435600"/>
            <a:ext cx="253476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同心圆 31"/>
          <p:cNvSpPr/>
          <p:nvPr userDrawn="1"/>
        </p:nvSpPr>
        <p:spPr>
          <a:xfrm>
            <a:off x="10472156" y="5328228"/>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同心圆 32"/>
          <p:cNvSpPr/>
          <p:nvPr userDrawn="1"/>
        </p:nvSpPr>
        <p:spPr>
          <a:xfrm>
            <a:off x="1074231" y="48450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userDrawn="1"/>
        </p:nvSpPr>
        <p:spPr>
          <a:xfrm>
            <a:off x="3551852" y="60769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同心圆 38"/>
          <p:cNvSpPr/>
          <p:nvPr userDrawn="1"/>
        </p:nvSpPr>
        <p:spPr>
          <a:xfrm>
            <a:off x="9427767" y="6494285"/>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椭圆 39"/>
          <p:cNvSpPr/>
          <p:nvPr userDrawn="1"/>
        </p:nvSpPr>
        <p:spPr>
          <a:xfrm>
            <a:off x="11301745" y="678685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a:off x="4015364" y="6306255"/>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a:off x="4536712" y="529806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a:off x="4987961" y="4474082"/>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a:off x="7311685" y="4457700"/>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a:off x="6396327" y="441007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a:off x="3085919" y="4381601"/>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a:off x="3315074" y="526209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a:off x="3813606" y="562987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a:off x="7977379" y="558976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a:off x="8437465" y="464920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a:off x="6327587" y="547747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a:off x="6347789" y="6527596"/>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a:off x="5419168" y="6226223"/>
            <a:ext cx="168832" cy="16006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159550" y="5854699"/>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userDrawn="1"/>
        </p:nvSpPr>
        <p:spPr>
          <a:xfrm>
            <a:off x="217198" y="6405724"/>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userDrawn="1"/>
        </p:nvSpPr>
        <p:spPr>
          <a:xfrm>
            <a:off x="4575037" y="463292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userDrawn="1"/>
        </p:nvSpPr>
        <p:spPr>
          <a:xfrm>
            <a:off x="10274506" y="633618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a:off x="10816535" y="5338590"/>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userDrawn="1"/>
        </p:nvSpPr>
        <p:spPr>
          <a:xfrm>
            <a:off x="9925121" y="459352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同心圆 63"/>
          <p:cNvSpPr/>
          <p:nvPr userDrawn="1"/>
        </p:nvSpPr>
        <p:spPr>
          <a:xfrm>
            <a:off x="11276519" y="4926907"/>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同心圆 66"/>
          <p:cNvSpPr/>
          <p:nvPr userDrawn="1"/>
        </p:nvSpPr>
        <p:spPr>
          <a:xfrm>
            <a:off x="7910497" y="6361402"/>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椭圆 67"/>
          <p:cNvSpPr/>
          <p:nvPr userDrawn="1"/>
        </p:nvSpPr>
        <p:spPr>
          <a:xfrm>
            <a:off x="602169" y="6228939"/>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a:off x="1704597" y="6283732"/>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a:stCxn id="32" idx="5"/>
          </p:cNvCxnSpPr>
          <p:nvPr userDrawn="1"/>
        </p:nvCxnSpPr>
        <p:spPr>
          <a:xfrm>
            <a:off x="10664742" y="5524101"/>
            <a:ext cx="705788" cy="13338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椭圆 71"/>
          <p:cNvSpPr/>
          <p:nvPr userDrawn="1"/>
        </p:nvSpPr>
        <p:spPr>
          <a:xfrm>
            <a:off x="8434046" y="6735585"/>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a:off x="4978649" y="6690468"/>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a:off x="2845352" y="6703346"/>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a:off x="11025222" y="61874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a:off x="7905379" y="44751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userDrawn="1"/>
        </p:nvSpPr>
        <p:spPr>
          <a:xfrm>
            <a:off x="9484750" y="503703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userDrawn="1"/>
        </p:nvSpPr>
        <p:spPr>
          <a:xfrm>
            <a:off x="4375615" y="503849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userDrawn="1"/>
        </p:nvSpPr>
        <p:spPr>
          <a:xfrm>
            <a:off x="2563250" y="564129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userDrawn="1"/>
        </p:nvSpPr>
        <p:spPr>
          <a:xfrm>
            <a:off x="5702540" y="43578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userDrawn="1"/>
        </p:nvSpPr>
        <p:spPr>
          <a:xfrm>
            <a:off x="5872891" y="58948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a:off x="397635" y="5390515"/>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a:off x="9776753" y="6809767"/>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a:off x="1909653" y="457708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userDrawn="1"/>
        </p:nvSpPr>
        <p:spPr>
          <a:xfrm>
            <a:off x="4631427" y="4256446"/>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弧形 90"/>
          <p:cNvSpPr/>
          <p:nvPr userDrawn="1"/>
        </p:nvSpPr>
        <p:spPr>
          <a:xfrm>
            <a:off x="1181100" y="5057065"/>
            <a:ext cx="9694773" cy="4762500"/>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同心圆 33"/>
          <p:cNvSpPr/>
          <p:nvPr userDrawn="1"/>
        </p:nvSpPr>
        <p:spPr>
          <a:xfrm>
            <a:off x="2489001" y="4914799"/>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a:off x="5380034" y="4926907"/>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a:off x="6858718" y="5086350"/>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a:off x="8152574" y="5322584"/>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椭圆 40"/>
          <p:cNvSpPr/>
          <p:nvPr userDrawn="1"/>
        </p:nvSpPr>
        <p:spPr>
          <a:xfrm>
            <a:off x="1136130" y="527979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a:off x="2490748" y="636387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a:off x="7549031" y="6329396"/>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a:off x="9207696" y="5338297"/>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同心圆 65"/>
          <p:cNvSpPr/>
          <p:nvPr userDrawn="1"/>
        </p:nvSpPr>
        <p:spPr>
          <a:xfrm>
            <a:off x="8064687" y="5027531"/>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10" name="弧形 9"/>
          <p:cNvSpPr/>
          <p:nvPr userDrawn="1"/>
        </p:nvSpPr>
        <p:spPr>
          <a:xfrm rot="10800000">
            <a:off x="5553840" y="-1648521"/>
            <a:ext cx="4248702" cy="3366642"/>
          </a:xfrm>
          <a:prstGeom prst="arc">
            <a:avLst>
              <a:gd name="adj1" fmla="val 1159520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10800000">
            <a:off x="7518757" y="-1765476"/>
            <a:ext cx="5188070" cy="3366642"/>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rot="10800000">
            <a:off x="6407028" y="-1648521"/>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userDrawn="1"/>
        </p:nvSpPr>
        <p:spPr>
          <a:xfrm rot="9869223">
            <a:off x="3768429" y="-1655168"/>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userDrawn="1"/>
        </p:nvSpPr>
        <p:spPr>
          <a:xfrm rot="10800000">
            <a:off x="5084156" y="-1655168"/>
            <a:ext cx="5188070" cy="3043615"/>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p:cNvSpPr/>
          <p:nvPr userDrawn="1"/>
        </p:nvSpPr>
        <p:spPr>
          <a:xfrm rot="10800000">
            <a:off x="5989052" y="-1648521"/>
            <a:ext cx="5188070" cy="2890467"/>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弧形 19"/>
          <p:cNvSpPr/>
          <p:nvPr userDrawn="1"/>
        </p:nvSpPr>
        <p:spPr>
          <a:xfrm rot="10800000">
            <a:off x="7678191" y="-1820631"/>
            <a:ext cx="2956727" cy="2778543"/>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userDrawn="1"/>
        </p:nvSpPr>
        <p:spPr>
          <a:xfrm rot="11614006">
            <a:off x="9073670" y="-1509703"/>
            <a:ext cx="3413702" cy="2778543"/>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 name="直接连接符 22"/>
          <p:cNvCxnSpPr/>
          <p:nvPr userDrawn="1"/>
        </p:nvCxnSpPr>
        <p:spPr>
          <a:xfrm rot="10800000">
            <a:off x="10845327" y="22269"/>
            <a:ext cx="581719" cy="121967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rot="10800000">
            <a:off x="9410420" y="323011"/>
            <a:ext cx="2003698" cy="91893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rot="10800000" flipV="1">
            <a:off x="8422408" y="272888"/>
            <a:ext cx="3589932" cy="969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rot="10800000">
            <a:off x="7049073" y="323011"/>
            <a:ext cx="1363803" cy="9143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rot="10800000" flipV="1">
            <a:off x="7797598" y="272888"/>
            <a:ext cx="2653192" cy="128422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0800000" flipH="1">
            <a:off x="8699161" y="297949"/>
            <a:ext cx="728820" cy="12798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rot="10800000">
            <a:off x="5765594" y="228830"/>
            <a:ext cx="1398279" cy="12938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a:off x="6704605" y="323011"/>
            <a:ext cx="108606" cy="7894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同心圆 34"/>
          <p:cNvSpPr/>
          <p:nvPr userDrawn="1"/>
        </p:nvSpPr>
        <p:spPr>
          <a:xfrm rot="10800000">
            <a:off x="4956218" y="877591"/>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rot="10800000">
            <a:off x="11305659" y="1187645"/>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rot="10800000">
            <a:off x="9624377" y="377312"/>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rot="10800000">
            <a:off x="5637057" y="102793"/>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椭圆 38"/>
          <p:cNvSpPr/>
          <p:nvPr userDrawn="1"/>
        </p:nvSpPr>
        <p:spPr>
          <a:xfrm rot="10800000">
            <a:off x="4435908" y="-3117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userDrawn="1"/>
        </p:nvSpPr>
        <p:spPr>
          <a:xfrm rot="10800000">
            <a:off x="9313420" y="2144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userDrawn="1"/>
        </p:nvSpPr>
        <p:spPr>
          <a:xfrm rot="10800000">
            <a:off x="8959640" y="877591"/>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rot="10800000">
            <a:off x="8653428" y="1419598"/>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rot="10800000">
            <a:off x="7076579" y="1430374"/>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rot="10800000">
            <a:off x="7697729" y="146169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rot="10800000">
            <a:off x="10011062" y="15509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rot="10800000">
            <a:off x="9855560" y="971792"/>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rot="10800000">
            <a:off x="9517262" y="72986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rot="10800000">
            <a:off x="6691780" y="756256"/>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rot="10800000">
            <a:off x="6379571" y="137494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rot="10800000">
            <a:off x="7811307" y="830117"/>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rot="10800000">
            <a:off x="7797598" y="13935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rot="10800000">
            <a:off x="8423653" y="332558"/>
            <a:ext cx="114567" cy="1052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rot="10800000">
            <a:off x="10639684" y="58198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rot="10800000">
            <a:off x="11957739" y="21952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rot="10800000">
            <a:off x="9000565" y="138565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rot="10800000">
            <a:off x="5132979" y="26526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rot="10800000">
            <a:off x="4765165" y="921476"/>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rot="10800000">
            <a:off x="5370067" y="14115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同心圆 58"/>
          <p:cNvSpPr/>
          <p:nvPr userDrawn="1"/>
        </p:nvSpPr>
        <p:spPr>
          <a:xfrm rot="10800000">
            <a:off x="4435908" y="1158008"/>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rot="10800000">
            <a:off x="6720047" y="214410"/>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userDrawn="1"/>
        </p:nvSpPr>
        <p:spPr>
          <a:xfrm rot="10800000">
            <a:off x="11685613" y="297949"/>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rot="10800000">
            <a:off x="10937520" y="261906"/>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35" idx="5"/>
          </p:cNvCxnSpPr>
          <p:nvPr userDrawn="1"/>
        </p:nvCxnSpPr>
        <p:spPr>
          <a:xfrm rot="10800000">
            <a:off x="4499702" y="22269"/>
            <a:ext cx="478939" cy="8774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userDrawn="1"/>
        </p:nvSpPr>
        <p:spPr>
          <a:xfrm rot="10800000">
            <a:off x="6314959" y="-68000"/>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userDrawn="1"/>
        </p:nvSpPr>
        <p:spPr>
          <a:xfrm rot="10800000">
            <a:off x="8659747" y="-38322"/>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userDrawn="1"/>
        </p:nvSpPr>
        <p:spPr>
          <a:xfrm rot="10800000">
            <a:off x="10107375" y="-46793"/>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userDrawn="1"/>
        </p:nvSpPr>
        <p:spPr>
          <a:xfrm rot="10800000">
            <a:off x="4685166" y="41595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userDrawn="1"/>
        </p:nvSpPr>
        <p:spPr>
          <a:xfrm rot="10800000">
            <a:off x="6802251" y="1542332"/>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rot="10800000">
            <a:off x="5730510" y="117272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userDrawn="1"/>
        </p:nvSpPr>
        <p:spPr>
          <a:xfrm rot="10800000">
            <a:off x="9197503" y="117176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userDrawn="1"/>
        </p:nvSpPr>
        <p:spPr>
          <a:xfrm rot="10800000">
            <a:off x="10427351" y="775249"/>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userDrawn="1"/>
        </p:nvSpPr>
        <p:spPr>
          <a:xfrm rot="10800000">
            <a:off x="8297069" y="1619491"/>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rot="10800000">
            <a:off x="8181471" y="60842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rot="10800000">
            <a:off x="11896909" y="94020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rot="10800000">
            <a:off x="5532361" y="6635"/>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rot="10800000">
            <a:off x="10870874" y="147527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userDrawn="1"/>
        </p:nvSpPr>
        <p:spPr>
          <a:xfrm rot="10800000">
            <a:off x="9023913" y="168618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弧形 77"/>
          <p:cNvSpPr/>
          <p:nvPr userDrawn="1"/>
        </p:nvSpPr>
        <p:spPr>
          <a:xfrm rot="10800000">
            <a:off x="4835370" y="-1925823"/>
            <a:ext cx="6578748" cy="3132732"/>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同心圆 78"/>
          <p:cNvSpPr/>
          <p:nvPr userDrawn="1"/>
        </p:nvSpPr>
        <p:spPr>
          <a:xfrm rot="10800000">
            <a:off x="10345614" y="1141765"/>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同心圆 79"/>
          <p:cNvSpPr/>
          <p:nvPr userDrawn="1"/>
        </p:nvSpPr>
        <p:spPr>
          <a:xfrm rot="10800000">
            <a:off x="8383797" y="113380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同心圆 80"/>
          <p:cNvSpPr/>
          <p:nvPr userDrawn="1"/>
        </p:nvSpPr>
        <p:spPr>
          <a:xfrm rot="10800000">
            <a:off x="7380381" y="102892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同心圆 81"/>
          <p:cNvSpPr/>
          <p:nvPr userDrawn="1"/>
        </p:nvSpPr>
        <p:spPr>
          <a:xfrm rot="10800000">
            <a:off x="6502387" y="873527"/>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3" name="椭圆 82"/>
          <p:cNvSpPr/>
          <p:nvPr userDrawn="1"/>
        </p:nvSpPr>
        <p:spPr>
          <a:xfrm rot="10800000">
            <a:off x="11267231" y="889604"/>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rot="10800000">
            <a:off x="10348004" y="1765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rot="10800000">
            <a:off x="6915519" y="19918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rot="10800000">
            <a:off x="5856902" y="921669"/>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userDrawn="1"/>
        </p:nvSpPr>
        <p:spPr>
          <a:xfrm rot="10800000">
            <a:off x="6589896" y="1075387"/>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弧形 87"/>
          <p:cNvSpPr/>
          <p:nvPr userDrawn="1"/>
        </p:nvSpPr>
        <p:spPr>
          <a:xfrm rot="10800000">
            <a:off x="3008051" y="-1685964"/>
            <a:ext cx="8506022" cy="3132732"/>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 name="弧形 88"/>
          <p:cNvSpPr/>
          <p:nvPr userDrawn="1"/>
        </p:nvSpPr>
        <p:spPr>
          <a:xfrm rot="10800000">
            <a:off x="1997806" y="-1704415"/>
            <a:ext cx="8506022" cy="3495228"/>
          </a:xfrm>
          <a:prstGeom prst="arc">
            <a:avLst>
              <a:gd name="adj1" fmla="val 11204256"/>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 name="弧形 89"/>
          <p:cNvSpPr/>
          <p:nvPr userDrawn="1"/>
        </p:nvSpPr>
        <p:spPr>
          <a:xfrm rot="9869223">
            <a:off x="453150" y="-1642239"/>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 name="弧形 90"/>
          <p:cNvSpPr/>
          <p:nvPr userDrawn="1"/>
        </p:nvSpPr>
        <p:spPr>
          <a:xfrm rot="10800000">
            <a:off x="196057" y="-1705670"/>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 name="弧形 91"/>
          <p:cNvSpPr/>
          <p:nvPr userDrawn="1"/>
        </p:nvSpPr>
        <p:spPr>
          <a:xfrm rot="10800000">
            <a:off x="1267293" y="-1648522"/>
            <a:ext cx="4927086" cy="3327946"/>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 name="弧形 92"/>
          <p:cNvSpPr/>
          <p:nvPr userDrawn="1"/>
        </p:nvSpPr>
        <p:spPr>
          <a:xfrm rot="10800000">
            <a:off x="1617080" y="-1668393"/>
            <a:ext cx="7297959" cy="3090723"/>
          </a:xfrm>
          <a:prstGeom prst="arc">
            <a:avLst>
              <a:gd name="adj1" fmla="val 11165493"/>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弧形 93"/>
          <p:cNvSpPr/>
          <p:nvPr userDrawn="1"/>
        </p:nvSpPr>
        <p:spPr>
          <a:xfrm rot="10800000">
            <a:off x="606835" y="-1686844"/>
            <a:ext cx="7297959" cy="3448358"/>
          </a:xfrm>
          <a:prstGeom prst="arc">
            <a:avLst>
              <a:gd name="adj1" fmla="val 10981041"/>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弧形 94"/>
          <p:cNvSpPr/>
          <p:nvPr userDrawn="1"/>
        </p:nvSpPr>
        <p:spPr>
          <a:xfrm rot="10800000">
            <a:off x="2711185" y="-1626823"/>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6" name="直接连接符 95"/>
          <p:cNvCxnSpPr/>
          <p:nvPr userDrawn="1"/>
        </p:nvCxnSpPr>
        <p:spPr>
          <a:xfrm>
            <a:off x="460650" y="311134"/>
            <a:ext cx="1916869" cy="8508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endCxn id="112" idx="4"/>
          </p:cNvCxnSpPr>
          <p:nvPr userDrawn="1"/>
        </p:nvCxnSpPr>
        <p:spPr>
          <a:xfrm flipV="1">
            <a:off x="-16592" y="24995"/>
            <a:ext cx="1766656" cy="15147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a:off x="3331835" y="315370"/>
            <a:ext cx="1304703" cy="8466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userDrawn="1"/>
        </p:nvCxnSpPr>
        <p:spPr>
          <a:xfrm flipV="1">
            <a:off x="1382233" y="19316"/>
            <a:ext cx="2538216" cy="11890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a:off x="4526712" y="51233"/>
            <a:ext cx="1337685" cy="119797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userDrawn="1"/>
        </p:nvCxnSpPr>
        <p:spPr>
          <a:xfrm flipH="1">
            <a:off x="4862179" y="431029"/>
            <a:ext cx="103899" cy="7309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同心圆 101"/>
          <p:cNvSpPr/>
          <p:nvPr userDrawn="1"/>
        </p:nvSpPr>
        <p:spPr>
          <a:xfrm>
            <a:off x="6492225" y="508732"/>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同心圆 102"/>
          <p:cNvSpPr/>
          <p:nvPr userDrawn="1"/>
        </p:nvSpPr>
        <p:spPr>
          <a:xfrm>
            <a:off x="391272" y="214444"/>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 name="同心圆 103"/>
          <p:cNvSpPr/>
          <p:nvPr userDrawn="1"/>
        </p:nvSpPr>
        <p:spPr>
          <a:xfrm>
            <a:off x="1999696" y="96475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userDrawn="1"/>
        </p:nvSpPr>
        <p:spPr>
          <a:xfrm>
            <a:off x="5814227" y="1218940"/>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6" name="椭圆 105"/>
          <p:cNvSpPr/>
          <p:nvPr userDrawn="1"/>
        </p:nvSpPr>
        <p:spPr>
          <a:xfrm>
            <a:off x="7030778" y="1397133"/>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2300599" y="1104417"/>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639049" y="49035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2931991" y="-11500"/>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40508" y="-2147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3794933" y="-37984"/>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697222" y="-67827"/>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845985" y="46845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userDrawn="1"/>
        </p:nvSpPr>
        <p:spPr>
          <a:xfrm>
            <a:off x="2169622" y="69245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userDrawn="1"/>
        </p:nvSpPr>
        <p:spPr>
          <a:xfrm>
            <a:off x="4872663" y="66802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userDrawn="1"/>
        </p:nvSpPr>
        <p:spPr>
          <a:xfrm>
            <a:off x="5171342" y="95160"/>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userDrawn="1"/>
        </p:nvSpPr>
        <p:spPr>
          <a:xfrm>
            <a:off x="3801650" y="59963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userDrawn="1"/>
        </p:nvSpPr>
        <p:spPr>
          <a:xfrm>
            <a:off x="3814765" y="123922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userDrawn="1"/>
        </p:nvSpPr>
        <p:spPr>
          <a:xfrm>
            <a:off x="3211922" y="1055672"/>
            <a:ext cx="109602" cy="974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userDrawn="1"/>
        </p:nvSpPr>
        <p:spPr>
          <a:xfrm>
            <a:off x="1095841" y="829389"/>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userDrawn="1"/>
        </p:nvSpPr>
        <p:spPr>
          <a:xfrm>
            <a:off x="2663928" y="85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userDrawn="1"/>
        </p:nvSpPr>
        <p:spPr>
          <a:xfrm>
            <a:off x="6363914" y="112264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userDrawn="1"/>
        </p:nvSpPr>
        <p:spPr>
          <a:xfrm>
            <a:off x="6715789" y="515044"/>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userDrawn="1"/>
        </p:nvSpPr>
        <p:spPr>
          <a:xfrm>
            <a:off x="6137100" y="61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同心圆 124"/>
          <p:cNvSpPr/>
          <p:nvPr userDrawn="1"/>
        </p:nvSpPr>
        <p:spPr>
          <a:xfrm>
            <a:off x="7014402" y="264301"/>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6" name="同心圆 125"/>
          <p:cNvSpPr/>
          <p:nvPr userDrawn="1"/>
        </p:nvSpPr>
        <p:spPr>
          <a:xfrm>
            <a:off x="4829245" y="1138005"/>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7" name="椭圆 126"/>
          <p:cNvSpPr/>
          <p:nvPr userDrawn="1"/>
        </p:nvSpPr>
        <p:spPr>
          <a:xfrm>
            <a:off x="800494" y="1090699"/>
            <a:ext cx="116101" cy="1278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 name="直接连接符 127"/>
          <p:cNvCxnSpPr>
            <a:stCxn id="102" idx="5"/>
          </p:cNvCxnSpPr>
          <p:nvPr userDrawn="1"/>
        </p:nvCxnSpPr>
        <p:spPr>
          <a:xfrm>
            <a:off x="6617248" y="628032"/>
            <a:ext cx="458184" cy="8124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9" name="椭圆 128"/>
          <p:cNvSpPr/>
          <p:nvPr userDrawn="1"/>
        </p:nvSpPr>
        <p:spPr>
          <a:xfrm>
            <a:off x="5169123" y="136590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userDrawn="1"/>
        </p:nvSpPr>
        <p:spPr>
          <a:xfrm>
            <a:off x="2925946" y="133842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userDrawn="1"/>
        </p:nvSpPr>
        <p:spPr>
          <a:xfrm>
            <a:off x="1541050" y="1346272"/>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userDrawn="1"/>
        </p:nvSpPr>
        <p:spPr>
          <a:xfrm>
            <a:off x="6851265" y="103208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userDrawn="1"/>
        </p:nvSpPr>
        <p:spPr>
          <a:xfrm>
            <a:off x="4825922" y="-108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userDrawn="1"/>
        </p:nvSpPr>
        <p:spPr>
          <a:xfrm>
            <a:off x="5851220" y="33137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userDrawn="1"/>
        </p:nvSpPr>
        <p:spPr>
          <a:xfrm>
            <a:off x="2534467" y="33226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userDrawn="1"/>
        </p:nvSpPr>
        <p:spPr>
          <a:xfrm>
            <a:off x="1357915" y="69940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userDrawn="1"/>
        </p:nvSpPr>
        <p:spPr>
          <a:xfrm>
            <a:off x="3395882" y="-8229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userDrawn="1"/>
        </p:nvSpPr>
        <p:spPr>
          <a:xfrm>
            <a:off x="3506470" y="85387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userDrawn="1"/>
        </p:nvSpPr>
        <p:spPr>
          <a:xfrm>
            <a:off x="-47961" y="54666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userDrawn="1"/>
        </p:nvSpPr>
        <p:spPr>
          <a:xfrm>
            <a:off x="6040782" y="1411090"/>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userDrawn="1"/>
        </p:nvSpPr>
        <p:spPr>
          <a:xfrm>
            <a:off x="933612" y="5123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userDrawn="1"/>
        </p:nvSpPr>
        <p:spPr>
          <a:xfrm>
            <a:off x="2700536" y="-1440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同心圆 142"/>
          <p:cNvSpPr/>
          <p:nvPr userDrawn="1"/>
        </p:nvSpPr>
        <p:spPr>
          <a:xfrm>
            <a:off x="1309714" y="256926"/>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4" name="同心圆 143"/>
          <p:cNvSpPr/>
          <p:nvPr userDrawn="1"/>
        </p:nvSpPr>
        <p:spPr>
          <a:xfrm>
            <a:off x="3186517" y="264301"/>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5" name="同心圆 144"/>
          <p:cNvSpPr/>
          <p:nvPr userDrawn="1"/>
        </p:nvSpPr>
        <p:spPr>
          <a:xfrm>
            <a:off x="4146772" y="411338"/>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6" name="同心圆 145"/>
          <p:cNvSpPr/>
          <p:nvPr userDrawn="1"/>
        </p:nvSpPr>
        <p:spPr>
          <a:xfrm>
            <a:off x="4986397" y="50529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7" name="椭圆 146"/>
          <p:cNvSpPr/>
          <p:nvPr userDrawn="1"/>
        </p:nvSpPr>
        <p:spPr>
          <a:xfrm>
            <a:off x="431456" y="479236"/>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userDrawn="1"/>
        </p:nvSpPr>
        <p:spPr>
          <a:xfrm>
            <a:off x="1310848" y="113950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userDrawn="1"/>
        </p:nvSpPr>
        <p:spPr>
          <a:xfrm>
            <a:off x="4594588" y="1118511"/>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userDrawn="1"/>
        </p:nvSpPr>
        <p:spPr>
          <a:xfrm>
            <a:off x="5671362" y="514865"/>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同心圆 150"/>
          <p:cNvSpPr/>
          <p:nvPr userDrawn="1"/>
        </p:nvSpPr>
        <p:spPr>
          <a:xfrm>
            <a:off x="4929342" y="325588"/>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52" name="组合 151"/>
          <p:cNvGrpSpPr/>
          <p:nvPr userDrawn="1"/>
        </p:nvGrpSpPr>
        <p:grpSpPr>
          <a:xfrm>
            <a:off x="0" y="5921828"/>
            <a:ext cx="12192000" cy="1024160"/>
            <a:chOff x="0" y="5921828"/>
            <a:chExt cx="12192000" cy="1024160"/>
          </a:xfrm>
        </p:grpSpPr>
        <p:sp>
          <p:nvSpPr>
            <p:cNvPr id="299" name="同心圆 298"/>
            <p:cNvSpPr/>
            <p:nvPr/>
          </p:nvSpPr>
          <p:spPr>
            <a:xfrm>
              <a:off x="7478496" y="6761391"/>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0" name="同心圆 299"/>
            <p:cNvSpPr/>
            <p:nvPr/>
          </p:nvSpPr>
          <p:spPr>
            <a:xfrm>
              <a:off x="502249" y="6382902"/>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5" name="椭圆 304"/>
            <p:cNvSpPr/>
            <p:nvPr/>
          </p:nvSpPr>
          <p:spPr>
            <a:xfrm>
              <a:off x="3072509" y="6737761"/>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椭圆 305"/>
            <p:cNvSpPr/>
            <p:nvPr/>
          </p:nvSpPr>
          <p:spPr>
            <a:xfrm>
              <a:off x="3407479" y="6092309"/>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椭圆 306"/>
            <p:cNvSpPr/>
            <p:nvPr/>
          </p:nvSpPr>
          <p:spPr>
            <a:xfrm>
              <a:off x="5132421" y="6079477"/>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椭圆 307"/>
            <p:cNvSpPr/>
            <p:nvPr/>
          </p:nvSpPr>
          <p:spPr>
            <a:xfrm>
              <a:off x="4452934" y="604217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椭圆 308"/>
            <p:cNvSpPr/>
            <p:nvPr/>
          </p:nvSpPr>
          <p:spPr>
            <a:xfrm>
              <a:off x="1995560" y="6019866"/>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椭圆 309"/>
            <p:cNvSpPr/>
            <p:nvPr/>
          </p:nvSpPr>
          <p:spPr>
            <a:xfrm>
              <a:off x="2165667" y="67095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椭圆 312"/>
            <p:cNvSpPr/>
            <p:nvPr/>
          </p:nvSpPr>
          <p:spPr>
            <a:xfrm>
              <a:off x="5968109" y="62294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椭圆 318"/>
            <p:cNvSpPr/>
            <p:nvPr/>
          </p:nvSpPr>
          <p:spPr>
            <a:xfrm>
              <a:off x="3100959" y="6216739"/>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椭圆 320"/>
            <p:cNvSpPr/>
            <p:nvPr/>
          </p:nvSpPr>
          <p:spPr>
            <a:xfrm>
              <a:off x="7734134" y="676950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椭圆 321"/>
            <p:cNvSpPr/>
            <p:nvPr/>
          </p:nvSpPr>
          <p:spPr>
            <a:xfrm>
              <a:off x="7072422" y="6185871"/>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同心圆 322"/>
            <p:cNvSpPr/>
            <p:nvPr/>
          </p:nvSpPr>
          <p:spPr>
            <a:xfrm>
              <a:off x="8075589" y="6447023"/>
              <a:ext cx="139571" cy="16019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2" name="椭圆 331"/>
            <p:cNvSpPr/>
            <p:nvPr/>
          </p:nvSpPr>
          <p:spPr>
            <a:xfrm>
              <a:off x="5573131" y="609313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椭圆 332"/>
            <p:cNvSpPr/>
            <p:nvPr/>
          </p:nvSpPr>
          <p:spPr>
            <a:xfrm>
              <a:off x="6745527" y="653328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椭圆 333"/>
            <p:cNvSpPr/>
            <p:nvPr/>
          </p:nvSpPr>
          <p:spPr>
            <a:xfrm>
              <a:off x="2952926" y="653443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椭圆 335"/>
            <p:cNvSpPr/>
            <p:nvPr/>
          </p:nvSpPr>
          <p:spPr>
            <a:xfrm>
              <a:off x="3937926" y="6001255"/>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椭圆 337"/>
            <p:cNvSpPr/>
            <p:nvPr/>
          </p:nvSpPr>
          <p:spPr>
            <a:xfrm>
              <a:off x="0" y="681018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椭圆 339"/>
            <p:cNvSpPr/>
            <p:nvPr/>
          </p:nvSpPr>
          <p:spPr>
            <a:xfrm>
              <a:off x="1122397" y="617299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椭圆 340"/>
            <p:cNvSpPr/>
            <p:nvPr/>
          </p:nvSpPr>
          <p:spPr>
            <a:xfrm>
              <a:off x="3142818" y="5921828"/>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同心圆 342"/>
            <p:cNvSpPr/>
            <p:nvPr/>
          </p:nvSpPr>
          <p:spPr>
            <a:xfrm>
              <a:off x="1552458" y="6437538"/>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4" name="同心圆 343"/>
            <p:cNvSpPr/>
            <p:nvPr/>
          </p:nvSpPr>
          <p:spPr>
            <a:xfrm>
              <a:off x="3698523" y="6447023"/>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5" name="同心圆 344"/>
            <p:cNvSpPr/>
            <p:nvPr/>
          </p:nvSpPr>
          <p:spPr>
            <a:xfrm>
              <a:off x="4796176" y="6571920"/>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6" name="同心圆 345"/>
            <p:cNvSpPr/>
            <p:nvPr/>
          </p:nvSpPr>
          <p:spPr>
            <a:xfrm>
              <a:off x="5756628" y="6756970"/>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7" name="椭圆 346"/>
            <p:cNvSpPr/>
            <p:nvPr/>
          </p:nvSpPr>
          <p:spPr>
            <a:xfrm>
              <a:off x="548197" y="672345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椭圆 349"/>
            <p:cNvSpPr/>
            <p:nvPr/>
          </p:nvSpPr>
          <p:spPr>
            <a:xfrm>
              <a:off x="6539864" y="676927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1" name="同心圆 350"/>
            <p:cNvSpPr/>
            <p:nvPr/>
          </p:nvSpPr>
          <p:spPr>
            <a:xfrm>
              <a:off x="5691388" y="6525844"/>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9" name="同心圆 368"/>
            <p:cNvSpPr/>
            <p:nvPr/>
          </p:nvSpPr>
          <p:spPr>
            <a:xfrm rot="10800000">
              <a:off x="10690775" y="6662332"/>
              <a:ext cx="189397" cy="1750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0" name="同心圆 369"/>
            <p:cNvSpPr/>
            <p:nvPr/>
          </p:nvSpPr>
          <p:spPr>
            <a:xfrm rot="10800000">
              <a:off x="6517997" y="6359634"/>
              <a:ext cx="189397" cy="175017"/>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1" name="椭圆 370"/>
            <p:cNvSpPr/>
            <p:nvPr/>
          </p:nvSpPr>
          <p:spPr>
            <a:xfrm rot="10800000">
              <a:off x="5260979" y="6211913"/>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2" name="椭圆 371"/>
            <p:cNvSpPr/>
            <p:nvPr/>
          </p:nvSpPr>
          <p:spPr>
            <a:xfrm rot="10800000">
              <a:off x="10365355" y="648271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椭圆 382"/>
            <p:cNvSpPr/>
            <p:nvPr/>
          </p:nvSpPr>
          <p:spPr>
            <a:xfrm rot="10800000">
              <a:off x="8779029" y="6399954"/>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椭圆 383"/>
            <p:cNvSpPr/>
            <p:nvPr/>
          </p:nvSpPr>
          <p:spPr>
            <a:xfrm rot="10800000">
              <a:off x="9434203" y="6612984"/>
              <a:ext cx="119895" cy="11609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7" name="椭圆 386"/>
            <p:cNvSpPr/>
            <p:nvPr/>
          </p:nvSpPr>
          <p:spPr>
            <a:xfrm rot="10800000">
              <a:off x="5990473" y="6538789"/>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同心圆 390"/>
            <p:cNvSpPr/>
            <p:nvPr/>
          </p:nvSpPr>
          <p:spPr>
            <a:xfrm rot="10800000">
              <a:off x="7651358" y="6482710"/>
              <a:ext cx="133523" cy="148324"/>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2" name="椭圆 391"/>
            <p:cNvSpPr/>
            <p:nvPr/>
          </p:nvSpPr>
          <p:spPr>
            <a:xfrm rot="10800000">
              <a:off x="12064995" y="6535080"/>
              <a:ext cx="127005" cy="1522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椭圆 393"/>
            <p:cNvSpPr/>
            <p:nvPr/>
          </p:nvSpPr>
          <p:spPr>
            <a:xfrm rot="10800000">
              <a:off x="7227429" y="6171312"/>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椭圆 394"/>
            <p:cNvSpPr/>
            <p:nvPr/>
          </p:nvSpPr>
          <p:spPr>
            <a:xfrm rot="10800000">
              <a:off x="9681277" y="6204037"/>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6" name="椭圆 395"/>
            <p:cNvSpPr/>
            <p:nvPr/>
          </p:nvSpPr>
          <p:spPr>
            <a:xfrm rot="10800000">
              <a:off x="11196238" y="6194696"/>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椭圆 396"/>
            <p:cNvSpPr/>
            <p:nvPr/>
          </p:nvSpPr>
          <p:spPr>
            <a:xfrm rot="10800000">
              <a:off x="5521830" y="6704945"/>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椭圆 404"/>
            <p:cNvSpPr/>
            <p:nvPr/>
          </p:nvSpPr>
          <p:spPr>
            <a:xfrm rot="10800000">
              <a:off x="6408430" y="6253607"/>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椭圆 412"/>
            <p:cNvSpPr/>
            <p:nvPr/>
          </p:nvSpPr>
          <p:spPr>
            <a:xfrm rot="10800000">
              <a:off x="11448059" y="644092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4" name="椭圆 413"/>
            <p:cNvSpPr/>
            <p:nvPr/>
          </p:nvSpPr>
          <p:spPr>
            <a:xfrm rot="10800000">
              <a:off x="7855923" y="6465925"/>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236" name="组合 235"/>
          <p:cNvGrpSpPr/>
          <p:nvPr userDrawn="1"/>
        </p:nvGrpSpPr>
        <p:grpSpPr>
          <a:xfrm>
            <a:off x="0" y="-187198"/>
            <a:ext cx="1307732" cy="1733935"/>
            <a:chOff x="0" y="-187198"/>
            <a:chExt cx="1307732" cy="1733935"/>
          </a:xfrm>
        </p:grpSpPr>
        <p:sp>
          <p:nvSpPr>
            <p:cNvPr id="22" name="同心圆 21"/>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23"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a:endCxn id="114"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3"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p:cNvCxnSpPr>
              <a:stCxn id="113"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同心圆 128"/>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30" name="直接连接符 129"/>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 name="直接连接符 133"/>
            <p:cNvCxnSpPr>
              <a:stCxn id="132"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同心圆 208"/>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0" name="同心圆 209"/>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1" name="同心圆 210"/>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2" name="直接连接符 221"/>
            <p:cNvCxnSpPr>
              <a:stCxn id="209" idx="4"/>
              <a:endCxn id="208"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endCxn id="22"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endCxn id="209"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endCxn id="23"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1" name="弧形 40"/>
          <p:cNvSpPr/>
          <p:nvPr userDrawn="1"/>
        </p:nvSpPr>
        <p:spPr>
          <a:xfrm rot="558798">
            <a:off x="3672565" y="1011395"/>
            <a:ext cx="7590690" cy="5671237"/>
          </a:xfrm>
          <a:prstGeom prst="arc">
            <a:avLst>
              <a:gd name="adj1" fmla="val 14287010"/>
              <a:gd name="adj2" fmla="val 558308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558798">
            <a:off x="3412680" y="1604745"/>
            <a:ext cx="7885748" cy="5260588"/>
          </a:xfrm>
          <a:prstGeom prst="arc">
            <a:avLst>
              <a:gd name="adj1" fmla="val 14287010"/>
              <a:gd name="adj2" fmla="val 287274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683000" y="810922"/>
            <a:ext cx="6426200" cy="7164677"/>
          </a:xfrm>
          <a:prstGeom prst="arc">
            <a:avLst>
              <a:gd name="adj1" fmla="val 16921666"/>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p:cNvSpPr/>
          <p:nvPr userDrawn="1"/>
        </p:nvSpPr>
        <p:spPr>
          <a:xfrm>
            <a:off x="3326530" y="1362427"/>
            <a:ext cx="6998570" cy="5594309"/>
          </a:xfrm>
          <a:prstGeom prst="arc">
            <a:avLst>
              <a:gd name="adj1" fmla="val 16904781"/>
              <a:gd name="adj2" fmla="val 3894020"/>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弧形 98"/>
          <p:cNvSpPr/>
          <p:nvPr userDrawn="1"/>
        </p:nvSpPr>
        <p:spPr>
          <a:xfrm>
            <a:off x="4095365" y="644886"/>
            <a:ext cx="6251437" cy="5745214"/>
          </a:xfrm>
          <a:prstGeom prst="arc">
            <a:avLst>
              <a:gd name="adj1" fmla="val 16577328"/>
              <a:gd name="adj2" fmla="val 519569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4153770" y="1562411"/>
            <a:ext cx="6426200" cy="6007099"/>
          </a:xfrm>
          <a:prstGeom prst="arc">
            <a:avLst>
              <a:gd name="adj1" fmla="val 16921666"/>
              <a:gd name="adj2" fmla="val 2917494"/>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3918385" y="836322"/>
            <a:ext cx="6426200" cy="7164677"/>
          </a:xfrm>
          <a:prstGeom prst="arc">
            <a:avLst>
              <a:gd name="adj1" fmla="val 18114793"/>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a:off x="4376455" y="1993900"/>
            <a:ext cx="6426200" cy="5004247"/>
          </a:xfrm>
          <a:prstGeom prst="arc">
            <a:avLst>
              <a:gd name="adj1" fmla="val 16098721"/>
              <a:gd name="adj2" fmla="val 356132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4376455" y="1255679"/>
            <a:ext cx="6426200" cy="5908998"/>
          </a:xfrm>
          <a:prstGeom prst="arc">
            <a:avLst>
              <a:gd name="adj1" fmla="val 16577328"/>
              <a:gd name="adj2" fmla="val 258167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p:cNvSpPr/>
          <p:nvPr userDrawn="1"/>
        </p:nvSpPr>
        <p:spPr>
          <a:xfrm>
            <a:off x="3869259" y="1729370"/>
            <a:ext cx="6055219" cy="4319100"/>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弧形 28"/>
          <p:cNvSpPr/>
          <p:nvPr userDrawn="1"/>
        </p:nvSpPr>
        <p:spPr>
          <a:xfrm>
            <a:off x="1206500" y="355881"/>
            <a:ext cx="10423323" cy="6362419"/>
          </a:xfrm>
          <a:prstGeom prst="arc">
            <a:avLst>
              <a:gd name="adj1" fmla="val 16064175"/>
              <a:gd name="adj2" fmla="val 495466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弧形 68"/>
          <p:cNvSpPr/>
          <p:nvPr userDrawn="1"/>
        </p:nvSpPr>
        <p:spPr>
          <a:xfrm>
            <a:off x="2374457" y="1030416"/>
            <a:ext cx="6426200" cy="5585898"/>
          </a:xfrm>
          <a:prstGeom prst="arc">
            <a:avLst>
              <a:gd name="adj1" fmla="val 16953004"/>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弧形 69"/>
          <p:cNvSpPr/>
          <p:nvPr userDrawn="1"/>
        </p:nvSpPr>
        <p:spPr>
          <a:xfrm>
            <a:off x="1893707" y="1944457"/>
            <a:ext cx="7008622" cy="4645627"/>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7" name="弧形 146"/>
          <p:cNvSpPr/>
          <p:nvPr userDrawn="1"/>
        </p:nvSpPr>
        <p:spPr>
          <a:xfrm rot="3143922">
            <a:off x="3372114" y="-313091"/>
            <a:ext cx="7581465" cy="8403771"/>
          </a:xfrm>
          <a:prstGeom prst="arc">
            <a:avLst>
              <a:gd name="adj1" fmla="val 1461411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5" name="组合 234"/>
          <p:cNvGrpSpPr/>
          <p:nvPr userDrawn="1"/>
        </p:nvGrpSpPr>
        <p:grpSpPr>
          <a:xfrm>
            <a:off x="2545440" y="-1106457"/>
            <a:ext cx="9580914" cy="8284758"/>
            <a:chOff x="2545440" y="-1106457"/>
            <a:chExt cx="9580914" cy="8284758"/>
          </a:xfrm>
        </p:grpSpPr>
        <p:sp>
          <p:nvSpPr>
            <p:cNvPr id="14" name="弧形 13"/>
            <p:cNvSpPr/>
            <p:nvPr/>
          </p:nvSpPr>
          <p:spPr>
            <a:xfrm>
              <a:off x="4908114" y="987936"/>
              <a:ext cx="6426200" cy="5492242"/>
            </a:xfrm>
            <a:prstGeom prst="arc">
              <a:avLst>
                <a:gd name="adj1" fmla="val 16577328"/>
                <a:gd name="adj2" fmla="val 669124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3" name="弧形 212"/>
            <p:cNvSpPr/>
            <p:nvPr/>
          </p:nvSpPr>
          <p:spPr>
            <a:xfrm rot="3529314">
              <a:off x="3663168" y="-974312"/>
              <a:ext cx="7996456" cy="8308770"/>
            </a:xfrm>
            <a:prstGeom prst="arc">
              <a:avLst>
                <a:gd name="adj1" fmla="val 15039599"/>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5" name="弧形 214"/>
            <p:cNvSpPr/>
            <p:nvPr/>
          </p:nvSpPr>
          <p:spPr>
            <a:xfrm rot="2317648">
              <a:off x="3184124" y="762409"/>
              <a:ext cx="6426200" cy="5585898"/>
            </a:xfrm>
            <a:prstGeom prst="arc">
              <a:avLst>
                <a:gd name="adj1" fmla="val 14395450"/>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3" name="组合 232"/>
            <p:cNvGrpSpPr/>
            <p:nvPr/>
          </p:nvGrpSpPr>
          <p:grpSpPr>
            <a:xfrm>
              <a:off x="2545440" y="-1106457"/>
              <a:ext cx="9580914" cy="8016380"/>
              <a:chOff x="2545440" y="-1106457"/>
              <a:chExt cx="9580914" cy="8016380"/>
            </a:xfrm>
          </p:grpSpPr>
          <p:sp>
            <p:nvSpPr>
              <p:cNvPr id="214" name="弧形 213"/>
              <p:cNvSpPr/>
              <p:nvPr/>
            </p:nvSpPr>
            <p:spPr>
              <a:xfrm rot="4850840">
                <a:off x="3337669" y="-1898686"/>
                <a:ext cx="7996456" cy="9580914"/>
              </a:xfrm>
              <a:prstGeom prst="arc">
                <a:avLst>
                  <a:gd name="adj1" fmla="val 1437122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2" name="组合 231"/>
              <p:cNvGrpSpPr/>
              <p:nvPr/>
            </p:nvGrpSpPr>
            <p:grpSpPr>
              <a:xfrm>
                <a:off x="5488329" y="129986"/>
                <a:ext cx="6213010" cy="6779937"/>
                <a:chOff x="5488329" y="129986"/>
                <a:chExt cx="6213010" cy="6779937"/>
              </a:xfrm>
            </p:grpSpPr>
            <p:cxnSp>
              <p:nvCxnSpPr>
                <p:cNvPr id="219" name="直接连接符 218"/>
                <p:cNvCxnSpPr>
                  <a:stCxn id="60" idx="3"/>
                  <a:endCxn id="216" idx="7"/>
                </p:cNvCxnSpPr>
                <p:nvPr/>
              </p:nvCxnSpPr>
              <p:spPr>
                <a:xfrm flipH="1">
                  <a:off x="6063315" y="3532442"/>
                  <a:ext cx="2167276" cy="28153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7581464" y="872296"/>
                  <a:ext cx="81680" cy="7966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 name="直接连接符 55"/>
                <p:cNvCxnSpPr>
                  <a:stCxn id="30" idx="7"/>
                  <a:endCxn id="60" idx="3"/>
                </p:cNvCxnSpPr>
                <p:nvPr/>
              </p:nvCxnSpPr>
              <p:spPr>
                <a:xfrm flipV="1">
                  <a:off x="7114116" y="3532442"/>
                  <a:ext cx="1116475" cy="27548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5"/>
                  <a:endCxn id="60" idx="1"/>
                </p:cNvCxnSpPr>
                <p:nvPr/>
              </p:nvCxnSpPr>
              <p:spPr>
                <a:xfrm>
                  <a:off x="7388842" y="1462032"/>
                  <a:ext cx="841749" cy="19685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8327768" y="94111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8892918" y="138976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同心圆 18"/>
                <p:cNvSpPr/>
                <p:nvPr/>
              </p:nvSpPr>
              <p:spPr>
                <a:xfrm>
                  <a:off x="7812057" y="123027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7971023" y="1599782"/>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同心圆 20"/>
                <p:cNvSpPr/>
                <p:nvPr/>
              </p:nvSpPr>
              <p:spPr>
                <a:xfrm>
                  <a:off x="7445553" y="1947052"/>
                  <a:ext cx="82549" cy="91298"/>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p:cNvSpPr/>
                <p:nvPr/>
              </p:nvSpPr>
              <p:spPr>
                <a:xfrm>
                  <a:off x="7012884" y="6269637"/>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933160" y="6751955"/>
                  <a:ext cx="54000" cy="54000"/>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5529605" y="229178"/>
                  <a:ext cx="426694" cy="418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488329" y="181419"/>
                  <a:ext cx="57151" cy="6307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a:stCxn id="28" idx="7"/>
                  <a:endCxn id="36" idx="3"/>
                </p:cNvCxnSpPr>
                <p:nvPr/>
              </p:nvCxnSpPr>
              <p:spPr>
                <a:xfrm flipV="1">
                  <a:off x="5998231" y="375935"/>
                  <a:ext cx="247151" cy="2329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同心圆 35"/>
                <p:cNvSpPr/>
                <p:nvPr/>
              </p:nvSpPr>
              <p:spPr>
                <a:xfrm>
                  <a:off x="6236215" y="323293"/>
                  <a:ext cx="62599" cy="61674"/>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7" name="直接连接符 36"/>
                <p:cNvCxnSpPr/>
                <p:nvPr/>
              </p:nvCxnSpPr>
              <p:spPr>
                <a:xfrm>
                  <a:off x="5998231" y="668607"/>
                  <a:ext cx="593504" cy="193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896999" y="59127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581308" y="836885"/>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同心圆 43"/>
                <p:cNvSpPr/>
                <p:nvPr/>
              </p:nvSpPr>
              <p:spPr>
                <a:xfrm>
                  <a:off x="6121806" y="1014382"/>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椭圆 46"/>
                <p:cNvSpPr/>
                <p:nvPr/>
              </p:nvSpPr>
              <p:spPr>
                <a:xfrm>
                  <a:off x="7287610" y="135921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28" idx="5"/>
                  <a:endCxn id="44" idx="0"/>
                </p:cNvCxnSpPr>
                <p:nvPr/>
              </p:nvCxnSpPr>
              <p:spPr>
                <a:xfrm>
                  <a:off x="5998231" y="694092"/>
                  <a:ext cx="175150" cy="3202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同心圆 50"/>
                <p:cNvSpPr/>
                <p:nvPr/>
              </p:nvSpPr>
              <p:spPr>
                <a:xfrm>
                  <a:off x="7954214" y="6769523"/>
                  <a:ext cx="139193" cy="140400"/>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椭圆 52"/>
                <p:cNvSpPr/>
                <p:nvPr/>
              </p:nvSpPr>
              <p:spPr>
                <a:xfrm>
                  <a:off x="7091234" y="1711609"/>
                  <a:ext cx="59301" cy="7041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8387068" y="5696403"/>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8209667" y="340953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8618095" y="2992948"/>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8668886" y="2091556"/>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541264" y="249252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9725915" y="273207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9784641" y="243229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8892918" y="194314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89788" y="2078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975611" y="279542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11083598" y="4157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723002" y="4303204"/>
                  <a:ext cx="153242" cy="14687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p:nvSpPr>
              <p:spPr>
                <a:xfrm>
                  <a:off x="11098929" y="4830868"/>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同心圆 87"/>
                <p:cNvSpPr/>
                <p:nvPr/>
              </p:nvSpPr>
              <p:spPr>
                <a:xfrm>
                  <a:off x="10535225" y="309010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同心圆 88"/>
                <p:cNvSpPr/>
                <p:nvPr/>
              </p:nvSpPr>
              <p:spPr>
                <a:xfrm>
                  <a:off x="9543175" y="482427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同心圆 89"/>
                <p:cNvSpPr/>
                <p:nvPr/>
              </p:nvSpPr>
              <p:spPr>
                <a:xfrm>
                  <a:off x="10198096" y="3531834"/>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0" name="椭圆 99"/>
                <p:cNvSpPr/>
                <p:nvPr/>
              </p:nvSpPr>
              <p:spPr>
                <a:xfrm>
                  <a:off x="7388842" y="6332104"/>
                  <a:ext cx="97062" cy="117533"/>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同心圆 100"/>
                <p:cNvSpPr/>
                <p:nvPr/>
              </p:nvSpPr>
              <p:spPr>
                <a:xfrm>
                  <a:off x="6727330" y="625516"/>
                  <a:ext cx="104400" cy="102902"/>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 name="椭圆 101"/>
                <p:cNvSpPr/>
                <p:nvPr/>
              </p:nvSpPr>
              <p:spPr>
                <a:xfrm>
                  <a:off x="10356722" y="230998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9940291" y="1447307"/>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同心圆 103"/>
                <p:cNvSpPr/>
                <p:nvPr/>
              </p:nvSpPr>
              <p:spPr>
                <a:xfrm>
                  <a:off x="9553540" y="1666276"/>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p:nvSpPr>
              <p:spPr>
                <a:xfrm>
                  <a:off x="11201304" y="309848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8" name="椭圆 107"/>
                <p:cNvSpPr/>
                <p:nvPr/>
              </p:nvSpPr>
              <p:spPr>
                <a:xfrm>
                  <a:off x="10727128" y="519725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8891236" y="129986"/>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同心圆 205"/>
                <p:cNvSpPr/>
                <p:nvPr/>
              </p:nvSpPr>
              <p:spPr>
                <a:xfrm>
                  <a:off x="8458505" y="567595"/>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6753225" y="6563665"/>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a:off x="5941364" y="632674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a:off x="8721363" y="3606935"/>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同心圆 228"/>
                <p:cNvSpPr/>
                <p:nvPr/>
              </p:nvSpPr>
              <p:spPr>
                <a:xfrm>
                  <a:off x="9195330" y="2822191"/>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0" name="同心圆 229"/>
                <p:cNvSpPr/>
                <p:nvPr/>
              </p:nvSpPr>
              <p:spPr>
                <a:xfrm>
                  <a:off x="10618224" y="5858663"/>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2" name="椭圆 241"/>
                <p:cNvSpPr/>
                <p:nvPr/>
              </p:nvSpPr>
              <p:spPr>
                <a:xfrm>
                  <a:off x="7479559" y="597449"/>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1066277" y="2091556"/>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1548097" y="3741919"/>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40" name="同心圆 39"/>
          <p:cNvSpPr/>
          <p:nvPr userDrawn="1"/>
        </p:nvSpPr>
        <p:spPr>
          <a:xfrm>
            <a:off x="3203378" y="1068464"/>
            <a:ext cx="1023708" cy="1021839"/>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77" name="直接连接符 76"/>
          <p:cNvCxnSpPr>
            <a:stCxn id="76" idx="2"/>
            <a:endCxn id="69" idx="2"/>
          </p:cNvCxnSpPr>
          <p:nvPr userDrawn="1"/>
        </p:nvCxnSpPr>
        <p:spPr>
          <a:xfrm flipH="1">
            <a:off x="4953582" y="1068464"/>
            <a:ext cx="5531666" cy="50102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2"/>
            <a:endCxn id="11" idx="4"/>
          </p:cNvCxnSpPr>
          <p:nvPr userDrawn="1"/>
        </p:nvCxnSpPr>
        <p:spPr>
          <a:xfrm flipH="1" flipV="1">
            <a:off x="115950" y="289419"/>
            <a:ext cx="4837632" cy="578928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饼形 68"/>
          <p:cNvSpPr/>
          <p:nvPr userDrawn="1"/>
        </p:nvSpPr>
        <p:spPr>
          <a:xfrm rot="5400000">
            <a:off x="4148039" y="6107730"/>
            <a:ext cx="1611086" cy="1553029"/>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p:cNvCxnSpPr>
            <a:stCxn id="14" idx="3"/>
            <a:endCxn id="30" idx="0"/>
          </p:cNvCxnSpPr>
          <p:nvPr userDrawn="1"/>
        </p:nvCxnSpPr>
        <p:spPr>
          <a:xfrm>
            <a:off x="521376" y="553761"/>
            <a:ext cx="122477" cy="22978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30" idx="7"/>
          </p:cNvCxnSpPr>
          <p:nvPr userDrawn="1"/>
        </p:nvCxnSpPr>
        <p:spPr>
          <a:xfrm flipH="1">
            <a:off x="706605" y="716813"/>
            <a:ext cx="6362403" cy="21590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2" idx="3"/>
          </p:cNvCxnSpPr>
          <p:nvPr userDrawn="1"/>
        </p:nvCxnSpPr>
        <p:spPr>
          <a:xfrm flipH="1" flipV="1">
            <a:off x="1120991" y="410248"/>
            <a:ext cx="9642602" cy="61474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2080112" y="4613014"/>
            <a:ext cx="446760" cy="3933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同心圆 10"/>
          <p:cNvSpPr/>
          <p:nvPr userDrawn="1"/>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userDrawn="1"/>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stCxn id="12" idx="5"/>
          </p:cNvCxnSpPr>
          <p:nvPr userDrawn="1"/>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nvSpPr>
        <p:spPr>
          <a:xfrm>
            <a:off x="5275971" y="568643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5"/>
            <a:endCxn id="15" idx="0"/>
          </p:cNvCxnSpPr>
          <p:nvPr userDrawn="1"/>
        </p:nvCxnSpPr>
        <p:spPr>
          <a:xfrm>
            <a:off x="636540" y="553761"/>
            <a:ext cx="4720864" cy="513267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3"/>
          </p:cNvCxnSpPr>
          <p:nvPr userDrawn="1"/>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4" idx="5"/>
          </p:cNvCxnSpPr>
          <p:nvPr userDrawn="1"/>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同心圆 19"/>
          <p:cNvSpPr/>
          <p:nvPr userDrawn="1"/>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1" name="直接连接符 20"/>
          <p:cNvCxnSpPr/>
          <p:nvPr userDrawn="1"/>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userDrawn="1"/>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22" idx="3"/>
          </p:cNvCxnSpPr>
          <p:nvPr userDrawn="1"/>
        </p:nvCxnSpPr>
        <p:spPr>
          <a:xfrm flipH="1">
            <a:off x="7894" y="477151"/>
            <a:ext cx="1001400" cy="63961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11420247" y="3599824"/>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endCxn id="26" idx="7"/>
          </p:cNvCxnSpPr>
          <p:nvPr userDrawn="1"/>
        </p:nvCxnSpPr>
        <p:spPr>
          <a:xfrm flipH="1">
            <a:off x="606774" y="461826"/>
            <a:ext cx="392086" cy="7775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505542" y="1221689"/>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userDrawn="1"/>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同心圆 28"/>
          <p:cNvSpPr/>
          <p:nvPr userDrawn="1"/>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同心圆 29"/>
          <p:cNvSpPr/>
          <p:nvPr userDrawn="1"/>
        </p:nvSpPr>
        <p:spPr>
          <a:xfrm>
            <a:off x="555107" y="2851595"/>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同心圆 30"/>
          <p:cNvSpPr/>
          <p:nvPr userDrawn="1"/>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2" name="直接连接符 31"/>
          <p:cNvCxnSpPr>
            <a:stCxn id="29" idx="4"/>
            <a:endCxn id="28" idx="1"/>
          </p:cNvCxnSpPr>
          <p:nvPr userDrawn="1"/>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1" idx="6"/>
          </p:cNvCxnSpPr>
          <p:nvPr userDrawn="1"/>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p:cNvCxnSpPr>
          <p:nvPr userDrawn="1"/>
        </p:nvCxnSpPr>
        <p:spPr>
          <a:xfrm flipH="1" flipV="1">
            <a:off x="1062436" y="373933"/>
            <a:ext cx="10357811" cy="328612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5" idx="0"/>
            <a:endCxn id="29" idx="0"/>
          </p:cNvCxnSpPr>
          <p:nvPr userDrawn="1"/>
        </p:nvCxnSpPr>
        <p:spPr>
          <a:xfrm flipH="1" flipV="1">
            <a:off x="522318" y="136498"/>
            <a:ext cx="1781174" cy="447651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2" idx="1"/>
          </p:cNvCxnSpPr>
          <p:nvPr userDrawn="1"/>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椭圆 41"/>
          <p:cNvSpPr/>
          <p:nvPr userDrawn="1"/>
        </p:nvSpPr>
        <p:spPr>
          <a:xfrm>
            <a:off x="10746224" y="645491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2" idx="5"/>
            <a:endCxn id="48" idx="5"/>
          </p:cNvCxnSpPr>
          <p:nvPr userDrawn="1"/>
        </p:nvCxnSpPr>
        <p:spPr>
          <a:xfrm flipH="1" flipV="1">
            <a:off x="7151834" y="716813"/>
            <a:ext cx="3695622" cy="58409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椭圆 47"/>
          <p:cNvSpPr/>
          <p:nvPr userDrawn="1"/>
        </p:nvSpPr>
        <p:spPr>
          <a:xfrm>
            <a:off x="7050602" y="61399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48" idx="2"/>
            <a:endCxn id="29" idx="5"/>
          </p:cNvCxnSpPr>
          <p:nvPr userDrawn="1"/>
        </p:nvCxnSpPr>
        <p:spPr>
          <a:xfrm flipH="1" flipV="1">
            <a:off x="560502" y="228682"/>
            <a:ext cx="6490100" cy="44554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1"/>
            <a:endCxn id="18" idx="6"/>
          </p:cNvCxnSpPr>
          <p:nvPr userDrawn="1"/>
        </p:nvCxnSpPr>
        <p:spPr>
          <a:xfrm flipH="1" flipV="1">
            <a:off x="273827" y="1017586"/>
            <a:ext cx="249084" cy="2217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26" idx="6"/>
            <a:endCxn id="28" idx="3"/>
          </p:cNvCxnSpPr>
          <p:nvPr userDrawn="1"/>
        </p:nvCxnSpPr>
        <p:spPr>
          <a:xfrm flipV="1">
            <a:off x="624143" y="950851"/>
            <a:ext cx="572540" cy="33106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饼形 75"/>
          <p:cNvSpPr/>
          <p:nvPr userDrawn="1"/>
        </p:nvSpPr>
        <p:spPr>
          <a:xfrm rot="16200000" flipV="1">
            <a:off x="9411401" y="-989509"/>
            <a:ext cx="2147694" cy="1968252"/>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835" y="374015"/>
            <a:ext cx="10515600" cy="1325563"/>
          </a:xfrm>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4" name="组合 3"/>
          <p:cNvGrpSpPr/>
          <p:nvPr userDrawn="1"/>
        </p:nvGrpSpPr>
        <p:grpSpPr>
          <a:xfrm>
            <a:off x="0" y="-187198"/>
            <a:ext cx="1307732" cy="1733935"/>
            <a:chOff x="0" y="-187198"/>
            <a:chExt cx="1307732" cy="1733935"/>
          </a:xfrm>
        </p:grpSpPr>
        <p:sp>
          <p:nvSpPr>
            <p:cNvPr id="8" name="同心圆 7"/>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椭圆 8"/>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9"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endCxn id="12"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1"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同心圆 16"/>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8" name="直接连接符 17"/>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同心圆 25"/>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同心圆 26"/>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同心圆 27"/>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9" name="直接连接符 28"/>
            <p:cNvCxnSpPr>
              <a:stCxn id="26" idx="4"/>
              <a:endCxn id="25"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8"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6"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9"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饼形 63"/>
          <p:cNvSpPr/>
          <p:nvPr userDrawn="1"/>
        </p:nvSpPr>
        <p:spPr>
          <a:xfrm rot="10800000" flipH="1">
            <a:off x="10541157" y="5189537"/>
            <a:ext cx="3331829" cy="3336925"/>
          </a:xfrm>
          <a:prstGeom prst="pie">
            <a:avLst>
              <a:gd name="adj1" fmla="val 5387752"/>
              <a:gd name="adj2" fmla="val 10811571"/>
            </a:avLst>
          </a:prstGeom>
          <a:solidFill>
            <a:schemeClr val="tx2">
              <a:lumMod val="5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65" name="直接连接符 64"/>
          <p:cNvCxnSpPr/>
          <p:nvPr userDrawn="1"/>
        </p:nvCxnSpPr>
        <p:spPr>
          <a:xfrm flipV="1">
            <a:off x="1" y="-10700"/>
            <a:ext cx="150147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userDrawn="1"/>
        </p:nvCxnSpPr>
        <p:spPr>
          <a:xfrm>
            <a:off x="2" y="348476"/>
            <a:ext cx="1403167"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userDrawn="1"/>
        </p:nvCxnSpPr>
        <p:spPr>
          <a:xfrm flipV="1">
            <a:off x="2" y="-10700"/>
            <a:ext cx="3628569"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2" y="506163"/>
            <a:ext cx="1850033"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userDrawn="1"/>
        </p:nvCxnSpPr>
        <p:spPr>
          <a:xfrm flipV="1">
            <a:off x="2" y="-6320"/>
            <a:ext cx="2323714"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flipV="1">
            <a:off x="1" y="414179"/>
            <a:ext cx="2466714"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userDrawn="1"/>
        </p:nvCxnSpPr>
        <p:spPr>
          <a:xfrm>
            <a:off x="0" y="212691"/>
            <a:ext cx="1689163"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2" y="-10700"/>
            <a:ext cx="1398696"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flipH="1" flipV="1">
            <a:off x="339621" y="-28220"/>
            <a:ext cx="71945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userDrawn="1"/>
        </p:nvCxnSpPr>
        <p:spPr>
          <a:xfrm flipH="1" flipV="1">
            <a:off x="625617" y="-6319"/>
            <a:ext cx="283202"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flipV="1">
            <a:off x="621146" y="-6319"/>
            <a:ext cx="25750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flipV="1">
            <a:off x="256386" y="-6320"/>
            <a:ext cx="910778"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椭圆 102"/>
          <p:cNvSpPr/>
          <p:nvPr userDrawn="1"/>
        </p:nvSpPr>
        <p:spPr>
          <a:xfrm>
            <a:off x="678648" y="5357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userDrawn="1"/>
        </p:nvSpPr>
        <p:spPr>
          <a:xfrm>
            <a:off x="197116" y="1202613"/>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userDrawn="1"/>
        </p:nvSpPr>
        <p:spPr>
          <a:xfrm>
            <a:off x="2405023" y="352859"/>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userDrawn="1"/>
        </p:nvSpPr>
        <p:spPr>
          <a:xfrm>
            <a:off x="1313549" y="7120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1007623" y="1060791"/>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22677" y="947976"/>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85240" y="648442"/>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0531" y="1480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1141518" y="4552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186287" y="981950"/>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272797" y="142049"/>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同心圆 113"/>
          <p:cNvSpPr/>
          <p:nvPr userDrawn="1"/>
        </p:nvSpPr>
        <p:spPr>
          <a:xfrm>
            <a:off x="820552" y="1334020"/>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5" name="同心圆 114"/>
          <p:cNvSpPr/>
          <p:nvPr userDrawn="1"/>
        </p:nvSpPr>
        <p:spPr>
          <a:xfrm>
            <a:off x="1812696" y="579252"/>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同心圆 115"/>
          <p:cNvSpPr/>
          <p:nvPr userDrawn="1"/>
        </p:nvSpPr>
        <p:spPr>
          <a:xfrm>
            <a:off x="1354356" y="1143483"/>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7" name="同心圆 116"/>
          <p:cNvSpPr/>
          <p:nvPr userDrawn="1"/>
        </p:nvSpPr>
        <p:spPr>
          <a:xfrm>
            <a:off x="549996" y="116209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8" name="同心圆 117"/>
          <p:cNvSpPr/>
          <p:nvPr userDrawn="1"/>
        </p:nvSpPr>
        <p:spPr>
          <a:xfrm>
            <a:off x="352847" y="42731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同心圆 118"/>
          <p:cNvSpPr/>
          <p:nvPr userDrawn="1"/>
        </p:nvSpPr>
        <p:spPr>
          <a:xfrm>
            <a:off x="1992359" y="68145"/>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椭圆 120"/>
          <p:cNvSpPr/>
          <p:nvPr userDrawn="1"/>
        </p:nvSpPr>
        <p:spPr>
          <a:xfrm>
            <a:off x="1632705" y="1119388"/>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28" name="直接连接符 27"/>
          <p:cNvCxnSpPr/>
          <p:nvPr userDrawn="1"/>
        </p:nvCxnSpPr>
        <p:spPr>
          <a:xfrm flipH="1" flipV="1">
            <a:off x="10660490" y="17520"/>
            <a:ext cx="153150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H="1">
            <a:off x="10760766" y="376696"/>
            <a:ext cx="1431231"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flipH="1" flipV="1">
            <a:off x="8490855" y="-58446"/>
            <a:ext cx="3701141"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H="1">
            <a:off x="10304962" y="534383"/>
            <a:ext cx="1887035"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flipH="1" flipV="1">
            <a:off x="9821808" y="21900"/>
            <a:ext cx="2370189"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flipV="1">
            <a:off x="9675950" y="442399"/>
            <a:ext cx="2516048"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H="1">
            <a:off x="10469053" y="240911"/>
            <a:ext cx="1722946"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flipH="1">
            <a:off x="10765326" y="17520"/>
            <a:ext cx="1426670"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flipV="1">
            <a:off x="11111738" y="0"/>
            <a:ext cx="73384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flipV="1">
            <a:off x="11265003" y="21901"/>
            <a:ext cx="288867"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H="1" flipV="1">
            <a:off x="11295771" y="21901"/>
            <a:ext cx="26265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flipV="1">
            <a:off x="11001492" y="21900"/>
            <a:ext cx="928993"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userDrawn="1"/>
        </p:nvSpPr>
        <p:spPr>
          <a:xfrm flipH="1">
            <a:off x="11354422" y="5639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flipH="1">
            <a:off x="11845585" y="1230833"/>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flipH="1">
            <a:off x="9593520" y="381079"/>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flipH="1">
            <a:off x="10706824" y="7402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flipH="1">
            <a:off x="11106081" y="1089011"/>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flipH="1">
            <a:off x="11906726" y="976196"/>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flipH="1">
            <a:off x="12046912" y="676662"/>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flipH="1">
            <a:off x="11684515" y="1762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flipH="1">
            <a:off x="10969508" y="4834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flipH="1">
            <a:off x="10923844" y="1010170"/>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flipH="1">
            <a:off x="10835603" y="170269"/>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同心圆 56"/>
          <p:cNvSpPr/>
          <p:nvPr userDrawn="1"/>
        </p:nvSpPr>
        <p:spPr>
          <a:xfrm flipH="1">
            <a:off x="11109065" y="1362240"/>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同心圆 57"/>
          <p:cNvSpPr/>
          <p:nvPr userDrawn="1"/>
        </p:nvSpPr>
        <p:spPr>
          <a:xfrm flipH="1">
            <a:off x="10097079" y="607472"/>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同心圆 58"/>
          <p:cNvSpPr/>
          <p:nvPr userDrawn="1"/>
        </p:nvSpPr>
        <p:spPr>
          <a:xfrm flipH="1">
            <a:off x="10690671" y="1171703"/>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flipH="1">
            <a:off x="11511119" y="119031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同心圆 60"/>
          <p:cNvSpPr/>
          <p:nvPr userDrawn="1"/>
        </p:nvSpPr>
        <p:spPr>
          <a:xfrm flipH="1">
            <a:off x="11712210" y="45553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同心圆 61"/>
          <p:cNvSpPr/>
          <p:nvPr userDrawn="1"/>
        </p:nvSpPr>
        <p:spPr>
          <a:xfrm flipH="1">
            <a:off x="10039908" y="96365"/>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椭圆 62"/>
          <p:cNvSpPr/>
          <p:nvPr userDrawn="1"/>
        </p:nvSpPr>
        <p:spPr>
          <a:xfrm flipH="1">
            <a:off x="10381282" y="1147608"/>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40" name="曲线连接符 39"/>
          <p:cNvCxnSpPr/>
          <p:nvPr userDrawn="1"/>
        </p:nvCxnSpPr>
        <p:spPr>
          <a:xfrm flipV="1">
            <a:off x="-104130" y="381000"/>
            <a:ext cx="12296130" cy="60484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userDrawn="1"/>
        </p:nvCxnSpPr>
        <p:spPr>
          <a:xfrm flipV="1">
            <a:off x="-39365" y="927100"/>
            <a:ext cx="12231365" cy="4912834"/>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userDrawn="1"/>
        </p:nvCxnSpPr>
        <p:spPr>
          <a:xfrm flipV="1">
            <a:off x="-104130" y="1466334"/>
            <a:ext cx="12335495" cy="3720608"/>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userDrawn="1"/>
        </p:nvCxnSpPr>
        <p:spPr>
          <a:xfrm flipV="1">
            <a:off x="-104130" y="2016630"/>
            <a:ext cx="12249125" cy="2509381"/>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userDrawn="1"/>
        </p:nvCxnSpPr>
        <p:spPr>
          <a:xfrm flipV="1">
            <a:off x="-151135" y="2629929"/>
            <a:ext cx="12421865" cy="1331423"/>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userDrawn="1"/>
        </p:nvCxnSpPr>
        <p:spPr>
          <a:xfrm flipV="1">
            <a:off x="0" y="0"/>
            <a:ext cx="12192000" cy="68580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19" name="组合 18"/>
          <p:cNvGrpSpPr/>
          <p:nvPr userDrawn="1"/>
        </p:nvGrpSpPr>
        <p:grpSpPr>
          <a:xfrm>
            <a:off x="-12211664" y="-4006524"/>
            <a:ext cx="26155384" cy="22501629"/>
            <a:chOff x="-12211664" y="-3975409"/>
            <a:chExt cx="26155384" cy="22501629"/>
          </a:xfrm>
        </p:grpSpPr>
        <p:sp>
          <p:nvSpPr>
            <p:cNvPr id="10" name="弧形 9"/>
            <p:cNvSpPr/>
            <p:nvPr/>
          </p:nvSpPr>
          <p:spPr>
            <a:xfrm>
              <a:off x="-12211664" y="0"/>
              <a:ext cx="24403664" cy="13804490"/>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265175">
              <a:off x="-7079806" y="-872249"/>
              <a:ext cx="19293260" cy="13549928"/>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667039">
              <a:off x="-6949177" y="-239648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848162">
              <a:off x="-6949177" y="-397540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1054644">
              <a:off x="-5969282" y="1756851"/>
              <a:ext cx="19293260" cy="13549928"/>
            </a:xfrm>
            <a:prstGeom prst="arc">
              <a:avLst>
                <a:gd name="adj1" fmla="val 13454952"/>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21253924">
              <a:off x="-5349540" y="4976292"/>
              <a:ext cx="19293260" cy="13549928"/>
            </a:xfrm>
            <a:prstGeom prst="arc">
              <a:avLst>
                <a:gd name="adj1" fmla="val 14350323"/>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p:nvSpPr>
          <p:spPr>
            <a:xfrm rot="1083825">
              <a:off x="-5465221" y="3020774"/>
              <a:ext cx="19293260" cy="13549928"/>
            </a:xfrm>
            <a:prstGeom prst="arc">
              <a:avLst>
                <a:gd name="adj1" fmla="val 13225388"/>
                <a:gd name="adj2" fmla="val 19275869"/>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饼形 19"/>
          <p:cNvSpPr/>
          <p:nvPr userDrawn="1"/>
        </p:nvSpPr>
        <p:spPr>
          <a:xfrm>
            <a:off x="10331560" y="5208741"/>
            <a:ext cx="3687097" cy="3298518"/>
          </a:xfrm>
          <a:prstGeom prst="pie">
            <a:avLst>
              <a:gd name="adj1" fmla="val 10807598"/>
              <a:gd name="adj2" fmla="val 16250147"/>
            </a:avLst>
          </a:prstGeom>
          <a:solidFill>
            <a:schemeClr val="tx2">
              <a:lumMod val="50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E5F3F-DE72-47CF-93F5-4A6B2262A4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66F381-4499-4D1C-B5DB-A965A14872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9" Type="http://schemas.openxmlformats.org/officeDocument/2006/relationships/slide" Target="slide27.xml"/><Relationship Id="rId8" Type="http://schemas.openxmlformats.org/officeDocument/2006/relationships/slide" Target="slide26.xml"/><Relationship Id="rId7" Type="http://schemas.openxmlformats.org/officeDocument/2006/relationships/slide" Target="slide24.xml"/><Relationship Id="rId6" Type="http://schemas.openxmlformats.org/officeDocument/2006/relationships/slide" Target="slide20.xml"/><Relationship Id="rId5" Type="http://schemas.openxmlformats.org/officeDocument/2006/relationships/slide" Target="slide15.xml"/><Relationship Id="rId4" Type="http://schemas.openxmlformats.org/officeDocument/2006/relationships/slide" Target="slide13.xml"/><Relationship Id="rId3" Type="http://schemas.openxmlformats.org/officeDocument/2006/relationships/slide" Target="slide6.xml"/><Relationship Id="rId26" Type="http://schemas.openxmlformats.org/officeDocument/2006/relationships/slideLayout" Target="../slideLayouts/slideLayout3.xml"/><Relationship Id="rId25" Type="http://schemas.openxmlformats.org/officeDocument/2006/relationships/slide" Target="slide116.xml"/><Relationship Id="rId24" Type="http://schemas.openxmlformats.org/officeDocument/2006/relationships/slide" Target="slide112.xml"/><Relationship Id="rId23" Type="http://schemas.openxmlformats.org/officeDocument/2006/relationships/slide" Target="slide108.xml"/><Relationship Id="rId22" Type="http://schemas.openxmlformats.org/officeDocument/2006/relationships/slide" Target="slide91.xml"/><Relationship Id="rId21" Type="http://schemas.openxmlformats.org/officeDocument/2006/relationships/slide" Target="slide76.xml"/><Relationship Id="rId20" Type="http://schemas.openxmlformats.org/officeDocument/2006/relationships/slide" Target="slide59.xml"/><Relationship Id="rId2" Type="http://schemas.openxmlformats.org/officeDocument/2006/relationships/slide" Target="slide5.xml"/><Relationship Id="rId19" Type="http://schemas.openxmlformats.org/officeDocument/2006/relationships/slide" Target="slide54.xml"/><Relationship Id="rId18" Type="http://schemas.openxmlformats.org/officeDocument/2006/relationships/slide" Target="slide49.xml"/><Relationship Id="rId17" Type="http://schemas.openxmlformats.org/officeDocument/2006/relationships/slide" Target="slide46.xml"/><Relationship Id="rId16" Type="http://schemas.openxmlformats.org/officeDocument/2006/relationships/slide" Target="slide43.xml"/><Relationship Id="rId15" Type="http://schemas.openxmlformats.org/officeDocument/2006/relationships/slide" Target="slide41.xml"/><Relationship Id="rId14" Type="http://schemas.openxmlformats.org/officeDocument/2006/relationships/slide" Target="slide38.xml"/><Relationship Id="rId13" Type="http://schemas.openxmlformats.org/officeDocument/2006/relationships/slide" Target="slide32.xml"/><Relationship Id="rId12" Type="http://schemas.openxmlformats.org/officeDocument/2006/relationships/slide" Target="slide30.xml"/><Relationship Id="rId11" Type="http://schemas.openxmlformats.org/officeDocument/2006/relationships/slide" Target="slide29.xml"/><Relationship Id="rId10" Type="http://schemas.openxmlformats.org/officeDocument/2006/relationships/slide" Target="slide28.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hyperlink" Target="#_Toc12122 " TargetMode="External"/><Relationship Id="rId2" Type="http://schemas.openxmlformats.org/officeDocument/2006/relationships/image" Target="../media/image1.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hyperlink" Target="#_Toc12122 "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7.xml"/><Relationship Id="rId7" Type="http://schemas.openxmlformats.org/officeDocument/2006/relationships/image" Target="../media/image6.wmf"/><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0.wmf"/><Relationship Id="rId7" Type="http://schemas.openxmlformats.org/officeDocument/2006/relationships/oleObject" Target="../embeddings/oleObject8.bin"/><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12.wmf"/><Relationship Id="rId11" Type="http://schemas.openxmlformats.org/officeDocument/2006/relationships/oleObject" Target="../embeddings/oleObject10.bin"/><Relationship Id="rId10" Type="http://schemas.openxmlformats.org/officeDocument/2006/relationships/image" Target="../media/image11.wmf"/><Relationship Id="rId1"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6.wmf"/><Relationship Id="rId7" Type="http://schemas.openxmlformats.org/officeDocument/2006/relationships/oleObject" Target="../embeddings/oleObject14.bin"/><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 Id="rId3" Type="http://schemas.openxmlformats.org/officeDocument/2006/relationships/oleObject" Target="../embeddings/oleObject12.bin"/><Relationship Id="rId2" Type="http://schemas.openxmlformats.org/officeDocument/2006/relationships/image" Target="../media/image13.wmf"/><Relationship Id="rId10" Type="http://schemas.openxmlformats.org/officeDocument/2006/relationships/vmlDrawing" Target="../drawings/vmlDrawing4.vml"/><Relationship Id="rId1"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7.emf"/><Relationship Id="rId1"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20.wmf"/><Relationship Id="rId3" Type="http://schemas.openxmlformats.org/officeDocument/2006/relationships/oleObject" Target="../embeddings/oleObject18.bin"/><Relationship Id="rId2" Type="http://schemas.openxmlformats.org/officeDocument/2006/relationships/image" Target="../media/image19.emf"/><Relationship Id="rId1" Type="http://schemas.openxmlformats.org/officeDocument/2006/relationships/oleObject" Target="../embeddings/oleObject17.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22.wmf"/><Relationship Id="rId3" Type="http://schemas.openxmlformats.org/officeDocument/2006/relationships/oleObject" Target="../embeddings/oleObject20.bin"/><Relationship Id="rId2" Type="http://schemas.openxmlformats.org/officeDocument/2006/relationships/image" Target="../media/image21.wmf"/><Relationship Id="rId1" Type="http://schemas.openxmlformats.org/officeDocument/2006/relationships/oleObject" Target="../embeddings/oleObject1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25.bin"/><Relationship Id="rId7" Type="http://schemas.openxmlformats.org/officeDocument/2006/relationships/image" Target="../media/image25.wmf"/><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image" Target="../media/image24.wmf"/><Relationship Id="rId3" Type="http://schemas.openxmlformats.org/officeDocument/2006/relationships/oleObject" Target="../embeddings/oleObject22.bin"/><Relationship Id="rId2" Type="http://schemas.openxmlformats.org/officeDocument/2006/relationships/image" Target="../media/image23.wmf"/><Relationship Id="rId13" Type="http://schemas.openxmlformats.org/officeDocument/2006/relationships/vmlDrawing" Target="../drawings/vmlDrawing9.vml"/><Relationship Id="rId12" Type="http://schemas.openxmlformats.org/officeDocument/2006/relationships/slideLayout" Target="../slideLayouts/slideLayout7.xml"/><Relationship Id="rId11" Type="http://schemas.openxmlformats.org/officeDocument/2006/relationships/image" Target="../media/image27.wmf"/><Relationship Id="rId10" Type="http://schemas.openxmlformats.org/officeDocument/2006/relationships/oleObject" Target="../embeddings/oleObject26.bin"/><Relationship Id="rId1"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29.wmf"/><Relationship Id="rId3" Type="http://schemas.openxmlformats.org/officeDocument/2006/relationships/oleObject" Target="../embeddings/oleObject28.bin"/><Relationship Id="rId2" Type="http://schemas.openxmlformats.org/officeDocument/2006/relationships/image" Target="../media/image28.wmf"/><Relationship Id="rId1" Type="http://schemas.openxmlformats.org/officeDocument/2006/relationships/oleObject" Target="../embeddings/oleObject27.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3.emf"/><Relationship Id="rId7" Type="http://schemas.openxmlformats.org/officeDocument/2006/relationships/oleObject" Target="../embeddings/oleObject32.bin"/><Relationship Id="rId6" Type="http://schemas.openxmlformats.org/officeDocument/2006/relationships/image" Target="../media/image32.emf"/><Relationship Id="rId5" Type="http://schemas.openxmlformats.org/officeDocument/2006/relationships/oleObject" Target="../embeddings/oleObject31.bin"/><Relationship Id="rId4" Type="http://schemas.openxmlformats.org/officeDocument/2006/relationships/image" Target="../media/image31.wmf"/><Relationship Id="rId3" Type="http://schemas.openxmlformats.org/officeDocument/2006/relationships/oleObject" Target="../embeddings/oleObject30.bin"/><Relationship Id="rId2" Type="http://schemas.openxmlformats.org/officeDocument/2006/relationships/image" Target="../media/image30.wmf"/><Relationship Id="rId10" Type="http://schemas.openxmlformats.org/officeDocument/2006/relationships/vmlDrawing" Target="../drawings/vmlDrawing11.vml"/><Relationship Id="rId1" Type="http://schemas.openxmlformats.org/officeDocument/2006/relationships/oleObject" Target="../embeddings/oleObject29.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7.emf"/><Relationship Id="rId7" Type="http://schemas.openxmlformats.org/officeDocument/2006/relationships/oleObject" Target="../embeddings/oleObject36.bin"/><Relationship Id="rId6" Type="http://schemas.openxmlformats.org/officeDocument/2006/relationships/image" Target="../media/image36.wmf"/><Relationship Id="rId5" Type="http://schemas.openxmlformats.org/officeDocument/2006/relationships/oleObject" Target="../embeddings/oleObject35.bin"/><Relationship Id="rId4" Type="http://schemas.openxmlformats.org/officeDocument/2006/relationships/image" Target="../media/image35.wmf"/><Relationship Id="rId3" Type="http://schemas.openxmlformats.org/officeDocument/2006/relationships/oleObject" Target="../embeddings/oleObject34.bin"/><Relationship Id="rId2" Type="http://schemas.openxmlformats.org/officeDocument/2006/relationships/image" Target="../media/image34.wmf"/><Relationship Id="rId10" Type="http://schemas.openxmlformats.org/officeDocument/2006/relationships/vmlDrawing" Target="../drawings/vmlDrawing12.vml"/><Relationship Id="rId1" Type="http://schemas.openxmlformats.org/officeDocument/2006/relationships/oleObject" Target="../embeddings/oleObject3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tags" Target="../tags/tag3.xml"/><Relationship Id="rId5" Type="http://schemas.openxmlformats.org/officeDocument/2006/relationships/image" Target="../media/image40.emf"/><Relationship Id="rId4" Type="http://schemas.openxmlformats.org/officeDocument/2006/relationships/oleObject" Target="../embeddings/oleObject38.bin"/><Relationship Id="rId3" Type="http://schemas.openxmlformats.org/officeDocument/2006/relationships/image" Target="../media/image39.emf"/><Relationship Id="rId2" Type="http://schemas.openxmlformats.org/officeDocument/2006/relationships/image" Target="../media/image38.wmf"/><Relationship Id="rId1" Type="http://schemas.openxmlformats.org/officeDocument/2006/relationships/oleObject" Target="../embeddings/oleObject37.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2.wmf"/><Relationship Id="rId3" Type="http://schemas.openxmlformats.org/officeDocument/2006/relationships/oleObject" Target="../embeddings/oleObject40.bin"/><Relationship Id="rId2" Type="http://schemas.openxmlformats.org/officeDocument/2006/relationships/image" Target="../media/image41.emf"/><Relationship Id="rId1" Type="http://schemas.openxmlformats.org/officeDocument/2006/relationships/oleObject" Target="../embeddings/oleObject39.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46.wmf"/><Relationship Id="rId7" Type="http://schemas.openxmlformats.org/officeDocument/2006/relationships/oleObject" Target="../embeddings/oleObject44.bin"/><Relationship Id="rId6" Type="http://schemas.openxmlformats.org/officeDocument/2006/relationships/image" Target="../media/image45.wmf"/><Relationship Id="rId5" Type="http://schemas.openxmlformats.org/officeDocument/2006/relationships/oleObject" Target="../embeddings/oleObject43.bin"/><Relationship Id="rId4" Type="http://schemas.openxmlformats.org/officeDocument/2006/relationships/image" Target="../media/image44.wmf"/><Relationship Id="rId3" Type="http://schemas.openxmlformats.org/officeDocument/2006/relationships/oleObject" Target="../embeddings/oleObject42.bin"/><Relationship Id="rId26" Type="http://schemas.openxmlformats.org/officeDocument/2006/relationships/vmlDrawing" Target="../drawings/vmlDrawing15.vml"/><Relationship Id="rId25" Type="http://schemas.openxmlformats.org/officeDocument/2006/relationships/slideLayout" Target="../slideLayouts/slideLayout7.xml"/><Relationship Id="rId24" Type="http://schemas.openxmlformats.org/officeDocument/2006/relationships/image" Target="../media/image54.wmf"/><Relationship Id="rId23" Type="http://schemas.openxmlformats.org/officeDocument/2006/relationships/oleObject" Target="../embeddings/oleObject52.bin"/><Relationship Id="rId22" Type="http://schemas.openxmlformats.org/officeDocument/2006/relationships/image" Target="../media/image53.wmf"/><Relationship Id="rId21" Type="http://schemas.openxmlformats.org/officeDocument/2006/relationships/oleObject" Target="../embeddings/oleObject51.bin"/><Relationship Id="rId20" Type="http://schemas.openxmlformats.org/officeDocument/2006/relationships/image" Target="../media/image52.wmf"/><Relationship Id="rId2" Type="http://schemas.openxmlformats.org/officeDocument/2006/relationships/image" Target="../media/image43.wmf"/><Relationship Id="rId19" Type="http://schemas.openxmlformats.org/officeDocument/2006/relationships/oleObject" Target="../embeddings/oleObject50.bin"/><Relationship Id="rId18" Type="http://schemas.openxmlformats.org/officeDocument/2006/relationships/image" Target="../media/image51.wmf"/><Relationship Id="rId17" Type="http://schemas.openxmlformats.org/officeDocument/2006/relationships/oleObject" Target="../embeddings/oleObject49.bin"/><Relationship Id="rId16" Type="http://schemas.openxmlformats.org/officeDocument/2006/relationships/image" Target="../media/image50.wmf"/><Relationship Id="rId15" Type="http://schemas.openxmlformats.org/officeDocument/2006/relationships/oleObject" Target="../embeddings/oleObject48.bin"/><Relationship Id="rId14" Type="http://schemas.openxmlformats.org/officeDocument/2006/relationships/image" Target="../media/image49.wmf"/><Relationship Id="rId13" Type="http://schemas.openxmlformats.org/officeDocument/2006/relationships/oleObject" Target="../embeddings/oleObject47.bin"/><Relationship Id="rId12" Type="http://schemas.openxmlformats.org/officeDocument/2006/relationships/image" Target="../media/image48.wmf"/><Relationship Id="rId11" Type="http://schemas.openxmlformats.org/officeDocument/2006/relationships/oleObject" Target="../embeddings/oleObject46.bin"/><Relationship Id="rId10" Type="http://schemas.openxmlformats.org/officeDocument/2006/relationships/image" Target="../media/image47.wmf"/><Relationship Id="rId1" Type="http://schemas.openxmlformats.org/officeDocument/2006/relationships/oleObject" Target="../embeddings/oleObject41.bin"/></Relationships>
</file>

<file path=ppt/slides/_rels/slide40.xml.rels><?xml version="1.0" encoding="UTF-8" standalone="yes"?>
<Relationships xmlns="http://schemas.openxmlformats.org/package/2006/relationships"><Relationship Id="rId9" Type="http://schemas.openxmlformats.org/officeDocument/2006/relationships/image" Target="../media/image58.wmf"/><Relationship Id="rId8" Type="http://schemas.openxmlformats.org/officeDocument/2006/relationships/oleObject" Target="../embeddings/oleObject57.bin"/><Relationship Id="rId7" Type="http://schemas.openxmlformats.org/officeDocument/2006/relationships/image" Target="../media/image57.wmf"/><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image" Target="../media/image56.wmf"/><Relationship Id="rId3" Type="http://schemas.openxmlformats.org/officeDocument/2006/relationships/oleObject" Target="../embeddings/oleObject54.bin"/><Relationship Id="rId2" Type="http://schemas.openxmlformats.org/officeDocument/2006/relationships/image" Target="../media/image55.wmf"/><Relationship Id="rId13" Type="http://schemas.openxmlformats.org/officeDocument/2006/relationships/vmlDrawing" Target="../drawings/vmlDrawing16.vml"/><Relationship Id="rId12" Type="http://schemas.openxmlformats.org/officeDocument/2006/relationships/slideLayout" Target="../slideLayouts/slideLayout7.xml"/><Relationship Id="rId11" Type="http://schemas.openxmlformats.org/officeDocument/2006/relationships/image" Target="../media/image59.wmf"/><Relationship Id="rId10" Type="http://schemas.openxmlformats.org/officeDocument/2006/relationships/oleObject" Target="../embeddings/oleObject58.bin"/><Relationship Id="rId1" Type="http://schemas.openxmlformats.org/officeDocument/2006/relationships/oleObject" Target="../embeddings/oleObject53.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3.wmf"/><Relationship Id="rId7" Type="http://schemas.openxmlformats.org/officeDocument/2006/relationships/oleObject" Target="../embeddings/oleObject62.bin"/><Relationship Id="rId6" Type="http://schemas.openxmlformats.org/officeDocument/2006/relationships/image" Target="../media/image62.wmf"/><Relationship Id="rId5" Type="http://schemas.openxmlformats.org/officeDocument/2006/relationships/oleObject" Target="../embeddings/oleObject61.bin"/><Relationship Id="rId4" Type="http://schemas.openxmlformats.org/officeDocument/2006/relationships/image" Target="../media/image61.wmf"/><Relationship Id="rId3" Type="http://schemas.openxmlformats.org/officeDocument/2006/relationships/oleObject" Target="../embeddings/oleObject60.bin"/><Relationship Id="rId2" Type="http://schemas.openxmlformats.org/officeDocument/2006/relationships/image" Target="../media/image60.emf"/><Relationship Id="rId10" Type="http://schemas.openxmlformats.org/officeDocument/2006/relationships/vmlDrawing" Target="../drawings/vmlDrawing17.vml"/><Relationship Id="rId1" Type="http://schemas.openxmlformats.org/officeDocument/2006/relationships/oleObject" Target="../embeddings/oleObject59.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7.xml"/><Relationship Id="rId6" Type="http://schemas.openxmlformats.org/officeDocument/2006/relationships/image" Target="../media/image66.wmf"/><Relationship Id="rId5" Type="http://schemas.openxmlformats.org/officeDocument/2006/relationships/oleObject" Target="../embeddings/oleObject65.bin"/><Relationship Id="rId4" Type="http://schemas.openxmlformats.org/officeDocument/2006/relationships/image" Target="../media/image65.wmf"/><Relationship Id="rId3" Type="http://schemas.openxmlformats.org/officeDocument/2006/relationships/oleObject" Target="../embeddings/oleObject64.bin"/><Relationship Id="rId2" Type="http://schemas.openxmlformats.org/officeDocument/2006/relationships/image" Target="../media/image64.emf"/><Relationship Id="rId1" Type="http://schemas.openxmlformats.org/officeDocument/2006/relationships/oleObject" Target="../embeddings/oleObject63.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70.wmf"/><Relationship Id="rId7" Type="http://schemas.openxmlformats.org/officeDocument/2006/relationships/oleObject" Target="../embeddings/oleObject69.bin"/><Relationship Id="rId6" Type="http://schemas.openxmlformats.org/officeDocument/2006/relationships/image" Target="../media/image69.wmf"/><Relationship Id="rId5" Type="http://schemas.openxmlformats.org/officeDocument/2006/relationships/oleObject" Target="../embeddings/oleObject68.bin"/><Relationship Id="rId4" Type="http://schemas.openxmlformats.org/officeDocument/2006/relationships/image" Target="../media/image68.wmf"/><Relationship Id="rId3" Type="http://schemas.openxmlformats.org/officeDocument/2006/relationships/oleObject" Target="../embeddings/oleObject67.bin"/><Relationship Id="rId2" Type="http://schemas.openxmlformats.org/officeDocument/2006/relationships/image" Target="../media/image67.wmf"/><Relationship Id="rId14" Type="http://schemas.openxmlformats.org/officeDocument/2006/relationships/vmlDrawing" Target="../drawings/vmlDrawing19.vml"/><Relationship Id="rId13" Type="http://schemas.openxmlformats.org/officeDocument/2006/relationships/slideLayout" Target="../slideLayouts/slideLayout7.xml"/><Relationship Id="rId12" Type="http://schemas.openxmlformats.org/officeDocument/2006/relationships/image" Target="../media/image72.wmf"/><Relationship Id="rId11" Type="http://schemas.openxmlformats.org/officeDocument/2006/relationships/oleObject" Target="../embeddings/oleObject71.bin"/><Relationship Id="rId10" Type="http://schemas.openxmlformats.org/officeDocument/2006/relationships/image" Target="../media/image71.wmf"/><Relationship Id="rId1" Type="http://schemas.openxmlformats.org/officeDocument/2006/relationships/oleObject" Target="../embeddings/oleObject66.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7.xml"/><Relationship Id="rId4" Type="http://schemas.openxmlformats.org/officeDocument/2006/relationships/image" Target="../media/image74.wmf"/><Relationship Id="rId3" Type="http://schemas.openxmlformats.org/officeDocument/2006/relationships/oleObject" Target="../embeddings/oleObject73.bin"/><Relationship Id="rId2" Type="http://schemas.openxmlformats.org/officeDocument/2006/relationships/image" Target="../media/image73.wmf"/><Relationship Id="rId1" Type="http://schemas.openxmlformats.org/officeDocument/2006/relationships/oleObject" Target="../embeddings/oleObject72.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78.bin"/><Relationship Id="rId8" Type="http://schemas.openxmlformats.org/officeDocument/2006/relationships/image" Target="../media/image78.wmf"/><Relationship Id="rId7" Type="http://schemas.openxmlformats.org/officeDocument/2006/relationships/oleObject" Target="../embeddings/oleObject77.bin"/><Relationship Id="rId6" Type="http://schemas.openxmlformats.org/officeDocument/2006/relationships/image" Target="../media/image77.wmf"/><Relationship Id="rId5" Type="http://schemas.openxmlformats.org/officeDocument/2006/relationships/oleObject" Target="../embeddings/oleObject76.bin"/><Relationship Id="rId4" Type="http://schemas.openxmlformats.org/officeDocument/2006/relationships/image" Target="../media/image76.wmf"/><Relationship Id="rId3" Type="http://schemas.openxmlformats.org/officeDocument/2006/relationships/oleObject" Target="../embeddings/oleObject75.bin"/><Relationship Id="rId2" Type="http://schemas.openxmlformats.org/officeDocument/2006/relationships/image" Target="../media/image75.wmf"/><Relationship Id="rId13" Type="http://schemas.openxmlformats.org/officeDocument/2006/relationships/vmlDrawing" Target="../drawings/vmlDrawing21.vml"/><Relationship Id="rId12" Type="http://schemas.openxmlformats.org/officeDocument/2006/relationships/slideLayout" Target="../slideLayouts/slideLayout7.xml"/><Relationship Id="rId11" Type="http://schemas.openxmlformats.org/officeDocument/2006/relationships/image" Target="../media/image80.emf"/><Relationship Id="rId10" Type="http://schemas.openxmlformats.org/officeDocument/2006/relationships/image" Target="../media/image79.wmf"/><Relationship Id="rId1" Type="http://schemas.openxmlformats.org/officeDocument/2006/relationships/oleObject" Target="../embeddings/oleObject74.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81.emf"/><Relationship Id="rId1" Type="http://schemas.openxmlformats.org/officeDocument/2006/relationships/oleObject" Target="../embeddings/oleObject79.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85.emf"/><Relationship Id="rId5" Type="http://schemas.openxmlformats.org/officeDocument/2006/relationships/oleObject" Target="../embeddings/oleObject82.bin"/><Relationship Id="rId4" Type="http://schemas.openxmlformats.org/officeDocument/2006/relationships/image" Target="../media/image84.emf"/><Relationship Id="rId3" Type="http://schemas.openxmlformats.org/officeDocument/2006/relationships/oleObject" Target="../embeddings/oleObject81.bin"/><Relationship Id="rId2" Type="http://schemas.openxmlformats.org/officeDocument/2006/relationships/image" Target="../media/image83.emf"/><Relationship Id="rId1" Type="http://schemas.openxmlformats.org/officeDocument/2006/relationships/oleObject" Target="../embeddings/oleObject80.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86.emf"/><Relationship Id="rId1" Type="http://schemas.openxmlformats.org/officeDocument/2006/relationships/oleObject" Target="../embeddings/oleObject83.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87.emf"/><Relationship Id="rId1" Type="http://schemas.openxmlformats.org/officeDocument/2006/relationships/oleObject" Target="../embeddings/oleObject84.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emf"/></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4.e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7.xml"/><Relationship Id="rId2" Type="http://schemas.openxmlformats.org/officeDocument/2006/relationships/image" Target="../media/image96.emf"/><Relationship Id="rId1" Type="http://schemas.openxmlformats.org/officeDocument/2006/relationships/oleObject" Target="../embeddings/oleObject85.bin"/></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emf"/></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99.emf"/><Relationship Id="rId1" Type="http://schemas.openxmlformats.org/officeDocument/2006/relationships/oleObject" Target="../embeddings/oleObject86.bin"/></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11.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100.emf"/><Relationship Id="rId1" Type="http://schemas.openxmlformats.org/officeDocument/2006/relationships/oleObject" Target="../embeddings/oleObject87.bin"/></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1.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047750" y="1078230"/>
            <a:ext cx="10704195" cy="1428750"/>
          </a:xfrm>
        </p:spPr>
        <p:txBody>
          <a:bodyPr>
            <a:noAutofit/>
          </a:bodyPr>
          <a:p>
            <a:r>
              <a:rPr lang="zh-CN" altLang="en-US" sz="6600" b="1">
                <a:solidFill>
                  <a:srgbClr val="0000FF"/>
                </a:solidFill>
                <a:latin typeface="等线" panose="02010600030101010101" charset="-122"/>
                <a:ea typeface="等线" panose="02010600030101010101" charset="-122"/>
              </a:rPr>
              <a:t>无线传感器网络（</a:t>
            </a:r>
            <a:r>
              <a:rPr lang="zh-CN" altLang="en-US" b="1">
                <a:solidFill>
                  <a:srgbClr val="0000FF"/>
                </a:solidFill>
                <a:latin typeface="等线" panose="02010600030101010101" charset="-122"/>
                <a:ea typeface="等线" panose="02010600030101010101" charset="-122"/>
              </a:rPr>
              <a:t>微课视频版）</a:t>
            </a:r>
            <a:endParaRPr lang="zh-CN" altLang="en-US" b="1">
              <a:solidFill>
                <a:srgbClr val="0000FF"/>
              </a:solidFill>
              <a:latin typeface="等线" panose="02010600030101010101" charset="-122"/>
              <a:ea typeface="等线" panose="02010600030101010101" charset="-122"/>
            </a:endParaRPr>
          </a:p>
        </p:txBody>
      </p:sp>
      <p:sp>
        <p:nvSpPr>
          <p:cNvPr id="3" name="副标题 2"/>
          <p:cNvSpPr>
            <a:spLocks noGrp="1"/>
          </p:cNvSpPr>
          <p:nvPr>
            <p:ph type="subTitle" idx="1"/>
          </p:nvPr>
        </p:nvSpPr>
        <p:spPr>
          <a:xfrm>
            <a:off x="2994025" y="3651885"/>
            <a:ext cx="6203315" cy="701675"/>
          </a:xfrm>
        </p:spPr>
        <p:txBody>
          <a:bodyPr/>
          <a:p>
            <a:r>
              <a:rPr lang="zh-CN" altLang="en-US" sz="3200" b="1">
                <a:solidFill>
                  <a:schemeClr val="accent2">
                    <a:lumMod val="75000"/>
                  </a:schemeClr>
                </a:solidFill>
                <a:latin typeface="黑体" panose="02010609060101010101" charset="-122"/>
                <a:ea typeface="黑体" panose="02010609060101010101" charset="-122"/>
              </a:rPr>
              <a:t>清华大学出版社</a:t>
            </a:r>
            <a:endParaRPr lang="zh-CN" altLang="en-US" sz="3200" b="1">
              <a:solidFill>
                <a:schemeClr val="accent2">
                  <a:lumMod val="75000"/>
                </a:schemeClr>
              </a:solidFill>
              <a:latin typeface="黑体" panose="02010609060101010101" charset="-122"/>
              <a:ea typeface="黑体" panose="02010609060101010101" charset="-122"/>
            </a:endParaRPr>
          </a:p>
        </p:txBody>
      </p:sp>
      <p:sp>
        <p:nvSpPr>
          <p:cNvPr id="4" name="文本框 3"/>
          <p:cNvSpPr txBox="1"/>
          <p:nvPr/>
        </p:nvSpPr>
        <p:spPr>
          <a:xfrm>
            <a:off x="3161030" y="2756535"/>
            <a:ext cx="7414260" cy="645160"/>
          </a:xfrm>
          <a:prstGeom prst="rect">
            <a:avLst/>
          </a:prstGeom>
          <a:noFill/>
        </p:spPr>
        <p:txBody>
          <a:bodyPr wrap="square" rtlCol="0">
            <a:spAutoFit/>
          </a:bodyPr>
          <a:p>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乔建华</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田启川</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谢维成</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rPr>
              <a:t>主编</a:t>
            </a:r>
            <a:endPar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57395" y="1505585"/>
            <a:ext cx="3077210" cy="1297305"/>
          </a:xfrm>
        </p:spPr>
        <p:txBody>
          <a:bodyPr/>
          <a:lstStyle/>
          <a:p>
            <a:pPr algn="ctr"/>
            <a:r>
              <a:rPr lang="zh-CN" altLang="en-US" sz="5400" b="1">
                <a:solidFill>
                  <a:srgbClr val="0000FF"/>
                </a:solidFill>
              </a:rPr>
              <a:t>第</a:t>
            </a:r>
            <a:r>
              <a:rPr lang="en-US" altLang="zh-CN" sz="5400" b="1">
                <a:solidFill>
                  <a:srgbClr val="0000FF"/>
                </a:solidFill>
              </a:rPr>
              <a:t>3</a:t>
            </a:r>
            <a:r>
              <a:rPr lang="zh-CN" altLang="en-US" sz="5400" b="1">
                <a:solidFill>
                  <a:srgbClr val="0000FF"/>
                </a:solidFill>
              </a:rPr>
              <a:t>章</a:t>
            </a:r>
            <a:endParaRPr lang="zh-CN" altLang="en-US" sz="5400" b="1">
              <a:solidFill>
                <a:srgbClr val="0000FF"/>
              </a:solidFill>
            </a:endParaRPr>
          </a:p>
        </p:txBody>
      </p:sp>
      <p:sp>
        <p:nvSpPr>
          <p:cNvPr id="4" name="文本框 3"/>
          <p:cNvSpPr txBox="1"/>
          <p:nvPr/>
        </p:nvSpPr>
        <p:spPr>
          <a:xfrm>
            <a:off x="1998345" y="3081655"/>
            <a:ext cx="8195310" cy="1106805"/>
          </a:xfrm>
          <a:prstGeom prst="rect">
            <a:avLst/>
          </a:prstGeom>
          <a:noFill/>
        </p:spPr>
        <p:txBody>
          <a:bodyPr wrap="square" rtlCol="0">
            <a:spAutoFit/>
          </a:bodyPr>
          <a:lstStyle/>
          <a:p>
            <a:pPr algn="ctr"/>
            <a:r>
              <a:rPr lang="zh-CN" altLang="en-US" sz="6600" b="1">
                <a:solidFill>
                  <a:srgbClr val="0000FF"/>
                </a:solidFill>
                <a:latin typeface="黑体" panose="02010609060101010101" charset="-122"/>
                <a:ea typeface="黑体" panose="02010609060101010101" charset="-122"/>
              </a:rPr>
              <a:t>物理层技术</a:t>
            </a:r>
            <a:endParaRPr lang="zh-CN" altLang="en-US" sz="6600" b="1">
              <a:solidFill>
                <a:srgbClr val="0000FF"/>
              </a:solidFill>
              <a:latin typeface="黑体" panose="02010609060101010101" charset="-122"/>
              <a:ea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355645" y="1343547"/>
            <a:ext cx="3844215" cy="4832092"/>
          </a:xfrm>
          <a:prstGeom prst="rect">
            <a:avLst/>
          </a:prstGeom>
          <a:noFill/>
          <a:ln w="9525">
            <a:noFill/>
          </a:ln>
        </p:spPr>
        <p:txBody>
          <a:bodyPr wrap="square">
            <a:spAutoFit/>
          </a:bodyPr>
          <a:lstStyle/>
          <a:p>
            <a:pPr indent="0"/>
            <a:r>
              <a:rPr lang="en-US" sz="2200" b="1" dirty="0">
                <a:solidFill>
                  <a:schemeClr val="tx1"/>
                </a:solidFill>
                <a:uFillTx/>
                <a:latin typeface="Times New Roman" panose="02020603050405020304" charset="0"/>
                <a:ea typeface="宋体" panose="02010600030101010101" pitchFamily="2" charset="-122"/>
                <a:hlinkClick r:id="rId2" action="ppaction://hlinksldjump"/>
              </a:rPr>
              <a:t>3.1  </a:t>
            </a:r>
            <a:r>
              <a:rPr lang="zh-CN" sz="2200" b="1" dirty="0">
                <a:solidFill>
                  <a:schemeClr val="tx1"/>
                </a:solidFill>
                <a:uFillTx/>
                <a:ea typeface="宋体" panose="02010600030101010101" pitchFamily="2" charset="-122"/>
                <a:hlinkClick r:id="rId2" action="ppaction://hlinksldjump"/>
              </a:rPr>
              <a:t>物理层概述</a:t>
            </a:r>
            <a:r>
              <a:rPr lang="en-US" sz="2200" b="1" dirty="0">
                <a:solidFill>
                  <a:schemeClr val="tx1"/>
                </a:solidFill>
                <a:uFillTx/>
                <a:latin typeface="Times New Roman" panose="02020603050405020304" charset="0"/>
                <a:ea typeface="宋体" panose="02010600030101010101" pitchFamily="2" charset="-122"/>
              </a:rPr>
              <a:t>	</a:t>
            </a:r>
            <a:endParaRPr lang="en-US" sz="2200" b="1" dirty="0">
              <a:solidFill>
                <a:schemeClr val="tx1"/>
              </a:solidFill>
              <a:uFillTx/>
              <a:latin typeface="Times New Roman" panose="02020603050405020304" charset="0"/>
              <a:ea typeface="宋体" panose="02010600030101010101" pitchFamily="2" charset="-122"/>
            </a:endParaRPr>
          </a:p>
          <a:p>
            <a:pPr indent="0"/>
            <a:r>
              <a:rPr lang="en-US" sz="2200" b="1" dirty="0">
                <a:solidFill>
                  <a:schemeClr val="tx1"/>
                </a:solidFill>
                <a:uFillTx/>
                <a:latin typeface="Times New Roman" panose="02020603050405020304" charset="0"/>
                <a:ea typeface="宋体" panose="02010600030101010101" pitchFamily="2" charset="-122"/>
              </a:rPr>
              <a:t>   </a:t>
            </a:r>
            <a:r>
              <a:rPr lang="en-US" sz="2200" b="1" dirty="0">
                <a:solidFill>
                  <a:schemeClr val="tx1"/>
                </a:solidFill>
                <a:uFillTx/>
                <a:latin typeface="Times New Roman" panose="02020603050405020304" charset="0"/>
                <a:ea typeface="宋体" panose="02010600030101010101" pitchFamily="2" charset="-122"/>
                <a:hlinkClick r:id="rId3" action="ppaction://hlinksldjump"/>
              </a:rPr>
              <a:t>3.1.1  </a:t>
            </a:r>
            <a:r>
              <a:rPr lang="zh-CN" sz="2200" b="1" dirty="0">
                <a:solidFill>
                  <a:schemeClr val="tx1"/>
                </a:solidFill>
                <a:uFillTx/>
                <a:ea typeface="宋体" panose="02010600030101010101" pitchFamily="2" charset="-122"/>
                <a:hlinkClick r:id="rId3" action="ppaction://hlinksldjump"/>
              </a:rPr>
              <a:t>物理层特性</a:t>
            </a:r>
            <a:r>
              <a:rPr lang="en-US" sz="2200" b="1" dirty="0">
                <a:solidFill>
                  <a:schemeClr val="tx1"/>
                </a:solidFill>
                <a:uFillTx/>
                <a:latin typeface="Times New Roman" panose="02020603050405020304" charset="0"/>
                <a:ea typeface="宋体" panose="02010600030101010101" pitchFamily="2" charset="-122"/>
              </a:rPr>
              <a:t>	</a:t>
            </a:r>
            <a:endParaRPr lang="en-US" sz="2200" b="1" dirty="0">
              <a:solidFill>
                <a:schemeClr val="tx1"/>
              </a:solidFill>
              <a:uFillTx/>
              <a:latin typeface="Times New Roman" panose="02020603050405020304" charset="0"/>
              <a:ea typeface="宋体" panose="02010600030101010101" pitchFamily="2" charset="-122"/>
            </a:endParaRPr>
          </a:p>
          <a:p>
            <a:pPr indent="0"/>
            <a:r>
              <a:rPr lang="en-US" sz="2200" b="1" dirty="0">
                <a:solidFill>
                  <a:schemeClr val="tx1"/>
                </a:solidFill>
                <a:uFillTx/>
                <a:latin typeface="Times New Roman" panose="02020603050405020304" charset="0"/>
                <a:ea typeface="宋体" panose="02010600030101010101" pitchFamily="2" charset="-122"/>
              </a:rPr>
              <a:t>   </a:t>
            </a:r>
            <a:r>
              <a:rPr lang="en-US" sz="2200" b="1" dirty="0">
                <a:solidFill>
                  <a:schemeClr val="tx1"/>
                </a:solidFill>
                <a:uFillTx/>
                <a:latin typeface="Times New Roman" panose="02020603050405020304" charset="0"/>
                <a:ea typeface="宋体" panose="02010600030101010101" pitchFamily="2" charset="-122"/>
                <a:hlinkClick r:id="rId4" action="ppaction://hlinksldjump"/>
              </a:rPr>
              <a:t>3.1.2  </a:t>
            </a:r>
            <a:r>
              <a:rPr lang="zh-CN" sz="2200" b="1" dirty="0">
                <a:solidFill>
                  <a:schemeClr val="tx1"/>
                </a:solidFill>
                <a:uFillTx/>
                <a:ea typeface="宋体" panose="02010600030101010101" pitchFamily="2" charset="-122"/>
                <a:hlinkClick r:id="rId4" action="ppaction://hlinksldjump"/>
              </a:rPr>
              <a:t>物理层设计要求</a:t>
            </a:r>
            <a:r>
              <a:rPr lang="en-US" sz="2200" b="1" dirty="0">
                <a:solidFill>
                  <a:schemeClr val="tx1"/>
                </a:solidFill>
                <a:uFillTx/>
                <a:latin typeface="Times New Roman" panose="02020603050405020304" charset="0"/>
                <a:ea typeface="宋体" panose="02010600030101010101" pitchFamily="2" charset="-122"/>
              </a:rPr>
              <a:t>	</a:t>
            </a:r>
            <a:endParaRPr lang="en-US" sz="2200" b="1" dirty="0">
              <a:solidFill>
                <a:schemeClr val="tx1"/>
              </a:solidFill>
              <a:uFillTx/>
              <a:latin typeface="Times New Roman" panose="02020603050405020304" charset="0"/>
              <a:ea typeface="宋体" panose="02010600030101010101" pitchFamily="2" charset="-122"/>
            </a:endParaRPr>
          </a:p>
          <a:p>
            <a:pPr indent="0"/>
            <a:r>
              <a:rPr lang="en-US" sz="2200" b="1" dirty="0">
                <a:solidFill>
                  <a:schemeClr val="tx1"/>
                </a:solidFill>
                <a:uFillTx/>
                <a:latin typeface="Times New Roman" panose="02020603050405020304" charset="0"/>
                <a:ea typeface="宋体" panose="02010600030101010101" pitchFamily="2" charset="-122"/>
                <a:hlinkClick r:id="rId5" action="ppaction://hlinksldjump"/>
              </a:rPr>
              <a:t>3.2</a:t>
            </a:r>
            <a:r>
              <a:rPr lang="en-US" sz="2200" b="1" dirty="0">
                <a:latin typeface="Times New Roman" panose="02020603050405020304" charset="0"/>
                <a:ea typeface="宋体" panose="02010600030101010101" pitchFamily="2" charset="-122"/>
                <a:hlinkClick r:id="rId5" action="ppaction://hlinksldjump"/>
              </a:rPr>
              <a:t>  </a:t>
            </a:r>
            <a:r>
              <a:rPr lang="zh-CN" sz="2200" b="1" dirty="0">
                <a:solidFill>
                  <a:schemeClr val="tx1"/>
                </a:solidFill>
                <a:uFillTx/>
                <a:ea typeface="宋体" panose="02010600030101010101" pitchFamily="2" charset="-122"/>
                <a:hlinkClick r:id="rId5" action="ppaction://hlinksldjump"/>
              </a:rPr>
              <a:t>无线电波与无线信道</a:t>
            </a:r>
            <a:endParaRPr lang="zh-CN" sz="2200" b="1" dirty="0">
              <a:solidFill>
                <a:schemeClr val="tx1"/>
              </a:solidFill>
              <a:uFillTx/>
              <a:ea typeface="宋体" panose="02010600030101010101" pitchFamily="2" charset="-122"/>
            </a:endParaRPr>
          </a:p>
          <a:p>
            <a:pPr indent="0"/>
            <a:r>
              <a:rPr lang="en-US" sz="2200" b="1" dirty="0">
                <a:uFillTx/>
                <a:latin typeface="Times New Roman" panose="02020603050405020304" charset="0"/>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5" action="ppaction://hlinksldjump"/>
              </a:rPr>
              <a:t>3.2.1  </a:t>
            </a:r>
            <a:r>
              <a:rPr lang="zh-CN" sz="2200" b="1" dirty="0">
                <a:uFillTx/>
                <a:ea typeface="宋体" panose="02010600030101010101" pitchFamily="2" charset="-122"/>
                <a:sym typeface="+mn-ea"/>
                <a:hlinkClick r:id="rId5" action="ppaction://hlinksldjump"/>
              </a:rPr>
              <a:t>无线电波的传播特性</a:t>
            </a:r>
            <a:r>
              <a:rPr lang="en-US" sz="2200" b="1" dirty="0">
                <a:uFillTx/>
                <a:latin typeface="Times New Roman" panose="02020603050405020304" charset="0"/>
                <a:ea typeface="宋体" panose="02010600030101010101" pitchFamily="2" charset="-122"/>
                <a:sym typeface="+mn-ea"/>
              </a:rPr>
              <a:t>	</a:t>
            </a:r>
            <a:endParaRPr lang="en-US" sz="2200" b="1" dirty="0">
              <a:uFillTx/>
              <a:latin typeface="Times New Roman" panose="02020603050405020304" charset="0"/>
              <a:ea typeface="宋体" panose="02010600030101010101" pitchFamily="2" charset="-122"/>
              <a:sym typeface="+mn-ea"/>
            </a:endParaRPr>
          </a:p>
          <a:p>
            <a:pPr indent="0"/>
            <a:r>
              <a:rPr lang="en-US" sz="2200" b="1" dirty="0">
                <a:uFillTx/>
                <a:latin typeface="Times New Roman" panose="02020603050405020304" charset="0"/>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6" action="ppaction://hlinksldjump"/>
              </a:rPr>
              <a:t>3.2.2  </a:t>
            </a:r>
            <a:r>
              <a:rPr lang="zh-CN" sz="2200" b="1" dirty="0">
                <a:uFillTx/>
                <a:ea typeface="宋体" panose="02010600030101010101" pitchFamily="2" charset="-122"/>
                <a:sym typeface="+mn-ea"/>
                <a:hlinkClick r:id="rId6" action="ppaction://hlinksldjump"/>
              </a:rPr>
              <a:t>无线信道的传播模型</a:t>
            </a:r>
            <a:endParaRPr lang="zh-CN" sz="2200" b="1" dirty="0">
              <a:uFillTx/>
              <a:ea typeface="宋体" panose="02010600030101010101" pitchFamily="2" charset="-122"/>
              <a:sym typeface="+mn-ea"/>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6" action="ppaction://hlinksldjump"/>
              </a:rPr>
              <a:t>3.2.2.1  </a:t>
            </a:r>
            <a:r>
              <a:rPr lang="en-US" sz="2200" b="1" dirty="0" err="1">
                <a:uFillTx/>
                <a:latin typeface="Times New Roman" panose="02020603050405020304" charset="0"/>
                <a:ea typeface="宋体" panose="02010600030101010101" pitchFamily="2" charset="-122"/>
                <a:sym typeface="+mn-ea"/>
                <a:hlinkClick r:id="rId6" action="ppaction://hlinksldjump"/>
              </a:rPr>
              <a:t>自由空间信道</a:t>
            </a:r>
            <a:endParaRPr lang="en-US" sz="2200" b="1" dirty="0">
              <a:uFillTx/>
              <a:latin typeface="Times New Roman" panose="02020603050405020304" charset="0"/>
              <a:ea typeface="宋体" panose="02010600030101010101" pitchFamily="2" charset="-122"/>
              <a:sym typeface="+mn-ea"/>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7" action="ppaction://hlinksldjump"/>
              </a:rPr>
              <a:t>3.2.2.2  </a:t>
            </a:r>
            <a:r>
              <a:rPr lang="en-US" sz="2200" b="1" dirty="0" err="1">
                <a:uFillTx/>
                <a:latin typeface="Times New Roman" panose="02020603050405020304" charset="0"/>
                <a:ea typeface="宋体" panose="02010600030101010101" pitchFamily="2" charset="-122"/>
                <a:sym typeface="+mn-ea"/>
                <a:hlinkClick r:id="rId7" action="ppaction://hlinksldjump"/>
              </a:rPr>
              <a:t>多径信道</a:t>
            </a:r>
            <a:endParaRPr lang="en-US" sz="2200" b="1" dirty="0">
              <a:uFillTx/>
              <a:latin typeface="Times New Roman" panose="02020603050405020304" charset="0"/>
              <a:ea typeface="宋体" panose="02010600030101010101" pitchFamily="2" charset="-122"/>
              <a:sym typeface="+mn-ea"/>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8" action="ppaction://hlinksldjump"/>
              </a:rPr>
              <a:t>3.2.2.3  </a:t>
            </a:r>
            <a:r>
              <a:rPr lang="en-US" sz="2200" b="1" dirty="0" err="1">
                <a:uFillTx/>
                <a:latin typeface="Times New Roman" panose="02020603050405020304" charset="0"/>
                <a:ea typeface="宋体" panose="02010600030101010101" pitchFamily="2" charset="-122"/>
                <a:sym typeface="+mn-ea"/>
                <a:hlinkClick r:id="rId8" action="ppaction://hlinksldjump"/>
              </a:rPr>
              <a:t>加性噪声信道</a:t>
            </a:r>
            <a:endParaRPr lang="en-US" sz="2200" b="1" dirty="0">
              <a:uFillTx/>
              <a:latin typeface="Times New Roman" panose="02020603050405020304" charset="0"/>
              <a:ea typeface="宋体" panose="02010600030101010101" pitchFamily="2" charset="-122"/>
              <a:sym typeface="+mn-ea"/>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9" action="ppaction://hlinksldjump"/>
              </a:rPr>
              <a:t>3.2.2.4  </a:t>
            </a:r>
            <a:r>
              <a:rPr lang="en-US" sz="2200" b="1" dirty="0" err="1">
                <a:uFillTx/>
                <a:latin typeface="Times New Roman" panose="02020603050405020304" charset="0"/>
                <a:ea typeface="宋体" panose="02010600030101010101" pitchFamily="2" charset="-122"/>
                <a:sym typeface="+mn-ea"/>
                <a:hlinkClick r:id="rId9" action="ppaction://hlinksldjump"/>
              </a:rPr>
              <a:t>实际环境信道</a:t>
            </a:r>
            <a:endParaRPr lang="en-US" sz="2200" b="1" dirty="0">
              <a:uFillTx/>
              <a:latin typeface="Times New Roman" panose="02020603050405020304" charset="0"/>
              <a:ea typeface="宋体" panose="02010600030101010101" pitchFamily="2" charset="-122"/>
              <a:sym typeface="+mn-ea"/>
            </a:endParaRPr>
          </a:p>
          <a:p>
            <a:pPr indent="0"/>
            <a:r>
              <a:rPr lang="en-US" sz="2200" b="1" dirty="0">
                <a:solidFill>
                  <a:schemeClr val="tx1"/>
                </a:solidFill>
                <a:uFillTx/>
                <a:latin typeface="Times New Roman" panose="02020603050405020304" charset="0"/>
                <a:ea typeface="宋体" panose="02010600030101010101" pitchFamily="2" charset="-122"/>
                <a:hlinkClick r:id="rId10" action="ppaction://hlinksldjump"/>
              </a:rPr>
              <a:t>3.3</a:t>
            </a:r>
            <a:r>
              <a:rPr lang="en-US" sz="2200" b="1" dirty="0">
                <a:latin typeface="Times New Roman" panose="02020603050405020304" charset="0"/>
                <a:ea typeface="宋体" panose="02010600030101010101" pitchFamily="2" charset="-122"/>
                <a:hlinkClick r:id="rId10" action="ppaction://hlinksldjump"/>
              </a:rPr>
              <a:t>  </a:t>
            </a:r>
            <a:r>
              <a:rPr lang="zh-CN" sz="2200" b="1" dirty="0">
                <a:solidFill>
                  <a:schemeClr val="tx1"/>
                </a:solidFill>
                <a:uFillTx/>
                <a:ea typeface="宋体" panose="02010600030101010101" pitchFamily="2" charset="-122"/>
                <a:hlinkClick r:id="rId10" action="ppaction://hlinksldjump"/>
              </a:rPr>
              <a:t>物理层主要技术</a:t>
            </a:r>
            <a:r>
              <a:rPr lang="en-US" sz="2200" b="1" dirty="0">
                <a:solidFill>
                  <a:schemeClr val="tx1"/>
                </a:solidFill>
                <a:uFillTx/>
                <a:latin typeface="Times New Roman" panose="02020603050405020304" charset="0"/>
                <a:ea typeface="宋体" panose="02010600030101010101" pitchFamily="2" charset="-122"/>
              </a:rPr>
              <a:t>	</a:t>
            </a:r>
            <a:endParaRPr lang="en-US" sz="2200" b="1" dirty="0">
              <a:solidFill>
                <a:schemeClr val="tx1"/>
              </a:solidFill>
              <a:uFillTx/>
              <a:latin typeface="Times New Roman" panose="02020603050405020304" charset="0"/>
              <a:ea typeface="宋体" panose="02010600030101010101" pitchFamily="2" charset="-122"/>
            </a:endParaRPr>
          </a:p>
          <a:p>
            <a:pPr indent="0"/>
            <a:r>
              <a:rPr lang="en-US" sz="2200" b="1" dirty="0">
                <a:solidFill>
                  <a:schemeClr val="tx1"/>
                </a:solidFill>
                <a:uFillTx/>
                <a:latin typeface="Times New Roman" panose="02020603050405020304" charset="0"/>
                <a:ea typeface="宋体" panose="02010600030101010101" pitchFamily="2" charset="-122"/>
              </a:rPr>
              <a:t>   </a:t>
            </a:r>
            <a:r>
              <a:rPr lang="en-US" sz="2200" b="1" dirty="0">
                <a:solidFill>
                  <a:schemeClr val="tx1"/>
                </a:solidFill>
                <a:uFillTx/>
                <a:latin typeface="Times New Roman" panose="02020603050405020304" charset="0"/>
                <a:ea typeface="宋体" panose="02010600030101010101" pitchFamily="2" charset="-122"/>
                <a:hlinkClick r:id="rId11" action="ppaction://hlinksldjump"/>
              </a:rPr>
              <a:t>3.3.1  </a:t>
            </a:r>
            <a:r>
              <a:rPr lang="zh-CN" sz="2200" b="1" dirty="0">
                <a:solidFill>
                  <a:schemeClr val="tx1"/>
                </a:solidFill>
                <a:uFillTx/>
                <a:ea typeface="宋体" panose="02010600030101010101" pitchFamily="2" charset="-122"/>
                <a:hlinkClick r:id="rId11" action="ppaction://hlinksldjump"/>
              </a:rPr>
              <a:t>信号调制与解调</a:t>
            </a:r>
            <a:endParaRPr lang="zh-CN" sz="2200" b="1" dirty="0">
              <a:solidFill>
                <a:schemeClr val="tx1"/>
              </a:solidFill>
              <a:uFillTx/>
              <a:ea typeface="宋体" panose="02010600030101010101" pitchFamily="2" charset="-122"/>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12" action="ppaction://hlinksldjump"/>
              </a:rPr>
              <a:t>3.3.1.1  </a:t>
            </a:r>
            <a:r>
              <a:rPr lang="en-US" sz="2200" b="1" dirty="0" err="1">
                <a:uFillTx/>
                <a:latin typeface="Times New Roman" panose="02020603050405020304" charset="0"/>
                <a:ea typeface="宋体" panose="02010600030101010101" pitchFamily="2" charset="-122"/>
                <a:sym typeface="+mn-ea"/>
                <a:hlinkClick r:id="rId12" action="ppaction://hlinksldjump"/>
              </a:rPr>
              <a:t>模拟调制</a:t>
            </a:r>
            <a:endParaRPr lang="en-US" sz="2200" b="1" dirty="0">
              <a:uFillTx/>
              <a:latin typeface="Times New Roman" panose="02020603050405020304" charset="0"/>
              <a:ea typeface="宋体" panose="02010600030101010101" pitchFamily="2" charset="-122"/>
              <a:sym typeface="+mn-ea"/>
            </a:endParaRPr>
          </a:p>
          <a:p>
            <a:pPr indent="0"/>
            <a:r>
              <a:rPr 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sz="2200" b="1" dirty="0">
                <a:uFillTx/>
                <a:latin typeface="Times New Roman" panose="02020603050405020304" charset="0"/>
                <a:ea typeface="宋体" panose="02010600030101010101" pitchFamily="2" charset="-122"/>
                <a:sym typeface="+mn-ea"/>
                <a:hlinkClick r:id="rId13" action="ppaction://hlinksldjump"/>
              </a:rPr>
              <a:t>3.3.1.2  </a:t>
            </a:r>
            <a:r>
              <a:rPr lang="en-US" sz="2200" b="1" dirty="0" err="1">
                <a:uFillTx/>
                <a:latin typeface="Times New Roman" panose="02020603050405020304" charset="0"/>
                <a:ea typeface="宋体" panose="02010600030101010101" pitchFamily="2" charset="-122"/>
                <a:sym typeface="+mn-ea"/>
                <a:hlinkClick r:id="rId13" action="ppaction://hlinksldjump"/>
              </a:rPr>
              <a:t>数字调制</a:t>
            </a:r>
            <a:r>
              <a:rPr lang="en-US" sz="2200" b="1" dirty="0">
                <a:solidFill>
                  <a:schemeClr val="tx1"/>
                </a:solidFill>
                <a:uFillTx/>
                <a:latin typeface="Times New Roman" panose="02020603050405020304" charset="0"/>
                <a:ea typeface="宋体" panose="02010600030101010101" pitchFamily="2" charset="-122"/>
              </a:rPr>
              <a:t>	</a:t>
            </a:r>
            <a:endParaRPr lang="en-US" sz="2200" b="1" dirty="0">
              <a:solidFill>
                <a:schemeClr val="tx1"/>
              </a:solidFill>
              <a:uFillTx/>
              <a:latin typeface="Times New Roman" panose="02020603050405020304" charset="0"/>
              <a:ea typeface="宋体" panose="02010600030101010101" pitchFamily="2" charset="-122"/>
            </a:endParaRPr>
          </a:p>
        </p:txBody>
      </p:sp>
      <p:sp>
        <p:nvSpPr>
          <p:cNvPr id="7" name="文本框 6"/>
          <p:cNvSpPr txBox="1"/>
          <p:nvPr/>
        </p:nvSpPr>
        <p:spPr>
          <a:xfrm>
            <a:off x="4199860" y="1682101"/>
            <a:ext cx="4147141" cy="4493538"/>
          </a:xfrm>
          <a:prstGeom prst="rect">
            <a:avLst/>
          </a:prstGeom>
          <a:noFill/>
        </p:spPr>
        <p:txBody>
          <a:bodyPr wrap="square">
            <a:spAutoFit/>
          </a:bodyPr>
          <a:lstStyle/>
          <a:p>
            <a:pPr indent="0"/>
            <a:r>
              <a:rPr lang="en-US" altLang="zh-CN" sz="2200" b="1" dirty="0">
                <a:solidFill>
                  <a:schemeClr val="tx1"/>
                </a:solidFill>
                <a:uFillTx/>
                <a:latin typeface="Times New Roman" panose="02020603050405020304" charset="0"/>
                <a:ea typeface="宋体" panose="02010600030101010101" pitchFamily="2" charset="-122"/>
              </a:rPr>
              <a:t>   </a:t>
            </a:r>
            <a:r>
              <a:rPr lang="en-US" altLang="zh-CN" sz="2200" b="1" dirty="0">
                <a:solidFill>
                  <a:schemeClr val="tx1"/>
                </a:solidFill>
                <a:uFillTx/>
                <a:latin typeface="Times New Roman" panose="02020603050405020304" charset="0"/>
                <a:ea typeface="宋体" panose="02010600030101010101" pitchFamily="2" charset="-122"/>
                <a:hlinkClick r:id="rId14" action="ppaction://hlinksldjump"/>
              </a:rPr>
              <a:t>3.3.2  </a:t>
            </a:r>
            <a:r>
              <a:rPr lang="zh-CN" altLang="zh-CN" sz="2200" b="1" dirty="0">
                <a:solidFill>
                  <a:schemeClr val="tx1"/>
                </a:solidFill>
                <a:uFillTx/>
                <a:ea typeface="宋体" panose="02010600030101010101" pitchFamily="2" charset="-122"/>
                <a:hlinkClick r:id="rId14" action="ppaction://hlinksldjump"/>
              </a:rPr>
              <a:t>信道编码</a:t>
            </a:r>
            <a:endParaRPr lang="zh-CN" altLang="zh-CN" sz="2200" b="1" dirty="0">
              <a:solidFill>
                <a:schemeClr val="tx1"/>
              </a:solidFill>
              <a:uFillTx/>
              <a:ea typeface="宋体" panose="02010600030101010101" pitchFamily="2" charset="-122"/>
            </a:endParaRPr>
          </a:p>
          <a:p>
            <a:pPr indent="0"/>
            <a:r>
              <a:rPr lang="zh-CN" alt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hlinkClick r:id="rId15" action="ppaction://hlinksldjump"/>
              </a:rPr>
              <a:t> </a:t>
            </a:r>
            <a:r>
              <a:rPr lang="en-US" altLang="zh-CN" sz="2200" b="1" dirty="0">
                <a:uFillTx/>
                <a:latin typeface="Times New Roman" panose="02020603050405020304" charset="0"/>
                <a:ea typeface="宋体" panose="02010600030101010101" pitchFamily="2" charset="-122"/>
                <a:sym typeface="+mn-ea"/>
                <a:hlinkClick r:id="rId15" action="ppaction://hlinksldjump"/>
              </a:rPr>
              <a:t>3.3.2.1  </a:t>
            </a:r>
            <a:r>
              <a:rPr lang="en-US" altLang="zh-CN" sz="2200" b="1" dirty="0" err="1">
                <a:uFillTx/>
                <a:latin typeface="Times New Roman" panose="02020603050405020304" charset="0"/>
                <a:ea typeface="宋体" panose="02010600030101010101" pitchFamily="2" charset="-122"/>
                <a:sym typeface="+mn-ea"/>
                <a:hlinkClick r:id="rId15" action="ppaction://hlinksldjump"/>
              </a:rPr>
              <a:t>信道类型</a:t>
            </a:r>
            <a:endParaRPr lang="en-US" altLang="zh-CN" sz="2200" b="1" dirty="0">
              <a:uFillTx/>
              <a:latin typeface="Times New Roman" panose="02020603050405020304" charset="0"/>
              <a:ea typeface="宋体" panose="02010600030101010101" pitchFamily="2" charset="-122"/>
              <a:sym typeface="+mn-ea"/>
            </a:endParaRPr>
          </a:p>
          <a:p>
            <a:pPr indent="0"/>
            <a:r>
              <a:rPr lang="zh-CN" altLang="zh-CN" sz="2200" b="1" dirty="0">
                <a:uFillTx/>
                <a:ea typeface="宋体" panose="02010600030101010101" pitchFamily="2" charset="-122"/>
                <a:sym typeface="+mn-ea"/>
              </a:rPr>
              <a:t> </a:t>
            </a:r>
            <a:r>
              <a:rPr lang="en-US" altLang="zh-CN" sz="2200" b="1" dirty="0">
                <a:uFillTx/>
                <a:ea typeface="宋体" panose="02010600030101010101" pitchFamily="2" charset="-122"/>
                <a:sym typeface="+mn-ea"/>
              </a:rPr>
              <a:t>     </a:t>
            </a:r>
            <a:r>
              <a:rPr lang="en-US" altLang="zh-CN" sz="2200" b="1" dirty="0">
                <a:uFillTx/>
                <a:latin typeface="Times New Roman" panose="02020603050405020304" charset="0"/>
                <a:ea typeface="宋体" panose="02010600030101010101" pitchFamily="2" charset="-122"/>
                <a:sym typeface="+mn-ea"/>
                <a:hlinkClick r:id="rId16" action="ppaction://hlinksldjump"/>
              </a:rPr>
              <a:t>3.3.2.2  </a:t>
            </a:r>
            <a:r>
              <a:rPr lang="en-US" altLang="zh-CN" sz="2200" b="1" dirty="0" err="1">
                <a:uFillTx/>
                <a:latin typeface="Times New Roman" panose="02020603050405020304" charset="0"/>
                <a:ea typeface="宋体" panose="02010600030101010101" pitchFamily="2" charset="-122"/>
                <a:sym typeface="+mn-ea"/>
                <a:hlinkClick r:id="rId16" action="ppaction://hlinksldjump"/>
              </a:rPr>
              <a:t>信道内的信息传输</a:t>
            </a:r>
            <a:r>
              <a:rPr lang="en-US" altLang="zh-CN" sz="2200" b="1" dirty="0">
                <a:solidFill>
                  <a:schemeClr val="tx1"/>
                </a:solidFill>
                <a:uFillTx/>
                <a:latin typeface="Times New Roman" panose="02020603050405020304" charset="0"/>
                <a:ea typeface="宋体" panose="02010600030101010101" pitchFamily="2" charset="-122"/>
              </a:rPr>
              <a:t>	</a:t>
            </a:r>
            <a:endParaRPr lang="en-US" altLang="zh-CN" sz="2200" b="1" dirty="0">
              <a:solidFill>
                <a:schemeClr val="tx1"/>
              </a:solidFill>
              <a:uFillTx/>
              <a:latin typeface="Times New Roman" panose="02020603050405020304" charset="0"/>
              <a:ea typeface="宋体" panose="02010600030101010101" pitchFamily="2" charset="-122"/>
            </a:endParaRPr>
          </a:p>
          <a:p>
            <a:pPr indent="0"/>
            <a:r>
              <a:rPr lang="en-US" altLang="zh-CN" sz="2200" b="1" dirty="0">
                <a:solidFill>
                  <a:schemeClr val="tx1"/>
                </a:solidFill>
                <a:uFillTx/>
                <a:latin typeface="Times New Roman" panose="02020603050405020304" charset="0"/>
                <a:ea typeface="宋体" panose="02010600030101010101" pitchFamily="2" charset="-122"/>
              </a:rPr>
              <a:t>   </a:t>
            </a:r>
            <a:r>
              <a:rPr lang="en-US" altLang="zh-CN" sz="2200" b="1" dirty="0">
                <a:solidFill>
                  <a:schemeClr val="tx1"/>
                </a:solidFill>
                <a:uFillTx/>
                <a:latin typeface="Times New Roman" panose="02020603050405020304" charset="0"/>
                <a:ea typeface="宋体" panose="02010600030101010101" pitchFamily="2" charset="-122"/>
                <a:hlinkClick r:id="rId17" action="ppaction://hlinksldjump"/>
              </a:rPr>
              <a:t>3.3.3  </a:t>
            </a:r>
            <a:r>
              <a:rPr lang="en-US" altLang="zh-CN" sz="2200" b="1" dirty="0" err="1">
                <a:solidFill>
                  <a:schemeClr val="tx1"/>
                </a:solidFill>
                <a:uFillTx/>
                <a:latin typeface="Times New Roman" panose="02020603050405020304" charset="0"/>
                <a:ea typeface="宋体" panose="02010600030101010101" pitchFamily="2" charset="-122"/>
                <a:hlinkClick r:id="rId17" action="ppaction://hlinksldjump"/>
              </a:rPr>
              <a:t>扩频通信</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hlinkClick r:id="rId18" action="ppaction://hlinksldjump"/>
              </a:rPr>
              <a:t>3.4  </a:t>
            </a:r>
            <a:r>
              <a:rPr lang="zh-CN" altLang="zh-CN" sz="2200" b="1" dirty="0">
                <a:latin typeface="Times New Roman" panose="02020603050405020304" charset="0"/>
                <a:ea typeface="宋体" panose="02010600030101010101" pitchFamily="2" charset="-122"/>
                <a:hlinkClick r:id="rId18" action="ppaction://hlinksldjump"/>
              </a:rPr>
              <a:t>天线</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hlinkClick r:id="rId19" action="ppaction://hlinksldjump"/>
              </a:rPr>
              <a:t>3.5  </a:t>
            </a:r>
            <a:r>
              <a:rPr lang="zh-CN" altLang="en-US" sz="2200" b="1" dirty="0">
                <a:latin typeface="Times New Roman" panose="02020603050405020304" charset="0"/>
                <a:ea typeface="宋体" panose="02010600030101010101" pitchFamily="2" charset="-122"/>
                <a:hlinkClick r:id="rId19" action="ppaction://hlinksldjump"/>
              </a:rPr>
              <a:t>短距离无线通信技术</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19" action="ppaction://hlinksldjump"/>
              </a:rPr>
              <a:t>3.5.1  </a:t>
            </a:r>
            <a:r>
              <a:rPr lang="zh-CN" altLang="en-US" sz="2200" b="1" dirty="0">
                <a:latin typeface="Times New Roman" panose="02020603050405020304" charset="0"/>
                <a:ea typeface="宋体" panose="02010600030101010101" pitchFamily="2" charset="-122"/>
                <a:hlinkClick r:id="rId19" action="ppaction://hlinksldjump"/>
              </a:rPr>
              <a:t>超宽带技术</a:t>
            </a:r>
            <a:r>
              <a:rPr lang="zh-CN" altLang="en-US" sz="2200" b="1" dirty="0">
                <a:latin typeface="Times New Roman" panose="02020603050405020304" charset="0"/>
                <a:ea typeface="宋体" panose="02010600030101010101" pitchFamily="2" charset="-122"/>
              </a:rPr>
              <a:t>	</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20" action="ppaction://hlinksldjump"/>
              </a:rPr>
              <a:t>3.5.2  	ZigBee</a:t>
            </a:r>
            <a:r>
              <a:rPr lang="zh-CN" altLang="en-US" sz="2200" b="1" dirty="0">
                <a:latin typeface="Times New Roman" panose="02020603050405020304" charset="0"/>
                <a:ea typeface="宋体" panose="02010600030101010101" pitchFamily="2" charset="-122"/>
                <a:hlinkClick r:id="rId20" action="ppaction://hlinksldjump"/>
              </a:rPr>
              <a:t>技术</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21" action="ppaction://hlinksldjump"/>
              </a:rPr>
              <a:t>3.5.3  Bluetooth</a:t>
            </a:r>
            <a:r>
              <a:rPr lang="zh-CN" altLang="en-US" sz="2200" b="1" dirty="0">
                <a:latin typeface="Times New Roman" panose="02020603050405020304" charset="0"/>
                <a:ea typeface="宋体" panose="02010600030101010101" pitchFamily="2" charset="-122"/>
                <a:hlinkClick r:id="rId21" action="ppaction://hlinksldjump"/>
              </a:rPr>
              <a:t>技术</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22" action="ppaction://hlinksldjump"/>
              </a:rPr>
              <a:t>3.5.4  Wi-Fi</a:t>
            </a:r>
            <a:r>
              <a:rPr lang="zh-CN" altLang="en-US" sz="2200" b="1" dirty="0">
                <a:latin typeface="Times New Roman" panose="02020603050405020304" charset="0"/>
                <a:ea typeface="宋体" panose="02010600030101010101" pitchFamily="2" charset="-122"/>
                <a:hlinkClick r:id="rId22" action="ppaction://hlinksldjump"/>
              </a:rPr>
              <a:t>技术</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23" action="ppaction://hlinksldjump"/>
              </a:rPr>
              <a:t>3.5.5  </a:t>
            </a:r>
            <a:r>
              <a:rPr lang="zh-CN" altLang="en-US" sz="2200" b="1" dirty="0">
                <a:latin typeface="Times New Roman" panose="02020603050405020304" charset="0"/>
                <a:ea typeface="宋体" panose="02010600030101010101" pitchFamily="2" charset="-122"/>
                <a:hlinkClick r:id="rId23" action="ppaction://hlinksldjump"/>
              </a:rPr>
              <a:t>红外通信技术</a:t>
            </a:r>
            <a:endParaRPr lang="zh-CN" altLang="en-US" sz="2200" b="1" dirty="0">
              <a:latin typeface="Times New Roman" panose="02020603050405020304" charset="0"/>
              <a:ea typeface="宋体" panose="02010600030101010101" pitchFamily="2" charset="-122"/>
            </a:endParaRPr>
          </a:p>
          <a:p>
            <a:pPr indent="0"/>
            <a:r>
              <a:rPr lang="zh-CN" altLang="en-US"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24" action="ppaction://hlinksldjump"/>
              </a:rPr>
              <a:t>3.5.6  LORA</a:t>
            </a:r>
            <a:r>
              <a:rPr lang="zh-CN" altLang="en-US" sz="2200" b="1" dirty="0">
                <a:latin typeface="Times New Roman" panose="02020603050405020304" charset="0"/>
                <a:ea typeface="宋体" panose="02010600030101010101" pitchFamily="2" charset="-122"/>
                <a:hlinkClick r:id="rId24" action="ppaction://hlinksldjump"/>
              </a:rPr>
              <a:t>技术</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zh-CN" altLang="zh-CN" sz="2200" b="1" dirty="0">
                <a:latin typeface="Times New Roman" panose="02020603050405020304" charset="0"/>
                <a:ea typeface="宋体" panose="02010600030101010101" pitchFamily="2" charset="-122"/>
                <a:hlinkClick r:id="rId25" action="ppaction://hlinksldjump"/>
              </a:rPr>
              <a:t>习题</a:t>
            </a:r>
            <a:r>
              <a:rPr lang="en-US" altLang="zh-CN" sz="2200" b="1" dirty="0">
                <a:latin typeface="Times New Roman" panose="02020603050405020304" charset="0"/>
                <a:ea typeface="宋体" panose="02010600030101010101" pitchFamily="2" charset="-122"/>
                <a:hlinkClick r:id="rId25" action="ppaction://hlinksldjump"/>
              </a:rPr>
              <a:t>3</a:t>
            </a:r>
            <a:r>
              <a:rPr lang="en-US" altLang="zh-CN" sz="1800" b="1" dirty="0">
                <a:solidFill>
                  <a:srgbClr val="0000FF"/>
                </a:solidFill>
                <a:latin typeface="Times New Roman" panose="02020603050405020304" charset="0"/>
                <a:ea typeface="宋体" panose="02010600030101010101" pitchFamily="2" charset="-122"/>
              </a:rPr>
              <a:t>	</a:t>
            </a:r>
            <a:endParaRPr lang="zh-CN" altLang="en-US" sz="1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73250"/>
            <a:ext cx="10516235" cy="4023360"/>
          </a:xfrm>
        </p:spPr>
        <p:txBody>
          <a:bodyPr>
            <a:normAutofit lnSpcReduction="10000"/>
          </a:bodyPr>
          <a:lstStyle/>
          <a:p>
            <a:pPr marL="0" indent="0">
              <a:lnSpc>
                <a:spcPct val="100000"/>
              </a:lnSpc>
              <a:buNone/>
            </a:pPr>
            <a:r>
              <a:rPr lang="en-US" altLang="zh-CN" b="1" dirty="0"/>
              <a:t>    </a:t>
            </a:r>
            <a:r>
              <a:rPr lang="zh-CN" altLang="en-US" b="1" dirty="0">
                <a:latin typeface="Times New Roman" panose="02020603050405020304" charset="0"/>
                <a:ea typeface="宋体" panose="02010600030101010101" pitchFamily="2" charset="-122"/>
                <a:cs typeface="Times New Roman" panose="02020603050405020304" charset="0"/>
              </a:rPr>
              <a:t>国际标准化组织（ISO）对开放系统互连（OSI）参考模型中的物理层作了以下定义：物理层是在物理传输介质之间为比特流传输所需物理连接而建立、维护和释放数据链路实体之间的数据传输的物理连接提供机械的、电气的、功能的和规程的特性。在无线传感器网络中，物理层是数据传输的最底层，向下直接与传输介质相连，物理层协议是各种网络设备进行互联时必须遵循的底层协议。本章主要介绍无线传感器网络物理层相关的无线通信基础理论及当前典型的短距离无线通信技术，涉及无线通信系统的基本概念、无线电波与无线信道、信号的调制解调、信道编码、扩频通信等问题。</a:t>
            </a:r>
            <a:endParaRPr lang="zh-CN" altLang="en-US" b="1" dirty="0">
              <a:latin typeface="Times New Roman" panose="02020603050405020304" charset="0"/>
              <a:ea typeface="宋体" panose="02010600030101010101" pitchFamily="2" charset="-122"/>
              <a:cs typeface="Times New Roman" panose="02020603050405020304" charset="0"/>
            </a:endParaRPr>
          </a:p>
        </p:txBody>
      </p:sp>
      <p:sp>
        <p:nvSpPr>
          <p:cNvPr id="4" name="标题 1"/>
          <p:cNvSpPr>
            <a:spLocks noGrp="1"/>
          </p:cNvSpPr>
          <p:nvPr/>
        </p:nvSpPr>
        <p:spPr>
          <a:xfrm>
            <a:off x="3242310" y="304165"/>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zh-CN" altLang="en-US" b="1">
                <a:uFillTx/>
                <a:latin typeface="Times New Roman" panose="02020603050405020304" charset="0"/>
                <a:ea typeface="宋体" panose="02010600030101010101" pitchFamily="2" charset="-122"/>
                <a:sym typeface="+mn-ea"/>
                <a:hlinkClick r:id="rId1"/>
              </a:rPr>
              <a:t>第</a:t>
            </a:r>
            <a:r>
              <a:rPr lang="en-US" b="1">
                <a:uFillTx/>
                <a:latin typeface="Times New Roman" panose="02020603050405020304" charset="0"/>
                <a:ea typeface="宋体" panose="02010600030101010101" pitchFamily="2" charset="-122"/>
                <a:sym typeface="+mn-ea"/>
                <a:hlinkClick r:id="rId1"/>
              </a:rPr>
              <a:t>3</a:t>
            </a:r>
            <a:r>
              <a:rPr lang="zh-CN" altLang="en-US" b="1">
                <a:uFillTx/>
                <a:latin typeface="Times New Roman" panose="02020603050405020304" charset="0"/>
                <a:ea typeface="宋体" panose="02010600030101010101" pitchFamily="2" charset="-122"/>
                <a:sym typeface="+mn-ea"/>
                <a:hlinkClick r:id="rId1"/>
              </a:rPr>
              <a:t>章</a:t>
            </a:r>
            <a:r>
              <a:rPr lang="en-US" b="1">
                <a:uFillTx/>
                <a:latin typeface="Times New Roman" panose="02020603050405020304" charset="0"/>
                <a:ea typeface="宋体" panose="02010600030101010101" pitchFamily="2" charset="-122"/>
                <a:sym typeface="+mn-ea"/>
                <a:hlinkClick r:id="rId1"/>
              </a:rPr>
              <a:t>  </a:t>
            </a:r>
            <a:r>
              <a:rPr lang="zh-CN" altLang="en-US" b="1">
                <a:uFillTx/>
                <a:latin typeface="Times New Roman" panose="02020603050405020304" charset="0"/>
                <a:ea typeface="宋体" panose="02010600030101010101" pitchFamily="2" charset="-122"/>
                <a:sym typeface="+mn-ea"/>
                <a:hlinkClick r:id="rId1"/>
              </a:rPr>
              <a:t>物理层技术</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81990" y="1536700"/>
            <a:ext cx="10345420" cy="3784600"/>
          </a:xfrm>
          <a:prstGeom prst="rect">
            <a:avLst/>
          </a:prstGeom>
          <a:noFill/>
        </p:spPr>
        <p:txBody>
          <a:bodyPr wrap="square" rtlCol="0" anchor="t">
            <a:spAutoFit/>
          </a:bodyPr>
          <a:lstStyle/>
          <a:p>
            <a:pPr indent="0" algn="l" fontAlgn="auto">
              <a:lnSpc>
                <a:spcPct val="100000"/>
              </a:lnSpc>
              <a:spcBef>
                <a:spcPts val="0"/>
              </a:spcBef>
              <a:buClrTx/>
              <a:buSzTx/>
              <a:buFont typeface="Arial" panose="020B0604020202020204" pitchFamily="34" charset="0"/>
            </a:pP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zh-CN" altLang="en-US" sz="2400" b="1" dirty="0">
                <a:uFillTx/>
                <a:latin typeface="Times New Roman" panose="02020603050405020304" charset="0"/>
                <a:ea typeface="宋体" panose="02010600030101010101" pitchFamily="2" charset="-122"/>
                <a:cs typeface="Times New Roman" panose="02020603050405020304" charset="0"/>
              </a:rPr>
              <a:t>物理层是无线传感器网络（WSN）数据传输的最底层，主要负责传输介质、频段的选择，数据的调制和解调及数据的发送和接收，物理层的设计是决定WSN节点体积、成本、能耗以及WSN协议性能的关键因素。无线电传输是目前无线传感器网络采用的主流传输方式，在频段选择方面，ISM 频段属于非授权频段，没有特定的标准，使用方便灵活，因而备受青睐。与无线电传输相比，红外线、光波传输的调制、解调机制和接收机电路简单，且传输功耗小，不过它们难以穿透非透明物体，只能在特定场景的WSN系统中使用。如声波和超声波等其他频段的通信，主要应用在水下等特殊环境中。事实上，根据应用环境的不同，无线传感器网络可同时采用多种方式作为通信手段。</a:t>
            </a:r>
            <a:endParaRPr lang="zh-CN" altLang="en-US" sz="2400" b="1" dirty="0">
              <a:uFillTx/>
              <a:latin typeface="Times New Roman" panose="02020603050405020304" charset="0"/>
              <a:ea typeface="宋体" panose="02010600030101010101" pitchFamily="2" charset="-122"/>
              <a:cs typeface="Times New Roman" panose="02020603050405020304" charset="0"/>
            </a:endParaRPr>
          </a:p>
        </p:txBody>
      </p:sp>
      <p:sp>
        <p:nvSpPr>
          <p:cNvPr id="5" name="标题 1"/>
          <p:cNvSpPr>
            <a:spLocks noGrp="1"/>
          </p:cNvSpPr>
          <p:nvPr/>
        </p:nvSpPr>
        <p:spPr>
          <a:xfrm>
            <a:off x="59658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  物理层</a:t>
            </a:r>
            <a:r>
              <a:rPr lang="zh-CN" altLang="en-US" b="1">
                <a:uFillTx/>
                <a:latin typeface="Times New Roman" panose="02020603050405020304" charset="0"/>
                <a:ea typeface="宋体" panose="02010600030101010101" pitchFamily="2" charset="-122"/>
                <a:sym typeface="+mn-ea"/>
                <a:hlinkClick r:id="rId1"/>
              </a:rPr>
              <a:t>概述</a:t>
            </a:r>
            <a:endParaRPr b="1">
              <a:uFillTx/>
              <a:ea typeface="宋体" panose="02010600030101010101" pitchFamily="2"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86765" y="1531620"/>
            <a:ext cx="10909300" cy="2461260"/>
          </a:xfrm>
          <a:prstGeom prst="rect">
            <a:avLst/>
          </a:prstGeom>
          <a:noFill/>
          <a:ln w="9525">
            <a:noFill/>
          </a:ln>
        </p:spPr>
        <p:txBody>
          <a:bodyPr wrap="square">
            <a:spAutoFit/>
          </a:bodyPr>
          <a:lstStyle/>
          <a:p>
            <a:pPr indent="720090" fontAlgn="auto"/>
            <a:r>
              <a:rPr lang="zh-CN" altLang="en-US" sz="2200" b="1" dirty="0">
                <a:ea typeface="宋体" panose="02010600030101010101" pitchFamily="2" charset="-122"/>
                <a:sym typeface="+mn-ea"/>
              </a:rPr>
              <a:t>物理层是TCP/IP网络模型的而第一层（最底层），是整个通信系统的基础，正如高速公路和街道是汽车通行的基础一样。物理层为设备之间的数据通信提供传输介质及互联设备，为数据传输提供可靠的环境。    </a:t>
            </a:r>
            <a:endParaRPr lang="zh-CN" altLang="en-US" sz="2200" b="1" dirty="0">
              <a:ea typeface="宋体" panose="02010600030101010101" pitchFamily="2" charset="-122"/>
              <a:sym typeface="+mn-ea"/>
            </a:endParaRPr>
          </a:p>
          <a:p>
            <a:pPr indent="720090" fontAlgn="auto"/>
            <a:r>
              <a:rPr lang="zh-CN" altLang="en-US" sz="2200" b="1" dirty="0">
                <a:ea typeface="宋体" panose="02010600030101010101" pitchFamily="2" charset="-122"/>
                <a:sym typeface="+mn-ea"/>
              </a:rPr>
              <a:t>物理层的首要功能是为数据端设备提供传送数据的通路，其次是传输数据。要完成这两个功能，物理层规定了如何建立、维护和拆除物理链路。</a:t>
            </a:r>
            <a:endParaRPr lang="zh-CN" altLang="en-US" sz="2200" b="1" dirty="0">
              <a:ea typeface="宋体" panose="02010600030101010101" pitchFamily="2" charset="-122"/>
              <a:sym typeface="+mn-ea"/>
            </a:endParaRPr>
          </a:p>
          <a:p>
            <a:pPr indent="720090" fontAlgn="auto"/>
            <a:r>
              <a:rPr lang="zh-CN" altLang="en-US" sz="2200" b="1" dirty="0">
                <a:ea typeface="宋体" panose="02010600030101010101" pitchFamily="2" charset="-122"/>
                <a:sym typeface="+mn-ea"/>
              </a:rPr>
              <a:t>在图3-1-1所示的计算机网络模型中，物理层规定了信号如何发送、如何接收、什么样的信号代表什么含义，应该使用什么样的传输介质和什么样的接口等。</a:t>
            </a:r>
            <a:endParaRPr lang="zh-CN" altLang="en-US" sz="2200" b="1" dirty="0">
              <a:ea typeface="宋体" panose="02010600030101010101" pitchFamily="2" charset="-122"/>
              <a:sym typeface="+mn-ea"/>
            </a:endParaRPr>
          </a:p>
        </p:txBody>
      </p:sp>
      <p:grpSp>
        <p:nvGrpSpPr>
          <p:cNvPr id="119" name="画布 119"/>
          <p:cNvGrpSpPr/>
          <p:nvPr/>
        </p:nvGrpSpPr>
        <p:grpSpPr>
          <a:xfrm>
            <a:off x="3185795" y="3674110"/>
            <a:ext cx="5820410" cy="2548255"/>
            <a:chOff x="0" y="0"/>
            <a:chExt cx="5262245" cy="2193290"/>
          </a:xfrm>
        </p:grpSpPr>
        <p:sp>
          <p:nvSpPr>
            <p:cNvPr id="3" name="画布 119"/>
            <p:cNvSpPr/>
            <p:nvPr/>
          </p:nvSpPr>
          <p:spPr>
            <a:xfrm>
              <a:off x="0" y="0"/>
              <a:ext cx="5262245" cy="2193290"/>
            </a:xfrm>
          </p:spPr>
        </p:sp>
        <p:sp>
          <p:nvSpPr>
            <p:cNvPr id="120" name="矩形 110"/>
            <p:cNvSpPr/>
            <p:nvPr/>
          </p:nvSpPr>
          <p:spPr>
            <a:xfrm>
              <a:off x="3276600" y="939381"/>
              <a:ext cx="857250" cy="336550"/>
            </a:xfrm>
            <a:prstGeom prst="rect">
              <a:avLst/>
            </a:prstGeom>
          </p:spPr>
          <p:style>
            <a:lnRef idx="2">
              <a:schemeClr val="dk1"/>
            </a:lnRef>
            <a:fillRef idx="1">
              <a:schemeClr val="lt1"/>
            </a:fillRef>
            <a:effectRef idx="0">
              <a:schemeClr val="dk1"/>
            </a:effectRef>
            <a:fontRef idx="minor">
              <a:schemeClr val="dk1"/>
            </a:fontRef>
          </p:style>
        </p:sp>
        <p:sp>
          <p:nvSpPr>
            <p:cNvPr id="121" name="矩形 111"/>
            <p:cNvSpPr/>
            <p:nvPr/>
          </p:nvSpPr>
          <p:spPr>
            <a:xfrm>
              <a:off x="1255395" y="933031"/>
              <a:ext cx="857250" cy="336550"/>
            </a:xfrm>
            <a:prstGeom prst="rect">
              <a:avLst/>
            </a:prstGeom>
          </p:spPr>
          <p:style>
            <a:lnRef idx="2">
              <a:schemeClr val="dk1"/>
            </a:lnRef>
            <a:fillRef idx="1">
              <a:schemeClr val="lt1"/>
            </a:fillRef>
            <a:effectRef idx="0">
              <a:schemeClr val="dk1"/>
            </a:effectRef>
            <a:fontRef idx="minor">
              <a:schemeClr val="dk1"/>
            </a:fontRef>
          </p:style>
        </p:sp>
        <p:sp>
          <p:nvSpPr>
            <p:cNvPr id="122" name="矩形 112"/>
            <p:cNvSpPr/>
            <p:nvPr/>
          </p:nvSpPr>
          <p:spPr>
            <a:xfrm>
              <a:off x="4678045" y="945096"/>
              <a:ext cx="590550" cy="336550"/>
            </a:xfrm>
            <a:prstGeom prst="rect">
              <a:avLst/>
            </a:prstGeom>
          </p:spPr>
          <p:style>
            <a:lnRef idx="2">
              <a:schemeClr val="dk1"/>
            </a:lnRef>
            <a:fillRef idx="1">
              <a:schemeClr val="lt1"/>
            </a:fillRef>
            <a:effectRef idx="0">
              <a:schemeClr val="dk1"/>
            </a:effectRef>
            <a:fontRef idx="minor">
              <a:schemeClr val="dk1"/>
            </a:fontRef>
          </p:style>
        </p:sp>
        <p:sp>
          <p:nvSpPr>
            <p:cNvPr id="123" name="矩形 113"/>
            <p:cNvSpPr/>
            <p:nvPr/>
          </p:nvSpPr>
          <p:spPr>
            <a:xfrm>
              <a:off x="0" y="943826"/>
              <a:ext cx="590550" cy="336550"/>
            </a:xfrm>
            <a:prstGeom prst="rect">
              <a:avLst/>
            </a:prstGeom>
          </p:spPr>
          <p:style>
            <a:lnRef idx="2">
              <a:schemeClr val="dk1"/>
            </a:lnRef>
            <a:fillRef idx="1">
              <a:schemeClr val="lt1"/>
            </a:fillRef>
            <a:effectRef idx="0">
              <a:schemeClr val="dk1"/>
            </a:effectRef>
            <a:fontRef idx="minor">
              <a:schemeClr val="dk1"/>
            </a:fontRef>
          </p:style>
        </p:sp>
        <p:cxnSp>
          <p:nvCxnSpPr>
            <p:cNvPr id="124" name="直接连接符 114"/>
            <p:cNvCxnSpPr/>
            <p:nvPr/>
          </p:nvCxnSpPr>
          <p:spPr>
            <a:xfrm flipV="1">
              <a:off x="590550" y="1101306"/>
              <a:ext cx="664845" cy="10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15"/>
            <p:cNvCxnSpPr/>
            <p:nvPr/>
          </p:nvCxnSpPr>
          <p:spPr>
            <a:xfrm>
              <a:off x="4133850" y="1107656"/>
              <a:ext cx="544195" cy="57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文本框 124"/>
            <p:cNvSpPr txBox="1"/>
            <p:nvPr/>
          </p:nvSpPr>
          <p:spPr>
            <a:xfrm>
              <a:off x="92710" y="967321"/>
              <a:ext cx="39560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PC</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31" name="文本框 125"/>
            <p:cNvSpPr txBox="1"/>
            <p:nvPr/>
          </p:nvSpPr>
          <p:spPr>
            <a:xfrm>
              <a:off x="4795520" y="965416"/>
              <a:ext cx="39560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PC</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74" name="文本框 126"/>
            <p:cNvSpPr txBox="1"/>
            <p:nvPr/>
          </p:nvSpPr>
          <p:spPr>
            <a:xfrm>
              <a:off x="1301115" y="980656"/>
              <a:ext cx="73215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网络设备</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79" name="文本框 127"/>
            <p:cNvSpPr txBox="1"/>
            <p:nvPr/>
          </p:nvSpPr>
          <p:spPr>
            <a:xfrm>
              <a:off x="3334385" y="988276"/>
              <a:ext cx="73215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网络设备</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83" name="矩形 128"/>
            <p:cNvSpPr/>
            <p:nvPr/>
          </p:nvSpPr>
          <p:spPr>
            <a:xfrm>
              <a:off x="588010" y="1033996"/>
              <a:ext cx="76200" cy="158750"/>
            </a:xfrm>
            <a:prstGeom prst="rect">
              <a:avLst/>
            </a:prstGeom>
          </p:spPr>
          <p:style>
            <a:lnRef idx="2">
              <a:schemeClr val="dk1"/>
            </a:lnRef>
            <a:fillRef idx="1">
              <a:schemeClr val="lt1"/>
            </a:fillRef>
            <a:effectRef idx="0">
              <a:schemeClr val="dk1"/>
            </a:effectRef>
            <a:fontRef idx="minor">
              <a:schemeClr val="dk1"/>
            </a:fontRef>
          </p:style>
        </p:sp>
        <p:sp>
          <p:nvSpPr>
            <p:cNvPr id="385" name="矩形 129"/>
            <p:cNvSpPr/>
            <p:nvPr/>
          </p:nvSpPr>
          <p:spPr>
            <a:xfrm>
              <a:off x="1181735" y="1018121"/>
              <a:ext cx="76200" cy="158750"/>
            </a:xfrm>
            <a:prstGeom prst="rect">
              <a:avLst/>
            </a:prstGeom>
          </p:spPr>
          <p:style>
            <a:lnRef idx="2">
              <a:schemeClr val="dk1"/>
            </a:lnRef>
            <a:fillRef idx="1">
              <a:schemeClr val="lt1"/>
            </a:fillRef>
            <a:effectRef idx="0">
              <a:schemeClr val="dk1"/>
            </a:effectRef>
            <a:fontRef idx="minor">
              <a:schemeClr val="dk1"/>
            </a:fontRef>
          </p:style>
        </p:sp>
        <p:cxnSp>
          <p:nvCxnSpPr>
            <p:cNvPr id="386" name="直接连接符 134"/>
            <p:cNvCxnSpPr/>
            <p:nvPr/>
          </p:nvCxnSpPr>
          <p:spPr>
            <a:xfrm>
              <a:off x="2112645" y="1101306"/>
              <a:ext cx="1163955" cy="6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2" name="矩形 135"/>
            <p:cNvSpPr/>
            <p:nvPr/>
          </p:nvSpPr>
          <p:spPr>
            <a:xfrm>
              <a:off x="4602480" y="1031456"/>
              <a:ext cx="76200" cy="158750"/>
            </a:xfrm>
            <a:prstGeom prst="rect">
              <a:avLst/>
            </a:prstGeom>
          </p:spPr>
          <p:style>
            <a:lnRef idx="2">
              <a:schemeClr val="dk1"/>
            </a:lnRef>
            <a:fillRef idx="1">
              <a:schemeClr val="lt1"/>
            </a:fillRef>
            <a:effectRef idx="0">
              <a:schemeClr val="dk1"/>
            </a:effectRef>
            <a:fontRef idx="minor">
              <a:schemeClr val="dk1"/>
            </a:fontRef>
          </p:style>
        </p:sp>
        <p:sp>
          <p:nvSpPr>
            <p:cNvPr id="2319" name="矩形 136"/>
            <p:cNvSpPr/>
            <p:nvPr/>
          </p:nvSpPr>
          <p:spPr>
            <a:xfrm>
              <a:off x="4133215" y="1034631"/>
              <a:ext cx="76200" cy="158750"/>
            </a:xfrm>
            <a:prstGeom prst="rect">
              <a:avLst/>
            </a:prstGeom>
          </p:spPr>
          <p:style>
            <a:lnRef idx="2">
              <a:schemeClr val="dk1"/>
            </a:lnRef>
            <a:fillRef idx="1">
              <a:schemeClr val="lt1"/>
            </a:fillRef>
            <a:effectRef idx="0">
              <a:schemeClr val="dk1"/>
            </a:effectRef>
            <a:fontRef idx="minor">
              <a:schemeClr val="dk1"/>
            </a:fontRef>
          </p:style>
        </p:sp>
        <p:sp>
          <p:nvSpPr>
            <p:cNvPr id="2320" name="矩形 137"/>
            <p:cNvSpPr/>
            <p:nvPr/>
          </p:nvSpPr>
          <p:spPr>
            <a:xfrm>
              <a:off x="3201670" y="1023201"/>
              <a:ext cx="76200" cy="158750"/>
            </a:xfrm>
            <a:prstGeom prst="rect">
              <a:avLst/>
            </a:prstGeom>
          </p:spPr>
          <p:style>
            <a:lnRef idx="2">
              <a:schemeClr val="dk1"/>
            </a:lnRef>
            <a:fillRef idx="1">
              <a:schemeClr val="lt1"/>
            </a:fillRef>
            <a:effectRef idx="0">
              <a:schemeClr val="dk1"/>
            </a:effectRef>
            <a:fontRef idx="minor">
              <a:schemeClr val="dk1"/>
            </a:fontRef>
          </p:style>
        </p:sp>
        <p:sp>
          <p:nvSpPr>
            <p:cNvPr id="2321" name="矩形 138"/>
            <p:cNvSpPr/>
            <p:nvPr/>
          </p:nvSpPr>
          <p:spPr>
            <a:xfrm>
              <a:off x="2106295" y="1017486"/>
              <a:ext cx="76200" cy="158750"/>
            </a:xfrm>
            <a:prstGeom prst="rect">
              <a:avLst/>
            </a:prstGeom>
          </p:spPr>
          <p:style>
            <a:lnRef idx="2">
              <a:schemeClr val="dk1"/>
            </a:lnRef>
            <a:fillRef idx="1">
              <a:schemeClr val="lt1"/>
            </a:fillRef>
            <a:effectRef idx="0">
              <a:schemeClr val="dk1"/>
            </a:effectRef>
            <a:fontRef idx="minor">
              <a:schemeClr val="dk1"/>
            </a:fontRef>
          </p:style>
        </p:sp>
        <p:sp>
          <p:nvSpPr>
            <p:cNvPr id="2322" name="文本框 139"/>
            <p:cNvSpPr txBox="1"/>
            <p:nvPr/>
          </p:nvSpPr>
          <p:spPr>
            <a:xfrm>
              <a:off x="2175510" y="296126"/>
              <a:ext cx="73215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传输介质</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323" name="文本框 140"/>
            <p:cNvSpPr txBox="1"/>
            <p:nvPr/>
          </p:nvSpPr>
          <p:spPr>
            <a:xfrm>
              <a:off x="933450" y="1598511"/>
              <a:ext cx="46926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接口</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324" name="文本框 141"/>
            <p:cNvSpPr txBox="1"/>
            <p:nvPr/>
          </p:nvSpPr>
          <p:spPr>
            <a:xfrm>
              <a:off x="3068320" y="1916646"/>
              <a:ext cx="890905" cy="2686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信号的传输</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2325" name="肘形连接符 145"/>
            <p:cNvCxnSpPr/>
            <p:nvPr/>
          </p:nvCxnSpPr>
          <p:spPr>
            <a:xfrm>
              <a:off x="2382520" y="1447381"/>
              <a:ext cx="186055" cy="131445"/>
            </a:xfrm>
            <a:prstGeom prst="bentConnector3">
              <a:avLst>
                <a:gd name="adj1" fmla="val 5017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6" name="肘形连接符 146"/>
            <p:cNvCxnSpPr/>
            <p:nvPr/>
          </p:nvCxnSpPr>
          <p:spPr>
            <a:xfrm>
              <a:off x="2562225" y="1442936"/>
              <a:ext cx="186055" cy="131445"/>
            </a:xfrm>
            <a:prstGeom prst="bentConnector3">
              <a:avLst>
                <a:gd name="adj1" fmla="val 5017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7" name="肘形连接符 147"/>
            <p:cNvCxnSpPr/>
            <p:nvPr/>
          </p:nvCxnSpPr>
          <p:spPr>
            <a:xfrm>
              <a:off x="2742565" y="1439761"/>
              <a:ext cx="186055" cy="131445"/>
            </a:xfrm>
            <a:prstGeom prst="bentConnector3">
              <a:avLst>
                <a:gd name="adj1" fmla="val 5017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8" name="直接连接符 148"/>
            <p:cNvCxnSpPr/>
            <p:nvPr/>
          </p:nvCxnSpPr>
          <p:spPr>
            <a:xfrm flipV="1">
              <a:off x="2567940" y="1444206"/>
              <a:ext cx="0" cy="1365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9" name="直接连接符 149"/>
            <p:cNvCxnSpPr/>
            <p:nvPr/>
          </p:nvCxnSpPr>
          <p:spPr>
            <a:xfrm flipV="1">
              <a:off x="2751455" y="1444841"/>
              <a:ext cx="0" cy="1365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0" name="直接连接符 150"/>
            <p:cNvCxnSpPr/>
            <p:nvPr/>
          </p:nvCxnSpPr>
          <p:spPr>
            <a:xfrm flipV="1">
              <a:off x="2387600" y="1436586"/>
              <a:ext cx="1905" cy="901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1" name="直接连接符 151"/>
            <p:cNvCxnSpPr/>
            <p:nvPr/>
          </p:nvCxnSpPr>
          <p:spPr>
            <a:xfrm flipV="1">
              <a:off x="2930525" y="1490561"/>
              <a:ext cx="1905" cy="901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2" name="直接箭头连接符 297"/>
            <p:cNvCxnSpPr/>
            <p:nvPr/>
          </p:nvCxnSpPr>
          <p:spPr>
            <a:xfrm>
              <a:off x="713105" y="1227671"/>
              <a:ext cx="386080" cy="403860"/>
            </a:xfrm>
            <a:prstGeom prst="straightConnector1">
              <a:avLst/>
            </a:prstGeom>
            <a:ln>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cxnSp>
          <p:nvCxnSpPr>
            <p:cNvPr id="2333" name="直接箭头连接符 298"/>
            <p:cNvCxnSpPr/>
            <p:nvPr/>
          </p:nvCxnSpPr>
          <p:spPr>
            <a:xfrm>
              <a:off x="2591435" y="541871"/>
              <a:ext cx="194945" cy="4768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4" name="直接箭头连接符 299"/>
            <p:cNvCxnSpPr/>
            <p:nvPr/>
          </p:nvCxnSpPr>
          <p:spPr>
            <a:xfrm>
              <a:off x="2893060" y="1709001"/>
              <a:ext cx="236220" cy="236220"/>
            </a:xfrm>
            <a:prstGeom prst="straightConnector1">
              <a:avLst/>
            </a:prstGeom>
            <a:ln>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712210" y="6331585"/>
            <a:ext cx="5080000" cy="400110"/>
          </a:xfrm>
          <a:prstGeom prst="rect">
            <a:avLst/>
          </a:prstGeom>
          <a:noFill/>
          <a:ln w="9525">
            <a:noFill/>
          </a:ln>
        </p:spPr>
        <p:txBody>
          <a:bodyPr>
            <a:spAutoFit/>
          </a:bodyPr>
          <a:lstStyle/>
          <a:p>
            <a:pPr indent="0" algn="ctr"/>
            <a:r>
              <a:rPr lang="zh-CN" sz="2000" b="0" dirty="0">
                <a:ea typeface="宋体" panose="02010600030101010101" pitchFamily="2" charset="-122"/>
              </a:rPr>
              <a:t>图</a:t>
            </a:r>
            <a:r>
              <a:rPr lang="en-US" sz="2000" b="0" dirty="0">
                <a:latin typeface="Times New Roman" panose="02020603050405020304" charset="0"/>
                <a:ea typeface="宋体" panose="02010600030101010101" pitchFamily="2" charset="-122"/>
              </a:rPr>
              <a:t>3-1-1 </a:t>
            </a:r>
            <a:r>
              <a:rPr lang="zh-CN" sz="2000" b="0" dirty="0">
                <a:ea typeface="宋体" panose="02010600030101010101" pitchFamily="2" charset="-122"/>
              </a:rPr>
              <a:t>计算机网络模型</a:t>
            </a:r>
            <a:endParaRPr lang="zh-CN" altLang="en-US" sz="2000" dirty="0"/>
          </a:p>
        </p:txBody>
      </p:sp>
      <p:sp>
        <p:nvSpPr>
          <p:cNvPr id="5" name="标题 1"/>
          <p:cNvSpPr>
            <a:spLocks noGrp="1"/>
          </p:cNvSpPr>
          <p:nvPr/>
        </p:nvSpPr>
        <p:spPr>
          <a:xfrm>
            <a:off x="738823" y="1016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0820" y="1194435"/>
            <a:ext cx="11551920" cy="5584825"/>
          </a:xfrm>
          <a:prstGeom prst="rect">
            <a:avLst/>
          </a:prstGeom>
          <a:noFill/>
          <a:ln w="9525">
            <a:noFill/>
          </a:ln>
        </p:spPr>
        <p:txBody>
          <a:bodyPr wrap="square">
            <a:spAutoFit/>
          </a:bodyPr>
          <a:lstStyle/>
          <a:p>
            <a:pPr indent="0" fontAlgn="auto">
              <a:lnSpc>
                <a:spcPct val="10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    </a:t>
            </a:r>
            <a:r>
              <a:rPr lang="zh-CN" sz="2100" b="1" dirty="0">
                <a:latin typeface="宋体" panose="02010600030101010101" pitchFamily="2" charset="-122"/>
                <a:ea typeface="宋体" panose="02010600030101010101" pitchFamily="2" charset="-122"/>
                <a:cs typeface="宋体" panose="02010600030101010101" pitchFamily="2" charset="-122"/>
              </a:rPr>
              <a:t>信号的传输离不开传输介质，而传输介质两端必然有接口用于发送和接收信号。因此，</a:t>
            </a:r>
            <a:endParaRPr lang="zh-CN"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规定各种传输介质和接口与传输信号相关的一些特性也是物理层的主要任务之一。</a:t>
            </a:r>
            <a:r>
              <a:rPr lang="en-US" sz="2100" b="1" dirty="0">
                <a:latin typeface="宋体" panose="02010600030101010101" pitchFamily="2" charset="-122"/>
                <a:ea typeface="宋体" panose="02010600030101010101" pitchFamily="2" charset="-122"/>
                <a:cs typeface="宋体" panose="02010600030101010101" pitchFamily="2" charset="-122"/>
              </a:rPr>
              <a:t>    </a:t>
            </a:r>
            <a:endParaRPr lang="zh-CN"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a:t>
            </a:r>
            <a:r>
              <a:rPr lang="en-US" sz="2100" b="1" dirty="0">
                <a:latin typeface="宋体" panose="02010600030101010101" pitchFamily="2" charset="-122"/>
                <a:ea typeface="宋体" panose="02010600030101010101" pitchFamily="2" charset="-122"/>
                <a:cs typeface="宋体" panose="02010600030101010101" pitchFamily="2" charset="-122"/>
              </a:rPr>
              <a:t>1</a:t>
            </a:r>
            <a:r>
              <a:rPr lang="zh-CN" sz="2100" b="1" dirty="0">
                <a:latin typeface="宋体" panose="02010600030101010101" pitchFamily="2" charset="-122"/>
                <a:ea typeface="宋体" panose="02010600030101010101" pitchFamily="2" charset="-122"/>
                <a:cs typeface="宋体" panose="02010600030101010101" pitchFamily="2" charset="-122"/>
              </a:rPr>
              <a:t>）机械特性。机械特性也叫物理特性，指通信实体间硬件连接接口的机械特点，如接口所用接线器的形状和尺寸、引线数目和排列、固定和锁定装置等。这很像平时常见的各种规格的电源插头，其尺寸有严格的规定。</a:t>
            </a:r>
            <a:r>
              <a:rPr lang="en-US" sz="2100" b="1" dirty="0">
                <a:latin typeface="宋体" panose="02010600030101010101" pitchFamily="2" charset="-122"/>
                <a:ea typeface="宋体" panose="02010600030101010101" pitchFamily="2" charset="-122"/>
                <a:cs typeface="宋体" panose="02010600030101010101" pitchFamily="2" charset="-122"/>
              </a:rPr>
              <a:t>    </a:t>
            </a:r>
            <a:endParaRPr lang="zh-CN"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a:t>
            </a:r>
            <a:r>
              <a:rPr lang="en-US" sz="2100" b="1" dirty="0">
                <a:latin typeface="宋体" panose="02010600030101010101" pitchFamily="2" charset="-122"/>
                <a:ea typeface="宋体" panose="02010600030101010101" pitchFamily="2" charset="-122"/>
                <a:cs typeface="宋体" panose="02010600030101010101" pitchFamily="2" charset="-122"/>
              </a:rPr>
              <a:t>2</a:t>
            </a:r>
            <a:r>
              <a:rPr lang="zh-CN" sz="2100" b="1" dirty="0">
                <a:latin typeface="宋体" panose="02010600030101010101" pitchFamily="2" charset="-122"/>
                <a:ea typeface="宋体" panose="02010600030101010101" pitchFamily="2" charset="-122"/>
                <a:cs typeface="宋体" panose="02010600030101010101" pitchFamily="2" charset="-122"/>
              </a:rPr>
              <a:t>）电气特性。电气特性规定了在物理连接上，导线的电气连接及有关电路的特性，一般包括接收器和发送器电路特性的说明、信号的识别、最大传输速率的说明、与互连电缆相关的规则、发送器的输出阻抗、接收器的输入阻抗等电气参数等。</a:t>
            </a:r>
            <a:r>
              <a:rPr lang="en-US" sz="2100" b="1" dirty="0">
                <a:latin typeface="宋体" panose="02010600030101010101" pitchFamily="2" charset="-122"/>
                <a:ea typeface="宋体" panose="02010600030101010101" pitchFamily="2" charset="-122"/>
                <a:cs typeface="宋体" panose="02010600030101010101" pitchFamily="2" charset="-122"/>
              </a:rPr>
              <a:t>   </a:t>
            </a:r>
            <a:endParaRPr lang="zh-CN"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a:t>
            </a:r>
            <a:r>
              <a:rPr lang="en-US" sz="2100" b="1" dirty="0">
                <a:latin typeface="宋体" panose="02010600030101010101" pitchFamily="2" charset="-122"/>
                <a:ea typeface="宋体" panose="02010600030101010101" pitchFamily="2" charset="-122"/>
                <a:cs typeface="宋体" panose="02010600030101010101" pitchFamily="2" charset="-122"/>
              </a:rPr>
              <a:t>3</a:t>
            </a:r>
            <a:r>
              <a:rPr lang="zh-CN" sz="2100" b="1" dirty="0">
                <a:latin typeface="宋体" panose="02010600030101010101" pitchFamily="2" charset="-122"/>
                <a:ea typeface="宋体" panose="02010600030101010101" pitchFamily="2" charset="-122"/>
                <a:cs typeface="宋体" panose="02010600030101010101" pitchFamily="2" charset="-122"/>
              </a:rPr>
              <a:t>）功能特性。功能特性指物理接口各条信号线的用途，包括接口线功能的规定方法、接口信号线的功能分类（分为数据信号线、控制信号线、定时信号线和接地线</a:t>
            </a:r>
            <a:r>
              <a:rPr lang="en-US" sz="2100" b="1" dirty="0">
                <a:latin typeface="宋体" panose="02010600030101010101" pitchFamily="2" charset="-122"/>
                <a:ea typeface="宋体" panose="02010600030101010101" pitchFamily="2" charset="-122"/>
                <a:cs typeface="宋体" panose="02010600030101010101" pitchFamily="2" charset="-122"/>
              </a:rPr>
              <a:t>4</a:t>
            </a:r>
            <a:r>
              <a:rPr lang="zh-CN" sz="2100" b="1" dirty="0">
                <a:latin typeface="宋体" panose="02010600030101010101" pitchFamily="2" charset="-122"/>
                <a:ea typeface="宋体" panose="02010600030101010101" pitchFamily="2" charset="-122"/>
                <a:cs typeface="宋体" panose="02010600030101010101" pitchFamily="2" charset="-122"/>
              </a:rPr>
              <a:t>类）。</a:t>
            </a:r>
            <a:r>
              <a:rPr lang="en-US" sz="2100" b="1" dirty="0">
                <a:latin typeface="宋体" panose="02010600030101010101" pitchFamily="2" charset="-122"/>
                <a:ea typeface="宋体" panose="02010600030101010101" pitchFamily="2" charset="-122"/>
                <a:cs typeface="宋体" panose="02010600030101010101" pitchFamily="2" charset="-122"/>
              </a:rPr>
              <a:t>   </a:t>
            </a:r>
            <a:endParaRPr lang="zh-CN"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a:t>
            </a:r>
            <a:r>
              <a:rPr lang="en-US" sz="2100" b="1" dirty="0">
                <a:latin typeface="宋体" panose="02010600030101010101" pitchFamily="2" charset="-122"/>
                <a:ea typeface="宋体" panose="02010600030101010101" pitchFamily="2" charset="-122"/>
                <a:cs typeface="宋体" panose="02010600030101010101" pitchFamily="2" charset="-122"/>
              </a:rPr>
              <a:t>4</a:t>
            </a:r>
            <a:r>
              <a:rPr lang="zh-CN" sz="2100" b="1" dirty="0">
                <a:latin typeface="宋体" panose="02010600030101010101" pitchFamily="2" charset="-122"/>
                <a:ea typeface="宋体" panose="02010600030101010101" pitchFamily="2" charset="-122"/>
                <a:cs typeface="宋体" panose="02010600030101010101" pitchFamily="2" charset="-122"/>
              </a:rPr>
              <a:t>）规程特性。规程特性指利用接口传输比特流的全过程及各项用于传输的事件发生的合法顺序，包括事件的执行顺序和数据传输方式，即在物理连接建立、维持和交换信息时，</a:t>
            </a:r>
            <a:r>
              <a:rPr lang="en-US" sz="2100" b="1" dirty="0">
                <a:latin typeface="宋体" panose="02010600030101010101" pitchFamily="2" charset="-122"/>
                <a:ea typeface="宋体" panose="02010600030101010101" pitchFamily="2" charset="-122"/>
                <a:cs typeface="宋体" panose="02010600030101010101" pitchFamily="2" charset="-122"/>
              </a:rPr>
              <a:t>DTE/DCE</a:t>
            </a:r>
            <a:r>
              <a:rPr lang="zh-CN" sz="2100" b="1" dirty="0">
                <a:latin typeface="宋体" panose="02010600030101010101" pitchFamily="2" charset="-122"/>
                <a:ea typeface="宋体" panose="02010600030101010101" pitchFamily="2" charset="-122"/>
                <a:cs typeface="宋体" panose="02010600030101010101" pitchFamily="2" charset="-122"/>
              </a:rPr>
              <a:t>双方在各自电路上的动作序列。</a:t>
            </a:r>
            <a:endParaRPr lang="en-US" sz="21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zh-CN" sz="2100" b="1" dirty="0">
                <a:latin typeface="宋体" panose="02010600030101010101" pitchFamily="2" charset="-122"/>
                <a:ea typeface="宋体" panose="02010600030101010101" pitchFamily="2" charset="-122"/>
                <a:cs typeface="宋体" panose="02010600030101010101" pitchFamily="2" charset="-122"/>
              </a:rPr>
              <a:t>（</a:t>
            </a:r>
            <a:r>
              <a:rPr lang="en-US" sz="2100" b="1" dirty="0">
                <a:latin typeface="宋体" panose="02010600030101010101" pitchFamily="2" charset="-122"/>
                <a:ea typeface="宋体" panose="02010600030101010101" pitchFamily="2" charset="-122"/>
                <a:cs typeface="宋体" panose="02010600030101010101" pitchFamily="2" charset="-122"/>
              </a:rPr>
              <a:t>5</a:t>
            </a:r>
            <a:r>
              <a:rPr lang="zh-CN" sz="2100" b="1" dirty="0">
                <a:latin typeface="宋体" panose="02010600030101010101" pitchFamily="2" charset="-122"/>
                <a:ea typeface="宋体" panose="02010600030101010101" pitchFamily="2" charset="-122"/>
                <a:cs typeface="宋体" panose="02010600030101010101" pitchFamily="2" charset="-122"/>
              </a:rPr>
              <a:t>）链路特性。无线传感器网络性能的优劣和无线信道的好坏是密不可分的。与传统的有线信道不同，无线网络接收器与发射器之间信号的传播路径是随机的，而且是非常复杂、难以分析的，数据包在传输过程中会遇到路径损耗、噪声干扰、多径效应、邻节点干扰等情况，从而造成数据包的丢失。</a:t>
            </a:r>
            <a:endParaRPr lang="zh-CN" altLang="en-US" sz="2000" b="1" dirty="0">
              <a:latin typeface="宋体" panose="02010600030101010101" pitchFamily="2" charset="-122"/>
              <a:cs typeface="宋体" panose="02010600030101010101" pitchFamily="2" charset="-122"/>
            </a:endParaRPr>
          </a:p>
        </p:txBody>
      </p:sp>
      <p:sp>
        <p:nvSpPr>
          <p:cNvPr id="5" name="标题 1"/>
          <p:cNvSpPr>
            <a:spLocks noGrp="1"/>
          </p:cNvSpPr>
          <p:nvPr/>
        </p:nvSpPr>
        <p:spPr>
          <a:xfrm>
            <a:off x="70866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0180" y="1160780"/>
            <a:ext cx="11551920" cy="4399915"/>
          </a:xfrm>
          <a:prstGeom prst="rect">
            <a:avLst/>
          </a:prstGeom>
          <a:noFill/>
          <a:ln w="9525">
            <a:noFill/>
          </a:ln>
        </p:spPr>
        <p:txBody>
          <a:bodyPr wrap="square">
            <a:spAutoFit/>
          </a:bodyPr>
          <a:lstStyle/>
          <a:p>
            <a:pPr indent="0" fontAlgn="auto">
              <a:lnSpc>
                <a:spcPct val="100000"/>
              </a:lnSpc>
            </a:pPr>
            <a:r>
              <a:rPr lang="en-US" altLang="zh-CN" sz="1600" b="0" dirty="0">
                <a:ea typeface="宋体" panose="02010600030101010101" pitchFamily="2" charset="-122"/>
              </a:rPr>
              <a:t>      </a:t>
            </a:r>
            <a:r>
              <a:rPr lang="en-US" altLang="zh-CN" sz="2800" b="1" dirty="0">
                <a:ea typeface="宋体" panose="02010600030101010101" pitchFamily="2" charset="-122"/>
              </a:rPr>
              <a:t>    </a:t>
            </a:r>
            <a:r>
              <a:rPr lang="en-US" sz="2800" b="1" dirty="0">
                <a:latin typeface="Times New Roman" panose="02020603050405020304" charset="0"/>
                <a:ea typeface="宋体" panose="02010600030101010101" pitchFamily="2" charset="-122"/>
              </a:rPr>
              <a:t>1.</a:t>
            </a:r>
            <a:r>
              <a:rPr lang="zh-CN" sz="2800" b="1" dirty="0">
                <a:ea typeface="宋体" panose="02010600030101010101" pitchFamily="2" charset="-122"/>
              </a:rPr>
              <a:t>路径损耗</a:t>
            </a:r>
            <a:endParaRPr lang="zh-CN" sz="2800" b="1" dirty="0">
              <a:ea typeface="宋体" panose="02010600030101010101" pitchFamily="2" charset="-122"/>
            </a:endParaRPr>
          </a:p>
          <a:p>
            <a:pPr indent="0" fontAlgn="auto">
              <a:lnSpc>
                <a:spcPct val="100000"/>
              </a:lnSpc>
            </a:pPr>
            <a:r>
              <a:rPr lang="en-US" altLang="zh-CN" sz="2800" b="1" dirty="0">
                <a:ea typeface="宋体" panose="02010600030101010101" pitchFamily="2" charset="-122"/>
              </a:rPr>
              <a:t>       </a:t>
            </a:r>
            <a:r>
              <a:rPr lang="zh-CN" sz="2800" b="1" dirty="0">
                <a:ea typeface="宋体" panose="02010600030101010101" pitchFamily="2" charset="-122"/>
              </a:rPr>
              <a:t>在无线传感器网络中，发送节点发送的信号在传播过程中能量并不是恒定的，而是随着距离的增大而衰减，这个过程称为路径损耗。典型的能耗衰减与距离的关系为</a:t>
            </a:r>
            <a:endParaRPr lang="zh-CN" sz="2800" b="1" dirty="0">
              <a:ea typeface="宋体" panose="02010600030101010101" pitchFamily="2" charset="-122"/>
            </a:endParaRPr>
          </a:p>
          <a:p>
            <a:pPr indent="0" fontAlgn="auto">
              <a:lnSpc>
                <a:spcPct val="100000"/>
              </a:lnSpc>
            </a:pPr>
            <a:r>
              <a:rPr lang="zh-CN" sz="2800" b="1" dirty="0">
                <a:ea typeface="宋体" panose="02010600030101010101" pitchFamily="2" charset="-122"/>
                <a:sym typeface="+mn-ea"/>
              </a:rPr>
              <a:t>式中，</a:t>
            </a:r>
            <a:r>
              <a:rPr lang="en-US" sz="2800" b="1" i="1" dirty="0">
                <a:latin typeface="Times New Roman" panose="02020603050405020304" charset="0"/>
                <a:ea typeface="宋体" panose="02010600030101010101" pitchFamily="2" charset="-122"/>
                <a:sym typeface="+mn-ea"/>
              </a:rPr>
              <a:t>k</a:t>
            </a:r>
            <a:r>
              <a:rPr lang="zh-CN" sz="2800" b="1" dirty="0">
                <a:ea typeface="宋体" panose="02010600030101010101" pitchFamily="2" charset="-122"/>
                <a:sym typeface="+mn-ea"/>
              </a:rPr>
              <a:t>为常量，</a:t>
            </a:r>
            <a:r>
              <a:rPr lang="en-US" sz="2800" b="1" i="1" dirty="0">
                <a:latin typeface="Times New Roman" panose="02020603050405020304" charset="0"/>
                <a:ea typeface="宋体" panose="02010600030101010101" pitchFamily="2" charset="-122"/>
                <a:sym typeface="+mn-ea"/>
              </a:rPr>
              <a:t>n</a:t>
            </a:r>
            <a:r>
              <a:rPr lang="zh-CN" sz="2800" b="1" dirty="0">
                <a:ea typeface="宋体" panose="02010600030101010101" pitchFamily="2" charset="-122"/>
                <a:sym typeface="+mn-ea"/>
              </a:rPr>
              <a:t>的取值范围为</a:t>
            </a:r>
            <a:r>
              <a:rPr lang="en-US" sz="2800" b="1" dirty="0">
                <a:latin typeface="Times New Roman" panose="02020603050405020304" charset="0"/>
                <a:ea typeface="宋体" panose="02010600030101010101" pitchFamily="2" charset="-122"/>
                <a:sym typeface="+mn-ea"/>
              </a:rPr>
              <a:t>2&lt;</a:t>
            </a:r>
            <a:r>
              <a:rPr lang="en-US" sz="2800" b="1" i="1" dirty="0">
                <a:latin typeface="Times New Roman" panose="02020603050405020304" charset="0"/>
                <a:ea typeface="宋体" panose="02010600030101010101" pitchFamily="2" charset="-122"/>
                <a:sym typeface="+mn-ea"/>
              </a:rPr>
              <a:t>n</a:t>
            </a:r>
            <a:r>
              <a:rPr lang="en-US" sz="2800" b="1" dirty="0">
                <a:latin typeface="Times New Roman" panose="02020603050405020304" charset="0"/>
                <a:ea typeface="宋体" panose="02010600030101010101" pitchFamily="2" charset="-122"/>
                <a:sym typeface="+mn-ea"/>
              </a:rPr>
              <a:t>&lt;4</a:t>
            </a:r>
            <a:r>
              <a:rPr lang="zh-CN" sz="2800" b="1" dirty="0">
                <a:ea typeface="宋体" panose="02010600030101010101" pitchFamily="2" charset="-122"/>
                <a:sym typeface="+mn-ea"/>
              </a:rPr>
              <a:t>，其大小</a:t>
            </a:r>
            <a:r>
              <a:rPr lang="zh-CN" sz="2800" b="1" dirty="0">
                <a:latin typeface="Times New Roman" panose="02020603050405020304" charset="0"/>
                <a:ea typeface="宋体" panose="02010600030101010101" pitchFamily="2" charset="-122"/>
                <a:sym typeface="+mn-ea"/>
              </a:rPr>
              <a:t>一</a:t>
            </a:r>
            <a:r>
              <a:rPr lang="zh-CN" sz="2800" b="1" dirty="0">
                <a:ea typeface="宋体" panose="02010600030101010101" pitchFamily="2" charset="-122"/>
                <a:sym typeface="+mn-ea"/>
              </a:rPr>
              <a:t>般与多个因素有关，如信号的载频或传播的环境等。如果传感器节点散播在离地面很近的区域时，则会受到很多障碍物的干扰，此时就需要增大</a:t>
            </a:r>
            <a:r>
              <a:rPr lang="en-US" sz="2800" b="1" dirty="0">
                <a:latin typeface="Times New Roman" panose="02020603050405020304" charset="0"/>
                <a:ea typeface="宋体" panose="02010600030101010101" pitchFamily="2" charset="-122"/>
                <a:sym typeface="+mn-ea"/>
              </a:rPr>
              <a:t>n</a:t>
            </a:r>
            <a:r>
              <a:rPr lang="zh-CN" sz="2800" b="1" dirty="0">
                <a:ea typeface="宋体" panose="02010600030101010101" pitchFamily="2" charset="-122"/>
                <a:sym typeface="+mn-ea"/>
              </a:rPr>
              <a:t>的值。此外，无线发射天线的选择也会对信号产生</a:t>
            </a:r>
            <a:r>
              <a:rPr lang="zh-CN" sz="2800" b="1" dirty="0">
                <a:latin typeface="Times New Roman" panose="02020603050405020304" charset="0"/>
                <a:ea typeface="宋体" panose="02010600030101010101" pitchFamily="2" charset="-122"/>
                <a:sym typeface="+mn-ea"/>
              </a:rPr>
              <a:t>一</a:t>
            </a:r>
            <a:r>
              <a:rPr lang="zh-CN" sz="2800" b="1" dirty="0">
                <a:ea typeface="宋体" panose="02010600030101010101" pitchFamily="2" charset="-122"/>
                <a:sym typeface="+mn-ea"/>
              </a:rPr>
              <a:t>定影响。经常使用的路径损耗模型有自由空间传播模型、地面双向反射模型、对数距离路径损耗模型以及</a:t>
            </a:r>
            <a:r>
              <a:rPr lang="zh-CN" sz="2800" b="1" dirty="0">
                <a:latin typeface="Times New Roman" panose="02020603050405020304" charset="0"/>
                <a:ea typeface="宋体" panose="02010600030101010101" pitchFamily="2" charset="-122"/>
                <a:sym typeface="+mn-ea"/>
              </a:rPr>
              <a:t>其</a:t>
            </a:r>
            <a:r>
              <a:rPr lang="zh-CN" sz="2800" b="1" dirty="0">
                <a:ea typeface="宋体" panose="02010600030101010101" pitchFamily="2" charset="-122"/>
                <a:sym typeface="+mn-ea"/>
              </a:rPr>
              <a:t>他模型。</a:t>
            </a:r>
            <a:endParaRPr lang="zh-CN" altLang="en-US" sz="2800" b="1" dirty="0"/>
          </a:p>
        </p:txBody>
      </p:sp>
      <p:graphicFrame>
        <p:nvGraphicFramePr>
          <p:cNvPr id="2" name="对象 -2147482485"/>
          <p:cNvGraphicFramePr>
            <a:graphicFrameLocks noChangeAspect="1"/>
          </p:cNvGraphicFramePr>
          <p:nvPr/>
        </p:nvGraphicFramePr>
        <p:xfrm>
          <a:off x="4735195" y="2443480"/>
          <a:ext cx="1555750" cy="502285"/>
        </p:xfrm>
        <a:graphic>
          <a:graphicData uri="http://schemas.openxmlformats.org/presentationml/2006/ole">
            <mc:AlternateContent xmlns:mc="http://schemas.openxmlformats.org/markup-compatibility/2006">
              <mc:Choice xmlns:v="urn:schemas-microsoft-com:vml" Requires="v">
                <p:oleObj spid="_x0000_s24775" name="" r:id="rId1" imgW="584200" imgH="190500" progId="Equation.DSMT4">
                  <p:embed/>
                </p:oleObj>
              </mc:Choice>
              <mc:Fallback>
                <p:oleObj name="" r:id="rId1" imgW="584200" imgH="190500" progId="Equation.DSMT4">
                  <p:embed/>
                  <p:pic>
                    <p:nvPicPr>
                      <p:cNvPr id="0" name="图片 3075"/>
                      <p:cNvPicPr/>
                      <p:nvPr/>
                    </p:nvPicPr>
                    <p:blipFill>
                      <a:blip r:embed="rId2"/>
                      <a:stretch>
                        <a:fillRect/>
                      </a:stretch>
                    </p:blipFill>
                    <p:spPr>
                      <a:xfrm>
                        <a:off x="4735195" y="2443480"/>
                        <a:ext cx="1555750" cy="502285"/>
                      </a:xfrm>
                      <a:prstGeom prst="rect">
                        <a:avLst/>
                      </a:prstGeom>
                      <a:noFill/>
                      <a:ln w="9525">
                        <a:noFill/>
                        <a:miter/>
                      </a:ln>
                    </p:spPr>
                  </p:pic>
                </p:oleObj>
              </mc:Fallback>
            </mc:AlternateContent>
          </a:graphicData>
        </a:graphic>
      </p:graphicFrame>
      <p:sp>
        <p:nvSpPr>
          <p:cNvPr id="5"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3"/>
              </a:rPr>
              <a:t>3.1.1  物理层特性</a:t>
            </a:r>
            <a:endParaRPr b="1">
              <a:uFillTx/>
              <a:ea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95275" y="1021080"/>
            <a:ext cx="11419840" cy="4815840"/>
          </a:xfrm>
          <a:prstGeom prst="rect">
            <a:avLst/>
          </a:prstGeom>
          <a:noFill/>
          <a:ln w="9525">
            <a:noFill/>
          </a:ln>
        </p:spPr>
        <p:txBody>
          <a:bodyPr wrap="square">
            <a:spAutoFit/>
          </a:bodyPr>
          <a:lstStyle/>
          <a:p>
            <a:pPr indent="0" fontAlgn="auto">
              <a:lnSpc>
                <a:spcPct val="150000"/>
              </a:lnSpc>
            </a:pPr>
            <a:r>
              <a:rPr lang="en-US" b="0" dirty="0">
                <a:latin typeface="Times New Roman" panose="02020603050405020304" charset="0"/>
                <a:ea typeface="宋体" panose="02010600030101010101" pitchFamily="2" charset="-122"/>
                <a:cs typeface="Times New Roman" panose="02020603050405020304" charset="0"/>
              </a:rPr>
              <a:t>    </a:t>
            </a:r>
            <a:endParaRPr lang="en-US" b="0"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         2.</a:t>
            </a:r>
            <a:r>
              <a:rPr lang="zh-CN" sz="2800" b="1" dirty="0">
                <a:ea typeface="宋体" panose="02010600030101010101" pitchFamily="2" charset="-122"/>
              </a:rPr>
              <a:t>多径效应</a:t>
            </a:r>
            <a:endParaRPr lang="zh-CN" sz="2800" b="1" dirty="0">
              <a:ea typeface="宋体" panose="02010600030101010101" pitchFamily="2" charset="-122"/>
            </a:endParaRPr>
          </a:p>
          <a:p>
            <a:pPr indent="0" fontAlgn="auto">
              <a:lnSpc>
                <a:spcPct val="100000"/>
              </a:lnSpc>
            </a:pPr>
            <a:r>
              <a:rPr lang="en-US" altLang="zh-CN" sz="2800" b="1" dirty="0">
                <a:ea typeface="宋体" panose="02010600030101010101" pitchFamily="2" charset="-122"/>
              </a:rPr>
              <a:t>       </a:t>
            </a:r>
            <a:r>
              <a:rPr lang="zh-CN" sz="2800" b="1" dirty="0">
                <a:ea typeface="宋体" panose="02010600030101010101" pitchFamily="2" charset="-122"/>
              </a:rPr>
              <a:t>多径效应是指由无线信道中的多径传输现象所引起的干涉延时效应。无线信号在传输的过程中，经过周围物体或地面的反射后，会通过多条不同的路径到达接收端，接收端收到的信号是多个信号叠加在一起的，这些信号由于传输路径的不同、延迟的不同以及路径损耗的不同，它们的相位和幅度也就不同。这些信号混合在一起，会引起信号的衰落。就点对点通信链路来讲，多径效应会导致无线链路上数据包的损坏或丢失。</a:t>
            </a:r>
            <a:r>
              <a:rPr lang="en-US" sz="2800" b="1" dirty="0">
                <a:latin typeface="Times New Roman" panose="02020603050405020304" charset="0"/>
                <a:ea typeface="宋体" panose="02010600030101010101" pitchFamily="2" charset="-122"/>
                <a:cs typeface="Times New Roman" panose="02020603050405020304" charset="0"/>
              </a:rPr>
              <a:t>    </a:t>
            </a:r>
            <a:endParaRPr lang="zh-CN" sz="2800" b="1" dirty="0">
              <a:ea typeface="宋体" panose="02010600030101010101" pitchFamily="2" charset="-122"/>
            </a:endParaRPr>
          </a:p>
          <a:p>
            <a:pPr indent="0" fontAlgn="auto">
              <a:lnSpc>
                <a:spcPct val="100000"/>
              </a:lnSpc>
            </a:pPr>
            <a:r>
              <a:rPr lang="zh-CN" sz="2800" b="1" dirty="0">
                <a:ea typeface="宋体" panose="02010600030101010101" pitchFamily="2" charset="-122"/>
              </a:rPr>
              <a:t>多径效应与信号所处的环境紧密相关，在无线传感器网络中，节点位置发生变化或环境的变化都会改变信号的接收强度。不仅是动态网络中存在多径效应，而</a:t>
            </a:r>
            <a:r>
              <a:rPr lang="zh-CN" sz="2800" b="1" dirty="0">
                <a:latin typeface="Times New Roman" panose="02020603050405020304" charset="0"/>
                <a:ea typeface="宋体" panose="02010600030101010101" pitchFamily="2" charset="-122"/>
              </a:rPr>
              <a:t>且</a:t>
            </a:r>
            <a:r>
              <a:rPr lang="zh-CN" sz="2800" b="1" dirty="0">
                <a:ea typeface="宋体" panose="02010600030101010101" pitchFamily="2" charset="-122"/>
              </a:rPr>
              <a:t>在静态网络中，由于环境的影响，多径效应仍然存在。</a:t>
            </a:r>
            <a:r>
              <a:rPr lang="en-US" sz="2800" b="1" dirty="0">
                <a:latin typeface="Times New Roman" panose="02020603050405020304" charset="0"/>
                <a:ea typeface="宋体" panose="02010600030101010101" pitchFamily="2" charset="-122"/>
                <a:cs typeface="Times New Roman" panose="02020603050405020304" charset="0"/>
              </a:rPr>
              <a:t> </a:t>
            </a:r>
            <a:endParaRPr lang="zh-CN" altLang="en-US" sz="2800" b="1" dirty="0"/>
          </a:p>
        </p:txBody>
      </p:sp>
      <p:sp>
        <p:nvSpPr>
          <p:cNvPr id="5"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47675" y="1466215"/>
            <a:ext cx="11165205" cy="4184650"/>
          </a:xfrm>
          <a:prstGeom prst="rect">
            <a:avLst/>
          </a:prstGeom>
          <a:noFill/>
          <a:ln w="9525">
            <a:noFill/>
          </a:ln>
        </p:spPr>
        <p:txBody>
          <a:bodyPr wrap="square">
            <a:spAutoFit/>
          </a:bodyPr>
          <a:lstStyle/>
          <a:p>
            <a:pPr indent="0" fontAlgn="auto">
              <a:lnSpc>
                <a:spcPct val="100000"/>
              </a:lnSpc>
            </a:pPr>
            <a:r>
              <a:rPr lang="en-US" sz="2800" b="1" dirty="0">
                <a:latin typeface="Times New Roman" panose="02020603050405020304" charset="0"/>
                <a:ea typeface="宋体" panose="02010600030101010101" pitchFamily="2" charset="-122"/>
              </a:rPr>
              <a:t>        3.</a:t>
            </a:r>
            <a:r>
              <a:rPr lang="zh-CN" sz="2800" b="1" dirty="0">
                <a:ea typeface="宋体" panose="02010600030101010101" pitchFamily="2" charset="-122"/>
              </a:rPr>
              <a:t>噪声干扰</a:t>
            </a:r>
            <a:endParaRPr lang="zh-CN" sz="2800" b="1" dirty="0">
              <a:ea typeface="宋体" panose="02010600030101010101" pitchFamily="2" charset="-122"/>
            </a:endParaRPr>
          </a:p>
          <a:p>
            <a:pPr indent="0" fontAlgn="auto">
              <a:lnSpc>
                <a:spcPct val="100000"/>
              </a:lnSpc>
            </a:pPr>
            <a:r>
              <a:rPr lang="en-US" altLang="zh-CN" sz="2800" b="1" dirty="0">
                <a:ea typeface="宋体" panose="02010600030101010101" pitchFamily="2" charset="-122"/>
              </a:rPr>
              <a:t>       </a:t>
            </a:r>
            <a:r>
              <a:rPr lang="zh-CN" sz="2800" b="1" dirty="0">
                <a:ea typeface="宋体" panose="02010600030101010101" pitchFamily="2" charset="-122"/>
              </a:rPr>
              <a:t>在无线信号的传输过程中，接收端收到的不仅仅是包含信息的有用信号，还可能收到不含任何信息的无用信号，这些无用信号称为噪声。噪声的来源可能是自然界</a:t>
            </a:r>
            <a:r>
              <a:rPr lang="zh-CN" sz="2800" b="1" dirty="0">
                <a:latin typeface="Times New Roman" panose="02020603050405020304" charset="0"/>
                <a:ea typeface="宋体" panose="02010600030101010101" pitchFamily="2" charset="-122"/>
              </a:rPr>
              <a:t>（</a:t>
            </a:r>
            <a:r>
              <a:rPr lang="zh-CN" sz="2800" b="1" dirty="0">
                <a:ea typeface="宋体" panose="02010600030101010101" pitchFamily="2" charset="-122"/>
              </a:rPr>
              <a:t>俗称自然噪声</a:t>
            </a:r>
            <a:r>
              <a:rPr lang="zh-CN" sz="2800" b="1" dirty="0">
                <a:latin typeface="Times New Roman" panose="02020603050405020304" charset="0"/>
                <a:ea typeface="宋体" panose="02010600030101010101" pitchFamily="2" charset="-122"/>
              </a:rPr>
              <a:t>）</a:t>
            </a:r>
            <a:r>
              <a:rPr lang="zh-CN" sz="2800" b="1" dirty="0">
                <a:ea typeface="宋体" panose="02010600030101010101" pitchFamily="2" charset="-122"/>
              </a:rPr>
              <a:t>，也可能是人为干扰</a:t>
            </a:r>
            <a:r>
              <a:rPr lang="zh-CN" sz="2800" b="1" dirty="0">
                <a:latin typeface="Times New Roman" panose="02020603050405020304" charset="0"/>
                <a:ea typeface="宋体" panose="02010600030101010101" pitchFamily="2" charset="-122"/>
              </a:rPr>
              <a:t>（</a:t>
            </a:r>
            <a:r>
              <a:rPr lang="zh-CN" sz="2800" b="1" dirty="0">
                <a:ea typeface="宋体" panose="02010600030101010101" pitchFamily="2" charset="-122"/>
              </a:rPr>
              <a:t>俗称人为噪声</a:t>
            </a:r>
            <a:r>
              <a:rPr lang="zh-CN" sz="2800" b="1" dirty="0">
                <a:latin typeface="Times New Roman" panose="02020603050405020304" charset="0"/>
                <a:ea typeface="宋体" panose="02010600030101010101" pitchFamily="2" charset="-122"/>
              </a:rPr>
              <a:t>），</a:t>
            </a:r>
            <a:r>
              <a:rPr lang="zh-CN" sz="2800" b="1" dirty="0">
                <a:ea typeface="宋体" panose="02010600030101010101" pitchFamily="2" charset="-122"/>
              </a:rPr>
              <a:t>还有可能是来自芯片内部的热噪声</a:t>
            </a:r>
            <a:r>
              <a:rPr lang="zh-CN" sz="2800" b="1" dirty="0">
                <a:latin typeface="Times New Roman" panose="02020603050405020304" charset="0"/>
                <a:ea typeface="宋体" panose="02010600030101010101" pitchFamily="2" charset="-122"/>
              </a:rPr>
              <a:t>。</a:t>
            </a:r>
            <a:r>
              <a:rPr lang="en-US" sz="2800" b="1" dirty="0">
                <a:latin typeface="Times New Roman" panose="02020603050405020304" charset="0"/>
                <a:ea typeface="宋体" panose="02010600030101010101" pitchFamily="2" charset="-122"/>
                <a:cs typeface="Times New Roman" panose="02020603050405020304" charset="0"/>
              </a:rPr>
              <a:t>    </a:t>
            </a:r>
            <a:endParaRPr lang="zh-CN" sz="2800" b="1" dirty="0">
              <a:ea typeface="宋体" panose="02010600030101010101" pitchFamily="2" charset="-122"/>
            </a:endParaRPr>
          </a:p>
          <a:p>
            <a:pPr indent="0" fontAlgn="auto">
              <a:lnSpc>
                <a:spcPct val="100000"/>
              </a:lnSpc>
            </a:pPr>
            <a:r>
              <a:rPr lang="zh-CN" sz="2800" b="1" dirty="0">
                <a:ea typeface="宋体" panose="02010600030101010101" pitchFamily="2" charset="-122"/>
              </a:rPr>
              <a:t>接收端正确收到信号的前提是到达接收端信号的信噪比要高于所设定的信噪比门限，当功率设为定值时，接收端信噪比会随着噪声功率的增大而降低，信号校</a:t>
            </a:r>
            <a:r>
              <a:rPr lang="zh-CN" sz="2800" b="1" dirty="0">
                <a:latin typeface="Times New Roman" panose="02020603050405020304" charset="0"/>
                <a:ea typeface="宋体" panose="02010600030101010101" pitchFamily="2" charset="-122"/>
              </a:rPr>
              <a:t>验的准确性会降低，</a:t>
            </a:r>
            <a:r>
              <a:rPr lang="zh-CN" sz="2800" b="1" dirty="0">
                <a:ea typeface="宋体" panose="02010600030101010101" pitchFamily="2" charset="-122"/>
              </a:rPr>
              <a:t>数据包丢失的概</a:t>
            </a:r>
            <a:r>
              <a:rPr lang="zh-CN" sz="2800" b="1" dirty="0">
                <a:latin typeface="Times New Roman" panose="02020603050405020304" charset="0"/>
                <a:ea typeface="宋体" panose="02010600030101010101" pitchFamily="2" charset="-122"/>
              </a:rPr>
              <a:t>率也会增大。</a:t>
            </a:r>
            <a:endParaRPr lang="en-US" sz="2800" b="1" dirty="0">
              <a:latin typeface="Times New Roman" panose="02020603050405020304" charset="0"/>
              <a:ea typeface="宋体" panose="02010600030101010101" pitchFamily="2" charset="-122"/>
            </a:endParaRPr>
          </a:p>
          <a:p>
            <a:pPr indent="0" fontAlgn="auto">
              <a:lnSpc>
                <a:spcPct val="150000"/>
              </a:lnSpc>
            </a:pPr>
            <a:endParaRPr lang="zh-CN" altLang="en-US" sz="2800" b="1" dirty="0"/>
          </a:p>
        </p:txBody>
      </p:sp>
      <p:sp>
        <p:nvSpPr>
          <p:cNvPr id="5"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37515" y="1214755"/>
            <a:ext cx="11316970" cy="5262245"/>
          </a:xfrm>
          <a:prstGeom prst="rect">
            <a:avLst/>
          </a:prstGeom>
          <a:noFill/>
          <a:ln w="9525">
            <a:noFill/>
          </a:ln>
        </p:spPr>
        <p:txBody>
          <a:bodyPr wrap="square">
            <a:spAutoFit/>
          </a:bodyPr>
          <a:lstStyle/>
          <a:p>
            <a:pPr indent="0" fontAlgn="auto">
              <a:lnSpc>
                <a:spcPct val="100000"/>
              </a:lnSpc>
            </a:pPr>
            <a:r>
              <a:rPr lang="en-US" sz="2800" b="1" dirty="0">
                <a:latin typeface="Times New Roman" panose="02020603050405020304" charset="0"/>
                <a:ea typeface="宋体" panose="02010600030101010101" pitchFamily="2" charset="-122"/>
              </a:rPr>
              <a:t>        4.</a:t>
            </a:r>
            <a:r>
              <a:rPr lang="zh-CN" sz="2800" b="1" dirty="0">
                <a:latin typeface="Times New Roman" panose="02020603050405020304" charset="0"/>
                <a:ea typeface="宋体" panose="02010600030101010101" pitchFamily="2" charset="-122"/>
              </a:rPr>
              <a:t>邻节点干扰</a:t>
            </a:r>
            <a:endParaRPr lang="zh-CN" sz="2800" b="1" dirty="0">
              <a:latin typeface="Times New Roman" panose="02020603050405020304" charset="0"/>
              <a:ea typeface="宋体" panose="02010600030101010101" pitchFamily="2" charset="-122"/>
            </a:endParaRPr>
          </a:p>
          <a:p>
            <a:pPr indent="0" fontAlgn="auto">
              <a:lnSpc>
                <a:spcPct val="100000"/>
              </a:lnSpc>
            </a:pPr>
            <a:r>
              <a:rPr lang="en-US" altLang="zh-CN" sz="2800" b="1" dirty="0">
                <a:latin typeface="Times New Roman" panose="02020603050405020304" charset="0"/>
                <a:ea typeface="宋体" panose="02010600030101010101" pitchFamily="2" charset="-122"/>
              </a:rPr>
              <a:t>        </a:t>
            </a:r>
            <a:r>
              <a:rPr lang="zh-CN" sz="2800" b="1" dirty="0">
                <a:latin typeface="Times New Roman" panose="02020603050405020304" charset="0"/>
                <a:ea typeface="宋体" panose="02010600030101010101" pitchFamily="2" charset="-122"/>
              </a:rPr>
              <a:t>在无线传感器网络的实际应用中，节点部署的密度通常都很大，</a:t>
            </a:r>
            <a:r>
              <a:rPr lang="zh-CN" sz="2800" b="1" dirty="0">
                <a:ea typeface="宋体" panose="02010600030101010101" pitchFamily="2" charset="-122"/>
              </a:rPr>
              <a:t>当网络中某个</a:t>
            </a:r>
            <a:r>
              <a:rPr lang="zh-CN" sz="2800" b="1" dirty="0">
                <a:latin typeface="Times New Roman" panose="02020603050405020304" charset="0"/>
                <a:ea typeface="宋体" panose="02010600030101010101" pitchFamily="2" charset="-122"/>
              </a:rPr>
              <a:t>节点对数据进行发送时，其他节点也有可能在同频率上进行数据的传输，在</a:t>
            </a:r>
            <a:r>
              <a:rPr lang="zh-CN" sz="2800" b="1" dirty="0">
                <a:ea typeface="宋体" panose="02010600030101010101" pitchFamily="2" charset="-122"/>
              </a:rPr>
              <a:t>这种情</a:t>
            </a:r>
            <a:r>
              <a:rPr lang="zh-CN" sz="2800" b="1" dirty="0">
                <a:latin typeface="Times New Roman" panose="02020603050405020304" charset="0"/>
                <a:ea typeface="宋体" panose="02010600030101010101" pitchFamily="2" charset="-122"/>
              </a:rPr>
              <a:t>况下，</a:t>
            </a:r>
            <a:r>
              <a:rPr lang="zh-CN" sz="2800" b="1" dirty="0">
                <a:ea typeface="宋体" panose="02010600030101010101" pitchFamily="2" charset="-122"/>
              </a:rPr>
              <a:t>信号就会产生叠加，将这种</a:t>
            </a:r>
            <a:r>
              <a:rPr lang="zh-CN" sz="2800" b="1" dirty="0">
                <a:latin typeface="Times New Roman" panose="02020603050405020304" charset="0"/>
                <a:ea typeface="宋体" panose="02010600030101010101" pitchFamily="2" charset="-122"/>
              </a:rPr>
              <a:t>不同于噪声干扰的现象称为邻节点干扰。由于无线电信号采用的编码方式基本相同，所以这种干扰对信号的准确性会产生很大的影响。为了避免上</a:t>
            </a:r>
            <a:r>
              <a:rPr lang="zh-CN" sz="2800" b="1" dirty="0">
                <a:ea typeface="宋体" panose="02010600030101010101" pitchFamily="2" charset="-122"/>
              </a:rPr>
              <a:t>述干扰，研究者们根据无线传感</a:t>
            </a:r>
            <a:r>
              <a:rPr lang="zh-CN" sz="2800" b="1" dirty="0">
                <a:latin typeface="Times New Roman" panose="02020603050405020304" charset="0"/>
                <a:ea typeface="宋体" panose="02010600030101010101" pitchFamily="2" charset="-122"/>
              </a:rPr>
              <a:t>器网络的协议特点提出了载波侦听多路访问机制（</a:t>
            </a:r>
            <a:r>
              <a:rPr lang="en-US" sz="2800" b="1" dirty="0">
                <a:latin typeface="Times New Roman" panose="02020603050405020304" charset="0"/>
                <a:ea typeface="宋体" panose="02010600030101010101" pitchFamily="2" charset="-122"/>
              </a:rPr>
              <a:t>Carrier Sense Multiple Access, CSMA</a:t>
            </a:r>
            <a:r>
              <a:rPr lang="zh-CN" sz="2800" b="1" dirty="0">
                <a:latin typeface="Times New Roman" panose="02020603050405020304" charset="0"/>
                <a:ea typeface="宋体" panose="02010600030101010101" pitchFamily="2" charset="-122"/>
              </a:rPr>
              <a:t>）。</a:t>
            </a:r>
            <a:r>
              <a:rPr lang="zh-CN" sz="2800" b="1" dirty="0">
                <a:ea typeface="宋体" panose="02010600030101010101" pitchFamily="2" charset="-122"/>
              </a:rPr>
              <a:t>它是一种介质访问控制协议，目</a:t>
            </a:r>
            <a:r>
              <a:rPr lang="zh-CN" sz="2800" b="1" dirty="0">
                <a:latin typeface="Times New Roman" panose="02020603050405020304" charset="0"/>
                <a:ea typeface="宋体" panose="02010600030101010101" pitchFamily="2" charset="-122"/>
              </a:rPr>
              <a:t>的是使网络中的</a:t>
            </a:r>
            <a:r>
              <a:rPr lang="zh-CN" sz="2800" b="1" dirty="0">
                <a:ea typeface="宋体" panose="02010600030101010101" pitchFamily="2" charset="-122"/>
              </a:rPr>
              <a:t>节点</a:t>
            </a:r>
            <a:r>
              <a:rPr lang="zh-CN" sz="2800" b="1" dirty="0">
                <a:latin typeface="Times New Roman" panose="02020603050405020304" charset="0"/>
                <a:ea typeface="宋体" panose="02010600030101010101" pitchFamily="2" charset="-122"/>
              </a:rPr>
              <a:t>都能够独立地接收和发送数据。当一个节点</a:t>
            </a:r>
            <a:r>
              <a:rPr lang="zh-CN" sz="2800" b="1" dirty="0">
                <a:ea typeface="宋体" panose="02010600030101010101" pitchFamily="2" charset="-122"/>
              </a:rPr>
              <a:t>准备发送数据时，</a:t>
            </a:r>
            <a:r>
              <a:rPr lang="zh-CN" sz="2800" b="1" dirty="0">
                <a:latin typeface="Times New Roman" panose="02020603050405020304" charset="0"/>
                <a:ea typeface="宋体" panose="02010600030101010101" pitchFamily="2" charset="-122"/>
              </a:rPr>
              <a:t>首先要进行载波侦听来确定当前信道是否空闲，只有信道空闲时，才能进行数据的传输，这种控制协议原理比较简单，实现起来比较容易，可以有效地降低节点间的干扰。</a:t>
            </a:r>
            <a:endParaRPr lang="zh-CN" altLang="en-US" sz="2800" b="1" dirty="0"/>
          </a:p>
        </p:txBody>
      </p:sp>
      <p:sp>
        <p:nvSpPr>
          <p:cNvPr id="5"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99770" y="1209675"/>
            <a:ext cx="10641965" cy="3415030"/>
          </a:xfrm>
          <a:prstGeom prst="rect">
            <a:avLst/>
          </a:prstGeom>
          <a:noFill/>
          <a:ln w="9525">
            <a:noFill/>
          </a:ln>
        </p:spPr>
        <p:txBody>
          <a:bodyPr wrap="square">
            <a:spAutoFit/>
          </a:bodyPr>
          <a:lstStyle/>
          <a:p>
            <a:pPr indent="0" fontAlgn="auto">
              <a:lnSpc>
                <a:spcPct val="100000"/>
              </a:lnSpc>
            </a:pPr>
            <a:r>
              <a:rPr lang="en-US" sz="2400" b="1" dirty="0">
                <a:latin typeface="Times New Roman" panose="02020603050405020304" charset="0"/>
                <a:ea typeface="宋体" panose="02010600030101010101" pitchFamily="2" charset="-122"/>
              </a:rPr>
              <a:t>         5.</a:t>
            </a:r>
            <a:r>
              <a:rPr lang="zh-CN" sz="2400" b="1" dirty="0">
                <a:latin typeface="Times New Roman" panose="02020603050405020304" charset="0"/>
                <a:ea typeface="宋体" panose="02010600030101010101" pitchFamily="2" charset="-122"/>
              </a:rPr>
              <a:t>链</a:t>
            </a:r>
            <a:r>
              <a:rPr lang="zh-CN" sz="2400" b="1" dirty="0">
                <a:ea typeface="宋体" panose="02010600030101010101" pitchFamily="2" charset="-122"/>
              </a:rPr>
              <a:t>路的非对称性</a:t>
            </a:r>
            <a:endParaRPr lang="zh-CN" sz="2400" b="1" dirty="0">
              <a:ea typeface="宋体" panose="02010600030101010101" pitchFamily="2" charset="-122"/>
            </a:endParaRPr>
          </a:p>
          <a:p>
            <a:pPr indent="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在无线传感器网络中，由于节点所处的环境和性能基本相同，因此往往会认为链路是对称的。但事实上并非如此，图</a:t>
            </a:r>
            <a:r>
              <a:rPr lang="en-US" sz="2400" b="1" dirty="0">
                <a:latin typeface="Times New Roman" panose="02020603050405020304" charset="0"/>
                <a:ea typeface="宋体" panose="02010600030101010101" pitchFamily="2" charset="-122"/>
              </a:rPr>
              <a:t>3-1-2</a:t>
            </a:r>
            <a:r>
              <a:rPr lang="zh-CN" sz="2400" b="1" dirty="0">
                <a:ea typeface="宋体" panose="02010600030101010101" pitchFamily="2" charset="-122"/>
              </a:rPr>
              <a:t>所示是一个点对点的链路示意图，这里可以用包接收率来量化链路特性，</a:t>
            </a:r>
            <a:r>
              <a:rPr lang="en-US" sz="2400" b="1" dirty="0">
                <a:latin typeface="Times New Roman" panose="02020603050405020304" charset="0"/>
                <a:ea typeface="宋体" panose="02010600030101010101" pitchFamily="2" charset="-122"/>
              </a:rPr>
              <a:t>P</a:t>
            </a:r>
            <a:r>
              <a:rPr lang="en-US" sz="2400" b="1" baseline="-25000" dirty="0">
                <a:latin typeface="Times New Roman" panose="02020603050405020304" charset="0"/>
                <a:ea typeface="宋体" panose="02010600030101010101" pitchFamily="2" charset="-122"/>
              </a:rPr>
              <a:t>1</a:t>
            </a:r>
            <a:r>
              <a:rPr lang="zh-CN" sz="2400" b="1" dirty="0">
                <a:ea typeface="宋体" panose="02010600030101010101" pitchFamily="2" charset="-122"/>
              </a:rPr>
              <a:t>代表节点</a:t>
            </a:r>
            <a:r>
              <a:rPr lang="en-US" sz="2400" b="1" dirty="0">
                <a:latin typeface="Times New Roman" panose="02020603050405020304" charset="0"/>
                <a:ea typeface="宋体" panose="02010600030101010101" pitchFamily="2" charset="-122"/>
              </a:rPr>
              <a:t>A</a:t>
            </a:r>
            <a:r>
              <a:rPr lang="zh-CN" sz="2400" b="1" dirty="0">
                <a:ea typeface="宋体" panose="02010600030101010101" pitchFamily="2" charset="-122"/>
              </a:rPr>
              <a:t>向节点</a:t>
            </a:r>
            <a:r>
              <a:rPr lang="en-US" sz="2400" b="1" dirty="0">
                <a:latin typeface="Times New Roman" panose="02020603050405020304" charset="0"/>
                <a:ea typeface="宋体" panose="02010600030101010101" pitchFamily="2" charset="-122"/>
              </a:rPr>
              <a:t>B</a:t>
            </a:r>
            <a:r>
              <a:rPr lang="zh-CN" sz="2400" b="1" dirty="0">
                <a:ea typeface="宋体" panose="02010600030101010101" pitchFamily="2" charset="-122"/>
              </a:rPr>
              <a:t>发送数据时，节点</a:t>
            </a:r>
            <a:r>
              <a:rPr lang="en-US" sz="2400" b="1" dirty="0">
                <a:latin typeface="Times New Roman" panose="02020603050405020304" charset="0"/>
                <a:ea typeface="宋体" panose="02010600030101010101" pitchFamily="2" charset="-122"/>
              </a:rPr>
              <a:t>B</a:t>
            </a:r>
            <a:r>
              <a:rPr lang="zh-CN" sz="2400" b="1" dirty="0">
                <a:ea typeface="宋体" panose="02010600030101010101" pitchFamily="2" charset="-122"/>
              </a:rPr>
              <a:t>的包接收率</a:t>
            </a:r>
            <a:r>
              <a:rPr lang="zh-CN" sz="2400" b="1" dirty="0">
                <a:latin typeface="Times New Roman" panose="02020603050405020304" charset="0"/>
                <a:ea typeface="宋体" panose="02010600030101010101" pitchFamily="2" charset="-122"/>
              </a:rPr>
              <a:t>；</a:t>
            </a:r>
            <a:r>
              <a:rPr lang="en-US" sz="2400" b="1" dirty="0">
                <a:latin typeface="Times New Roman" panose="02020603050405020304" charset="0"/>
                <a:ea typeface="宋体" panose="02010600030101010101" pitchFamily="2" charset="-122"/>
              </a:rPr>
              <a:t>P</a:t>
            </a:r>
            <a:r>
              <a:rPr lang="en-US" sz="2400" b="1" baseline="-25000" dirty="0">
                <a:latin typeface="Times New Roman" panose="02020603050405020304" charset="0"/>
                <a:ea typeface="宋体" panose="02010600030101010101" pitchFamily="2" charset="-122"/>
              </a:rPr>
              <a:t>2</a:t>
            </a:r>
            <a:r>
              <a:rPr lang="zh-CN" sz="2400" b="1" dirty="0">
                <a:ea typeface="宋体" panose="02010600030101010101" pitchFamily="2" charset="-122"/>
              </a:rPr>
              <a:t>代表节点</a:t>
            </a:r>
            <a:r>
              <a:rPr lang="en-US" sz="2400" b="1" dirty="0">
                <a:latin typeface="Times New Roman" panose="02020603050405020304" charset="0"/>
                <a:ea typeface="宋体" panose="02010600030101010101" pitchFamily="2" charset="-122"/>
              </a:rPr>
              <a:t>B</a:t>
            </a:r>
            <a:r>
              <a:rPr lang="zh-CN" sz="2400" b="1" dirty="0">
                <a:ea typeface="宋体" panose="02010600030101010101" pitchFamily="2" charset="-122"/>
              </a:rPr>
              <a:t>向节点</a:t>
            </a:r>
            <a:r>
              <a:rPr lang="en-US" sz="2400" b="1" dirty="0">
                <a:latin typeface="Times New Roman" panose="02020603050405020304" charset="0"/>
                <a:ea typeface="宋体" panose="02010600030101010101" pitchFamily="2" charset="-122"/>
              </a:rPr>
              <a:t>A</a:t>
            </a:r>
            <a:r>
              <a:rPr lang="zh-CN" sz="2400" b="1" dirty="0">
                <a:ea typeface="宋体" panose="02010600030101010101" pitchFamily="2" charset="-122"/>
              </a:rPr>
              <a:t>发送数据时，节点</a:t>
            </a:r>
            <a:r>
              <a:rPr lang="en-US" sz="2400" b="1" dirty="0">
                <a:latin typeface="Times New Roman" panose="02020603050405020304" charset="0"/>
                <a:ea typeface="宋体" panose="02010600030101010101" pitchFamily="2" charset="-122"/>
              </a:rPr>
              <a:t>A</a:t>
            </a:r>
            <a:r>
              <a:rPr lang="zh-CN" sz="2400" b="1" dirty="0">
                <a:ea typeface="宋体" panose="02010600030101010101" pitchFamily="2" charset="-122"/>
              </a:rPr>
              <a:t>的包接收率。一般来说，当</a:t>
            </a:r>
            <a:r>
              <a:rPr lang="en-US" sz="2400" b="1" dirty="0">
                <a:latin typeface="Times New Roman" panose="02020603050405020304" charset="0"/>
                <a:ea typeface="宋体" panose="02010600030101010101" pitchFamily="2" charset="-122"/>
              </a:rPr>
              <a:t>|P</a:t>
            </a:r>
            <a:r>
              <a:rPr lang="en-US" sz="2400" b="1" baseline="-25000" dirty="0">
                <a:latin typeface="Times New Roman" panose="02020603050405020304" charset="0"/>
                <a:ea typeface="宋体" panose="02010600030101010101" pitchFamily="2" charset="-122"/>
              </a:rPr>
              <a:t>1</a:t>
            </a:r>
            <a:r>
              <a:rPr lang="en-US" sz="2400" b="1" dirty="0">
                <a:latin typeface="Times New Roman" panose="02020603050405020304" charset="0"/>
                <a:ea typeface="宋体" panose="02010600030101010101" pitchFamily="2" charset="-122"/>
              </a:rPr>
              <a:t>-P</a:t>
            </a:r>
            <a:r>
              <a:rPr lang="en-US" sz="2400" b="1" baseline="-25000" dirty="0">
                <a:latin typeface="Times New Roman" panose="02020603050405020304" charset="0"/>
                <a:ea typeface="宋体" panose="02010600030101010101" pitchFamily="2" charset="-122"/>
              </a:rPr>
              <a:t>2</a:t>
            </a:r>
            <a:r>
              <a:rPr lang="en-US" sz="2400" b="1" dirty="0">
                <a:latin typeface="Times New Roman" panose="02020603050405020304" charset="0"/>
                <a:ea typeface="宋体" panose="02010600030101010101" pitchFamily="2" charset="-122"/>
              </a:rPr>
              <a:t>|≥0.25</a:t>
            </a:r>
            <a:r>
              <a:rPr lang="zh-CN" sz="2400" b="1" dirty="0">
                <a:ea typeface="宋体" panose="02010600030101010101" pitchFamily="2" charset="-122"/>
              </a:rPr>
              <a:t>时，就会认为这两个链路之间是非对称性的。此外，多径效应也可能会使链路之间的衰减存在差异</a:t>
            </a:r>
            <a:r>
              <a:rPr lang="zh-CN" sz="2400" b="1" dirty="0">
                <a:latin typeface="Times New Roman" panose="02020603050405020304" charset="0"/>
                <a:ea typeface="宋体" panose="02010600030101010101" pitchFamily="2" charset="-122"/>
              </a:rPr>
              <a:t>。</a:t>
            </a:r>
            <a:endParaRPr lang="zh-CN" sz="2400" b="1" dirty="0">
              <a:ea typeface="宋体" panose="02010600030101010101" pitchFamily="2" charset="-122"/>
            </a:endParaRPr>
          </a:p>
          <a:p>
            <a:pPr indent="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链路的非对称性不仅会对上层协议的性能造成</a:t>
            </a:r>
            <a:r>
              <a:rPr lang="zh-CN" sz="2400" b="1" dirty="0">
                <a:latin typeface="Times New Roman" panose="02020603050405020304" charset="0"/>
                <a:ea typeface="宋体" panose="02010600030101010101" pitchFamily="2" charset="-122"/>
              </a:rPr>
              <a:t>很大的影响，而且会使整个网络</a:t>
            </a:r>
            <a:r>
              <a:rPr lang="zh-CN" sz="2400" b="1" dirty="0">
                <a:ea typeface="宋体" panose="02010600030101010101" pitchFamily="2" charset="-122"/>
              </a:rPr>
              <a:t>的通信变得很不可靠，大大降低了网络的性能。</a:t>
            </a:r>
            <a:endParaRPr lang="zh-CN" altLang="en-US" sz="2400" b="1" dirty="0"/>
          </a:p>
        </p:txBody>
      </p:sp>
      <p:sp>
        <p:nvSpPr>
          <p:cNvPr id="6" name="文本框 5"/>
          <p:cNvSpPr txBox="1"/>
          <p:nvPr/>
        </p:nvSpPr>
        <p:spPr>
          <a:xfrm>
            <a:off x="3065145" y="6373495"/>
            <a:ext cx="5080000" cy="368300"/>
          </a:xfrm>
          <a:prstGeom prst="rect">
            <a:avLst/>
          </a:prstGeom>
          <a:noFill/>
          <a:ln w="9525">
            <a:noFill/>
          </a:ln>
        </p:spPr>
        <p:txBody>
          <a:bodyPr>
            <a:spAutoFit/>
          </a:bodyPr>
          <a:lstStyle/>
          <a:p>
            <a:pPr indent="0" algn="ctr"/>
            <a:r>
              <a:rPr lang="zh-CN" b="1" dirty="0">
                <a:latin typeface="Times New Roman" panose="02020603050405020304" charset="0"/>
                <a:ea typeface="宋体" panose="02010600030101010101" pitchFamily="2" charset="-122"/>
              </a:rPr>
              <a:t>图</a:t>
            </a:r>
            <a:r>
              <a:rPr lang="en-US" b="1" dirty="0">
                <a:latin typeface="Times New Roman" panose="02020603050405020304" charset="0"/>
                <a:ea typeface="宋体" panose="02010600030101010101" pitchFamily="2" charset="-122"/>
              </a:rPr>
              <a:t>3-1-2  </a:t>
            </a:r>
            <a:r>
              <a:rPr lang="zh-CN" b="1" dirty="0">
                <a:ea typeface="宋体" panose="02010600030101010101" pitchFamily="2" charset="-122"/>
              </a:rPr>
              <a:t>无线链路传播示意图</a:t>
            </a:r>
            <a:endParaRPr lang="zh-CN" altLang="en-US" b="1" dirty="0"/>
          </a:p>
        </p:txBody>
      </p:sp>
      <p:sp>
        <p:nvSpPr>
          <p:cNvPr id="7"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3.1.1  物理层特性</a:t>
            </a:r>
            <a:endParaRPr b="1">
              <a:uFillTx/>
              <a:ea typeface="宋体" panose="02010600030101010101" pitchFamily="2" charset="-122"/>
              <a:sym typeface="+mn-ea"/>
            </a:endParaRPr>
          </a:p>
        </p:txBody>
      </p:sp>
      <p:pic>
        <p:nvPicPr>
          <p:cNvPr id="8" name="图片 7"/>
          <p:cNvPicPr/>
          <p:nvPr/>
        </p:nvPicPr>
        <p:blipFill>
          <a:blip r:embed="rId2"/>
          <a:stretch>
            <a:fillRect/>
          </a:stretch>
        </p:blipFill>
        <p:spPr>
          <a:xfrm>
            <a:off x="2874645" y="4624705"/>
            <a:ext cx="5944235" cy="174879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0120" y="1507490"/>
            <a:ext cx="9808210" cy="3538220"/>
          </a:xfrm>
          <a:prstGeom prst="rect">
            <a:avLst/>
          </a:prstGeom>
          <a:noFill/>
          <a:ln w="9525">
            <a:noFill/>
          </a:ln>
        </p:spPr>
        <p:txBody>
          <a:bodyPr wrap="square">
            <a:spAutoFit/>
          </a:bodyPr>
          <a:lstStyle/>
          <a:p>
            <a:pPr indent="0" fontAlgn="auto">
              <a:lnSpc>
                <a:spcPct val="100000"/>
              </a:lnSpc>
            </a:pPr>
            <a:r>
              <a:rPr lang="zh-CN" sz="2800" b="1" dirty="0">
                <a:latin typeface="Times New Roman" panose="02020603050405020304" charset="0"/>
                <a:ea typeface="宋体" panose="02010600030101010101" pitchFamily="2" charset="-122"/>
              </a:rPr>
              <a:t>物理层的设计目标是以尽可能少的能量消耗获得较大的链路容量。物理层设计的一</a:t>
            </a:r>
            <a:r>
              <a:rPr lang="zh-CN" sz="2800" b="1" dirty="0">
                <a:ea typeface="宋体" panose="02010600030101010101" pitchFamily="2" charset="-122"/>
              </a:rPr>
              <a:t>些非常重要的问题如下</a:t>
            </a:r>
            <a:r>
              <a:rPr lang="zh-CN" sz="2800" b="1" dirty="0">
                <a:latin typeface="Times New Roman" panose="02020603050405020304" charset="0"/>
                <a:ea typeface="宋体" panose="02010600030101010101" pitchFamily="2" charset="-122"/>
              </a:rPr>
              <a:t>：</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(1) </a:t>
            </a:r>
            <a:r>
              <a:rPr lang="zh-CN" sz="2800" b="1" dirty="0">
                <a:ea typeface="宋体" panose="02010600030101010101" pitchFamily="2" charset="-122"/>
              </a:rPr>
              <a:t>低功耗问题</a:t>
            </a:r>
            <a:r>
              <a:rPr lang="zh-CN" sz="2800" b="1" dirty="0">
                <a:latin typeface="Times New Roman" panose="02020603050405020304" charset="0"/>
                <a:ea typeface="宋体" panose="02010600030101010101" pitchFamily="2" charset="-122"/>
              </a:rPr>
              <a:t>。</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(2) </a:t>
            </a:r>
            <a:r>
              <a:rPr lang="zh-CN" sz="2800" b="1" dirty="0">
                <a:ea typeface="宋体" panose="02010600030101010101" pitchFamily="2" charset="-122"/>
              </a:rPr>
              <a:t>低发射功率和小传播范围。</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(3) </a:t>
            </a:r>
            <a:r>
              <a:rPr lang="zh-CN" sz="2800" b="1" dirty="0">
                <a:ea typeface="宋体" panose="02010600030101010101" pitchFamily="2" charset="-122"/>
              </a:rPr>
              <a:t>低占空系数问题</a:t>
            </a:r>
            <a:r>
              <a:rPr lang="zh-CN" sz="2800" b="1" dirty="0">
                <a:latin typeface="Times New Roman" panose="02020603050405020304" charset="0"/>
                <a:ea typeface="宋体" panose="02010600030101010101" pitchFamily="2" charset="-122"/>
              </a:rPr>
              <a:t>。</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(4) </a:t>
            </a:r>
            <a:r>
              <a:rPr lang="zh-CN" sz="2800" b="1" dirty="0">
                <a:ea typeface="宋体" panose="02010600030101010101" pitchFamily="2" charset="-122"/>
              </a:rPr>
              <a:t>相对较低的数据</a:t>
            </a:r>
            <a:r>
              <a:rPr lang="zh-CN" sz="2800" b="1" dirty="0">
                <a:latin typeface="Times New Roman" panose="02020603050405020304" charset="0"/>
                <a:ea typeface="宋体" panose="02010600030101010101" pitchFamily="2" charset="-122"/>
              </a:rPr>
              <a:t>率（一般来说几十或几百</a:t>
            </a:r>
            <a:r>
              <a:rPr lang="en-US" sz="2800" b="1" dirty="0">
                <a:latin typeface="Times New Roman" panose="02020603050405020304" charset="0"/>
                <a:ea typeface="宋体" panose="02010600030101010101" pitchFamily="2" charset="-122"/>
              </a:rPr>
              <a:t>kb/s</a:t>
            </a:r>
            <a:r>
              <a:rPr lang="zh-CN" sz="2800" b="1" dirty="0">
                <a:latin typeface="Times New Roman" panose="02020603050405020304" charset="0"/>
                <a:ea typeface="宋体" panose="02010600030101010101" pitchFamily="2" charset="-122"/>
              </a:rPr>
              <a:t>）。</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(5) </a:t>
            </a:r>
            <a:r>
              <a:rPr lang="zh-CN" sz="2800" b="1" dirty="0">
                <a:latin typeface="Times New Roman" panose="02020603050405020304" charset="0"/>
                <a:ea typeface="宋体" panose="02010600030101010101" pitchFamily="2" charset="-122"/>
              </a:rPr>
              <a:t>较低</a:t>
            </a:r>
            <a:r>
              <a:rPr lang="zh-CN" sz="2800" b="1" dirty="0">
                <a:ea typeface="宋体" panose="02010600030101010101" pitchFamily="2" charset="-122"/>
              </a:rPr>
              <a:t>的实现复杂度和较低的</a:t>
            </a:r>
            <a:r>
              <a:rPr lang="zh-CN" sz="2800" b="1" dirty="0">
                <a:latin typeface="Times New Roman" panose="02020603050405020304" charset="0"/>
                <a:ea typeface="宋体" panose="02010600030101010101" pitchFamily="2" charset="-122"/>
              </a:rPr>
              <a:t>成本。</a:t>
            </a:r>
            <a:endParaRPr lang="en-US" sz="2800" b="1" dirty="0">
              <a:latin typeface="Times New Roman" panose="02020603050405020304" charset="0"/>
              <a:ea typeface="宋体" panose="02010600030101010101" pitchFamily="2" charset="-122"/>
            </a:endParaRPr>
          </a:p>
          <a:p>
            <a:pPr indent="0" fontAlgn="auto">
              <a:lnSpc>
                <a:spcPct val="100000"/>
              </a:lnSpc>
            </a:pPr>
            <a:r>
              <a:rPr lang="en-US" sz="2800" b="1" dirty="0">
                <a:latin typeface="Times New Roman" panose="02020603050405020304" charset="0"/>
                <a:ea typeface="宋体" panose="02010600030101010101" pitchFamily="2" charset="-122"/>
              </a:rPr>
              <a:t>(6) </a:t>
            </a:r>
            <a:r>
              <a:rPr lang="zh-CN" sz="2800" b="1" dirty="0">
                <a:latin typeface="Times New Roman" panose="02020603050405020304" charset="0"/>
                <a:ea typeface="宋体" panose="02010600030101010101" pitchFamily="2" charset="-122"/>
              </a:rPr>
              <a:t>较小的移动程度。</a:t>
            </a:r>
            <a:endParaRPr lang="zh-CN" altLang="en-US" sz="2800" b="1" dirty="0"/>
          </a:p>
        </p:txBody>
      </p:sp>
      <p:sp>
        <p:nvSpPr>
          <p:cNvPr id="7" name="标题 1"/>
          <p:cNvSpPr>
            <a:spLocks noGrp="1"/>
          </p:cNvSpPr>
          <p:nvPr/>
        </p:nvSpPr>
        <p:spPr>
          <a:xfrm>
            <a:off x="72898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3.1.2  物理层设计要求</a:t>
            </a:r>
            <a:endParaRPr b="1">
              <a:uFillTx/>
              <a:ea typeface="宋体" panose="02010600030101010101" pitchFamily="2"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2595" y="1325880"/>
            <a:ext cx="11547475" cy="5692775"/>
          </a:xfrm>
          <a:prstGeom prst="rect">
            <a:avLst/>
          </a:prstGeom>
          <a:noFill/>
          <a:ln w="9525">
            <a:noFill/>
          </a:ln>
        </p:spPr>
        <p:txBody>
          <a:bodyPr wrap="square">
            <a:spAutoFit/>
          </a:bodyPr>
          <a:lstStyle/>
          <a:p>
            <a:pPr indent="266700" fontAlgn="auto">
              <a:lnSpc>
                <a:spcPct val="100000"/>
              </a:lnSpc>
            </a:pPr>
            <a:r>
              <a:rPr lang="en-US" altLang="zh-CN" sz="2400" b="1" dirty="0">
                <a:latin typeface="宋体" panose="02010600030101010101" pitchFamily="2" charset="-122"/>
                <a:ea typeface="宋体" panose="02010600030101010101" pitchFamily="2" charset="-122"/>
                <a:cs typeface="宋体" panose="02010600030101010101" pitchFamily="2" charset="-122"/>
              </a:rPr>
              <a:t>  </a:t>
            </a:r>
            <a:r>
              <a:rPr lang="zh-CN" sz="2200" b="1" dirty="0">
                <a:latin typeface="宋体" panose="02010600030101010101" pitchFamily="2" charset="-122"/>
                <a:ea typeface="宋体" panose="02010600030101010101" pitchFamily="2" charset="-122"/>
                <a:cs typeface="宋体" panose="02010600030101010101" pitchFamily="2" charset="-122"/>
              </a:rPr>
              <a:t>无线传感器网络的物理层设计面临以下挑战：</a:t>
            </a:r>
            <a:endParaRPr lang="en-US" sz="2200" b="1" dirty="0">
              <a:latin typeface="宋体" panose="02010600030101010101" pitchFamily="2" charset="-122"/>
              <a:ea typeface="宋体" panose="02010600030101010101" pitchFamily="2" charset="-122"/>
              <a:cs typeface="宋体" panose="02010600030101010101" pitchFamily="2" charset="-122"/>
            </a:endParaRPr>
          </a:p>
          <a:p>
            <a:pPr indent="266700" fontAlgn="auto">
              <a:lnSpc>
                <a:spcPct val="100000"/>
              </a:lnSpc>
            </a:pPr>
            <a:r>
              <a:rPr lang="en-US" sz="2200" b="1" dirty="0">
                <a:latin typeface="宋体" panose="02010600030101010101" pitchFamily="2" charset="-122"/>
                <a:ea typeface="宋体" panose="02010600030101010101" pitchFamily="2" charset="-122"/>
                <a:cs typeface="宋体" panose="02010600030101010101" pitchFamily="2" charset="-122"/>
              </a:rPr>
              <a:t>  1.</a:t>
            </a:r>
            <a:r>
              <a:rPr lang="zh-CN" sz="2200" b="1" dirty="0">
                <a:latin typeface="宋体" panose="02010600030101010101" pitchFamily="2" charset="-122"/>
                <a:ea typeface="宋体" panose="02010600030101010101" pitchFamily="2" charset="-122"/>
                <a:cs typeface="宋体" panose="02010600030101010101" pitchFamily="2" charset="-122"/>
              </a:rPr>
              <a:t>成本</a:t>
            </a:r>
            <a:endParaRPr lang="zh-CN" sz="22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en-US" altLang="zh-CN" sz="2200" b="1" dirty="0">
                <a:latin typeface="宋体" panose="02010600030101010101" pitchFamily="2" charset="-122"/>
                <a:ea typeface="宋体" panose="02010600030101010101" pitchFamily="2" charset="-122"/>
                <a:cs typeface="宋体" panose="02010600030101010101" pitchFamily="2" charset="-122"/>
              </a:rPr>
              <a:t>    </a:t>
            </a:r>
            <a:r>
              <a:rPr lang="zh-CN" sz="2200" b="1" dirty="0">
                <a:latin typeface="宋体" panose="02010600030101010101" pitchFamily="2" charset="-122"/>
                <a:ea typeface="宋体" panose="02010600030101010101" pitchFamily="2" charset="-122"/>
                <a:cs typeface="宋体" panose="02010600030101010101" pitchFamily="2" charset="-122"/>
              </a:rPr>
              <a:t>低成本是无线传感器网络节点设计的基本要求。只有低成本，才能将节点大量地布置到目标区域内，表现</a:t>
            </a:r>
            <a:r>
              <a:rPr lang="zh-CN" sz="2200" b="1" dirty="0">
                <a:latin typeface="宋体" panose="02010600030101010101" pitchFamily="2" charset="-122"/>
                <a:ea typeface="宋体" panose="02010600030101010101" pitchFamily="2" charset="-122"/>
                <a:cs typeface="宋体" panose="02010600030101010101" pitchFamily="2" charset="-122"/>
              </a:rPr>
              <a:t>出无线传感器网络的各种优点。物理层的设计直接影响到整个网络的硬件成本。节点最大限度</a:t>
            </a:r>
            <a:r>
              <a:rPr lang="zh-CN" sz="2200" b="1" dirty="0">
                <a:latin typeface="宋体" panose="02010600030101010101" pitchFamily="2" charset="-122"/>
                <a:ea typeface="宋体" panose="02010600030101010101" pitchFamily="2" charset="-122"/>
                <a:cs typeface="宋体" panose="02010600030101010101" pitchFamily="2" charset="-122"/>
              </a:rPr>
              <a:t>地集成化设计、减少分立元件是降低成本的主要手段。</a:t>
            </a:r>
            <a:endParaRPr lang="zh-CN" sz="22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sz="2200" b="1" dirty="0">
                <a:latin typeface="宋体" panose="02010600030101010101" pitchFamily="2" charset="-122"/>
                <a:ea typeface="宋体" panose="02010600030101010101" pitchFamily="2" charset="-122"/>
                <a:cs typeface="宋体" panose="02010600030101010101" pitchFamily="2" charset="-122"/>
                <a:sym typeface="+mn-ea"/>
              </a:rPr>
              <a:t>随着</a:t>
            </a:r>
            <a:r>
              <a:rPr lang="en-US" sz="2200" b="1" dirty="0">
                <a:latin typeface="宋体" panose="02010600030101010101" pitchFamily="2" charset="-122"/>
                <a:ea typeface="宋体" panose="02010600030101010101" pitchFamily="2" charset="-122"/>
                <a:cs typeface="宋体" panose="02010600030101010101" pitchFamily="2" charset="-122"/>
                <a:sym typeface="+mn-ea"/>
              </a:rPr>
              <a:t>CMOS</a:t>
            </a:r>
            <a:r>
              <a:rPr lang="zh-CN" sz="2200" b="1" dirty="0">
                <a:latin typeface="宋体" panose="02010600030101010101" pitchFamily="2" charset="-122"/>
                <a:ea typeface="宋体" panose="02010600030101010101" pitchFamily="2" charset="-122"/>
                <a:cs typeface="宋体" panose="02010600030101010101" pitchFamily="2" charset="-122"/>
                <a:sym typeface="+mn-ea"/>
              </a:rPr>
              <a:t>工艺技术的发展，数字单元基本已完全可以基于</a:t>
            </a:r>
            <a:r>
              <a:rPr lang="en-US" sz="2200" b="1" dirty="0">
                <a:latin typeface="宋体" panose="02010600030101010101" pitchFamily="2" charset="-122"/>
                <a:ea typeface="宋体" panose="02010600030101010101" pitchFamily="2" charset="-122"/>
                <a:cs typeface="宋体" panose="02010600030101010101" pitchFamily="2" charset="-122"/>
                <a:sym typeface="+mn-ea"/>
              </a:rPr>
              <a:t>CMOS</a:t>
            </a:r>
            <a:r>
              <a:rPr lang="zh-CN" sz="2200" b="1" dirty="0">
                <a:latin typeface="宋体" panose="02010600030101010101" pitchFamily="2" charset="-122"/>
                <a:ea typeface="宋体" panose="02010600030101010101" pitchFamily="2" charset="-122"/>
                <a:cs typeface="宋体" panose="02010600030101010101" pitchFamily="2" charset="-122"/>
                <a:sym typeface="+mn-ea"/>
              </a:rPr>
              <a:t>工艺实现，并且体积也越来越小；但是模拟部分，尤其是射</a:t>
            </a:r>
            <a:r>
              <a:rPr lang="zh-CN" sz="2200" b="1" dirty="0">
                <a:latin typeface="宋体" panose="02010600030101010101" pitchFamily="2" charset="-122"/>
                <a:ea typeface="宋体" panose="02010600030101010101" pitchFamily="2" charset="-122"/>
                <a:cs typeface="宋体" panose="02010600030101010101" pitchFamily="2" charset="-122"/>
                <a:sym typeface="+mn-ea"/>
              </a:rPr>
              <a:t>频单元的集成化设计仍需占用很大的芯片面积，所以靠近天线的数字化射频收发机的研究是降低当前通信前端电路成本的主要途径。</a:t>
            </a:r>
            <a:endParaRPr lang="zh-CN" sz="22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2.功耗    </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0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无线传感器网络推荐使用免许可证频段ISM。在物理层技术选择方面，环境的信号传播特性、物理层技术的能耗是设计的关键问题。传感器网络的典型信道属于近地面信道，其传播损耗因子较大，且天线高度距离地面越近，其损耗因子就越大，这是物理层设计的不利因素。然而无线传感器网络的某些内在特征也有利于设计的方面，如高密度部署的无线传感器网络具有分集特性，可以用来克服阴影效应和路径损耗。</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a:p>
            <a:pPr indent="266700" fontAlgn="auto">
              <a:lnSpc>
                <a:spcPct val="150000"/>
              </a:lnSpc>
            </a:pPr>
            <a:endParaRPr lang="zh-CN" b="0" dirty="0">
              <a:ea typeface="宋体" panose="02010600030101010101" pitchFamily="2" charset="-122"/>
            </a:endParaRPr>
          </a:p>
          <a:p>
            <a:pPr indent="266700" fontAlgn="auto">
              <a:lnSpc>
                <a:spcPct val="150000"/>
              </a:lnSpc>
            </a:pPr>
            <a:endParaRPr lang="zh-CN" altLang="en-US" dirty="0"/>
          </a:p>
        </p:txBody>
      </p:sp>
      <p:sp>
        <p:nvSpPr>
          <p:cNvPr id="7" name="标题 1"/>
          <p:cNvSpPr>
            <a:spLocks noGrp="1"/>
          </p:cNvSpPr>
          <p:nvPr/>
        </p:nvSpPr>
        <p:spPr>
          <a:xfrm>
            <a:off x="688340" y="0"/>
            <a:ext cx="690562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3.1.2  物理层设计要求</a:t>
            </a:r>
            <a:endParaRPr b="1">
              <a:uFillTx/>
              <a:ea typeface="宋体" panose="02010600030101010101" pitchFamily="2"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0" y="0"/>
            <a:ext cx="7310755" cy="1325880"/>
          </a:xfrm>
        </p:spPr>
        <p:txBody>
          <a:bodyPr/>
          <a:lstStyle/>
          <a:p>
            <a:r>
              <a:rPr lang="en-US" b="1" u="sng" dirty="0">
                <a:solidFill>
                  <a:srgbClr val="0563C1"/>
                </a:solidFill>
                <a:uFillTx/>
                <a:latin typeface="Times New Roman" panose="02020603050405020304" charset="0"/>
                <a:ea typeface="宋体" panose="02010600030101010101" pitchFamily="2" charset="-122"/>
                <a:sym typeface="+mn-ea"/>
              </a:rPr>
              <a:t>3.2  </a:t>
            </a:r>
            <a:r>
              <a:rPr lang="en-US" b="1" u="sng" dirty="0" err="1">
                <a:solidFill>
                  <a:srgbClr val="0563C1"/>
                </a:solidFill>
                <a:uFillTx/>
                <a:latin typeface="Times New Roman" panose="02020603050405020304" charset="0"/>
                <a:ea typeface="宋体" panose="02010600030101010101" pitchFamily="2" charset="-122"/>
                <a:sym typeface="+mn-ea"/>
              </a:rPr>
              <a:t>无线电波与无线信道</a:t>
            </a:r>
            <a:endParaRPr lang="en-US" b="1" u="sng" dirty="0">
              <a:solidFill>
                <a:srgbClr val="0563C1"/>
              </a:solidFill>
              <a:uFillTx/>
              <a:latin typeface="Times New Roman" panose="02020603050405020304" charset="0"/>
              <a:ea typeface="宋体" panose="02010600030101010101" pitchFamily="2" charset="-122"/>
              <a:sym typeface="+mn-ea"/>
            </a:endParaRPr>
          </a:p>
        </p:txBody>
      </p:sp>
      <p:sp>
        <p:nvSpPr>
          <p:cNvPr id="100" name="文本框 99"/>
          <p:cNvSpPr txBox="1"/>
          <p:nvPr/>
        </p:nvSpPr>
        <p:spPr>
          <a:xfrm>
            <a:off x="483235" y="1120775"/>
            <a:ext cx="5080000" cy="521970"/>
          </a:xfrm>
          <a:prstGeom prst="rect">
            <a:avLst/>
          </a:prstGeom>
          <a:noFill/>
          <a:ln w="9525">
            <a:noFill/>
          </a:ln>
        </p:spPr>
        <p:txBody>
          <a:bodyPr>
            <a:spAutoFit/>
          </a:bodyPr>
          <a:lstStyle/>
          <a:p>
            <a:pPr>
              <a:buClrTx/>
              <a:buSzTx/>
              <a:buFontTx/>
            </a:pPr>
            <a:r>
              <a:rPr lang="zh-CN" sz="2800" b="1" dirty="0">
                <a:solidFill>
                  <a:srgbClr val="000000"/>
                </a:solidFill>
                <a:cs typeface="Times New Roman" panose="02020603050405020304" charset="0"/>
                <a:sym typeface="+mn-ea"/>
              </a:rPr>
              <a:t>3.2.1  无线电波的传播特性</a:t>
            </a:r>
            <a:endParaRPr lang="zh-CN" sz="2800" b="1" dirty="0">
              <a:solidFill>
                <a:srgbClr val="000000"/>
              </a:solidFill>
              <a:cs typeface="Times New Roman" panose="02020603050405020304" charset="0"/>
            </a:endParaRPr>
          </a:p>
        </p:txBody>
      </p:sp>
      <p:sp>
        <p:nvSpPr>
          <p:cNvPr id="5" name="文本框 4"/>
          <p:cNvSpPr txBox="1"/>
          <p:nvPr/>
        </p:nvSpPr>
        <p:spPr>
          <a:xfrm>
            <a:off x="253365" y="1774825"/>
            <a:ext cx="11685270" cy="4154170"/>
          </a:xfrm>
          <a:prstGeom prst="rect">
            <a:avLst/>
          </a:prstGeom>
          <a:noFill/>
        </p:spPr>
        <p:txBody>
          <a:bodyPr wrap="square" rtlCol="0" anchor="t">
            <a:spAutoFit/>
          </a:bodyPr>
          <a:lstStyle/>
          <a:p>
            <a:pPr algn="l">
              <a:lnSpc>
                <a:spcPct val="100000"/>
              </a:lnSpc>
              <a:buClrTx/>
              <a:buSzTx/>
              <a:buFontTx/>
            </a:pPr>
            <a:r>
              <a:rPr lang="en-US" altLang="zh-CN" sz="2400">
                <a:ea typeface="宋体" panose="02010600030101010101" pitchFamily="2" charset="-122"/>
              </a:rPr>
              <a:t> </a:t>
            </a:r>
            <a:r>
              <a:rPr lang="zh-CN" sz="2400" b="1">
                <a:ea typeface="宋体" panose="02010600030101010101" pitchFamily="2" charset="-122"/>
              </a:rPr>
              <a:t>无线通信的介质包括电磁波和声波。电磁波是最主要的无线通信介质，而声波一般仅用于水下的无线通信。根据波长的不同，电磁波分为无线电波、微波、红外波、毫米波和光波等，其中无线电波在无线网络中使用最广泛。    </a:t>
            </a:r>
            <a:endParaRPr lang="zh-CN" sz="2400" b="1">
              <a:ea typeface="宋体" panose="02010600030101010101" pitchFamily="2" charset="-122"/>
            </a:endParaRPr>
          </a:p>
          <a:p>
            <a:pPr algn="l">
              <a:lnSpc>
                <a:spcPct val="100000"/>
              </a:lnSpc>
              <a:buClrTx/>
              <a:buSzTx/>
              <a:buFontTx/>
            </a:pPr>
            <a:r>
              <a:rPr lang="zh-CN" sz="2400" b="1">
                <a:ea typeface="宋体" panose="02010600030101010101" pitchFamily="2" charset="-122"/>
              </a:rPr>
              <a:t>目前，无线传感网络的通信传输介质主要是无线电波和红外线，其特点如下：</a:t>
            </a:r>
            <a:endParaRPr lang="zh-CN" sz="2400" b="1">
              <a:ea typeface="宋体" panose="02010600030101010101" pitchFamily="2" charset="-122"/>
            </a:endParaRPr>
          </a:p>
          <a:p>
            <a:pPr algn="l">
              <a:lnSpc>
                <a:spcPct val="100000"/>
              </a:lnSpc>
              <a:buClrTx/>
              <a:buSzTx/>
              <a:buFontTx/>
            </a:pPr>
            <a:r>
              <a:rPr lang="zh-CN" sz="2400" b="1">
                <a:ea typeface="宋体" panose="02010600030101010101" pitchFamily="2" charset="-122"/>
              </a:rPr>
              <a:t>（1）无线电波容易产生，可以传播很远，可以穿过建筑物，因而广泛用于室内外无线通信。无线电波是全方向传播信号的，它能向任意方向发送无线信号，所以发射方和接收方的装置在位置上不必要求很精确地对准。   </a:t>
            </a:r>
            <a:endParaRPr lang="zh-CN" sz="2400" b="1">
              <a:ea typeface="宋体" panose="02010600030101010101" pitchFamily="2" charset="-122"/>
            </a:endParaRPr>
          </a:p>
          <a:p>
            <a:pPr algn="l">
              <a:lnSpc>
                <a:spcPct val="100000"/>
              </a:lnSpc>
              <a:buClrTx/>
              <a:buSzTx/>
              <a:buFontTx/>
            </a:pPr>
            <a:r>
              <a:rPr lang="zh-CN" sz="2400" b="1">
                <a:ea typeface="宋体" panose="02010600030101010101" pitchFamily="2" charset="-122"/>
              </a:rPr>
              <a:t>（2）红外通信的优点是无须注册，并且抗干扰能力强。其缺点是穿透能力差，要求发送者和接收者之间存在视距关系。这导致了红外线难以成为无线传感器网络的主流传输介质，而只能用在一些特殊场合。</a:t>
            </a:r>
            <a:endParaRPr lang="zh-CN" sz="2400" b="1">
              <a:ea typeface="宋体" panose="02010600030101010101" pitchFamily="2" charset="-122"/>
            </a:endParaRPr>
          </a:p>
          <a:p>
            <a:pPr algn="l">
              <a:lnSpc>
                <a:spcPct val="100000"/>
              </a:lnSpc>
              <a:buClrTx/>
              <a:buSzTx/>
              <a:buFontTx/>
            </a:pPr>
            <a:endParaRPr lang="zh-CN" sz="2400" b="1">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0" y="0"/>
            <a:ext cx="7310755" cy="1325880"/>
          </a:xfrm>
        </p:spPr>
        <p:txBody>
          <a:bodyPr/>
          <a:lstStyle/>
          <a:p>
            <a:r>
              <a:rPr lang="en-US" b="1" u="sng" dirty="0">
                <a:solidFill>
                  <a:srgbClr val="0563C1"/>
                </a:solidFill>
                <a:uFillTx/>
                <a:latin typeface="Times New Roman" panose="02020603050405020304" charset="0"/>
                <a:ea typeface="宋体" panose="02010600030101010101" pitchFamily="2" charset="-122"/>
                <a:sym typeface="+mn-ea"/>
              </a:rPr>
              <a:t>3.2  </a:t>
            </a:r>
            <a:r>
              <a:rPr lang="en-US" b="1" u="sng" dirty="0" err="1">
                <a:solidFill>
                  <a:srgbClr val="0563C1"/>
                </a:solidFill>
                <a:uFillTx/>
                <a:latin typeface="Times New Roman" panose="02020603050405020304" charset="0"/>
                <a:ea typeface="宋体" panose="02010600030101010101" pitchFamily="2" charset="-122"/>
                <a:sym typeface="+mn-ea"/>
              </a:rPr>
              <a:t>无线电波与无线信道</a:t>
            </a:r>
            <a:endParaRPr lang="en-US" b="1" u="sng" dirty="0">
              <a:solidFill>
                <a:srgbClr val="0563C1"/>
              </a:solidFill>
              <a:uFillTx/>
              <a:latin typeface="Times New Roman" panose="02020603050405020304" charset="0"/>
              <a:ea typeface="宋体" panose="02010600030101010101" pitchFamily="2" charset="-122"/>
              <a:sym typeface="+mn-ea"/>
            </a:endParaRPr>
          </a:p>
        </p:txBody>
      </p:sp>
      <p:sp>
        <p:nvSpPr>
          <p:cNvPr id="100" name="文本框 99"/>
          <p:cNvSpPr txBox="1"/>
          <p:nvPr/>
        </p:nvSpPr>
        <p:spPr>
          <a:xfrm>
            <a:off x="412750" y="1009650"/>
            <a:ext cx="5080000" cy="521970"/>
          </a:xfrm>
          <a:prstGeom prst="rect">
            <a:avLst/>
          </a:prstGeom>
          <a:noFill/>
          <a:ln w="9525">
            <a:noFill/>
          </a:ln>
        </p:spPr>
        <p:txBody>
          <a:bodyPr>
            <a:spAutoFit/>
          </a:bodyPr>
          <a:lstStyle/>
          <a:p>
            <a:pPr>
              <a:buClrTx/>
              <a:buSzTx/>
              <a:buFontTx/>
            </a:pPr>
            <a:r>
              <a:rPr lang="zh-CN" sz="2800" b="1" dirty="0">
                <a:solidFill>
                  <a:srgbClr val="000000"/>
                </a:solidFill>
                <a:cs typeface="Times New Roman" panose="02020603050405020304" charset="0"/>
                <a:sym typeface="+mn-ea"/>
              </a:rPr>
              <a:t>3.2.1  无线电波的传播特性</a:t>
            </a:r>
            <a:endParaRPr lang="zh-CN" sz="2800" b="1" dirty="0">
              <a:solidFill>
                <a:srgbClr val="000000"/>
              </a:solidFill>
              <a:cs typeface="Times New Roman" panose="02020603050405020304" charset="0"/>
            </a:endParaRPr>
          </a:p>
        </p:txBody>
      </p:sp>
      <p:sp>
        <p:nvSpPr>
          <p:cNvPr id="5" name="文本框 4"/>
          <p:cNvSpPr txBox="1"/>
          <p:nvPr/>
        </p:nvSpPr>
        <p:spPr>
          <a:xfrm>
            <a:off x="253365" y="1531620"/>
            <a:ext cx="11685270" cy="3784600"/>
          </a:xfrm>
          <a:prstGeom prst="rect">
            <a:avLst/>
          </a:prstGeom>
          <a:noFill/>
        </p:spPr>
        <p:txBody>
          <a:bodyPr wrap="square" rtlCol="0" anchor="t">
            <a:spAutoFit/>
          </a:bodyPr>
          <a:lstStyle/>
          <a:p>
            <a:pPr algn="l">
              <a:lnSpc>
                <a:spcPct val="100000"/>
              </a:lnSpc>
              <a:buClrTx/>
              <a:buSzTx/>
              <a:buFontTx/>
            </a:pPr>
            <a:r>
              <a:rPr lang="en-US" altLang="zh-CN">
                <a:ea typeface="宋体" panose="02010600030101010101" pitchFamily="2" charset="-122"/>
              </a:rPr>
              <a:t> </a:t>
            </a:r>
            <a:r>
              <a:rPr lang="zh-CN" sz="2400" b="1">
                <a:ea typeface="宋体" panose="02010600030101010101" pitchFamily="2" charset="-122"/>
              </a:rPr>
              <a:t>电波传播方式有如下4种：</a:t>
            </a:r>
            <a:endParaRPr lang="zh-CN" sz="2400" b="1">
              <a:ea typeface="宋体" panose="02010600030101010101" pitchFamily="2" charset="-122"/>
            </a:endParaRPr>
          </a:p>
          <a:p>
            <a:pPr algn="l">
              <a:lnSpc>
                <a:spcPct val="100000"/>
              </a:lnSpc>
              <a:buClrTx/>
              <a:buSzTx/>
              <a:buFontTx/>
            </a:pPr>
            <a:r>
              <a:rPr lang="zh-CN" sz="2400" b="1">
                <a:ea typeface="宋体" panose="02010600030101010101" pitchFamily="2" charset="-122"/>
              </a:rPr>
              <a:t>（1）直射传播。在自由空间中，电波沿直线传播而不被吸收,也不发生反射、折射和散射等现象而直接到达接收点的传播方式。</a:t>
            </a:r>
            <a:endParaRPr lang="zh-CN" sz="2400" b="1">
              <a:ea typeface="宋体" panose="02010600030101010101" pitchFamily="2" charset="-122"/>
            </a:endParaRPr>
          </a:p>
          <a:p>
            <a:pPr algn="l">
              <a:lnSpc>
                <a:spcPct val="100000"/>
              </a:lnSpc>
              <a:buClrTx/>
              <a:buSzTx/>
              <a:buFontTx/>
            </a:pPr>
            <a:r>
              <a:rPr lang="zh-CN" sz="2400" b="1">
                <a:ea typeface="宋体" panose="02010600030101010101" pitchFamily="2" charset="-122"/>
              </a:rPr>
              <a:t>（2）反射（reflection）。当电磁波遇到比波长大得多的物体时发生反射，反射发生于地球表面、建筑物和墙壁表面。</a:t>
            </a:r>
            <a:endParaRPr lang="zh-CN" sz="2400" b="1">
              <a:ea typeface="宋体" panose="02010600030101010101" pitchFamily="2" charset="-122"/>
            </a:endParaRPr>
          </a:p>
          <a:p>
            <a:pPr algn="l" fontAlgn="auto">
              <a:lnSpc>
                <a:spcPct val="100000"/>
              </a:lnSpc>
              <a:buClrTx/>
              <a:buSzTx/>
              <a:buNone/>
            </a:pPr>
            <a:r>
              <a:rPr lang="zh-CN" sz="2400" b="1">
                <a:ea typeface="宋体" panose="02010600030101010101" pitchFamily="2" charset="-122"/>
                <a:sym typeface="+mn-ea"/>
              </a:rPr>
              <a:t>（3）散射（scattering）。当波穿行的介质中存在小于波长的物体，并且单位体积内阻挡体的个数非常巨大时，发生散射。散射波产生于粗糙表面、小物体或其他不规则物体。</a:t>
            </a:r>
            <a:endParaRPr lang="zh-CN" sz="2400" b="1">
              <a:ea typeface="宋体" panose="02010600030101010101" pitchFamily="2" charset="-122"/>
              <a:sym typeface="+mn-ea"/>
            </a:endParaRPr>
          </a:p>
          <a:p>
            <a:pPr algn="l" fontAlgn="auto">
              <a:lnSpc>
                <a:spcPct val="100000"/>
              </a:lnSpc>
              <a:buClrTx/>
              <a:buSzTx/>
              <a:buNone/>
            </a:pPr>
            <a:r>
              <a:rPr lang="zh-CN" sz="2400" b="1">
                <a:ea typeface="宋体" panose="02010600030101010101" pitchFamily="2" charset="-122"/>
                <a:sym typeface="+mn-ea"/>
              </a:rPr>
              <a:t>（4）绕射（diffraction）。接收机和发射机之间的无线传播被尖锐的边缘阻挡时，发生绕射。</a:t>
            </a:r>
            <a:endParaRPr lang="zh-CN" sz="2400" b="1">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0" y="0"/>
            <a:ext cx="7310755" cy="1325880"/>
          </a:xfrm>
        </p:spPr>
        <p:txBody>
          <a:bodyPr/>
          <a:lstStyle/>
          <a:p>
            <a:r>
              <a:rPr lang="en-US" b="1" u="sng" dirty="0">
                <a:solidFill>
                  <a:srgbClr val="0563C1"/>
                </a:solidFill>
                <a:uFillTx/>
                <a:latin typeface="Times New Roman" panose="02020603050405020304" charset="0"/>
                <a:ea typeface="宋体" panose="02010600030101010101" pitchFamily="2" charset="-122"/>
                <a:sym typeface="+mn-ea"/>
              </a:rPr>
              <a:t>3.2  </a:t>
            </a:r>
            <a:r>
              <a:rPr lang="en-US" b="1" u="sng" dirty="0" err="1">
                <a:solidFill>
                  <a:srgbClr val="0563C1"/>
                </a:solidFill>
                <a:uFillTx/>
                <a:latin typeface="Times New Roman" panose="02020603050405020304" charset="0"/>
                <a:ea typeface="宋体" panose="02010600030101010101" pitchFamily="2" charset="-122"/>
                <a:sym typeface="+mn-ea"/>
              </a:rPr>
              <a:t>无线电波与无线信道</a:t>
            </a:r>
            <a:endParaRPr lang="en-US" b="1" u="sng" dirty="0">
              <a:solidFill>
                <a:srgbClr val="0563C1"/>
              </a:solidFill>
              <a:uFillTx/>
              <a:latin typeface="Times New Roman" panose="02020603050405020304" charset="0"/>
              <a:ea typeface="宋体" panose="02010600030101010101" pitchFamily="2" charset="-122"/>
              <a:sym typeface="+mn-ea"/>
            </a:endParaRPr>
          </a:p>
        </p:txBody>
      </p:sp>
      <p:sp>
        <p:nvSpPr>
          <p:cNvPr id="100" name="文本框 99"/>
          <p:cNvSpPr txBox="1"/>
          <p:nvPr/>
        </p:nvSpPr>
        <p:spPr>
          <a:xfrm>
            <a:off x="412750" y="1009650"/>
            <a:ext cx="5080000" cy="521970"/>
          </a:xfrm>
          <a:prstGeom prst="rect">
            <a:avLst/>
          </a:prstGeom>
          <a:noFill/>
          <a:ln w="9525">
            <a:noFill/>
          </a:ln>
        </p:spPr>
        <p:txBody>
          <a:bodyPr>
            <a:spAutoFit/>
          </a:bodyPr>
          <a:lstStyle/>
          <a:p>
            <a:pPr>
              <a:buClrTx/>
              <a:buSzTx/>
              <a:buFontTx/>
            </a:pPr>
            <a:r>
              <a:rPr lang="zh-CN" sz="2800" b="1" dirty="0">
                <a:solidFill>
                  <a:srgbClr val="000000"/>
                </a:solidFill>
                <a:cs typeface="Times New Roman" panose="02020603050405020304" charset="0"/>
                <a:sym typeface="+mn-ea"/>
              </a:rPr>
              <a:t>3.2.1  无线电波的传播特性</a:t>
            </a:r>
            <a:endParaRPr lang="zh-CN" sz="2800" b="1" dirty="0">
              <a:solidFill>
                <a:srgbClr val="000000"/>
              </a:solidFill>
              <a:cs typeface="Times New Roman" panose="02020603050405020304" charset="0"/>
            </a:endParaRPr>
          </a:p>
        </p:txBody>
      </p:sp>
      <p:sp>
        <p:nvSpPr>
          <p:cNvPr id="5" name="文本框 4"/>
          <p:cNvSpPr txBox="1"/>
          <p:nvPr/>
        </p:nvSpPr>
        <p:spPr>
          <a:xfrm>
            <a:off x="253365" y="1531620"/>
            <a:ext cx="11685270" cy="4892675"/>
          </a:xfrm>
          <a:prstGeom prst="rect">
            <a:avLst/>
          </a:prstGeom>
          <a:noFill/>
        </p:spPr>
        <p:txBody>
          <a:bodyPr wrap="square" rtlCol="0" anchor="t">
            <a:spAutoFit/>
          </a:bodyPr>
          <a:lstStyle/>
          <a:p>
            <a:pPr indent="457200" fontAlgn="auto">
              <a:lnSpc>
                <a:spcPct val="100000"/>
              </a:lnSpc>
            </a:pPr>
            <a:r>
              <a:rPr lang="en-US" altLang="zh-CN">
                <a:ea typeface="宋体" panose="02010600030101010101" pitchFamily="2" charset="-122"/>
              </a:rPr>
              <a:t> </a:t>
            </a:r>
            <a:r>
              <a:rPr sz="2400" b="1">
                <a:latin typeface="宋体" panose="02010600030101010101" pitchFamily="2" charset="-122"/>
                <a:ea typeface="宋体" panose="02010600030101010101" pitchFamily="2" charset="-122"/>
                <a:cs typeface="宋体" panose="02010600030101010101" pitchFamily="2" charset="-122"/>
                <a:sym typeface="+mn-ea"/>
              </a:rPr>
              <a:t>无线电波的传播特性与频率相关。如果采用较低频率，则它能轻易地通过障碍物，但电波能量随着与信号源距离r的增大而急剧减小，大致为l/r3。如果采用高频传输，则它趋于直线传播，且受障碍物阻挡的影响，无线电波易受发动机和其他电子设备的干扰。    </a:t>
            </a:r>
            <a:endParaRPr sz="2400" b="1">
              <a:latin typeface="宋体" panose="02010600030101010101" pitchFamily="2" charset="-122"/>
              <a:ea typeface="宋体" panose="02010600030101010101" pitchFamily="2" charset="-122"/>
              <a:cs typeface="宋体" panose="02010600030101010101" pitchFamily="2" charset="-122"/>
            </a:endParaRPr>
          </a:p>
          <a:p>
            <a:pPr indent="457200" fontAlgn="auto">
              <a:lnSpc>
                <a:spcPct val="100000"/>
              </a:lnSpc>
            </a:pPr>
            <a:r>
              <a:rPr sz="2400" b="1">
                <a:latin typeface="宋体" panose="02010600030101010101" pitchFamily="2" charset="-122"/>
                <a:ea typeface="宋体" panose="02010600030101010101" pitchFamily="2" charset="-122"/>
                <a:cs typeface="宋体" panose="02010600030101010101" pitchFamily="2" charset="-122"/>
                <a:sym typeface="+mn-ea"/>
              </a:rPr>
              <a:t>另外，由于无线电波的传输距离较远，用户之间的相互串扰也是需要关注的问题，所以每个国家和地区都有关于无线频率管制方面的使用授权规定。    </a:t>
            </a:r>
            <a:endParaRPr sz="2400" b="1">
              <a:latin typeface="宋体" panose="02010600030101010101" pitchFamily="2" charset="-122"/>
              <a:ea typeface="宋体" panose="02010600030101010101" pitchFamily="2" charset="-122"/>
              <a:cs typeface="宋体" panose="02010600030101010101" pitchFamily="2" charset="-122"/>
            </a:endParaRPr>
          </a:p>
          <a:p>
            <a:pPr indent="457200" fontAlgn="auto">
              <a:lnSpc>
                <a:spcPct val="100000"/>
              </a:lnSpc>
            </a:pPr>
            <a:r>
              <a:rPr sz="2400" b="1">
                <a:latin typeface="宋体" panose="02010600030101010101" pitchFamily="2" charset="-122"/>
                <a:ea typeface="宋体" panose="02010600030101010101" pitchFamily="2" charset="-122"/>
                <a:cs typeface="宋体" panose="02010600030101010101" pitchFamily="2" charset="-122"/>
                <a:sym typeface="+mn-ea"/>
              </a:rPr>
              <a:t>频率的选择是影响无线传感器网络性能、成本的一个重要参数。考虑到无线传感器网络低成本的要求，“工业、科学和医疗”（Industrial,Scientific and Medical, ISM）波段无疑是首要的选择。ISM频段的优点在于它是自由频段，无须注册，可选频谱范围大，实现起来灵活方便。其缺点是功率受限，与现有无线通信应用存在相互干扰问题。尽管传感器网络可以通过其他方式实现通信，如各种电磁波（如射频和红外）、声波，但无线电波仍是当前传感器网络的主流通信方式，在很多领域得到了广泛应用。</a:t>
            </a:r>
            <a:endParaRPr lang="zh-CN" sz="2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0" y="0"/>
            <a:ext cx="7310755" cy="1325880"/>
          </a:xfrm>
        </p:spPr>
        <p:txBody>
          <a:bodyPr/>
          <a:lstStyle/>
          <a:p>
            <a:r>
              <a:rPr lang="en-US" b="1" u="sng" dirty="0">
                <a:solidFill>
                  <a:srgbClr val="0563C1"/>
                </a:solidFill>
                <a:uFillTx/>
                <a:latin typeface="Times New Roman" panose="02020603050405020304" charset="0"/>
                <a:ea typeface="宋体" panose="02010600030101010101" pitchFamily="2" charset="-122"/>
                <a:sym typeface="+mn-ea"/>
              </a:rPr>
              <a:t>3.2  </a:t>
            </a:r>
            <a:r>
              <a:rPr lang="en-US" b="1" u="sng" dirty="0" err="1">
                <a:solidFill>
                  <a:srgbClr val="0563C1"/>
                </a:solidFill>
                <a:uFillTx/>
                <a:latin typeface="Times New Roman" panose="02020603050405020304" charset="0"/>
                <a:ea typeface="宋体" panose="02010600030101010101" pitchFamily="2" charset="-122"/>
                <a:sym typeface="+mn-ea"/>
              </a:rPr>
              <a:t>无线电波与无线信道</a:t>
            </a:r>
            <a:endParaRPr lang="en-US" b="1" u="sng" dirty="0">
              <a:solidFill>
                <a:srgbClr val="0563C1"/>
              </a:solidFill>
              <a:uFillTx/>
              <a:latin typeface="Times New Roman" panose="02020603050405020304" charset="0"/>
              <a:ea typeface="宋体" panose="02010600030101010101" pitchFamily="2" charset="-122"/>
              <a:sym typeface="+mn-ea"/>
            </a:endParaRPr>
          </a:p>
        </p:txBody>
      </p:sp>
      <p:sp>
        <p:nvSpPr>
          <p:cNvPr id="100" name="文本框 99"/>
          <p:cNvSpPr txBox="1"/>
          <p:nvPr/>
        </p:nvSpPr>
        <p:spPr>
          <a:xfrm>
            <a:off x="412750" y="1009650"/>
            <a:ext cx="5080000" cy="521970"/>
          </a:xfrm>
          <a:prstGeom prst="rect">
            <a:avLst/>
          </a:prstGeom>
          <a:noFill/>
          <a:ln w="9525">
            <a:noFill/>
          </a:ln>
        </p:spPr>
        <p:txBody>
          <a:bodyPr>
            <a:spAutoFit/>
          </a:bodyPr>
          <a:lstStyle/>
          <a:p>
            <a:pPr>
              <a:buClrTx/>
              <a:buSzTx/>
              <a:buFontTx/>
            </a:pPr>
            <a:r>
              <a:rPr lang="zh-CN" sz="2800" b="1" dirty="0">
                <a:solidFill>
                  <a:srgbClr val="000000"/>
                </a:solidFill>
                <a:cs typeface="Times New Roman" panose="02020603050405020304" charset="0"/>
                <a:sym typeface="+mn-ea"/>
              </a:rPr>
              <a:t>3.2.1  无线电波的传播特性</a:t>
            </a:r>
            <a:endParaRPr lang="zh-CN" sz="2800" b="1" dirty="0">
              <a:solidFill>
                <a:srgbClr val="000000"/>
              </a:solidFill>
              <a:cs typeface="Times New Roman" panose="02020603050405020304" charset="0"/>
            </a:endParaRPr>
          </a:p>
        </p:txBody>
      </p:sp>
      <p:sp>
        <p:nvSpPr>
          <p:cNvPr id="5" name="文本框 4"/>
          <p:cNvSpPr txBox="1"/>
          <p:nvPr/>
        </p:nvSpPr>
        <p:spPr>
          <a:xfrm>
            <a:off x="253365" y="1531620"/>
            <a:ext cx="11685270" cy="5262245"/>
          </a:xfrm>
          <a:prstGeom prst="rect">
            <a:avLst/>
          </a:prstGeom>
          <a:noFill/>
        </p:spPr>
        <p:txBody>
          <a:bodyPr wrap="square" rtlCol="0" anchor="t">
            <a:spAutoFit/>
          </a:bodyPr>
          <a:lstStyle/>
          <a:p>
            <a:pPr indent="266700" fontAlgn="auto">
              <a:lnSpc>
                <a:spcPct val="100000"/>
              </a:lnSpc>
            </a:pPr>
            <a:r>
              <a:rPr lang="en-US" altLang="zh-CN" sz="2100" b="1">
                <a:ea typeface="宋体" panose="02010600030101010101" pitchFamily="2" charset="-122"/>
              </a:rPr>
              <a:t>    </a:t>
            </a:r>
            <a:r>
              <a:rPr lang="en-US" sz="2100" b="1">
                <a:latin typeface="Times New Roman" panose="02020603050405020304" charset="0"/>
                <a:ea typeface="宋体" panose="02010600030101010101" pitchFamily="2" charset="-122"/>
                <a:sym typeface="+mn-ea"/>
              </a:rPr>
              <a:t>ISM</a:t>
            </a:r>
            <a:r>
              <a:rPr lang="zh-CN" sz="2100" b="1">
                <a:ea typeface="宋体" panose="02010600030101010101" pitchFamily="2" charset="-122"/>
                <a:sym typeface="+mn-ea"/>
              </a:rPr>
              <a:t>波段在高频和特高频的频率范围上都有分布</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但信号在不同的频度上传播特性、功率消耗以及对器件性能和天线要求却是有很大区别</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如表</a:t>
            </a:r>
            <a:r>
              <a:rPr lang="en-US" sz="2100" b="1">
                <a:latin typeface="Times New Roman" panose="02020603050405020304" charset="0"/>
                <a:ea typeface="宋体" panose="02010600030101010101" pitchFamily="2" charset="-122"/>
                <a:sym typeface="+mn-ea"/>
              </a:rPr>
              <a:t>3-2-1</a:t>
            </a:r>
            <a:r>
              <a:rPr lang="zh-CN" sz="2100" b="1">
                <a:ea typeface="宋体" panose="02010600030101010101" pitchFamily="2" charset="-122"/>
                <a:sym typeface="+mn-ea"/>
              </a:rPr>
              <a:t>所示。例如，在</a:t>
            </a:r>
            <a:r>
              <a:rPr lang="en-US" sz="2100" b="1">
                <a:latin typeface="Times New Roman" panose="02020603050405020304" charset="0"/>
                <a:ea typeface="宋体" panose="02010600030101010101" pitchFamily="2" charset="-122"/>
                <a:sym typeface="+mn-ea"/>
              </a:rPr>
              <a:t>ISM</a:t>
            </a:r>
            <a:r>
              <a:rPr lang="en-US" sz="2100" b="1">
                <a:latin typeface="Times New Roman" panose="02020603050405020304" charset="0"/>
                <a:ea typeface="宋体" panose="02010600030101010101" pitchFamily="2" charset="-122"/>
                <a:cs typeface="Times New Roman" panose="02020603050405020304" charset="0"/>
                <a:sym typeface="+mn-ea"/>
              </a:rPr>
              <a:t> </a:t>
            </a:r>
            <a:r>
              <a:rPr lang="en-US" sz="2100" b="1">
                <a:latin typeface="Times New Roman" panose="02020603050405020304" charset="0"/>
                <a:ea typeface="宋体" panose="02010600030101010101" pitchFamily="2" charset="-122"/>
                <a:sym typeface="+mn-ea"/>
              </a:rPr>
              <a:t>13.5MHz</a:t>
            </a:r>
            <a:r>
              <a:rPr lang="zh-CN" sz="2100" b="1">
                <a:ea typeface="宋体" panose="02010600030101010101" pitchFamily="2" charset="-122"/>
                <a:sym typeface="+mn-ea"/>
              </a:rPr>
              <a:t>，如果采用</a:t>
            </a:r>
            <a:r>
              <a:rPr lang="en-US" sz="2100" b="1" i="1">
                <a:latin typeface="Times New Roman" panose="02020603050405020304" charset="0"/>
                <a:ea typeface="宋体" panose="02010600030101010101" pitchFamily="2" charset="-122"/>
                <a:sym typeface="+mn-ea"/>
              </a:rPr>
              <a:t>λ</a:t>
            </a:r>
            <a:r>
              <a:rPr lang="en-US" sz="2100" b="1">
                <a:latin typeface="Times New Roman" panose="02020603050405020304" charset="0"/>
                <a:ea typeface="宋体" panose="02010600030101010101" pitchFamily="2" charset="-122"/>
                <a:sym typeface="+mn-ea"/>
              </a:rPr>
              <a:t>/4</a:t>
            </a:r>
            <a:r>
              <a:rPr lang="zh-CN" sz="2100" b="1">
                <a:ea typeface="宋体" panose="02010600030101010101" pitchFamily="2" charset="-122"/>
                <a:sym typeface="+mn-ea"/>
              </a:rPr>
              <a:t>对偶天线，天线长度为</a:t>
            </a:r>
            <a:r>
              <a:rPr lang="en-US" sz="2100" b="1">
                <a:latin typeface="Times New Roman" panose="02020603050405020304" charset="0"/>
                <a:ea typeface="宋体" panose="02010600030101010101" pitchFamily="2" charset="-122"/>
                <a:sym typeface="+mn-ea"/>
              </a:rPr>
              <a:t>5.6m</a:t>
            </a:r>
            <a:r>
              <a:rPr lang="zh-CN" sz="2100" b="1">
                <a:ea typeface="宋体" panose="02010600030101010101" pitchFamily="2" charset="-122"/>
                <a:sym typeface="+mn-ea"/>
              </a:rPr>
              <a:t>，显然要求这么长的天线很不适合小体积的无线传感器网络节点，对于</a:t>
            </a:r>
            <a:r>
              <a:rPr lang="en-US" sz="2100" b="1">
                <a:latin typeface="Times New Roman" panose="02020603050405020304" charset="0"/>
                <a:ea typeface="宋体" panose="02010600030101010101" pitchFamily="2" charset="-122"/>
                <a:sym typeface="+mn-ea"/>
              </a:rPr>
              <a:t>ISM2.4GHz</a:t>
            </a:r>
            <a:r>
              <a:rPr lang="zh-CN" sz="2100" b="1">
                <a:ea typeface="宋体" panose="02010600030101010101" pitchFamily="2" charset="-122"/>
                <a:sym typeface="+mn-ea"/>
              </a:rPr>
              <a:t>，其采用</a:t>
            </a:r>
            <a:r>
              <a:rPr lang="en-US" sz="2100" b="1" i="1">
                <a:latin typeface="Times New Roman" panose="02020603050405020304" charset="0"/>
                <a:ea typeface="宋体" panose="02010600030101010101" pitchFamily="2" charset="-122"/>
                <a:sym typeface="+mn-ea"/>
              </a:rPr>
              <a:t>λ</a:t>
            </a:r>
            <a:r>
              <a:rPr lang="en-US" sz="2100" b="1">
                <a:latin typeface="Times New Roman" panose="02020603050405020304" charset="0"/>
                <a:ea typeface="宋体" panose="02010600030101010101" pitchFamily="2" charset="-122"/>
                <a:sym typeface="+mn-ea"/>
              </a:rPr>
              <a:t>/4</a:t>
            </a:r>
            <a:r>
              <a:rPr lang="zh-CN" sz="2100" b="1">
                <a:ea typeface="宋体" panose="02010600030101010101" pitchFamily="2" charset="-122"/>
                <a:sym typeface="+mn-ea"/>
              </a:rPr>
              <a:t>对偶天线，天线长度为</a:t>
            </a:r>
            <a:r>
              <a:rPr lang="en-US" sz="2100" b="1">
                <a:latin typeface="Times New Roman" panose="02020603050405020304" charset="0"/>
                <a:ea typeface="宋体" panose="02010600030101010101" pitchFamily="2" charset="-122"/>
                <a:sym typeface="+mn-ea"/>
              </a:rPr>
              <a:t>3.1cm</a:t>
            </a:r>
            <a:r>
              <a:rPr lang="zh-CN" sz="2100" b="1">
                <a:ea typeface="宋体" panose="02010600030101010101" pitchFamily="2" charset="-122"/>
                <a:sym typeface="+mn-ea"/>
              </a:rPr>
              <a:t>，高的频率就可以将节点做得很小，也有利于天线的</a:t>
            </a:r>
            <a:r>
              <a:rPr lang="en-US" sz="2100" b="1">
                <a:latin typeface="Times New Roman" panose="02020603050405020304" charset="0"/>
                <a:ea typeface="宋体" panose="02010600030101010101" pitchFamily="2" charset="-122"/>
                <a:sym typeface="+mn-ea"/>
              </a:rPr>
              <a:t>MEMS</a:t>
            </a:r>
            <a:r>
              <a:rPr lang="zh-CN" sz="2100" b="1">
                <a:ea typeface="宋体" panose="02010600030101010101" pitchFamily="2" charset="-122"/>
                <a:sym typeface="+mn-ea"/>
              </a:rPr>
              <a:t>集成。但是从功耗的角度分析会发现，在传输相同的有效距离时，载波频率越高消耗能量越多，这是因为高频率载波对频率合成器的要求也就越高，在射频前端发射机中频率合成器可以说是其主要的功耗模块，并且根据自由空间无线传输损耗理论可知，波长越短其传输损耗越大</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也就意味着高频率需要更大的发射功率来保证一定的传输距离。</a:t>
            </a:r>
            <a:endParaRPr lang="zh-CN" sz="2100" b="1">
              <a:ea typeface="宋体" panose="02010600030101010101" pitchFamily="2" charset="-122"/>
            </a:endParaRPr>
          </a:p>
          <a:p>
            <a:pPr indent="266700" fontAlgn="auto">
              <a:lnSpc>
                <a:spcPct val="100000"/>
              </a:lnSpc>
            </a:pPr>
            <a:r>
              <a:rPr lang="en-US" altLang="zh-CN" sz="2100" b="1">
                <a:ea typeface="宋体" panose="02010600030101010101" pitchFamily="2" charset="-122"/>
                <a:sym typeface="+mn-ea"/>
              </a:rPr>
              <a:t>    </a:t>
            </a:r>
            <a:r>
              <a:rPr lang="zh-CN" sz="2100" b="1">
                <a:ea typeface="宋体" panose="02010600030101010101" pitchFamily="2" charset="-122"/>
                <a:sym typeface="+mn-ea"/>
              </a:rPr>
              <a:t>另外，从节点的物理层集成化的角度来考虑，虽然当前的</a:t>
            </a:r>
            <a:r>
              <a:rPr lang="en-US" sz="2100" b="1">
                <a:latin typeface="Times New Roman" panose="02020603050405020304" charset="0"/>
                <a:ea typeface="宋体" panose="02010600030101010101" pitchFamily="2" charset="-122"/>
                <a:sym typeface="+mn-ea"/>
              </a:rPr>
              <a:t>CMOS</a:t>
            </a:r>
            <a:r>
              <a:rPr lang="zh-CN" sz="2100" b="1">
                <a:ea typeface="宋体" panose="02010600030101010101" pitchFamily="2" charset="-122"/>
                <a:sym typeface="+mn-ea"/>
              </a:rPr>
              <a:t>工艺已经成为主流，但是对大电感的集成化还是一个非常大的挑战，随着深亚微米工艺的进展，更高的频率更易于电感的集成化设计</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这对于未来节点的完全</a:t>
            </a:r>
            <a:r>
              <a:rPr lang="en-US" sz="2100" b="1">
                <a:latin typeface="Times New Roman" panose="02020603050405020304" charset="0"/>
                <a:ea typeface="宋体" panose="02010600030101010101" pitchFamily="2" charset="-122"/>
                <a:sym typeface="+mn-ea"/>
              </a:rPr>
              <a:t>SoC</a:t>
            </a:r>
            <a:r>
              <a:rPr lang="zh-CN" sz="2100" b="1">
                <a:ea typeface="宋体" panose="02010600030101010101" pitchFamily="2" charset="-122"/>
                <a:sym typeface="+mn-ea"/>
              </a:rPr>
              <a:t>设计是有利的，所以频段的选择是一个非常慎重的问题。由于无线传感器网络是一种面向应用的网络，所以针对不同的实际应用</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综合成本、功耗、体积的条件下进行一个最优选择。美国联邦通</a:t>
            </a:r>
            <a:r>
              <a:rPr lang="zh-CN" sz="2100" b="1">
                <a:latin typeface="Times New Roman" panose="02020603050405020304" charset="0"/>
                <a:ea typeface="宋体" panose="02010600030101010101" pitchFamily="2" charset="-122"/>
                <a:sym typeface="+mn-ea"/>
              </a:rPr>
              <a:t>信</a:t>
            </a:r>
            <a:r>
              <a:rPr lang="zh-CN" sz="2100" b="1">
                <a:ea typeface="宋体" panose="02010600030101010101" pitchFamily="2" charset="-122"/>
                <a:sym typeface="+mn-ea"/>
              </a:rPr>
              <a:t>委员会</a:t>
            </a:r>
            <a:r>
              <a:rPr lang="zh-CN" sz="2100" b="1">
                <a:latin typeface="Times New Roman" panose="02020603050405020304" charset="0"/>
                <a:ea typeface="宋体" panose="02010600030101010101" pitchFamily="2" charset="-122"/>
                <a:sym typeface="+mn-ea"/>
              </a:rPr>
              <a:t>（</a:t>
            </a:r>
            <a:r>
              <a:rPr lang="en-US" sz="2100" b="1">
                <a:latin typeface="Times New Roman" panose="02020603050405020304" charset="0"/>
                <a:ea typeface="宋体" panose="02010600030101010101" pitchFamily="2" charset="-122"/>
                <a:sym typeface="+mn-ea"/>
              </a:rPr>
              <a:t>FCC</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给出了</a:t>
            </a:r>
            <a:r>
              <a:rPr lang="en-US" sz="2100" b="1">
                <a:latin typeface="Times New Roman" panose="02020603050405020304" charset="0"/>
                <a:ea typeface="宋体" panose="02010600030101010101" pitchFamily="2" charset="-122"/>
                <a:sym typeface="+mn-ea"/>
              </a:rPr>
              <a:t>2.4GHz</a:t>
            </a:r>
            <a:r>
              <a:rPr lang="zh-CN" sz="2100" b="1">
                <a:ea typeface="宋体" panose="02010600030101010101" pitchFamily="2" charset="-122"/>
                <a:sym typeface="+mn-ea"/>
              </a:rPr>
              <a:t>是当前工艺条件下</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将功耗需求、成本、体积等折中较好的一个频段，并且是全球的</a:t>
            </a:r>
            <a:r>
              <a:rPr lang="en-US" sz="2100" b="1">
                <a:latin typeface="Times New Roman" panose="02020603050405020304" charset="0"/>
                <a:ea typeface="宋体" panose="02010600030101010101" pitchFamily="2" charset="-122"/>
                <a:sym typeface="+mn-ea"/>
              </a:rPr>
              <a:t>ISM</a:t>
            </a:r>
            <a:r>
              <a:rPr lang="zh-CN" sz="2100" b="1">
                <a:ea typeface="宋体" panose="02010600030101010101" pitchFamily="2" charset="-122"/>
                <a:sym typeface="+mn-ea"/>
              </a:rPr>
              <a:t>波段，但是这个频段也是现阶段不同应用设备可能造成相互干扰最严重的频段，因为蓝牙、</a:t>
            </a:r>
            <a:r>
              <a:rPr lang="en-US" sz="2100" b="1">
                <a:latin typeface="Times New Roman" panose="02020603050405020304" charset="0"/>
                <a:ea typeface="宋体" panose="02010600030101010101" pitchFamily="2" charset="-122"/>
                <a:sym typeface="+mn-ea"/>
              </a:rPr>
              <a:t>WLAN</a:t>
            </a:r>
            <a:r>
              <a:rPr lang="zh-CN" sz="2100" b="1">
                <a:ea typeface="宋体" panose="02010600030101010101" pitchFamily="2" charset="-122"/>
                <a:sym typeface="+mn-ea"/>
              </a:rPr>
              <a:t>、微波炉设备、无</a:t>
            </a:r>
            <a:r>
              <a:rPr lang="zh-CN" sz="2100" b="1">
                <a:latin typeface="Times New Roman" panose="02020603050405020304" charset="0"/>
                <a:ea typeface="宋体" panose="02010600030101010101" pitchFamily="2" charset="-122"/>
                <a:sym typeface="+mn-ea"/>
              </a:rPr>
              <a:t>线</a:t>
            </a:r>
            <a:r>
              <a:rPr lang="zh-CN" sz="2100" b="1">
                <a:ea typeface="宋体" panose="02010600030101010101" pitchFamily="2" charset="-122"/>
                <a:sym typeface="+mn-ea"/>
              </a:rPr>
              <a:t>电话等都采用该频段的频率。</a:t>
            </a:r>
            <a:endParaRPr lang="zh-CN" sz="21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0" y="0"/>
            <a:ext cx="7310755" cy="1325880"/>
          </a:xfrm>
        </p:spPr>
        <p:txBody>
          <a:bodyPr/>
          <a:lstStyle/>
          <a:p>
            <a:r>
              <a:rPr lang="en-US" b="1" u="sng" dirty="0">
                <a:solidFill>
                  <a:srgbClr val="0563C1"/>
                </a:solidFill>
                <a:uFillTx/>
                <a:latin typeface="Times New Roman" panose="02020603050405020304" charset="0"/>
                <a:ea typeface="宋体" panose="02010600030101010101" pitchFamily="2" charset="-122"/>
                <a:sym typeface="+mn-ea"/>
              </a:rPr>
              <a:t>3.2  </a:t>
            </a:r>
            <a:r>
              <a:rPr lang="en-US" b="1" u="sng" dirty="0" err="1">
                <a:solidFill>
                  <a:srgbClr val="0563C1"/>
                </a:solidFill>
                <a:uFillTx/>
                <a:latin typeface="Times New Roman" panose="02020603050405020304" charset="0"/>
                <a:ea typeface="宋体" panose="02010600030101010101" pitchFamily="2" charset="-122"/>
                <a:sym typeface="+mn-ea"/>
              </a:rPr>
              <a:t>无线电波与无线信道</a:t>
            </a:r>
            <a:endParaRPr lang="en-US" b="1" u="sng" dirty="0">
              <a:solidFill>
                <a:srgbClr val="0563C1"/>
              </a:solidFill>
              <a:uFillTx/>
              <a:latin typeface="Times New Roman" panose="02020603050405020304" charset="0"/>
              <a:ea typeface="宋体" panose="02010600030101010101" pitchFamily="2" charset="-122"/>
              <a:sym typeface="+mn-ea"/>
            </a:endParaRPr>
          </a:p>
        </p:txBody>
      </p:sp>
      <p:sp>
        <p:nvSpPr>
          <p:cNvPr id="100" name="文本框 99"/>
          <p:cNvSpPr txBox="1"/>
          <p:nvPr/>
        </p:nvSpPr>
        <p:spPr>
          <a:xfrm>
            <a:off x="412750" y="1009650"/>
            <a:ext cx="5080000" cy="521970"/>
          </a:xfrm>
          <a:prstGeom prst="rect">
            <a:avLst/>
          </a:prstGeom>
          <a:noFill/>
          <a:ln w="9525">
            <a:noFill/>
          </a:ln>
        </p:spPr>
        <p:txBody>
          <a:bodyPr>
            <a:spAutoFit/>
          </a:bodyPr>
          <a:lstStyle/>
          <a:p>
            <a:pPr>
              <a:buClrTx/>
              <a:buSzTx/>
              <a:buFontTx/>
            </a:pPr>
            <a:r>
              <a:rPr lang="zh-CN" sz="2800" b="1" dirty="0">
                <a:solidFill>
                  <a:srgbClr val="000000"/>
                </a:solidFill>
                <a:cs typeface="Times New Roman" panose="02020603050405020304" charset="0"/>
                <a:sym typeface="+mn-ea"/>
              </a:rPr>
              <a:t>3.2.1  无线电波的传播特性</a:t>
            </a:r>
            <a:endParaRPr lang="zh-CN" sz="2800" b="1" dirty="0">
              <a:solidFill>
                <a:srgbClr val="000000"/>
              </a:solidFill>
              <a:cs typeface="Times New Roman" panose="02020603050405020304" charset="0"/>
            </a:endParaRPr>
          </a:p>
        </p:txBody>
      </p:sp>
      <p:sp>
        <p:nvSpPr>
          <p:cNvPr id="5" name="文本框 4"/>
          <p:cNvSpPr txBox="1"/>
          <p:nvPr/>
        </p:nvSpPr>
        <p:spPr>
          <a:xfrm>
            <a:off x="314325" y="1651000"/>
            <a:ext cx="4768215" cy="4939030"/>
          </a:xfrm>
          <a:prstGeom prst="rect">
            <a:avLst/>
          </a:prstGeom>
          <a:noFill/>
        </p:spPr>
        <p:txBody>
          <a:bodyPr wrap="square" rtlCol="0" anchor="t">
            <a:spAutoFit/>
          </a:bodyPr>
          <a:lstStyle/>
          <a:p>
            <a:pPr indent="266700" fontAlgn="auto">
              <a:lnSpc>
                <a:spcPct val="100000"/>
              </a:lnSpc>
            </a:pPr>
            <a:r>
              <a:rPr lang="en-US" altLang="zh-CN" sz="2100" b="1">
                <a:ea typeface="宋体" panose="02010600030101010101" pitchFamily="2" charset="-122"/>
              </a:rPr>
              <a:t>    </a:t>
            </a:r>
            <a:r>
              <a:rPr lang="zh-CN" sz="2100" b="1" dirty="0">
                <a:ea typeface="宋体" panose="02010600030101010101" pitchFamily="2" charset="-122"/>
                <a:sym typeface="+mn-ea"/>
              </a:rPr>
              <a:t>目前，很多研究机构设计的无线传感器网络节点物理层基本上都是在现有的器件工艺水平上展开的，基本上采用结构简单的幅移键控</a:t>
            </a:r>
            <a:r>
              <a:rPr lang="zh-CN" sz="2100" b="1" dirty="0">
                <a:latin typeface="Times New Roman" panose="02020603050405020304" charset="0"/>
                <a:ea typeface="宋体" panose="02010600030101010101" pitchFamily="2" charset="-122"/>
                <a:sym typeface="+mn-ea"/>
              </a:rPr>
              <a:t>（</a:t>
            </a:r>
            <a:r>
              <a:rPr lang="en-US" sz="2100" b="1" dirty="0">
                <a:latin typeface="Times New Roman" panose="02020603050405020304" charset="0"/>
                <a:ea typeface="宋体" panose="02010600030101010101" pitchFamily="2" charset="-122"/>
                <a:sym typeface="+mn-ea"/>
              </a:rPr>
              <a:t>ASK</a:t>
            </a:r>
            <a:r>
              <a:rPr lang="zh-CN" sz="2100" b="1" dirty="0">
                <a:latin typeface="Times New Roman" panose="02020603050405020304" charset="0"/>
                <a:ea typeface="宋体" panose="02010600030101010101" pitchFamily="2" charset="-122"/>
                <a:sym typeface="+mn-ea"/>
              </a:rPr>
              <a:t>）</a:t>
            </a:r>
            <a:r>
              <a:rPr lang="zh-CN" sz="2100" b="1" dirty="0">
                <a:ea typeface="宋体" panose="02010600030101010101" pitchFamily="2" charset="-122"/>
                <a:sym typeface="+mn-ea"/>
              </a:rPr>
              <a:t>、频移键控</a:t>
            </a:r>
            <a:r>
              <a:rPr lang="zh-CN" sz="2100" b="1" dirty="0">
                <a:latin typeface="Times New Roman" panose="02020603050405020304" charset="0"/>
                <a:ea typeface="宋体" panose="02010600030101010101" pitchFamily="2" charset="-122"/>
                <a:sym typeface="+mn-ea"/>
              </a:rPr>
              <a:t>（</a:t>
            </a:r>
            <a:r>
              <a:rPr lang="en-US" sz="2100" b="1" dirty="0">
                <a:latin typeface="Times New Roman" panose="02020603050405020304" charset="0"/>
                <a:ea typeface="宋体" panose="02010600030101010101" pitchFamily="2" charset="-122"/>
                <a:sym typeface="+mn-ea"/>
              </a:rPr>
              <a:t>FSK</a:t>
            </a:r>
            <a:r>
              <a:rPr lang="zh-CN" sz="2100" b="1" dirty="0">
                <a:latin typeface="Times New Roman" panose="02020603050405020304" charset="0"/>
                <a:ea typeface="宋体" panose="02010600030101010101" pitchFamily="2" charset="-122"/>
                <a:sym typeface="+mn-ea"/>
              </a:rPr>
              <a:t>）</a:t>
            </a:r>
            <a:r>
              <a:rPr lang="zh-CN" sz="2100" b="1" dirty="0">
                <a:ea typeface="宋体" panose="02010600030101010101" pitchFamily="2" charset="-122"/>
                <a:sym typeface="+mn-ea"/>
              </a:rPr>
              <a:t>以及最小频移键控</a:t>
            </a:r>
            <a:r>
              <a:rPr lang="zh-CN" sz="2100" b="1" dirty="0">
                <a:latin typeface="Times New Roman" panose="02020603050405020304" charset="0"/>
                <a:ea typeface="宋体" panose="02010600030101010101" pitchFamily="2" charset="-122"/>
                <a:sym typeface="+mn-ea"/>
              </a:rPr>
              <a:t>（</a:t>
            </a:r>
            <a:r>
              <a:rPr lang="en-US" sz="2100" b="1" dirty="0">
                <a:latin typeface="Times New Roman" panose="02020603050405020304" charset="0"/>
                <a:ea typeface="宋体" panose="02010600030101010101" pitchFamily="2" charset="-122"/>
                <a:sym typeface="+mn-ea"/>
              </a:rPr>
              <a:t>MSK</a:t>
            </a:r>
            <a:r>
              <a:rPr lang="zh-CN" sz="2100" b="1" dirty="0">
                <a:latin typeface="Times New Roman" panose="02020603050405020304" charset="0"/>
                <a:ea typeface="宋体" panose="02010600030101010101" pitchFamily="2" charset="-122"/>
                <a:sym typeface="+mn-ea"/>
              </a:rPr>
              <a:t>）</a:t>
            </a:r>
            <a:r>
              <a:rPr lang="zh-CN" sz="2100" b="1" dirty="0">
                <a:ea typeface="宋体" panose="02010600030101010101" pitchFamily="2" charset="-122"/>
                <a:sym typeface="+mn-ea"/>
              </a:rPr>
              <a:t>调制方式，在频段的选择上也都集中在</a:t>
            </a:r>
            <a:r>
              <a:rPr lang="en-US" sz="2100" b="1" dirty="0">
                <a:latin typeface="Times New Roman" panose="02020603050405020304" charset="0"/>
                <a:ea typeface="宋体" panose="02010600030101010101" pitchFamily="2" charset="-122"/>
                <a:sym typeface="+mn-ea"/>
              </a:rPr>
              <a:t>433~464MHz</a:t>
            </a:r>
            <a:r>
              <a:rPr lang="zh-CN" sz="2100" b="1" dirty="0">
                <a:ea typeface="宋体" panose="02010600030101010101" pitchFamily="2" charset="-122"/>
                <a:sym typeface="+mn-ea"/>
              </a:rPr>
              <a:t>、</a:t>
            </a:r>
            <a:r>
              <a:rPr lang="en-US" sz="2100" b="1" dirty="0">
                <a:latin typeface="Times New Roman" panose="02020603050405020304" charset="0"/>
                <a:ea typeface="宋体" panose="02010600030101010101" pitchFamily="2" charset="-122"/>
                <a:sym typeface="+mn-ea"/>
              </a:rPr>
              <a:t>902~928MHz</a:t>
            </a:r>
            <a:r>
              <a:rPr lang="zh-CN" sz="2100" b="1" dirty="0">
                <a:ea typeface="宋体" panose="02010600030101010101" pitchFamily="2" charset="-122"/>
                <a:sym typeface="+mn-ea"/>
              </a:rPr>
              <a:t>及</a:t>
            </a:r>
            <a:r>
              <a:rPr lang="en-US" sz="2100" b="1" dirty="0">
                <a:latin typeface="Times New Roman" panose="02020603050405020304" charset="0"/>
                <a:ea typeface="宋体" panose="02010600030101010101" pitchFamily="2" charset="-122"/>
                <a:sym typeface="+mn-ea"/>
              </a:rPr>
              <a:t>2.4~2.5GHz</a:t>
            </a:r>
            <a:r>
              <a:rPr lang="zh-CN" sz="2100" b="1" dirty="0">
                <a:ea typeface="宋体" panose="02010600030101010101" pitchFamily="2" charset="-122"/>
                <a:sym typeface="+mn-ea"/>
              </a:rPr>
              <a:t>的</a:t>
            </a:r>
            <a:r>
              <a:rPr lang="en-US" sz="2100" b="1" dirty="0">
                <a:latin typeface="Times New Roman" panose="02020603050405020304" charset="0"/>
                <a:ea typeface="宋体" panose="02010600030101010101" pitchFamily="2" charset="-122"/>
                <a:sym typeface="+mn-ea"/>
              </a:rPr>
              <a:t>ISM</a:t>
            </a:r>
            <a:r>
              <a:rPr lang="zh-CN" sz="2100" b="1" dirty="0">
                <a:ea typeface="宋体" panose="02010600030101010101" pitchFamily="2" charset="-122"/>
                <a:sym typeface="+mn-ea"/>
              </a:rPr>
              <a:t>波段。</a:t>
            </a:r>
            <a:endParaRPr lang="zh-CN" sz="2100" b="1" dirty="0">
              <a:ea typeface="宋体" panose="02010600030101010101" pitchFamily="2" charset="-122"/>
              <a:sym typeface="+mn-ea"/>
            </a:endParaRPr>
          </a:p>
          <a:p>
            <a:pPr indent="266700" fontAlgn="auto">
              <a:lnSpc>
                <a:spcPct val="100000"/>
              </a:lnSpc>
            </a:pPr>
            <a:r>
              <a:rPr lang="en-US" altLang="zh-CN" sz="2100" b="1">
                <a:ea typeface="宋体" panose="02010600030101010101" pitchFamily="2" charset="-122"/>
                <a:sym typeface="+mn-ea"/>
              </a:rPr>
              <a:t>    </a:t>
            </a:r>
            <a:r>
              <a:rPr lang="zh-CN" sz="2100" b="1">
                <a:ea typeface="宋体" panose="02010600030101010101" pitchFamily="2" charset="-122"/>
                <a:sym typeface="+mn-ea"/>
              </a:rPr>
              <a:t>提高数据传输速率可以减少数据收发时间</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对于节能有一定的好处</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但需要同时考虑提高网络速度对误码的影响。一般用单个比特的收发能耗来定义数据传输对能量的效率</a:t>
            </a:r>
            <a:r>
              <a:rPr lang="zh-CN" sz="2100" b="1">
                <a:latin typeface="Times New Roman" panose="02020603050405020304" charset="0"/>
                <a:ea typeface="宋体" panose="02010600030101010101" pitchFamily="2" charset="-122"/>
                <a:sym typeface="+mn-ea"/>
              </a:rPr>
              <a:t>，</a:t>
            </a:r>
            <a:r>
              <a:rPr lang="zh-CN" sz="2100" b="1">
                <a:ea typeface="宋体" panose="02010600030101010101" pitchFamily="2" charset="-122"/>
                <a:sym typeface="+mn-ea"/>
              </a:rPr>
              <a:t>但比特能耗越小越好。</a:t>
            </a:r>
            <a:endParaRPr lang="zh-CN" altLang="en-US" sz="2100" b="1"/>
          </a:p>
          <a:p>
            <a:pPr indent="266700" fontAlgn="auto">
              <a:lnSpc>
                <a:spcPct val="100000"/>
              </a:lnSpc>
            </a:pPr>
            <a:endParaRPr lang="zh-CN" sz="21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3" name="表格 2"/>
          <p:cNvGraphicFramePr/>
          <p:nvPr>
            <p:custDataLst>
              <p:tags r:id="rId1"/>
            </p:custDataLst>
          </p:nvPr>
        </p:nvGraphicFramePr>
        <p:xfrm>
          <a:off x="5217534" y="2212117"/>
          <a:ext cx="6866964" cy="3657600"/>
        </p:xfrm>
        <a:graphic>
          <a:graphicData uri="http://schemas.openxmlformats.org/drawingml/2006/table">
            <a:tbl>
              <a:tblPr firstRow="1" bandRow="1">
                <a:tableStyleId>{5940675A-B579-460E-94D1-54222C63F5DA}</a:tableStyleId>
              </a:tblPr>
              <a:tblGrid>
                <a:gridCol w="2065655"/>
                <a:gridCol w="4801309"/>
              </a:tblGrid>
              <a:tr h="365451">
                <a:tc>
                  <a:txBody>
                    <a:bodyPr/>
                    <a:p>
                      <a:pPr indent="0" algn="ctr">
                        <a:buNone/>
                      </a:pPr>
                      <a:r>
                        <a:rPr lang="en-US" sz="1600" b="1" dirty="0">
                          <a:latin typeface="Times New Roman" panose="02020603050405020304" charset="0"/>
                          <a:cs typeface="Times New Roman" panose="02020603050405020304" charset="0"/>
                        </a:rPr>
                        <a:t>频 率</a:t>
                      </a:r>
                      <a:endParaRPr lang="en-US" altLang="en-US" sz="1600" b="1" dirty="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dirty="0">
                          <a:latin typeface="Times New Roman" panose="02020603050405020304" charset="0"/>
                          <a:cs typeface="Times New Roman" panose="02020603050405020304" charset="0"/>
                        </a:rPr>
                        <a:t>说 明</a:t>
                      </a:r>
                      <a:endParaRPr lang="en-US" altLang="en-US" sz="1600" b="1" dirty="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966">
                <a:tc>
                  <a:txBody>
                    <a:bodyPr/>
                    <a:p>
                      <a:pPr indent="0" algn="ctr">
                        <a:buNone/>
                      </a:pPr>
                      <a:r>
                        <a:rPr lang="en-US" sz="1600" b="0" dirty="0">
                          <a:latin typeface="Times New Roman" panose="02020603050405020304" charset="0"/>
                          <a:cs typeface="Times New Roman" panose="02020603050405020304" charset="0"/>
                        </a:rPr>
                        <a:t>13.553~15.567MHz</a:t>
                      </a:r>
                      <a:endParaRPr lang="en-US" altLang="en-US" sz="1600" b="0" dirty="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电感耦合，RFID使用</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451">
                <a:tc>
                  <a:txBody>
                    <a:bodyPr/>
                    <a:p>
                      <a:pPr indent="0" algn="ctr">
                        <a:buNone/>
                      </a:pPr>
                      <a:r>
                        <a:rPr lang="en-US" sz="1600" b="0">
                          <a:latin typeface="Times New Roman" panose="02020603050405020304" charset="0"/>
                          <a:cs typeface="Times New Roman" panose="02020603050405020304" charset="0"/>
                        </a:rPr>
                        <a:t>26.957~27</a:t>
                      </a:r>
                      <a:r>
                        <a:rPr lang="en-US" sz="1600" b="0">
                          <a:latin typeface="宋体" panose="02010600030101010101" pitchFamily="2" charset="-122"/>
                          <a:ea typeface="宋体" panose="02010600030101010101" pitchFamily="2" charset="-122"/>
                          <a:cs typeface="宋体" panose="02010600030101010101" pitchFamily="2" charset="-122"/>
                        </a:rPr>
                        <a:t>.</a:t>
                      </a:r>
                      <a:r>
                        <a:rPr lang="en-US" sz="1600" b="0">
                          <a:latin typeface="Times New Roman" panose="02020603050405020304" charset="0"/>
                          <a:cs typeface="Times New Roman" panose="02020603050405020304" charset="0"/>
                        </a:rPr>
                        <a:t>283 MHz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电感耦合，在特别应用中采用</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6481">
                <a:tc>
                  <a:txBody>
                    <a:bodyPr/>
                    <a:p>
                      <a:pPr indent="0" algn="ctr">
                        <a:buNone/>
                      </a:pPr>
                      <a:r>
                        <a:rPr lang="en-US" sz="1600" b="0">
                          <a:latin typeface="Times New Roman" panose="02020603050405020304" charset="0"/>
                          <a:cs typeface="Times New Roman" panose="02020603050405020304" charset="0"/>
                        </a:rPr>
                        <a:t>40.66~40.70 MHz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用于遥测和遥控，不适用RFID</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966">
                <a:tc>
                  <a:txBody>
                    <a:bodyPr/>
                    <a:p>
                      <a:pPr indent="0" algn="ctr">
                        <a:buNone/>
                      </a:pPr>
                      <a:r>
                        <a:rPr lang="en-US" sz="1600" b="0">
                          <a:latin typeface="Times New Roman" panose="02020603050405020304" charset="0"/>
                          <a:cs typeface="Times New Roman" panose="02020603050405020304" charset="0"/>
                        </a:rPr>
                        <a:t>433~464 MHz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反射散射耦合，少量RFID使用</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936">
                <a:tc>
                  <a:txBody>
                    <a:bodyPr/>
                    <a:p>
                      <a:pPr indent="0" algn="ctr">
                        <a:buNone/>
                      </a:pPr>
                      <a:r>
                        <a:rPr lang="en-US" sz="1600" b="0">
                          <a:latin typeface="Times New Roman" panose="02020603050405020304" charset="0"/>
                          <a:cs typeface="Times New Roman" panose="02020603050405020304" charset="0"/>
                        </a:rPr>
                        <a:t>902~928 MHz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anose="02010600030101010101" pitchFamily="2" charset="-122"/>
                          <a:ea typeface="宋体" panose="02010600030101010101" pitchFamily="2" charset="-122"/>
                          <a:cs typeface="宋体" panose="02010600030101010101" pitchFamily="2" charset="-122"/>
                        </a:rPr>
                        <a:t>反射散射耦合，已有多个应用系统（中国铁路）</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6481">
                <a:tc>
                  <a:txBody>
                    <a:bodyPr/>
                    <a:p>
                      <a:pPr indent="0" algn="ctr">
                        <a:buNone/>
                      </a:pPr>
                      <a:r>
                        <a:rPr lang="en-US" sz="1600" b="0">
                          <a:latin typeface="Times New Roman" panose="02020603050405020304" charset="0"/>
                          <a:cs typeface="Times New Roman" panose="02020603050405020304" charset="0"/>
                        </a:rPr>
                        <a:t>2.4~2.5 GHz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反射散射耦合，多个系统采用</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451">
                <a:tc>
                  <a:txBody>
                    <a:bodyPr/>
                    <a:p>
                      <a:pPr indent="0" algn="ctr">
                        <a:buNone/>
                      </a:pPr>
                      <a:r>
                        <a:rPr lang="en-US" sz="1600" b="0">
                          <a:latin typeface="Times New Roman" panose="02020603050405020304" charset="0"/>
                          <a:cs typeface="Times New Roman" panose="02020603050405020304" charset="0"/>
                        </a:rPr>
                        <a:t>5.725~5.875 GHz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dirty="0" err="1">
                          <a:latin typeface="宋体" panose="02010600030101010101" pitchFamily="2" charset="-122"/>
                          <a:ea typeface="宋体" panose="02010600030101010101" pitchFamily="2" charset="-122"/>
                          <a:cs typeface="宋体" panose="02010600030101010101" pitchFamily="2" charset="-122"/>
                        </a:rPr>
                        <a:t>反射散射耦合，少量RFID使用</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1417">
                <a:tc>
                  <a:txBody>
                    <a:bodyPr/>
                    <a:p>
                      <a:pPr indent="0" algn="ctr">
                        <a:buNone/>
                      </a:pPr>
                      <a:r>
                        <a:rPr lang="en-US" sz="1600" b="0">
                          <a:latin typeface="Times New Roman" panose="02020603050405020304" charset="0"/>
                          <a:cs typeface="Times New Roman" panose="02020603050405020304" charset="0"/>
                        </a:rPr>
                        <a:t>24~24.25 GHz</a:t>
                      </a:r>
                      <a:endParaRPr lang="en-US" altLang="en-US" sz="1600" b="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dirty="0" err="1">
                          <a:latin typeface="宋体" panose="02010600030101010101" pitchFamily="2" charset="-122"/>
                          <a:ea typeface="宋体" panose="02010600030101010101" pitchFamily="2" charset="-122"/>
                          <a:cs typeface="宋体" panose="02010600030101010101" pitchFamily="2" charset="-122"/>
                        </a:rPr>
                        <a:t>用于移动信号传感器，也用于传输数据的无线电定向系统</a:t>
                      </a:r>
                      <a:r>
                        <a:rPr lang="en-US" sz="1600" b="0" dirty="0">
                          <a:latin typeface="宋体" panose="02010600030101010101" pitchFamily="2" charset="-122"/>
                          <a:ea typeface="宋体" panose="02010600030101010101" pitchFamily="2" charset="-122"/>
                          <a:cs typeface="宋体" panose="02010600030101010101" pitchFamily="2" charset="-122"/>
                        </a:rPr>
                        <a:t>, </a:t>
                      </a:r>
                      <a:r>
                        <a:rPr lang="en-US" sz="1600" b="0" dirty="0" err="1">
                          <a:latin typeface="宋体" panose="02010600030101010101" pitchFamily="2" charset="-122"/>
                          <a:ea typeface="宋体" panose="02010600030101010101" pitchFamily="2" charset="-122"/>
                          <a:cs typeface="宋体" panose="02010600030101010101" pitchFamily="2" charset="-122"/>
                        </a:rPr>
                        <a:t>没有射频识别系统工作</a:t>
                      </a:r>
                      <a:endParaRPr lang="en-US" altLang="en-US" sz="1600" b="0" dirty="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 name="文本框 3"/>
          <p:cNvSpPr txBox="1"/>
          <p:nvPr/>
        </p:nvSpPr>
        <p:spPr>
          <a:xfrm>
            <a:off x="7153275" y="1742440"/>
            <a:ext cx="3484880" cy="368300"/>
          </a:xfrm>
          <a:prstGeom prst="rect">
            <a:avLst/>
          </a:prstGeom>
          <a:noFill/>
        </p:spPr>
        <p:txBody>
          <a:bodyPr wrap="none" rtlCol="0" anchor="t">
            <a:spAutoFit/>
          </a:bodyPr>
          <a:p>
            <a:r>
              <a:rPr lang="zh-CN" dirty="0">
                <a:ea typeface="宋体" panose="02010600030101010101" pitchFamily="2" charset="-122"/>
                <a:sym typeface="+mn-ea"/>
              </a:rPr>
              <a:t>表</a:t>
            </a:r>
            <a:r>
              <a:rPr lang="en-US" dirty="0">
                <a:latin typeface="Times New Roman" panose="02020603050405020304" charset="0"/>
                <a:ea typeface="宋体" panose="02010600030101010101" pitchFamily="2" charset="-122"/>
                <a:sym typeface="+mn-ea"/>
              </a:rPr>
              <a:t>3-2-1  ISM</a:t>
            </a:r>
            <a:r>
              <a:rPr lang="zh-CN" dirty="0">
                <a:ea typeface="宋体" panose="02010600030101010101" pitchFamily="2" charset="-122"/>
                <a:sym typeface="+mn-ea"/>
              </a:rPr>
              <a:t>波段一些频率及说明</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2580" y="1090295"/>
            <a:ext cx="10093960" cy="1568450"/>
          </a:xfrm>
          <a:prstGeom prst="rect">
            <a:avLst/>
          </a:prstGeom>
          <a:noFill/>
          <a:ln w="9525">
            <a:noFill/>
          </a:ln>
        </p:spPr>
        <p:txBody>
          <a:bodyPr wrap="square">
            <a:spAutoFit/>
          </a:bodyPr>
          <a:lstStyle/>
          <a:p>
            <a:pPr indent="457200" fontAlgn="auto">
              <a:lnSpc>
                <a:spcPct val="100000"/>
              </a:lnSpc>
            </a:pPr>
            <a:r>
              <a:rPr lang="zh-CN" sz="2400" b="1">
                <a:ea typeface="宋体" panose="02010600030101010101" pitchFamily="2" charset="-122"/>
              </a:rPr>
              <a:t>信道是信号传输的</a:t>
            </a:r>
            <a:r>
              <a:rPr lang="zh-CN" sz="2400" b="1">
                <a:latin typeface="Times New Roman" panose="02020603050405020304" charset="0"/>
                <a:ea typeface="宋体" panose="02010600030101010101" pitchFamily="2" charset="-122"/>
              </a:rPr>
              <a:t>通道</a:t>
            </a:r>
            <a:r>
              <a:rPr lang="zh-CN" sz="2400" b="1">
                <a:ea typeface="宋体" panose="02010600030101010101" pitchFamily="2" charset="-122"/>
              </a:rPr>
              <a:t>。通信信道包括有线信道和无线信道。有线信道包括同轴电缆、光纤等。无线信道是无线通信发送端和接收端之间通路的形象说法，它以电磁波的形式在空间传播。无线传感器网络物理层主要采用无线信道。</a:t>
            </a:r>
            <a:endParaRPr lang="zh-CN" altLang="en-US" sz="2400" b="1"/>
          </a:p>
        </p:txBody>
      </p:sp>
      <p:sp>
        <p:nvSpPr>
          <p:cNvPr id="4" name="文本框 3"/>
          <p:cNvSpPr txBox="1"/>
          <p:nvPr/>
        </p:nvSpPr>
        <p:spPr>
          <a:xfrm>
            <a:off x="415290" y="2658745"/>
            <a:ext cx="5080000" cy="460375"/>
          </a:xfrm>
          <a:prstGeom prst="rect">
            <a:avLst/>
          </a:prstGeom>
          <a:noFill/>
          <a:ln w="9525">
            <a:noFill/>
          </a:ln>
        </p:spPr>
        <p:txBody>
          <a:bodyPr>
            <a:spAutoFit/>
          </a:bodyPr>
          <a:lstStyle/>
          <a:p>
            <a:r>
              <a:rPr lang="en-US" sz="2400" b="1" dirty="0">
                <a:latin typeface="Times New Roman" panose="02020603050405020304" charset="0"/>
                <a:ea typeface="宋体" panose="02010600030101010101" pitchFamily="2" charset="-122"/>
              </a:rPr>
              <a:t>3.2.2.1  </a:t>
            </a:r>
            <a:r>
              <a:rPr lang="zh-CN" altLang="en-US" sz="2400" b="1" dirty="0">
                <a:latin typeface="Times New Roman" panose="02020603050405020304" charset="0"/>
                <a:ea typeface="宋体" panose="02010600030101010101" pitchFamily="2" charset="-122"/>
              </a:rPr>
              <a:t>自由空间信道</a:t>
            </a:r>
            <a:endParaRPr lang="zh-CN" altLang="en-US" sz="2400" b="1" dirty="0">
              <a:latin typeface="Times New Roman" panose="02020603050405020304" charset="0"/>
              <a:ea typeface="宋体" panose="02010600030101010101" pitchFamily="2" charset="-122"/>
            </a:endParaRPr>
          </a:p>
        </p:txBody>
      </p:sp>
      <p:sp>
        <p:nvSpPr>
          <p:cNvPr id="5" name="文本框 4"/>
          <p:cNvSpPr txBox="1"/>
          <p:nvPr/>
        </p:nvSpPr>
        <p:spPr>
          <a:xfrm>
            <a:off x="322580" y="3119120"/>
            <a:ext cx="11512550" cy="3046095"/>
          </a:xfrm>
          <a:prstGeom prst="rect">
            <a:avLst/>
          </a:prstGeom>
          <a:noFill/>
          <a:ln w="9525">
            <a:noFill/>
          </a:ln>
        </p:spPr>
        <p:txBody>
          <a:bodyPr wrap="square">
            <a:spAutoFit/>
          </a:bodyPr>
          <a:lstStyle/>
          <a:p>
            <a:pPr indent="266700" fontAlgn="auto">
              <a:lnSpc>
                <a:spcPct val="100000"/>
              </a:lnSpc>
            </a:pPr>
            <a:r>
              <a:rPr lang="en-US" altLang="zh-CN" b="0" dirty="0">
                <a:ea typeface="宋体" panose="02010600030101010101" pitchFamily="2" charset="-122"/>
              </a:rPr>
              <a:t>     </a:t>
            </a:r>
            <a:r>
              <a:rPr lang="zh-CN" sz="2400" b="1" dirty="0">
                <a:ea typeface="宋体" panose="02010600030101010101" pitchFamily="2" charset="-122"/>
              </a:rPr>
              <a:t>无线电波在自由空间的传播称为自由空间传播，其模型的特点是均匀无损耗的无限大空间、各向同性、电导率为</a:t>
            </a:r>
            <a:r>
              <a:rPr lang="en-US" sz="2400" b="1" dirty="0">
                <a:latin typeface="Times New Roman" panose="02020603050405020304" charset="0"/>
                <a:ea typeface="宋体" panose="02010600030101010101" pitchFamily="2" charset="-122"/>
              </a:rPr>
              <a:t>0</a:t>
            </a:r>
            <a:r>
              <a:rPr lang="zh-CN" sz="2400" b="1" dirty="0">
                <a:ea typeface="宋体" panose="02010600030101010101" pitchFamily="2" charset="-122"/>
              </a:rPr>
              <a:t>，相对介电常数和相对磁导率为</a:t>
            </a:r>
            <a:r>
              <a:rPr lang="en-US" sz="2400" b="1" dirty="0">
                <a:latin typeface="Times New Roman" panose="02020603050405020304" charset="0"/>
                <a:ea typeface="宋体" panose="02010600030101010101" pitchFamily="2" charset="-122"/>
              </a:rPr>
              <a:t>1</a:t>
            </a:r>
            <a:r>
              <a:rPr lang="zh-CN" sz="2400" b="1" dirty="0">
                <a:ea typeface="宋体" panose="02010600030101010101" pitchFamily="2" charset="-122"/>
              </a:rPr>
              <a:t>。无线电波在自由空间不存在电波的反射、折射、绕射、色散和吸收等现象，电波的传播速率等于真空中</a:t>
            </a:r>
            <a:r>
              <a:rPr lang="zh-CN" sz="2400" b="1" dirty="0">
                <a:latin typeface="Times New Roman" panose="02020603050405020304" charset="0"/>
                <a:ea typeface="宋体" panose="02010600030101010101" pitchFamily="2" charset="-122"/>
              </a:rPr>
              <a:t>的</a:t>
            </a:r>
            <a:r>
              <a:rPr lang="zh-CN" sz="2400" b="1" dirty="0">
                <a:ea typeface="宋体" panose="02010600030101010101" pitchFamily="2" charset="-122"/>
              </a:rPr>
              <a:t>光速</a:t>
            </a:r>
            <a:r>
              <a:rPr lang="en-US" sz="2400" b="1" dirty="0">
                <a:latin typeface="Times New Roman" panose="02020603050405020304" charset="0"/>
                <a:ea typeface="宋体" panose="02010600030101010101" pitchFamily="2" charset="-122"/>
              </a:rPr>
              <a:t>C</a:t>
            </a:r>
            <a:r>
              <a:rPr lang="zh-CN" sz="2400" b="1" dirty="0">
                <a:ea typeface="宋体" panose="02010600030101010101" pitchFamily="2" charset="-122"/>
              </a:rPr>
              <a:t>。</a:t>
            </a:r>
            <a:endParaRPr lang="zh-CN" sz="2400" b="1" dirty="0">
              <a:ea typeface="宋体" panose="02010600030101010101" pitchFamily="2" charset="-122"/>
            </a:endParaRPr>
          </a:p>
          <a:p>
            <a:pPr indent="26670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电波在传播过程中的衰减称为传播损耗，自由空间传播损耗的本质：球面波在传播过程中，随着传播距离增大，球面单位面积上的能量减小了。接收天线的有效截面积一定，故接收天线所捕获的信号功率减小。自由空间信道是一种理想的无线信道，</a:t>
            </a:r>
            <a:r>
              <a:rPr lang="en-US" sz="2400" b="1" dirty="0">
                <a:latin typeface="Times New Roman" panose="02020603050405020304" charset="0"/>
                <a:ea typeface="宋体" panose="02010600030101010101" pitchFamily="2" charset="-122"/>
              </a:rPr>
              <a:t> </a:t>
            </a:r>
            <a:r>
              <a:rPr lang="zh-CN" sz="2400" b="1" dirty="0">
                <a:ea typeface="宋体" panose="02010600030101010101" pitchFamily="2" charset="-122"/>
              </a:rPr>
              <a:t>它是无阻挡、无衰落、非时变的自由空间传播信道，如图</a:t>
            </a:r>
            <a:r>
              <a:rPr lang="en-US" sz="2400" b="1" dirty="0">
                <a:latin typeface="Times New Roman" panose="02020603050405020304" charset="0"/>
                <a:ea typeface="宋体" panose="02010600030101010101" pitchFamily="2" charset="-122"/>
              </a:rPr>
              <a:t>3-2-1</a:t>
            </a:r>
            <a:r>
              <a:rPr lang="zh-CN" sz="2400" b="1" dirty="0">
                <a:ea typeface="宋体" panose="02010600030101010101" pitchFamily="2" charset="-122"/>
              </a:rPr>
              <a:t>所示。</a:t>
            </a:r>
            <a:endParaRPr lang="zh-CN" altLang="en-US" sz="2400" b="1" dirty="0"/>
          </a:p>
        </p:txBody>
      </p:sp>
      <p:sp>
        <p:nvSpPr>
          <p:cNvPr id="7" name="标题 1"/>
          <p:cNvSpPr>
            <a:spLocks noGrp="1"/>
          </p:cNvSpPr>
          <p:nvPr>
            <p:ph type="title"/>
          </p:nvPr>
        </p:nvSpPr>
        <p:spPr>
          <a:xfrm>
            <a:off x="486410" y="-317"/>
            <a:ext cx="7310755" cy="1325880"/>
          </a:xfrm>
        </p:spPr>
        <p:txBody>
          <a:bodyPr/>
          <a:lstStyle/>
          <a:p>
            <a:pPr>
              <a:buClrTx/>
              <a:buSzTx/>
              <a:buFontTx/>
            </a:pPr>
            <a:r>
              <a:rPr lang="en-US" sz="4400" b="1" u="sng" dirty="0">
                <a:solidFill>
                  <a:srgbClr val="0563C1"/>
                </a:solidFill>
                <a:uFillTx/>
                <a:latin typeface="Times New Roman" panose="02020603050405020304" charset="0"/>
                <a:ea typeface="宋体" panose="02010600030101010101" pitchFamily="2" charset="-122"/>
              </a:rPr>
              <a:t>3.2.2  无线信道的传播模型</a:t>
            </a:r>
            <a:endParaRPr lang="en-US" sz="4400" b="1" u="sng" dirty="0">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82621"/>
          <p:cNvGraphicFramePr>
            <a:graphicFrameLocks noChangeAspect="1"/>
          </p:cNvGraphicFramePr>
          <p:nvPr/>
        </p:nvGraphicFramePr>
        <p:xfrm>
          <a:off x="6732270" y="1401445"/>
          <a:ext cx="4311015" cy="1823085"/>
        </p:xfrm>
        <a:graphic>
          <a:graphicData uri="http://schemas.openxmlformats.org/presentationml/2006/ole">
            <mc:AlternateContent xmlns:mc="http://schemas.openxmlformats.org/markup-compatibility/2006">
              <mc:Choice xmlns:v="urn:schemas-microsoft-com:vml" Requires="v">
                <p:oleObj spid="_x0000_s24775" name="" r:id="rId1" imgW="6858000" imgH="2895600" progId="Visio.Drawing.15">
                  <p:embed/>
                </p:oleObj>
              </mc:Choice>
              <mc:Fallback>
                <p:oleObj name="" r:id="rId1" imgW="6858000" imgH="2895600" progId="Visio.Drawing.15">
                  <p:embed/>
                  <p:pic>
                    <p:nvPicPr>
                      <p:cNvPr id="0" name="图片 3075"/>
                      <p:cNvPicPr/>
                      <p:nvPr/>
                    </p:nvPicPr>
                    <p:blipFill>
                      <a:blip r:embed="rId2"/>
                      <a:stretch>
                        <a:fillRect/>
                      </a:stretch>
                    </p:blipFill>
                    <p:spPr>
                      <a:xfrm>
                        <a:off x="6732270" y="1401445"/>
                        <a:ext cx="4311015" cy="1823085"/>
                      </a:xfrm>
                      <a:prstGeom prst="rect">
                        <a:avLst/>
                      </a:prstGeom>
                      <a:noFill/>
                      <a:ln w="9525">
                        <a:noFill/>
                        <a:miter/>
                      </a:ln>
                    </p:spPr>
                  </p:pic>
                </p:oleObj>
              </mc:Fallback>
            </mc:AlternateContent>
          </a:graphicData>
        </a:graphic>
      </p:graphicFrame>
      <p:sp>
        <p:nvSpPr>
          <p:cNvPr id="100" name="文本框 99"/>
          <p:cNvSpPr txBox="1"/>
          <p:nvPr/>
        </p:nvSpPr>
        <p:spPr>
          <a:xfrm>
            <a:off x="7406640" y="3361055"/>
            <a:ext cx="3636645" cy="398780"/>
          </a:xfrm>
          <a:prstGeom prst="rect">
            <a:avLst/>
          </a:prstGeom>
          <a:noFill/>
          <a:ln w="9525">
            <a:noFill/>
          </a:ln>
        </p:spPr>
        <p:txBody>
          <a:bodyPr wrap="square">
            <a:spAutoFit/>
          </a:bodyPr>
          <a:lstStyle/>
          <a:p>
            <a:pPr indent="0" algn="ctr"/>
            <a:r>
              <a:rPr lang="zh-CN" sz="2000" b="0" dirty="0">
                <a:ea typeface="宋体" panose="02010600030101010101" pitchFamily="2" charset="-122"/>
              </a:rPr>
              <a:t>图</a:t>
            </a:r>
            <a:r>
              <a:rPr lang="en-US" sz="2000" b="0" dirty="0">
                <a:latin typeface="Times New Roman" panose="02020603050405020304" charset="0"/>
                <a:ea typeface="宋体" panose="02010600030101010101" pitchFamily="2" charset="-122"/>
              </a:rPr>
              <a:t>3-2-1 </a:t>
            </a:r>
            <a:r>
              <a:rPr lang="en-US" sz="2000" b="0" dirty="0">
                <a:latin typeface="Times New Roman" panose="02020603050405020304" charset="0"/>
                <a:ea typeface="宋体" panose="02010600030101010101" pitchFamily="2" charset="-122"/>
                <a:cs typeface="Times New Roman" panose="02020603050405020304" charset="0"/>
              </a:rPr>
              <a:t> </a:t>
            </a:r>
            <a:r>
              <a:rPr lang="zh-CN" sz="2000" b="0" dirty="0">
                <a:ea typeface="宋体" panose="02010600030101010101" pitchFamily="2" charset="-122"/>
              </a:rPr>
              <a:t>自由空间信道模型</a:t>
            </a:r>
            <a:endParaRPr lang="zh-CN" altLang="en-US" sz="2000" dirty="0"/>
          </a:p>
        </p:txBody>
      </p:sp>
      <p:sp>
        <p:nvSpPr>
          <p:cNvPr id="20" name="文本框 19"/>
          <p:cNvSpPr txBox="1"/>
          <p:nvPr/>
        </p:nvSpPr>
        <p:spPr>
          <a:xfrm>
            <a:off x="419735" y="1290955"/>
            <a:ext cx="5913755" cy="2676525"/>
          </a:xfrm>
          <a:prstGeom prst="rect">
            <a:avLst/>
          </a:prstGeom>
          <a:noFill/>
          <a:ln w="9525">
            <a:noFill/>
          </a:ln>
        </p:spPr>
        <p:txBody>
          <a:bodyPr wrap="square">
            <a:spAutoFit/>
          </a:bodyPr>
          <a:lstStyle/>
          <a:p>
            <a:pPr indent="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自由空间信道模型，假定</a:t>
            </a:r>
            <a:r>
              <a:rPr lang="en-US" altLang="zh-CN" sz="2400" b="1" dirty="0" err="1">
                <a:ea typeface="宋体" panose="02010600030101010101" pitchFamily="2" charset="-122"/>
              </a:rPr>
              <a:t>A点是信号的发射源，B点是接收机，d是发射源与接收机之间的距离，信号发射源的天线辐射功率为P</a:t>
            </a:r>
            <a:r>
              <a:rPr lang="en-US" altLang="zh-CN" sz="2400" b="1" baseline="-25000" dirty="0" err="1">
                <a:ea typeface="宋体" panose="02010600030101010101" pitchFamily="2" charset="-122"/>
              </a:rPr>
              <a:t>t</a:t>
            </a:r>
            <a:r>
              <a:rPr lang="zh-CN" altLang="en-US" sz="2400" b="1" dirty="0" err="1">
                <a:ea typeface="宋体" panose="02010600030101010101" pitchFamily="2" charset="-122"/>
              </a:rPr>
              <a:t>。</a:t>
            </a:r>
            <a:r>
              <a:rPr lang="zh-CN" sz="2400" b="1" dirty="0">
                <a:ea typeface="宋体" panose="02010600030101010101" pitchFamily="2" charset="-122"/>
                <a:sym typeface="+mn-ea"/>
              </a:rPr>
              <a:t>在距离发射源A点d处的接收机B点的空间上任意点（相当于面积为4πd2的球面的单位面积）的发射功率密度</a:t>
            </a:r>
            <a:r>
              <a:rPr lang="en-US" altLang="zh-CN" sz="2400" b="1" dirty="0">
                <a:ea typeface="宋体" panose="02010600030101010101" pitchFamily="2" charset="-122"/>
                <a:sym typeface="+mn-ea"/>
              </a:rPr>
              <a:t>P</a:t>
            </a:r>
            <a:r>
              <a:rPr lang="en-US" altLang="zh-CN" sz="2400" b="1" baseline="-25000" dirty="0">
                <a:ea typeface="宋体" panose="02010600030101010101" pitchFamily="2" charset="-122"/>
                <a:sym typeface="+mn-ea"/>
              </a:rPr>
              <a:t>0</a:t>
            </a:r>
            <a:r>
              <a:rPr lang="zh-CN" sz="2400" b="1" dirty="0">
                <a:ea typeface="宋体" panose="02010600030101010101" pitchFamily="2" charset="-122"/>
                <a:sym typeface="+mn-ea"/>
              </a:rPr>
              <a:t>为</a:t>
            </a:r>
            <a:endParaRPr lang="en-US" altLang="zh-CN" sz="2400" b="1" dirty="0"/>
          </a:p>
          <a:p>
            <a:pPr indent="0" fontAlgn="auto">
              <a:lnSpc>
                <a:spcPct val="100000"/>
              </a:lnSpc>
            </a:pPr>
            <a:endParaRPr lang="en-US" altLang="zh-CN" sz="2400" b="1" dirty="0">
              <a:ea typeface="宋体" panose="02010600030101010101" pitchFamily="2" charset="-122"/>
            </a:endParaRPr>
          </a:p>
        </p:txBody>
      </p:sp>
      <p:pic>
        <p:nvPicPr>
          <p:cNvPr id="30" name="图片 29"/>
          <p:cNvPicPr/>
          <p:nvPr/>
        </p:nvPicPr>
        <p:blipFill>
          <a:blip r:embed="rId3"/>
          <a:stretch>
            <a:fillRect/>
          </a:stretch>
        </p:blipFill>
        <p:spPr>
          <a:xfrm>
            <a:off x="1988820" y="3455670"/>
            <a:ext cx="2146300" cy="741680"/>
          </a:xfrm>
          <a:prstGeom prst="rect">
            <a:avLst/>
          </a:prstGeom>
          <a:noFill/>
          <a:ln w="9525">
            <a:noFill/>
          </a:ln>
        </p:spPr>
      </p:pic>
      <p:graphicFrame>
        <p:nvGraphicFramePr>
          <p:cNvPr id="5" name="对象 -2147482483"/>
          <p:cNvGraphicFramePr>
            <a:graphicFrameLocks noChangeAspect="1"/>
          </p:cNvGraphicFramePr>
          <p:nvPr/>
        </p:nvGraphicFramePr>
        <p:xfrm>
          <a:off x="1157605" y="4220210"/>
          <a:ext cx="1555750" cy="414655"/>
        </p:xfrm>
        <a:graphic>
          <a:graphicData uri="http://schemas.openxmlformats.org/presentationml/2006/ole">
            <mc:AlternateContent xmlns:mc="http://schemas.openxmlformats.org/markup-compatibility/2006">
              <mc:Choice xmlns:v="urn:schemas-microsoft-com:vml" Requires="v">
                <p:oleObj spid="_x0000_s6" name="" r:id="rId4" imgW="862965" imgH="241300" progId="Equation.DSMT4">
                  <p:embed/>
                </p:oleObj>
              </mc:Choice>
              <mc:Fallback>
                <p:oleObj name="" r:id="rId4" imgW="862965" imgH="241300" progId="Equation.DSMT4">
                  <p:embed/>
                  <p:pic>
                    <p:nvPicPr>
                      <p:cNvPr id="0" name="图片 32"/>
                      <p:cNvPicPr/>
                      <p:nvPr/>
                    </p:nvPicPr>
                    <p:blipFill>
                      <a:blip r:embed="rId5"/>
                      <a:stretch>
                        <a:fillRect/>
                      </a:stretch>
                    </p:blipFill>
                    <p:spPr>
                      <a:xfrm>
                        <a:off x="1157605" y="4220210"/>
                        <a:ext cx="1555750" cy="414655"/>
                      </a:xfrm>
                      <a:prstGeom prst="rect">
                        <a:avLst/>
                      </a:prstGeom>
                      <a:noFill/>
                      <a:ln w="9525">
                        <a:noFill/>
                        <a:miter/>
                      </a:ln>
                    </p:spPr>
                  </p:pic>
                </p:oleObj>
              </mc:Fallback>
            </mc:AlternateContent>
          </a:graphicData>
        </a:graphic>
      </p:graphicFrame>
      <p:sp>
        <p:nvSpPr>
          <p:cNvPr id="34" name="文本框 33"/>
          <p:cNvSpPr txBox="1"/>
          <p:nvPr/>
        </p:nvSpPr>
        <p:spPr>
          <a:xfrm>
            <a:off x="419660" y="4197350"/>
            <a:ext cx="5080000" cy="460375"/>
          </a:xfrm>
          <a:prstGeom prst="rect">
            <a:avLst/>
          </a:prstGeom>
          <a:noFill/>
          <a:ln w="9525">
            <a:noFill/>
          </a:ln>
        </p:spPr>
        <p:txBody>
          <a:bodyPr>
            <a:spAutoFit/>
          </a:bodyPr>
          <a:lstStyle/>
          <a:p>
            <a:pPr indent="0"/>
            <a:r>
              <a:rPr lang="zh-CN" altLang="zh-CN" sz="2400" b="1" dirty="0">
                <a:ea typeface="宋体" panose="02010600030101010101" pitchFamily="2" charset="-122"/>
              </a:rPr>
              <a:t>式中</a:t>
            </a:r>
            <a:r>
              <a:rPr lang="en-US" altLang="zh-CN" sz="2400" b="1" dirty="0">
                <a:ea typeface="宋体" panose="02010600030101010101" pitchFamily="2" charset="-122"/>
              </a:rPr>
              <a:t>                    </a:t>
            </a:r>
            <a:r>
              <a:rPr lang="zh-CN" sz="2400" b="1" dirty="0">
                <a:ea typeface="宋体" panose="02010600030101010101" pitchFamily="2" charset="-122"/>
              </a:rPr>
              <a:t>称为传播因子。</a:t>
            </a:r>
            <a:endParaRPr lang="zh-CN" altLang="en-US" sz="2400" b="1" dirty="0"/>
          </a:p>
        </p:txBody>
      </p:sp>
      <p:sp>
        <p:nvSpPr>
          <p:cNvPr id="7" name="文本框 6"/>
          <p:cNvSpPr txBox="1"/>
          <p:nvPr/>
        </p:nvSpPr>
        <p:spPr>
          <a:xfrm>
            <a:off x="344170" y="347980"/>
            <a:ext cx="5989320" cy="768350"/>
          </a:xfrm>
          <a:prstGeom prst="rect">
            <a:avLst/>
          </a:prstGeom>
          <a:noFill/>
          <a:ln w="9525">
            <a:noFill/>
          </a:ln>
        </p:spPr>
        <p:txBody>
          <a:bodyPr wrap="square">
            <a:spAutoFit/>
          </a:bodyPr>
          <a:p>
            <a:r>
              <a:rPr lang="en-US" sz="4400" b="1" u="sng" dirty="0">
                <a:solidFill>
                  <a:srgbClr val="0563C1"/>
                </a:solidFill>
                <a:uFillTx/>
                <a:latin typeface="Times New Roman" panose="02020603050405020304" charset="0"/>
                <a:ea typeface="宋体" panose="02010600030101010101" pitchFamily="2" charset="-122"/>
                <a:cs typeface="+mj-cs"/>
              </a:rPr>
              <a:t>3.2.2.1  自由空间信道</a:t>
            </a:r>
            <a:endParaRPr lang="zh-CN" altLang="en-US" sz="2400" b="1" dirty="0">
              <a:latin typeface="Times New Roman" panose="02020603050405020304" charset="0"/>
              <a:ea typeface="宋体" panose="02010600030101010101" pitchFamily="2" charset="-122"/>
            </a:endParaRPr>
          </a:p>
        </p:txBody>
      </p:sp>
      <p:sp>
        <p:nvSpPr>
          <p:cNvPr id="118" name="文本框 117"/>
          <p:cNvSpPr txBox="1"/>
          <p:nvPr/>
        </p:nvSpPr>
        <p:spPr>
          <a:xfrm>
            <a:off x="419735" y="4634865"/>
            <a:ext cx="11275695" cy="1198880"/>
          </a:xfrm>
          <a:prstGeom prst="rect">
            <a:avLst/>
          </a:prstGeom>
          <a:noFill/>
          <a:ln w="9525">
            <a:noFill/>
          </a:ln>
        </p:spPr>
        <p:txBody>
          <a:bodyPr wrap="square">
            <a:spAutoFit/>
          </a:bodyPr>
          <a:p>
            <a:pPr indent="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在实际无线通信系统中，真正的全向性天线是不存在的，实际天线都带有方向性，一般用天线增益</a:t>
            </a:r>
            <a:r>
              <a:rPr lang="en-US" altLang="zh-CN" sz="2400" b="1" dirty="0" err="1">
                <a:ea typeface="宋体" panose="02010600030101010101" pitchFamily="2" charset="-122"/>
              </a:rPr>
              <a:t>G来表示</a:t>
            </a:r>
            <a:r>
              <a:rPr lang="zh-CN" altLang="en-US" sz="2400" b="1" dirty="0">
                <a:ea typeface="宋体" panose="02010600030101010101" pitchFamily="2" charset="-122"/>
              </a:rPr>
              <a:t>，</a:t>
            </a:r>
            <a:r>
              <a:rPr lang="en-US" altLang="zh-CN" sz="2400" b="1" dirty="0" err="1">
                <a:ea typeface="宋体" panose="02010600030101010101" pitchFamily="2" charset="-122"/>
              </a:rPr>
              <a:t>如发射天线在某方向的增益为G</a:t>
            </a:r>
            <a:r>
              <a:rPr lang="en-US" altLang="zh-CN" sz="2400" b="1" baseline="-25000" dirty="0" err="1">
                <a:ea typeface="宋体" panose="02010600030101010101" pitchFamily="2" charset="-122"/>
              </a:rPr>
              <a:t>1</a:t>
            </a:r>
            <a:r>
              <a:rPr lang="zh-CN" altLang="en-US" sz="2400" b="1" dirty="0" err="1">
                <a:ea typeface="宋体" panose="02010600030101010101" pitchFamily="2" charset="-122"/>
              </a:rPr>
              <a:t>，</a:t>
            </a:r>
            <a:r>
              <a:rPr lang="zh-CN" sz="2400" b="1" dirty="0">
                <a:ea typeface="宋体" panose="02010600030101010101" pitchFamily="2" charset="-122"/>
                <a:sym typeface="+mn-ea"/>
              </a:rPr>
              <a:t>则在该方向的功率密度增加</a:t>
            </a:r>
            <a:r>
              <a:rPr lang="en-US" altLang="zh-CN" sz="2400" b="1" dirty="0">
                <a:ea typeface="宋体" panose="02010600030101010101" pitchFamily="2" charset="-122"/>
                <a:sym typeface="+mn-ea"/>
              </a:rPr>
              <a:t>G</a:t>
            </a:r>
            <a:r>
              <a:rPr lang="en-US" altLang="zh-CN" sz="2400" b="1" baseline="-25000" dirty="0">
                <a:ea typeface="宋体" panose="02010600030101010101" pitchFamily="2" charset="-122"/>
                <a:sym typeface="+mn-ea"/>
              </a:rPr>
              <a:t>1</a:t>
            </a:r>
            <a:r>
              <a:rPr lang="zh-CN" altLang="en-US" sz="2400" b="1" dirty="0">
                <a:ea typeface="宋体" panose="02010600030101010101" pitchFamily="2" charset="-122"/>
                <a:sym typeface="+mn-ea"/>
              </a:rPr>
              <a:t>倍。在图</a:t>
            </a:r>
            <a:r>
              <a:rPr lang="en-US" altLang="zh-CN" sz="2400" b="1" dirty="0">
                <a:ea typeface="宋体" panose="02010600030101010101" pitchFamily="2" charset="-122"/>
                <a:sym typeface="+mn-ea"/>
              </a:rPr>
              <a:t>3-2-1 </a:t>
            </a:r>
            <a:r>
              <a:rPr lang="zh-CN" altLang="en-US" sz="2400" b="1" dirty="0">
                <a:ea typeface="宋体" panose="02010600030101010101" pitchFamily="2" charset="-122"/>
                <a:sym typeface="+mn-ea"/>
              </a:rPr>
              <a:t>中，相距</a:t>
            </a:r>
            <a:r>
              <a:rPr lang="en-US" altLang="zh-CN" sz="2400" b="1" dirty="0">
                <a:ea typeface="宋体" panose="02010600030101010101" pitchFamily="2" charset="-122"/>
                <a:sym typeface="+mn-ea"/>
              </a:rPr>
              <a:t>A</a:t>
            </a:r>
            <a:r>
              <a:rPr lang="zh-CN" sz="2400" b="1" dirty="0">
                <a:ea typeface="宋体" panose="02010600030101010101" pitchFamily="2" charset="-122"/>
                <a:sym typeface="+mn-ea"/>
              </a:rPr>
              <a:t>点</a:t>
            </a:r>
            <a:r>
              <a:rPr lang="en-US" altLang="zh-CN" sz="2400" b="1" dirty="0" err="1">
                <a:ea typeface="宋体" panose="02010600030101010101" pitchFamily="2" charset="-122"/>
                <a:sym typeface="+mn-ea"/>
              </a:rPr>
              <a:t>d处单位面积接收功率可表示为</a:t>
            </a:r>
            <a:endParaRPr lang="en-US" altLang="zh-CN" sz="2400" b="1" dirty="0">
              <a:ea typeface="宋体" panose="02010600030101010101" pitchFamily="2" charset="-122"/>
            </a:endParaRPr>
          </a:p>
        </p:txBody>
      </p:sp>
      <p:graphicFrame>
        <p:nvGraphicFramePr>
          <p:cNvPr id="9" name="对象 -2147482605"/>
          <p:cNvGraphicFramePr>
            <a:graphicFrameLocks noChangeAspect="1"/>
          </p:cNvGraphicFramePr>
          <p:nvPr/>
        </p:nvGraphicFramePr>
        <p:xfrm>
          <a:off x="4758055" y="5753735"/>
          <a:ext cx="2059940" cy="901700"/>
        </p:xfrm>
        <a:graphic>
          <a:graphicData uri="http://schemas.openxmlformats.org/presentationml/2006/ole">
            <mc:AlternateContent xmlns:mc="http://schemas.openxmlformats.org/markup-compatibility/2006">
              <mc:Choice xmlns:v="urn:schemas-microsoft-com:vml" Requires="v">
                <p:oleObj spid="_x0000_s8" name="" r:id="rId6" imgW="914400" imgH="393700" progId="Equation.DSMT4">
                  <p:embed/>
                </p:oleObj>
              </mc:Choice>
              <mc:Fallback>
                <p:oleObj name="" r:id="rId6" imgW="914400" imgH="393700" progId="Equation.DSMT4">
                  <p:embed/>
                  <p:pic>
                    <p:nvPicPr>
                      <p:cNvPr id="0" name="图片 8"/>
                      <p:cNvPicPr/>
                      <p:nvPr/>
                    </p:nvPicPr>
                    <p:blipFill>
                      <a:blip r:embed="rId7"/>
                      <a:stretch>
                        <a:fillRect/>
                      </a:stretch>
                    </p:blipFill>
                    <p:spPr>
                      <a:xfrm>
                        <a:off x="4758055" y="5753735"/>
                        <a:ext cx="2059940" cy="901700"/>
                      </a:xfrm>
                      <a:prstGeom prst="rect">
                        <a:avLst/>
                      </a:prstGeom>
                      <a:noFill/>
                      <a:ln w="9525">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15950" y="1246505"/>
            <a:ext cx="9426575" cy="1198880"/>
          </a:xfrm>
          <a:prstGeom prst="rect">
            <a:avLst/>
          </a:prstGeom>
          <a:noFill/>
          <a:ln w="9525">
            <a:noFill/>
          </a:ln>
        </p:spPr>
        <p:txBody>
          <a:bodyPr wrap="square">
            <a:spAutoFit/>
          </a:bodyPr>
          <a:lstStyle/>
          <a:p>
            <a:pPr indent="0"/>
            <a:r>
              <a:rPr lang="en-US" altLang="zh-CN" sz="2400" b="1" dirty="0">
                <a:latin typeface="宋体" panose="02010600030101010101" pitchFamily="2" charset="-122"/>
                <a:ea typeface="宋体" panose="02010600030101010101" pitchFamily="2" charset="-122"/>
                <a:cs typeface="宋体" panose="02010600030101010101" pitchFamily="2" charset="-122"/>
              </a:rPr>
              <a:t>    </a:t>
            </a:r>
            <a:r>
              <a:rPr lang="zh-CN" sz="2400" b="1" dirty="0">
                <a:latin typeface="宋体" panose="02010600030101010101" pitchFamily="2" charset="-122"/>
                <a:ea typeface="宋体" panose="02010600030101010101" pitchFamily="2" charset="-122"/>
                <a:cs typeface="宋体" panose="02010600030101010101" pitchFamily="2" charset="-122"/>
              </a:rPr>
              <a:t>对于接收天线，增益可以理解为天线接收定向电波功率的能力，接收天线的增益</a:t>
            </a:r>
            <a:r>
              <a:rPr lang="en-US" altLang="zh-CN" sz="2400" b="1" dirty="0">
                <a:latin typeface="宋体" panose="02010600030101010101" pitchFamily="2" charset="-122"/>
                <a:ea typeface="宋体" panose="02010600030101010101" pitchFamily="2" charset="-122"/>
                <a:cs typeface="宋体" panose="02010600030101010101" pitchFamily="2" charset="-122"/>
              </a:rPr>
              <a:t>G</a:t>
            </a:r>
            <a:r>
              <a:rPr lang="en-US" altLang="zh-CN" sz="2400" b="1" baseline="-25000" dirty="0">
                <a:latin typeface="宋体" panose="02010600030101010101" pitchFamily="2" charset="-122"/>
                <a:ea typeface="宋体" panose="02010600030101010101" pitchFamily="2" charset="-122"/>
                <a:cs typeface="宋体" panose="02010600030101010101" pitchFamily="2" charset="-122"/>
              </a:rPr>
              <a:t>2</a:t>
            </a:r>
            <a:r>
              <a:rPr lang="zh-CN" sz="2400" b="1" dirty="0">
                <a:latin typeface="宋体" panose="02010600030101010101" pitchFamily="2" charset="-122"/>
                <a:ea typeface="宋体" panose="02010600030101010101" pitchFamily="2" charset="-122"/>
                <a:cs typeface="宋体" panose="02010600030101010101" pitchFamily="2" charset="-122"/>
                <a:sym typeface="+mn-ea"/>
              </a:rPr>
              <a:t>与有效面积</a:t>
            </a:r>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A</a:t>
            </a:r>
            <a:r>
              <a:rPr lang="en-US" altLang="zh-CN" sz="2400" b="1" baseline="-25000" dirty="0">
                <a:latin typeface="宋体" panose="02010600030101010101" pitchFamily="2" charset="-122"/>
                <a:ea typeface="宋体" panose="02010600030101010101" pitchFamily="2" charset="-122"/>
                <a:cs typeface="宋体" panose="02010600030101010101" pitchFamily="2" charset="-122"/>
                <a:sym typeface="+mn-ea"/>
              </a:rPr>
              <a:t>e</a:t>
            </a:r>
            <a:r>
              <a:rPr lang="zh-CN" sz="2400" b="1">
                <a:latin typeface="宋体" panose="02010600030101010101" pitchFamily="2" charset="-122"/>
                <a:ea typeface="宋体" panose="02010600030101010101" pitchFamily="2" charset="-122"/>
                <a:cs typeface="宋体" panose="02010600030101010101" pitchFamily="2" charset="-122"/>
                <a:sym typeface="+mn-ea"/>
              </a:rPr>
              <a:t>和工作的电磁波长</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  </a:t>
            </a:r>
            <a:r>
              <a:rPr lang="zh-CN" sz="2400" b="1" dirty="0">
                <a:latin typeface="宋体" panose="02010600030101010101" pitchFamily="2" charset="-122"/>
                <a:ea typeface="宋体" panose="02010600030101010101" pitchFamily="2" charset="-122"/>
                <a:cs typeface="宋体" panose="02010600030101010101" pitchFamily="2" charset="-122"/>
                <a:sym typeface="+mn-ea"/>
              </a:rPr>
              <a:t>有关，接收天线增益与天线有效面积</a:t>
            </a:r>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A</a:t>
            </a:r>
            <a:r>
              <a:rPr lang="en-US" altLang="zh-CN" sz="2400" b="1" baseline="-25000" dirty="0">
                <a:latin typeface="宋体" panose="02010600030101010101" pitchFamily="2" charset="-122"/>
                <a:ea typeface="宋体" panose="02010600030101010101" pitchFamily="2" charset="-122"/>
                <a:cs typeface="宋体" panose="02010600030101010101" pitchFamily="2" charset="-122"/>
                <a:sym typeface="+mn-ea"/>
              </a:rPr>
              <a:t>e</a:t>
            </a:r>
            <a:r>
              <a:rPr lang="zh-CN" sz="2400" b="1" dirty="0">
                <a:latin typeface="宋体" panose="02010600030101010101" pitchFamily="2" charset="-122"/>
                <a:ea typeface="宋体" panose="02010600030101010101" pitchFamily="2" charset="-122"/>
                <a:cs typeface="宋体" panose="02010600030101010101" pitchFamily="2" charset="-122"/>
                <a:sym typeface="+mn-ea"/>
              </a:rPr>
              <a:t>的关系为：</a:t>
            </a: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8" name="对象 -2147482602"/>
          <p:cNvGraphicFramePr>
            <a:graphicFrameLocks noChangeAspect="1"/>
          </p:cNvGraphicFramePr>
          <p:nvPr/>
        </p:nvGraphicFramePr>
        <p:xfrm>
          <a:off x="6800215" y="1649730"/>
          <a:ext cx="568325" cy="391795"/>
        </p:xfrm>
        <a:graphic>
          <a:graphicData uri="http://schemas.openxmlformats.org/presentationml/2006/ole">
            <mc:AlternateContent xmlns:mc="http://schemas.openxmlformats.org/markup-compatibility/2006">
              <mc:Choice xmlns:v="urn:schemas-microsoft-com:vml" Requires="v">
                <p:oleObj spid="_x0000_s13" name="" r:id="rId1" imgW="139700" imgH="177165" progId="Equation.DSMT4">
                  <p:embed/>
                </p:oleObj>
              </mc:Choice>
              <mc:Fallback>
                <p:oleObj name="" r:id="rId1" imgW="139700" imgH="177165" progId="Equation.DSMT4">
                  <p:embed/>
                  <p:pic>
                    <p:nvPicPr>
                      <p:cNvPr id="0" name="图片 15"/>
                      <p:cNvPicPr/>
                      <p:nvPr/>
                    </p:nvPicPr>
                    <p:blipFill>
                      <a:blip r:embed="rId2"/>
                      <a:stretch>
                        <a:fillRect/>
                      </a:stretch>
                    </p:blipFill>
                    <p:spPr>
                      <a:xfrm>
                        <a:off x="6800215" y="1649730"/>
                        <a:ext cx="568325" cy="391795"/>
                      </a:xfrm>
                      <a:prstGeom prst="rect">
                        <a:avLst/>
                      </a:prstGeom>
                      <a:noFill/>
                      <a:ln w="9525">
                        <a:noFill/>
                        <a:miter/>
                      </a:ln>
                    </p:spPr>
                  </p:pic>
                </p:oleObj>
              </mc:Fallback>
            </mc:AlternateContent>
          </a:graphicData>
        </a:graphic>
      </p:graphicFrame>
      <p:graphicFrame>
        <p:nvGraphicFramePr>
          <p:cNvPr id="24" name="对象 -2147482600"/>
          <p:cNvGraphicFramePr>
            <a:graphicFrameLocks noChangeAspect="1"/>
          </p:cNvGraphicFramePr>
          <p:nvPr/>
        </p:nvGraphicFramePr>
        <p:xfrm>
          <a:off x="5156835" y="2041525"/>
          <a:ext cx="1447165" cy="772795"/>
        </p:xfrm>
        <a:graphic>
          <a:graphicData uri="http://schemas.openxmlformats.org/presentationml/2006/ole">
            <mc:AlternateContent xmlns:mc="http://schemas.openxmlformats.org/markup-compatibility/2006">
              <mc:Choice xmlns:v="urn:schemas-microsoft-com:vml" Requires="v">
                <p:oleObj spid="_x0000_s19" name="" r:id="rId3" imgW="685800" imgH="419100" progId="Equation.DSMT4">
                  <p:embed/>
                </p:oleObj>
              </mc:Choice>
              <mc:Fallback>
                <p:oleObj name="" r:id="rId3" imgW="685800" imgH="419100" progId="Equation.DSMT4">
                  <p:embed/>
                  <p:pic>
                    <p:nvPicPr>
                      <p:cNvPr id="0" name="图片 20"/>
                      <p:cNvPicPr/>
                      <p:nvPr/>
                    </p:nvPicPr>
                    <p:blipFill>
                      <a:blip r:embed="rId4"/>
                      <a:stretch>
                        <a:fillRect/>
                      </a:stretch>
                    </p:blipFill>
                    <p:spPr>
                      <a:xfrm>
                        <a:off x="5156835" y="2041525"/>
                        <a:ext cx="1447165" cy="772795"/>
                      </a:xfrm>
                      <a:prstGeom prst="rect">
                        <a:avLst/>
                      </a:prstGeom>
                      <a:noFill/>
                      <a:ln w="9525">
                        <a:noFill/>
                        <a:miter/>
                      </a:ln>
                    </p:spPr>
                  </p:pic>
                </p:oleObj>
              </mc:Fallback>
            </mc:AlternateContent>
          </a:graphicData>
        </a:graphic>
      </p:graphicFrame>
      <p:sp>
        <p:nvSpPr>
          <p:cNvPr id="26" name="文本框 25"/>
          <p:cNvSpPr txBox="1"/>
          <p:nvPr/>
        </p:nvSpPr>
        <p:spPr>
          <a:xfrm>
            <a:off x="676910" y="2884170"/>
            <a:ext cx="7138035" cy="460375"/>
          </a:xfrm>
          <a:prstGeom prst="rect">
            <a:avLst/>
          </a:prstGeom>
          <a:noFill/>
          <a:ln w="9525">
            <a:noFill/>
          </a:ln>
        </p:spPr>
        <p:txBody>
          <a:bodyPr wrap="square">
            <a:spAutoFit/>
          </a:bodyPr>
          <a:lstStyle/>
          <a:p>
            <a:pPr indent="0"/>
            <a:r>
              <a:rPr lang="zh-CN" sz="2400" b="1">
                <a:ea typeface="宋体" panose="02010600030101010101" pitchFamily="2" charset="-122"/>
              </a:rPr>
              <a:t>则与发射机相距</a:t>
            </a:r>
            <a:r>
              <a:rPr lang="en-US" altLang="zh-CN" sz="2400" b="1">
                <a:ea typeface="宋体" panose="02010600030101010101" pitchFamily="2" charset="-122"/>
              </a:rPr>
              <a:t>d的接收机接收到的信号载波功率为</a:t>
            </a:r>
            <a:r>
              <a:rPr lang="en-US" altLang="zh-CN" b="0">
                <a:ea typeface="宋体" panose="02010600030101010101" pitchFamily="2" charset="-122"/>
              </a:rPr>
              <a:t>：</a:t>
            </a:r>
            <a:endParaRPr lang="en-US" altLang="zh-CN" b="0">
              <a:ea typeface="宋体" panose="02010600030101010101" pitchFamily="2" charset="-122"/>
            </a:endParaRPr>
          </a:p>
        </p:txBody>
      </p:sp>
      <p:graphicFrame>
        <p:nvGraphicFramePr>
          <p:cNvPr id="27" name="对象 -2147482481"/>
          <p:cNvGraphicFramePr>
            <a:graphicFrameLocks noChangeAspect="1"/>
          </p:cNvGraphicFramePr>
          <p:nvPr/>
        </p:nvGraphicFramePr>
        <p:xfrm>
          <a:off x="7814945" y="2733675"/>
          <a:ext cx="1802765" cy="708025"/>
        </p:xfrm>
        <a:graphic>
          <a:graphicData uri="http://schemas.openxmlformats.org/presentationml/2006/ole">
            <mc:AlternateContent xmlns:mc="http://schemas.openxmlformats.org/markup-compatibility/2006">
              <mc:Choice xmlns:v="urn:schemas-microsoft-com:vml" Requires="v">
                <p:oleObj spid="_x0000_s22" name="" r:id="rId5" imgW="1016000" imgH="393700" progId="Equation.DSMT4">
                  <p:embed/>
                </p:oleObj>
              </mc:Choice>
              <mc:Fallback>
                <p:oleObj name="" r:id="rId5" imgW="1016000" imgH="393700" progId="Equation.DSMT4">
                  <p:embed/>
                  <p:pic>
                    <p:nvPicPr>
                      <p:cNvPr id="0" name="图片 22"/>
                      <p:cNvPicPr/>
                      <p:nvPr/>
                    </p:nvPicPr>
                    <p:blipFill>
                      <a:blip r:embed="rId6"/>
                      <a:stretch>
                        <a:fillRect/>
                      </a:stretch>
                    </p:blipFill>
                    <p:spPr>
                      <a:xfrm>
                        <a:off x="7814945" y="2733675"/>
                        <a:ext cx="1802765" cy="708025"/>
                      </a:xfrm>
                      <a:prstGeom prst="rect">
                        <a:avLst/>
                      </a:prstGeom>
                      <a:noFill/>
                      <a:ln w="9525">
                        <a:noFill/>
                        <a:miter/>
                      </a:ln>
                    </p:spPr>
                  </p:pic>
                </p:oleObj>
              </mc:Fallback>
            </mc:AlternateContent>
          </a:graphicData>
        </a:graphic>
      </p:graphicFrame>
      <p:graphicFrame>
        <p:nvGraphicFramePr>
          <p:cNvPr id="29" name="对象 -2147482597"/>
          <p:cNvGraphicFramePr>
            <a:graphicFrameLocks noChangeAspect="1"/>
          </p:cNvGraphicFramePr>
          <p:nvPr/>
        </p:nvGraphicFramePr>
        <p:xfrm>
          <a:off x="3648164" y="3414705"/>
          <a:ext cx="3794760" cy="930910"/>
        </p:xfrm>
        <a:graphic>
          <a:graphicData uri="http://schemas.openxmlformats.org/presentationml/2006/ole">
            <mc:AlternateContent xmlns:mc="http://schemas.openxmlformats.org/markup-compatibility/2006">
              <mc:Choice xmlns:v="urn:schemas-microsoft-com:vml" Requires="v">
                <p:oleObj spid="_x0000_s25" name="" r:id="rId7" imgW="2019300" imgH="495300" progId="Equation.DSMT4">
                  <p:embed/>
                </p:oleObj>
              </mc:Choice>
              <mc:Fallback>
                <p:oleObj name="" r:id="rId7" imgW="2019300" imgH="495300" progId="Equation.DSMT4">
                  <p:embed/>
                  <p:pic>
                    <p:nvPicPr>
                      <p:cNvPr id="0" name="图片 23"/>
                      <p:cNvPicPr/>
                      <p:nvPr/>
                    </p:nvPicPr>
                    <p:blipFill>
                      <a:blip r:embed="rId8"/>
                      <a:stretch>
                        <a:fillRect/>
                      </a:stretch>
                    </p:blipFill>
                    <p:spPr>
                      <a:xfrm>
                        <a:off x="3648164" y="3414705"/>
                        <a:ext cx="3794760" cy="930910"/>
                      </a:xfrm>
                      <a:prstGeom prst="rect">
                        <a:avLst/>
                      </a:prstGeom>
                      <a:noFill/>
                      <a:ln w="9525">
                        <a:noFill/>
                        <a:miter/>
                      </a:ln>
                    </p:spPr>
                  </p:pic>
                </p:oleObj>
              </mc:Fallback>
            </mc:AlternateContent>
          </a:graphicData>
        </a:graphic>
      </p:graphicFrame>
      <p:sp>
        <p:nvSpPr>
          <p:cNvPr id="28" name="文本框 27"/>
          <p:cNvSpPr txBox="1"/>
          <p:nvPr/>
        </p:nvSpPr>
        <p:spPr>
          <a:xfrm>
            <a:off x="344170" y="347980"/>
            <a:ext cx="5989320" cy="768350"/>
          </a:xfrm>
          <a:prstGeom prst="rect">
            <a:avLst/>
          </a:prstGeom>
          <a:noFill/>
          <a:ln w="9525">
            <a:noFill/>
          </a:ln>
        </p:spPr>
        <p:txBody>
          <a:bodyPr wrap="square">
            <a:spAutoFit/>
          </a:bodyPr>
          <a:p>
            <a:r>
              <a:rPr lang="en-US" sz="4400" b="1" u="sng" dirty="0">
                <a:solidFill>
                  <a:srgbClr val="0563C1"/>
                </a:solidFill>
                <a:uFillTx/>
                <a:latin typeface="Times New Roman" panose="02020603050405020304" charset="0"/>
                <a:ea typeface="宋体" panose="02010600030101010101" pitchFamily="2" charset="-122"/>
                <a:cs typeface="+mj-cs"/>
              </a:rPr>
              <a:t>3.2.2.1  自由空间信道</a:t>
            </a:r>
            <a:endParaRPr lang="zh-CN" altLang="en-US" sz="2400" b="1" dirty="0">
              <a:latin typeface="Times New Roman" panose="02020603050405020304" charset="0"/>
              <a:ea typeface="宋体" panose="02010600030101010101" pitchFamily="2" charset="-122"/>
            </a:endParaRPr>
          </a:p>
        </p:txBody>
      </p:sp>
      <p:sp>
        <p:nvSpPr>
          <p:cNvPr id="119" name="文本框 118"/>
          <p:cNvSpPr txBox="1"/>
          <p:nvPr/>
        </p:nvSpPr>
        <p:spPr>
          <a:xfrm>
            <a:off x="774700" y="4660073"/>
            <a:ext cx="389255" cy="460375"/>
          </a:xfrm>
          <a:prstGeom prst="rect">
            <a:avLst/>
          </a:prstGeom>
          <a:noFill/>
          <a:ln w="9525">
            <a:noFill/>
          </a:ln>
        </p:spPr>
        <p:txBody>
          <a:bodyPr wrap="square">
            <a:spAutoFit/>
          </a:bodyPr>
          <a:p>
            <a:pPr indent="0"/>
            <a:r>
              <a:rPr lang="zh-CN" sz="2400" b="1">
                <a:ea typeface="宋体" panose="02010600030101010101" pitchFamily="2" charset="-122"/>
              </a:rPr>
              <a:t>令</a:t>
            </a:r>
            <a:endParaRPr lang="zh-CN" altLang="en-US" sz="2400" b="1">
              <a:ea typeface="宋体" panose="02010600030101010101" pitchFamily="2" charset="-122"/>
            </a:endParaRPr>
          </a:p>
        </p:txBody>
      </p:sp>
      <p:graphicFrame>
        <p:nvGraphicFramePr>
          <p:cNvPr id="30" name="对象 -2147482596"/>
          <p:cNvGraphicFramePr>
            <a:graphicFrameLocks noChangeAspect="1"/>
          </p:cNvGraphicFramePr>
          <p:nvPr/>
        </p:nvGraphicFramePr>
        <p:xfrm>
          <a:off x="1163955" y="4631055"/>
          <a:ext cx="2005965" cy="519430"/>
        </p:xfrm>
        <a:graphic>
          <a:graphicData uri="http://schemas.openxmlformats.org/presentationml/2006/ole">
            <mc:AlternateContent xmlns:mc="http://schemas.openxmlformats.org/markup-compatibility/2006">
              <mc:Choice xmlns:v="urn:schemas-microsoft-com:vml" Requires="v">
                <p:oleObj spid="_x0000_s31" name="" r:id="rId9" imgW="1002665" imgH="279400" progId="Equation.DSMT4">
                  <p:embed/>
                </p:oleObj>
              </mc:Choice>
              <mc:Fallback>
                <p:oleObj name="" r:id="rId9" imgW="1002665" imgH="279400" progId="Equation.DSMT4">
                  <p:embed/>
                  <p:pic>
                    <p:nvPicPr>
                      <p:cNvPr id="0" name="图片 3075"/>
                      <p:cNvPicPr/>
                      <p:nvPr/>
                    </p:nvPicPr>
                    <p:blipFill>
                      <a:blip r:embed="rId10"/>
                      <a:stretch>
                        <a:fillRect/>
                      </a:stretch>
                    </p:blipFill>
                    <p:spPr>
                      <a:xfrm>
                        <a:off x="1163955" y="4631055"/>
                        <a:ext cx="2005965" cy="519430"/>
                      </a:xfrm>
                      <a:prstGeom prst="rect">
                        <a:avLst/>
                      </a:prstGeom>
                      <a:noFill/>
                      <a:ln w="9525">
                        <a:noFill/>
                        <a:miter/>
                      </a:ln>
                    </p:spPr>
                  </p:pic>
                </p:oleObj>
              </mc:Fallback>
            </mc:AlternateContent>
          </a:graphicData>
        </a:graphic>
      </p:graphicFrame>
      <p:sp>
        <p:nvSpPr>
          <p:cNvPr id="32" name="文本框 31"/>
          <p:cNvSpPr txBox="1"/>
          <p:nvPr/>
        </p:nvSpPr>
        <p:spPr>
          <a:xfrm>
            <a:off x="3169920" y="4660708"/>
            <a:ext cx="3298825" cy="460375"/>
          </a:xfrm>
          <a:prstGeom prst="rect">
            <a:avLst/>
          </a:prstGeom>
          <a:noFill/>
          <a:ln w="9525">
            <a:noFill/>
          </a:ln>
        </p:spPr>
        <p:txBody>
          <a:bodyPr wrap="square">
            <a:spAutoFit/>
          </a:bodyPr>
          <a:p>
            <a:pPr indent="0"/>
            <a:r>
              <a:rPr lang="zh-CN" sz="2400" b="1">
                <a:ea typeface="宋体" panose="02010600030101010101" pitchFamily="2" charset="-122"/>
              </a:rPr>
              <a:t>，</a:t>
            </a:r>
            <a:r>
              <a:rPr lang="zh-CN" sz="2400" b="1">
                <a:latin typeface="Times New Roman" panose="02020603050405020304" charset="0"/>
                <a:ea typeface="宋体" panose="02010600030101010101" pitchFamily="2" charset="-122"/>
              </a:rPr>
              <a:t>则</a:t>
            </a:r>
            <a:r>
              <a:rPr lang="zh-CN" sz="2400" b="1">
                <a:solidFill>
                  <a:srgbClr val="000000"/>
                </a:solidFill>
                <a:ea typeface="宋体" panose="02010600030101010101" pitchFamily="2" charset="-122"/>
              </a:rPr>
              <a:t>式</a:t>
            </a:r>
            <a:r>
              <a:rPr lang="en-US" sz="2400" b="1">
                <a:latin typeface="Times New Roman" panose="02020603050405020304" charset="0"/>
                <a:ea typeface="宋体" panose="02010600030101010101" pitchFamily="2" charset="-122"/>
              </a:rPr>
              <a:t>(3-4)</a:t>
            </a:r>
            <a:r>
              <a:rPr lang="zh-CN" sz="2400" b="1">
                <a:ea typeface="宋体" panose="02010600030101010101" pitchFamily="2" charset="-122"/>
              </a:rPr>
              <a:t>变形为：</a:t>
            </a:r>
            <a:endParaRPr lang="zh-CN" altLang="en-US" sz="2400" b="1"/>
          </a:p>
        </p:txBody>
      </p:sp>
      <p:graphicFrame>
        <p:nvGraphicFramePr>
          <p:cNvPr id="33" name="对象 -2147482480"/>
          <p:cNvGraphicFramePr>
            <a:graphicFrameLocks noChangeAspect="1"/>
          </p:cNvGraphicFramePr>
          <p:nvPr/>
        </p:nvGraphicFramePr>
        <p:xfrm>
          <a:off x="5880735" y="4535805"/>
          <a:ext cx="1934210" cy="842010"/>
        </p:xfrm>
        <a:graphic>
          <a:graphicData uri="http://schemas.openxmlformats.org/presentationml/2006/ole">
            <mc:AlternateContent xmlns:mc="http://schemas.openxmlformats.org/markup-compatibility/2006">
              <mc:Choice xmlns:v="urn:schemas-microsoft-com:vml" Requires="v">
                <p:oleObj spid="_x0000_s34" name="" r:id="rId11" imgW="1028065" imgH="444500" progId="Equation.DSMT4">
                  <p:embed/>
                </p:oleObj>
              </mc:Choice>
              <mc:Fallback>
                <p:oleObj name="" r:id="rId11" imgW="1028065" imgH="444500" progId="Equation.DSMT4">
                  <p:embed/>
                  <p:pic>
                    <p:nvPicPr>
                      <p:cNvPr id="0" name="图片 2"/>
                      <p:cNvPicPr/>
                      <p:nvPr/>
                    </p:nvPicPr>
                    <p:blipFill>
                      <a:blip r:embed="rId12"/>
                      <a:stretch>
                        <a:fillRect/>
                      </a:stretch>
                    </p:blipFill>
                    <p:spPr>
                      <a:xfrm>
                        <a:off x="5880735" y="4535805"/>
                        <a:ext cx="1934210" cy="842010"/>
                      </a:xfrm>
                      <a:prstGeom prst="rect">
                        <a:avLst/>
                      </a:prstGeom>
                      <a:noFill/>
                      <a:ln w="9525">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50545" y="1299210"/>
            <a:ext cx="9643110" cy="2306955"/>
          </a:xfrm>
          <a:prstGeom prst="rect">
            <a:avLst/>
          </a:prstGeom>
          <a:noFill/>
          <a:ln w="9525">
            <a:noFill/>
          </a:ln>
        </p:spPr>
        <p:txBody>
          <a:bodyPr wrap="square">
            <a:spAutoFit/>
          </a:bodyPr>
          <a:lstStyle/>
          <a:p>
            <a:pPr indent="0"/>
            <a:r>
              <a:rPr lang="en-US" altLang="zh-CN" sz="2400" b="1">
                <a:ea typeface="宋体" panose="02010600030101010101" pitchFamily="2" charset="-122"/>
              </a:rPr>
              <a:t>       </a:t>
            </a:r>
            <a:r>
              <a:rPr lang="zh-CN" sz="2400" b="1">
                <a:ea typeface="宋体" panose="02010600030101010101" pitchFamily="2" charset="-122"/>
              </a:rPr>
              <a:t>这就是著名的</a:t>
            </a:r>
            <a:r>
              <a:rPr lang="en-US" sz="2400" b="1">
                <a:latin typeface="Times New Roman" panose="02020603050405020304" charset="0"/>
                <a:ea typeface="宋体" panose="02010600030101010101" pitchFamily="2" charset="-122"/>
              </a:rPr>
              <a:t>Friis</a:t>
            </a:r>
            <a:r>
              <a:rPr lang="zh-CN" sz="2400" b="1">
                <a:ea typeface="宋体" panose="02010600030101010101" pitchFamily="2" charset="-122"/>
              </a:rPr>
              <a:t>传输公式，它表明了接收天线的接收功率和发射天线的发射功率之间的关系。其中</a:t>
            </a:r>
            <a:r>
              <a:rPr lang="zh-CN" sz="2400" b="1">
                <a:latin typeface="Times New Roman" panose="02020603050405020304" charset="0"/>
                <a:ea typeface="宋体" panose="02010600030101010101" pitchFamily="2" charset="-122"/>
              </a:rPr>
              <a:t>，</a:t>
            </a:r>
            <a:r>
              <a:rPr lang="en-US" altLang="zh-CN" sz="2400" b="1">
                <a:latin typeface="Times New Roman" panose="02020603050405020304" charset="0"/>
                <a:ea typeface="宋体" panose="02010600030101010101" pitchFamily="2" charset="-122"/>
              </a:rPr>
              <a:t>L</a:t>
            </a:r>
            <a:r>
              <a:rPr lang="en-US" altLang="zh-CN" sz="2400" b="1" baseline="-25000">
                <a:latin typeface="Times New Roman" panose="02020603050405020304" charset="0"/>
                <a:ea typeface="宋体" panose="02010600030101010101" pitchFamily="2" charset="-122"/>
              </a:rPr>
              <a:t>fs</a:t>
            </a:r>
            <a:r>
              <a:rPr lang="zh-CN" sz="2400" b="1">
                <a:ea typeface="宋体" panose="02010600030101010101" pitchFamily="2" charset="-122"/>
                <a:sym typeface="+mn-ea"/>
              </a:rPr>
              <a:t>称为自由空间传播损耗，只与</a:t>
            </a:r>
            <a:r>
              <a:rPr lang="en-US" altLang="zh-CN" sz="2400" b="1">
                <a:ea typeface="宋体" panose="02010600030101010101" pitchFamily="2" charset="-122"/>
                <a:sym typeface="+mn-ea"/>
              </a:rPr>
              <a:t>   </a:t>
            </a:r>
            <a:r>
              <a:rPr lang="zh-CN" sz="2400" b="1" dirty="0">
                <a:ea typeface="宋体" panose="02010600030101010101" pitchFamily="2" charset="-122"/>
                <a:sym typeface="+mn-ea"/>
              </a:rPr>
              <a:t>和</a:t>
            </a:r>
            <a:r>
              <a:rPr lang="en-US" altLang="zh-CN" sz="2400" b="1" dirty="0" err="1">
                <a:ea typeface="宋体" panose="02010600030101010101" pitchFamily="2" charset="-122"/>
                <a:sym typeface="+mn-ea"/>
              </a:rPr>
              <a:t>d有关。考虑到电磁波在空间传播时，空间并不是理想的，例如气候因素</a:t>
            </a:r>
            <a:r>
              <a:rPr lang="zh-CN" altLang="en-US" sz="2400" b="1" dirty="0">
                <a:ea typeface="宋体" panose="02010600030101010101" pitchFamily="2" charset="-122"/>
                <a:sym typeface="+mn-ea"/>
              </a:rPr>
              <a:t>的影</a:t>
            </a:r>
            <a:r>
              <a:rPr lang="en-US" altLang="zh-CN" sz="2400" b="1" dirty="0" err="1">
                <a:ea typeface="宋体" panose="02010600030101010101" pitchFamily="2" charset="-122"/>
                <a:sym typeface="+mn-ea"/>
              </a:rPr>
              <a:t>响。假设由气候影响带来的损耗为L</a:t>
            </a:r>
            <a:r>
              <a:rPr lang="en-US" altLang="zh-CN" sz="2400" b="1" baseline="-25000" dirty="0" err="1">
                <a:ea typeface="宋体" panose="02010600030101010101" pitchFamily="2" charset="-122"/>
                <a:sym typeface="+mn-ea"/>
              </a:rPr>
              <a:t>a</a:t>
            </a:r>
            <a:r>
              <a:rPr lang="en-US" altLang="zh-CN" sz="2400" b="1" dirty="0" err="1">
                <a:ea typeface="宋体" panose="02010600030101010101" pitchFamily="2" charset="-122"/>
                <a:sym typeface="+mn-ea"/>
              </a:rPr>
              <a:t>,</a:t>
            </a:r>
            <a:r>
              <a:rPr lang="zh-CN" sz="2400" b="1" dirty="0">
                <a:ea typeface="宋体" panose="02010600030101010101" pitchFamily="2" charset="-122"/>
                <a:sym typeface="+mn-ea"/>
              </a:rPr>
              <a:t>此时接收天线的接收功率可以表示为</a:t>
            </a:r>
            <a:endParaRPr lang="zh-CN" altLang="en-US" sz="2400" b="1" dirty="0"/>
          </a:p>
          <a:p>
            <a:pPr indent="0"/>
            <a:endParaRPr lang="zh-CN" altLang="en-US" sz="2400" b="1" dirty="0">
              <a:latin typeface="Times New Roman" panose="02020603050405020304" charset="0"/>
              <a:ea typeface="宋体" panose="02010600030101010101" pitchFamily="2" charset="-122"/>
            </a:endParaRPr>
          </a:p>
        </p:txBody>
      </p:sp>
      <p:graphicFrame>
        <p:nvGraphicFramePr>
          <p:cNvPr id="7" name="对象 -2147482594"/>
          <p:cNvGraphicFramePr>
            <a:graphicFrameLocks noChangeAspect="1"/>
          </p:cNvGraphicFramePr>
          <p:nvPr/>
        </p:nvGraphicFramePr>
        <p:xfrm>
          <a:off x="10899775" y="1849563"/>
          <a:ext cx="365760" cy="414020"/>
        </p:xfrm>
        <a:graphic>
          <a:graphicData uri="http://schemas.openxmlformats.org/presentationml/2006/ole">
            <mc:AlternateContent xmlns:mc="http://schemas.openxmlformats.org/markup-compatibility/2006">
              <mc:Choice xmlns:v="urn:schemas-microsoft-com:vml" Requires="v">
                <p:oleObj spid="_x0000_s8" name="" r:id="rId1" imgW="215900" imgH="241300" progId="Equation.DSMT4">
                  <p:embed/>
                </p:oleObj>
              </mc:Choice>
              <mc:Fallback>
                <p:oleObj name="" r:id="rId1" imgW="215900" imgH="241300" progId="Equation.DSMT4">
                  <p:embed/>
                  <p:pic>
                    <p:nvPicPr>
                      <p:cNvPr id="0" name="图片 4"/>
                      <p:cNvPicPr/>
                      <p:nvPr/>
                    </p:nvPicPr>
                    <p:blipFill>
                      <a:blip r:embed="rId2"/>
                      <a:stretch>
                        <a:fillRect/>
                      </a:stretch>
                    </p:blipFill>
                    <p:spPr>
                      <a:xfrm>
                        <a:off x="10899775" y="1849563"/>
                        <a:ext cx="365760" cy="414020"/>
                      </a:xfrm>
                      <a:prstGeom prst="rect">
                        <a:avLst/>
                      </a:prstGeom>
                      <a:noFill/>
                      <a:ln w="9525">
                        <a:noFill/>
                        <a:miter/>
                      </a:ln>
                    </p:spPr>
                  </p:pic>
                </p:oleObj>
              </mc:Fallback>
            </mc:AlternateContent>
          </a:graphicData>
        </a:graphic>
      </p:graphicFrame>
      <p:graphicFrame>
        <p:nvGraphicFramePr>
          <p:cNvPr id="10" name="对象 -2147482593"/>
          <p:cNvGraphicFramePr>
            <a:graphicFrameLocks noChangeAspect="1"/>
          </p:cNvGraphicFramePr>
          <p:nvPr/>
        </p:nvGraphicFramePr>
        <p:xfrm>
          <a:off x="9504007" y="1753330"/>
          <a:ext cx="312633" cy="306824"/>
        </p:xfrm>
        <a:graphic>
          <a:graphicData uri="http://schemas.openxmlformats.org/presentationml/2006/ole">
            <mc:AlternateContent xmlns:mc="http://schemas.openxmlformats.org/markup-compatibility/2006">
              <mc:Choice xmlns:v="urn:schemas-microsoft-com:vml" Requires="v">
                <p:oleObj spid="_x0000_s11" name="" r:id="rId3" imgW="139700" imgH="177800" progId="Equation.DSMT4">
                  <p:embed/>
                </p:oleObj>
              </mc:Choice>
              <mc:Fallback>
                <p:oleObj name="" r:id="rId3" imgW="139700" imgH="177800" progId="Equation.DSMT4">
                  <p:embed/>
                  <p:pic>
                    <p:nvPicPr>
                      <p:cNvPr id="0" name="图片 6"/>
                      <p:cNvPicPr/>
                      <p:nvPr/>
                    </p:nvPicPr>
                    <p:blipFill>
                      <a:blip r:embed="rId4"/>
                      <a:stretch>
                        <a:fillRect/>
                      </a:stretch>
                    </p:blipFill>
                    <p:spPr>
                      <a:xfrm>
                        <a:off x="9504007" y="1753330"/>
                        <a:ext cx="312633" cy="306824"/>
                      </a:xfrm>
                      <a:prstGeom prst="rect">
                        <a:avLst/>
                      </a:prstGeom>
                      <a:noFill/>
                      <a:ln w="9525">
                        <a:noFill/>
                        <a:miter/>
                      </a:ln>
                    </p:spPr>
                  </p:pic>
                </p:oleObj>
              </mc:Fallback>
            </mc:AlternateContent>
          </a:graphicData>
        </a:graphic>
      </p:graphicFrame>
      <p:graphicFrame>
        <p:nvGraphicFramePr>
          <p:cNvPr id="17" name="对象 -2147482590"/>
          <p:cNvGraphicFramePr>
            <a:graphicFrameLocks noChangeAspect="1"/>
          </p:cNvGraphicFramePr>
          <p:nvPr/>
        </p:nvGraphicFramePr>
        <p:xfrm>
          <a:off x="3373120" y="2924810"/>
          <a:ext cx="2258060" cy="876300"/>
        </p:xfrm>
        <a:graphic>
          <a:graphicData uri="http://schemas.openxmlformats.org/presentationml/2006/ole">
            <mc:AlternateContent xmlns:mc="http://schemas.openxmlformats.org/markup-compatibility/2006">
              <mc:Choice xmlns:v="urn:schemas-microsoft-com:vml" Requires="v">
                <p:oleObj spid="_x0000_s18" name="" r:id="rId5" imgW="1028065" imgH="444500" progId="Equation.DSMT4">
                  <p:embed/>
                </p:oleObj>
              </mc:Choice>
              <mc:Fallback>
                <p:oleObj name="" r:id="rId5" imgW="1028065" imgH="444500" progId="Equation.DSMT4">
                  <p:embed/>
                  <p:pic>
                    <p:nvPicPr>
                      <p:cNvPr id="0" name="图片 11"/>
                      <p:cNvPicPr/>
                      <p:nvPr/>
                    </p:nvPicPr>
                    <p:blipFill>
                      <a:blip r:embed="rId6"/>
                      <a:stretch>
                        <a:fillRect/>
                      </a:stretch>
                    </p:blipFill>
                    <p:spPr>
                      <a:xfrm>
                        <a:off x="3373120" y="2924810"/>
                        <a:ext cx="2258060" cy="876300"/>
                      </a:xfrm>
                      <a:prstGeom prst="rect">
                        <a:avLst/>
                      </a:prstGeom>
                      <a:noFill/>
                      <a:ln w="9525">
                        <a:noFill/>
                        <a:miter/>
                      </a:ln>
                    </p:spPr>
                  </p:pic>
                </p:oleObj>
              </mc:Fallback>
            </mc:AlternateContent>
          </a:graphicData>
        </a:graphic>
      </p:graphicFrame>
      <p:sp>
        <p:nvSpPr>
          <p:cNvPr id="19" name="文本框 18"/>
          <p:cNvSpPr txBox="1"/>
          <p:nvPr/>
        </p:nvSpPr>
        <p:spPr>
          <a:xfrm>
            <a:off x="551180" y="3830763"/>
            <a:ext cx="5080000" cy="460375"/>
          </a:xfrm>
          <a:prstGeom prst="rect">
            <a:avLst/>
          </a:prstGeom>
          <a:noFill/>
          <a:ln w="9525">
            <a:noFill/>
          </a:ln>
        </p:spPr>
        <p:txBody>
          <a:bodyPr>
            <a:spAutoFit/>
          </a:bodyPr>
          <a:lstStyle/>
          <a:p>
            <a:pPr indent="0"/>
            <a:r>
              <a:rPr lang="zh-CN" sz="2400" b="1">
                <a:ea typeface="宋体" panose="02010600030101010101" pitchFamily="2" charset="-122"/>
              </a:rPr>
              <a:t>收、发天线之间的损耗</a:t>
            </a:r>
            <a:r>
              <a:rPr lang="en-US" altLang="zh-CN" sz="2400" b="1">
                <a:ea typeface="宋体" panose="02010600030101010101" pitchFamily="2" charset="-122"/>
              </a:rPr>
              <a:t>L可以表示为</a:t>
            </a:r>
            <a:endParaRPr lang="en-US" altLang="zh-CN" sz="2400" b="1">
              <a:ea typeface="宋体" panose="02010600030101010101" pitchFamily="2" charset="-122"/>
            </a:endParaRPr>
          </a:p>
        </p:txBody>
      </p:sp>
      <p:graphicFrame>
        <p:nvGraphicFramePr>
          <p:cNvPr id="20" name="对象 -2147482588"/>
          <p:cNvGraphicFramePr>
            <a:graphicFrameLocks noChangeAspect="1"/>
          </p:cNvGraphicFramePr>
          <p:nvPr/>
        </p:nvGraphicFramePr>
        <p:xfrm>
          <a:off x="3599815" y="4320983"/>
          <a:ext cx="1805305" cy="875665"/>
        </p:xfrm>
        <a:graphic>
          <a:graphicData uri="http://schemas.openxmlformats.org/presentationml/2006/ole">
            <mc:AlternateContent xmlns:mc="http://schemas.openxmlformats.org/markup-compatibility/2006">
              <mc:Choice xmlns:v="urn:schemas-microsoft-com:vml" Requires="v">
                <p:oleObj spid="_x0000_s21" name="" r:id="rId7" imgW="939800" imgH="457200" progId="Equation.DSMT4">
                  <p:embed/>
                </p:oleObj>
              </mc:Choice>
              <mc:Fallback>
                <p:oleObj name="" r:id="rId7" imgW="939800" imgH="457200" progId="Equation.DSMT4">
                  <p:embed/>
                  <p:pic>
                    <p:nvPicPr>
                      <p:cNvPr id="0" name="图片 13"/>
                      <p:cNvPicPr/>
                      <p:nvPr/>
                    </p:nvPicPr>
                    <p:blipFill>
                      <a:blip r:embed="rId8"/>
                      <a:stretch>
                        <a:fillRect/>
                      </a:stretch>
                    </p:blipFill>
                    <p:spPr>
                      <a:xfrm>
                        <a:off x="3599815" y="4320983"/>
                        <a:ext cx="1805305" cy="875665"/>
                      </a:xfrm>
                      <a:prstGeom prst="rect">
                        <a:avLst/>
                      </a:prstGeom>
                      <a:noFill/>
                      <a:ln w="9525">
                        <a:noFill/>
                        <a:miter/>
                      </a:ln>
                    </p:spPr>
                  </p:pic>
                </p:oleObj>
              </mc:Fallback>
            </mc:AlternateContent>
          </a:graphicData>
        </a:graphic>
      </p:graphicFrame>
      <p:sp>
        <p:nvSpPr>
          <p:cNvPr id="28" name="文本框 27"/>
          <p:cNvSpPr txBox="1"/>
          <p:nvPr/>
        </p:nvSpPr>
        <p:spPr>
          <a:xfrm>
            <a:off x="344170" y="347980"/>
            <a:ext cx="5989320" cy="768350"/>
          </a:xfrm>
          <a:prstGeom prst="rect">
            <a:avLst/>
          </a:prstGeom>
          <a:noFill/>
          <a:ln w="9525">
            <a:noFill/>
          </a:ln>
        </p:spPr>
        <p:txBody>
          <a:bodyPr wrap="square">
            <a:spAutoFit/>
          </a:bodyPr>
          <a:p>
            <a:r>
              <a:rPr lang="en-US" sz="4400" b="1" u="sng" dirty="0">
                <a:solidFill>
                  <a:srgbClr val="0563C1"/>
                </a:solidFill>
                <a:latin typeface="Times New Roman" panose="02020603050405020304" charset="0"/>
                <a:ea typeface="宋体" panose="02010600030101010101" pitchFamily="2" charset="-122"/>
                <a:cs typeface="+mj-cs"/>
              </a:rPr>
              <a:t>3.2.2.1  自由空间信道</a:t>
            </a:r>
            <a:endParaRPr lang="zh-CN" altLang="en-US" sz="2400" b="1" dirty="0">
              <a:latin typeface="Times New Roman" panose="0202060305040502030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6400" y="1154430"/>
            <a:ext cx="9530080" cy="1198880"/>
          </a:xfrm>
          <a:prstGeom prst="rect">
            <a:avLst/>
          </a:prstGeom>
          <a:noFill/>
          <a:ln w="9525">
            <a:noFill/>
          </a:ln>
        </p:spPr>
        <p:txBody>
          <a:bodyPr wrap="square">
            <a:spAutoFit/>
          </a:bodyPr>
          <a:lstStyle/>
          <a:p>
            <a:pPr indent="0" fontAlgn="auto">
              <a:lnSpc>
                <a:spcPct val="100000"/>
              </a:lnSpc>
            </a:pPr>
            <a:r>
              <a:rPr lang="en-US" altLang="zh-CN" sz="2400" b="1">
                <a:ea typeface="宋体" panose="02010600030101010101" pitchFamily="2" charset="-122"/>
              </a:rPr>
              <a:t>       </a:t>
            </a:r>
            <a:r>
              <a:rPr lang="zh-CN" sz="2400" b="1">
                <a:ea typeface="宋体" panose="02010600030101010101" pitchFamily="2" charset="-122"/>
              </a:rPr>
              <a:t>多径传播是指无线电波在传播时，通过两个以上不同长度的路径到达接收点，</a:t>
            </a:r>
            <a:r>
              <a:rPr lang="zh-CN" sz="2400" b="1">
                <a:latin typeface="Times New Roman" panose="02020603050405020304" charset="0"/>
                <a:ea typeface="宋体" panose="02010600030101010101" pitchFamily="2" charset="-122"/>
              </a:rPr>
              <a:t>接收天</a:t>
            </a:r>
            <a:r>
              <a:rPr lang="zh-CN" sz="2400" b="1">
                <a:ea typeface="宋体" panose="02010600030101010101" pitchFamily="2" charset="-122"/>
              </a:rPr>
              <a:t>线信号是不同路径的电磁强度之和，如图</a:t>
            </a:r>
            <a:r>
              <a:rPr lang="en-US" sz="2400" b="1">
                <a:latin typeface="Times New Roman" panose="02020603050405020304" charset="0"/>
                <a:ea typeface="宋体" panose="02010600030101010101" pitchFamily="2" charset="-122"/>
              </a:rPr>
              <a:t>3-2-2</a:t>
            </a:r>
            <a:r>
              <a:rPr lang="zh-CN" sz="2400" b="1">
                <a:ea typeface="宋体" panose="02010600030101010101" pitchFamily="2" charset="-122"/>
              </a:rPr>
              <a:t>所示。</a:t>
            </a:r>
            <a:endParaRPr lang="zh-CN" altLang="en-US" sz="2400" b="1"/>
          </a:p>
        </p:txBody>
      </p:sp>
      <p:graphicFrame>
        <p:nvGraphicFramePr>
          <p:cNvPr id="3" name="对象 -2147482587"/>
          <p:cNvGraphicFramePr>
            <a:graphicFrameLocks noChangeAspect="1"/>
          </p:cNvGraphicFramePr>
          <p:nvPr/>
        </p:nvGraphicFramePr>
        <p:xfrm>
          <a:off x="4050665" y="2153920"/>
          <a:ext cx="4091305" cy="1922780"/>
        </p:xfrm>
        <a:graphic>
          <a:graphicData uri="http://schemas.openxmlformats.org/presentationml/2006/ole">
            <mc:AlternateContent xmlns:mc="http://schemas.openxmlformats.org/markup-compatibility/2006">
              <mc:Choice xmlns:v="urn:schemas-microsoft-com:vml" Requires="v">
                <p:oleObj spid="_x0000_s24775" name="" r:id="rId1" imgW="8915400" imgH="4191000" progId="Visio.Drawing.15">
                  <p:embed/>
                </p:oleObj>
              </mc:Choice>
              <mc:Fallback>
                <p:oleObj name="" r:id="rId1" imgW="8915400" imgH="4191000" progId="Visio.Drawing.15">
                  <p:embed/>
                  <p:pic>
                    <p:nvPicPr>
                      <p:cNvPr id="0" name="图片 3075"/>
                      <p:cNvPicPr/>
                      <p:nvPr/>
                    </p:nvPicPr>
                    <p:blipFill>
                      <a:blip r:embed="rId2"/>
                      <a:stretch>
                        <a:fillRect/>
                      </a:stretch>
                    </p:blipFill>
                    <p:spPr>
                      <a:xfrm>
                        <a:off x="4050665" y="2153920"/>
                        <a:ext cx="4091305" cy="1922780"/>
                      </a:xfrm>
                      <a:prstGeom prst="rect">
                        <a:avLst/>
                      </a:prstGeom>
                      <a:noFill/>
                      <a:ln w="9525">
                        <a:noFill/>
                        <a:miter/>
                      </a:ln>
                    </p:spPr>
                  </p:pic>
                </p:oleObj>
              </mc:Fallback>
            </mc:AlternateContent>
          </a:graphicData>
        </a:graphic>
      </p:graphicFrame>
      <p:sp>
        <p:nvSpPr>
          <p:cNvPr id="4" name="文本框 3"/>
          <p:cNvSpPr txBox="1"/>
          <p:nvPr/>
        </p:nvSpPr>
        <p:spPr>
          <a:xfrm>
            <a:off x="3536950" y="4199890"/>
            <a:ext cx="5080000" cy="368300"/>
          </a:xfrm>
          <a:prstGeom prst="rect">
            <a:avLst/>
          </a:prstGeom>
          <a:noFill/>
          <a:ln w="9525">
            <a:noFill/>
          </a:ln>
        </p:spPr>
        <p:txBody>
          <a:bodyPr>
            <a:spAutoFit/>
          </a:bodyPr>
          <a:lstStyle/>
          <a:p>
            <a:pPr indent="0" algn="ctr"/>
            <a:r>
              <a:rPr lang="zh-CN" b="0" dirty="0">
                <a:ea typeface="宋体" panose="02010600030101010101" pitchFamily="2" charset="-122"/>
              </a:rPr>
              <a:t>图</a:t>
            </a:r>
            <a:r>
              <a:rPr lang="en-US" b="0" dirty="0">
                <a:latin typeface="Times New Roman" panose="02020603050405020304" charset="0"/>
                <a:ea typeface="宋体" panose="02010600030101010101" pitchFamily="2" charset="-122"/>
              </a:rPr>
              <a:t>3-2-2  </a:t>
            </a:r>
            <a:r>
              <a:rPr lang="zh-CN" b="0" dirty="0">
                <a:ea typeface="宋体" panose="02010600030101010101" pitchFamily="2" charset="-122"/>
              </a:rPr>
              <a:t>多径传输示意图</a:t>
            </a:r>
            <a:endParaRPr lang="zh-CN" altLang="en-US" dirty="0"/>
          </a:p>
        </p:txBody>
      </p:sp>
      <p:sp>
        <p:nvSpPr>
          <p:cNvPr id="5" name="文本框 4"/>
          <p:cNvSpPr txBox="1"/>
          <p:nvPr/>
        </p:nvSpPr>
        <p:spPr>
          <a:xfrm>
            <a:off x="406400" y="4691380"/>
            <a:ext cx="11341735" cy="1568450"/>
          </a:xfrm>
          <a:prstGeom prst="rect">
            <a:avLst/>
          </a:prstGeom>
          <a:noFill/>
          <a:ln w="9525">
            <a:noFill/>
          </a:ln>
        </p:spPr>
        <p:txBody>
          <a:bodyPr wrap="square">
            <a:spAutoFit/>
          </a:bodyPr>
          <a:lstStyle/>
          <a:p>
            <a:pPr indent="0" fontAlgn="auto">
              <a:lnSpc>
                <a:spcPct val="100000"/>
              </a:lnSpc>
            </a:pPr>
            <a:r>
              <a:rPr lang="en-US" altLang="zh-CN" sz="2400" b="1">
                <a:ea typeface="宋体" panose="02010600030101010101" pitchFamily="2" charset="-122"/>
              </a:rPr>
              <a:t>       </a:t>
            </a:r>
            <a:r>
              <a:rPr lang="zh-CN" sz="2400" b="1">
                <a:ea typeface="宋体" panose="02010600030101010101" pitchFamily="2" charset="-122"/>
              </a:rPr>
              <a:t>在无线通信领域，多径是指无线电信号传输过程中会遇到障碍物的阻挡，从发射天线经过几个路径抵达接收天线的传播现象</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这种现象多出现在分米波、厘米波和毫米波段</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例如楼房或者高大的建筑物、山丘等，对电波产生反射、折射或者衍射等，如图</a:t>
            </a:r>
            <a:r>
              <a:rPr lang="en-US" sz="2400" b="1">
                <a:latin typeface="Times New Roman" panose="02020603050405020304" charset="0"/>
                <a:ea typeface="宋体" panose="02010600030101010101" pitchFamily="2" charset="-122"/>
              </a:rPr>
              <a:t>3-2-3</a:t>
            </a:r>
            <a:r>
              <a:rPr lang="zh-CN" sz="2400" b="1">
                <a:ea typeface="宋体" panose="02010600030101010101" pitchFamily="2" charset="-122"/>
              </a:rPr>
              <a:t>所示。</a:t>
            </a:r>
            <a:endParaRPr lang="zh-CN" altLang="en-US" sz="2400" b="1"/>
          </a:p>
        </p:txBody>
      </p:sp>
      <p:sp>
        <p:nvSpPr>
          <p:cNvPr id="7" name="标题 1"/>
          <p:cNvSpPr>
            <a:spLocks noGrp="1"/>
          </p:cNvSpPr>
          <p:nvPr>
            <p:ph type="title"/>
          </p:nvPr>
        </p:nvSpPr>
        <p:spPr>
          <a:xfrm>
            <a:off x="403225" y="-28575"/>
            <a:ext cx="7310755" cy="1325880"/>
          </a:xfrm>
        </p:spPr>
        <p:txBody>
          <a:bodyPr/>
          <a:lstStyle/>
          <a:p>
            <a:r>
              <a:rPr lang="en-US" sz="4400" b="1" u="sng" dirty="0">
                <a:solidFill>
                  <a:srgbClr val="0563C1"/>
                </a:solidFill>
                <a:latin typeface="Times New Roman" panose="02020603050405020304" charset="0"/>
                <a:ea typeface="宋体" panose="02010600030101010101" pitchFamily="2" charset="-122"/>
              </a:rPr>
              <a:t>3.2.2.2  多径信道</a:t>
            </a:r>
            <a:endParaRPr lang="zh-CN" altLang="en-US" sz="2400" b="1" dirty="0">
              <a:latin typeface="Times New Roman" panose="0202060305040502030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82586"/>
          <p:cNvGraphicFramePr>
            <a:graphicFrameLocks noChangeAspect="1"/>
          </p:cNvGraphicFramePr>
          <p:nvPr/>
        </p:nvGraphicFramePr>
        <p:xfrm>
          <a:off x="3031328" y="1688288"/>
          <a:ext cx="5970270" cy="1581150"/>
        </p:xfrm>
        <a:graphic>
          <a:graphicData uri="http://schemas.openxmlformats.org/presentationml/2006/ole">
            <mc:AlternateContent xmlns:mc="http://schemas.openxmlformats.org/markup-compatibility/2006">
              <mc:Choice xmlns:v="urn:schemas-microsoft-com:vml" Requires="v">
                <p:oleObj spid="_x0000_s24775" name="" r:id="rId1" imgW="11938000" imgH="3187700" progId="Visio.Drawing.15">
                  <p:embed/>
                </p:oleObj>
              </mc:Choice>
              <mc:Fallback>
                <p:oleObj name="" r:id="rId1" imgW="11938000" imgH="3187700" progId="Visio.Drawing.15">
                  <p:embed/>
                  <p:pic>
                    <p:nvPicPr>
                      <p:cNvPr id="0" name="图片 3075"/>
                      <p:cNvPicPr/>
                      <p:nvPr/>
                    </p:nvPicPr>
                    <p:blipFill>
                      <a:blip r:embed="rId2"/>
                      <a:stretch>
                        <a:fillRect/>
                      </a:stretch>
                    </p:blipFill>
                    <p:spPr>
                      <a:xfrm>
                        <a:off x="3031328" y="1688288"/>
                        <a:ext cx="5970270" cy="1581150"/>
                      </a:xfrm>
                      <a:prstGeom prst="rect">
                        <a:avLst/>
                      </a:prstGeom>
                      <a:noFill/>
                      <a:ln w="9525">
                        <a:noFill/>
                        <a:miter/>
                      </a:ln>
                    </p:spPr>
                  </p:pic>
                </p:oleObj>
              </mc:Fallback>
            </mc:AlternateContent>
          </a:graphicData>
        </a:graphic>
      </p:graphicFrame>
      <p:sp>
        <p:nvSpPr>
          <p:cNvPr id="119" name="文本框 118"/>
          <p:cNvSpPr txBox="1"/>
          <p:nvPr/>
        </p:nvSpPr>
        <p:spPr>
          <a:xfrm>
            <a:off x="3386293" y="3483433"/>
            <a:ext cx="5080000" cy="398780"/>
          </a:xfrm>
          <a:prstGeom prst="rect">
            <a:avLst/>
          </a:prstGeom>
          <a:noFill/>
          <a:ln w="9525">
            <a:noFill/>
          </a:ln>
        </p:spPr>
        <p:txBody>
          <a:bodyPr>
            <a:spAutoFit/>
          </a:bodyPr>
          <a:lstStyle/>
          <a:p>
            <a:pPr indent="228600" algn="ct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3-2-3  </a:t>
            </a:r>
            <a:r>
              <a:rPr lang="zh-CN" sz="2000" b="0">
                <a:ea typeface="宋体" panose="02010600030101010101" pitchFamily="2" charset="-122"/>
              </a:rPr>
              <a:t>造成多径传播的原因</a:t>
            </a:r>
            <a:endParaRPr lang="zh-CN" altLang="en-US" sz="2000"/>
          </a:p>
        </p:txBody>
      </p:sp>
      <p:sp>
        <p:nvSpPr>
          <p:cNvPr id="3" name="文本框 2"/>
          <p:cNvSpPr txBox="1"/>
          <p:nvPr/>
        </p:nvSpPr>
        <p:spPr>
          <a:xfrm>
            <a:off x="319878" y="3970478"/>
            <a:ext cx="11746230" cy="2306955"/>
          </a:xfrm>
          <a:prstGeom prst="rect">
            <a:avLst/>
          </a:prstGeom>
          <a:noFill/>
          <a:ln w="9525">
            <a:noFill/>
          </a:ln>
        </p:spPr>
        <p:txBody>
          <a:bodyPr wrap="square">
            <a:spAutoFit/>
          </a:bodyPr>
          <a:lstStyle/>
          <a:p>
            <a:pPr indent="26670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对于无线传感器网络来说，其通信大都是短距离、低功耗传输，且一</a:t>
            </a:r>
            <a:r>
              <a:rPr lang="zh-CN" sz="2400" b="1" dirty="0">
                <a:solidFill>
                  <a:srgbClr val="000000"/>
                </a:solidFill>
                <a:latin typeface="Times New Roman" panose="02020603050405020304" charset="0"/>
                <a:ea typeface="宋体" panose="02010600030101010101" pitchFamily="2" charset="-122"/>
              </a:rPr>
              <a:t>般</a:t>
            </a:r>
            <a:r>
              <a:rPr lang="zh-CN" sz="2400" b="1" dirty="0">
                <a:ea typeface="宋体" panose="02010600030101010101" pitchFamily="2" charset="-122"/>
              </a:rPr>
              <a:t>离地面较近，所以对于一般的场景</a:t>
            </a:r>
            <a:r>
              <a:rPr lang="zh-CN" sz="2400" b="1" dirty="0">
                <a:latin typeface="Times New Roman" panose="02020603050405020304" charset="0"/>
                <a:ea typeface="宋体" panose="02010600030101010101" pitchFamily="2" charset="-122"/>
              </a:rPr>
              <a:t>（</a:t>
            </a:r>
            <a:r>
              <a:rPr lang="zh-CN" sz="2400" b="1" dirty="0">
                <a:ea typeface="宋体" panose="02010600030101010101" pitchFamily="2" charset="-122"/>
              </a:rPr>
              <a:t>如走廊</a:t>
            </a:r>
            <a:r>
              <a:rPr lang="zh-CN" sz="2400" b="1" dirty="0">
                <a:latin typeface="Times New Roman" panose="02020603050405020304" charset="0"/>
                <a:ea typeface="宋体" panose="02010600030101010101" pitchFamily="2" charset="-122"/>
              </a:rPr>
              <a:t>）</a:t>
            </a:r>
            <a:r>
              <a:rPr lang="zh-CN" sz="2400" b="1" dirty="0">
                <a:ea typeface="宋体" panose="02010600030101010101" pitchFamily="2" charset="-122"/>
              </a:rPr>
              <a:t>，</a:t>
            </a:r>
            <a:r>
              <a:rPr lang="en-US" sz="2400" b="1" dirty="0">
                <a:latin typeface="Times New Roman" panose="02020603050405020304" charset="0"/>
                <a:ea typeface="宋体" panose="02010600030101010101" pitchFamily="2" charset="-122"/>
              </a:rPr>
              <a:t> </a:t>
            </a:r>
            <a:r>
              <a:rPr lang="zh-CN" sz="2400" b="1" dirty="0">
                <a:ea typeface="宋体" panose="02010600030101010101" pitchFamily="2" charset="-122"/>
              </a:rPr>
              <a:t>可以认为它主要存在</a:t>
            </a:r>
            <a:r>
              <a:rPr lang="en-US" sz="2400" b="1" dirty="0">
                <a:latin typeface="Times New Roman" panose="02020603050405020304" charset="0"/>
                <a:ea typeface="宋体" panose="02010600030101010101" pitchFamily="2" charset="-122"/>
              </a:rPr>
              <a:t>3</a:t>
            </a:r>
            <a:r>
              <a:rPr lang="zh-CN" sz="2400" b="1" dirty="0">
                <a:ea typeface="宋体" panose="02010600030101010101" pitchFamily="2" charset="-122"/>
              </a:rPr>
              <a:t>种路径，即障碍物的反</a:t>
            </a:r>
            <a:r>
              <a:rPr lang="zh-CN" sz="2400" b="1" dirty="0">
                <a:latin typeface="Times New Roman" panose="02020603050405020304" charset="0"/>
                <a:ea typeface="宋体" panose="02010600030101010101" pitchFamily="2" charset="-122"/>
              </a:rPr>
              <a:t>射</a:t>
            </a:r>
            <a:r>
              <a:rPr lang="zh-CN" sz="2400" b="1" dirty="0">
                <a:ea typeface="宋体" panose="02010600030101010101" pitchFamily="2" charset="-122"/>
              </a:rPr>
              <a:t>、直射以及地面反射。</a:t>
            </a:r>
            <a:endParaRPr lang="zh-CN" sz="2400" b="1" dirty="0">
              <a:ea typeface="宋体" panose="02010600030101010101" pitchFamily="2" charset="-122"/>
            </a:endParaRPr>
          </a:p>
          <a:p>
            <a:pPr indent="26670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因为多径传播的不同路径到达的电磁波射线相位不一致，</a:t>
            </a:r>
            <a:r>
              <a:rPr lang="en-US" sz="2400" b="1" dirty="0">
                <a:latin typeface="Times New Roman" panose="02020603050405020304" charset="0"/>
                <a:ea typeface="宋体" panose="02010600030101010101" pitchFamily="2" charset="-122"/>
              </a:rPr>
              <a:t> </a:t>
            </a:r>
            <a:r>
              <a:rPr lang="zh-CN" sz="2400" b="1" dirty="0">
                <a:ea typeface="宋体" panose="02010600030101010101" pitchFamily="2" charset="-122"/>
              </a:rPr>
              <a:t>引起信号在信道中传输时变形，导致接收信号呈衰落状态，使信号产生误码，所以在设计无线传感器网络物理层时要考虑信号的多径衰落。</a:t>
            </a:r>
            <a:endParaRPr lang="zh-CN" altLang="en-US" sz="2400" b="1" dirty="0"/>
          </a:p>
        </p:txBody>
      </p:sp>
      <p:sp>
        <p:nvSpPr>
          <p:cNvPr id="7" name="标题 1"/>
          <p:cNvSpPr>
            <a:spLocks noGrp="1"/>
          </p:cNvSpPr>
          <p:nvPr>
            <p:ph type="title"/>
          </p:nvPr>
        </p:nvSpPr>
        <p:spPr>
          <a:xfrm>
            <a:off x="403225" y="-28575"/>
            <a:ext cx="7310755" cy="1325880"/>
          </a:xfrm>
        </p:spPr>
        <p:txBody>
          <a:bodyPr/>
          <a:p>
            <a:r>
              <a:rPr lang="en-US" sz="4400" b="1" u="sng" dirty="0">
                <a:solidFill>
                  <a:srgbClr val="0563C1"/>
                </a:solidFill>
                <a:latin typeface="Times New Roman" panose="02020603050405020304" charset="0"/>
                <a:ea typeface="宋体" panose="02010600030101010101" pitchFamily="2" charset="-122"/>
              </a:rPr>
              <a:t>3.2.2.2  多径信道</a:t>
            </a:r>
            <a:endParaRPr lang="zh-CN" altLang="en-US" sz="2400" b="1" dirty="0">
              <a:latin typeface="Times New Roman" panose="02020603050405020304" charset="0"/>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3200" y="1172845"/>
            <a:ext cx="11694160" cy="1814830"/>
          </a:xfrm>
          <a:prstGeom prst="rect">
            <a:avLst/>
          </a:prstGeom>
          <a:noFill/>
          <a:ln w="9525">
            <a:noFill/>
          </a:ln>
        </p:spPr>
        <p:txBody>
          <a:bodyPr wrap="square">
            <a:spAutoFit/>
          </a:bodyPr>
          <a:lstStyle/>
          <a:p>
            <a:pPr indent="266700" fontAlgn="auto">
              <a:lnSpc>
                <a:spcPct val="100000"/>
              </a:lnSpc>
            </a:pPr>
            <a:r>
              <a:rPr lang="en-US" altLang="zh-CN" sz="2400" b="1">
                <a:ea typeface="宋体" panose="02010600030101010101" pitchFamily="2" charset="-122"/>
              </a:rPr>
              <a:t>   </a:t>
            </a:r>
            <a:r>
              <a:rPr lang="en-US" altLang="zh-CN" sz="2200" b="1">
                <a:ea typeface="宋体" panose="02010600030101010101" pitchFamily="2" charset="-122"/>
              </a:rPr>
              <a:t> </a:t>
            </a:r>
            <a:r>
              <a:rPr lang="zh-CN" sz="2200" b="1">
                <a:ea typeface="宋体" panose="02010600030101010101" pitchFamily="2" charset="-122"/>
              </a:rPr>
              <a:t>加性噪声一般指热噪声</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导体中自由电子的热运动</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、散弹噪声</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真空管中电子</a:t>
            </a:r>
            <a:r>
              <a:rPr lang="en-US" altLang="zh-CN" sz="2200" b="1">
                <a:ea typeface="宋体" panose="02010600030101010101" pitchFamily="2" charset="-122"/>
              </a:rPr>
              <a:t>                  </a:t>
            </a:r>
            <a:r>
              <a:rPr lang="zh-CN" sz="2200" b="1">
                <a:ea typeface="宋体" panose="02010600030101010101" pitchFamily="2" charset="-122"/>
              </a:rPr>
              <a:t>的起伏发射和半导体中载流子的起伏变化</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，它们与信号之间的关系是相加的，不管有没有信号，噪声都存在。加性噪声独立于有用信号，但始终干扰有用信号，不可避免地对无线通信信道造成影响。</a:t>
            </a:r>
            <a:endParaRPr lang="zh-CN" sz="2200" b="1">
              <a:ea typeface="宋体" panose="02010600030101010101" pitchFamily="2" charset="-122"/>
            </a:endParaRPr>
          </a:p>
          <a:p>
            <a:pPr indent="266700" fontAlgn="auto">
              <a:lnSpc>
                <a:spcPct val="100000"/>
              </a:lnSpc>
            </a:pPr>
            <a:endParaRPr lang="zh-CN" altLang="en-US" sz="2200" b="1"/>
          </a:p>
        </p:txBody>
      </p:sp>
      <p:graphicFrame>
        <p:nvGraphicFramePr>
          <p:cNvPr id="3" name="对象 -2147482585"/>
          <p:cNvGraphicFramePr>
            <a:graphicFrameLocks noChangeAspect="1"/>
          </p:cNvGraphicFramePr>
          <p:nvPr/>
        </p:nvGraphicFramePr>
        <p:xfrm>
          <a:off x="7991792" y="2562860"/>
          <a:ext cx="3908425" cy="1612900"/>
        </p:xfrm>
        <a:graphic>
          <a:graphicData uri="http://schemas.openxmlformats.org/presentationml/2006/ole">
            <mc:AlternateContent xmlns:mc="http://schemas.openxmlformats.org/markup-compatibility/2006">
              <mc:Choice xmlns:v="urn:schemas-microsoft-com:vml" Requires="v">
                <p:oleObj spid="_x0000_s24775" name="" r:id="rId1" imgW="7531100" imgH="3098800" progId="Visio.Drawing.15">
                  <p:embed/>
                </p:oleObj>
              </mc:Choice>
              <mc:Fallback>
                <p:oleObj name="" r:id="rId1" imgW="7531100" imgH="3098800" progId="Visio.Drawing.15">
                  <p:embed/>
                  <p:pic>
                    <p:nvPicPr>
                      <p:cNvPr id="0" name="图片 3075"/>
                      <p:cNvPicPr/>
                      <p:nvPr/>
                    </p:nvPicPr>
                    <p:blipFill>
                      <a:blip r:embed="rId2"/>
                      <a:stretch>
                        <a:fillRect/>
                      </a:stretch>
                    </p:blipFill>
                    <p:spPr>
                      <a:xfrm>
                        <a:off x="7991792" y="2562860"/>
                        <a:ext cx="3908425" cy="1612900"/>
                      </a:xfrm>
                      <a:prstGeom prst="rect">
                        <a:avLst/>
                      </a:prstGeom>
                      <a:noFill/>
                      <a:ln w="9525">
                        <a:noFill/>
                        <a:miter/>
                      </a:ln>
                    </p:spPr>
                  </p:pic>
                </p:oleObj>
              </mc:Fallback>
            </mc:AlternateContent>
          </a:graphicData>
        </a:graphic>
      </p:graphicFrame>
      <p:sp>
        <p:nvSpPr>
          <p:cNvPr id="4" name="文本框 3"/>
          <p:cNvSpPr txBox="1"/>
          <p:nvPr/>
        </p:nvSpPr>
        <p:spPr>
          <a:xfrm>
            <a:off x="7924165" y="4175760"/>
            <a:ext cx="3874135" cy="368300"/>
          </a:xfrm>
          <a:prstGeom prst="rect">
            <a:avLst/>
          </a:prstGeom>
          <a:noFill/>
          <a:ln w="9525">
            <a:noFill/>
          </a:ln>
        </p:spPr>
        <p:txBody>
          <a:bodyPr wrap="square">
            <a:spAutoFit/>
          </a:bodyPr>
          <a:lstStyle/>
          <a:p>
            <a:pPr indent="0" algn="ctr"/>
            <a:r>
              <a:rPr lang="zh-CN" b="0" dirty="0">
                <a:ea typeface="宋体" panose="02010600030101010101" pitchFamily="2" charset="-122"/>
              </a:rPr>
              <a:t>图</a:t>
            </a:r>
            <a:r>
              <a:rPr lang="en-US" b="0" dirty="0">
                <a:latin typeface="Times New Roman" panose="02020603050405020304" charset="0"/>
                <a:ea typeface="宋体" panose="02010600030101010101" pitchFamily="2" charset="-122"/>
              </a:rPr>
              <a:t>3-2-4  </a:t>
            </a:r>
            <a:r>
              <a:rPr lang="zh-CN" b="0" dirty="0">
                <a:ea typeface="宋体" panose="02010600030101010101" pitchFamily="2" charset="-122"/>
              </a:rPr>
              <a:t>加性噪声信道数学模型</a:t>
            </a:r>
            <a:endParaRPr lang="zh-CN" altLang="en-US" dirty="0"/>
          </a:p>
        </p:txBody>
      </p:sp>
      <p:sp>
        <p:nvSpPr>
          <p:cNvPr id="6" name="标题 1"/>
          <p:cNvSpPr>
            <a:spLocks noGrp="1"/>
          </p:cNvSpPr>
          <p:nvPr>
            <p:ph type="title"/>
          </p:nvPr>
        </p:nvSpPr>
        <p:spPr>
          <a:xfrm>
            <a:off x="403225" y="-28575"/>
            <a:ext cx="7310755" cy="1325880"/>
          </a:xfrm>
        </p:spPr>
        <p:txBody>
          <a:bodyPr/>
          <a:lstStyle/>
          <a:p>
            <a:pPr>
              <a:buClrTx/>
              <a:buSzTx/>
              <a:buFontTx/>
            </a:pPr>
            <a:r>
              <a:rPr lang="en-US" sz="4400" b="1" u="sng" dirty="0">
                <a:solidFill>
                  <a:srgbClr val="0563C1"/>
                </a:solidFill>
                <a:latin typeface="Times New Roman" panose="02020603050405020304" charset="0"/>
                <a:ea typeface="宋体" panose="02010600030101010101" pitchFamily="2" charset="-122"/>
              </a:rPr>
              <a:t>3.2.2.3  加性噪声信道</a:t>
            </a:r>
            <a:endParaRPr lang="zh-CN" altLang="en-US" sz="2400" b="1" dirty="0">
              <a:latin typeface="Times New Roman" panose="02020603050405020304" charset="0"/>
              <a:ea typeface="宋体" panose="02010600030101010101" pitchFamily="2" charset="-122"/>
            </a:endParaRPr>
          </a:p>
        </p:txBody>
      </p:sp>
      <p:sp>
        <p:nvSpPr>
          <p:cNvPr id="7" name="文本框 6"/>
          <p:cNvSpPr txBox="1"/>
          <p:nvPr/>
        </p:nvSpPr>
        <p:spPr>
          <a:xfrm>
            <a:off x="241300" y="2562860"/>
            <a:ext cx="7710805" cy="2491740"/>
          </a:xfrm>
          <a:prstGeom prst="rect">
            <a:avLst/>
          </a:prstGeom>
          <a:noFill/>
        </p:spPr>
        <p:txBody>
          <a:bodyPr wrap="square" rtlCol="0">
            <a:spAutoFit/>
          </a:bodyPr>
          <a:p>
            <a:pPr indent="266700" algn="l" fontAlgn="auto">
              <a:lnSpc>
                <a:spcPct val="100000"/>
              </a:lnSpc>
            </a:pPr>
            <a:r>
              <a:rPr lang="en-US" altLang="zh-CN" sz="2400" b="1">
                <a:ea typeface="宋体" panose="02010600030101010101" pitchFamily="2" charset="-122"/>
                <a:sym typeface="+mn-ea"/>
              </a:rPr>
              <a:t>   </a:t>
            </a:r>
            <a:r>
              <a:rPr lang="zh-CN" sz="2200" b="1">
                <a:ea typeface="宋体" panose="02010600030101010101" pitchFamily="2" charset="-122"/>
                <a:sym typeface="+mn-ea"/>
              </a:rPr>
              <a:t>信道中的加性噪声一般来源于以下</a:t>
            </a:r>
            <a:r>
              <a:rPr lang="en-US" sz="2200" b="1">
                <a:latin typeface="Times New Roman" panose="02020603050405020304" charset="0"/>
                <a:ea typeface="宋体" panose="02010600030101010101" pitchFamily="2" charset="-122"/>
                <a:sym typeface="+mn-ea"/>
              </a:rPr>
              <a:t>3</a:t>
            </a:r>
            <a:r>
              <a:rPr lang="zh-CN" sz="2200" b="1">
                <a:ea typeface="宋体" panose="02010600030101010101" pitchFamily="2" charset="-122"/>
                <a:sym typeface="+mn-ea"/>
              </a:rPr>
              <a:t>方面：</a:t>
            </a:r>
            <a:endParaRPr lang="zh-CN" sz="2200" b="1">
              <a:latin typeface="Times New Roman" panose="02020603050405020304" charset="0"/>
              <a:ea typeface="宋体" panose="02010600030101010101" pitchFamily="2" charset="-122"/>
            </a:endParaRPr>
          </a:p>
          <a:p>
            <a:pPr indent="266700" algn="l" fontAlgn="auto">
              <a:lnSpc>
                <a:spcPct val="100000"/>
              </a:lnSpc>
            </a:pPr>
            <a:r>
              <a:rPr lang="zh-CN" sz="2200" b="1">
                <a:latin typeface="Times New Roman" panose="02020603050405020304" charset="0"/>
                <a:ea typeface="宋体" panose="02010600030101010101" pitchFamily="2" charset="-122"/>
                <a:sym typeface="+mn-ea"/>
              </a:rPr>
              <a:t>（</a:t>
            </a:r>
            <a:r>
              <a:rPr lang="en-US" sz="2200" b="1">
                <a:latin typeface="Times New Roman" panose="02020603050405020304" charset="0"/>
                <a:ea typeface="宋体" panose="02010600030101010101" pitchFamily="2" charset="-122"/>
                <a:sym typeface="+mn-ea"/>
              </a:rPr>
              <a:t>1</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人为噪声</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人类活动造成的其他信号源。例如</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外台信号、开关接触噪声、工业的点火辐射即荧光灯干扰等。</a:t>
            </a:r>
            <a:endParaRPr lang="zh-CN" sz="2200" b="1">
              <a:latin typeface="Times New Roman" panose="02020603050405020304" charset="0"/>
              <a:ea typeface="宋体" panose="02010600030101010101" pitchFamily="2" charset="-122"/>
            </a:endParaRPr>
          </a:p>
          <a:p>
            <a:pPr indent="266700" algn="l" fontAlgn="auto">
              <a:lnSpc>
                <a:spcPct val="100000"/>
              </a:lnSpc>
            </a:pPr>
            <a:r>
              <a:rPr lang="zh-CN" sz="2200" b="1">
                <a:latin typeface="Times New Roman" panose="02020603050405020304" charset="0"/>
                <a:ea typeface="宋体" panose="02010600030101010101" pitchFamily="2" charset="-122"/>
                <a:sym typeface="+mn-ea"/>
              </a:rPr>
              <a:t>（</a:t>
            </a:r>
            <a:r>
              <a:rPr lang="en-US" sz="2200" b="1">
                <a:latin typeface="Times New Roman" panose="02020603050405020304" charset="0"/>
                <a:ea typeface="宋体" panose="02010600030101010101" pitchFamily="2" charset="-122"/>
                <a:sym typeface="+mn-ea"/>
              </a:rPr>
              <a:t>2</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自然噪声</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自然界存在的各种电磁波源。例如</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闪电、大气中的电暴、银河系噪声及其他各种宇宙噪声等。</a:t>
            </a:r>
            <a:endParaRPr lang="zh-CN" sz="2200" b="1">
              <a:latin typeface="Times New Roman" panose="02020603050405020304" charset="0"/>
              <a:ea typeface="宋体" panose="02010600030101010101" pitchFamily="2" charset="-122"/>
            </a:endParaRPr>
          </a:p>
          <a:p>
            <a:pPr indent="266700" algn="l" fontAlgn="auto">
              <a:lnSpc>
                <a:spcPct val="100000"/>
              </a:lnSpc>
            </a:pPr>
            <a:r>
              <a:rPr lang="zh-CN" sz="2200" b="1">
                <a:latin typeface="Times New Roman" panose="02020603050405020304" charset="0"/>
                <a:ea typeface="宋体" panose="02010600030101010101" pitchFamily="2" charset="-122"/>
                <a:sym typeface="+mn-ea"/>
              </a:rPr>
              <a:t>（</a:t>
            </a:r>
            <a:r>
              <a:rPr lang="en-US" sz="2200" b="1">
                <a:latin typeface="Times New Roman" panose="02020603050405020304" charset="0"/>
                <a:ea typeface="宋体" panose="02010600030101010101" pitchFamily="2" charset="-122"/>
                <a:sym typeface="+mn-ea"/>
              </a:rPr>
              <a:t>3</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内部噪声</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系统设备本身产生的各种噪声。例如</a:t>
            </a:r>
            <a:r>
              <a:rPr lang="zh-CN" sz="2200" b="1">
                <a:latin typeface="Times New Roman" panose="02020603050405020304" charset="0"/>
                <a:ea typeface="宋体" panose="02010600030101010101" pitchFamily="2" charset="-122"/>
                <a:sym typeface="+mn-ea"/>
              </a:rPr>
              <a:t>，</a:t>
            </a:r>
            <a:r>
              <a:rPr lang="zh-CN" sz="2200" b="1">
                <a:ea typeface="宋体" panose="02010600030101010101" pitchFamily="2" charset="-122"/>
                <a:sym typeface="+mn-ea"/>
              </a:rPr>
              <a:t>在电阻类的导体中自由电子的热运动和散弹噪声及电源噪声等。</a:t>
            </a:r>
            <a:endParaRPr lang="zh-CN" altLang="en-US" sz="2200" b="1">
              <a:latin typeface="Times New Roman" panose="02020603050405020304" charset="0"/>
              <a:ea typeface="宋体" panose="02010600030101010101" pitchFamily="2" charset="-122"/>
            </a:endParaRPr>
          </a:p>
        </p:txBody>
      </p:sp>
      <p:sp>
        <p:nvSpPr>
          <p:cNvPr id="8" name="文本框 7"/>
          <p:cNvSpPr txBox="1"/>
          <p:nvPr/>
        </p:nvSpPr>
        <p:spPr>
          <a:xfrm>
            <a:off x="241300" y="4942840"/>
            <a:ext cx="11404600" cy="1106805"/>
          </a:xfrm>
          <a:prstGeom prst="rect">
            <a:avLst/>
          </a:prstGeom>
          <a:noFill/>
        </p:spPr>
        <p:txBody>
          <a:bodyPr wrap="square" rtlCol="0" anchor="t">
            <a:spAutoFit/>
          </a:bodyPr>
          <a:p>
            <a:r>
              <a:rPr lang="en-US" altLang="zh-CN" sz="2200" b="1" dirty="0">
                <a:ea typeface="宋体" panose="02010600030101010101" pitchFamily="2" charset="-122"/>
                <a:sym typeface="+mn-ea"/>
              </a:rPr>
              <a:t>       </a:t>
            </a:r>
            <a:r>
              <a:rPr lang="zh-CN" sz="2200" b="1" dirty="0">
                <a:ea typeface="宋体" panose="02010600030101010101" pitchFamily="2" charset="-122"/>
                <a:sym typeface="+mn-ea"/>
              </a:rPr>
              <a:t>最简单的加性噪声信道数学模型如图</a:t>
            </a:r>
            <a:r>
              <a:rPr lang="en-US" sz="2200" b="1" dirty="0">
                <a:latin typeface="Times New Roman" panose="02020603050405020304" charset="0"/>
                <a:ea typeface="宋体" panose="02010600030101010101" pitchFamily="2" charset="-122"/>
                <a:sym typeface="+mn-ea"/>
              </a:rPr>
              <a:t>3-2-4</a:t>
            </a:r>
            <a:r>
              <a:rPr lang="zh-CN" sz="2200" b="1" dirty="0">
                <a:ea typeface="宋体" panose="02010600030101010101" pitchFamily="2" charset="-122"/>
                <a:sym typeface="+mn-ea"/>
              </a:rPr>
              <a:t>所示。这是目前通信系统分析和设计中主要应用的信道模型，其中</a:t>
            </a:r>
            <a:r>
              <a:rPr lang="en-US" altLang="zh-CN" sz="2200" b="1" dirty="0">
                <a:ea typeface="宋体" panose="02010600030101010101" pitchFamily="2" charset="-122"/>
                <a:sym typeface="+mn-ea"/>
              </a:rPr>
              <a:t>s(t)</a:t>
            </a:r>
            <a:r>
              <a:rPr lang="en-US" altLang="zh-CN" sz="2200" b="1" dirty="0" err="1">
                <a:ea typeface="宋体" panose="02010600030101010101" pitchFamily="2" charset="-122"/>
                <a:sym typeface="+mn-ea"/>
              </a:rPr>
              <a:t>为传输信号，n</a:t>
            </a:r>
            <a:r>
              <a:rPr lang="en-US" altLang="zh-CN" sz="2200" b="1" dirty="0">
                <a:ea typeface="宋体" panose="02010600030101010101" pitchFamily="2" charset="-122"/>
                <a:sym typeface="+mn-ea"/>
              </a:rPr>
              <a:t>(t)</a:t>
            </a:r>
            <a:r>
              <a:rPr lang="en-US" altLang="zh-CN" sz="2200" b="1" dirty="0" err="1">
                <a:ea typeface="宋体" panose="02010600030101010101" pitchFamily="2" charset="-122"/>
                <a:sym typeface="+mn-ea"/>
              </a:rPr>
              <a:t>为噪声，a为信道中的衰减因子，接收到的信号为</a:t>
            </a:r>
            <a:r>
              <a:rPr lang="en-US" altLang="zh-CN" sz="2200" b="1" dirty="0">
                <a:ea typeface="宋体" panose="02010600030101010101" pitchFamily="2" charset="-122"/>
                <a:sym typeface="+mn-ea"/>
              </a:rPr>
              <a:t>：</a:t>
            </a:r>
            <a:endParaRPr lang="zh-CN" altLang="en-US" sz="2200" b="1"/>
          </a:p>
        </p:txBody>
      </p:sp>
      <p:graphicFrame>
        <p:nvGraphicFramePr>
          <p:cNvPr id="9" name="对象 -2147482581"/>
          <p:cNvGraphicFramePr>
            <a:graphicFrameLocks noChangeAspect="1"/>
          </p:cNvGraphicFramePr>
          <p:nvPr/>
        </p:nvGraphicFramePr>
        <p:xfrm>
          <a:off x="4502150" y="5755480"/>
          <a:ext cx="2663825" cy="584835"/>
        </p:xfrm>
        <a:graphic>
          <a:graphicData uri="http://schemas.openxmlformats.org/presentationml/2006/ole">
            <mc:AlternateContent xmlns:mc="http://schemas.openxmlformats.org/markup-compatibility/2006">
              <mc:Choice xmlns:v="urn:schemas-microsoft-com:vml" Requires="v">
                <p:oleObj spid="_x0000_s10" name="" r:id="rId3" imgW="1167765" imgH="254000" progId="Equation.DSMT4">
                  <p:embed/>
                </p:oleObj>
              </mc:Choice>
              <mc:Fallback>
                <p:oleObj name="" r:id="rId3" imgW="1167765" imgH="254000" progId="Equation.DSMT4">
                  <p:embed/>
                  <p:pic>
                    <p:nvPicPr>
                      <p:cNvPr id="0" name="图片 3075"/>
                      <p:cNvPicPr/>
                      <p:nvPr/>
                    </p:nvPicPr>
                    <p:blipFill>
                      <a:blip r:embed="rId4"/>
                      <a:stretch>
                        <a:fillRect/>
                      </a:stretch>
                    </p:blipFill>
                    <p:spPr>
                      <a:xfrm>
                        <a:off x="4502150" y="5755480"/>
                        <a:ext cx="2663825" cy="584835"/>
                      </a:xfrm>
                      <a:prstGeom prst="rect">
                        <a:avLst/>
                      </a:prstGeom>
                      <a:noFill/>
                      <a:ln w="9525">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39445" y="1150620"/>
            <a:ext cx="9480550" cy="1568450"/>
          </a:xfrm>
          <a:prstGeom prst="rect">
            <a:avLst/>
          </a:prstGeom>
          <a:noFill/>
          <a:ln w="9525">
            <a:noFill/>
          </a:ln>
        </p:spPr>
        <p:txBody>
          <a:bodyPr wrap="square">
            <a:spAutoFit/>
          </a:bodyPr>
          <a:lstStyle/>
          <a:p>
            <a:pPr indent="457200" fontAlgn="auto">
              <a:lnSpc>
                <a:spcPct val="100000"/>
              </a:lnSpc>
            </a:pPr>
            <a:r>
              <a:rPr lang="en-US" altLang="zh-CN" sz="2400" b="1" dirty="0">
                <a:ea typeface="宋体" panose="02010600030101010101" pitchFamily="2" charset="-122"/>
              </a:rPr>
              <a:t> </a:t>
            </a:r>
            <a:r>
              <a:rPr lang="zh-CN" sz="2400" b="1" dirty="0">
                <a:ea typeface="宋体" panose="02010600030101010101" pitchFamily="2" charset="-122"/>
              </a:rPr>
              <a:t>实际环境中的无线信道往往比较复杂，除了自由空间损耗还伴有多径、障碍物的阻挡引起的衰落。考虑到</a:t>
            </a:r>
            <a:r>
              <a:rPr lang="en-US" sz="2400" b="1" dirty="0" err="1">
                <a:latin typeface="Times New Roman" panose="02020603050405020304" charset="0"/>
                <a:ea typeface="宋体" panose="02010600030101010101" pitchFamily="2" charset="-122"/>
              </a:rPr>
              <a:t>Friis</a:t>
            </a:r>
            <a:r>
              <a:rPr lang="zh-CN" sz="2400" b="1" dirty="0">
                <a:ea typeface="宋体" panose="02010600030101010101" pitchFamily="2" charset="-122"/>
              </a:rPr>
              <a:t>方程主要针对远距离理想无线通信网络、</a:t>
            </a:r>
            <a:r>
              <a:rPr lang="en-US" sz="2400" b="1" dirty="0">
                <a:latin typeface="Times New Roman" panose="02020603050405020304" charset="0"/>
                <a:ea typeface="宋体" panose="02010600030101010101" pitchFamily="2" charset="-122"/>
              </a:rPr>
              <a:t>ZigBee</a:t>
            </a:r>
            <a:r>
              <a:rPr lang="zh-CN" sz="2400" b="1" dirty="0">
                <a:ea typeface="宋体" panose="02010600030101010101" pitchFamily="2" charset="-122"/>
              </a:rPr>
              <a:t>等短距离通信，工程上往往采用改进的</a:t>
            </a:r>
            <a:r>
              <a:rPr lang="en-US" sz="2400" b="1" dirty="0" err="1">
                <a:latin typeface="Times New Roman" panose="02020603050405020304" charset="0"/>
                <a:ea typeface="宋体" panose="02010600030101010101" pitchFamily="2" charset="-122"/>
              </a:rPr>
              <a:t>Friis</a:t>
            </a:r>
            <a:r>
              <a:rPr lang="zh-CN" sz="2400" b="1" dirty="0">
                <a:ea typeface="宋体" panose="02010600030101010101" pitchFamily="2" charset="-122"/>
              </a:rPr>
              <a:t>方程来表示实际接收到的信号强度，即：</a:t>
            </a:r>
            <a:endParaRPr lang="zh-CN" altLang="en-US" sz="2400" b="1" dirty="0"/>
          </a:p>
        </p:txBody>
      </p:sp>
      <p:graphicFrame>
        <p:nvGraphicFramePr>
          <p:cNvPr id="5" name="对象 -2147482478"/>
          <p:cNvGraphicFramePr>
            <a:graphicFrameLocks noChangeAspect="1"/>
          </p:cNvGraphicFramePr>
          <p:nvPr/>
        </p:nvGraphicFramePr>
        <p:xfrm>
          <a:off x="6109970" y="2283460"/>
          <a:ext cx="2771140" cy="822325"/>
        </p:xfrm>
        <a:graphic>
          <a:graphicData uri="http://schemas.openxmlformats.org/presentationml/2006/ole">
            <mc:AlternateContent xmlns:mc="http://schemas.openxmlformats.org/markup-compatibility/2006">
              <mc:Choice xmlns:v="urn:schemas-microsoft-com:vml" Requires="v">
                <p:oleObj spid="_x0000_s3" name="" r:id="rId1" imgW="1727200" imgH="508000" progId="Equation.DSMT4">
                  <p:embed/>
                </p:oleObj>
              </mc:Choice>
              <mc:Fallback>
                <p:oleObj name="" r:id="rId1" imgW="1727200" imgH="508000" progId="Equation.DSMT4">
                  <p:embed/>
                  <p:pic>
                    <p:nvPicPr>
                      <p:cNvPr id="0" name="图片 3"/>
                      <p:cNvPicPr/>
                      <p:nvPr/>
                    </p:nvPicPr>
                    <p:blipFill>
                      <a:blip r:embed="rId2"/>
                      <a:stretch>
                        <a:fillRect/>
                      </a:stretch>
                    </p:blipFill>
                    <p:spPr>
                      <a:xfrm>
                        <a:off x="6109970" y="2283460"/>
                        <a:ext cx="2771140" cy="822325"/>
                      </a:xfrm>
                      <a:prstGeom prst="rect">
                        <a:avLst/>
                      </a:prstGeom>
                      <a:noFill/>
                      <a:ln w="9525">
                        <a:noFill/>
                        <a:miter/>
                      </a:ln>
                    </p:spPr>
                  </p:pic>
                </p:oleObj>
              </mc:Fallback>
            </mc:AlternateContent>
          </a:graphicData>
        </a:graphic>
      </p:graphicFrame>
      <p:sp>
        <p:nvSpPr>
          <p:cNvPr id="10" name="文本框 9"/>
          <p:cNvSpPr txBox="1"/>
          <p:nvPr/>
        </p:nvSpPr>
        <p:spPr>
          <a:xfrm>
            <a:off x="821055" y="3105785"/>
            <a:ext cx="11232515" cy="1568450"/>
          </a:xfrm>
          <a:prstGeom prst="rect">
            <a:avLst/>
          </a:prstGeom>
          <a:noFill/>
          <a:ln w="9525">
            <a:noFill/>
          </a:ln>
        </p:spPr>
        <p:txBody>
          <a:bodyPr wrap="square">
            <a:spAutoFit/>
          </a:bodyPr>
          <a:lstStyle/>
          <a:p>
            <a:pPr indent="0"/>
            <a:r>
              <a:rPr lang="zh-CN" sz="2400" b="1">
                <a:ea typeface="宋体" panose="02010600030101010101" pitchFamily="2" charset="-122"/>
                <a:sym typeface="+mn-ea"/>
              </a:rPr>
              <a:t>式中，</a:t>
            </a:r>
            <a:r>
              <a:rPr lang="en-US" altLang="zh-CN" sz="2400" b="1">
                <a:ea typeface="宋体" panose="02010600030101010101" pitchFamily="2" charset="-122"/>
                <a:sym typeface="+mn-ea"/>
              </a:rPr>
              <a:t>d</a:t>
            </a:r>
            <a:r>
              <a:rPr lang="en-US" altLang="zh-CN" sz="2400" b="1" baseline="-25000">
                <a:ea typeface="宋体" panose="02010600030101010101" pitchFamily="2" charset="-122"/>
                <a:sym typeface="+mn-ea"/>
              </a:rPr>
              <a:t>0</a:t>
            </a:r>
            <a:r>
              <a:rPr lang="zh-CN" sz="2400" b="1">
                <a:ea typeface="宋体" panose="02010600030101010101" pitchFamily="2" charset="-122"/>
              </a:rPr>
              <a:t>为参考距离，短距离通信般取</a:t>
            </a:r>
            <a:r>
              <a:rPr lang="en-US" altLang="zh-CN" sz="2400" b="1">
                <a:ea typeface="宋体" panose="02010600030101010101" pitchFamily="2" charset="-122"/>
              </a:rPr>
              <a:t>1m；n的取值与传输环境有关。</a:t>
            </a:r>
            <a:endParaRPr lang="en-US" altLang="zh-CN" sz="2400" b="1">
              <a:ea typeface="宋体" panose="02010600030101010101" pitchFamily="2" charset="-122"/>
            </a:endParaRPr>
          </a:p>
          <a:p>
            <a:pPr indent="0"/>
            <a:r>
              <a:rPr lang="en-US" altLang="zh-CN" sz="2400" b="1">
                <a:ea typeface="宋体" panose="02010600030101010101" pitchFamily="2" charset="-122"/>
                <a:sym typeface="+mn-ea"/>
              </a:rPr>
              <a:t>       </a:t>
            </a:r>
            <a:r>
              <a:rPr lang="zh-CN" sz="2400" b="1">
                <a:ea typeface="宋体" panose="02010600030101010101" pitchFamily="2" charset="-122"/>
                <a:sym typeface="+mn-ea"/>
              </a:rPr>
              <a:t>对于较为复杂的环境还需要进行精确的测试才能获得准确的信道模型。研究者通过实际测量获得了四种不同环境与距离的路径损耗变化，即在</a:t>
            </a:r>
            <a:r>
              <a:rPr lang="en-US" sz="2400" b="1">
                <a:latin typeface="Times New Roman" panose="02020603050405020304" charset="0"/>
                <a:ea typeface="宋体" panose="02010600030101010101" pitchFamily="2" charset="-122"/>
                <a:sym typeface="+mn-ea"/>
              </a:rPr>
              <a:t>1m</a:t>
            </a:r>
            <a:r>
              <a:rPr lang="en-US" sz="2400" b="1">
                <a:latin typeface="宋体" panose="02010600030101010101" pitchFamily="2" charset="-122"/>
                <a:ea typeface="宋体" panose="02010600030101010101" pitchFamily="2" charset="-122"/>
                <a:sym typeface="+mn-ea"/>
              </a:rPr>
              <a:t>≤</a:t>
            </a:r>
            <a:r>
              <a:rPr lang="en-US" sz="2400" b="1" i="1">
                <a:latin typeface="Times New Roman" panose="02020603050405020304" charset="0"/>
                <a:ea typeface="宋体" panose="02010600030101010101" pitchFamily="2" charset="-122"/>
                <a:sym typeface="+mn-ea"/>
              </a:rPr>
              <a:t>d</a:t>
            </a:r>
            <a:r>
              <a:rPr lang="en-US" sz="2400" b="1">
                <a:latin typeface="Times New Roman" panose="02020603050405020304" charset="0"/>
                <a:ea typeface="宋体" panose="02010600030101010101" pitchFamily="2" charset="-122"/>
                <a:sym typeface="+mn-ea"/>
              </a:rPr>
              <a:t>&lt;10m</a:t>
            </a:r>
            <a:r>
              <a:rPr lang="zh-CN" sz="2400" b="1">
                <a:ea typeface="宋体" panose="02010600030101010101" pitchFamily="2" charset="-122"/>
                <a:sym typeface="+mn-ea"/>
              </a:rPr>
              <a:t>时</a:t>
            </a:r>
            <a:r>
              <a:rPr lang="en-US" altLang="zh-CN" sz="2400" b="1">
                <a:ea typeface="宋体" panose="02010600030101010101" pitchFamily="2" charset="-122"/>
                <a:sym typeface="+mn-ea"/>
              </a:rPr>
              <a:t>n取2，在10m≤d&lt;20m时n取3，在20m≤d&lt;40m时n取6，在d≥ 40m时n取12。</a:t>
            </a:r>
            <a:endParaRPr lang="en-US" altLang="zh-CN" sz="2400" b="1">
              <a:ea typeface="宋体" panose="02010600030101010101" pitchFamily="2" charset="-122"/>
            </a:endParaRPr>
          </a:p>
        </p:txBody>
      </p:sp>
      <p:sp>
        <p:nvSpPr>
          <p:cNvPr id="12" name="标题 1"/>
          <p:cNvSpPr>
            <a:spLocks noGrp="1"/>
          </p:cNvSpPr>
          <p:nvPr>
            <p:ph type="title"/>
          </p:nvPr>
        </p:nvSpPr>
        <p:spPr>
          <a:xfrm>
            <a:off x="504190" y="0"/>
            <a:ext cx="7310755" cy="1325880"/>
          </a:xfrm>
        </p:spPr>
        <p:txBody>
          <a:bodyPr/>
          <a:lstStyle/>
          <a:p>
            <a:r>
              <a:rPr lang="en-US" sz="4400" b="1" u="sng" dirty="0">
                <a:solidFill>
                  <a:srgbClr val="0563C1"/>
                </a:solidFill>
                <a:latin typeface="Times New Roman" panose="02020603050405020304" charset="0"/>
                <a:ea typeface="宋体" panose="02010600030101010101" pitchFamily="2" charset="-122"/>
              </a:rPr>
              <a:t>3.2.2.4  实际环境信道</a:t>
            </a:r>
            <a:endParaRPr lang="en-US" sz="4400" b="1" u="sng" dirty="0">
              <a:solidFill>
                <a:srgbClr val="0563C1"/>
              </a:solidFill>
              <a:latin typeface="Times New Roman" panose="02020603050405020304" charset="0"/>
              <a:ea typeface="宋体" panose="02010600030101010101" pitchFamily="2" charset="-122"/>
            </a:endParaRPr>
          </a:p>
        </p:txBody>
      </p:sp>
      <p:graphicFrame>
        <p:nvGraphicFramePr>
          <p:cNvPr id="11" name="对象 -2147482477"/>
          <p:cNvGraphicFramePr>
            <a:graphicFrameLocks noChangeAspect="1"/>
          </p:cNvGraphicFramePr>
          <p:nvPr/>
        </p:nvGraphicFramePr>
        <p:xfrm>
          <a:off x="4100195" y="4585335"/>
          <a:ext cx="4149090" cy="2210435"/>
        </p:xfrm>
        <a:graphic>
          <a:graphicData uri="http://schemas.openxmlformats.org/presentationml/2006/ole">
            <mc:AlternateContent xmlns:mc="http://schemas.openxmlformats.org/markup-compatibility/2006">
              <mc:Choice xmlns:v="urn:schemas-microsoft-com:vml" Requires="v">
                <p:oleObj spid="_x0000_s13" name="" r:id="rId3" imgW="2768600" imgH="1473200" progId="Equation.DSMT4">
                  <p:embed/>
                </p:oleObj>
              </mc:Choice>
              <mc:Fallback>
                <p:oleObj name="" r:id="rId3" imgW="2768600" imgH="1473200" progId="Equation.DSMT4">
                  <p:embed/>
                  <p:pic>
                    <p:nvPicPr>
                      <p:cNvPr id="0" name="图片 3075"/>
                      <p:cNvPicPr/>
                      <p:nvPr/>
                    </p:nvPicPr>
                    <p:blipFill>
                      <a:blip r:embed="rId4"/>
                      <a:stretch>
                        <a:fillRect/>
                      </a:stretch>
                    </p:blipFill>
                    <p:spPr>
                      <a:xfrm>
                        <a:off x="4100195" y="4585335"/>
                        <a:ext cx="4149090" cy="2210435"/>
                      </a:xfrm>
                      <a:prstGeom prst="rect">
                        <a:avLst/>
                      </a:prstGeom>
                      <a:noFill/>
                      <a:ln w="9525">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8025" y="0"/>
            <a:ext cx="7310755" cy="1325880"/>
          </a:xfrm>
        </p:spPr>
        <p:txBody>
          <a:bodyPr/>
          <a:lstStyle/>
          <a:p>
            <a:r>
              <a:rPr lang="en-US" b="1" u="sng" dirty="0">
                <a:solidFill>
                  <a:srgbClr val="0563C1"/>
                </a:solidFill>
                <a:latin typeface="Times New Roman" panose="02020603050405020304" charset="0"/>
                <a:ea typeface="宋体" panose="02010600030101010101" pitchFamily="2" charset="-122"/>
                <a:sym typeface="+mn-ea"/>
              </a:rPr>
              <a:t>3.3  物理层主要技术</a:t>
            </a:r>
            <a:endParaRPr lang="en-US" b="1" u="sng" dirty="0">
              <a:solidFill>
                <a:srgbClr val="0563C1"/>
              </a:solidFill>
              <a:latin typeface="Times New Roman" panose="02020603050405020304" charset="0"/>
              <a:ea typeface="宋体" panose="02010600030101010101" pitchFamily="2" charset="-122"/>
              <a:sym typeface="+mn-ea"/>
            </a:endParaRPr>
          </a:p>
        </p:txBody>
      </p:sp>
      <p:sp>
        <p:nvSpPr>
          <p:cNvPr id="8" name="文本框 7"/>
          <p:cNvSpPr txBox="1"/>
          <p:nvPr/>
        </p:nvSpPr>
        <p:spPr>
          <a:xfrm>
            <a:off x="923290" y="1521460"/>
            <a:ext cx="10345420" cy="3815080"/>
          </a:xfrm>
          <a:prstGeom prst="rect">
            <a:avLst/>
          </a:prstGeom>
          <a:noFill/>
        </p:spPr>
        <p:txBody>
          <a:bodyPr wrap="square" rtlCol="0" anchor="t">
            <a:spAutoFit/>
          </a:bodyPr>
          <a:lstStyle/>
          <a:p>
            <a:pPr indent="0" algn="l">
              <a:lnSpc>
                <a:spcPct val="100000"/>
              </a:lnSpc>
            </a:pP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zh-CN" sz="2200" b="1" dirty="0">
                <a:ea typeface="宋体" panose="02010600030101010101" pitchFamily="2" charset="-122"/>
                <a:sym typeface="+mn-ea"/>
              </a:rPr>
              <a:t>编码调制技术影响占用</a:t>
            </a:r>
            <a:r>
              <a:rPr lang="zh-CN" sz="2200" b="1" dirty="0">
                <a:solidFill>
                  <a:srgbClr val="00B0F0"/>
                </a:solidFill>
                <a:uFillTx/>
                <a:ea typeface="宋体" panose="02010600030101010101" pitchFamily="2" charset="-122"/>
                <a:sym typeface="+mn-ea"/>
              </a:rPr>
              <a:t>频率带宽、通信速率、收/发机结构、功率</a:t>
            </a:r>
            <a:r>
              <a:rPr lang="zh-CN" sz="2200" b="1" dirty="0">
                <a:ea typeface="宋体" panose="02010600030101010101" pitchFamily="2" charset="-122"/>
                <a:sym typeface="+mn-ea"/>
              </a:rPr>
              <a:t>等技术参数。常见的编码调制技术包括</a:t>
            </a:r>
            <a:r>
              <a:rPr lang="zh-CN" sz="2200" b="1" dirty="0">
                <a:solidFill>
                  <a:srgbClr val="FF0000"/>
                </a:solidFill>
                <a:ea typeface="宋体" panose="02010600030101010101" pitchFamily="2" charset="-122"/>
                <a:sym typeface="+mn-ea"/>
              </a:rPr>
              <a:t>窄带调制技术</a:t>
            </a:r>
            <a:r>
              <a:rPr lang="zh-CN" sz="2200" b="1" dirty="0">
                <a:ea typeface="宋体" panose="02010600030101010101" pitchFamily="2" charset="-122"/>
                <a:sym typeface="+mn-ea"/>
              </a:rPr>
              <a:t>，如幅移键控（ASK）、频移键控（FSK）、相移键控（PSK）和各种</a:t>
            </a:r>
            <a:r>
              <a:rPr lang="zh-CN" sz="2200" b="1" dirty="0">
                <a:solidFill>
                  <a:srgbClr val="FF0000"/>
                </a:solidFill>
                <a:ea typeface="宋体" panose="02010600030101010101" pitchFamily="2" charset="-122"/>
                <a:sym typeface="+mn-ea"/>
              </a:rPr>
              <a:t>扩频调制技术</a:t>
            </a:r>
            <a:r>
              <a:rPr lang="zh-CN" sz="2200" b="1" dirty="0">
                <a:ea typeface="宋体" panose="02010600030101010101" pitchFamily="2" charset="-122"/>
                <a:sym typeface="+mn-ea"/>
              </a:rPr>
              <a:t>（如跳频（FHSS）、直接序列扩频（DSSS）等）及无载波的</a:t>
            </a:r>
            <a:r>
              <a:rPr lang="zh-CN" sz="2200" b="1" dirty="0">
                <a:solidFill>
                  <a:srgbClr val="FF0000"/>
                </a:solidFill>
                <a:ea typeface="宋体" panose="02010600030101010101" pitchFamily="2" charset="-122"/>
                <a:sym typeface="+mn-ea"/>
              </a:rPr>
              <a:t>超宽带UWB调制技术</a:t>
            </a:r>
            <a:r>
              <a:rPr lang="zh-CN" sz="2200" b="1" dirty="0">
                <a:ea typeface="宋体" panose="02010600030101010101" pitchFamily="2" charset="-122"/>
                <a:sym typeface="+mn-ea"/>
              </a:rPr>
              <a:t>。</a:t>
            </a:r>
            <a:endParaRPr lang="zh-CN" sz="2200" b="1" dirty="0">
              <a:ea typeface="宋体" panose="02010600030101010101" pitchFamily="2" charset="-122"/>
            </a:endParaRPr>
          </a:p>
          <a:p>
            <a:pPr indent="0" algn="l">
              <a:lnSpc>
                <a:spcPct val="100000"/>
              </a:lnSpc>
            </a:pPr>
            <a:r>
              <a:rPr lang="en-US" altLang="zh-CN" sz="2200" b="1" dirty="0">
                <a:ea typeface="宋体" panose="02010600030101010101" pitchFamily="2" charset="-122"/>
                <a:sym typeface="+mn-ea"/>
              </a:rPr>
              <a:t>        </a:t>
            </a:r>
            <a:r>
              <a:rPr lang="zh-CN" sz="2200" b="1" dirty="0">
                <a:ea typeface="宋体" panose="02010600030101010101" pitchFamily="2" charset="-122"/>
                <a:sym typeface="+mn-ea"/>
              </a:rPr>
              <a:t>扩频通信的工作原理是在发送端将传送的信息用伪随机码调制，实现频谱扩展后再传输；接收端则采用相同的编码进行解调及相关处理，恢复原始信息数据。</a:t>
            </a:r>
            <a:r>
              <a:rPr lang="zh-CN" sz="2200" b="1" dirty="0">
                <a:solidFill>
                  <a:srgbClr val="00B0F0"/>
                </a:solidFill>
                <a:ea typeface="宋体" panose="02010600030101010101" pitchFamily="2" charset="-122"/>
                <a:sym typeface="+mn-ea"/>
              </a:rPr>
              <a:t>与传统的窄带通信方式相比，扩频通信具有抗干扰、抗噪声、功率频谱低、保密性、隐蔽性和低截获概率等特点；</a:t>
            </a:r>
            <a:r>
              <a:rPr lang="zh-CN" sz="2200" b="1" dirty="0">
                <a:ea typeface="宋体" panose="02010600030101010101" pitchFamily="2" charset="-122"/>
                <a:sym typeface="+mn-ea"/>
              </a:rPr>
              <a:t>超宽带UWB调制技术是一种无需载波的调制技术，其超低功耗和易于集成的特点较适合短距离通信的WSN应用。但是UWB需要较长的捕获时间，即需要较长的前导码，这将降低信号的隐蔽性，所以需要MAC层更好地协作。</a:t>
            </a:r>
            <a:endParaRPr lang="zh-CN" altLang="en-US" sz="2200" b="1" dirty="0">
              <a:uFillTx/>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41350" y="1436370"/>
            <a:ext cx="10909300" cy="4831080"/>
          </a:xfrm>
          <a:prstGeom prst="rect">
            <a:avLst/>
          </a:prstGeom>
          <a:noFill/>
          <a:ln w="9525">
            <a:noFill/>
          </a:ln>
        </p:spPr>
        <p:txBody>
          <a:bodyPr wrap="square">
            <a:spAutoFit/>
          </a:bodyPr>
          <a:lstStyle/>
          <a:p>
            <a:pPr indent="0"/>
            <a:r>
              <a:rPr lang="en-US" altLang="zh-CN" sz="2200" b="1" dirty="0">
                <a:ea typeface="宋体" panose="02010600030101010101" pitchFamily="2" charset="-122"/>
              </a:rPr>
              <a:t>        </a:t>
            </a:r>
            <a:r>
              <a:rPr lang="zh-CN" sz="2200" b="1" dirty="0">
                <a:ea typeface="宋体" panose="02010600030101010101" pitchFamily="2" charset="-122"/>
              </a:rPr>
              <a:t>因为是无线网络，传输介质自然要选电磁波。不过，源信号要依靠电磁波传输必须通过调制技术变成高频信号，当抵达接收端时，再通过解调技术还原成原始信号。</a:t>
            </a:r>
            <a:r>
              <a:rPr lang="zh-CN" sz="2200" b="1" dirty="0">
                <a:solidFill>
                  <a:srgbClr val="FF0000"/>
                </a:solidFill>
                <a:ea typeface="宋体" panose="02010600030101010101" pitchFamily="2" charset="-122"/>
              </a:rPr>
              <a:t>调制与解调是为了能够在可容忍的天线长度内实现远距离的无线信息传输。</a:t>
            </a:r>
            <a:endParaRPr lang="zh-CN" sz="2200" b="1" dirty="0">
              <a:ea typeface="宋体" panose="02010600030101010101" pitchFamily="2" charset="-122"/>
            </a:endParaRPr>
          </a:p>
          <a:p>
            <a:pPr marL="342900" indent="-342900">
              <a:buFont typeface="Arial" panose="020B0604020202020204" pitchFamily="34" charset="0"/>
              <a:buChar char="•"/>
            </a:pPr>
            <a:r>
              <a:rPr lang="en-US" sz="2200" b="1" dirty="0" err="1">
                <a:latin typeface="Times New Roman" panose="02020603050405020304" charset="0"/>
                <a:ea typeface="宋体" panose="02010600030101010101" pitchFamily="2" charset="-122"/>
                <a:cs typeface="Times New Roman" panose="02020603050405020304" charset="0"/>
              </a:rPr>
              <a:t>根据调制中采用的基带信号的类型，可以将调制分为模拟调制和数字调制。它们的区别在于</a:t>
            </a:r>
            <a:r>
              <a:rPr lang="zh-CN" sz="2200" b="1" dirty="0">
                <a:ea typeface="宋体" panose="02010600030101010101" pitchFamily="2" charset="-122"/>
              </a:rPr>
              <a:t>调制信号所用的基带信号的模式不同（一个为模拟，一个为数字）。</a:t>
            </a:r>
            <a:endParaRPr lang="zh-CN" sz="2200" b="1" dirty="0">
              <a:ea typeface="宋体" panose="02010600030101010101" pitchFamily="2" charset="-122"/>
            </a:endParaRPr>
          </a:p>
          <a:p>
            <a:pPr marL="342900" indent="-342900">
              <a:buFont typeface="Arial" panose="020B0604020202020204" pitchFamily="34" charset="0"/>
              <a:buChar char="•"/>
            </a:pPr>
            <a:r>
              <a:rPr lang="zh-CN" sz="2200" b="1" dirty="0">
                <a:ea typeface="宋体" panose="02010600030101010101" pitchFamily="2" charset="-122"/>
              </a:rPr>
              <a:t>模拟调制是用模拟基带信号对高频载波的某一参量进行控制，使高频载波随着模拟基带信号的变化而变化。</a:t>
            </a:r>
            <a:endParaRPr lang="zh-CN" sz="2200" b="1" dirty="0">
              <a:ea typeface="宋体" panose="02010600030101010101" pitchFamily="2" charset="-122"/>
            </a:endParaRPr>
          </a:p>
          <a:p>
            <a:pPr marL="342900" indent="-342900">
              <a:buFont typeface="Arial" panose="020B0604020202020204" pitchFamily="34" charset="0"/>
              <a:buChar char="•"/>
            </a:pPr>
            <a:r>
              <a:rPr lang="zh-CN" sz="2200" b="1" dirty="0">
                <a:ea typeface="宋体" panose="02010600030101010101" pitchFamily="2" charset="-122"/>
              </a:rPr>
              <a:t>数字调制是用数字基带信号对高频载波的某一参量进行控制，使高频载波随着数字基带信号的变化而变化。   </a:t>
            </a:r>
            <a:endParaRPr lang="zh-CN" sz="2200" b="1" dirty="0">
              <a:ea typeface="宋体" panose="02010600030101010101" pitchFamily="2" charset="-122"/>
            </a:endParaRPr>
          </a:p>
          <a:p>
            <a:pPr indent="0"/>
            <a:r>
              <a:rPr lang="en-US" altLang="zh-CN" sz="2200" b="1" dirty="0">
                <a:solidFill>
                  <a:srgbClr val="00B0F0"/>
                </a:solidFill>
                <a:uFillTx/>
                <a:ea typeface="宋体" panose="02010600030101010101" pitchFamily="2" charset="-122"/>
              </a:rPr>
              <a:t>       </a:t>
            </a:r>
            <a:r>
              <a:rPr lang="zh-CN" sz="2200" b="1" dirty="0">
                <a:solidFill>
                  <a:srgbClr val="00B0F0"/>
                </a:solidFill>
                <a:uFillTx/>
                <a:ea typeface="宋体" panose="02010600030101010101" pitchFamily="2" charset="-122"/>
              </a:rPr>
              <a:t>通常信号源的编码信息（即信源）含有直流分量和频率较低的频率分量，称为基带信号。基带信号往往不能作为传输信号，因而要将基带信号转换为频率非常高的带通信号，以便进行信道传输。通常将带通信号称为已调信号，而基带信号称为调制信号。调制与解调是通过射频前端的调制解调器实现的。目前通信系统都在由模拟制式向数字制式过渡，因此数字调制已经成为主流的调制技术。</a:t>
            </a:r>
            <a:r>
              <a:rPr lang="en-US" sz="2200" b="1" dirty="0">
                <a:latin typeface="Times New Roman" panose="02020603050405020304" charset="0"/>
                <a:ea typeface="宋体" panose="02010600030101010101" pitchFamily="2" charset="-122"/>
                <a:sym typeface="+mn-ea"/>
              </a:rPr>
              <a:t>     </a:t>
            </a:r>
            <a:r>
              <a:rPr lang="en-US" sz="2200" b="1" dirty="0">
                <a:solidFill>
                  <a:srgbClr val="00B0F0"/>
                </a:solidFill>
                <a:latin typeface="Times New Roman" panose="02020603050405020304" charset="0"/>
                <a:ea typeface="宋体" panose="02010600030101010101" pitchFamily="2" charset="-122"/>
                <a:sym typeface="+mn-ea"/>
              </a:rPr>
              <a:t> </a:t>
            </a:r>
            <a:r>
              <a:rPr lang="en-US" sz="2200" b="1" dirty="0">
                <a:solidFill>
                  <a:srgbClr val="00B0F0"/>
                </a:solidFill>
                <a:uFillTx/>
                <a:latin typeface="Times New Roman" panose="02020603050405020304" charset="0"/>
                <a:ea typeface="宋体" panose="02010600030101010101" pitchFamily="2" charset="-122"/>
                <a:sym typeface="+mn-ea"/>
              </a:rPr>
              <a:t> </a:t>
            </a:r>
            <a:endParaRPr lang="zh-CN" altLang="en-US" sz="2200" b="1" dirty="0">
              <a:solidFill>
                <a:srgbClr val="00B0F0"/>
              </a:solidFill>
              <a:uFillTx/>
              <a:ea typeface="宋体" panose="02010600030101010101" pitchFamily="2" charset="-122"/>
              <a:sym typeface="+mn-ea"/>
            </a:endParaRPr>
          </a:p>
        </p:txBody>
      </p:sp>
      <p:sp>
        <p:nvSpPr>
          <p:cNvPr id="4" name="标题 1"/>
          <p:cNvSpPr>
            <a:spLocks noGrp="1"/>
          </p:cNvSpPr>
          <p:nvPr>
            <p:ph type="title"/>
          </p:nvPr>
        </p:nvSpPr>
        <p:spPr>
          <a:xfrm>
            <a:off x="529590" y="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3.3.1  信号调制与解调</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84200" y="2060575"/>
            <a:ext cx="10909300" cy="2736215"/>
          </a:xfrm>
          <a:prstGeom prst="rect">
            <a:avLst/>
          </a:prstGeom>
          <a:noFill/>
          <a:ln w="9525">
            <a:noFill/>
          </a:ln>
        </p:spPr>
        <p:txBody>
          <a:bodyPr wrap="square">
            <a:spAutoFit/>
          </a:bodyPr>
          <a:lstStyle/>
          <a:p>
            <a:pPr indent="0" algn="l">
              <a:lnSpc>
                <a:spcPct val="90000"/>
              </a:lnSpc>
              <a:spcBef>
                <a:spcPts val="1000"/>
              </a:spcBef>
              <a:buFont typeface="Arial" panose="020B0604020202020204" pitchFamily="34" charset="0"/>
              <a:buNone/>
            </a:pPr>
            <a:r>
              <a:rPr lang="en-US" altLang="zh-CN" sz="2200" b="1" dirty="0">
                <a:ea typeface="宋体" panose="02010600030101010101" pitchFamily="2" charset="-122"/>
              </a:rPr>
              <a:t>        </a:t>
            </a:r>
            <a:r>
              <a:rPr lang="en-US" altLang="zh-CN" sz="2200" b="1" dirty="0">
                <a:uFillTx/>
                <a:latin typeface="宋体" panose="02010600030101010101" pitchFamily="2" charset="-122"/>
                <a:ea typeface="宋体" panose="02010600030101010101" pitchFamily="2" charset="-122"/>
                <a:cs typeface="宋体" panose="02010600030101010101" pitchFamily="2" charset="-122"/>
                <a:sym typeface="+mn-ea"/>
              </a:rPr>
              <a:t>模拟调制作用的实质是把各种信号的频谱搬移，使它们互不重叠地占据不同的频率范围，即信号分别依托于不同频率的载波，接收机可以分离出所需频率的信号，避免互相干扰。</a:t>
            </a:r>
            <a:endParaRPr lang="en-US" altLang="zh-CN" sz="2200" b="1" dirty="0">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dirty="0" err="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模拟调制的目的是</a:t>
            </a:r>
            <a:r>
              <a:rPr lang="en-US" altLang="zh-CN" sz="2200" b="1" dirty="0">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200" b="1" dirty="0">
              <a:solidFill>
                <a:srgbClr val="FF0000"/>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dirty="0">
                <a:uFillTx/>
                <a:latin typeface="宋体" panose="02010600030101010101" pitchFamily="2" charset="-122"/>
                <a:ea typeface="宋体" panose="02010600030101010101" pitchFamily="2" charset="-122"/>
                <a:cs typeface="宋体" panose="02010600030101010101" pitchFamily="2" charset="-122"/>
                <a:sym typeface="+mn-ea"/>
              </a:rPr>
              <a:t>（1）信道传输频率特征的需要。</a:t>
            </a:r>
            <a:endParaRPr lang="en-US" altLang="zh-CN" sz="2200" b="1" dirty="0">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dirty="0">
                <a:uFillTx/>
                <a:latin typeface="宋体" panose="02010600030101010101" pitchFamily="2" charset="-122"/>
                <a:ea typeface="宋体" panose="02010600030101010101" pitchFamily="2" charset="-122"/>
                <a:cs typeface="宋体" panose="02010600030101010101" pitchFamily="2" charset="-122"/>
                <a:sym typeface="+mn-ea"/>
              </a:rPr>
              <a:t>（2）实现信道复用。</a:t>
            </a:r>
            <a:endParaRPr lang="en-US" altLang="zh-CN" sz="2200" b="1" dirty="0">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dirty="0">
                <a:uFillTx/>
                <a:latin typeface="宋体" panose="02010600030101010101" pitchFamily="2" charset="-122"/>
                <a:ea typeface="宋体" panose="02010600030101010101" pitchFamily="2" charset="-122"/>
                <a:cs typeface="宋体" panose="02010600030101010101" pitchFamily="2" charset="-122"/>
                <a:sym typeface="+mn-ea"/>
              </a:rPr>
              <a:t>（3）改善系统的抗噪声性能，或通过调制来提高系统频带的利用率。</a:t>
            </a:r>
            <a:r>
              <a:rPr lang="en-US" sz="2200" b="1" dirty="0">
                <a:latin typeface="Times New Roman" panose="02020603050405020304" charset="0"/>
                <a:ea typeface="宋体" panose="02010600030101010101" pitchFamily="2" charset="-122"/>
                <a:sym typeface="+mn-ea"/>
              </a:rPr>
              <a:t> </a:t>
            </a:r>
            <a:r>
              <a:rPr lang="en-US" sz="2200" b="1" dirty="0">
                <a:solidFill>
                  <a:srgbClr val="00B0F0"/>
                </a:solidFill>
                <a:latin typeface="Times New Roman" panose="02020603050405020304" charset="0"/>
                <a:ea typeface="宋体" panose="02010600030101010101" pitchFamily="2" charset="-122"/>
                <a:sym typeface="+mn-ea"/>
              </a:rPr>
              <a:t> </a:t>
            </a:r>
            <a:r>
              <a:rPr lang="en-US" sz="2200" b="1" dirty="0">
                <a:solidFill>
                  <a:srgbClr val="00B0F0"/>
                </a:solidFill>
                <a:uFillTx/>
                <a:latin typeface="Times New Roman" panose="02020603050405020304" charset="0"/>
                <a:ea typeface="宋体" panose="02010600030101010101" pitchFamily="2" charset="-122"/>
                <a:sym typeface="+mn-ea"/>
              </a:rPr>
              <a:t> </a:t>
            </a:r>
            <a:endParaRPr lang="zh-CN" altLang="en-US" sz="2200" b="1" dirty="0">
              <a:solidFill>
                <a:srgbClr val="00B0F0"/>
              </a:solidFill>
              <a:uFillTx/>
              <a:ea typeface="宋体" panose="02010600030101010101" pitchFamily="2" charset="-122"/>
              <a:sym typeface="+mn-ea"/>
            </a:endParaRPr>
          </a:p>
        </p:txBody>
      </p:sp>
      <p:sp>
        <p:nvSpPr>
          <p:cNvPr id="4" name="标题 1"/>
          <p:cNvSpPr>
            <a:spLocks noGrp="1"/>
          </p:cNvSpPr>
          <p:nvPr>
            <p:ph type="title"/>
          </p:nvPr>
        </p:nvSpPr>
        <p:spPr>
          <a:xfrm>
            <a:off x="641350" y="110490"/>
            <a:ext cx="7310755" cy="1325880"/>
          </a:xfrm>
        </p:spPr>
        <p:txBody>
          <a:bodyPr/>
          <a:lstStyle/>
          <a:p>
            <a:r>
              <a:rPr lang="en-US" sz="4400" b="1" u="sng" dirty="0">
                <a:solidFill>
                  <a:srgbClr val="0563C1"/>
                </a:solidFill>
                <a:latin typeface="Times New Roman" panose="02020603050405020304" charset="0"/>
                <a:ea typeface="宋体" panose="02010600030101010101" pitchFamily="2" charset="-122"/>
                <a:sym typeface="+mn-ea"/>
              </a:rPr>
              <a:t>3.3.1.1  模拟调制</a:t>
            </a:r>
            <a:endParaRPr lang="en-US" sz="4400" b="1" u="sng" dirty="0">
              <a:solidFill>
                <a:srgbClr val="0563C1"/>
              </a:solidFill>
              <a:latin typeface="Times New Roman" panose="0202060305040502030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01040" y="1576070"/>
            <a:ext cx="10652125" cy="3858260"/>
          </a:xfrm>
          <a:prstGeom prst="rect">
            <a:avLst/>
          </a:prstGeom>
          <a:noFill/>
          <a:ln w="9525">
            <a:noFill/>
          </a:ln>
        </p:spPr>
        <p:txBody>
          <a:bodyPr wrap="square">
            <a:spAutoFit/>
          </a:bodyPr>
          <a:lstStyle/>
          <a:p>
            <a:pPr indent="0">
              <a:lnSpc>
                <a:spcPct val="90000"/>
              </a:lnSpc>
              <a:spcBef>
                <a:spcPts val="1000"/>
              </a:spcBef>
              <a:buClrTx/>
              <a:buSzTx/>
              <a:buFont typeface="Arial" panose="020B0604020202020204" pitchFamily="34" charset="0"/>
              <a:buNone/>
            </a:pPr>
            <a:r>
              <a:rPr lang="en-US" sz="2200" b="1">
                <a:solidFill>
                  <a:srgbClr val="FF0000"/>
                </a:solidFill>
                <a:ea typeface="宋体" panose="02010600030101010101" pitchFamily="2" charset="-122"/>
              </a:rPr>
              <a:t>采用不同的调制技术对系统性能将产生很大的影响。</a:t>
            </a:r>
            <a:endParaRPr lang="en-US" sz="2200" b="1">
              <a:solidFill>
                <a:srgbClr val="FF0000"/>
              </a:solidFill>
              <a:ea typeface="宋体" panose="02010600030101010101" pitchFamily="2" charset="-122"/>
            </a:endParaRPr>
          </a:p>
          <a:p>
            <a:pPr indent="0">
              <a:lnSpc>
                <a:spcPct val="90000"/>
              </a:lnSpc>
              <a:spcBef>
                <a:spcPts val="1000"/>
              </a:spcBef>
              <a:buClrTx/>
              <a:buSzTx/>
              <a:buFont typeface="Arial" panose="020B0604020202020204" pitchFamily="34" charset="0"/>
              <a:buNone/>
            </a:pPr>
            <a:r>
              <a:rPr lang="en-US" sz="2200" b="1">
                <a:ea typeface="宋体" panose="02010600030101010101" pitchFamily="2" charset="-122"/>
              </a:rPr>
              <a:t>以一个简单的正弦波       为例：</a:t>
            </a:r>
            <a:r>
              <a:rPr lang="en-US" sz="2200" b="1">
                <a:latin typeface="宋体" panose="02010600030101010101" pitchFamily="2" charset="-122"/>
                <a:ea typeface="宋体" panose="02010600030101010101" pitchFamily="2" charset="-122"/>
                <a:cs typeface="宋体" panose="02010600030101010101" pitchFamily="2" charset="-122"/>
              </a:rPr>
              <a:t>    </a:t>
            </a:r>
            <a:endParaRPr lang="en-US" sz="2200" b="1">
              <a:latin typeface="宋体" panose="02010600030101010101" pitchFamily="2" charset="-122"/>
              <a:ea typeface="宋体" panose="02010600030101010101" pitchFamily="2" charset="-122"/>
              <a:cs typeface="宋体" panose="02010600030101010101" pitchFamily="2" charset="-122"/>
            </a:endParaRPr>
          </a:p>
          <a:p>
            <a:pPr indent="0">
              <a:lnSpc>
                <a:spcPct val="90000"/>
              </a:lnSpc>
              <a:spcBef>
                <a:spcPts val="1000"/>
              </a:spcBef>
              <a:buClrTx/>
              <a:buSzTx/>
              <a:buFont typeface="Arial" panose="020B0604020202020204" pitchFamily="34" charset="0"/>
              <a:buNone/>
            </a:pPr>
            <a:r>
              <a:rPr lang="en-US" sz="2200" b="1">
                <a:latin typeface="宋体" panose="02010600030101010101" pitchFamily="2" charset="-122"/>
                <a:ea typeface="宋体" panose="02010600030101010101" pitchFamily="2" charset="-122"/>
                <a:cs typeface="宋体" panose="02010600030101010101" pitchFamily="2" charset="-122"/>
              </a:rPr>
              <a:t> </a:t>
            </a:r>
            <a:endParaRPr lang="zh-CN" sz="2200" b="1">
              <a:solidFill>
                <a:srgbClr val="00B0F0"/>
              </a:solidFill>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ea typeface="宋体" panose="02010600030101010101" pitchFamily="2" charset="-122"/>
              </a:rPr>
              <a:t>式中，正弦波</a:t>
            </a:r>
            <a:r>
              <a:rPr lang="en-US" altLang="zh-CN" sz="2200" b="1">
                <a:ea typeface="宋体" panose="02010600030101010101" pitchFamily="2" charset="-122"/>
              </a:rPr>
              <a:t>       </a:t>
            </a:r>
            <a:r>
              <a:rPr lang="zh-CN" sz="2200" b="1">
                <a:ea typeface="宋体" panose="02010600030101010101" pitchFamily="2" charset="-122"/>
              </a:rPr>
              <a:t>为载波，基于正弦波的调制技术</a:t>
            </a:r>
            <a:endParaRPr lang="zh-CN" sz="2200" b="1">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ea typeface="宋体" panose="02010600030101010101" pitchFamily="2" charset="-122"/>
              </a:rPr>
              <a:t>即对其参数幅度</a:t>
            </a:r>
            <a:r>
              <a:rPr lang="en-US" altLang="zh-CN" sz="2200" b="1">
                <a:ea typeface="宋体" panose="02010600030101010101" pitchFamily="2" charset="-122"/>
              </a:rPr>
              <a:t>      </a:t>
            </a:r>
            <a:r>
              <a:rPr lang="zh-CN" sz="2200" b="1">
                <a:ea typeface="宋体" panose="02010600030101010101" pitchFamily="2" charset="-122"/>
              </a:rPr>
              <a:t>、频率</a:t>
            </a:r>
            <a:r>
              <a:rPr lang="en-US" altLang="zh-CN" sz="2200" b="1">
                <a:ea typeface="宋体" panose="02010600030101010101" pitchFamily="2" charset="-122"/>
              </a:rPr>
              <a:t>      </a:t>
            </a:r>
            <a:r>
              <a:rPr lang="zh-CN" sz="2200" b="1">
                <a:ea typeface="宋体" panose="02010600030101010101" pitchFamily="2" charset="-122"/>
              </a:rPr>
              <a:t>和相位进行</a:t>
            </a:r>
            <a:r>
              <a:rPr lang="en-US" altLang="zh-CN" sz="2200" b="1">
                <a:ea typeface="宋体" panose="02010600030101010101" pitchFamily="2" charset="-122"/>
              </a:rPr>
              <a:t>      </a:t>
            </a:r>
            <a:r>
              <a:rPr lang="zh-CN" sz="2200" b="1">
                <a:ea typeface="宋体" panose="02010600030101010101" pitchFamily="2" charset="-122"/>
              </a:rPr>
              <a:t>相应</a:t>
            </a:r>
            <a:endParaRPr lang="zh-CN" sz="2200" b="1">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ea typeface="宋体" panose="02010600030101010101" pitchFamily="2" charset="-122"/>
              </a:rPr>
              <a:t>的调整，分别对应调制方式的</a:t>
            </a:r>
            <a:r>
              <a:rPr lang="zh-CN" sz="2200" b="1">
                <a:solidFill>
                  <a:srgbClr val="00B0F0"/>
                </a:solidFill>
                <a:ea typeface="宋体" panose="02010600030101010101" pitchFamily="2" charset="-122"/>
              </a:rPr>
              <a:t>幅度调制（AM）、</a:t>
            </a:r>
            <a:endParaRPr lang="zh-CN" sz="2200" b="1">
              <a:solidFill>
                <a:srgbClr val="00B0F0"/>
              </a:solidFill>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solidFill>
                  <a:srgbClr val="00B0F0"/>
                </a:solidFill>
                <a:ea typeface="宋体" panose="02010600030101010101" pitchFamily="2" charset="-122"/>
              </a:rPr>
              <a:t>频率调制（ FM）</a:t>
            </a:r>
            <a:r>
              <a:rPr lang="zh-CN" sz="2200" b="1">
                <a:ea typeface="宋体" panose="02010600030101010101" pitchFamily="2" charset="-122"/>
              </a:rPr>
              <a:t>和</a:t>
            </a:r>
            <a:r>
              <a:rPr lang="zh-CN" sz="2200" b="1">
                <a:solidFill>
                  <a:srgbClr val="00B0F0"/>
                </a:solidFill>
                <a:ea typeface="宋体" panose="02010600030101010101" pitchFamily="2" charset="-122"/>
              </a:rPr>
              <a:t>相位调制（PM）</a:t>
            </a:r>
            <a:r>
              <a:rPr lang="zh-CN" sz="2200" b="1">
                <a:ea typeface="宋体" panose="02010600030101010101" pitchFamily="2" charset="-122"/>
              </a:rPr>
              <a:t>。它们的已</a:t>
            </a:r>
            <a:endParaRPr lang="zh-CN" sz="2200" b="1">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ea typeface="宋体" panose="02010600030101010101" pitchFamily="2" charset="-122"/>
              </a:rPr>
              <a:t>调波也就分别称为调幅波、调频波和调相波，如图</a:t>
            </a:r>
            <a:endParaRPr lang="zh-CN" sz="2200" b="1">
              <a:ea typeface="宋体" panose="02010600030101010101" pitchFamily="2" charset="-122"/>
            </a:endParaRPr>
          </a:p>
          <a:p>
            <a:pPr indent="0">
              <a:lnSpc>
                <a:spcPct val="90000"/>
              </a:lnSpc>
              <a:spcBef>
                <a:spcPts val="1000"/>
              </a:spcBef>
              <a:buClrTx/>
              <a:buSzTx/>
              <a:buFont typeface="Arial" panose="020B0604020202020204" pitchFamily="34" charset="0"/>
              <a:buNone/>
            </a:pPr>
            <a:r>
              <a:rPr lang="zh-CN" sz="2200" b="1">
                <a:ea typeface="宋体" panose="02010600030101010101" pitchFamily="2" charset="-122"/>
              </a:rPr>
              <a:t>3-3-1所示。</a:t>
            </a:r>
            <a:endParaRPr lang="zh-CN" sz="2200" b="1">
              <a:ea typeface="宋体" panose="02010600030101010101" pitchFamily="2" charset="-122"/>
            </a:endParaRPr>
          </a:p>
        </p:txBody>
      </p:sp>
      <p:graphicFrame>
        <p:nvGraphicFramePr>
          <p:cNvPr id="3" name="对象 -2147482573"/>
          <p:cNvGraphicFramePr>
            <a:graphicFrameLocks noChangeAspect="1"/>
          </p:cNvGraphicFramePr>
          <p:nvPr/>
        </p:nvGraphicFramePr>
        <p:xfrm>
          <a:off x="3282315" y="1913255"/>
          <a:ext cx="558165" cy="443230"/>
        </p:xfrm>
        <a:graphic>
          <a:graphicData uri="http://schemas.openxmlformats.org/presentationml/2006/ole">
            <mc:AlternateContent xmlns:mc="http://schemas.openxmlformats.org/markup-compatibility/2006">
              <mc:Choice xmlns:v="urn:schemas-microsoft-com:vml" Requires="v">
                <p:oleObj spid="_x0000_s24775" name="" r:id="rId1" imgW="317500" imgH="254000" progId="Equation.DSMT4">
                  <p:embed/>
                </p:oleObj>
              </mc:Choice>
              <mc:Fallback>
                <p:oleObj name="" r:id="rId1" imgW="317500" imgH="254000" progId="Equation.DSMT4">
                  <p:embed/>
                  <p:pic>
                    <p:nvPicPr>
                      <p:cNvPr id="0" name="图片 3075"/>
                      <p:cNvPicPr/>
                      <p:nvPr/>
                    </p:nvPicPr>
                    <p:blipFill>
                      <a:blip r:embed="rId2"/>
                      <a:stretch>
                        <a:fillRect/>
                      </a:stretch>
                    </p:blipFill>
                    <p:spPr>
                      <a:xfrm>
                        <a:off x="3282315" y="1913255"/>
                        <a:ext cx="558165" cy="443230"/>
                      </a:xfrm>
                      <a:prstGeom prst="rect">
                        <a:avLst/>
                      </a:prstGeom>
                      <a:noFill/>
                      <a:ln w="9525">
                        <a:noFill/>
                        <a:miter/>
                      </a:ln>
                    </p:spPr>
                  </p:pic>
                </p:oleObj>
              </mc:Fallback>
            </mc:AlternateContent>
          </a:graphicData>
        </a:graphic>
      </p:graphicFrame>
      <p:graphicFrame>
        <p:nvGraphicFramePr>
          <p:cNvPr id="4" name="对象 -2147482572"/>
          <p:cNvGraphicFramePr>
            <a:graphicFrameLocks noChangeAspect="1"/>
          </p:cNvGraphicFramePr>
          <p:nvPr/>
        </p:nvGraphicFramePr>
        <p:xfrm>
          <a:off x="1722755" y="2305685"/>
          <a:ext cx="4213225" cy="561340"/>
        </p:xfrm>
        <a:graphic>
          <a:graphicData uri="http://schemas.openxmlformats.org/presentationml/2006/ole">
            <mc:AlternateContent xmlns:mc="http://schemas.openxmlformats.org/markup-compatibility/2006">
              <mc:Choice xmlns:v="urn:schemas-microsoft-com:vml" Requires="v">
                <p:oleObj spid="_x0000_s2" name="" r:id="rId3" imgW="1981200" imgH="279400" progId="Equation.DSMT4">
                  <p:embed/>
                </p:oleObj>
              </mc:Choice>
              <mc:Fallback>
                <p:oleObj name="" r:id="rId3" imgW="1981200" imgH="279400" progId="Equation.DSMT4">
                  <p:embed/>
                  <p:pic>
                    <p:nvPicPr>
                      <p:cNvPr id="0" name="图片 6"/>
                      <p:cNvPicPr/>
                      <p:nvPr/>
                    </p:nvPicPr>
                    <p:blipFill>
                      <a:blip r:embed="rId4"/>
                      <a:stretch>
                        <a:fillRect/>
                      </a:stretch>
                    </p:blipFill>
                    <p:spPr>
                      <a:xfrm>
                        <a:off x="1722755" y="2305685"/>
                        <a:ext cx="4213225" cy="561340"/>
                      </a:xfrm>
                      <a:prstGeom prst="rect">
                        <a:avLst/>
                      </a:prstGeom>
                      <a:noFill/>
                      <a:ln w="9525">
                        <a:noFill/>
                        <a:miter/>
                      </a:ln>
                    </p:spPr>
                  </p:pic>
                </p:oleObj>
              </mc:Fallback>
            </mc:AlternateContent>
          </a:graphicData>
        </a:graphic>
      </p:graphicFrame>
      <p:graphicFrame>
        <p:nvGraphicFramePr>
          <p:cNvPr id="8" name="对象 -2147482573"/>
          <p:cNvGraphicFramePr>
            <a:graphicFrameLocks noChangeAspect="1"/>
          </p:cNvGraphicFramePr>
          <p:nvPr/>
        </p:nvGraphicFramePr>
        <p:xfrm>
          <a:off x="2489200" y="2752725"/>
          <a:ext cx="558165" cy="443230"/>
        </p:xfrm>
        <a:graphic>
          <a:graphicData uri="http://schemas.openxmlformats.org/presentationml/2006/ole">
            <mc:AlternateContent xmlns:mc="http://schemas.openxmlformats.org/markup-compatibility/2006">
              <mc:Choice xmlns:v="urn:schemas-microsoft-com:vml" Requires="v">
                <p:oleObj spid="_x0000_s5" name="" r:id="rId5" imgW="317500" imgH="254000" progId="Equation.DSMT4">
                  <p:embed/>
                </p:oleObj>
              </mc:Choice>
              <mc:Fallback>
                <p:oleObj name="" r:id="rId5" imgW="317500" imgH="254000" progId="Equation.DSMT4">
                  <p:embed/>
                  <p:pic>
                    <p:nvPicPr>
                      <p:cNvPr id="0" name="图片 3075"/>
                      <p:cNvPicPr/>
                      <p:nvPr/>
                    </p:nvPicPr>
                    <p:blipFill>
                      <a:blip r:embed="rId2"/>
                      <a:stretch>
                        <a:fillRect/>
                      </a:stretch>
                    </p:blipFill>
                    <p:spPr>
                      <a:xfrm>
                        <a:off x="2489200" y="2752725"/>
                        <a:ext cx="558165" cy="443230"/>
                      </a:xfrm>
                      <a:prstGeom prst="rect">
                        <a:avLst/>
                      </a:prstGeom>
                      <a:noFill/>
                      <a:ln w="9525">
                        <a:noFill/>
                        <a:miter/>
                      </a:ln>
                    </p:spPr>
                  </p:pic>
                </p:oleObj>
              </mc:Fallback>
            </mc:AlternateContent>
          </a:graphicData>
        </a:graphic>
      </p:graphicFrame>
      <p:graphicFrame>
        <p:nvGraphicFramePr>
          <p:cNvPr id="6" name="对象 -2147482570"/>
          <p:cNvGraphicFramePr>
            <a:graphicFrameLocks noChangeAspect="1"/>
          </p:cNvGraphicFramePr>
          <p:nvPr/>
        </p:nvGraphicFramePr>
        <p:xfrm>
          <a:off x="2708910" y="3195955"/>
          <a:ext cx="502285" cy="476885"/>
        </p:xfrm>
        <a:graphic>
          <a:graphicData uri="http://schemas.openxmlformats.org/presentationml/2006/ole">
            <mc:AlternateContent xmlns:mc="http://schemas.openxmlformats.org/markup-compatibility/2006">
              <mc:Choice xmlns:v="urn:schemas-microsoft-com:vml" Requires="v">
                <p:oleObj spid="_x0000_s7" name="" r:id="rId6" imgW="330200" imgH="254000" progId="Equation.DSMT4">
                  <p:embed/>
                </p:oleObj>
              </mc:Choice>
              <mc:Fallback>
                <p:oleObj name="" r:id="rId6" imgW="330200" imgH="254000" progId="Equation.DSMT4">
                  <p:embed/>
                  <p:pic>
                    <p:nvPicPr>
                      <p:cNvPr id="0" name="图片 9"/>
                      <p:cNvPicPr/>
                      <p:nvPr/>
                    </p:nvPicPr>
                    <p:blipFill>
                      <a:blip r:embed="rId7"/>
                      <a:stretch>
                        <a:fillRect/>
                      </a:stretch>
                    </p:blipFill>
                    <p:spPr>
                      <a:xfrm>
                        <a:off x="2708910" y="3195955"/>
                        <a:ext cx="502285" cy="476885"/>
                      </a:xfrm>
                      <a:prstGeom prst="rect">
                        <a:avLst/>
                      </a:prstGeom>
                      <a:noFill/>
                      <a:ln w="9525">
                        <a:noFill/>
                        <a:miter/>
                      </a:ln>
                    </p:spPr>
                  </p:pic>
                </p:oleObj>
              </mc:Fallback>
            </mc:AlternateContent>
          </a:graphicData>
        </a:graphic>
      </p:graphicFrame>
      <p:graphicFrame>
        <p:nvGraphicFramePr>
          <p:cNvPr id="9" name="对象 -2147482569"/>
          <p:cNvGraphicFramePr>
            <a:graphicFrameLocks noChangeAspect="1"/>
          </p:cNvGraphicFramePr>
          <p:nvPr/>
        </p:nvGraphicFramePr>
        <p:xfrm>
          <a:off x="3997960" y="3220720"/>
          <a:ext cx="590550" cy="443230"/>
        </p:xfrm>
        <a:graphic>
          <a:graphicData uri="http://schemas.openxmlformats.org/presentationml/2006/ole">
            <mc:AlternateContent xmlns:mc="http://schemas.openxmlformats.org/markup-compatibility/2006">
              <mc:Choice xmlns:v="urn:schemas-microsoft-com:vml" Requires="v">
                <p:oleObj spid="_x0000_s10" name="" r:id="rId8" imgW="342900" imgH="254000" progId="Equation.DSMT4">
                  <p:embed/>
                </p:oleObj>
              </mc:Choice>
              <mc:Fallback>
                <p:oleObj name="" r:id="rId8" imgW="342900" imgH="254000" progId="Equation.DSMT4">
                  <p:embed/>
                  <p:pic>
                    <p:nvPicPr>
                      <p:cNvPr id="0" name="图片 10"/>
                      <p:cNvPicPr/>
                      <p:nvPr/>
                    </p:nvPicPr>
                    <p:blipFill>
                      <a:blip r:embed="rId9"/>
                      <a:stretch>
                        <a:fillRect/>
                      </a:stretch>
                    </p:blipFill>
                    <p:spPr>
                      <a:xfrm>
                        <a:off x="3997960" y="3220720"/>
                        <a:ext cx="590550" cy="443230"/>
                      </a:xfrm>
                      <a:prstGeom prst="rect">
                        <a:avLst/>
                      </a:prstGeom>
                      <a:noFill/>
                      <a:ln w="9525">
                        <a:noFill/>
                        <a:miter/>
                      </a:ln>
                    </p:spPr>
                  </p:pic>
                </p:oleObj>
              </mc:Fallback>
            </mc:AlternateContent>
          </a:graphicData>
        </a:graphic>
      </p:graphicFrame>
      <p:graphicFrame>
        <p:nvGraphicFramePr>
          <p:cNvPr id="12" name="对象 -2147482568"/>
          <p:cNvGraphicFramePr>
            <a:graphicFrameLocks noChangeAspect="1"/>
          </p:cNvGraphicFramePr>
          <p:nvPr/>
        </p:nvGraphicFramePr>
        <p:xfrm>
          <a:off x="5935980" y="3225800"/>
          <a:ext cx="542290" cy="407035"/>
        </p:xfrm>
        <a:graphic>
          <a:graphicData uri="http://schemas.openxmlformats.org/presentationml/2006/ole">
            <mc:AlternateContent xmlns:mc="http://schemas.openxmlformats.org/markup-compatibility/2006">
              <mc:Choice xmlns:v="urn:schemas-microsoft-com:vml" Requires="v">
                <p:oleObj spid="_x0000_s11" name="" r:id="rId10" imgW="342900" imgH="254000" progId="Equation.DSMT4">
                  <p:embed/>
                </p:oleObj>
              </mc:Choice>
              <mc:Fallback>
                <p:oleObj name="" r:id="rId10" imgW="342900" imgH="254000" progId="Equation.DSMT4">
                  <p:embed/>
                  <p:pic>
                    <p:nvPicPr>
                      <p:cNvPr id="0" name="图片 11"/>
                      <p:cNvPicPr/>
                      <p:nvPr/>
                    </p:nvPicPr>
                    <p:blipFill>
                      <a:blip r:embed="rId11"/>
                      <a:stretch>
                        <a:fillRect/>
                      </a:stretch>
                    </p:blipFill>
                    <p:spPr>
                      <a:xfrm>
                        <a:off x="5935980" y="3225800"/>
                        <a:ext cx="542290" cy="407035"/>
                      </a:xfrm>
                      <a:prstGeom prst="rect">
                        <a:avLst/>
                      </a:prstGeom>
                      <a:noFill/>
                      <a:ln w="9525">
                        <a:noFill/>
                        <a:miter/>
                      </a:ln>
                    </p:spPr>
                  </p:pic>
                </p:oleObj>
              </mc:Fallback>
            </mc:AlternateContent>
          </a:graphicData>
        </a:graphic>
      </p:graphicFrame>
      <p:grpSp>
        <p:nvGrpSpPr>
          <p:cNvPr id="369" name="画布 369"/>
          <p:cNvGrpSpPr/>
          <p:nvPr/>
        </p:nvGrpSpPr>
        <p:grpSpPr>
          <a:xfrm>
            <a:off x="6812915" y="1376045"/>
            <a:ext cx="5866130" cy="4105275"/>
            <a:chOff x="0" y="0"/>
            <a:chExt cx="5455920" cy="3168650"/>
          </a:xfrm>
        </p:grpSpPr>
        <p:sp>
          <p:nvSpPr>
            <p:cNvPr id="14" name="画布 369"/>
            <p:cNvSpPr/>
            <p:nvPr/>
          </p:nvSpPr>
          <p:spPr>
            <a:xfrm>
              <a:off x="0" y="0"/>
              <a:ext cx="5455920" cy="3168650"/>
            </a:xfrm>
          </p:spPr>
        </p:sp>
        <p:cxnSp>
          <p:nvCxnSpPr>
            <p:cNvPr id="407" name="直接箭头连接符 158"/>
            <p:cNvCxnSpPr/>
            <p:nvPr/>
          </p:nvCxnSpPr>
          <p:spPr>
            <a:xfrm flipV="1">
              <a:off x="539750" y="1940560"/>
              <a:ext cx="4042410" cy="7620"/>
            </a:xfrm>
            <a:prstGeom prst="straightConnector1">
              <a:avLst/>
            </a:prstGeom>
            <a:ln>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08" name="直接箭头连接符 160"/>
            <p:cNvCxnSpPr/>
            <p:nvPr/>
          </p:nvCxnSpPr>
          <p:spPr>
            <a:xfrm flipH="1">
              <a:off x="534670" y="2371725"/>
              <a:ext cx="5080" cy="692785"/>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0" name="直接箭头连接符 170"/>
            <p:cNvCxnSpPr/>
            <p:nvPr/>
          </p:nvCxnSpPr>
          <p:spPr>
            <a:xfrm flipV="1">
              <a:off x="566420" y="422275"/>
              <a:ext cx="3910965" cy="15875"/>
            </a:xfrm>
            <a:prstGeom prst="straightConnector1">
              <a:avLst/>
            </a:prstGeom>
            <a:ln>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11" name="直接箭头连接符 171"/>
            <p:cNvCxnSpPr/>
            <p:nvPr/>
          </p:nvCxnSpPr>
          <p:spPr>
            <a:xfrm>
              <a:off x="555625" y="1174750"/>
              <a:ext cx="3976370" cy="635"/>
            </a:xfrm>
            <a:prstGeom prst="straightConnector1">
              <a:avLst/>
            </a:prstGeom>
            <a:ln>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12" name="直接箭头连接符 172"/>
            <p:cNvCxnSpPr/>
            <p:nvPr/>
          </p:nvCxnSpPr>
          <p:spPr>
            <a:xfrm flipV="1">
              <a:off x="539750" y="2736850"/>
              <a:ext cx="4100830" cy="5080"/>
            </a:xfrm>
            <a:prstGeom prst="straightConnector1">
              <a:avLst/>
            </a:prstGeom>
            <a:ln>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13" name="直接箭头连接符 173"/>
            <p:cNvCxnSpPr/>
            <p:nvPr/>
          </p:nvCxnSpPr>
          <p:spPr>
            <a:xfrm flipH="1">
              <a:off x="560705" y="154305"/>
              <a:ext cx="9525" cy="50800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4" name="直接箭头连接符 174"/>
            <p:cNvCxnSpPr/>
            <p:nvPr/>
          </p:nvCxnSpPr>
          <p:spPr>
            <a:xfrm flipH="1">
              <a:off x="560705" y="833755"/>
              <a:ext cx="9525" cy="605155"/>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5" name="直接箭头连接符 175"/>
            <p:cNvCxnSpPr/>
            <p:nvPr/>
          </p:nvCxnSpPr>
          <p:spPr>
            <a:xfrm flipH="1">
              <a:off x="534670" y="1565275"/>
              <a:ext cx="5080" cy="70866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16" name="文本框 176"/>
            <p:cNvSpPr txBox="1"/>
            <p:nvPr/>
          </p:nvSpPr>
          <p:spPr>
            <a:xfrm>
              <a:off x="271780" y="93345"/>
              <a:ext cx="210185" cy="3486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V</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17" name="文本框 177"/>
            <p:cNvSpPr txBox="1"/>
            <p:nvPr/>
          </p:nvSpPr>
          <p:spPr>
            <a:xfrm>
              <a:off x="274955" y="2376805"/>
              <a:ext cx="210185" cy="3486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V</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18" name="文本框 178"/>
            <p:cNvSpPr txBox="1"/>
            <p:nvPr/>
          </p:nvSpPr>
          <p:spPr>
            <a:xfrm>
              <a:off x="274955" y="1551305"/>
              <a:ext cx="210185" cy="3486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V</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19" name="文本框 179"/>
            <p:cNvSpPr txBox="1"/>
            <p:nvPr/>
          </p:nvSpPr>
          <p:spPr>
            <a:xfrm>
              <a:off x="287655" y="802005"/>
              <a:ext cx="210185" cy="3486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V</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0" name="文本框 180"/>
            <p:cNvSpPr txBox="1"/>
            <p:nvPr/>
          </p:nvSpPr>
          <p:spPr>
            <a:xfrm>
              <a:off x="4466590" y="363220"/>
              <a:ext cx="209550" cy="28448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t</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1" name="文本框 181"/>
            <p:cNvSpPr txBox="1"/>
            <p:nvPr/>
          </p:nvSpPr>
          <p:spPr>
            <a:xfrm>
              <a:off x="4684395" y="2724785"/>
              <a:ext cx="209550" cy="28448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t</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2" name="文本框 182"/>
            <p:cNvSpPr txBox="1"/>
            <p:nvPr/>
          </p:nvSpPr>
          <p:spPr>
            <a:xfrm>
              <a:off x="4587875" y="1954530"/>
              <a:ext cx="209550" cy="28448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t</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3" name="文本框 183"/>
            <p:cNvSpPr txBox="1"/>
            <p:nvPr/>
          </p:nvSpPr>
          <p:spPr>
            <a:xfrm>
              <a:off x="4557395" y="1156970"/>
              <a:ext cx="209550" cy="28448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t</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4" name="任意多边形 203"/>
            <p:cNvSpPr/>
            <p:nvPr/>
          </p:nvSpPr>
          <p:spPr>
            <a:xfrm>
              <a:off x="566420" y="321310"/>
              <a:ext cx="3347085" cy="248920"/>
            </a:xfrm>
            <a:custGeom>
              <a:avLst/>
              <a:gdLst>
                <a:gd name="connisteX0" fmla="*/ 0 w 3347387"/>
                <a:gd name="connsiteY0" fmla="*/ 116840 h 248954"/>
                <a:gd name="connisteX1" fmla="*/ 222250 w 3347387"/>
                <a:gd name="connsiteY1" fmla="*/ 0 h 248954"/>
                <a:gd name="connisteX2" fmla="*/ 476250 w 3347387"/>
                <a:gd name="connsiteY2" fmla="*/ 116840 h 248954"/>
                <a:gd name="connisteX3" fmla="*/ 698500 w 3347387"/>
                <a:gd name="connsiteY3" fmla="*/ 233045 h 248954"/>
                <a:gd name="connisteX4" fmla="*/ 930910 w 3347387"/>
                <a:gd name="connsiteY4" fmla="*/ 116840 h 248954"/>
                <a:gd name="connisteX5" fmla="*/ 1169035 w 3347387"/>
                <a:gd name="connsiteY5" fmla="*/ 15875 h 248954"/>
                <a:gd name="connisteX6" fmla="*/ 1397000 w 3347387"/>
                <a:gd name="connsiteY6" fmla="*/ 121920 h 248954"/>
                <a:gd name="connisteX7" fmla="*/ 1640205 w 3347387"/>
                <a:gd name="connsiteY7" fmla="*/ 243840 h 248954"/>
                <a:gd name="connisteX8" fmla="*/ 1867535 w 3347387"/>
                <a:gd name="connsiteY8" fmla="*/ 121920 h 248954"/>
                <a:gd name="connisteX9" fmla="*/ 2127250 w 3347387"/>
                <a:gd name="connsiteY9" fmla="*/ 15875 h 248954"/>
                <a:gd name="connisteX10" fmla="*/ 2365375 w 3347387"/>
                <a:gd name="connsiteY10" fmla="*/ 127000 h 248954"/>
                <a:gd name="connisteX11" fmla="*/ 2581910 w 3347387"/>
                <a:gd name="connsiteY11" fmla="*/ 248920 h 248954"/>
                <a:gd name="connisteX12" fmla="*/ 2825750 w 3347387"/>
                <a:gd name="connsiteY12" fmla="*/ 116840 h 248954"/>
                <a:gd name="connisteX13" fmla="*/ 3063875 w 3347387"/>
                <a:gd name="connsiteY13" fmla="*/ 15875 h 248954"/>
                <a:gd name="connisteX14" fmla="*/ 3317875 w 3347387"/>
                <a:gd name="connsiteY14" fmla="*/ 116840 h 248954"/>
                <a:gd name="connisteX15" fmla="*/ 3333750 w 3347387"/>
                <a:gd name="connsiteY15" fmla="*/ 116840 h 24895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Lst>
              <a:rect l="l" t="t" r="r" b="b"/>
              <a:pathLst>
                <a:path w="3347387" h="248954">
                  <a:moveTo>
                    <a:pt x="0" y="116840"/>
                  </a:moveTo>
                  <a:cubicBezTo>
                    <a:pt x="39370" y="91440"/>
                    <a:pt x="127000" y="0"/>
                    <a:pt x="222250" y="0"/>
                  </a:cubicBezTo>
                  <a:cubicBezTo>
                    <a:pt x="317500" y="0"/>
                    <a:pt x="381000" y="70485"/>
                    <a:pt x="476250" y="116840"/>
                  </a:cubicBezTo>
                  <a:cubicBezTo>
                    <a:pt x="571500" y="163195"/>
                    <a:pt x="607695" y="233045"/>
                    <a:pt x="698500" y="233045"/>
                  </a:cubicBezTo>
                  <a:cubicBezTo>
                    <a:pt x="789305" y="233045"/>
                    <a:pt x="836930" y="160020"/>
                    <a:pt x="930910" y="116840"/>
                  </a:cubicBezTo>
                  <a:cubicBezTo>
                    <a:pt x="1024890" y="73660"/>
                    <a:pt x="1075690" y="14605"/>
                    <a:pt x="1169035" y="15875"/>
                  </a:cubicBezTo>
                  <a:cubicBezTo>
                    <a:pt x="1262380" y="17145"/>
                    <a:pt x="1303020" y="76200"/>
                    <a:pt x="1397000" y="121920"/>
                  </a:cubicBezTo>
                  <a:cubicBezTo>
                    <a:pt x="1490980" y="167640"/>
                    <a:pt x="1546225" y="243840"/>
                    <a:pt x="1640205" y="243840"/>
                  </a:cubicBezTo>
                  <a:cubicBezTo>
                    <a:pt x="1734185" y="243840"/>
                    <a:pt x="1770380" y="167640"/>
                    <a:pt x="1867535" y="121920"/>
                  </a:cubicBezTo>
                  <a:cubicBezTo>
                    <a:pt x="1964690" y="76200"/>
                    <a:pt x="2027555" y="14605"/>
                    <a:pt x="2127250" y="15875"/>
                  </a:cubicBezTo>
                  <a:cubicBezTo>
                    <a:pt x="2226945" y="17145"/>
                    <a:pt x="2274570" y="80645"/>
                    <a:pt x="2365375" y="127000"/>
                  </a:cubicBezTo>
                  <a:cubicBezTo>
                    <a:pt x="2456180" y="173355"/>
                    <a:pt x="2489835" y="250825"/>
                    <a:pt x="2581910" y="248920"/>
                  </a:cubicBezTo>
                  <a:cubicBezTo>
                    <a:pt x="2673985" y="247015"/>
                    <a:pt x="2729230" y="163195"/>
                    <a:pt x="2825750" y="116840"/>
                  </a:cubicBezTo>
                  <a:cubicBezTo>
                    <a:pt x="2922270" y="70485"/>
                    <a:pt x="2965450" y="15875"/>
                    <a:pt x="3063875" y="15875"/>
                  </a:cubicBezTo>
                  <a:cubicBezTo>
                    <a:pt x="3162300" y="15875"/>
                    <a:pt x="3263900" y="96520"/>
                    <a:pt x="3317875" y="116840"/>
                  </a:cubicBezTo>
                  <a:cubicBezTo>
                    <a:pt x="3371850" y="137160"/>
                    <a:pt x="3335655" y="118745"/>
                    <a:pt x="3333750" y="11684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25" name="任意多边形 206"/>
            <p:cNvSpPr/>
            <p:nvPr/>
          </p:nvSpPr>
          <p:spPr>
            <a:xfrm rot="10800000">
              <a:off x="540385" y="2058035"/>
              <a:ext cx="3347085" cy="248920"/>
            </a:xfrm>
            <a:custGeom>
              <a:avLst/>
              <a:gdLst>
                <a:gd name="connisteX0" fmla="*/ 0 w 3347387"/>
                <a:gd name="connsiteY0" fmla="*/ 116840 h 248954"/>
                <a:gd name="connisteX1" fmla="*/ 222250 w 3347387"/>
                <a:gd name="connsiteY1" fmla="*/ 0 h 248954"/>
                <a:gd name="connisteX2" fmla="*/ 476250 w 3347387"/>
                <a:gd name="connsiteY2" fmla="*/ 116840 h 248954"/>
                <a:gd name="connisteX3" fmla="*/ 698500 w 3347387"/>
                <a:gd name="connsiteY3" fmla="*/ 233045 h 248954"/>
                <a:gd name="connisteX4" fmla="*/ 930910 w 3347387"/>
                <a:gd name="connsiteY4" fmla="*/ 116840 h 248954"/>
                <a:gd name="connisteX5" fmla="*/ 1169035 w 3347387"/>
                <a:gd name="connsiteY5" fmla="*/ 15875 h 248954"/>
                <a:gd name="connisteX6" fmla="*/ 1397000 w 3347387"/>
                <a:gd name="connsiteY6" fmla="*/ 121920 h 248954"/>
                <a:gd name="connisteX7" fmla="*/ 1640205 w 3347387"/>
                <a:gd name="connsiteY7" fmla="*/ 243840 h 248954"/>
                <a:gd name="connisteX8" fmla="*/ 1867535 w 3347387"/>
                <a:gd name="connsiteY8" fmla="*/ 121920 h 248954"/>
                <a:gd name="connisteX9" fmla="*/ 2127250 w 3347387"/>
                <a:gd name="connsiteY9" fmla="*/ 15875 h 248954"/>
                <a:gd name="connisteX10" fmla="*/ 2365375 w 3347387"/>
                <a:gd name="connsiteY10" fmla="*/ 127000 h 248954"/>
                <a:gd name="connisteX11" fmla="*/ 2581910 w 3347387"/>
                <a:gd name="connsiteY11" fmla="*/ 248920 h 248954"/>
                <a:gd name="connisteX12" fmla="*/ 2825750 w 3347387"/>
                <a:gd name="connsiteY12" fmla="*/ 116840 h 248954"/>
                <a:gd name="connisteX13" fmla="*/ 3063875 w 3347387"/>
                <a:gd name="connsiteY13" fmla="*/ 15875 h 248954"/>
                <a:gd name="connisteX14" fmla="*/ 3317875 w 3347387"/>
                <a:gd name="connsiteY14" fmla="*/ 116840 h 248954"/>
                <a:gd name="connisteX15" fmla="*/ 3333750 w 3347387"/>
                <a:gd name="connsiteY15" fmla="*/ 116840 h 24895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Lst>
              <a:rect l="l" t="t" r="r" b="b"/>
              <a:pathLst>
                <a:path w="3347387" h="248954">
                  <a:moveTo>
                    <a:pt x="0" y="116840"/>
                  </a:moveTo>
                  <a:cubicBezTo>
                    <a:pt x="39370" y="91440"/>
                    <a:pt x="127000" y="0"/>
                    <a:pt x="222250" y="0"/>
                  </a:cubicBezTo>
                  <a:cubicBezTo>
                    <a:pt x="317500" y="0"/>
                    <a:pt x="381000" y="70485"/>
                    <a:pt x="476250" y="116840"/>
                  </a:cubicBezTo>
                  <a:cubicBezTo>
                    <a:pt x="571500" y="163195"/>
                    <a:pt x="607695" y="233045"/>
                    <a:pt x="698500" y="233045"/>
                  </a:cubicBezTo>
                  <a:cubicBezTo>
                    <a:pt x="789305" y="233045"/>
                    <a:pt x="836930" y="160020"/>
                    <a:pt x="930910" y="116840"/>
                  </a:cubicBezTo>
                  <a:cubicBezTo>
                    <a:pt x="1024890" y="73660"/>
                    <a:pt x="1075690" y="14605"/>
                    <a:pt x="1169035" y="15875"/>
                  </a:cubicBezTo>
                  <a:cubicBezTo>
                    <a:pt x="1262380" y="17145"/>
                    <a:pt x="1303020" y="76200"/>
                    <a:pt x="1397000" y="121920"/>
                  </a:cubicBezTo>
                  <a:cubicBezTo>
                    <a:pt x="1490980" y="167640"/>
                    <a:pt x="1546225" y="243840"/>
                    <a:pt x="1640205" y="243840"/>
                  </a:cubicBezTo>
                  <a:cubicBezTo>
                    <a:pt x="1734185" y="243840"/>
                    <a:pt x="1770380" y="167640"/>
                    <a:pt x="1867535" y="121920"/>
                  </a:cubicBezTo>
                  <a:cubicBezTo>
                    <a:pt x="1964690" y="76200"/>
                    <a:pt x="2027555" y="14605"/>
                    <a:pt x="2127250" y="15875"/>
                  </a:cubicBezTo>
                  <a:cubicBezTo>
                    <a:pt x="2226945" y="17145"/>
                    <a:pt x="2274570" y="80645"/>
                    <a:pt x="2365375" y="127000"/>
                  </a:cubicBezTo>
                  <a:cubicBezTo>
                    <a:pt x="2456180" y="173355"/>
                    <a:pt x="2489835" y="250825"/>
                    <a:pt x="2581910" y="248920"/>
                  </a:cubicBezTo>
                  <a:cubicBezTo>
                    <a:pt x="2673985" y="247015"/>
                    <a:pt x="2729230" y="163195"/>
                    <a:pt x="2825750" y="116840"/>
                  </a:cubicBezTo>
                  <a:cubicBezTo>
                    <a:pt x="2922270" y="70485"/>
                    <a:pt x="2965450" y="15875"/>
                    <a:pt x="3063875" y="15875"/>
                  </a:cubicBezTo>
                  <a:cubicBezTo>
                    <a:pt x="3162300" y="15875"/>
                    <a:pt x="3263900" y="96520"/>
                    <a:pt x="3317875" y="116840"/>
                  </a:cubicBezTo>
                  <a:cubicBezTo>
                    <a:pt x="3371850" y="137160"/>
                    <a:pt x="3335655" y="118745"/>
                    <a:pt x="3333750" y="116840"/>
                  </a:cubicBezTo>
                </a:path>
              </a:pathLst>
            </a:cu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sp>
        <p:sp>
          <p:nvSpPr>
            <p:cNvPr id="426" name="任意多边形 207"/>
            <p:cNvSpPr/>
            <p:nvPr/>
          </p:nvSpPr>
          <p:spPr>
            <a:xfrm>
              <a:off x="538480" y="1597660"/>
              <a:ext cx="3347085" cy="248920"/>
            </a:xfrm>
            <a:custGeom>
              <a:avLst/>
              <a:gdLst>
                <a:gd name="connisteX0" fmla="*/ 0 w 3347387"/>
                <a:gd name="connsiteY0" fmla="*/ 116840 h 248954"/>
                <a:gd name="connisteX1" fmla="*/ 222250 w 3347387"/>
                <a:gd name="connsiteY1" fmla="*/ 0 h 248954"/>
                <a:gd name="connisteX2" fmla="*/ 476250 w 3347387"/>
                <a:gd name="connsiteY2" fmla="*/ 116840 h 248954"/>
                <a:gd name="connisteX3" fmla="*/ 698500 w 3347387"/>
                <a:gd name="connsiteY3" fmla="*/ 233045 h 248954"/>
                <a:gd name="connisteX4" fmla="*/ 930910 w 3347387"/>
                <a:gd name="connsiteY4" fmla="*/ 116840 h 248954"/>
                <a:gd name="connisteX5" fmla="*/ 1169035 w 3347387"/>
                <a:gd name="connsiteY5" fmla="*/ 15875 h 248954"/>
                <a:gd name="connisteX6" fmla="*/ 1397000 w 3347387"/>
                <a:gd name="connsiteY6" fmla="*/ 121920 h 248954"/>
                <a:gd name="connisteX7" fmla="*/ 1640205 w 3347387"/>
                <a:gd name="connsiteY7" fmla="*/ 243840 h 248954"/>
                <a:gd name="connisteX8" fmla="*/ 1867535 w 3347387"/>
                <a:gd name="connsiteY8" fmla="*/ 121920 h 248954"/>
                <a:gd name="connisteX9" fmla="*/ 2127250 w 3347387"/>
                <a:gd name="connsiteY9" fmla="*/ 15875 h 248954"/>
                <a:gd name="connisteX10" fmla="*/ 2365375 w 3347387"/>
                <a:gd name="connsiteY10" fmla="*/ 127000 h 248954"/>
                <a:gd name="connisteX11" fmla="*/ 2581910 w 3347387"/>
                <a:gd name="connsiteY11" fmla="*/ 248920 h 248954"/>
                <a:gd name="connisteX12" fmla="*/ 2825750 w 3347387"/>
                <a:gd name="connsiteY12" fmla="*/ 116840 h 248954"/>
                <a:gd name="connisteX13" fmla="*/ 3063875 w 3347387"/>
                <a:gd name="connsiteY13" fmla="*/ 15875 h 248954"/>
                <a:gd name="connisteX14" fmla="*/ 3317875 w 3347387"/>
                <a:gd name="connsiteY14" fmla="*/ 116840 h 248954"/>
                <a:gd name="connisteX15" fmla="*/ 3333750 w 3347387"/>
                <a:gd name="connsiteY15" fmla="*/ 116840 h 24895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Lst>
              <a:rect l="l" t="t" r="r" b="b"/>
              <a:pathLst>
                <a:path w="3347387" h="248954">
                  <a:moveTo>
                    <a:pt x="0" y="116840"/>
                  </a:moveTo>
                  <a:cubicBezTo>
                    <a:pt x="39370" y="91440"/>
                    <a:pt x="127000" y="0"/>
                    <a:pt x="222250" y="0"/>
                  </a:cubicBezTo>
                  <a:cubicBezTo>
                    <a:pt x="317500" y="0"/>
                    <a:pt x="381000" y="70485"/>
                    <a:pt x="476250" y="116840"/>
                  </a:cubicBezTo>
                  <a:cubicBezTo>
                    <a:pt x="571500" y="163195"/>
                    <a:pt x="607695" y="233045"/>
                    <a:pt x="698500" y="233045"/>
                  </a:cubicBezTo>
                  <a:cubicBezTo>
                    <a:pt x="789305" y="233045"/>
                    <a:pt x="836930" y="160020"/>
                    <a:pt x="930910" y="116840"/>
                  </a:cubicBezTo>
                  <a:cubicBezTo>
                    <a:pt x="1024890" y="73660"/>
                    <a:pt x="1075690" y="14605"/>
                    <a:pt x="1169035" y="15875"/>
                  </a:cubicBezTo>
                  <a:cubicBezTo>
                    <a:pt x="1262380" y="17145"/>
                    <a:pt x="1303020" y="76200"/>
                    <a:pt x="1397000" y="121920"/>
                  </a:cubicBezTo>
                  <a:cubicBezTo>
                    <a:pt x="1490980" y="167640"/>
                    <a:pt x="1546225" y="243840"/>
                    <a:pt x="1640205" y="243840"/>
                  </a:cubicBezTo>
                  <a:cubicBezTo>
                    <a:pt x="1734185" y="243840"/>
                    <a:pt x="1770380" y="167640"/>
                    <a:pt x="1867535" y="121920"/>
                  </a:cubicBezTo>
                  <a:cubicBezTo>
                    <a:pt x="1964690" y="76200"/>
                    <a:pt x="2027555" y="14605"/>
                    <a:pt x="2127250" y="15875"/>
                  </a:cubicBezTo>
                  <a:cubicBezTo>
                    <a:pt x="2226945" y="17145"/>
                    <a:pt x="2274570" y="80645"/>
                    <a:pt x="2365375" y="127000"/>
                  </a:cubicBezTo>
                  <a:cubicBezTo>
                    <a:pt x="2456180" y="173355"/>
                    <a:pt x="2489835" y="250825"/>
                    <a:pt x="2581910" y="248920"/>
                  </a:cubicBezTo>
                  <a:cubicBezTo>
                    <a:pt x="2673985" y="247015"/>
                    <a:pt x="2729230" y="163195"/>
                    <a:pt x="2825750" y="116840"/>
                  </a:cubicBezTo>
                  <a:cubicBezTo>
                    <a:pt x="2922270" y="70485"/>
                    <a:pt x="2965450" y="15875"/>
                    <a:pt x="3063875" y="15875"/>
                  </a:cubicBezTo>
                  <a:cubicBezTo>
                    <a:pt x="3162300" y="15875"/>
                    <a:pt x="3263900" y="96520"/>
                    <a:pt x="3317875" y="116840"/>
                  </a:cubicBezTo>
                  <a:cubicBezTo>
                    <a:pt x="3371850" y="137160"/>
                    <a:pt x="3335655" y="118745"/>
                    <a:pt x="3333750" y="116840"/>
                  </a:cubicBezTo>
                </a:path>
              </a:pathLst>
            </a:cu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sp>
        <p:sp>
          <p:nvSpPr>
            <p:cNvPr id="427" name="任意多边形 208"/>
            <p:cNvSpPr/>
            <p:nvPr/>
          </p:nvSpPr>
          <p:spPr>
            <a:xfrm>
              <a:off x="539750" y="1597025"/>
              <a:ext cx="3333750" cy="698500"/>
            </a:xfrm>
            <a:custGeom>
              <a:avLst/>
              <a:gdLst>
                <a:gd name="connisteX0" fmla="*/ 0 w 3334044"/>
                <a:gd name="connsiteY0" fmla="*/ 354334 h 698570"/>
                <a:gd name="connisteX1" fmla="*/ 58420 w 3334044"/>
                <a:gd name="connsiteY1" fmla="*/ 63504 h 698570"/>
                <a:gd name="connisteX2" fmla="*/ 79375 w 3334044"/>
                <a:gd name="connsiteY2" fmla="*/ 613414 h 698570"/>
                <a:gd name="connisteX3" fmla="*/ 142875 w 3334044"/>
                <a:gd name="connsiteY3" fmla="*/ 15879 h 698570"/>
                <a:gd name="connisteX4" fmla="*/ 185420 w 3334044"/>
                <a:gd name="connsiteY4" fmla="*/ 671834 h 698570"/>
                <a:gd name="connisteX5" fmla="*/ 238125 w 3334044"/>
                <a:gd name="connsiteY5" fmla="*/ 4 h 698570"/>
                <a:gd name="connisteX6" fmla="*/ 259080 w 3334044"/>
                <a:gd name="connsiteY6" fmla="*/ 682629 h 698570"/>
                <a:gd name="connisteX7" fmla="*/ 333375 w 3334044"/>
                <a:gd name="connsiteY7" fmla="*/ 41914 h 698570"/>
                <a:gd name="connisteX8" fmla="*/ 344170 w 3334044"/>
                <a:gd name="connsiteY8" fmla="*/ 687709 h 698570"/>
                <a:gd name="connisteX9" fmla="*/ 412750 w 3334044"/>
                <a:gd name="connsiteY9" fmla="*/ 89539 h 698570"/>
                <a:gd name="connisteX10" fmla="*/ 439420 w 3334044"/>
                <a:gd name="connsiteY10" fmla="*/ 624209 h 698570"/>
                <a:gd name="connisteX11" fmla="*/ 481330 w 3334044"/>
                <a:gd name="connsiteY11" fmla="*/ 137164 h 698570"/>
                <a:gd name="connisteX12" fmla="*/ 534670 w 3334044"/>
                <a:gd name="connsiteY12" fmla="*/ 555629 h 698570"/>
                <a:gd name="connisteX13" fmla="*/ 550545 w 3334044"/>
                <a:gd name="connsiteY13" fmla="*/ 174629 h 698570"/>
                <a:gd name="connisteX14" fmla="*/ 603250 w 3334044"/>
                <a:gd name="connsiteY14" fmla="*/ 523879 h 698570"/>
                <a:gd name="connisteX15" fmla="*/ 624205 w 3334044"/>
                <a:gd name="connsiteY15" fmla="*/ 216539 h 698570"/>
                <a:gd name="connisteX16" fmla="*/ 666750 w 3334044"/>
                <a:gd name="connsiteY16" fmla="*/ 497209 h 698570"/>
                <a:gd name="connisteX17" fmla="*/ 703580 w 3334044"/>
                <a:gd name="connsiteY17" fmla="*/ 227334 h 698570"/>
                <a:gd name="connisteX18" fmla="*/ 735330 w 3334044"/>
                <a:gd name="connsiteY18" fmla="*/ 449584 h 698570"/>
                <a:gd name="connisteX19" fmla="*/ 782955 w 3334044"/>
                <a:gd name="connsiteY19" fmla="*/ 216539 h 698570"/>
                <a:gd name="connisteX20" fmla="*/ 820420 w 3334044"/>
                <a:gd name="connsiteY20" fmla="*/ 486414 h 698570"/>
                <a:gd name="connisteX21" fmla="*/ 852170 w 3334044"/>
                <a:gd name="connsiteY21" fmla="*/ 174629 h 698570"/>
                <a:gd name="connisteX22" fmla="*/ 909955 w 3334044"/>
                <a:gd name="connsiteY22" fmla="*/ 534039 h 698570"/>
                <a:gd name="connisteX23" fmla="*/ 925830 w 3334044"/>
                <a:gd name="connsiteY23" fmla="*/ 116209 h 698570"/>
                <a:gd name="connisteX24" fmla="*/ 1000125 w 3334044"/>
                <a:gd name="connsiteY24" fmla="*/ 597539 h 698570"/>
                <a:gd name="connisteX25" fmla="*/ 1010920 w 3334044"/>
                <a:gd name="connsiteY25" fmla="*/ 79379 h 698570"/>
                <a:gd name="connisteX26" fmla="*/ 1079500 w 3334044"/>
                <a:gd name="connsiteY26" fmla="*/ 645164 h 698570"/>
                <a:gd name="connisteX27" fmla="*/ 1090295 w 3334044"/>
                <a:gd name="connsiteY27" fmla="*/ 47629 h 698570"/>
                <a:gd name="connisteX28" fmla="*/ 1169670 w 3334044"/>
                <a:gd name="connsiteY28" fmla="*/ 687709 h 698570"/>
                <a:gd name="connisteX29" fmla="*/ 1169670 w 3334044"/>
                <a:gd name="connsiteY29" fmla="*/ 10164 h 698570"/>
                <a:gd name="connisteX30" fmla="*/ 1254125 w 3334044"/>
                <a:gd name="connsiteY30" fmla="*/ 698504 h 698570"/>
                <a:gd name="connisteX31" fmla="*/ 1270000 w 3334044"/>
                <a:gd name="connsiteY31" fmla="*/ 47629 h 698570"/>
                <a:gd name="connisteX32" fmla="*/ 1360170 w 3334044"/>
                <a:gd name="connsiteY32" fmla="*/ 666754 h 698570"/>
                <a:gd name="connisteX33" fmla="*/ 1360170 w 3334044"/>
                <a:gd name="connsiteY33" fmla="*/ 95254 h 698570"/>
                <a:gd name="connisteX34" fmla="*/ 1449705 w 3334044"/>
                <a:gd name="connsiteY34" fmla="*/ 603254 h 698570"/>
                <a:gd name="connisteX35" fmla="*/ 1449705 w 3334044"/>
                <a:gd name="connsiteY35" fmla="*/ 158754 h 698570"/>
                <a:gd name="connisteX36" fmla="*/ 1534795 w 3334044"/>
                <a:gd name="connsiteY36" fmla="*/ 549914 h 698570"/>
                <a:gd name="connisteX37" fmla="*/ 1555750 w 3334044"/>
                <a:gd name="connsiteY37" fmla="*/ 222254 h 698570"/>
                <a:gd name="connisteX38" fmla="*/ 1608455 w 3334044"/>
                <a:gd name="connsiteY38" fmla="*/ 492129 h 698570"/>
                <a:gd name="connisteX39" fmla="*/ 1635125 w 3334044"/>
                <a:gd name="connsiteY39" fmla="*/ 254004 h 698570"/>
                <a:gd name="connisteX40" fmla="*/ 1661795 w 3334044"/>
                <a:gd name="connsiteY40" fmla="*/ 470539 h 698570"/>
                <a:gd name="connisteX41" fmla="*/ 1693545 w 3334044"/>
                <a:gd name="connsiteY41" fmla="*/ 238129 h 698570"/>
                <a:gd name="connisteX42" fmla="*/ 1746250 w 3334044"/>
                <a:gd name="connsiteY42" fmla="*/ 465459 h 698570"/>
                <a:gd name="connisteX43" fmla="*/ 1778000 w 3334044"/>
                <a:gd name="connsiteY43" fmla="*/ 190504 h 698570"/>
                <a:gd name="connisteX44" fmla="*/ 1820545 w 3334044"/>
                <a:gd name="connsiteY44" fmla="*/ 502289 h 698570"/>
                <a:gd name="connisteX45" fmla="*/ 1857375 w 3334044"/>
                <a:gd name="connsiteY45" fmla="*/ 137164 h 698570"/>
                <a:gd name="connisteX46" fmla="*/ 1910080 w 3334044"/>
                <a:gd name="connsiteY46" fmla="*/ 576584 h 698570"/>
                <a:gd name="connisteX47" fmla="*/ 1931670 w 3334044"/>
                <a:gd name="connsiteY47" fmla="*/ 100334 h 698570"/>
                <a:gd name="connisteX48" fmla="*/ 1984375 w 3334044"/>
                <a:gd name="connsiteY48" fmla="*/ 613414 h 698570"/>
                <a:gd name="connisteX49" fmla="*/ 2005330 w 3334044"/>
                <a:gd name="connsiteY49" fmla="*/ 36834 h 698570"/>
                <a:gd name="connisteX50" fmla="*/ 2063750 w 3334044"/>
                <a:gd name="connsiteY50" fmla="*/ 655959 h 698570"/>
                <a:gd name="connisteX51" fmla="*/ 2095500 w 3334044"/>
                <a:gd name="connsiteY51" fmla="*/ 15879 h 698570"/>
                <a:gd name="connisteX52" fmla="*/ 2148205 w 3334044"/>
                <a:gd name="connsiteY52" fmla="*/ 698504 h 698570"/>
                <a:gd name="connisteX53" fmla="*/ 2169795 w 3334044"/>
                <a:gd name="connsiteY53" fmla="*/ 15879 h 698570"/>
                <a:gd name="connisteX54" fmla="*/ 2227580 w 3334044"/>
                <a:gd name="connsiteY54" fmla="*/ 687709 h 698570"/>
                <a:gd name="connisteX55" fmla="*/ 2265045 w 3334044"/>
                <a:gd name="connsiteY55" fmla="*/ 63504 h 698570"/>
                <a:gd name="connisteX56" fmla="*/ 2328545 w 3334044"/>
                <a:gd name="connsiteY56" fmla="*/ 655959 h 698570"/>
                <a:gd name="connisteX57" fmla="*/ 2360295 w 3334044"/>
                <a:gd name="connsiteY57" fmla="*/ 116209 h 698570"/>
                <a:gd name="connisteX58" fmla="*/ 2407920 w 3334044"/>
                <a:gd name="connsiteY58" fmla="*/ 592459 h 698570"/>
                <a:gd name="connisteX59" fmla="*/ 2433955 w 3334044"/>
                <a:gd name="connsiteY59" fmla="*/ 179709 h 698570"/>
                <a:gd name="connisteX60" fmla="*/ 2481580 w 3334044"/>
                <a:gd name="connsiteY60" fmla="*/ 544834 h 698570"/>
                <a:gd name="connisteX61" fmla="*/ 2508250 w 3334044"/>
                <a:gd name="connsiteY61" fmla="*/ 232414 h 698570"/>
                <a:gd name="connisteX62" fmla="*/ 2566670 w 3334044"/>
                <a:gd name="connsiteY62" fmla="*/ 502289 h 698570"/>
                <a:gd name="connisteX63" fmla="*/ 2576830 w 3334044"/>
                <a:gd name="connsiteY63" fmla="*/ 254004 h 698570"/>
                <a:gd name="connisteX64" fmla="*/ 2640330 w 3334044"/>
                <a:gd name="connsiteY64" fmla="*/ 476254 h 698570"/>
                <a:gd name="connisteX65" fmla="*/ 2656205 w 3334044"/>
                <a:gd name="connsiteY65" fmla="*/ 238129 h 698570"/>
                <a:gd name="connisteX66" fmla="*/ 2730500 w 3334044"/>
                <a:gd name="connsiteY66" fmla="*/ 513084 h 698570"/>
                <a:gd name="connisteX67" fmla="*/ 2714625 w 3334044"/>
                <a:gd name="connsiteY67" fmla="*/ 174629 h 698570"/>
                <a:gd name="connisteX68" fmla="*/ 2799080 w 3334044"/>
                <a:gd name="connsiteY68" fmla="*/ 549914 h 698570"/>
                <a:gd name="connisteX69" fmla="*/ 2799080 w 3334044"/>
                <a:gd name="connsiteY69" fmla="*/ 121289 h 698570"/>
                <a:gd name="connisteX70" fmla="*/ 2873375 w 3334044"/>
                <a:gd name="connsiteY70" fmla="*/ 597539 h 698570"/>
                <a:gd name="connisteX71" fmla="*/ 2884170 w 3334044"/>
                <a:gd name="connsiteY71" fmla="*/ 84459 h 698570"/>
                <a:gd name="connisteX72" fmla="*/ 2952750 w 3334044"/>
                <a:gd name="connsiteY72" fmla="*/ 624209 h 698570"/>
                <a:gd name="connisteX73" fmla="*/ 2968625 w 3334044"/>
                <a:gd name="connsiteY73" fmla="*/ 31754 h 698570"/>
                <a:gd name="connisteX74" fmla="*/ 3027045 w 3334044"/>
                <a:gd name="connsiteY74" fmla="*/ 676914 h 698570"/>
                <a:gd name="connisteX75" fmla="*/ 3058795 w 3334044"/>
                <a:gd name="connsiteY75" fmla="*/ 5084 h 698570"/>
                <a:gd name="connisteX76" fmla="*/ 3111500 w 3334044"/>
                <a:gd name="connsiteY76" fmla="*/ 698504 h 698570"/>
                <a:gd name="connisteX77" fmla="*/ 3154045 w 3334044"/>
                <a:gd name="connsiteY77" fmla="*/ 36834 h 698570"/>
                <a:gd name="connisteX78" fmla="*/ 3206750 w 3334044"/>
                <a:gd name="connsiteY78" fmla="*/ 692789 h 698570"/>
                <a:gd name="connisteX79" fmla="*/ 3243580 w 3334044"/>
                <a:gd name="connsiteY79" fmla="*/ 84459 h 698570"/>
                <a:gd name="connisteX80" fmla="*/ 3270250 w 3334044"/>
                <a:gd name="connsiteY80" fmla="*/ 650879 h 698570"/>
                <a:gd name="connisteX81" fmla="*/ 3328670 w 3334044"/>
                <a:gd name="connsiteY81" fmla="*/ 127004 h 698570"/>
                <a:gd name="connisteX82" fmla="*/ 3328670 w 3334044"/>
                <a:gd name="connsiteY82" fmla="*/ 116209 h 6985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Lst>
              <a:rect l="l" t="t" r="r" b="b"/>
              <a:pathLst>
                <a:path w="3334044" h="698570">
                  <a:moveTo>
                    <a:pt x="0" y="354334"/>
                  </a:moveTo>
                  <a:cubicBezTo>
                    <a:pt x="11430" y="285119"/>
                    <a:pt x="42545" y="11434"/>
                    <a:pt x="58420" y="63504"/>
                  </a:cubicBezTo>
                  <a:cubicBezTo>
                    <a:pt x="74295" y="115574"/>
                    <a:pt x="62230" y="622939"/>
                    <a:pt x="79375" y="613414"/>
                  </a:cubicBezTo>
                  <a:cubicBezTo>
                    <a:pt x="96520" y="603889"/>
                    <a:pt x="121920" y="4449"/>
                    <a:pt x="142875" y="15879"/>
                  </a:cubicBezTo>
                  <a:cubicBezTo>
                    <a:pt x="163830" y="27309"/>
                    <a:pt x="166370" y="675009"/>
                    <a:pt x="185420" y="671834"/>
                  </a:cubicBezTo>
                  <a:cubicBezTo>
                    <a:pt x="204470" y="668659"/>
                    <a:pt x="223520" y="-1901"/>
                    <a:pt x="238125" y="4"/>
                  </a:cubicBezTo>
                  <a:cubicBezTo>
                    <a:pt x="252730" y="1909"/>
                    <a:pt x="240030" y="674374"/>
                    <a:pt x="259080" y="682629"/>
                  </a:cubicBezTo>
                  <a:cubicBezTo>
                    <a:pt x="278130" y="690884"/>
                    <a:pt x="316230" y="40644"/>
                    <a:pt x="333375" y="41914"/>
                  </a:cubicBezTo>
                  <a:cubicBezTo>
                    <a:pt x="350520" y="43184"/>
                    <a:pt x="328295" y="678184"/>
                    <a:pt x="344170" y="687709"/>
                  </a:cubicBezTo>
                  <a:cubicBezTo>
                    <a:pt x="360045" y="697234"/>
                    <a:pt x="393700" y="102239"/>
                    <a:pt x="412750" y="89539"/>
                  </a:cubicBezTo>
                  <a:cubicBezTo>
                    <a:pt x="431800" y="76839"/>
                    <a:pt x="425450" y="614684"/>
                    <a:pt x="439420" y="624209"/>
                  </a:cubicBezTo>
                  <a:cubicBezTo>
                    <a:pt x="453390" y="633734"/>
                    <a:pt x="462280" y="151134"/>
                    <a:pt x="481330" y="137164"/>
                  </a:cubicBezTo>
                  <a:cubicBezTo>
                    <a:pt x="500380" y="123194"/>
                    <a:pt x="520700" y="548009"/>
                    <a:pt x="534670" y="555629"/>
                  </a:cubicBezTo>
                  <a:cubicBezTo>
                    <a:pt x="548640" y="563249"/>
                    <a:pt x="536575" y="180979"/>
                    <a:pt x="550545" y="174629"/>
                  </a:cubicBezTo>
                  <a:cubicBezTo>
                    <a:pt x="564515" y="168279"/>
                    <a:pt x="588645" y="515624"/>
                    <a:pt x="603250" y="523879"/>
                  </a:cubicBezTo>
                  <a:cubicBezTo>
                    <a:pt x="617855" y="532134"/>
                    <a:pt x="611505" y="221619"/>
                    <a:pt x="624205" y="216539"/>
                  </a:cubicBezTo>
                  <a:cubicBezTo>
                    <a:pt x="636905" y="211459"/>
                    <a:pt x="650875" y="495304"/>
                    <a:pt x="666750" y="497209"/>
                  </a:cubicBezTo>
                  <a:cubicBezTo>
                    <a:pt x="682625" y="499114"/>
                    <a:pt x="689610" y="236859"/>
                    <a:pt x="703580" y="227334"/>
                  </a:cubicBezTo>
                  <a:cubicBezTo>
                    <a:pt x="717550" y="217809"/>
                    <a:pt x="719455" y="451489"/>
                    <a:pt x="735330" y="449584"/>
                  </a:cubicBezTo>
                  <a:cubicBezTo>
                    <a:pt x="751205" y="447679"/>
                    <a:pt x="765810" y="208919"/>
                    <a:pt x="782955" y="216539"/>
                  </a:cubicBezTo>
                  <a:cubicBezTo>
                    <a:pt x="800100" y="224159"/>
                    <a:pt x="806450" y="494669"/>
                    <a:pt x="820420" y="486414"/>
                  </a:cubicBezTo>
                  <a:cubicBezTo>
                    <a:pt x="834390" y="478159"/>
                    <a:pt x="834390" y="165104"/>
                    <a:pt x="852170" y="174629"/>
                  </a:cubicBezTo>
                  <a:cubicBezTo>
                    <a:pt x="869950" y="184154"/>
                    <a:pt x="895350" y="545469"/>
                    <a:pt x="909955" y="534039"/>
                  </a:cubicBezTo>
                  <a:cubicBezTo>
                    <a:pt x="924560" y="522609"/>
                    <a:pt x="908050" y="103509"/>
                    <a:pt x="925830" y="116209"/>
                  </a:cubicBezTo>
                  <a:cubicBezTo>
                    <a:pt x="943610" y="128909"/>
                    <a:pt x="982980" y="605159"/>
                    <a:pt x="1000125" y="597539"/>
                  </a:cubicBezTo>
                  <a:cubicBezTo>
                    <a:pt x="1017270" y="589919"/>
                    <a:pt x="995045" y="69854"/>
                    <a:pt x="1010920" y="79379"/>
                  </a:cubicBezTo>
                  <a:cubicBezTo>
                    <a:pt x="1026795" y="88904"/>
                    <a:pt x="1063625" y="651514"/>
                    <a:pt x="1079500" y="645164"/>
                  </a:cubicBezTo>
                  <a:cubicBezTo>
                    <a:pt x="1095375" y="638814"/>
                    <a:pt x="1072515" y="39374"/>
                    <a:pt x="1090295" y="47629"/>
                  </a:cubicBezTo>
                  <a:cubicBezTo>
                    <a:pt x="1108075" y="55884"/>
                    <a:pt x="1153795" y="695329"/>
                    <a:pt x="1169670" y="687709"/>
                  </a:cubicBezTo>
                  <a:cubicBezTo>
                    <a:pt x="1185545" y="680089"/>
                    <a:pt x="1152525" y="8259"/>
                    <a:pt x="1169670" y="10164"/>
                  </a:cubicBezTo>
                  <a:cubicBezTo>
                    <a:pt x="1186815" y="12069"/>
                    <a:pt x="1233805" y="690884"/>
                    <a:pt x="1254125" y="698504"/>
                  </a:cubicBezTo>
                  <a:cubicBezTo>
                    <a:pt x="1274445" y="706124"/>
                    <a:pt x="1249045" y="53979"/>
                    <a:pt x="1270000" y="47629"/>
                  </a:cubicBezTo>
                  <a:cubicBezTo>
                    <a:pt x="1290955" y="41279"/>
                    <a:pt x="1342390" y="657229"/>
                    <a:pt x="1360170" y="666754"/>
                  </a:cubicBezTo>
                  <a:cubicBezTo>
                    <a:pt x="1377950" y="676279"/>
                    <a:pt x="1342390" y="107954"/>
                    <a:pt x="1360170" y="95254"/>
                  </a:cubicBezTo>
                  <a:cubicBezTo>
                    <a:pt x="1377950" y="82554"/>
                    <a:pt x="1431925" y="590554"/>
                    <a:pt x="1449705" y="603254"/>
                  </a:cubicBezTo>
                  <a:cubicBezTo>
                    <a:pt x="1467485" y="615954"/>
                    <a:pt x="1432560" y="169549"/>
                    <a:pt x="1449705" y="158754"/>
                  </a:cubicBezTo>
                  <a:cubicBezTo>
                    <a:pt x="1466850" y="147959"/>
                    <a:pt x="1513840" y="537214"/>
                    <a:pt x="1534795" y="549914"/>
                  </a:cubicBezTo>
                  <a:cubicBezTo>
                    <a:pt x="1555750" y="562614"/>
                    <a:pt x="1541145" y="233684"/>
                    <a:pt x="1555750" y="222254"/>
                  </a:cubicBezTo>
                  <a:cubicBezTo>
                    <a:pt x="1570355" y="210824"/>
                    <a:pt x="1592580" y="485779"/>
                    <a:pt x="1608455" y="492129"/>
                  </a:cubicBezTo>
                  <a:cubicBezTo>
                    <a:pt x="1624330" y="498479"/>
                    <a:pt x="1624330" y="258449"/>
                    <a:pt x="1635125" y="254004"/>
                  </a:cubicBezTo>
                  <a:cubicBezTo>
                    <a:pt x="1645920" y="249559"/>
                    <a:pt x="1650365" y="473714"/>
                    <a:pt x="1661795" y="470539"/>
                  </a:cubicBezTo>
                  <a:cubicBezTo>
                    <a:pt x="1673225" y="467364"/>
                    <a:pt x="1676400" y="239399"/>
                    <a:pt x="1693545" y="238129"/>
                  </a:cubicBezTo>
                  <a:cubicBezTo>
                    <a:pt x="1710690" y="236859"/>
                    <a:pt x="1729105" y="474984"/>
                    <a:pt x="1746250" y="465459"/>
                  </a:cubicBezTo>
                  <a:cubicBezTo>
                    <a:pt x="1763395" y="455934"/>
                    <a:pt x="1763395" y="182884"/>
                    <a:pt x="1778000" y="190504"/>
                  </a:cubicBezTo>
                  <a:cubicBezTo>
                    <a:pt x="1792605" y="198124"/>
                    <a:pt x="1804670" y="513084"/>
                    <a:pt x="1820545" y="502289"/>
                  </a:cubicBezTo>
                  <a:cubicBezTo>
                    <a:pt x="1836420" y="491494"/>
                    <a:pt x="1839595" y="122559"/>
                    <a:pt x="1857375" y="137164"/>
                  </a:cubicBezTo>
                  <a:cubicBezTo>
                    <a:pt x="1875155" y="151769"/>
                    <a:pt x="1895475" y="584204"/>
                    <a:pt x="1910080" y="576584"/>
                  </a:cubicBezTo>
                  <a:cubicBezTo>
                    <a:pt x="1924685" y="568964"/>
                    <a:pt x="1917065" y="92714"/>
                    <a:pt x="1931670" y="100334"/>
                  </a:cubicBezTo>
                  <a:cubicBezTo>
                    <a:pt x="1946275" y="107954"/>
                    <a:pt x="1969770" y="626114"/>
                    <a:pt x="1984375" y="613414"/>
                  </a:cubicBezTo>
                  <a:cubicBezTo>
                    <a:pt x="1998980" y="600714"/>
                    <a:pt x="1989455" y="28579"/>
                    <a:pt x="2005330" y="36834"/>
                  </a:cubicBezTo>
                  <a:cubicBezTo>
                    <a:pt x="2021205" y="45089"/>
                    <a:pt x="2045970" y="660404"/>
                    <a:pt x="2063750" y="655959"/>
                  </a:cubicBezTo>
                  <a:cubicBezTo>
                    <a:pt x="2081530" y="651514"/>
                    <a:pt x="2078355" y="7624"/>
                    <a:pt x="2095500" y="15879"/>
                  </a:cubicBezTo>
                  <a:cubicBezTo>
                    <a:pt x="2112645" y="24134"/>
                    <a:pt x="2133600" y="698504"/>
                    <a:pt x="2148205" y="698504"/>
                  </a:cubicBezTo>
                  <a:cubicBezTo>
                    <a:pt x="2162810" y="698504"/>
                    <a:pt x="2153920" y="17784"/>
                    <a:pt x="2169795" y="15879"/>
                  </a:cubicBezTo>
                  <a:cubicBezTo>
                    <a:pt x="2185670" y="13974"/>
                    <a:pt x="2208530" y="678184"/>
                    <a:pt x="2227580" y="687709"/>
                  </a:cubicBezTo>
                  <a:cubicBezTo>
                    <a:pt x="2246630" y="697234"/>
                    <a:pt x="2244725" y="69854"/>
                    <a:pt x="2265045" y="63504"/>
                  </a:cubicBezTo>
                  <a:cubicBezTo>
                    <a:pt x="2285365" y="57154"/>
                    <a:pt x="2309495" y="645164"/>
                    <a:pt x="2328545" y="655959"/>
                  </a:cubicBezTo>
                  <a:cubicBezTo>
                    <a:pt x="2347595" y="666754"/>
                    <a:pt x="2344420" y="128909"/>
                    <a:pt x="2360295" y="116209"/>
                  </a:cubicBezTo>
                  <a:cubicBezTo>
                    <a:pt x="2376170" y="103509"/>
                    <a:pt x="2393315" y="579759"/>
                    <a:pt x="2407920" y="592459"/>
                  </a:cubicBezTo>
                  <a:cubicBezTo>
                    <a:pt x="2422525" y="605159"/>
                    <a:pt x="2419350" y="189234"/>
                    <a:pt x="2433955" y="179709"/>
                  </a:cubicBezTo>
                  <a:cubicBezTo>
                    <a:pt x="2448560" y="170184"/>
                    <a:pt x="2466975" y="534039"/>
                    <a:pt x="2481580" y="544834"/>
                  </a:cubicBezTo>
                  <a:cubicBezTo>
                    <a:pt x="2496185" y="555629"/>
                    <a:pt x="2491105" y="240669"/>
                    <a:pt x="2508250" y="232414"/>
                  </a:cubicBezTo>
                  <a:cubicBezTo>
                    <a:pt x="2525395" y="224159"/>
                    <a:pt x="2552700" y="497844"/>
                    <a:pt x="2566670" y="502289"/>
                  </a:cubicBezTo>
                  <a:cubicBezTo>
                    <a:pt x="2580640" y="506734"/>
                    <a:pt x="2562225" y="259084"/>
                    <a:pt x="2576830" y="254004"/>
                  </a:cubicBezTo>
                  <a:cubicBezTo>
                    <a:pt x="2591435" y="248924"/>
                    <a:pt x="2624455" y="479429"/>
                    <a:pt x="2640330" y="476254"/>
                  </a:cubicBezTo>
                  <a:cubicBezTo>
                    <a:pt x="2656205" y="473079"/>
                    <a:pt x="2638425" y="230509"/>
                    <a:pt x="2656205" y="238129"/>
                  </a:cubicBezTo>
                  <a:cubicBezTo>
                    <a:pt x="2673985" y="245749"/>
                    <a:pt x="2719070" y="525784"/>
                    <a:pt x="2730500" y="513084"/>
                  </a:cubicBezTo>
                  <a:cubicBezTo>
                    <a:pt x="2741930" y="500384"/>
                    <a:pt x="2700655" y="167009"/>
                    <a:pt x="2714625" y="174629"/>
                  </a:cubicBezTo>
                  <a:cubicBezTo>
                    <a:pt x="2728595" y="182249"/>
                    <a:pt x="2781935" y="560709"/>
                    <a:pt x="2799080" y="549914"/>
                  </a:cubicBezTo>
                  <a:cubicBezTo>
                    <a:pt x="2816225" y="539119"/>
                    <a:pt x="2784475" y="111764"/>
                    <a:pt x="2799080" y="121289"/>
                  </a:cubicBezTo>
                  <a:cubicBezTo>
                    <a:pt x="2813685" y="130814"/>
                    <a:pt x="2856230" y="605159"/>
                    <a:pt x="2873375" y="597539"/>
                  </a:cubicBezTo>
                  <a:cubicBezTo>
                    <a:pt x="2890520" y="589919"/>
                    <a:pt x="2868295" y="79379"/>
                    <a:pt x="2884170" y="84459"/>
                  </a:cubicBezTo>
                  <a:cubicBezTo>
                    <a:pt x="2900045" y="89539"/>
                    <a:pt x="2935605" y="635004"/>
                    <a:pt x="2952750" y="624209"/>
                  </a:cubicBezTo>
                  <a:cubicBezTo>
                    <a:pt x="2969895" y="613414"/>
                    <a:pt x="2954020" y="20959"/>
                    <a:pt x="2968625" y="31754"/>
                  </a:cubicBezTo>
                  <a:cubicBezTo>
                    <a:pt x="2983230" y="42549"/>
                    <a:pt x="3009265" y="681994"/>
                    <a:pt x="3027045" y="676914"/>
                  </a:cubicBezTo>
                  <a:cubicBezTo>
                    <a:pt x="3044825" y="671834"/>
                    <a:pt x="3041650" y="639"/>
                    <a:pt x="3058795" y="5084"/>
                  </a:cubicBezTo>
                  <a:cubicBezTo>
                    <a:pt x="3075940" y="9529"/>
                    <a:pt x="3092450" y="692154"/>
                    <a:pt x="3111500" y="698504"/>
                  </a:cubicBezTo>
                  <a:cubicBezTo>
                    <a:pt x="3130550" y="704854"/>
                    <a:pt x="3134995" y="38104"/>
                    <a:pt x="3154045" y="36834"/>
                  </a:cubicBezTo>
                  <a:cubicBezTo>
                    <a:pt x="3173095" y="35564"/>
                    <a:pt x="3188970" y="683264"/>
                    <a:pt x="3206750" y="692789"/>
                  </a:cubicBezTo>
                  <a:cubicBezTo>
                    <a:pt x="3224530" y="702314"/>
                    <a:pt x="3230880" y="92714"/>
                    <a:pt x="3243580" y="84459"/>
                  </a:cubicBezTo>
                  <a:cubicBezTo>
                    <a:pt x="3256280" y="76204"/>
                    <a:pt x="3253105" y="642624"/>
                    <a:pt x="3270250" y="650879"/>
                  </a:cubicBezTo>
                  <a:cubicBezTo>
                    <a:pt x="3287395" y="659134"/>
                    <a:pt x="3317240" y="233684"/>
                    <a:pt x="3328670" y="127004"/>
                  </a:cubicBezTo>
                  <a:cubicBezTo>
                    <a:pt x="3340100" y="20324"/>
                    <a:pt x="3329940" y="107954"/>
                    <a:pt x="3328670" y="116209"/>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428" name="直接连接符 209"/>
            <p:cNvCxnSpPr/>
            <p:nvPr/>
          </p:nvCxnSpPr>
          <p:spPr>
            <a:xfrm>
              <a:off x="525145" y="2961640"/>
              <a:ext cx="3683000" cy="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9" name="直接连接符 210"/>
            <p:cNvCxnSpPr/>
            <p:nvPr/>
          </p:nvCxnSpPr>
          <p:spPr>
            <a:xfrm>
              <a:off x="539750" y="2517775"/>
              <a:ext cx="3683000" cy="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0" name="曲线连接符 213"/>
            <p:cNvCxnSpPr/>
            <p:nvPr/>
          </p:nvCxnSpPr>
          <p:spPr>
            <a:xfrm rot="10800000">
              <a:off x="560070" y="1167130"/>
              <a:ext cx="5715" cy="5080"/>
            </a:xfrm>
            <a:prstGeom prst="curvedConnector3">
              <a:avLst>
                <a:gd name="adj1" fmla="val 44444"/>
              </a:avLst>
            </a:prstGeom>
          </p:spPr>
          <p:style>
            <a:lnRef idx="1">
              <a:schemeClr val="accent1"/>
            </a:lnRef>
            <a:fillRef idx="0">
              <a:schemeClr val="accent1"/>
            </a:fillRef>
            <a:effectRef idx="0">
              <a:schemeClr val="accent1"/>
            </a:effectRef>
            <a:fontRef idx="minor">
              <a:schemeClr val="tx1"/>
            </a:fontRef>
          </p:style>
        </p:cxnSp>
        <p:sp>
          <p:nvSpPr>
            <p:cNvPr id="431" name="任意多边形 214"/>
            <p:cNvSpPr/>
            <p:nvPr/>
          </p:nvSpPr>
          <p:spPr>
            <a:xfrm>
              <a:off x="566420" y="926465"/>
              <a:ext cx="1610995" cy="483870"/>
            </a:xfrm>
            <a:custGeom>
              <a:avLst/>
              <a:gdLst>
                <a:gd name="connisteX0" fmla="*/ 0 w 1610722"/>
                <a:gd name="connsiteY0" fmla="*/ 251246 h 483659"/>
                <a:gd name="connisteX1" fmla="*/ 41910 w 1610722"/>
                <a:gd name="connsiteY1" fmla="*/ 34076 h 483659"/>
                <a:gd name="connisteX2" fmla="*/ 84455 w 1610722"/>
                <a:gd name="connsiteY2" fmla="*/ 473496 h 483659"/>
                <a:gd name="connisteX3" fmla="*/ 132080 w 1610722"/>
                <a:gd name="connsiteY3" fmla="*/ 34076 h 483659"/>
                <a:gd name="connisteX4" fmla="*/ 168910 w 1610722"/>
                <a:gd name="connsiteY4" fmla="*/ 473496 h 483659"/>
                <a:gd name="connisteX5" fmla="*/ 216535 w 1610722"/>
                <a:gd name="connsiteY5" fmla="*/ 39156 h 483659"/>
                <a:gd name="connisteX6" fmla="*/ 259080 w 1610722"/>
                <a:gd name="connsiteY6" fmla="*/ 467781 h 483659"/>
                <a:gd name="connisteX7" fmla="*/ 311785 w 1610722"/>
                <a:gd name="connsiteY7" fmla="*/ 44871 h 483659"/>
                <a:gd name="connisteX8" fmla="*/ 349250 w 1610722"/>
                <a:gd name="connsiteY8" fmla="*/ 483656 h 483659"/>
                <a:gd name="connisteX9" fmla="*/ 407035 w 1610722"/>
                <a:gd name="connsiteY9" fmla="*/ 39156 h 483659"/>
                <a:gd name="connisteX10" fmla="*/ 433705 w 1610722"/>
                <a:gd name="connsiteY10" fmla="*/ 473496 h 483659"/>
                <a:gd name="connisteX11" fmla="*/ 497205 w 1610722"/>
                <a:gd name="connsiteY11" fmla="*/ 39156 h 483659"/>
                <a:gd name="connisteX12" fmla="*/ 523875 w 1610722"/>
                <a:gd name="connsiteY12" fmla="*/ 462701 h 483659"/>
                <a:gd name="connisteX13" fmla="*/ 576580 w 1610722"/>
                <a:gd name="connsiteY13" fmla="*/ 28996 h 483659"/>
                <a:gd name="connisteX14" fmla="*/ 613410 w 1610722"/>
                <a:gd name="connsiteY14" fmla="*/ 467781 h 483659"/>
                <a:gd name="connisteX15" fmla="*/ 676910 w 1610722"/>
                <a:gd name="connsiteY15" fmla="*/ 44871 h 483659"/>
                <a:gd name="connisteX16" fmla="*/ 698500 w 1610722"/>
                <a:gd name="connsiteY16" fmla="*/ 473496 h 483659"/>
                <a:gd name="connisteX17" fmla="*/ 756285 w 1610722"/>
                <a:gd name="connsiteY17" fmla="*/ 34076 h 483659"/>
                <a:gd name="connisteX18" fmla="*/ 782955 w 1610722"/>
                <a:gd name="connsiteY18" fmla="*/ 467781 h 483659"/>
                <a:gd name="connisteX19" fmla="*/ 846455 w 1610722"/>
                <a:gd name="connsiteY19" fmla="*/ 39156 h 483659"/>
                <a:gd name="connisteX20" fmla="*/ 878205 w 1610722"/>
                <a:gd name="connsiteY20" fmla="*/ 467781 h 483659"/>
                <a:gd name="connisteX21" fmla="*/ 925830 w 1610722"/>
                <a:gd name="connsiteY21" fmla="*/ 44871 h 483659"/>
                <a:gd name="connisteX22" fmla="*/ 962660 w 1610722"/>
                <a:gd name="connsiteY22" fmla="*/ 467781 h 483659"/>
                <a:gd name="connisteX23" fmla="*/ 1021080 w 1610722"/>
                <a:gd name="connsiteY23" fmla="*/ 28996 h 483659"/>
                <a:gd name="connisteX24" fmla="*/ 1052830 w 1610722"/>
                <a:gd name="connsiteY24" fmla="*/ 473496 h 483659"/>
                <a:gd name="connisteX25" fmla="*/ 1105535 w 1610722"/>
                <a:gd name="connsiteY25" fmla="*/ 28996 h 483659"/>
                <a:gd name="connisteX26" fmla="*/ 1158875 w 1610722"/>
                <a:gd name="connsiteY26" fmla="*/ 473496 h 483659"/>
                <a:gd name="connisteX27" fmla="*/ 1211580 w 1610722"/>
                <a:gd name="connsiteY27" fmla="*/ 39156 h 483659"/>
                <a:gd name="connisteX28" fmla="*/ 1254125 w 1610722"/>
                <a:gd name="connsiteY28" fmla="*/ 462701 h 483659"/>
                <a:gd name="connisteX29" fmla="*/ 1311910 w 1610722"/>
                <a:gd name="connsiteY29" fmla="*/ 34076 h 483659"/>
                <a:gd name="connisteX30" fmla="*/ 1354455 w 1610722"/>
                <a:gd name="connsiteY30" fmla="*/ 478576 h 483659"/>
                <a:gd name="connisteX31" fmla="*/ 1407160 w 1610722"/>
                <a:gd name="connsiteY31" fmla="*/ 49951 h 483659"/>
                <a:gd name="connisteX32" fmla="*/ 1444625 w 1610722"/>
                <a:gd name="connsiteY32" fmla="*/ 473496 h 483659"/>
                <a:gd name="connisteX33" fmla="*/ 1502410 w 1610722"/>
                <a:gd name="connsiteY33" fmla="*/ 39156 h 483659"/>
                <a:gd name="connisteX34" fmla="*/ 1544955 w 1610722"/>
                <a:gd name="connsiteY34" fmla="*/ 457621 h 483659"/>
                <a:gd name="connisteX35" fmla="*/ 1603375 w 1610722"/>
                <a:gd name="connsiteY35" fmla="*/ 39156 h 483659"/>
                <a:gd name="connisteX36" fmla="*/ 1608455 w 1610722"/>
                <a:gd name="connsiteY36" fmla="*/ 39156 h 48365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Lst>
              <a:rect l="l" t="t" r="r" b="b"/>
              <a:pathLst>
                <a:path w="1610722" h="483659">
                  <a:moveTo>
                    <a:pt x="0" y="251247"/>
                  </a:moveTo>
                  <a:cubicBezTo>
                    <a:pt x="7620" y="199177"/>
                    <a:pt x="24765" y="-10373"/>
                    <a:pt x="41910" y="34077"/>
                  </a:cubicBezTo>
                  <a:cubicBezTo>
                    <a:pt x="59055" y="78527"/>
                    <a:pt x="66675" y="473497"/>
                    <a:pt x="84455" y="473497"/>
                  </a:cubicBezTo>
                  <a:cubicBezTo>
                    <a:pt x="102235" y="473497"/>
                    <a:pt x="114935" y="34077"/>
                    <a:pt x="132080" y="34077"/>
                  </a:cubicBezTo>
                  <a:cubicBezTo>
                    <a:pt x="149225" y="34077"/>
                    <a:pt x="151765" y="472227"/>
                    <a:pt x="168910" y="473497"/>
                  </a:cubicBezTo>
                  <a:cubicBezTo>
                    <a:pt x="186055" y="474767"/>
                    <a:pt x="198755" y="40427"/>
                    <a:pt x="216535" y="39157"/>
                  </a:cubicBezTo>
                  <a:cubicBezTo>
                    <a:pt x="234315" y="37887"/>
                    <a:pt x="240030" y="466512"/>
                    <a:pt x="259080" y="467782"/>
                  </a:cubicBezTo>
                  <a:cubicBezTo>
                    <a:pt x="278130" y="469052"/>
                    <a:pt x="294005" y="41697"/>
                    <a:pt x="311785" y="44872"/>
                  </a:cubicBezTo>
                  <a:cubicBezTo>
                    <a:pt x="329565" y="48047"/>
                    <a:pt x="330200" y="484927"/>
                    <a:pt x="349250" y="483657"/>
                  </a:cubicBezTo>
                  <a:cubicBezTo>
                    <a:pt x="368300" y="482387"/>
                    <a:pt x="389890" y="41062"/>
                    <a:pt x="407035" y="39157"/>
                  </a:cubicBezTo>
                  <a:cubicBezTo>
                    <a:pt x="424180" y="37252"/>
                    <a:pt x="415925" y="473497"/>
                    <a:pt x="433705" y="473497"/>
                  </a:cubicBezTo>
                  <a:cubicBezTo>
                    <a:pt x="451485" y="473497"/>
                    <a:pt x="479425" y="41062"/>
                    <a:pt x="497205" y="39157"/>
                  </a:cubicBezTo>
                  <a:cubicBezTo>
                    <a:pt x="514985" y="37252"/>
                    <a:pt x="508000" y="464607"/>
                    <a:pt x="523875" y="462702"/>
                  </a:cubicBezTo>
                  <a:cubicBezTo>
                    <a:pt x="539750" y="460797"/>
                    <a:pt x="558800" y="27727"/>
                    <a:pt x="576580" y="28997"/>
                  </a:cubicBezTo>
                  <a:cubicBezTo>
                    <a:pt x="594360" y="30267"/>
                    <a:pt x="593090" y="464607"/>
                    <a:pt x="613410" y="467782"/>
                  </a:cubicBezTo>
                  <a:cubicBezTo>
                    <a:pt x="633730" y="470957"/>
                    <a:pt x="659765" y="43602"/>
                    <a:pt x="676910" y="44872"/>
                  </a:cubicBezTo>
                  <a:cubicBezTo>
                    <a:pt x="694055" y="46142"/>
                    <a:pt x="682625" y="475402"/>
                    <a:pt x="698500" y="473497"/>
                  </a:cubicBezTo>
                  <a:cubicBezTo>
                    <a:pt x="714375" y="471592"/>
                    <a:pt x="739140" y="35347"/>
                    <a:pt x="756285" y="34077"/>
                  </a:cubicBezTo>
                  <a:cubicBezTo>
                    <a:pt x="773430" y="32807"/>
                    <a:pt x="765175" y="466512"/>
                    <a:pt x="782955" y="467782"/>
                  </a:cubicBezTo>
                  <a:cubicBezTo>
                    <a:pt x="800735" y="469052"/>
                    <a:pt x="827405" y="39157"/>
                    <a:pt x="846455" y="39157"/>
                  </a:cubicBezTo>
                  <a:cubicBezTo>
                    <a:pt x="865505" y="39157"/>
                    <a:pt x="862330" y="466512"/>
                    <a:pt x="878205" y="467782"/>
                  </a:cubicBezTo>
                  <a:cubicBezTo>
                    <a:pt x="894080" y="469052"/>
                    <a:pt x="908685" y="44872"/>
                    <a:pt x="925830" y="44872"/>
                  </a:cubicBezTo>
                  <a:cubicBezTo>
                    <a:pt x="942975" y="44872"/>
                    <a:pt x="943610" y="470957"/>
                    <a:pt x="962660" y="467782"/>
                  </a:cubicBezTo>
                  <a:cubicBezTo>
                    <a:pt x="981710" y="464607"/>
                    <a:pt x="1003300" y="27727"/>
                    <a:pt x="1021080" y="28997"/>
                  </a:cubicBezTo>
                  <a:cubicBezTo>
                    <a:pt x="1038860" y="30267"/>
                    <a:pt x="1035685" y="473497"/>
                    <a:pt x="1052830" y="473497"/>
                  </a:cubicBezTo>
                  <a:cubicBezTo>
                    <a:pt x="1069975" y="473497"/>
                    <a:pt x="1084580" y="28997"/>
                    <a:pt x="1105535" y="28997"/>
                  </a:cubicBezTo>
                  <a:cubicBezTo>
                    <a:pt x="1126490" y="28997"/>
                    <a:pt x="1137920" y="471592"/>
                    <a:pt x="1158875" y="473497"/>
                  </a:cubicBezTo>
                  <a:cubicBezTo>
                    <a:pt x="1179830" y="475402"/>
                    <a:pt x="1192530" y="41062"/>
                    <a:pt x="1211580" y="39157"/>
                  </a:cubicBezTo>
                  <a:cubicBezTo>
                    <a:pt x="1230630" y="37252"/>
                    <a:pt x="1233805" y="463972"/>
                    <a:pt x="1254125" y="462702"/>
                  </a:cubicBezTo>
                  <a:cubicBezTo>
                    <a:pt x="1274445" y="461432"/>
                    <a:pt x="1291590" y="30902"/>
                    <a:pt x="1311910" y="34077"/>
                  </a:cubicBezTo>
                  <a:cubicBezTo>
                    <a:pt x="1332230" y="37252"/>
                    <a:pt x="1335405" y="475402"/>
                    <a:pt x="1354455" y="478577"/>
                  </a:cubicBezTo>
                  <a:cubicBezTo>
                    <a:pt x="1373505" y="481752"/>
                    <a:pt x="1389380" y="51222"/>
                    <a:pt x="1407160" y="49952"/>
                  </a:cubicBezTo>
                  <a:cubicBezTo>
                    <a:pt x="1424940" y="48682"/>
                    <a:pt x="1425575" y="475402"/>
                    <a:pt x="1444625" y="473497"/>
                  </a:cubicBezTo>
                  <a:cubicBezTo>
                    <a:pt x="1463675" y="471592"/>
                    <a:pt x="1482090" y="42332"/>
                    <a:pt x="1502410" y="39157"/>
                  </a:cubicBezTo>
                  <a:cubicBezTo>
                    <a:pt x="1522730" y="35982"/>
                    <a:pt x="1524635" y="457622"/>
                    <a:pt x="1544955" y="457622"/>
                  </a:cubicBezTo>
                  <a:cubicBezTo>
                    <a:pt x="1565275" y="457622"/>
                    <a:pt x="1590675" y="122977"/>
                    <a:pt x="1603375" y="39157"/>
                  </a:cubicBezTo>
                  <a:cubicBezTo>
                    <a:pt x="1616075" y="-44663"/>
                    <a:pt x="1608455" y="30902"/>
                    <a:pt x="1608455" y="39157"/>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32" name="任意多边形 215"/>
            <p:cNvSpPr/>
            <p:nvPr/>
          </p:nvSpPr>
          <p:spPr>
            <a:xfrm>
              <a:off x="2143125" y="920750"/>
              <a:ext cx="1610995" cy="483870"/>
            </a:xfrm>
            <a:custGeom>
              <a:avLst/>
              <a:gdLst>
                <a:gd name="connisteX0" fmla="*/ 0 w 1610722"/>
                <a:gd name="connsiteY0" fmla="*/ 251246 h 483659"/>
                <a:gd name="connisteX1" fmla="*/ 41910 w 1610722"/>
                <a:gd name="connsiteY1" fmla="*/ 34076 h 483659"/>
                <a:gd name="connisteX2" fmla="*/ 84455 w 1610722"/>
                <a:gd name="connsiteY2" fmla="*/ 473496 h 483659"/>
                <a:gd name="connisteX3" fmla="*/ 132080 w 1610722"/>
                <a:gd name="connsiteY3" fmla="*/ 34076 h 483659"/>
                <a:gd name="connisteX4" fmla="*/ 168910 w 1610722"/>
                <a:gd name="connsiteY4" fmla="*/ 473496 h 483659"/>
                <a:gd name="connisteX5" fmla="*/ 216535 w 1610722"/>
                <a:gd name="connsiteY5" fmla="*/ 39156 h 483659"/>
                <a:gd name="connisteX6" fmla="*/ 259080 w 1610722"/>
                <a:gd name="connsiteY6" fmla="*/ 467781 h 483659"/>
                <a:gd name="connisteX7" fmla="*/ 311785 w 1610722"/>
                <a:gd name="connsiteY7" fmla="*/ 44871 h 483659"/>
                <a:gd name="connisteX8" fmla="*/ 349250 w 1610722"/>
                <a:gd name="connsiteY8" fmla="*/ 483656 h 483659"/>
                <a:gd name="connisteX9" fmla="*/ 407035 w 1610722"/>
                <a:gd name="connsiteY9" fmla="*/ 39156 h 483659"/>
                <a:gd name="connisteX10" fmla="*/ 433705 w 1610722"/>
                <a:gd name="connsiteY10" fmla="*/ 473496 h 483659"/>
                <a:gd name="connisteX11" fmla="*/ 497205 w 1610722"/>
                <a:gd name="connsiteY11" fmla="*/ 39156 h 483659"/>
                <a:gd name="connisteX12" fmla="*/ 523875 w 1610722"/>
                <a:gd name="connsiteY12" fmla="*/ 462701 h 483659"/>
                <a:gd name="connisteX13" fmla="*/ 576580 w 1610722"/>
                <a:gd name="connsiteY13" fmla="*/ 28996 h 483659"/>
                <a:gd name="connisteX14" fmla="*/ 613410 w 1610722"/>
                <a:gd name="connsiteY14" fmla="*/ 467781 h 483659"/>
                <a:gd name="connisteX15" fmla="*/ 676910 w 1610722"/>
                <a:gd name="connsiteY15" fmla="*/ 44871 h 483659"/>
                <a:gd name="connisteX16" fmla="*/ 698500 w 1610722"/>
                <a:gd name="connsiteY16" fmla="*/ 473496 h 483659"/>
                <a:gd name="connisteX17" fmla="*/ 756285 w 1610722"/>
                <a:gd name="connsiteY17" fmla="*/ 34076 h 483659"/>
                <a:gd name="connisteX18" fmla="*/ 782955 w 1610722"/>
                <a:gd name="connsiteY18" fmla="*/ 467781 h 483659"/>
                <a:gd name="connisteX19" fmla="*/ 846455 w 1610722"/>
                <a:gd name="connsiteY19" fmla="*/ 39156 h 483659"/>
                <a:gd name="connisteX20" fmla="*/ 878205 w 1610722"/>
                <a:gd name="connsiteY20" fmla="*/ 467781 h 483659"/>
                <a:gd name="connisteX21" fmla="*/ 925830 w 1610722"/>
                <a:gd name="connsiteY21" fmla="*/ 44871 h 483659"/>
                <a:gd name="connisteX22" fmla="*/ 962660 w 1610722"/>
                <a:gd name="connsiteY22" fmla="*/ 467781 h 483659"/>
                <a:gd name="connisteX23" fmla="*/ 1021080 w 1610722"/>
                <a:gd name="connsiteY23" fmla="*/ 28996 h 483659"/>
                <a:gd name="connisteX24" fmla="*/ 1052830 w 1610722"/>
                <a:gd name="connsiteY24" fmla="*/ 473496 h 483659"/>
                <a:gd name="connisteX25" fmla="*/ 1105535 w 1610722"/>
                <a:gd name="connsiteY25" fmla="*/ 28996 h 483659"/>
                <a:gd name="connisteX26" fmla="*/ 1158875 w 1610722"/>
                <a:gd name="connsiteY26" fmla="*/ 473496 h 483659"/>
                <a:gd name="connisteX27" fmla="*/ 1211580 w 1610722"/>
                <a:gd name="connsiteY27" fmla="*/ 39156 h 483659"/>
                <a:gd name="connisteX28" fmla="*/ 1254125 w 1610722"/>
                <a:gd name="connsiteY28" fmla="*/ 462701 h 483659"/>
                <a:gd name="connisteX29" fmla="*/ 1311910 w 1610722"/>
                <a:gd name="connsiteY29" fmla="*/ 34076 h 483659"/>
                <a:gd name="connisteX30" fmla="*/ 1354455 w 1610722"/>
                <a:gd name="connsiteY30" fmla="*/ 478576 h 483659"/>
                <a:gd name="connisteX31" fmla="*/ 1407160 w 1610722"/>
                <a:gd name="connsiteY31" fmla="*/ 49951 h 483659"/>
                <a:gd name="connisteX32" fmla="*/ 1444625 w 1610722"/>
                <a:gd name="connsiteY32" fmla="*/ 473496 h 483659"/>
                <a:gd name="connisteX33" fmla="*/ 1502410 w 1610722"/>
                <a:gd name="connsiteY33" fmla="*/ 39156 h 483659"/>
                <a:gd name="connisteX34" fmla="*/ 1544955 w 1610722"/>
                <a:gd name="connsiteY34" fmla="*/ 457621 h 483659"/>
                <a:gd name="connisteX35" fmla="*/ 1603375 w 1610722"/>
                <a:gd name="connsiteY35" fmla="*/ 39156 h 483659"/>
                <a:gd name="connisteX36" fmla="*/ 1608455 w 1610722"/>
                <a:gd name="connsiteY36" fmla="*/ 39156 h 48365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Lst>
              <a:rect l="l" t="t" r="r" b="b"/>
              <a:pathLst>
                <a:path w="1610722" h="483659">
                  <a:moveTo>
                    <a:pt x="0" y="251247"/>
                  </a:moveTo>
                  <a:cubicBezTo>
                    <a:pt x="7620" y="199177"/>
                    <a:pt x="24765" y="-10373"/>
                    <a:pt x="41910" y="34077"/>
                  </a:cubicBezTo>
                  <a:cubicBezTo>
                    <a:pt x="59055" y="78527"/>
                    <a:pt x="66675" y="473497"/>
                    <a:pt x="84455" y="473497"/>
                  </a:cubicBezTo>
                  <a:cubicBezTo>
                    <a:pt x="102235" y="473497"/>
                    <a:pt x="114935" y="34077"/>
                    <a:pt x="132080" y="34077"/>
                  </a:cubicBezTo>
                  <a:cubicBezTo>
                    <a:pt x="149225" y="34077"/>
                    <a:pt x="151765" y="472227"/>
                    <a:pt x="168910" y="473497"/>
                  </a:cubicBezTo>
                  <a:cubicBezTo>
                    <a:pt x="186055" y="474767"/>
                    <a:pt x="198755" y="40427"/>
                    <a:pt x="216535" y="39157"/>
                  </a:cubicBezTo>
                  <a:cubicBezTo>
                    <a:pt x="234315" y="37887"/>
                    <a:pt x="240030" y="466512"/>
                    <a:pt x="259080" y="467782"/>
                  </a:cubicBezTo>
                  <a:cubicBezTo>
                    <a:pt x="278130" y="469052"/>
                    <a:pt x="294005" y="41697"/>
                    <a:pt x="311785" y="44872"/>
                  </a:cubicBezTo>
                  <a:cubicBezTo>
                    <a:pt x="329565" y="48047"/>
                    <a:pt x="330200" y="484927"/>
                    <a:pt x="349250" y="483657"/>
                  </a:cubicBezTo>
                  <a:cubicBezTo>
                    <a:pt x="368300" y="482387"/>
                    <a:pt x="389890" y="41062"/>
                    <a:pt x="407035" y="39157"/>
                  </a:cubicBezTo>
                  <a:cubicBezTo>
                    <a:pt x="424180" y="37252"/>
                    <a:pt x="415925" y="473497"/>
                    <a:pt x="433705" y="473497"/>
                  </a:cubicBezTo>
                  <a:cubicBezTo>
                    <a:pt x="451485" y="473497"/>
                    <a:pt x="479425" y="41062"/>
                    <a:pt x="497205" y="39157"/>
                  </a:cubicBezTo>
                  <a:cubicBezTo>
                    <a:pt x="514985" y="37252"/>
                    <a:pt x="508000" y="464607"/>
                    <a:pt x="523875" y="462702"/>
                  </a:cubicBezTo>
                  <a:cubicBezTo>
                    <a:pt x="539750" y="460797"/>
                    <a:pt x="558800" y="27727"/>
                    <a:pt x="576580" y="28997"/>
                  </a:cubicBezTo>
                  <a:cubicBezTo>
                    <a:pt x="594360" y="30267"/>
                    <a:pt x="593090" y="464607"/>
                    <a:pt x="613410" y="467782"/>
                  </a:cubicBezTo>
                  <a:cubicBezTo>
                    <a:pt x="633730" y="470957"/>
                    <a:pt x="659765" y="43602"/>
                    <a:pt x="676910" y="44872"/>
                  </a:cubicBezTo>
                  <a:cubicBezTo>
                    <a:pt x="694055" y="46142"/>
                    <a:pt x="682625" y="475402"/>
                    <a:pt x="698500" y="473497"/>
                  </a:cubicBezTo>
                  <a:cubicBezTo>
                    <a:pt x="714375" y="471592"/>
                    <a:pt x="739140" y="35347"/>
                    <a:pt x="756285" y="34077"/>
                  </a:cubicBezTo>
                  <a:cubicBezTo>
                    <a:pt x="773430" y="32807"/>
                    <a:pt x="765175" y="466512"/>
                    <a:pt x="782955" y="467782"/>
                  </a:cubicBezTo>
                  <a:cubicBezTo>
                    <a:pt x="800735" y="469052"/>
                    <a:pt x="827405" y="39157"/>
                    <a:pt x="846455" y="39157"/>
                  </a:cubicBezTo>
                  <a:cubicBezTo>
                    <a:pt x="865505" y="39157"/>
                    <a:pt x="862330" y="466512"/>
                    <a:pt x="878205" y="467782"/>
                  </a:cubicBezTo>
                  <a:cubicBezTo>
                    <a:pt x="894080" y="469052"/>
                    <a:pt x="908685" y="44872"/>
                    <a:pt x="925830" y="44872"/>
                  </a:cubicBezTo>
                  <a:cubicBezTo>
                    <a:pt x="942975" y="44872"/>
                    <a:pt x="943610" y="470957"/>
                    <a:pt x="962660" y="467782"/>
                  </a:cubicBezTo>
                  <a:cubicBezTo>
                    <a:pt x="981710" y="464607"/>
                    <a:pt x="1003300" y="27727"/>
                    <a:pt x="1021080" y="28997"/>
                  </a:cubicBezTo>
                  <a:cubicBezTo>
                    <a:pt x="1038860" y="30267"/>
                    <a:pt x="1035685" y="473497"/>
                    <a:pt x="1052830" y="473497"/>
                  </a:cubicBezTo>
                  <a:cubicBezTo>
                    <a:pt x="1069975" y="473497"/>
                    <a:pt x="1084580" y="28997"/>
                    <a:pt x="1105535" y="28997"/>
                  </a:cubicBezTo>
                  <a:cubicBezTo>
                    <a:pt x="1126490" y="28997"/>
                    <a:pt x="1137920" y="471592"/>
                    <a:pt x="1158875" y="473497"/>
                  </a:cubicBezTo>
                  <a:cubicBezTo>
                    <a:pt x="1179830" y="475402"/>
                    <a:pt x="1192530" y="41062"/>
                    <a:pt x="1211580" y="39157"/>
                  </a:cubicBezTo>
                  <a:cubicBezTo>
                    <a:pt x="1230630" y="37252"/>
                    <a:pt x="1233805" y="463972"/>
                    <a:pt x="1254125" y="462702"/>
                  </a:cubicBezTo>
                  <a:cubicBezTo>
                    <a:pt x="1274445" y="461432"/>
                    <a:pt x="1291590" y="30902"/>
                    <a:pt x="1311910" y="34077"/>
                  </a:cubicBezTo>
                  <a:cubicBezTo>
                    <a:pt x="1332230" y="37252"/>
                    <a:pt x="1335405" y="475402"/>
                    <a:pt x="1354455" y="478577"/>
                  </a:cubicBezTo>
                  <a:cubicBezTo>
                    <a:pt x="1373505" y="481752"/>
                    <a:pt x="1389380" y="51222"/>
                    <a:pt x="1407160" y="49952"/>
                  </a:cubicBezTo>
                  <a:cubicBezTo>
                    <a:pt x="1424940" y="48682"/>
                    <a:pt x="1425575" y="475402"/>
                    <a:pt x="1444625" y="473497"/>
                  </a:cubicBezTo>
                  <a:cubicBezTo>
                    <a:pt x="1463675" y="471592"/>
                    <a:pt x="1482090" y="42332"/>
                    <a:pt x="1502410" y="39157"/>
                  </a:cubicBezTo>
                  <a:cubicBezTo>
                    <a:pt x="1522730" y="35982"/>
                    <a:pt x="1524635" y="457622"/>
                    <a:pt x="1544955" y="457622"/>
                  </a:cubicBezTo>
                  <a:cubicBezTo>
                    <a:pt x="1565275" y="457622"/>
                    <a:pt x="1590675" y="122977"/>
                    <a:pt x="1603375" y="39157"/>
                  </a:cubicBezTo>
                  <a:cubicBezTo>
                    <a:pt x="1616075" y="-44663"/>
                    <a:pt x="1608455" y="30902"/>
                    <a:pt x="1608455" y="39157"/>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33" name="任意多边形 216"/>
            <p:cNvSpPr/>
            <p:nvPr/>
          </p:nvSpPr>
          <p:spPr>
            <a:xfrm>
              <a:off x="3751580" y="962025"/>
              <a:ext cx="206375" cy="433705"/>
            </a:xfrm>
            <a:custGeom>
              <a:avLst/>
              <a:gdLst>
                <a:gd name="connisteX0" fmla="*/ 0 w 206375"/>
                <a:gd name="connsiteY0" fmla="*/ 5080 h 433708"/>
                <a:gd name="connisteX1" fmla="*/ 42545 w 206375"/>
                <a:gd name="connsiteY1" fmla="*/ 433705 h 433708"/>
                <a:gd name="connisteX2" fmla="*/ 69215 w 206375"/>
                <a:gd name="connsiteY2" fmla="*/ 0 h 433708"/>
                <a:gd name="connisteX3" fmla="*/ 121920 w 206375"/>
                <a:gd name="connsiteY3" fmla="*/ 433705 h 433708"/>
                <a:gd name="connisteX4" fmla="*/ 148590 w 206375"/>
                <a:gd name="connsiteY4" fmla="*/ 5080 h 433708"/>
                <a:gd name="connisteX5" fmla="*/ 206375 w 206375"/>
                <a:gd name="connsiteY5" fmla="*/ 433705 h 43370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06375" h="433709">
                  <a:moveTo>
                    <a:pt x="0" y="5080"/>
                  </a:moveTo>
                  <a:cubicBezTo>
                    <a:pt x="8255" y="99695"/>
                    <a:pt x="28575" y="434975"/>
                    <a:pt x="42545" y="433705"/>
                  </a:cubicBezTo>
                  <a:cubicBezTo>
                    <a:pt x="56515" y="432435"/>
                    <a:pt x="53340" y="0"/>
                    <a:pt x="69215" y="0"/>
                  </a:cubicBezTo>
                  <a:cubicBezTo>
                    <a:pt x="85090" y="0"/>
                    <a:pt x="106045" y="432435"/>
                    <a:pt x="121920" y="433705"/>
                  </a:cubicBezTo>
                  <a:cubicBezTo>
                    <a:pt x="137795" y="434975"/>
                    <a:pt x="131445" y="5080"/>
                    <a:pt x="148590" y="5080"/>
                  </a:cubicBezTo>
                  <a:cubicBezTo>
                    <a:pt x="165735" y="5080"/>
                    <a:pt x="195580" y="339090"/>
                    <a:pt x="206375" y="433705"/>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34" name="任意多边形 218"/>
            <p:cNvSpPr/>
            <p:nvPr/>
          </p:nvSpPr>
          <p:spPr>
            <a:xfrm>
              <a:off x="537845" y="2510155"/>
              <a:ext cx="1310005" cy="462915"/>
            </a:xfrm>
            <a:custGeom>
              <a:avLst/>
              <a:gdLst>
                <a:gd name="connisteX0" fmla="*/ 0 w 1309736"/>
                <a:gd name="connsiteY0" fmla="*/ 227504 h 463092"/>
                <a:gd name="connisteX1" fmla="*/ 45085 w 1309736"/>
                <a:gd name="connsiteY1" fmla="*/ 6524 h 463092"/>
                <a:gd name="connisteX2" fmla="*/ 95250 w 1309736"/>
                <a:gd name="connsiteY2" fmla="*/ 458009 h 463092"/>
                <a:gd name="connisteX3" fmla="*/ 114935 w 1309736"/>
                <a:gd name="connsiteY3" fmla="*/ 11604 h 463092"/>
                <a:gd name="connisteX4" fmla="*/ 140335 w 1309736"/>
                <a:gd name="connsiteY4" fmla="*/ 452929 h 463092"/>
                <a:gd name="connisteX5" fmla="*/ 160655 w 1309736"/>
                <a:gd name="connsiteY5" fmla="*/ 11604 h 463092"/>
                <a:gd name="connisteX6" fmla="*/ 175260 w 1309736"/>
                <a:gd name="connsiteY6" fmla="*/ 447849 h 463092"/>
                <a:gd name="connisteX7" fmla="*/ 210185 w 1309736"/>
                <a:gd name="connsiteY7" fmla="*/ 6524 h 463092"/>
                <a:gd name="connisteX8" fmla="*/ 225425 w 1309736"/>
                <a:gd name="connsiteY8" fmla="*/ 452929 h 463092"/>
                <a:gd name="connisteX9" fmla="*/ 265430 w 1309736"/>
                <a:gd name="connsiteY9" fmla="*/ 16684 h 463092"/>
                <a:gd name="connisteX10" fmla="*/ 270510 w 1309736"/>
                <a:gd name="connsiteY10" fmla="*/ 463089 h 463092"/>
                <a:gd name="connisteX11" fmla="*/ 320675 w 1309736"/>
                <a:gd name="connsiteY11" fmla="*/ 11604 h 463092"/>
                <a:gd name="connisteX12" fmla="*/ 365760 w 1309736"/>
                <a:gd name="connsiteY12" fmla="*/ 447849 h 463092"/>
                <a:gd name="connisteX13" fmla="*/ 421005 w 1309736"/>
                <a:gd name="connsiteY13" fmla="*/ 11604 h 463092"/>
                <a:gd name="connisteX14" fmla="*/ 461010 w 1309736"/>
                <a:gd name="connsiteY14" fmla="*/ 463089 h 463092"/>
                <a:gd name="connisteX15" fmla="*/ 501015 w 1309736"/>
                <a:gd name="connsiteY15" fmla="*/ 11604 h 463092"/>
                <a:gd name="connisteX16" fmla="*/ 531495 w 1309736"/>
                <a:gd name="connsiteY16" fmla="*/ 452929 h 463092"/>
                <a:gd name="connisteX17" fmla="*/ 556260 w 1309736"/>
                <a:gd name="connsiteY17" fmla="*/ 1444 h 463092"/>
                <a:gd name="connisteX18" fmla="*/ 591185 w 1309736"/>
                <a:gd name="connsiteY18" fmla="*/ 447849 h 463092"/>
                <a:gd name="connisteX19" fmla="*/ 631825 w 1309736"/>
                <a:gd name="connsiteY19" fmla="*/ 11604 h 463092"/>
                <a:gd name="connisteX20" fmla="*/ 661670 w 1309736"/>
                <a:gd name="connsiteY20" fmla="*/ 452929 h 463092"/>
                <a:gd name="connisteX21" fmla="*/ 691515 w 1309736"/>
                <a:gd name="connsiteY21" fmla="*/ 1444 h 463092"/>
                <a:gd name="connisteX22" fmla="*/ 706755 w 1309736"/>
                <a:gd name="connsiteY22" fmla="*/ 447849 h 463092"/>
                <a:gd name="connisteX23" fmla="*/ 741680 w 1309736"/>
                <a:gd name="connsiteY23" fmla="*/ 6524 h 463092"/>
                <a:gd name="connisteX24" fmla="*/ 756920 w 1309736"/>
                <a:gd name="connsiteY24" fmla="*/ 452929 h 463092"/>
                <a:gd name="connisteX25" fmla="*/ 802005 w 1309736"/>
                <a:gd name="connsiteY25" fmla="*/ 1444 h 463092"/>
                <a:gd name="connisteX26" fmla="*/ 827405 w 1309736"/>
                <a:gd name="connsiteY26" fmla="*/ 452929 h 463092"/>
                <a:gd name="connisteX27" fmla="*/ 867410 w 1309736"/>
                <a:gd name="connsiteY27" fmla="*/ 6524 h 463092"/>
                <a:gd name="connisteX28" fmla="*/ 902335 w 1309736"/>
                <a:gd name="connsiteY28" fmla="*/ 458009 h 463092"/>
                <a:gd name="connisteX29" fmla="*/ 967740 w 1309736"/>
                <a:gd name="connsiteY29" fmla="*/ 11604 h 463092"/>
                <a:gd name="connisteX30" fmla="*/ 997585 w 1309736"/>
                <a:gd name="connsiteY30" fmla="*/ 458009 h 463092"/>
                <a:gd name="connisteX31" fmla="*/ 1062990 w 1309736"/>
                <a:gd name="connsiteY31" fmla="*/ 6524 h 463092"/>
                <a:gd name="connisteX32" fmla="*/ 1113155 w 1309736"/>
                <a:gd name="connsiteY32" fmla="*/ 447849 h 463092"/>
                <a:gd name="connisteX33" fmla="*/ 1127760 w 1309736"/>
                <a:gd name="connsiteY33" fmla="*/ 16684 h 463092"/>
                <a:gd name="connisteX34" fmla="*/ 1153160 w 1309736"/>
                <a:gd name="connsiteY34" fmla="*/ 458009 h 463092"/>
                <a:gd name="connisteX35" fmla="*/ 1198245 w 1309736"/>
                <a:gd name="connsiteY35" fmla="*/ 11604 h 463092"/>
                <a:gd name="connisteX36" fmla="*/ 1212850 w 1309736"/>
                <a:gd name="connsiteY36" fmla="*/ 442769 h 463092"/>
                <a:gd name="connisteX37" fmla="*/ 1263015 w 1309736"/>
                <a:gd name="connsiteY37" fmla="*/ 11604 h 463092"/>
                <a:gd name="connisteX38" fmla="*/ 1278255 w 1309736"/>
                <a:gd name="connsiteY38" fmla="*/ 447849 h 463092"/>
                <a:gd name="connisteX39" fmla="*/ 1308100 w 1309736"/>
                <a:gd name="connsiteY39" fmla="*/ 231949 h 463092"/>
                <a:gd name="connisteX40" fmla="*/ 1303655 w 1309736"/>
                <a:gd name="connsiteY40" fmla="*/ 231949 h 46309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1309736" h="463092">
                  <a:moveTo>
                    <a:pt x="0" y="227505"/>
                  </a:moveTo>
                  <a:cubicBezTo>
                    <a:pt x="8255" y="174165"/>
                    <a:pt x="26035" y="-39830"/>
                    <a:pt x="45085" y="6525"/>
                  </a:cubicBezTo>
                  <a:cubicBezTo>
                    <a:pt x="64135" y="52880"/>
                    <a:pt x="81280" y="456740"/>
                    <a:pt x="95250" y="458010"/>
                  </a:cubicBezTo>
                  <a:cubicBezTo>
                    <a:pt x="109220" y="459280"/>
                    <a:pt x="106045" y="12875"/>
                    <a:pt x="114935" y="11605"/>
                  </a:cubicBezTo>
                  <a:cubicBezTo>
                    <a:pt x="123825" y="10335"/>
                    <a:pt x="131445" y="452930"/>
                    <a:pt x="140335" y="452930"/>
                  </a:cubicBezTo>
                  <a:cubicBezTo>
                    <a:pt x="149225" y="452930"/>
                    <a:pt x="153670" y="12875"/>
                    <a:pt x="160655" y="11605"/>
                  </a:cubicBezTo>
                  <a:cubicBezTo>
                    <a:pt x="167640" y="10335"/>
                    <a:pt x="165100" y="449120"/>
                    <a:pt x="175260" y="447850"/>
                  </a:cubicBezTo>
                  <a:cubicBezTo>
                    <a:pt x="185420" y="446580"/>
                    <a:pt x="200025" y="5255"/>
                    <a:pt x="210185" y="6525"/>
                  </a:cubicBezTo>
                  <a:cubicBezTo>
                    <a:pt x="220345" y="7795"/>
                    <a:pt x="214630" y="451025"/>
                    <a:pt x="225425" y="452930"/>
                  </a:cubicBezTo>
                  <a:cubicBezTo>
                    <a:pt x="236220" y="454835"/>
                    <a:pt x="256540" y="14780"/>
                    <a:pt x="265430" y="16685"/>
                  </a:cubicBezTo>
                  <a:cubicBezTo>
                    <a:pt x="274320" y="18590"/>
                    <a:pt x="259715" y="464360"/>
                    <a:pt x="270510" y="463090"/>
                  </a:cubicBezTo>
                  <a:cubicBezTo>
                    <a:pt x="281305" y="461820"/>
                    <a:pt x="301625" y="14780"/>
                    <a:pt x="320675" y="11605"/>
                  </a:cubicBezTo>
                  <a:cubicBezTo>
                    <a:pt x="339725" y="8430"/>
                    <a:pt x="345440" y="447850"/>
                    <a:pt x="365760" y="447850"/>
                  </a:cubicBezTo>
                  <a:cubicBezTo>
                    <a:pt x="386080" y="447850"/>
                    <a:pt x="401955" y="8430"/>
                    <a:pt x="421005" y="11605"/>
                  </a:cubicBezTo>
                  <a:cubicBezTo>
                    <a:pt x="440055" y="14780"/>
                    <a:pt x="445135" y="463090"/>
                    <a:pt x="461010" y="463090"/>
                  </a:cubicBezTo>
                  <a:cubicBezTo>
                    <a:pt x="476885" y="463090"/>
                    <a:pt x="487045" y="13510"/>
                    <a:pt x="501015" y="11605"/>
                  </a:cubicBezTo>
                  <a:cubicBezTo>
                    <a:pt x="514985" y="9700"/>
                    <a:pt x="520700" y="454835"/>
                    <a:pt x="531495" y="452930"/>
                  </a:cubicBezTo>
                  <a:cubicBezTo>
                    <a:pt x="542290" y="451025"/>
                    <a:pt x="544195" y="2715"/>
                    <a:pt x="556260" y="1445"/>
                  </a:cubicBezTo>
                  <a:cubicBezTo>
                    <a:pt x="568325" y="175"/>
                    <a:pt x="575945" y="445945"/>
                    <a:pt x="591185" y="447850"/>
                  </a:cubicBezTo>
                  <a:cubicBezTo>
                    <a:pt x="606425" y="449755"/>
                    <a:pt x="617855" y="10335"/>
                    <a:pt x="631825" y="11605"/>
                  </a:cubicBezTo>
                  <a:cubicBezTo>
                    <a:pt x="645795" y="12875"/>
                    <a:pt x="649605" y="454835"/>
                    <a:pt x="661670" y="452930"/>
                  </a:cubicBezTo>
                  <a:cubicBezTo>
                    <a:pt x="673735" y="451025"/>
                    <a:pt x="682625" y="2715"/>
                    <a:pt x="691515" y="1445"/>
                  </a:cubicBezTo>
                  <a:cubicBezTo>
                    <a:pt x="700405" y="175"/>
                    <a:pt x="696595" y="446580"/>
                    <a:pt x="706755" y="447850"/>
                  </a:cubicBezTo>
                  <a:cubicBezTo>
                    <a:pt x="716915" y="449120"/>
                    <a:pt x="731520" y="5255"/>
                    <a:pt x="741680" y="6525"/>
                  </a:cubicBezTo>
                  <a:cubicBezTo>
                    <a:pt x="751840" y="7795"/>
                    <a:pt x="744855" y="454200"/>
                    <a:pt x="756920" y="452930"/>
                  </a:cubicBezTo>
                  <a:cubicBezTo>
                    <a:pt x="768985" y="451660"/>
                    <a:pt x="788035" y="1445"/>
                    <a:pt x="802005" y="1445"/>
                  </a:cubicBezTo>
                  <a:cubicBezTo>
                    <a:pt x="815975" y="1445"/>
                    <a:pt x="814070" y="451660"/>
                    <a:pt x="827405" y="452930"/>
                  </a:cubicBezTo>
                  <a:cubicBezTo>
                    <a:pt x="840740" y="454200"/>
                    <a:pt x="852170" y="5255"/>
                    <a:pt x="867410" y="6525"/>
                  </a:cubicBezTo>
                  <a:cubicBezTo>
                    <a:pt x="882650" y="7795"/>
                    <a:pt x="882015" y="456740"/>
                    <a:pt x="902335" y="458010"/>
                  </a:cubicBezTo>
                  <a:cubicBezTo>
                    <a:pt x="922655" y="459280"/>
                    <a:pt x="948690" y="11605"/>
                    <a:pt x="967740" y="11605"/>
                  </a:cubicBezTo>
                  <a:cubicBezTo>
                    <a:pt x="986790" y="11605"/>
                    <a:pt x="978535" y="459280"/>
                    <a:pt x="997585" y="458010"/>
                  </a:cubicBezTo>
                  <a:cubicBezTo>
                    <a:pt x="1016635" y="456740"/>
                    <a:pt x="1040130" y="8430"/>
                    <a:pt x="1062990" y="6525"/>
                  </a:cubicBezTo>
                  <a:cubicBezTo>
                    <a:pt x="1085850" y="4620"/>
                    <a:pt x="1100455" y="445945"/>
                    <a:pt x="1113155" y="447850"/>
                  </a:cubicBezTo>
                  <a:cubicBezTo>
                    <a:pt x="1125855" y="449755"/>
                    <a:pt x="1119505" y="14780"/>
                    <a:pt x="1127760" y="16685"/>
                  </a:cubicBezTo>
                  <a:cubicBezTo>
                    <a:pt x="1136015" y="18590"/>
                    <a:pt x="1139190" y="459280"/>
                    <a:pt x="1153160" y="458010"/>
                  </a:cubicBezTo>
                  <a:cubicBezTo>
                    <a:pt x="1167130" y="456740"/>
                    <a:pt x="1186180" y="14780"/>
                    <a:pt x="1198245" y="11605"/>
                  </a:cubicBezTo>
                  <a:cubicBezTo>
                    <a:pt x="1210310" y="8430"/>
                    <a:pt x="1200150" y="442770"/>
                    <a:pt x="1212850" y="442770"/>
                  </a:cubicBezTo>
                  <a:cubicBezTo>
                    <a:pt x="1225550" y="442770"/>
                    <a:pt x="1249680" y="10335"/>
                    <a:pt x="1263015" y="11605"/>
                  </a:cubicBezTo>
                  <a:cubicBezTo>
                    <a:pt x="1276350" y="12875"/>
                    <a:pt x="1269365" y="404035"/>
                    <a:pt x="1278255" y="447850"/>
                  </a:cubicBezTo>
                  <a:cubicBezTo>
                    <a:pt x="1287145" y="491665"/>
                    <a:pt x="1303020" y="275130"/>
                    <a:pt x="1308100" y="231950"/>
                  </a:cubicBezTo>
                  <a:cubicBezTo>
                    <a:pt x="1313180" y="188770"/>
                    <a:pt x="1304925" y="227505"/>
                    <a:pt x="1303655" y="23195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35" name="任意多边形 219"/>
            <p:cNvSpPr/>
            <p:nvPr/>
          </p:nvSpPr>
          <p:spPr>
            <a:xfrm>
              <a:off x="2555875" y="2505075"/>
              <a:ext cx="1310005" cy="462915"/>
            </a:xfrm>
            <a:custGeom>
              <a:avLst/>
              <a:gdLst>
                <a:gd name="connisteX0" fmla="*/ 0 w 1309736"/>
                <a:gd name="connsiteY0" fmla="*/ 227504 h 463092"/>
                <a:gd name="connisteX1" fmla="*/ 45085 w 1309736"/>
                <a:gd name="connsiteY1" fmla="*/ 6524 h 463092"/>
                <a:gd name="connisteX2" fmla="*/ 95250 w 1309736"/>
                <a:gd name="connsiteY2" fmla="*/ 458009 h 463092"/>
                <a:gd name="connisteX3" fmla="*/ 114935 w 1309736"/>
                <a:gd name="connsiteY3" fmla="*/ 11604 h 463092"/>
                <a:gd name="connisteX4" fmla="*/ 140335 w 1309736"/>
                <a:gd name="connsiteY4" fmla="*/ 452929 h 463092"/>
                <a:gd name="connisteX5" fmla="*/ 160655 w 1309736"/>
                <a:gd name="connsiteY5" fmla="*/ 11604 h 463092"/>
                <a:gd name="connisteX6" fmla="*/ 175260 w 1309736"/>
                <a:gd name="connsiteY6" fmla="*/ 447849 h 463092"/>
                <a:gd name="connisteX7" fmla="*/ 210185 w 1309736"/>
                <a:gd name="connsiteY7" fmla="*/ 6524 h 463092"/>
                <a:gd name="connisteX8" fmla="*/ 225425 w 1309736"/>
                <a:gd name="connsiteY8" fmla="*/ 452929 h 463092"/>
                <a:gd name="connisteX9" fmla="*/ 265430 w 1309736"/>
                <a:gd name="connsiteY9" fmla="*/ 16684 h 463092"/>
                <a:gd name="connisteX10" fmla="*/ 270510 w 1309736"/>
                <a:gd name="connsiteY10" fmla="*/ 463089 h 463092"/>
                <a:gd name="connisteX11" fmla="*/ 320675 w 1309736"/>
                <a:gd name="connsiteY11" fmla="*/ 11604 h 463092"/>
                <a:gd name="connisteX12" fmla="*/ 365760 w 1309736"/>
                <a:gd name="connsiteY12" fmla="*/ 447849 h 463092"/>
                <a:gd name="connisteX13" fmla="*/ 421005 w 1309736"/>
                <a:gd name="connsiteY13" fmla="*/ 11604 h 463092"/>
                <a:gd name="connisteX14" fmla="*/ 461010 w 1309736"/>
                <a:gd name="connsiteY14" fmla="*/ 463089 h 463092"/>
                <a:gd name="connisteX15" fmla="*/ 501015 w 1309736"/>
                <a:gd name="connsiteY15" fmla="*/ 11604 h 463092"/>
                <a:gd name="connisteX16" fmla="*/ 531495 w 1309736"/>
                <a:gd name="connsiteY16" fmla="*/ 452929 h 463092"/>
                <a:gd name="connisteX17" fmla="*/ 556260 w 1309736"/>
                <a:gd name="connsiteY17" fmla="*/ 1444 h 463092"/>
                <a:gd name="connisteX18" fmla="*/ 591185 w 1309736"/>
                <a:gd name="connsiteY18" fmla="*/ 447849 h 463092"/>
                <a:gd name="connisteX19" fmla="*/ 631825 w 1309736"/>
                <a:gd name="connsiteY19" fmla="*/ 11604 h 463092"/>
                <a:gd name="connisteX20" fmla="*/ 661670 w 1309736"/>
                <a:gd name="connsiteY20" fmla="*/ 452929 h 463092"/>
                <a:gd name="connisteX21" fmla="*/ 691515 w 1309736"/>
                <a:gd name="connsiteY21" fmla="*/ 1444 h 463092"/>
                <a:gd name="connisteX22" fmla="*/ 706755 w 1309736"/>
                <a:gd name="connsiteY22" fmla="*/ 447849 h 463092"/>
                <a:gd name="connisteX23" fmla="*/ 741680 w 1309736"/>
                <a:gd name="connsiteY23" fmla="*/ 6524 h 463092"/>
                <a:gd name="connisteX24" fmla="*/ 756920 w 1309736"/>
                <a:gd name="connsiteY24" fmla="*/ 452929 h 463092"/>
                <a:gd name="connisteX25" fmla="*/ 802005 w 1309736"/>
                <a:gd name="connsiteY25" fmla="*/ 1444 h 463092"/>
                <a:gd name="connisteX26" fmla="*/ 827405 w 1309736"/>
                <a:gd name="connsiteY26" fmla="*/ 452929 h 463092"/>
                <a:gd name="connisteX27" fmla="*/ 867410 w 1309736"/>
                <a:gd name="connsiteY27" fmla="*/ 6524 h 463092"/>
                <a:gd name="connisteX28" fmla="*/ 902335 w 1309736"/>
                <a:gd name="connsiteY28" fmla="*/ 458009 h 463092"/>
                <a:gd name="connisteX29" fmla="*/ 967740 w 1309736"/>
                <a:gd name="connsiteY29" fmla="*/ 11604 h 463092"/>
                <a:gd name="connisteX30" fmla="*/ 997585 w 1309736"/>
                <a:gd name="connsiteY30" fmla="*/ 458009 h 463092"/>
                <a:gd name="connisteX31" fmla="*/ 1062990 w 1309736"/>
                <a:gd name="connsiteY31" fmla="*/ 6524 h 463092"/>
                <a:gd name="connisteX32" fmla="*/ 1113155 w 1309736"/>
                <a:gd name="connsiteY32" fmla="*/ 447849 h 463092"/>
                <a:gd name="connisteX33" fmla="*/ 1127760 w 1309736"/>
                <a:gd name="connsiteY33" fmla="*/ 16684 h 463092"/>
                <a:gd name="connisteX34" fmla="*/ 1153160 w 1309736"/>
                <a:gd name="connsiteY34" fmla="*/ 458009 h 463092"/>
                <a:gd name="connisteX35" fmla="*/ 1198245 w 1309736"/>
                <a:gd name="connsiteY35" fmla="*/ 11604 h 463092"/>
                <a:gd name="connisteX36" fmla="*/ 1212850 w 1309736"/>
                <a:gd name="connsiteY36" fmla="*/ 442769 h 463092"/>
                <a:gd name="connisteX37" fmla="*/ 1263015 w 1309736"/>
                <a:gd name="connsiteY37" fmla="*/ 11604 h 463092"/>
                <a:gd name="connisteX38" fmla="*/ 1278255 w 1309736"/>
                <a:gd name="connsiteY38" fmla="*/ 447849 h 463092"/>
                <a:gd name="connisteX39" fmla="*/ 1308100 w 1309736"/>
                <a:gd name="connsiteY39" fmla="*/ 231949 h 463092"/>
                <a:gd name="connisteX40" fmla="*/ 1303655 w 1309736"/>
                <a:gd name="connsiteY40" fmla="*/ 231949 h 46309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1309736" h="463092">
                  <a:moveTo>
                    <a:pt x="0" y="227505"/>
                  </a:moveTo>
                  <a:cubicBezTo>
                    <a:pt x="8255" y="174165"/>
                    <a:pt x="26035" y="-39830"/>
                    <a:pt x="45085" y="6525"/>
                  </a:cubicBezTo>
                  <a:cubicBezTo>
                    <a:pt x="64135" y="52880"/>
                    <a:pt x="81280" y="456740"/>
                    <a:pt x="95250" y="458010"/>
                  </a:cubicBezTo>
                  <a:cubicBezTo>
                    <a:pt x="109220" y="459280"/>
                    <a:pt x="106045" y="12875"/>
                    <a:pt x="114935" y="11605"/>
                  </a:cubicBezTo>
                  <a:cubicBezTo>
                    <a:pt x="123825" y="10335"/>
                    <a:pt x="131445" y="452930"/>
                    <a:pt x="140335" y="452930"/>
                  </a:cubicBezTo>
                  <a:cubicBezTo>
                    <a:pt x="149225" y="452930"/>
                    <a:pt x="153670" y="12875"/>
                    <a:pt x="160655" y="11605"/>
                  </a:cubicBezTo>
                  <a:cubicBezTo>
                    <a:pt x="167640" y="10335"/>
                    <a:pt x="165100" y="449120"/>
                    <a:pt x="175260" y="447850"/>
                  </a:cubicBezTo>
                  <a:cubicBezTo>
                    <a:pt x="185420" y="446580"/>
                    <a:pt x="200025" y="5255"/>
                    <a:pt x="210185" y="6525"/>
                  </a:cubicBezTo>
                  <a:cubicBezTo>
                    <a:pt x="220345" y="7795"/>
                    <a:pt x="214630" y="451025"/>
                    <a:pt x="225425" y="452930"/>
                  </a:cubicBezTo>
                  <a:cubicBezTo>
                    <a:pt x="236220" y="454835"/>
                    <a:pt x="256540" y="14780"/>
                    <a:pt x="265430" y="16685"/>
                  </a:cubicBezTo>
                  <a:cubicBezTo>
                    <a:pt x="274320" y="18590"/>
                    <a:pt x="259715" y="464360"/>
                    <a:pt x="270510" y="463090"/>
                  </a:cubicBezTo>
                  <a:cubicBezTo>
                    <a:pt x="281305" y="461820"/>
                    <a:pt x="301625" y="14780"/>
                    <a:pt x="320675" y="11605"/>
                  </a:cubicBezTo>
                  <a:cubicBezTo>
                    <a:pt x="339725" y="8430"/>
                    <a:pt x="345440" y="447850"/>
                    <a:pt x="365760" y="447850"/>
                  </a:cubicBezTo>
                  <a:cubicBezTo>
                    <a:pt x="386080" y="447850"/>
                    <a:pt x="401955" y="8430"/>
                    <a:pt x="421005" y="11605"/>
                  </a:cubicBezTo>
                  <a:cubicBezTo>
                    <a:pt x="440055" y="14780"/>
                    <a:pt x="445135" y="463090"/>
                    <a:pt x="461010" y="463090"/>
                  </a:cubicBezTo>
                  <a:cubicBezTo>
                    <a:pt x="476885" y="463090"/>
                    <a:pt x="487045" y="13510"/>
                    <a:pt x="501015" y="11605"/>
                  </a:cubicBezTo>
                  <a:cubicBezTo>
                    <a:pt x="514985" y="9700"/>
                    <a:pt x="520700" y="454835"/>
                    <a:pt x="531495" y="452930"/>
                  </a:cubicBezTo>
                  <a:cubicBezTo>
                    <a:pt x="542290" y="451025"/>
                    <a:pt x="544195" y="2715"/>
                    <a:pt x="556260" y="1445"/>
                  </a:cubicBezTo>
                  <a:cubicBezTo>
                    <a:pt x="568325" y="175"/>
                    <a:pt x="575945" y="445945"/>
                    <a:pt x="591185" y="447850"/>
                  </a:cubicBezTo>
                  <a:cubicBezTo>
                    <a:pt x="606425" y="449755"/>
                    <a:pt x="617855" y="10335"/>
                    <a:pt x="631825" y="11605"/>
                  </a:cubicBezTo>
                  <a:cubicBezTo>
                    <a:pt x="645795" y="12875"/>
                    <a:pt x="649605" y="454835"/>
                    <a:pt x="661670" y="452930"/>
                  </a:cubicBezTo>
                  <a:cubicBezTo>
                    <a:pt x="673735" y="451025"/>
                    <a:pt x="682625" y="2715"/>
                    <a:pt x="691515" y="1445"/>
                  </a:cubicBezTo>
                  <a:cubicBezTo>
                    <a:pt x="700405" y="175"/>
                    <a:pt x="696595" y="446580"/>
                    <a:pt x="706755" y="447850"/>
                  </a:cubicBezTo>
                  <a:cubicBezTo>
                    <a:pt x="716915" y="449120"/>
                    <a:pt x="731520" y="5255"/>
                    <a:pt x="741680" y="6525"/>
                  </a:cubicBezTo>
                  <a:cubicBezTo>
                    <a:pt x="751840" y="7795"/>
                    <a:pt x="744855" y="454200"/>
                    <a:pt x="756920" y="452930"/>
                  </a:cubicBezTo>
                  <a:cubicBezTo>
                    <a:pt x="768985" y="451660"/>
                    <a:pt x="788035" y="1445"/>
                    <a:pt x="802005" y="1445"/>
                  </a:cubicBezTo>
                  <a:cubicBezTo>
                    <a:pt x="815975" y="1445"/>
                    <a:pt x="814070" y="451660"/>
                    <a:pt x="827405" y="452930"/>
                  </a:cubicBezTo>
                  <a:cubicBezTo>
                    <a:pt x="840740" y="454200"/>
                    <a:pt x="852170" y="5255"/>
                    <a:pt x="867410" y="6525"/>
                  </a:cubicBezTo>
                  <a:cubicBezTo>
                    <a:pt x="882650" y="7795"/>
                    <a:pt x="882015" y="456740"/>
                    <a:pt x="902335" y="458010"/>
                  </a:cubicBezTo>
                  <a:cubicBezTo>
                    <a:pt x="922655" y="459280"/>
                    <a:pt x="948690" y="11605"/>
                    <a:pt x="967740" y="11605"/>
                  </a:cubicBezTo>
                  <a:cubicBezTo>
                    <a:pt x="986790" y="11605"/>
                    <a:pt x="978535" y="459280"/>
                    <a:pt x="997585" y="458010"/>
                  </a:cubicBezTo>
                  <a:cubicBezTo>
                    <a:pt x="1016635" y="456740"/>
                    <a:pt x="1040130" y="8430"/>
                    <a:pt x="1062990" y="6525"/>
                  </a:cubicBezTo>
                  <a:cubicBezTo>
                    <a:pt x="1085850" y="4620"/>
                    <a:pt x="1100455" y="445945"/>
                    <a:pt x="1113155" y="447850"/>
                  </a:cubicBezTo>
                  <a:cubicBezTo>
                    <a:pt x="1125855" y="449755"/>
                    <a:pt x="1119505" y="14780"/>
                    <a:pt x="1127760" y="16685"/>
                  </a:cubicBezTo>
                  <a:cubicBezTo>
                    <a:pt x="1136015" y="18590"/>
                    <a:pt x="1139190" y="459280"/>
                    <a:pt x="1153160" y="458010"/>
                  </a:cubicBezTo>
                  <a:cubicBezTo>
                    <a:pt x="1167130" y="456740"/>
                    <a:pt x="1186180" y="14780"/>
                    <a:pt x="1198245" y="11605"/>
                  </a:cubicBezTo>
                  <a:cubicBezTo>
                    <a:pt x="1210310" y="8430"/>
                    <a:pt x="1200150" y="442770"/>
                    <a:pt x="1212850" y="442770"/>
                  </a:cubicBezTo>
                  <a:cubicBezTo>
                    <a:pt x="1225550" y="442770"/>
                    <a:pt x="1249680" y="10335"/>
                    <a:pt x="1263015" y="11605"/>
                  </a:cubicBezTo>
                  <a:cubicBezTo>
                    <a:pt x="1276350" y="12875"/>
                    <a:pt x="1269365" y="404035"/>
                    <a:pt x="1278255" y="447850"/>
                  </a:cubicBezTo>
                  <a:cubicBezTo>
                    <a:pt x="1287145" y="491665"/>
                    <a:pt x="1303020" y="275130"/>
                    <a:pt x="1308100" y="231950"/>
                  </a:cubicBezTo>
                  <a:cubicBezTo>
                    <a:pt x="1313180" y="188770"/>
                    <a:pt x="1304925" y="227505"/>
                    <a:pt x="1303655" y="23195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36" name="任意多边形 220"/>
            <p:cNvSpPr/>
            <p:nvPr/>
          </p:nvSpPr>
          <p:spPr>
            <a:xfrm>
              <a:off x="1841500" y="2508250"/>
              <a:ext cx="716915" cy="466090"/>
            </a:xfrm>
            <a:custGeom>
              <a:avLst/>
              <a:gdLst>
                <a:gd name="connisteX0" fmla="*/ 0 w 716646"/>
                <a:gd name="connsiteY0" fmla="*/ 225427 h 466095"/>
                <a:gd name="connisteX1" fmla="*/ 24765 w 716646"/>
                <a:gd name="connsiteY1" fmla="*/ 10162 h 466095"/>
                <a:gd name="connisteX2" fmla="*/ 90170 w 716646"/>
                <a:gd name="connsiteY2" fmla="*/ 461012 h 466095"/>
                <a:gd name="connisteX3" fmla="*/ 114935 w 716646"/>
                <a:gd name="connsiteY3" fmla="*/ 5082 h 466095"/>
                <a:gd name="connisteX4" fmla="*/ 185420 w 716646"/>
                <a:gd name="connsiteY4" fmla="*/ 461012 h 466095"/>
                <a:gd name="connisteX5" fmla="*/ 200025 w 716646"/>
                <a:gd name="connsiteY5" fmla="*/ 5082 h 466095"/>
                <a:gd name="connisteX6" fmla="*/ 240030 w 716646"/>
                <a:gd name="connsiteY6" fmla="*/ 441327 h 466095"/>
                <a:gd name="connisteX7" fmla="*/ 265430 w 716646"/>
                <a:gd name="connsiteY7" fmla="*/ 2 h 466095"/>
                <a:gd name="connisteX8" fmla="*/ 290195 w 716646"/>
                <a:gd name="connsiteY8" fmla="*/ 446407 h 466095"/>
                <a:gd name="connisteX9" fmla="*/ 340360 w 716646"/>
                <a:gd name="connsiteY9" fmla="*/ 15242 h 466095"/>
                <a:gd name="connisteX10" fmla="*/ 360680 w 716646"/>
                <a:gd name="connsiteY10" fmla="*/ 461012 h 466095"/>
                <a:gd name="connisteX11" fmla="*/ 426085 w 716646"/>
                <a:gd name="connsiteY11" fmla="*/ 5082 h 466095"/>
                <a:gd name="connisteX12" fmla="*/ 435610 w 716646"/>
                <a:gd name="connsiteY12" fmla="*/ 466092 h 466095"/>
                <a:gd name="connisteX13" fmla="*/ 521335 w 716646"/>
                <a:gd name="connsiteY13" fmla="*/ 10162 h 466095"/>
                <a:gd name="connisteX14" fmla="*/ 571500 w 716646"/>
                <a:gd name="connsiteY14" fmla="*/ 456567 h 466095"/>
                <a:gd name="connisteX15" fmla="*/ 621030 w 716646"/>
                <a:gd name="connsiteY15" fmla="*/ 20322 h 466095"/>
                <a:gd name="connisteX16" fmla="*/ 661670 w 716646"/>
                <a:gd name="connsiteY16" fmla="*/ 441327 h 466095"/>
                <a:gd name="connisteX17" fmla="*/ 711835 w 716646"/>
                <a:gd name="connsiteY17" fmla="*/ 220982 h 466095"/>
                <a:gd name="connisteX18" fmla="*/ 711835 w 716646"/>
                <a:gd name="connsiteY18" fmla="*/ 225427 h 4660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Lst>
              <a:rect l="l" t="t" r="r" b="b"/>
              <a:pathLst>
                <a:path w="716646" h="466095">
                  <a:moveTo>
                    <a:pt x="0" y="225428"/>
                  </a:moveTo>
                  <a:cubicBezTo>
                    <a:pt x="3810" y="173358"/>
                    <a:pt x="6985" y="-36827"/>
                    <a:pt x="24765" y="10163"/>
                  </a:cubicBezTo>
                  <a:cubicBezTo>
                    <a:pt x="42545" y="57153"/>
                    <a:pt x="72390" y="462283"/>
                    <a:pt x="90170" y="461013"/>
                  </a:cubicBezTo>
                  <a:cubicBezTo>
                    <a:pt x="107950" y="459743"/>
                    <a:pt x="95885" y="5083"/>
                    <a:pt x="114935" y="5083"/>
                  </a:cubicBezTo>
                  <a:cubicBezTo>
                    <a:pt x="133985" y="5083"/>
                    <a:pt x="168275" y="461013"/>
                    <a:pt x="185420" y="461013"/>
                  </a:cubicBezTo>
                  <a:cubicBezTo>
                    <a:pt x="202565" y="461013"/>
                    <a:pt x="189230" y="8893"/>
                    <a:pt x="200025" y="5083"/>
                  </a:cubicBezTo>
                  <a:cubicBezTo>
                    <a:pt x="210820" y="1273"/>
                    <a:pt x="226695" y="442598"/>
                    <a:pt x="240030" y="441328"/>
                  </a:cubicBezTo>
                  <a:cubicBezTo>
                    <a:pt x="253365" y="440058"/>
                    <a:pt x="255270" y="-1267"/>
                    <a:pt x="265430" y="3"/>
                  </a:cubicBezTo>
                  <a:cubicBezTo>
                    <a:pt x="275590" y="1273"/>
                    <a:pt x="274955" y="443233"/>
                    <a:pt x="290195" y="446408"/>
                  </a:cubicBezTo>
                  <a:cubicBezTo>
                    <a:pt x="305435" y="449583"/>
                    <a:pt x="326390" y="12068"/>
                    <a:pt x="340360" y="15243"/>
                  </a:cubicBezTo>
                  <a:cubicBezTo>
                    <a:pt x="354330" y="18418"/>
                    <a:pt x="343535" y="462918"/>
                    <a:pt x="360680" y="461013"/>
                  </a:cubicBezTo>
                  <a:cubicBezTo>
                    <a:pt x="377825" y="459108"/>
                    <a:pt x="410845" y="3813"/>
                    <a:pt x="426085" y="5083"/>
                  </a:cubicBezTo>
                  <a:cubicBezTo>
                    <a:pt x="441325" y="6353"/>
                    <a:pt x="416560" y="464823"/>
                    <a:pt x="435610" y="466093"/>
                  </a:cubicBezTo>
                  <a:cubicBezTo>
                    <a:pt x="454660" y="467363"/>
                    <a:pt x="494030" y="12068"/>
                    <a:pt x="521335" y="10163"/>
                  </a:cubicBezTo>
                  <a:cubicBezTo>
                    <a:pt x="548640" y="8258"/>
                    <a:pt x="551815" y="454663"/>
                    <a:pt x="571500" y="456568"/>
                  </a:cubicBezTo>
                  <a:cubicBezTo>
                    <a:pt x="591185" y="458473"/>
                    <a:pt x="603250" y="23498"/>
                    <a:pt x="621030" y="20323"/>
                  </a:cubicBezTo>
                  <a:cubicBezTo>
                    <a:pt x="638810" y="17148"/>
                    <a:pt x="643255" y="401323"/>
                    <a:pt x="661670" y="441328"/>
                  </a:cubicBezTo>
                  <a:cubicBezTo>
                    <a:pt x="680085" y="481333"/>
                    <a:pt x="701675" y="264163"/>
                    <a:pt x="711835" y="220983"/>
                  </a:cubicBezTo>
                  <a:cubicBezTo>
                    <a:pt x="721995" y="177803"/>
                    <a:pt x="713105" y="220348"/>
                    <a:pt x="711835" y="22542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grpSp>
      <p:sp>
        <p:nvSpPr>
          <p:cNvPr id="15" name="文本框 14"/>
          <p:cNvSpPr txBox="1"/>
          <p:nvPr/>
        </p:nvSpPr>
        <p:spPr>
          <a:xfrm>
            <a:off x="6892925" y="5745480"/>
            <a:ext cx="5210175" cy="645160"/>
          </a:xfrm>
          <a:prstGeom prst="rect">
            <a:avLst/>
          </a:prstGeom>
          <a:noFill/>
          <a:ln w="9525">
            <a:noFill/>
          </a:ln>
        </p:spPr>
        <p:txBody>
          <a:bodyPr wrap="square">
            <a:spAutoFit/>
          </a:bodyPr>
          <a:lstStyle/>
          <a:p>
            <a:pPr indent="0" algn="ctr"/>
            <a:r>
              <a:rPr lang="zh-CN" b="0">
                <a:ea typeface="宋体" panose="02010600030101010101" pitchFamily="2" charset="-122"/>
              </a:rPr>
              <a:t>图</a:t>
            </a:r>
            <a:r>
              <a:rPr lang="en-US" b="0">
                <a:latin typeface="Times New Roman" panose="02020603050405020304" charset="0"/>
                <a:ea typeface="宋体" panose="02010600030101010101" pitchFamily="2" charset="-122"/>
              </a:rPr>
              <a:t>3-3-1  </a:t>
            </a:r>
            <a:r>
              <a:rPr lang="zh-CN" b="0">
                <a:ea typeface="宋体" panose="02010600030101010101" pitchFamily="2" charset="-122"/>
              </a:rPr>
              <a:t>模拟信号调制图</a:t>
            </a:r>
            <a:r>
              <a:rPr lang="zh-CN" b="0">
                <a:latin typeface="Times New Roman" panose="02020603050405020304" charset="0"/>
                <a:ea typeface="宋体" panose="02010600030101010101" pitchFamily="2" charset="-122"/>
              </a:rPr>
              <a:t>（</a:t>
            </a:r>
            <a:r>
              <a:rPr lang="en-US" b="0">
                <a:latin typeface="Times New Roman" panose="02020603050405020304" charset="0"/>
                <a:ea typeface="宋体" panose="02010600030101010101" pitchFamily="2" charset="-122"/>
              </a:rPr>
              <a:t>a:</a:t>
            </a:r>
            <a:r>
              <a:rPr lang="zh-CN" b="0">
                <a:latin typeface="Times New Roman" panose="02020603050405020304" charset="0"/>
                <a:ea typeface="宋体" panose="02010600030101010101" pitchFamily="2" charset="-122"/>
              </a:rPr>
              <a:t>音频信号；</a:t>
            </a:r>
            <a:r>
              <a:rPr lang="en-US" b="0">
                <a:latin typeface="Times New Roman" panose="02020603050405020304" charset="0"/>
                <a:ea typeface="宋体" panose="02010600030101010101" pitchFamily="2" charset="-122"/>
              </a:rPr>
              <a:t>b:</a:t>
            </a:r>
            <a:r>
              <a:rPr lang="zh-CN" b="0">
                <a:latin typeface="Times New Roman" panose="02020603050405020304" charset="0"/>
                <a:ea typeface="宋体" panose="02010600030101010101" pitchFamily="2" charset="-122"/>
              </a:rPr>
              <a:t>高频载波信号；</a:t>
            </a:r>
            <a:r>
              <a:rPr lang="en-US" b="0">
                <a:latin typeface="Times New Roman" panose="02020603050405020304" charset="0"/>
                <a:ea typeface="宋体" panose="02010600030101010101" pitchFamily="2" charset="-122"/>
              </a:rPr>
              <a:t>c:</a:t>
            </a:r>
            <a:r>
              <a:rPr lang="zh-CN" b="0">
                <a:latin typeface="Times New Roman" panose="02020603050405020304" charset="0"/>
                <a:ea typeface="宋体" panose="02010600030101010101" pitchFamily="2" charset="-122"/>
              </a:rPr>
              <a:t>调幅信号；</a:t>
            </a:r>
            <a:r>
              <a:rPr lang="en-US" b="0">
                <a:latin typeface="Times New Roman" panose="02020603050405020304" charset="0"/>
                <a:ea typeface="宋体" panose="02010600030101010101" pitchFamily="2" charset="-122"/>
              </a:rPr>
              <a:t>d:</a:t>
            </a:r>
            <a:r>
              <a:rPr lang="zh-CN" b="0">
                <a:latin typeface="Times New Roman" panose="02020603050405020304" charset="0"/>
                <a:ea typeface="宋体" panose="02010600030101010101" pitchFamily="2" charset="-122"/>
              </a:rPr>
              <a:t>调频信号）</a:t>
            </a:r>
            <a:endParaRPr lang="zh-CN" altLang="en-US"/>
          </a:p>
        </p:txBody>
      </p:sp>
      <p:sp>
        <p:nvSpPr>
          <p:cNvPr id="13" name="标题 1"/>
          <p:cNvSpPr>
            <a:spLocks noGrp="1"/>
          </p:cNvSpPr>
          <p:nvPr>
            <p:ph type="title"/>
          </p:nvPr>
        </p:nvSpPr>
        <p:spPr>
          <a:xfrm>
            <a:off x="641350" y="110490"/>
            <a:ext cx="7310755" cy="1325880"/>
          </a:xfrm>
        </p:spPr>
        <p:txBody>
          <a:bodyPr/>
          <a:p>
            <a:r>
              <a:rPr lang="en-US" sz="4400" b="1" u="sng" dirty="0">
                <a:solidFill>
                  <a:srgbClr val="0563C1"/>
                </a:solidFill>
                <a:latin typeface="Times New Roman" panose="02020603050405020304" charset="0"/>
                <a:ea typeface="宋体" panose="02010600030101010101" pitchFamily="2" charset="-122"/>
                <a:sym typeface="+mn-ea"/>
              </a:rPr>
              <a:t>3.3.1.1  模拟调制</a:t>
            </a:r>
            <a:endParaRPr lang="en-US" sz="4400" b="1" u="sng" dirty="0">
              <a:solidFill>
                <a:srgbClr val="0563C1"/>
              </a:solidFill>
              <a:latin typeface="Times New Roman" panose="0202060305040502030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55625" y="1641475"/>
            <a:ext cx="10909300" cy="4258945"/>
          </a:xfrm>
          <a:prstGeom prst="rect">
            <a:avLst/>
          </a:prstGeom>
          <a:noFill/>
          <a:ln w="9525">
            <a:noFill/>
          </a:ln>
        </p:spPr>
        <p:txBody>
          <a:bodyPr wrap="square">
            <a:spAutoFit/>
          </a:bodyPr>
          <a:lstStyle/>
          <a:p>
            <a:pPr indent="0" algn="l">
              <a:lnSpc>
                <a:spcPct val="90000"/>
              </a:lnSpc>
              <a:spcBef>
                <a:spcPts val="1000"/>
              </a:spcBef>
              <a:buFont typeface="Arial" panose="020B0604020202020204" pitchFamily="34" charset="0"/>
              <a:buNone/>
            </a:pPr>
            <a:r>
              <a:rPr lang="en-US" altLang="zh-CN" sz="2200" b="1">
                <a:ea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数字调制就是将数字信号变成适合于信道传输的波形，调制信号为数字基带信号。调制的方法主要是通过改变幅度相位或者频率来传送信息。用数字信号来进行调幅、调频、调相分别又被称为</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幅移键控</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（Amplitude Shift Keying, ASK）、</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频移键控</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（Frequency Shift Keying, FSK）和</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相移键控</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（Phase Shift Keying, PSK）。每种类型又有很多不同的具体形式，如基于ASK变形的正交载波调制技术、单边带技术、残留边带技术和部分响应技术等，基于FSK的CPFSK（连续相位）与NCPFSK(非连续相位调制)以及基于PSK的多相PSK调制等。</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sym typeface="+mn-ea"/>
              </a:rPr>
              <a:t>    调制的基本原理是用数字信号对载波的不同参量进行调制，即：</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载波    的参量包括幅度A、频率ω和初相位</a:t>
            </a:r>
            <a:r>
              <a:rPr lang="en-US" altLang="zh-CN" sz="2200">
                <a:uFillTx/>
                <a:latin typeface="微软雅黑" panose="020B0503020204020204" pitchFamily="34" charset="-122"/>
                <a:ea typeface="微软雅黑" panose="020B0503020204020204" pitchFamily="34" charset="-122"/>
                <a:cs typeface="宋体" panose="02010600030101010101" pitchFamily="2" charset="-122"/>
                <a:sym typeface="+mn-ea"/>
              </a:rPr>
              <a:t>φ</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，调制就是要使A、ω或</a:t>
            </a:r>
            <a:r>
              <a:rPr lang="en-US" altLang="zh-CN" sz="2200">
                <a:uFillTx/>
                <a:latin typeface="微软雅黑" panose="020B0503020204020204" pitchFamily="34" charset="-122"/>
                <a:ea typeface="微软雅黑" panose="020B0503020204020204" pitchFamily="34" charset="-122"/>
                <a:cs typeface="宋体" panose="02010600030101010101" pitchFamily="2" charset="-122"/>
                <a:sym typeface="+mn-ea"/>
              </a:rPr>
              <a:t>φ</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随数字基带信号的变化而变化。</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0" algn="l">
              <a:lnSpc>
                <a:spcPct val="90000"/>
              </a:lnSpc>
              <a:spcBef>
                <a:spcPts val="1000"/>
              </a:spcBef>
              <a:buFont typeface="Arial" panose="020B0604020202020204" pitchFamily="34" charset="0"/>
              <a:buNone/>
            </a:pPr>
            <a:r>
              <a:rPr lang="en-US" sz="2200" b="1">
                <a:latin typeface="Times New Roman" panose="02020603050405020304" charset="0"/>
                <a:ea typeface="宋体" panose="02010600030101010101" pitchFamily="2" charset="-122"/>
                <a:sym typeface="+mn-ea"/>
              </a:rPr>
              <a:t> </a:t>
            </a:r>
            <a:r>
              <a:rPr lang="en-US" sz="2200" b="1">
                <a:solidFill>
                  <a:srgbClr val="00B0F0"/>
                </a:solidFill>
                <a:latin typeface="Times New Roman" panose="02020603050405020304" charset="0"/>
                <a:ea typeface="宋体" panose="02010600030101010101" pitchFamily="2" charset="-122"/>
                <a:sym typeface="+mn-ea"/>
              </a:rPr>
              <a:t> </a:t>
            </a:r>
            <a:r>
              <a:rPr lang="en-US" sz="2200" b="1">
                <a:solidFill>
                  <a:srgbClr val="00B0F0"/>
                </a:solidFill>
                <a:uFillTx/>
                <a:latin typeface="Times New Roman" panose="02020603050405020304" charset="0"/>
                <a:ea typeface="宋体" panose="02010600030101010101" pitchFamily="2" charset="-122"/>
                <a:sym typeface="+mn-ea"/>
              </a:rPr>
              <a:t> </a:t>
            </a:r>
            <a:endParaRPr lang="zh-CN" altLang="en-US" sz="2200" b="1">
              <a:solidFill>
                <a:srgbClr val="00B0F0"/>
              </a:solidFill>
              <a:uFillTx/>
              <a:ea typeface="宋体" panose="02010600030101010101" pitchFamily="2" charset="-122"/>
              <a:sym typeface="+mn-ea"/>
            </a:endParaRPr>
          </a:p>
        </p:txBody>
      </p:sp>
      <p:graphicFrame>
        <p:nvGraphicFramePr>
          <p:cNvPr id="5" name="对象 -2147482567"/>
          <p:cNvGraphicFramePr>
            <a:graphicFrameLocks noChangeAspect="1"/>
          </p:cNvGraphicFramePr>
          <p:nvPr/>
        </p:nvGraphicFramePr>
        <p:xfrm>
          <a:off x="4719955" y="4309110"/>
          <a:ext cx="2580640" cy="516255"/>
        </p:xfrm>
        <a:graphic>
          <a:graphicData uri="http://schemas.openxmlformats.org/presentationml/2006/ole">
            <mc:AlternateContent xmlns:mc="http://schemas.openxmlformats.org/markup-compatibility/2006">
              <mc:Choice xmlns:v="urn:schemas-microsoft-com:vml" Requires="v">
                <p:oleObj spid="_x0000_s24775" name="" r:id="rId1" imgW="1282700" imgH="254000" progId="Equation.DSMT4">
                  <p:embed/>
                </p:oleObj>
              </mc:Choice>
              <mc:Fallback>
                <p:oleObj name="" r:id="rId1" imgW="1282700" imgH="254000" progId="Equation.DSMT4">
                  <p:embed/>
                  <p:pic>
                    <p:nvPicPr>
                      <p:cNvPr id="0" name="图片 3075"/>
                      <p:cNvPicPr/>
                      <p:nvPr/>
                    </p:nvPicPr>
                    <p:blipFill>
                      <a:blip r:embed="rId2"/>
                      <a:stretch>
                        <a:fillRect/>
                      </a:stretch>
                    </p:blipFill>
                    <p:spPr>
                      <a:xfrm>
                        <a:off x="4719955" y="4309110"/>
                        <a:ext cx="2580640" cy="516255"/>
                      </a:xfrm>
                      <a:prstGeom prst="rect">
                        <a:avLst/>
                      </a:prstGeom>
                      <a:noFill/>
                      <a:ln w="9525">
                        <a:noFill/>
                        <a:miter/>
                      </a:ln>
                    </p:spPr>
                  </p:pic>
                </p:oleObj>
              </mc:Fallback>
            </mc:AlternateContent>
          </a:graphicData>
        </a:graphic>
      </p:graphicFrame>
      <p:graphicFrame>
        <p:nvGraphicFramePr>
          <p:cNvPr id="6" name="对象 -2147482566"/>
          <p:cNvGraphicFramePr>
            <a:graphicFrameLocks noChangeAspect="1"/>
          </p:cNvGraphicFramePr>
          <p:nvPr/>
        </p:nvGraphicFramePr>
        <p:xfrm>
          <a:off x="1179195" y="4695825"/>
          <a:ext cx="626110" cy="497205"/>
        </p:xfrm>
        <a:graphic>
          <a:graphicData uri="http://schemas.openxmlformats.org/presentationml/2006/ole">
            <mc:AlternateContent xmlns:mc="http://schemas.openxmlformats.org/markup-compatibility/2006">
              <mc:Choice xmlns:v="urn:schemas-microsoft-com:vml" Requires="v">
                <p:oleObj spid="_x0000_s2" name="" r:id="rId3" imgW="317500" imgH="254000" progId="Equation.DSMT4">
                  <p:embed/>
                </p:oleObj>
              </mc:Choice>
              <mc:Fallback>
                <p:oleObj name="" r:id="rId3" imgW="317500" imgH="254000" progId="Equation.DSMT4">
                  <p:embed/>
                  <p:pic>
                    <p:nvPicPr>
                      <p:cNvPr id="0" name="图片 4"/>
                      <p:cNvPicPr/>
                      <p:nvPr/>
                    </p:nvPicPr>
                    <p:blipFill>
                      <a:blip r:embed="rId4"/>
                      <a:stretch>
                        <a:fillRect/>
                      </a:stretch>
                    </p:blipFill>
                    <p:spPr>
                      <a:xfrm>
                        <a:off x="1179195" y="4695825"/>
                        <a:ext cx="626110" cy="497205"/>
                      </a:xfrm>
                      <a:prstGeom prst="rect">
                        <a:avLst/>
                      </a:prstGeom>
                      <a:noFill/>
                      <a:ln w="9525">
                        <a:noFill/>
                        <a:miter/>
                      </a:ln>
                    </p:spPr>
                  </p:pic>
                </p:oleObj>
              </mc:Fallback>
            </mc:AlternateContent>
          </a:graphicData>
        </a:graphic>
      </p:graphicFrame>
      <p:sp>
        <p:nvSpPr>
          <p:cNvPr id="8" name="标题 1"/>
          <p:cNvSpPr>
            <a:spLocks noGrp="1"/>
          </p:cNvSpPr>
          <p:nvPr>
            <p:ph type="title"/>
          </p:nvPr>
        </p:nvSpPr>
        <p:spPr>
          <a:xfrm>
            <a:off x="484505" y="10160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90244" y="1060450"/>
            <a:ext cx="7143057" cy="2127250"/>
          </a:xfrm>
          <a:prstGeom prst="rect">
            <a:avLst/>
          </a:prstGeom>
          <a:noFill/>
          <a:ln w="9525">
            <a:noFill/>
          </a:ln>
        </p:spPr>
        <p:txBody>
          <a:bodyPr wrap="square">
            <a:spAutoFit/>
          </a:bodyPr>
          <a:lstStyle/>
          <a:p>
            <a:pPr marL="342900" indent="-342900">
              <a:lnSpc>
                <a:spcPct val="90000"/>
              </a:lnSpc>
              <a:spcBef>
                <a:spcPts val="1000"/>
              </a:spcBef>
              <a:buClrTx/>
              <a:buSzTx/>
              <a:buFont typeface="Arial" panose="020B0604020202020204" pitchFamily="34" charset="0"/>
              <a:buChar char="•"/>
            </a:pPr>
            <a:r>
              <a:rPr lang="en-US" sz="2200" b="1" dirty="0">
                <a:ea typeface="宋体" panose="02010600030101010101" pitchFamily="2" charset="-122"/>
              </a:rPr>
              <a:t>ASK调制方式是用载波的两个不同振幅表示0和1；</a:t>
            </a:r>
            <a:endParaRPr lang="en-US" sz="2200" b="1" dirty="0">
              <a:ea typeface="宋体" panose="02010600030101010101" pitchFamily="2" charset="-122"/>
            </a:endParaRPr>
          </a:p>
          <a:p>
            <a:pPr marL="342900" indent="-342900">
              <a:lnSpc>
                <a:spcPct val="90000"/>
              </a:lnSpc>
              <a:spcBef>
                <a:spcPts val="1000"/>
              </a:spcBef>
              <a:buClrTx/>
              <a:buSzTx/>
              <a:buFont typeface="Arial" panose="020B0604020202020204" pitchFamily="34" charset="0"/>
              <a:buChar char="•"/>
            </a:pPr>
            <a:r>
              <a:rPr lang="en-US" sz="2200" b="1" dirty="0">
                <a:ea typeface="宋体" panose="02010600030101010101" pitchFamily="2" charset="-122"/>
              </a:rPr>
              <a:t>FSK调制方式是用载波的两个不同频率表示0和1；</a:t>
            </a:r>
            <a:endParaRPr lang="en-US" sz="2200" b="1" dirty="0">
              <a:ea typeface="宋体" panose="02010600030101010101" pitchFamily="2" charset="-122"/>
            </a:endParaRPr>
          </a:p>
          <a:p>
            <a:pPr marL="342900" indent="-342900">
              <a:lnSpc>
                <a:spcPct val="90000"/>
              </a:lnSpc>
              <a:spcBef>
                <a:spcPts val="1000"/>
              </a:spcBef>
              <a:buClrTx/>
              <a:buSzTx/>
              <a:buFont typeface="Arial" panose="020B0604020202020204" pitchFamily="34" charset="0"/>
              <a:buChar char="•"/>
            </a:pPr>
            <a:r>
              <a:rPr lang="en-US" sz="2200" b="1" dirty="0">
                <a:ea typeface="宋体" panose="02010600030101010101" pitchFamily="2" charset="-122"/>
              </a:rPr>
              <a:t>PSK调制方式是用载波的起始相位变化表示0和1。</a:t>
            </a:r>
            <a:r>
              <a:rPr lang="en-US" sz="2200" b="1" dirty="0">
                <a:latin typeface="宋体" panose="02010600030101010101" pitchFamily="2" charset="-122"/>
                <a:ea typeface="宋体" panose="02010600030101010101" pitchFamily="2" charset="-122"/>
                <a:cs typeface="宋体" panose="02010600030101010101" pitchFamily="2" charset="-122"/>
              </a:rPr>
              <a:t>  </a:t>
            </a:r>
            <a:endParaRPr lang="en-US" sz="2200" b="1" dirty="0">
              <a:latin typeface="宋体" panose="02010600030101010101" pitchFamily="2" charset="-122"/>
              <a:ea typeface="宋体" panose="02010600030101010101" pitchFamily="2" charset="-122"/>
              <a:cs typeface="宋体" panose="02010600030101010101" pitchFamily="2" charset="-122"/>
            </a:endParaRPr>
          </a:p>
          <a:p>
            <a:pPr indent="0">
              <a:lnSpc>
                <a:spcPct val="90000"/>
              </a:lnSpc>
              <a:spcBef>
                <a:spcPts val="1000"/>
              </a:spcBef>
              <a:buClrTx/>
              <a:buSzTx/>
              <a:buFont typeface="Arial" panose="020B0604020202020204" pitchFamily="34" charset="0"/>
              <a:buNone/>
            </a:pPr>
            <a:r>
              <a:rPr lang="en-US" sz="2200" b="1" dirty="0">
                <a:latin typeface="宋体" panose="02010600030101010101" pitchFamily="2" charset="-122"/>
                <a:ea typeface="宋体" panose="02010600030101010101" pitchFamily="2" charset="-122"/>
                <a:cs typeface="宋体" panose="02010600030101010101" pitchFamily="2" charset="-122"/>
              </a:rPr>
              <a:t>    </a:t>
            </a:r>
            <a:endParaRPr lang="zh-CN" sz="2200" b="1" dirty="0">
              <a:solidFill>
                <a:srgbClr val="00B0F0"/>
              </a:solidFill>
              <a:ea typeface="宋体" panose="02010600030101010101" pitchFamily="2" charset="-122"/>
            </a:endParaRPr>
          </a:p>
          <a:p>
            <a:pPr indent="0">
              <a:lnSpc>
                <a:spcPct val="90000"/>
              </a:lnSpc>
              <a:spcBef>
                <a:spcPts val="1000"/>
              </a:spcBef>
              <a:buClrTx/>
              <a:buSzTx/>
              <a:buFont typeface="Arial" panose="020B0604020202020204" pitchFamily="34" charset="0"/>
              <a:buNone/>
            </a:pPr>
            <a:endParaRPr lang="zh-CN" sz="2200" b="1" dirty="0">
              <a:solidFill>
                <a:srgbClr val="00B0F0"/>
              </a:solidFill>
              <a:ea typeface="宋体" panose="02010600030101010101" pitchFamily="2" charset="-122"/>
            </a:endParaRPr>
          </a:p>
        </p:txBody>
      </p:sp>
      <p:grpSp>
        <p:nvGrpSpPr>
          <p:cNvPr id="437" name="画布 437"/>
          <p:cNvGrpSpPr/>
          <p:nvPr/>
        </p:nvGrpSpPr>
        <p:grpSpPr>
          <a:xfrm>
            <a:off x="3026410" y="2414270"/>
            <a:ext cx="6139180" cy="3460750"/>
            <a:chOff x="0" y="0"/>
            <a:chExt cx="5053330" cy="2918460"/>
          </a:xfrm>
        </p:grpSpPr>
        <p:sp>
          <p:nvSpPr>
            <p:cNvPr id="4" name="画布 437"/>
            <p:cNvSpPr/>
            <p:nvPr/>
          </p:nvSpPr>
          <p:spPr>
            <a:xfrm>
              <a:off x="0" y="0"/>
              <a:ext cx="5053330" cy="2918460"/>
            </a:xfrm>
          </p:spPr>
        </p:sp>
        <p:sp>
          <p:nvSpPr>
            <p:cNvPr id="438" name="文本框 18"/>
            <p:cNvSpPr txBox="1"/>
            <p:nvPr/>
          </p:nvSpPr>
          <p:spPr>
            <a:xfrm>
              <a:off x="419100" y="923290"/>
              <a:ext cx="534035" cy="25400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2ASK</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39" name="文本框 19"/>
            <p:cNvSpPr txBox="1"/>
            <p:nvPr/>
          </p:nvSpPr>
          <p:spPr>
            <a:xfrm>
              <a:off x="406400" y="250190"/>
              <a:ext cx="690245" cy="48895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二进制</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indent="133350"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信息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40" name="文本框 20"/>
            <p:cNvSpPr txBox="1"/>
            <p:nvPr/>
          </p:nvSpPr>
          <p:spPr>
            <a:xfrm>
              <a:off x="452755" y="2421255"/>
              <a:ext cx="534035" cy="25400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2PSK</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41" name="文本框 25"/>
            <p:cNvSpPr txBox="1"/>
            <p:nvPr/>
          </p:nvSpPr>
          <p:spPr>
            <a:xfrm>
              <a:off x="408305" y="1687830"/>
              <a:ext cx="534035" cy="25400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2FSK</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213" name="肘形连接符 49"/>
            <p:cNvCxnSpPr/>
            <p:nvPr/>
          </p:nvCxnSpPr>
          <p:spPr>
            <a:xfrm>
              <a:off x="1856740" y="155575"/>
              <a:ext cx="638810" cy="322580"/>
            </a:xfrm>
            <a:prstGeom prst="bentConnector3">
              <a:avLst>
                <a:gd name="adj1" fmla="val 5009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4" name="直接连接符 50"/>
            <p:cNvCxnSpPr/>
            <p:nvPr/>
          </p:nvCxnSpPr>
          <p:spPr>
            <a:xfrm>
              <a:off x="1861820" y="155575"/>
              <a:ext cx="0" cy="330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6" name="直接连接符 53"/>
            <p:cNvCxnSpPr/>
            <p:nvPr/>
          </p:nvCxnSpPr>
          <p:spPr>
            <a:xfrm flipH="1">
              <a:off x="2839085" y="147320"/>
              <a:ext cx="3810" cy="3403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7" name="直接连接符 70"/>
            <p:cNvCxnSpPr/>
            <p:nvPr/>
          </p:nvCxnSpPr>
          <p:spPr>
            <a:xfrm>
              <a:off x="3783965" y="474980"/>
              <a:ext cx="678815" cy="25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8" name="直接连接符 81"/>
            <p:cNvCxnSpPr/>
            <p:nvPr/>
          </p:nvCxnSpPr>
          <p:spPr>
            <a:xfrm>
              <a:off x="2844800" y="147955"/>
              <a:ext cx="9588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9" name="直接连接符 82"/>
            <p:cNvCxnSpPr/>
            <p:nvPr/>
          </p:nvCxnSpPr>
          <p:spPr>
            <a:xfrm>
              <a:off x="2498725" y="482600"/>
              <a:ext cx="350520" cy="1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0" name="直接连接符 101"/>
            <p:cNvCxnSpPr/>
            <p:nvPr/>
          </p:nvCxnSpPr>
          <p:spPr>
            <a:xfrm>
              <a:off x="1543050" y="483235"/>
              <a:ext cx="321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1" name="直接连接符 102"/>
            <p:cNvCxnSpPr/>
            <p:nvPr/>
          </p:nvCxnSpPr>
          <p:spPr>
            <a:xfrm>
              <a:off x="3798570" y="149860"/>
              <a:ext cx="0" cy="330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22" name="文本框 116"/>
            <p:cNvSpPr txBox="1"/>
            <p:nvPr/>
          </p:nvSpPr>
          <p:spPr>
            <a:xfrm>
              <a:off x="2923540" y="227330"/>
              <a:ext cx="802640" cy="2597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1   1   1</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223" name="文本框 117"/>
            <p:cNvSpPr txBox="1"/>
            <p:nvPr/>
          </p:nvSpPr>
          <p:spPr>
            <a:xfrm>
              <a:off x="2244090" y="186055"/>
              <a:ext cx="534035" cy="2597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0   0</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224" name="文本框 118"/>
            <p:cNvSpPr txBox="1"/>
            <p:nvPr/>
          </p:nvSpPr>
          <p:spPr>
            <a:xfrm>
              <a:off x="1570990" y="212725"/>
              <a:ext cx="183515" cy="2597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0</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225" name="文本框 119"/>
            <p:cNvSpPr txBox="1"/>
            <p:nvPr/>
          </p:nvSpPr>
          <p:spPr>
            <a:xfrm>
              <a:off x="1896110" y="201930"/>
              <a:ext cx="183515" cy="2597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226" name="文本框 121"/>
            <p:cNvSpPr txBox="1"/>
            <p:nvPr/>
          </p:nvSpPr>
          <p:spPr>
            <a:xfrm>
              <a:off x="3888740" y="209550"/>
              <a:ext cx="534035" cy="25971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0   0</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227" name="直接连接符 122"/>
            <p:cNvCxnSpPr/>
            <p:nvPr/>
          </p:nvCxnSpPr>
          <p:spPr>
            <a:xfrm>
              <a:off x="1537970" y="1019810"/>
              <a:ext cx="3213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8" name="直接连接符 123"/>
            <p:cNvCxnSpPr/>
            <p:nvPr/>
          </p:nvCxnSpPr>
          <p:spPr>
            <a:xfrm>
              <a:off x="2185035" y="1002030"/>
              <a:ext cx="678815" cy="25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9" name="直接连接符 130"/>
            <p:cNvCxnSpPr/>
            <p:nvPr/>
          </p:nvCxnSpPr>
          <p:spPr>
            <a:xfrm>
              <a:off x="3799840" y="1007110"/>
              <a:ext cx="678815" cy="25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0" name="任意多边形 132"/>
            <p:cNvSpPr/>
            <p:nvPr/>
          </p:nvSpPr>
          <p:spPr>
            <a:xfrm>
              <a:off x="1862455" y="781050"/>
              <a:ext cx="336550"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31" name="任意多边形 153"/>
            <p:cNvSpPr/>
            <p:nvPr/>
          </p:nvSpPr>
          <p:spPr>
            <a:xfrm>
              <a:off x="3168650" y="781685"/>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1232" name="直接连接符 155"/>
            <p:cNvCxnSpPr/>
            <p:nvPr/>
          </p:nvCxnSpPr>
          <p:spPr>
            <a:xfrm>
              <a:off x="2844800" y="479425"/>
              <a:ext cx="0" cy="2414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3" name="直接连接符 156"/>
            <p:cNvCxnSpPr/>
            <p:nvPr/>
          </p:nvCxnSpPr>
          <p:spPr>
            <a:xfrm>
              <a:off x="3150235" y="506730"/>
              <a:ext cx="0" cy="2414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5" name="直接连接符 159"/>
            <p:cNvCxnSpPr/>
            <p:nvPr/>
          </p:nvCxnSpPr>
          <p:spPr>
            <a:xfrm>
              <a:off x="3798570" y="476885"/>
              <a:ext cx="0" cy="2414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36" name="任意多边形 161"/>
            <p:cNvSpPr/>
            <p:nvPr/>
          </p:nvSpPr>
          <p:spPr>
            <a:xfrm>
              <a:off x="3478530" y="786765"/>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37" name="任意多边形 162"/>
            <p:cNvSpPr/>
            <p:nvPr/>
          </p:nvSpPr>
          <p:spPr>
            <a:xfrm>
              <a:off x="2850515" y="772795"/>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38" name="任意多边形 167"/>
            <p:cNvSpPr/>
            <p:nvPr/>
          </p:nvSpPr>
          <p:spPr>
            <a:xfrm>
              <a:off x="1576070" y="1546225"/>
              <a:ext cx="285750" cy="483235"/>
            </a:xfrm>
            <a:custGeom>
              <a:avLst/>
              <a:gdLst>
                <a:gd name="connisteX0" fmla="*/ 0 w 285750"/>
                <a:gd name="connsiteY0" fmla="*/ 261093 h 483187"/>
                <a:gd name="connisteX1" fmla="*/ 53975 w 285750"/>
                <a:gd name="connsiteY1" fmla="*/ 5188 h 483187"/>
                <a:gd name="connisteX2" fmla="*/ 196850 w 285750"/>
                <a:gd name="connsiteY2" fmla="*/ 475723 h 483187"/>
                <a:gd name="connisteX3" fmla="*/ 285750 w 285750"/>
                <a:gd name="connsiteY3" fmla="*/ 255378 h 483187"/>
              </a:gdLst>
              <a:ahLst/>
              <a:cxnLst>
                <a:cxn ang="0">
                  <a:pos x="connisteX0" y="connsiteY0"/>
                </a:cxn>
                <a:cxn ang="0">
                  <a:pos x="connisteX1" y="connsiteY1"/>
                </a:cxn>
                <a:cxn ang="0">
                  <a:pos x="connisteX2" y="connsiteY2"/>
                </a:cxn>
                <a:cxn ang="0">
                  <a:pos x="connisteX3" y="connsiteY3"/>
                </a:cxn>
              </a:cxnLst>
              <a:rect l="l" t="t" r="r" b="b"/>
              <a:pathLst>
                <a:path w="285750" h="483188">
                  <a:moveTo>
                    <a:pt x="0" y="261094"/>
                  </a:moveTo>
                  <a:cubicBezTo>
                    <a:pt x="7620" y="200769"/>
                    <a:pt x="14605" y="-37991"/>
                    <a:pt x="53975" y="5189"/>
                  </a:cubicBezTo>
                  <a:cubicBezTo>
                    <a:pt x="93345" y="48369"/>
                    <a:pt x="150495" y="425559"/>
                    <a:pt x="196850" y="475724"/>
                  </a:cubicBezTo>
                  <a:cubicBezTo>
                    <a:pt x="243205" y="525889"/>
                    <a:pt x="270510" y="308719"/>
                    <a:pt x="285750" y="255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39" name="任意多边形 168"/>
            <p:cNvSpPr/>
            <p:nvPr/>
          </p:nvSpPr>
          <p:spPr>
            <a:xfrm>
              <a:off x="1864360" y="1553845"/>
              <a:ext cx="330200"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0" name="任意多边形 169"/>
            <p:cNvSpPr/>
            <p:nvPr/>
          </p:nvSpPr>
          <p:spPr>
            <a:xfrm>
              <a:off x="2186305" y="1567180"/>
              <a:ext cx="302260" cy="483235"/>
            </a:xfrm>
            <a:custGeom>
              <a:avLst/>
              <a:gdLst>
                <a:gd name="connisteX0" fmla="*/ 0 w 285750"/>
                <a:gd name="connsiteY0" fmla="*/ 261093 h 483187"/>
                <a:gd name="connisteX1" fmla="*/ 53975 w 285750"/>
                <a:gd name="connsiteY1" fmla="*/ 5188 h 483187"/>
                <a:gd name="connisteX2" fmla="*/ 196850 w 285750"/>
                <a:gd name="connsiteY2" fmla="*/ 475723 h 483187"/>
                <a:gd name="connisteX3" fmla="*/ 285750 w 285750"/>
                <a:gd name="connsiteY3" fmla="*/ 255378 h 483187"/>
              </a:gdLst>
              <a:ahLst/>
              <a:cxnLst>
                <a:cxn ang="0">
                  <a:pos x="connisteX0" y="connsiteY0"/>
                </a:cxn>
                <a:cxn ang="0">
                  <a:pos x="connisteX1" y="connsiteY1"/>
                </a:cxn>
                <a:cxn ang="0">
                  <a:pos x="connisteX2" y="connsiteY2"/>
                </a:cxn>
                <a:cxn ang="0">
                  <a:pos x="connisteX3" y="connsiteY3"/>
                </a:cxn>
              </a:cxnLst>
              <a:rect l="l" t="t" r="r" b="b"/>
              <a:pathLst>
                <a:path w="285750" h="483188">
                  <a:moveTo>
                    <a:pt x="0" y="261094"/>
                  </a:moveTo>
                  <a:cubicBezTo>
                    <a:pt x="7620" y="200769"/>
                    <a:pt x="14605" y="-37991"/>
                    <a:pt x="53975" y="5189"/>
                  </a:cubicBezTo>
                  <a:cubicBezTo>
                    <a:pt x="93345" y="48369"/>
                    <a:pt x="150495" y="425559"/>
                    <a:pt x="196850" y="475724"/>
                  </a:cubicBezTo>
                  <a:cubicBezTo>
                    <a:pt x="243205" y="525889"/>
                    <a:pt x="270510" y="308719"/>
                    <a:pt x="285750" y="255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1" name="任意多边形 184"/>
            <p:cNvSpPr/>
            <p:nvPr/>
          </p:nvSpPr>
          <p:spPr>
            <a:xfrm>
              <a:off x="2490470" y="1567180"/>
              <a:ext cx="349885" cy="483235"/>
            </a:xfrm>
            <a:custGeom>
              <a:avLst/>
              <a:gdLst>
                <a:gd name="connisteX0" fmla="*/ 0 w 285750"/>
                <a:gd name="connsiteY0" fmla="*/ 261093 h 483187"/>
                <a:gd name="connisteX1" fmla="*/ 53975 w 285750"/>
                <a:gd name="connsiteY1" fmla="*/ 5188 h 483187"/>
                <a:gd name="connisteX2" fmla="*/ 196850 w 285750"/>
                <a:gd name="connsiteY2" fmla="*/ 475723 h 483187"/>
                <a:gd name="connisteX3" fmla="*/ 285750 w 285750"/>
                <a:gd name="connsiteY3" fmla="*/ 255378 h 483187"/>
              </a:gdLst>
              <a:ahLst/>
              <a:cxnLst>
                <a:cxn ang="0">
                  <a:pos x="connisteX0" y="connsiteY0"/>
                </a:cxn>
                <a:cxn ang="0">
                  <a:pos x="connisteX1" y="connsiteY1"/>
                </a:cxn>
                <a:cxn ang="0">
                  <a:pos x="connisteX2" y="connsiteY2"/>
                </a:cxn>
                <a:cxn ang="0">
                  <a:pos x="connisteX3" y="connsiteY3"/>
                </a:cxn>
              </a:cxnLst>
              <a:rect l="l" t="t" r="r" b="b"/>
              <a:pathLst>
                <a:path w="285750" h="483188">
                  <a:moveTo>
                    <a:pt x="0" y="261094"/>
                  </a:moveTo>
                  <a:cubicBezTo>
                    <a:pt x="7620" y="200769"/>
                    <a:pt x="14605" y="-37991"/>
                    <a:pt x="53975" y="5189"/>
                  </a:cubicBezTo>
                  <a:cubicBezTo>
                    <a:pt x="93345" y="48369"/>
                    <a:pt x="150495" y="425559"/>
                    <a:pt x="196850" y="475724"/>
                  </a:cubicBezTo>
                  <a:cubicBezTo>
                    <a:pt x="243205" y="525889"/>
                    <a:pt x="270510" y="308719"/>
                    <a:pt x="285750" y="255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2" name="任意多边形 240"/>
            <p:cNvSpPr/>
            <p:nvPr/>
          </p:nvSpPr>
          <p:spPr>
            <a:xfrm>
              <a:off x="2853055" y="1578610"/>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3" name="任意多边形 241"/>
            <p:cNvSpPr/>
            <p:nvPr/>
          </p:nvSpPr>
          <p:spPr>
            <a:xfrm>
              <a:off x="3168015" y="1572895"/>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4" name="任意多边形 242"/>
            <p:cNvSpPr/>
            <p:nvPr/>
          </p:nvSpPr>
          <p:spPr>
            <a:xfrm>
              <a:off x="3483610" y="1578610"/>
              <a:ext cx="318135" cy="477520"/>
            </a:xfrm>
            <a:custGeom>
              <a:avLst/>
              <a:gdLst>
                <a:gd name="connisteX0" fmla="*/ 0 w 336314"/>
                <a:gd name="connsiteY0" fmla="*/ 238418 h 477597"/>
                <a:gd name="connisteX1" fmla="*/ 65405 w 336314"/>
                <a:gd name="connsiteY1" fmla="*/ 6008 h 477597"/>
                <a:gd name="connisteX2" fmla="*/ 113030 w 336314"/>
                <a:gd name="connsiteY2" fmla="*/ 464478 h 477597"/>
                <a:gd name="connisteX3" fmla="*/ 178435 w 336314"/>
                <a:gd name="connsiteY3" fmla="*/ 293 h 477597"/>
                <a:gd name="connisteX4" fmla="*/ 255905 w 336314"/>
                <a:gd name="connsiteY4" fmla="*/ 470828 h 477597"/>
                <a:gd name="connisteX5" fmla="*/ 327660 w 336314"/>
                <a:gd name="connsiteY5" fmla="*/ 244133 h 477597"/>
                <a:gd name="connisteX6" fmla="*/ 333375 w 336314"/>
                <a:gd name="connsiteY6" fmla="*/ 244133 h 47759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36315" h="477597">
                  <a:moveTo>
                    <a:pt x="0" y="238419"/>
                  </a:moveTo>
                  <a:cubicBezTo>
                    <a:pt x="12065" y="182539"/>
                    <a:pt x="42545" y="-39076"/>
                    <a:pt x="65405" y="6009"/>
                  </a:cubicBezTo>
                  <a:cubicBezTo>
                    <a:pt x="88265" y="51094"/>
                    <a:pt x="90170" y="465749"/>
                    <a:pt x="113030" y="464479"/>
                  </a:cubicBezTo>
                  <a:cubicBezTo>
                    <a:pt x="135890" y="463209"/>
                    <a:pt x="149860" y="-976"/>
                    <a:pt x="178435" y="294"/>
                  </a:cubicBezTo>
                  <a:cubicBezTo>
                    <a:pt x="207010" y="1564"/>
                    <a:pt x="226060" y="421934"/>
                    <a:pt x="255905" y="470829"/>
                  </a:cubicBezTo>
                  <a:cubicBezTo>
                    <a:pt x="285750" y="519724"/>
                    <a:pt x="312420" y="289219"/>
                    <a:pt x="327660" y="244134"/>
                  </a:cubicBezTo>
                  <a:cubicBezTo>
                    <a:pt x="342900" y="199049"/>
                    <a:pt x="333375" y="239689"/>
                    <a:pt x="333375" y="24413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5" name="任意多边形 243"/>
            <p:cNvSpPr/>
            <p:nvPr/>
          </p:nvSpPr>
          <p:spPr>
            <a:xfrm>
              <a:off x="4109085" y="1567180"/>
              <a:ext cx="309245" cy="483235"/>
            </a:xfrm>
            <a:custGeom>
              <a:avLst/>
              <a:gdLst>
                <a:gd name="connisteX0" fmla="*/ 0 w 285750"/>
                <a:gd name="connsiteY0" fmla="*/ 261093 h 483187"/>
                <a:gd name="connisteX1" fmla="*/ 53975 w 285750"/>
                <a:gd name="connsiteY1" fmla="*/ 5188 h 483187"/>
                <a:gd name="connisteX2" fmla="*/ 196850 w 285750"/>
                <a:gd name="connsiteY2" fmla="*/ 475723 h 483187"/>
                <a:gd name="connisteX3" fmla="*/ 285750 w 285750"/>
                <a:gd name="connsiteY3" fmla="*/ 255378 h 483187"/>
              </a:gdLst>
              <a:ahLst/>
              <a:cxnLst>
                <a:cxn ang="0">
                  <a:pos x="connisteX0" y="connsiteY0"/>
                </a:cxn>
                <a:cxn ang="0">
                  <a:pos x="connisteX1" y="connsiteY1"/>
                </a:cxn>
                <a:cxn ang="0">
                  <a:pos x="connisteX2" y="connsiteY2"/>
                </a:cxn>
                <a:cxn ang="0">
                  <a:pos x="connisteX3" y="connsiteY3"/>
                </a:cxn>
              </a:cxnLst>
              <a:rect l="l" t="t" r="r" b="b"/>
              <a:pathLst>
                <a:path w="285750" h="483188">
                  <a:moveTo>
                    <a:pt x="0" y="261094"/>
                  </a:moveTo>
                  <a:cubicBezTo>
                    <a:pt x="7620" y="200769"/>
                    <a:pt x="14605" y="-37991"/>
                    <a:pt x="53975" y="5189"/>
                  </a:cubicBezTo>
                  <a:cubicBezTo>
                    <a:pt x="93345" y="48369"/>
                    <a:pt x="150495" y="425559"/>
                    <a:pt x="196850" y="475724"/>
                  </a:cubicBezTo>
                  <a:cubicBezTo>
                    <a:pt x="243205" y="525889"/>
                    <a:pt x="270510" y="308719"/>
                    <a:pt x="285750" y="255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6" name="任意多边形 244"/>
            <p:cNvSpPr/>
            <p:nvPr/>
          </p:nvSpPr>
          <p:spPr>
            <a:xfrm>
              <a:off x="3797935" y="1558925"/>
              <a:ext cx="309245" cy="483235"/>
            </a:xfrm>
            <a:custGeom>
              <a:avLst/>
              <a:gdLst>
                <a:gd name="connisteX0" fmla="*/ 0 w 285750"/>
                <a:gd name="connsiteY0" fmla="*/ 261093 h 483187"/>
                <a:gd name="connisteX1" fmla="*/ 53975 w 285750"/>
                <a:gd name="connsiteY1" fmla="*/ 5188 h 483187"/>
                <a:gd name="connisteX2" fmla="*/ 196850 w 285750"/>
                <a:gd name="connsiteY2" fmla="*/ 475723 h 483187"/>
                <a:gd name="connisteX3" fmla="*/ 285750 w 285750"/>
                <a:gd name="connsiteY3" fmla="*/ 255378 h 483187"/>
              </a:gdLst>
              <a:ahLst/>
              <a:cxnLst>
                <a:cxn ang="0">
                  <a:pos x="connisteX0" y="connsiteY0"/>
                </a:cxn>
                <a:cxn ang="0">
                  <a:pos x="connisteX1" y="connsiteY1"/>
                </a:cxn>
                <a:cxn ang="0">
                  <a:pos x="connisteX2" y="connsiteY2"/>
                </a:cxn>
                <a:cxn ang="0">
                  <a:pos x="connisteX3" y="connsiteY3"/>
                </a:cxn>
              </a:cxnLst>
              <a:rect l="l" t="t" r="r" b="b"/>
              <a:pathLst>
                <a:path w="285750" h="483188">
                  <a:moveTo>
                    <a:pt x="0" y="261094"/>
                  </a:moveTo>
                  <a:cubicBezTo>
                    <a:pt x="7620" y="200769"/>
                    <a:pt x="14605" y="-37991"/>
                    <a:pt x="53975" y="5189"/>
                  </a:cubicBezTo>
                  <a:cubicBezTo>
                    <a:pt x="93345" y="48369"/>
                    <a:pt x="150495" y="425559"/>
                    <a:pt x="196850" y="475724"/>
                  </a:cubicBezTo>
                  <a:cubicBezTo>
                    <a:pt x="243205" y="525889"/>
                    <a:pt x="270510" y="308719"/>
                    <a:pt x="285750" y="255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8" name="任意多边形 253"/>
            <p:cNvSpPr/>
            <p:nvPr/>
          </p:nvSpPr>
          <p:spPr>
            <a:xfrm>
              <a:off x="1532255" y="2353945"/>
              <a:ext cx="321945" cy="490855"/>
            </a:xfrm>
            <a:custGeom>
              <a:avLst/>
              <a:gdLst>
                <a:gd name="connisteX0" fmla="*/ 0 w 321945"/>
                <a:gd name="connsiteY0" fmla="*/ 364790 h 490989"/>
                <a:gd name="connisteX1" fmla="*/ 65405 w 321945"/>
                <a:gd name="connsiteY1" fmla="*/ 472105 h 490989"/>
                <a:gd name="connisteX2" fmla="*/ 119380 w 321945"/>
                <a:gd name="connsiteY2" fmla="*/ 13635 h 490989"/>
                <a:gd name="connisteX3" fmla="*/ 214630 w 321945"/>
                <a:gd name="connsiteY3" fmla="*/ 477820 h 490989"/>
                <a:gd name="connisteX4" fmla="*/ 262255 w 321945"/>
                <a:gd name="connsiteY4" fmla="*/ 13635 h 490989"/>
                <a:gd name="connisteX5" fmla="*/ 321945 w 321945"/>
                <a:gd name="connsiteY5" fmla="*/ 162225 h 49098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21945" h="490989">
                  <a:moveTo>
                    <a:pt x="0" y="364791"/>
                  </a:moveTo>
                  <a:cubicBezTo>
                    <a:pt x="12065" y="395271"/>
                    <a:pt x="41275" y="542591"/>
                    <a:pt x="65405" y="472106"/>
                  </a:cubicBezTo>
                  <a:cubicBezTo>
                    <a:pt x="89535" y="401621"/>
                    <a:pt x="89535" y="12366"/>
                    <a:pt x="119380" y="13636"/>
                  </a:cubicBezTo>
                  <a:cubicBezTo>
                    <a:pt x="149225" y="14906"/>
                    <a:pt x="186055" y="477821"/>
                    <a:pt x="214630" y="477821"/>
                  </a:cubicBezTo>
                  <a:cubicBezTo>
                    <a:pt x="243205" y="477821"/>
                    <a:pt x="240665" y="76501"/>
                    <a:pt x="262255" y="13636"/>
                  </a:cubicBezTo>
                  <a:cubicBezTo>
                    <a:pt x="283845" y="-49229"/>
                    <a:pt x="311150" y="123491"/>
                    <a:pt x="321945" y="16222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49" name="任意多边形 307"/>
            <p:cNvSpPr/>
            <p:nvPr/>
          </p:nvSpPr>
          <p:spPr>
            <a:xfrm flipH="1">
              <a:off x="1853565" y="2364740"/>
              <a:ext cx="331470" cy="490855"/>
            </a:xfrm>
            <a:custGeom>
              <a:avLst/>
              <a:gdLst>
                <a:gd name="connisteX0" fmla="*/ 0 w 321945"/>
                <a:gd name="connsiteY0" fmla="*/ 364790 h 490989"/>
                <a:gd name="connisteX1" fmla="*/ 65405 w 321945"/>
                <a:gd name="connsiteY1" fmla="*/ 472105 h 490989"/>
                <a:gd name="connisteX2" fmla="*/ 119380 w 321945"/>
                <a:gd name="connsiteY2" fmla="*/ 13635 h 490989"/>
                <a:gd name="connisteX3" fmla="*/ 214630 w 321945"/>
                <a:gd name="connsiteY3" fmla="*/ 477820 h 490989"/>
                <a:gd name="connisteX4" fmla="*/ 262255 w 321945"/>
                <a:gd name="connsiteY4" fmla="*/ 13635 h 490989"/>
                <a:gd name="connisteX5" fmla="*/ 321945 w 321945"/>
                <a:gd name="connsiteY5" fmla="*/ 162225 h 49098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21945" h="490989">
                  <a:moveTo>
                    <a:pt x="0" y="364791"/>
                  </a:moveTo>
                  <a:cubicBezTo>
                    <a:pt x="12065" y="395271"/>
                    <a:pt x="41275" y="542591"/>
                    <a:pt x="65405" y="472106"/>
                  </a:cubicBezTo>
                  <a:cubicBezTo>
                    <a:pt x="89535" y="401621"/>
                    <a:pt x="89535" y="12366"/>
                    <a:pt x="119380" y="13636"/>
                  </a:cubicBezTo>
                  <a:cubicBezTo>
                    <a:pt x="149225" y="14906"/>
                    <a:pt x="186055" y="477821"/>
                    <a:pt x="214630" y="477821"/>
                  </a:cubicBezTo>
                  <a:cubicBezTo>
                    <a:pt x="243205" y="477821"/>
                    <a:pt x="240665" y="76501"/>
                    <a:pt x="262255" y="13636"/>
                  </a:cubicBezTo>
                  <a:cubicBezTo>
                    <a:pt x="283845" y="-49229"/>
                    <a:pt x="311150" y="123491"/>
                    <a:pt x="321945" y="16222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50" name="任意多边形 309"/>
            <p:cNvSpPr/>
            <p:nvPr/>
          </p:nvSpPr>
          <p:spPr>
            <a:xfrm>
              <a:off x="2174875" y="2353310"/>
              <a:ext cx="660400" cy="510540"/>
            </a:xfrm>
            <a:custGeom>
              <a:avLst/>
              <a:gdLst>
                <a:gd name="connisteX0" fmla="*/ 0 w 637540"/>
                <a:gd name="connsiteY0" fmla="*/ 388785 h 510401"/>
                <a:gd name="connisteX1" fmla="*/ 47625 w 637540"/>
                <a:gd name="connsiteY1" fmla="*/ 489750 h 510401"/>
                <a:gd name="connisteX2" fmla="*/ 119380 w 637540"/>
                <a:gd name="connsiteY2" fmla="*/ 19215 h 510401"/>
                <a:gd name="connisteX3" fmla="*/ 202565 w 637540"/>
                <a:gd name="connsiteY3" fmla="*/ 465620 h 510401"/>
                <a:gd name="connisteX4" fmla="*/ 274320 w 637540"/>
                <a:gd name="connsiteY4" fmla="*/ 25565 h 510401"/>
                <a:gd name="connisteX5" fmla="*/ 351790 w 637540"/>
                <a:gd name="connsiteY5" fmla="*/ 471970 h 510401"/>
                <a:gd name="connisteX6" fmla="*/ 422910 w 637540"/>
                <a:gd name="connsiteY6" fmla="*/ 13500 h 510401"/>
                <a:gd name="connisteX7" fmla="*/ 506095 w 637540"/>
                <a:gd name="connsiteY7" fmla="*/ 465620 h 510401"/>
                <a:gd name="connisteX8" fmla="*/ 577850 w 637540"/>
                <a:gd name="connsiteY8" fmla="*/ 13500 h 510401"/>
                <a:gd name="connisteX9" fmla="*/ 637540 w 637540"/>
                <a:gd name="connsiteY9" fmla="*/ 156375 h 5104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637540" h="510402">
                  <a:moveTo>
                    <a:pt x="0" y="388786"/>
                  </a:moveTo>
                  <a:cubicBezTo>
                    <a:pt x="8255" y="418631"/>
                    <a:pt x="23495" y="563411"/>
                    <a:pt x="47625" y="489751"/>
                  </a:cubicBezTo>
                  <a:cubicBezTo>
                    <a:pt x="71755" y="416091"/>
                    <a:pt x="88265" y="24296"/>
                    <a:pt x="119380" y="19216"/>
                  </a:cubicBezTo>
                  <a:cubicBezTo>
                    <a:pt x="150495" y="14136"/>
                    <a:pt x="171450" y="464351"/>
                    <a:pt x="202565" y="465621"/>
                  </a:cubicBezTo>
                  <a:cubicBezTo>
                    <a:pt x="233680" y="466891"/>
                    <a:pt x="244475" y="24296"/>
                    <a:pt x="274320" y="25566"/>
                  </a:cubicBezTo>
                  <a:cubicBezTo>
                    <a:pt x="304165" y="26836"/>
                    <a:pt x="321945" y="474511"/>
                    <a:pt x="351790" y="471971"/>
                  </a:cubicBezTo>
                  <a:cubicBezTo>
                    <a:pt x="381635" y="469431"/>
                    <a:pt x="391795" y="14771"/>
                    <a:pt x="422910" y="13501"/>
                  </a:cubicBezTo>
                  <a:cubicBezTo>
                    <a:pt x="454025" y="12231"/>
                    <a:pt x="474980" y="465621"/>
                    <a:pt x="506095" y="465621"/>
                  </a:cubicBezTo>
                  <a:cubicBezTo>
                    <a:pt x="537210" y="465621"/>
                    <a:pt x="551815" y="75096"/>
                    <a:pt x="577850" y="13501"/>
                  </a:cubicBezTo>
                  <a:cubicBezTo>
                    <a:pt x="603885" y="-48094"/>
                    <a:pt x="626745" y="118911"/>
                    <a:pt x="637540" y="15637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51" name="任意多边形 310"/>
            <p:cNvSpPr/>
            <p:nvPr/>
          </p:nvSpPr>
          <p:spPr>
            <a:xfrm>
              <a:off x="2847340" y="2371725"/>
              <a:ext cx="958215" cy="485775"/>
            </a:xfrm>
            <a:custGeom>
              <a:avLst/>
              <a:gdLst>
                <a:gd name="connisteX0" fmla="*/ 0 w 958215"/>
                <a:gd name="connsiteY0" fmla="*/ 150952 h 485842"/>
                <a:gd name="connisteX1" fmla="*/ 47625 w 958215"/>
                <a:gd name="connsiteY1" fmla="*/ 13792 h 485842"/>
                <a:gd name="connisteX2" fmla="*/ 100965 w 958215"/>
                <a:gd name="connsiteY2" fmla="*/ 460197 h 485842"/>
                <a:gd name="connisteX3" fmla="*/ 201930 w 958215"/>
                <a:gd name="connsiteY3" fmla="*/ 13792 h 485842"/>
                <a:gd name="connisteX4" fmla="*/ 261620 w 958215"/>
                <a:gd name="connsiteY4" fmla="*/ 472262 h 485842"/>
                <a:gd name="connisteX5" fmla="*/ 368935 w 958215"/>
                <a:gd name="connsiteY5" fmla="*/ 19507 h 485842"/>
                <a:gd name="connisteX6" fmla="*/ 422275 w 958215"/>
                <a:gd name="connsiteY6" fmla="*/ 465912 h 485842"/>
                <a:gd name="connisteX7" fmla="*/ 517525 w 958215"/>
                <a:gd name="connsiteY7" fmla="*/ 19507 h 485842"/>
                <a:gd name="connisteX8" fmla="*/ 582930 w 958215"/>
                <a:gd name="connsiteY8" fmla="*/ 465912 h 485842"/>
                <a:gd name="connisteX9" fmla="*/ 654685 w 958215"/>
                <a:gd name="connsiteY9" fmla="*/ 13792 h 485842"/>
                <a:gd name="connisteX10" fmla="*/ 732155 w 958215"/>
                <a:gd name="connsiteY10" fmla="*/ 472262 h 485842"/>
                <a:gd name="connisteX11" fmla="*/ 809625 w 958215"/>
                <a:gd name="connsiteY11" fmla="*/ 31572 h 485842"/>
                <a:gd name="connisteX12" fmla="*/ 868680 w 958215"/>
                <a:gd name="connsiteY12" fmla="*/ 472262 h 485842"/>
                <a:gd name="connisteX13" fmla="*/ 958215 w 958215"/>
                <a:gd name="connsiteY13" fmla="*/ 335102 h 48584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Lst>
              <a:rect l="l" t="t" r="r" b="b"/>
              <a:pathLst>
                <a:path w="958215" h="485843">
                  <a:moveTo>
                    <a:pt x="0" y="150952"/>
                  </a:moveTo>
                  <a:cubicBezTo>
                    <a:pt x="8255" y="114757"/>
                    <a:pt x="27305" y="-47803"/>
                    <a:pt x="47625" y="13792"/>
                  </a:cubicBezTo>
                  <a:cubicBezTo>
                    <a:pt x="67945" y="75387"/>
                    <a:pt x="69850" y="460197"/>
                    <a:pt x="100965" y="460197"/>
                  </a:cubicBezTo>
                  <a:cubicBezTo>
                    <a:pt x="132080" y="460197"/>
                    <a:pt x="169545" y="11252"/>
                    <a:pt x="201930" y="13792"/>
                  </a:cubicBezTo>
                  <a:cubicBezTo>
                    <a:pt x="234315" y="16332"/>
                    <a:pt x="227965" y="470992"/>
                    <a:pt x="261620" y="472262"/>
                  </a:cubicBezTo>
                  <a:cubicBezTo>
                    <a:pt x="295275" y="473532"/>
                    <a:pt x="336550" y="20777"/>
                    <a:pt x="368935" y="19507"/>
                  </a:cubicBezTo>
                  <a:cubicBezTo>
                    <a:pt x="401320" y="18237"/>
                    <a:pt x="392430" y="465912"/>
                    <a:pt x="422275" y="465912"/>
                  </a:cubicBezTo>
                  <a:cubicBezTo>
                    <a:pt x="452120" y="465912"/>
                    <a:pt x="485140" y="19507"/>
                    <a:pt x="517525" y="19507"/>
                  </a:cubicBezTo>
                  <a:cubicBezTo>
                    <a:pt x="549910" y="19507"/>
                    <a:pt x="555625" y="467182"/>
                    <a:pt x="582930" y="465912"/>
                  </a:cubicBezTo>
                  <a:cubicBezTo>
                    <a:pt x="610235" y="464642"/>
                    <a:pt x="624840" y="12522"/>
                    <a:pt x="654685" y="13792"/>
                  </a:cubicBezTo>
                  <a:cubicBezTo>
                    <a:pt x="684530" y="15062"/>
                    <a:pt x="701040" y="468452"/>
                    <a:pt x="732155" y="472262"/>
                  </a:cubicBezTo>
                  <a:cubicBezTo>
                    <a:pt x="763270" y="476072"/>
                    <a:pt x="782320" y="31572"/>
                    <a:pt x="809625" y="31572"/>
                  </a:cubicBezTo>
                  <a:cubicBezTo>
                    <a:pt x="836930" y="31572"/>
                    <a:pt x="838835" y="411302"/>
                    <a:pt x="868680" y="472262"/>
                  </a:cubicBezTo>
                  <a:cubicBezTo>
                    <a:pt x="898525" y="533222"/>
                    <a:pt x="941705" y="371297"/>
                    <a:pt x="958215" y="335102"/>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1252" name="任意多边形 312"/>
            <p:cNvSpPr/>
            <p:nvPr/>
          </p:nvSpPr>
          <p:spPr>
            <a:xfrm>
              <a:off x="3797300" y="2362835"/>
              <a:ext cx="673100" cy="492125"/>
            </a:xfrm>
            <a:custGeom>
              <a:avLst/>
              <a:gdLst>
                <a:gd name="connisteX0" fmla="*/ 0 w 673100"/>
                <a:gd name="connsiteY0" fmla="*/ 356493 h 492386"/>
                <a:gd name="connisteX1" fmla="*/ 47625 w 673100"/>
                <a:gd name="connsiteY1" fmla="*/ 475238 h 492386"/>
                <a:gd name="connisteX2" fmla="*/ 137160 w 673100"/>
                <a:gd name="connsiteY2" fmla="*/ 16768 h 492386"/>
                <a:gd name="connisteX3" fmla="*/ 202565 w 673100"/>
                <a:gd name="connsiteY3" fmla="*/ 475238 h 492386"/>
                <a:gd name="connisteX4" fmla="*/ 267970 w 673100"/>
                <a:gd name="connsiteY4" fmla="*/ 11053 h 492386"/>
                <a:gd name="connisteX5" fmla="*/ 363220 w 673100"/>
                <a:gd name="connsiteY5" fmla="*/ 469523 h 492386"/>
                <a:gd name="connisteX6" fmla="*/ 440690 w 673100"/>
                <a:gd name="connsiteY6" fmla="*/ 11053 h 492386"/>
                <a:gd name="connisteX7" fmla="*/ 535940 w 673100"/>
                <a:gd name="connsiteY7" fmla="*/ 463173 h 492386"/>
                <a:gd name="connisteX8" fmla="*/ 607695 w 673100"/>
                <a:gd name="connsiteY8" fmla="*/ 11053 h 492386"/>
                <a:gd name="connisteX9" fmla="*/ 673100 w 673100"/>
                <a:gd name="connsiteY9" fmla="*/ 177423 h 49238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673100" h="492386">
                  <a:moveTo>
                    <a:pt x="0" y="356493"/>
                  </a:moveTo>
                  <a:cubicBezTo>
                    <a:pt x="7620" y="389513"/>
                    <a:pt x="20320" y="543183"/>
                    <a:pt x="47625" y="475238"/>
                  </a:cubicBezTo>
                  <a:cubicBezTo>
                    <a:pt x="74930" y="407293"/>
                    <a:pt x="106045" y="16768"/>
                    <a:pt x="137160" y="16768"/>
                  </a:cubicBezTo>
                  <a:cubicBezTo>
                    <a:pt x="168275" y="16768"/>
                    <a:pt x="176530" y="476508"/>
                    <a:pt x="202565" y="475238"/>
                  </a:cubicBezTo>
                  <a:cubicBezTo>
                    <a:pt x="228600" y="473968"/>
                    <a:pt x="235585" y="12323"/>
                    <a:pt x="267970" y="11053"/>
                  </a:cubicBezTo>
                  <a:cubicBezTo>
                    <a:pt x="300355" y="9783"/>
                    <a:pt x="328930" y="469523"/>
                    <a:pt x="363220" y="469523"/>
                  </a:cubicBezTo>
                  <a:cubicBezTo>
                    <a:pt x="397510" y="469523"/>
                    <a:pt x="406400" y="12323"/>
                    <a:pt x="440690" y="11053"/>
                  </a:cubicBezTo>
                  <a:cubicBezTo>
                    <a:pt x="474980" y="9783"/>
                    <a:pt x="502285" y="463173"/>
                    <a:pt x="535940" y="463173"/>
                  </a:cubicBezTo>
                  <a:cubicBezTo>
                    <a:pt x="569595" y="463173"/>
                    <a:pt x="580390" y="68203"/>
                    <a:pt x="607695" y="11053"/>
                  </a:cubicBezTo>
                  <a:cubicBezTo>
                    <a:pt x="635000" y="-46097"/>
                    <a:pt x="661670" y="134878"/>
                    <a:pt x="673100" y="177423"/>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1253" name="直接连接符 313"/>
            <p:cNvCxnSpPr/>
            <p:nvPr/>
          </p:nvCxnSpPr>
          <p:spPr>
            <a:xfrm>
              <a:off x="2179955" y="477520"/>
              <a:ext cx="0" cy="2414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4" name="直接连接符 314"/>
            <p:cNvCxnSpPr/>
            <p:nvPr/>
          </p:nvCxnSpPr>
          <p:spPr>
            <a:xfrm>
              <a:off x="1856105" y="487045"/>
              <a:ext cx="0" cy="2414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1" name="文本框 100"/>
          <p:cNvSpPr txBox="1"/>
          <p:nvPr/>
        </p:nvSpPr>
        <p:spPr>
          <a:xfrm>
            <a:off x="4540250" y="5845175"/>
            <a:ext cx="2606675" cy="368300"/>
          </a:xfrm>
          <a:prstGeom prst="rect">
            <a:avLst/>
          </a:prstGeom>
          <a:noFill/>
          <a:ln w="9525">
            <a:noFill/>
          </a:ln>
        </p:spPr>
        <p:txBody>
          <a:bodyPr wrap="square">
            <a:spAutoFit/>
          </a:bodyPr>
          <a:lstStyle/>
          <a:p>
            <a:pPr indent="0"/>
            <a:r>
              <a:rPr lang="zh-CN" b="0">
                <a:ea typeface="宋体" panose="02010600030101010101" pitchFamily="2" charset="-122"/>
              </a:rPr>
              <a:t>二进制数字信号调制图</a:t>
            </a:r>
            <a:endParaRPr lang="zh-CN" altLang="en-US"/>
          </a:p>
        </p:txBody>
      </p:sp>
      <p:sp>
        <p:nvSpPr>
          <p:cNvPr id="8" name="标题 1"/>
          <p:cNvSpPr>
            <a:spLocks noGrp="1"/>
          </p:cNvSpPr>
          <p:nvPr>
            <p:ph type="title"/>
          </p:nvPr>
        </p:nvSpPr>
        <p:spPr>
          <a:xfrm>
            <a:off x="44005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7565" y="1555750"/>
            <a:ext cx="10516235" cy="3725545"/>
          </a:xfrm>
        </p:spPr>
        <p:txBody>
          <a:bodyPr>
            <a:noAutofit/>
          </a:bodyPr>
          <a:lstStyle/>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    ASK调制电路结构图如图a所示，其中为    载波，   为数字信号。</a:t>
            </a: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这种调制方式最大的特点是结构简单、易于实现、对带宽的要求低。其缺点是抗干扰能力差。</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模拟调制的目的是：</a:t>
            </a:r>
            <a:endPar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（1）信道传输频率特征的需要。</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（2）实现信道复用。</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（3）改善系统的抗噪声性能，或通过调制来提高系统频带的利用率。</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ASK的调制波形即为载波与数字信号的乘</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积，其调制波形图如图b所示。</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1114425" y="1033780"/>
            <a:ext cx="5080000" cy="521970"/>
          </a:xfrm>
          <a:prstGeom prst="rect">
            <a:avLst/>
          </a:prstGeom>
          <a:noFill/>
          <a:ln w="9525">
            <a:noFill/>
          </a:ln>
        </p:spPr>
        <p:txBody>
          <a:bodyPr>
            <a:spAutoFit/>
          </a:bodyPr>
          <a:lstStyle/>
          <a:p>
            <a:pPr indent="0"/>
            <a:r>
              <a:rPr lang="zh-CN" sz="2800" b="1" dirty="0">
                <a:solidFill>
                  <a:srgbClr val="000000"/>
                </a:solidFill>
                <a:cs typeface="Times New Roman" panose="02020603050405020304" charset="0"/>
              </a:rPr>
              <a:t>ASK调制</a:t>
            </a:r>
            <a:endParaRPr lang="zh-CN" sz="2800" b="1" dirty="0">
              <a:solidFill>
                <a:srgbClr val="000000"/>
              </a:solidFill>
              <a:cs typeface="Times New Roman" panose="02020603050405020304" charset="0"/>
            </a:endParaRPr>
          </a:p>
        </p:txBody>
      </p:sp>
      <p:graphicFrame>
        <p:nvGraphicFramePr>
          <p:cNvPr id="5" name="对象 -2147482559"/>
          <p:cNvGraphicFramePr>
            <a:graphicFrameLocks noChangeAspect="1"/>
          </p:cNvGraphicFramePr>
          <p:nvPr/>
        </p:nvGraphicFramePr>
        <p:xfrm>
          <a:off x="6283325" y="1555750"/>
          <a:ext cx="539115" cy="428625"/>
        </p:xfrm>
        <a:graphic>
          <a:graphicData uri="http://schemas.openxmlformats.org/presentationml/2006/ole">
            <mc:AlternateContent xmlns:mc="http://schemas.openxmlformats.org/markup-compatibility/2006">
              <mc:Choice xmlns:v="urn:schemas-microsoft-com:vml" Requires="v">
                <p:oleObj spid="_x0000_s24775" name="" r:id="rId1" imgW="317500" imgH="254000" progId="Equation.DSMT4">
                  <p:embed/>
                </p:oleObj>
              </mc:Choice>
              <mc:Fallback>
                <p:oleObj name="" r:id="rId1" imgW="317500" imgH="254000" progId="Equation.DSMT4">
                  <p:embed/>
                  <p:pic>
                    <p:nvPicPr>
                      <p:cNvPr id="0" name="图片 3075"/>
                      <p:cNvPicPr/>
                      <p:nvPr/>
                    </p:nvPicPr>
                    <p:blipFill>
                      <a:blip r:embed="rId2"/>
                      <a:stretch>
                        <a:fillRect/>
                      </a:stretch>
                    </p:blipFill>
                    <p:spPr>
                      <a:xfrm>
                        <a:off x="6283325" y="1555750"/>
                        <a:ext cx="539115" cy="428625"/>
                      </a:xfrm>
                      <a:prstGeom prst="rect">
                        <a:avLst/>
                      </a:prstGeom>
                      <a:noFill/>
                      <a:ln w="9525">
                        <a:noFill/>
                        <a:miter/>
                      </a:ln>
                    </p:spPr>
                  </p:pic>
                </p:oleObj>
              </mc:Fallback>
            </mc:AlternateContent>
          </a:graphicData>
        </a:graphic>
      </p:graphicFrame>
      <p:graphicFrame>
        <p:nvGraphicFramePr>
          <p:cNvPr id="6" name="对象 -2147482558"/>
          <p:cNvGraphicFramePr>
            <a:graphicFrameLocks noChangeAspect="1"/>
          </p:cNvGraphicFramePr>
          <p:nvPr/>
        </p:nvGraphicFramePr>
        <p:xfrm>
          <a:off x="7531100" y="1541780"/>
          <a:ext cx="575310" cy="456565"/>
        </p:xfrm>
        <a:graphic>
          <a:graphicData uri="http://schemas.openxmlformats.org/presentationml/2006/ole">
            <mc:AlternateContent xmlns:mc="http://schemas.openxmlformats.org/markup-compatibility/2006">
              <mc:Choice xmlns:v="urn:schemas-microsoft-com:vml" Requires="v">
                <p:oleObj spid="_x0000_s4" name="" r:id="rId3" imgW="317500" imgH="254000" progId="Equation.DSMT4">
                  <p:embed/>
                </p:oleObj>
              </mc:Choice>
              <mc:Fallback>
                <p:oleObj name="" r:id="rId3" imgW="317500" imgH="254000" progId="Equation.DSMT4">
                  <p:embed/>
                  <p:pic>
                    <p:nvPicPr>
                      <p:cNvPr id="0" name="图片 4"/>
                      <p:cNvPicPr/>
                      <p:nvPr/>
                    </p:nvPicPr>
                    <p:blipFill>
                      <a:blip r:embed="rId4"/>
                      <a:stretch>
                        <a:fillRect/>
                      </a:stretch>
                    </p:blipFill>
                    <p:spPr>
                      <a:xfrm>
                        <a:off x="7531100" y="1541780"/>
                        <a:ext cx="575310" cy="456565"/>
                      </a:xfrm>
                      <a:prstGeom prst="rect">
                        <a:avLst/>
                      </a:prstGeom>
                      <a:noFill/>
                      <a:ln w="9525">
                        <a:noFill/>
                        <a:miter/>
                      </a:ln>
                    </p:spPr>
                  </p:pic>
                </p:oleObj>
              </mc:Fallback>
            </mc:AlternateContent>
          </a:graphicData>
        </a:graphic>
      </p:graphicFrame>
      <p:graphicFrame>
        <p:nvGraphicFramePr>
          <p:cNvPr id="8" name="对象 -2147482557"/>
          <p:cNvGraphicFramePr>
            <a:graphicFrameLocks noChangeAspect="1"/>
          </p:cNvGraphicFramePr>
          <p:nvPr/>
        </p:nvGraphicFramePr>
        <p:xfrm>
          <a:off x="9442450" y="2298065"/>
          <a:ext cx="2152650" cy="1390650"/>
        </p:xfrm>
        <a:graphic>
          <a:graphicData uri="http://schemas.openxmlformats.org/presentationml/2006/ole">
            <mc:AlternateContent xmlns:mc="http://schemas.openxmlformats.org/markup-compatibility/2006">
              <mc:Choice xmlns:v="urn:schemas-microsoft-com:vml" Requires="v">
                <p:oleObj spid="_x0000_s7" name="" r:id="rId5" imgW="4368800" imgH="2819400" progId="Visio.Drawing.15">
                  <p:embed/>
                </p:oleObj>
              </mc:Choice>
              <mc:Fallback>
                <p:oleObj name="" r:id="rId5" imgW="4368800" imgH="2819400" progId="Visio.Drawing.15">
                  <p:embed/>
                  <p:pic>
                    <p:nvPicPr>
                      <p:cNvPr id="0" name="图片 5"/>
                      <p:cNvPicPr/>
                      <p:nvPr/>
                    </p:nvPicPr>
                    <p:blipFill>
                      <a:blip r:embed="rId6"/>
                      <a:stretch>
                        <a:fillRect/>
                      </a:stretch>
                    </p:blipFill>
                    <p:spPr>
                      <a:xfrm>
                        <a:off x="9442450" y="2298065"/>
                        <a:ext cx="2152650" cy="1390650"/>
                      </a:xfrm>
                      <a:prstGeom prst="rect">
                        <a:avLst/>
                      </a:prstGeom>
                      <a:noFill/>
                      <a:ln w="9525">
                        <a:noFill/>
                        <a:miter/>
                      </a:ln>
                    </p:spPr>
                  </p:pic>
                </p:oleObj>
              </mc:Fallback>
            </mc:AlternateContent>
          </a:graphicData>
        </a:graphic>
      </p:graphicFrame>
      <p:graphicFrame>
        <p:nvGraphicFramePr>
          <p:cNvPr id="10" name="对象 -2147482554"/>
          <p:cNvGraphicFramePr>
            <a:graphicFrameLocks noChangeAspect="1"/>
          </p:cNvGraphicFramePr>
          <p:nvPr/>
        </p:nvGraphicFramePr>
        <p:xfrm>
          <a:off x="6084570" y="4208145"/>
          <a:ext cx="5510530" cy="1763395"/>
        </p:xfrm>
        <a:graphic>
          <a:graphicData uri="http://schemas.openxmlformats.org/presentationml/2006/ole">
            <mc:AlternateContent xmlns:mc="http://schemas.openxmlformats.org/markup-compatibility/2006">
              <mc:Choice xmlns:v="urn:schemas-microsoft-com:vml" Requires="v">
                <p:oleObj spid="_x0000_s9" name="" r:id="rId7" imgW="10960100" imgH="3517900" progId="Visio.Drawing.15">
                  <p:embed/>
                </p:oleObj>
              </mc:Choice>
              <mc:Fallback>
                <p:oleObj name="" r:id="rId7" imgW="10960100" imgH="3517900" progId="Visio.Drawing.15">
                  <p:embed/>
                  <p:pic>
                    <p:nvPicPr>
                      <p:cNvPr id="0" name="图片 6"/>
                      <p:cNvPicPr/>
                      <p:nvPr/>
                    </p:nvPicPr>
                    <p:blipFill>
                      <a:blip r:embed="rId8"/>
                      <a:stretch>
                        <a:fillRect/>
                      </a:stretch>
                    </p:blipFill>
                    <p:spPr>
                      <a:xfrm>
                        <a:off x="6084570" y="4208145"/>
                        <a:ext cx="5510530" cy="1763395"/>
                      </a:xfrm>
                      <a:prstGeom prst="rect">
                        <a:avLst/>
                      </a:prstGeom>
                      <a:noFill/>
                      <a:ln w="9525">
                        <a:noFill/>
                        <a:miter/>
                      </a:ln>
                    </p:spPr>
                  </p:pic>
                </p:oleObj>
              </mc:Fallback>
            </mc:AlternateContent>
          </a:graphicData>
        </a:graphic>
      </p:graphicFrame>
      <p:sp>
        <p:nvSpPr>
          <p:cNvPr id="101" name="文本框 100"/>
          <p:cNvSpPr txBox="1"/>
          <p:nvPr/>
        </p:nvSpPr>
        <p:spPr>
          <a:xfrm>
            <a:off x="10142855" y="3688715"/>
            <a:ext cx="751205" cy="337185"/>
          </a:xfrm>
          <a:prstGeom prst="rect">
            <a:avLst/>
          </a:prstGeom>
          <a:noFill/>
          <a:ln w="9525">
            <a:noFill/>
          </a:ln>
        </p:spPr>
        <p:txBody>
          <a:bodyPr wrap="square">
            <a:spAutoFit/>
          </a:bodyPr>
          <a:lstStyle/>
          <a:p>
            <a:pPr indent="228600" algn="ctr"/>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a  </a:t>
            </a:r>
            <a:endParaRPr lang="zh-CN" altLang="en-US" sz="1600"/>
          </a:p>
        </p:txBody>
      </p:sp>
      <p:sp>
        <p:nvSpPr>
          <p:cNvPr id="12" name="文本框 11"/>
          <p:cNvSpPr txBox="1"/>
          <p:nvPr/>
        </p:nvSpPr>
        <p:spPr>
          <a:xfrm>
            <a:off x="8402320" y="6153785"/>
            <a:ext cx="874395" cy="337185"/>
          </a:xfrm>
          <a:prstGeom prst="rect">
            <a:avLst/>
          </a:prstGeom>
          <a:noFill/>
          <a:ln w="9525">
            <a:noFill/>
          </a:ln>
        </p:spPr>
        <p:txBody>
          <a:bodyPr wrap="square">
            <a:spAutoFit/>
          </a:bodyPr>
          <a:lstStyle/>
          <a:p>
            <a:pPr indent="228600" algn="ctr"/>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b</a:t>
            </a:r>
            <a:endParaRPr lang="en-US" sz="1600"/>
          </a:p>
        </p:txBody>
      </p:sp>
      <p:sp>
        <p:nvSpPr>
          <p:cNvPr id="11" name="标题 1"/>
          <p:cNvSpPr>
            <a:spLocks noGrp="1"/>
          </p:cNvSpPr>
          <p:nvPr>
            <p:ph type="title"/>
          </p:nvPr>
        </p:nvSpPr>
        <p:spPr>
          <a:xfrm>
            <a:off x="474345" y="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17"/>
          <p:cNvSpPr>
            <a:spLocks noGrp="1"/>
          </p:cNvSpPr>
          <p:nvPr>
            <p:ph sz="half" idx="1"/>
          </p:nvPr>
        </p:nvSpPr>
        <p:spPr>
          <a:xfrm>
            <a:off x="838200" y="1694815"/>
            <a:ext cx="10516235" cy="2561590"/>
          </a:xfrm>
        </p:spPr>
        <p:txBody>
          <a:bodyPr>
            <a:noAutofit/>
          </a:bodyPr>
          <a:lstStyle/>
          <a:p>
            <a:pPr marL="0" indent="0">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 FSK是信息传输中使用较早的一种调制方式。</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它的主要优点是实现起来较容易，抗噪声与抗衰减的性能比较好，因此在中低速数据传输中得到了广泛的应用。</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相比于ASK需要更大的带宽。</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FSK是利用两个不同F</a:t>
            </a:r>
            <a:r>
              <a:rPr lang="en-US" altLang="zh-CN" sz="2200" b="1" baseline="-25000">
                <a:solidFill>
                  <a:schemeClr val="tx1"/>
                </a:solidFill>
                <a:uFillTx/>
                <a:latin typeface="宋体" panose="02010600030101010101" pitchFamily="2" charset="-122"/>
                <a:ea typeface="宋体" panose="02010600030101010101" pitchFamily="2" charset="-122"/>
                <a:cs typeface="宋体" panose="02010600030101010101" pitchFamily="2" charset="-122"/>
              </a:rPr>
              <a:t>1</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和F</a:t>
            </a:r>
            <a:r>
              <a:rPr lang="en-US" altLang="zh-CN" sz="2200" b="1" baseline="-25000">
                <a:solidFill>
                  <a:schemeClr val="tx1"/>
                </a:solidFill>
                <a:uFillTx/>
                <a:latin typeface="宋体" panose="02010600030101010101" pitchFamily="2" charset="-122"/>
                <a:ea typeface="宋体" panose="02010600030101010101" pitchFamily="2" charset="-122"/>
                <a:cs typeface="宋体" panose="02010600030101010101" pitchFamily="2" charset="-122"/>
              </a:rPr>
              <a:t>2</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的振荡源（即载波</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F</a:t>
            </a:r>
            <a:r>
              <a:rPr lang="en-US" altLang="zh-CN" sz="2200" b="1" baseline="-25000">
                <a:uFillTx/>
                <a:latin typeface="宋体" panose="02010600030101010101" pitchFamily="2" charset="-122"/>
                <a:ea typeface="宋体" panose="02010600030101010101" pitchFamily="2" charset="-122"/>
                <a:cs typeface="宋体" panose="02010600030101010101" pitchFamily="2" charset="-122"/>
                <a:sym typeface="+mn-ea"/>
              </a:rPr>
              <a:t>1</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和载波</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F</a:t>
            </a:r>
            <a:r>
              <a:rPr lang="en-US" altLang="zh-CN" sz="2200" b="1" baseline="-25000">
                <a:uFillTx/>
                <a:latin typeface="宋体" panose="02010600030101010101" pitchFamily="2" charset="-122"/>
                <a:ea typeface="宋体" panose="02010600030101010101" pitchFamily="2" charset="-122"/>
                <a:cs typeface="宋体" panose="02010600030101010101" pitchFamily="2" charset="-122"/>
                <a:sym typeface="+mn-ea"/>
              </a:rPr>
              <a:t>2</a:t>
            </a: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）来实现频率调制，具体实现如下：</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式中，                    </a:t>
            </a:r>
            <a:r>
              <a:rPr lang="zh-CN" altLang="en-US"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a:t>
            </a:r>
            <a:endParaRPr lang="zh-CN" altLang="en-US"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19" name="文本框 18"/>
          <p:cNvSpPr txBox="1"/>
          <p:nvPr/>
        </p:nvSpPr>
        <p:spPr>
          <a:xfrm>
            <a:off x="1114425" y="1172845"/>
            <a:ext cx="5080000" cy="521970"/>
          </a:xfrm>
          <a:prstGeom prst="rect">
            <a:avLst/>
          </a:prstGeom>
          <a:noFill/>
          <a:ln w="9525">
            <a:noFill/>
          </a:ln>
        </p:spPr>
        <p:txBody>
          <a:bodyPr>
            <a:spAutoFit/>
          </a:bodyPr>
          <a:lstStyle/>
          <a:p>
            <a:pPr indent="0"/>
            <a:r>
              <a:rPr lang="zh-CN" sz="2800" b="1" dirty="0">
                <a:solidFill>
                  <a:srgbClr val="000000"/>
                </a:solidFill>
                <a:cs typeface="Times New Roman" panose="02020603050405020304" charset="0"/>
              </a:rPr>
              <a:t>FSK调制</a:t>
            </a:r>
            <a:endParaRPr lang="zh-CN" sz="2800" b="1" dirty="0">
              <a:solidFill>
                <a:srgbClr val="000000"/>
              </a:solidFill>
              <a:cs typeface="Times New Roman" panose="02020603050405020304" charset="0"/>
            </a:endParaRPr>
          </a:p>
        </p:txBody>
      </p:sp>
      <p:graphicFrame>
        <p:nvGraphicFramePr>
          <p:cNvPr id="20" name="对象 -2147482549"/>
          <p:cNvGraphicFramePr>
            <a:graphicFrameLocks noChangeAspect="1"/>
          </p:cNvGraphicFramePr>
          <p:nvPr/>
        </p:nvGraphicFramePr>
        <p:xfrm>
          <a:off x="2329815" y="3398520"/>
          <a:ext cx="6010275" cy="457835"/>
        </p:xfrm>
        <a:graphic>
          <a:graphicData uri="http://schemas.openxmlformats.org/presentationml/2006/ole">
            <mc:AlternateContent xmlns:mc="http://schemas.openxmlformats.org/markup-compatibility/2006">
              <mc:Choice xmlns:v="urn:schemas-microsoft-com:vml" Requires="v">
                <p:oleObj spid="_x0000_s24775" name="" r:id="rId1" imgW="3365500" imgH="254000" progId="Equation.DSMT4">
                  <p:embed/>
                </p:oleObj>
              </mc:Choice>
              <mc:Fallback>
                <p:oleObj name="" r:id="rId1" imgW="3365500" imgH="254000" progId="Equation.DSMT4">
                  <p:embed/>
                  <p:pic>
                    <p:nvPicPr>
                      <p:cNvPr id="0" name="图片 3075"/>
                      <p:cNvPicPr/>
                      <p:nvPr/>
                    </p:nvPicPr>
                    <p:blipFill>
                      <a:blip r:embed="rId2"/>
                      <a:stretch>
                        <a:fillRect/>
                      </a:stretch>
                    </p:blipFill>
                    <p:spPr>
                      <a:xfrm>
                        <a:off x="2329815" y="3398520"/>
                        <a:ext cx="6010275" cy="457835"/>
                      </a:xfrm>
                      <a:prstGeom prst="rect">
                        <a:avLst/>
                      </a:prstGeom>
                      <a:noFill/>
                      <a:ln w="9525">
                        <a:noFill/>
                        <a:miter/>
                      </a:ln>
                    </p:spPr>
                  </p:pic>
                </p:oleObj>
              </mc:Fallback>
            </mc:AlternateContent>
          </a:graphicData>
        </a:graphic>
      </p:graphicFrame>
      <p:graphicFrame>
        <p:nvGraphicFramePr>
          <p:cNvPr id="22" name="对象 -2147482548"/>
          <p:cNvGraphicFramePr>
            <a:graphicFrameLocks noChangeAspect="1"/>
          </p:cNvGraphicFramePr>
          <p:nvPr/>
        </p:nvGraphicFramePr>
        <p:xfrm>
          <a:off x="1692275" y="3856355"/>
          <a:ext cx="2779395" cy="421640"/>
        </p:xfrm>
        <a:graphic>
          <a:graphicData uri="http://schemas.openxmlformats.org/presentationml/2006/ole">
            <mc:AlternateContent xmlns:mc="http://schemas.openxmlformats.org/markup-compatibility/2006">
              <mc:Choice xmlns:v="urn:schemas-microsoft-com:vml" Requires="v">
                <p:oleObj spid="_x0000_s2" name="" r:id="rId3" imgW="1688465" imgH="254000" progId="Equation.DSMT4">
                  <p:embed/>
                </p:oleObj>
              </mc:Choice>
              <mc:Fallback>
                <p:oleObj name="" r:id="rId3" imgW="1688465" imgH="254000" progId="Equation.DSMT4">
                  <p:embed/>
                  <p:pic>
                    <p:nvPicPr>
                      <p:cNvPr id="0" name="图片 4"/>
                      <p:cNvPicPr/>
                      <p:nvPr/>
                    </p:nvPicPr>
                    <p:blipFill>
                      <a:blip r:embed="rId4"/>
                      <a:stretch>
                        <a:fillRect/>
                      </a:stretch>
                    </p:blipFill>
                    <p:spPr>
                      <a:xfrm>
                        <a:off x="1692275" y="3856355"/>
                        <a:ext cx="2779395" cy="421640"/>
                      </a:xfrm>
                      <a:prstGeom prst="rect">
                        <a:avLst/>
                      </a:prstGeom>
                      <a:noFill/>
                      <a:ln w="9525">
                        <a:noFill/>
                        <a:miter/>
                      </a:ln>
                    </p:spPr>
                  </p:pic>
                </p:oleObj>
              </mc:Fallback>
            </mc:AlternateContent>
          </a:graphicData>
        </a:graphic>
      </p:graphicFrame>
      <p:graphicFrame>
        <p:nvGraphicFramePr>
          <p:cNvPr id="24" name="对象 -2147482547"/>
          <p:cNvGraphicFramePr>
            <a:graphicFrameLocks noChangeAspect="1"/>
          </p:cNvGraphicFramePr>
          <p:nvPr/>
        </p:nvGraphicFramePr>
        <p:xfrm>
          <a:off x="4933950" y="3856355"/>
          <a:ext cx="2899410" cy="434975"/>
        </p:xfrm>
        <a:graphic>
          <a:graphicData uri="http://schemas.openxmlformats.org/presentationml/2006/ole">
            <mc:AlternateContent xmlns:mc="http://schemas.openxmlformats.org/markup-compatibility/2006">
              <mc:Choice xmlns:v="urn:schemas-microsoft-com:vml" Requires="v">
                <p:oleObj spid="_x0000_s3" name="" r:id="rId5" imgW="1714500" imgH="254000" progId="Equation.DSMT4">
                  <p:embed/>
                </p:oleObj>
              </mc:Choice>
              <mc:Fallback>
                <p:oleObj name="" r:id="rId5" imgW="1714500" imgH="254000" progId="Equation.DSMT4">
                  <p:embed/>
                  <p:pic>
                    <p:nvPicPr>
                      <p:cNvPr id="0" name="图片 5"/>
                      <p:cNvPicPr/>
                      <p:nvPr/>
                    </p:nvPicPr>
                    <p:blipFill>
                      <a:blip r:embed="rId6"/>
                      <a:stretch>
                        <a:fillRect/>
                      </a:stretch>
                    </p:blipFill>
                    <p:spPr>
                      <a:xfrm>
                        <a:off x="4933950" y="3856355"/>
                        <a:ext cx="2899410" cy="434975"/>
                      </a:xfrm>
                      <a:prstGeom prst="rect">
                        <a:avLst/>
                      </a:prstGeom>
                      <a:noFill/>
                      <a:ln w="9525">
                        <a:noFill/>
                        <a:miter/>
                      </a:ln>
                    </p:spPr>
                  </p:pic>
                </p:oleObj>
              </mc:Fallback>
            </mc:AlternateContent>
          </a:graphicData>
        </a:graphic>
      </p:graphicFrame>
      <p:sp>
        <p:nvSpPr>
          <p:cNvPr id="26" name="文本框 25"/>
          <p:cNvSpPr txBox="1"/>
          <p:nvPr/>
        </p:nvSpPr>
        <p:spPr>
          <a:xfrm>
            <a:off x="1471295" y="4679950"/>
            <a:ext cx="5080000" cy="922020"/>
          </a:xfrm>
          <a:prstGeom prst="rect">
            <a:avLst/>
          </a:prstGeom>
          <a:noFill/>
          <a:ln w="9525">
            <a:noFill/>
          </a:ln>
        </p:spPr>
        <p:txBody>
          <a:bodyPr>
            <a:spAutoFit/>
          </a:bodyPr>
          <a:lstStyle/>
          <a:p>
            <a:pPr indent="266700"/>
            <a:r>
              <a:rPr lang="zh-CN" b="1">
                <a:solidFill>
                  <a:srgbClr val="00B0F0"/>
                </a:solidFill>
                <a:ea typeface="宋体" panose="02010600030101010101" pitchFamily="2" charset="-122"/>
              </a:rPr>
              <a:t>以</a:t>
            </a:r>
            <a:r>
              <a:rPr lang="en-US" b="1">
                <a:solidFill>
                  <a:srgbClr val="00B0F0"/>
                </a:solidFill>
                <a:latin typeface="Times New Roman" panose="02020603050405020304" charset="0"/>
                <a:ea typeface="宋体" panose="02010600030101010101" pitchFamily="2" charset="-122"/>
              </a:rPr>
              <a:t>2FSK</a:t>
            </a:r>
            <a:r>
              <a:rPr lang="zh-CN" b="1">
                <a:solidFill>
                  <a:srgbClr val="00B0F0"/>
                </a:solidFill>
                <a:latin typeface="Times New Roman" panose="02020603050405020304" charset="0"/>
                <a:ea typeface="宋体" panose="02010600030101010101" pitchFamily="2" charset="-122"/>
              </a:rPr>
              <a:t>（</a:t>
            </a:r>
            <a:r>
              <a:rPr lang="zh-CN" b="1">
                <a:solidFill>
                  <a:srgbClr val="00B0F0"/>
                </a:solidFill>
                <a:ea typeface="宋体" panose="02010600030101010101" pitchFamily="2" charset="-122"/>
              </a:rPr>
              <a:t>二进制</a:t>
            </a:r>
            <a:r>
              <a:rPr lang="en-US" b="1">
                <a:solidFill>
                  <a:srgbClr val="00B0F0"/>
                </a:solidFill>
                <a:latin typeface="Times New Roman" panose="02020603050405020304" charset="0"/>
                <a:ea typeface="宋体" panose="02010600030101010101" pitchFamily="2" charset="-122"/>
              </a:rPr>
              <a:t>FSK</a:t>
            </a:r>
            <a:r>
              <a:rPr lang="zh-CN" b="1">
                <a:solidFill>
                  <a:srgbClr val="00B0F0"/>
                </a:solidFill>
                <a:latin typeface="Times New Roman" panose="02020603050405020304" charset="0"/>
                <a:ea typeface="宋体" panose="02010600030101010101" pitchFamily="2" charset="-122"/>
              </a:rPr>
              <a:t>）</a:t>
            </a:r>
            <a:r>
              <a:rPr lang="zh-CN" b="1">
                <a:solidFill>
                  <a:srgbClr val="00B0F0"/>
                </a:solidFill>
                <a:ea typeface="宋体" panose="02010600030101010101" pitchFamily="2" charset="-122"/>
              </a:rPr>
              <a:t>调制为例，用数字信号的</a:t>
            </a:r>
            <a:r>
              <a:rPr lang="en-US" b="1">
                <a:solidFill>
                  <a:srgbClr val="00B0F0"/>
                </a:solidFill>
                <a:latin typeface="Times New Roman" panose="02020603050405020304" charset="0"/>
                <a:ea typeface="宋体" panose="02010600030101010101" pitchFamily="2" charset="-122"/>
              </a:rPr>
              <a:t>1</a:t>
            </a:r>
            <a:r>
              <a:rPr lang="zh-CN" b="1">
                <a:solidFill>
                  <a:srgbClr val="00B0F0"/>
                </a:solidFill>
                <a:ea typeface="宋体" panose="02010600030101010101" pitchFamily="2" charset="-122"/>
              </a:rPr>
              <a:t>和</a:t>
            </a:r>
            <a:r>
              <a:rPr lang="en-US" b="1">
                <a:solidFill>
                  <a:srgbClr val="00B0F0"/>
                </a:solidFill>
                <a:latin typeface="Times New Roman" panose="02020603050405020304" charset="0"/>
                <a:ea typeface="宋体" panose="02010600030101010101" pitchFamily="2" charset="-122"/>
              </a:rPr>
              <a:t>0</a:t>
            </a:r>
            <a:r>
              <a:rPr lang="zh-CN" b="1">
                <a:solidFill>
                  <a:srgbClr val="00B0F0"/>
                </a:solidFill>
                <a:ea typeface="宋体" panose="02010600030101010101" pitchFamily="2" charset="-122"/>
              </a:rPr>
              <a:t>分别控制两个独立的振部源交替输出。</a:t>
            </a:r>
            <a:r>
              <a:rPr lang="en-US" b="1">
                <a:solidFill>
                  <a:srgbClr val="00B0F0"/>
                </a:solidFill>
                <a:latin typeface="Times New Roman" panose="02020603050405020304" charset="0"/>
                <a:ea typeface="宋体" panose="02010600030101010101" pitchFamily="2" charset="-122"/>
              </a:rPr>
              <a:t>2FSK</a:t>
            </a:r>
            <a:r>
              <a:rPr lang="zh-CN" b="1">
                <a:solidFill>
                  <a:srgbClr val="00B0F0"/>
                </a:solidFill>
                <a:ea typeface="宋体" panose="02010600030101010101" pitchFamily="2" charset="-122"/>
              </a:rPr>
              <a:t>信号的产生原理框图如图所示。</a:t>
            </a:r>
            <a:endParaRPr lang="zh-CN" altLang="en-US" b="1">
              <a:solidFill>
                <a:srgbClr val="00B0F0"/>
              </a:solidFill>
              <a:ea typeface="宋体" panose="02010600030101010101" pitchFamily="2" charset="-122"/>
            </a:endParaRPr>
          </a:p>
        </p:txBody>
      </p:sp>
      <p:graphicFrame>
        <p:nvGraphicFramePr>
          <p:cNvPr id="27" name="对象 -2147482545"/>
          <p:cNvGraphicFramePr>
            <a:graphicFrameLocks noChangeAspect="1"/>
          </p:cNvGraphicFramePr>
          <p:nvPr/>
        </p:nvGraphicFramePr>
        <p:xfrm>
          <a:off x="7169785" y="4368165"/>
          <a:ext cx="3190240" cy="1698625"/>
        </p:xfrm>
        <a:graphic>
          <a:graphicData uri="http://schemas.openxmlformats.org/presentationml/2006/ole">
            <mc:AlternateContent xmlns:mc="http://schemas.openxmlformats.org/markup-compatibility/2006">
              <mc:Choice xmlns:v="urn:schemas-microsoft-com:vml" Requires="v">
                <p:oleObj spid="_x0000_s4" name="" r:id="rId7" imgW="6426200" imgH="3429000" progId="Visio.Drawing.15">
                  <p:embed/>
                </p:oleObj>
              </mc:Choice>
              <mc:Fallback>
                <p:oleObj name="" r:id="rId7" imgW="6426200" imgH="3429000" progId="Visio.Drawing.15">
                  <p:embed/>
                  <p:pic>
                    <p:nvPicPr>
                      <p:cNvPr id="0" name="图片 7"/>
                      <p:cNvPicPr/>
                      <p:nvPr/>
                    </p:nvPicPr>
                    <p:blipFill>
                      <a:blip r:embed="rId8"/>
                      <a:stretch>
                        <a:fillRect/>
                      </a:stretch>
                    </p:blipFill>
                    <p:spPr>
                      <a:xfrm>
                        <a:off x="7169785" y="4368165"/>
                        <a:ext cx="3190240" cy="1698625"/>
                      </a:xfrm>
                      <a:prstGeom prst="rect">
                        <a:avLst/>
                      </a:prstGeom>
                      <a:noFill/>
                      <a:ln w="9525">
                        <a:noFill/>
                        <a:miter/>
                      </a:ln>
                    </p:spPr>
                  </p:pic>
                </p:oleObj>
              </mc:Fallback>
            </mc:AlternateContent>
          </a:graphicData>
        </a:graphic>
      </p:graphicFrame>
      <p:sp>
        <p:nvSpPr>
          <p:cNvPr id="8" name="标题 1"/>
          <p:cNvSpPr>
            <a:spLocks noGrp="1"/>
          </p:cNvSpPr>
          <p:nvPr>
            <p:ph type="title"/>
          </p:nvPr>
        </p:nvSpPr>
        <p:spPr>
          <a:xfrm>
            <a:off x="522605" y="-9525"/>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713865"/>
            <a:ext cx="10516235" cy="3827145"/>
          </a:xfrm>
        </p:spPr>
        <p:txBody>
          <a:bodyPr>
            <a:noAutofit/>
          </a:bodyPr>
          <a:lstStyle/>
          <a:p>
            <a:pPr algn="l">
              <a:buClrTx/>
              <a:buSzTx/>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    PSK相移键控调制技术(调相技术)在数据传输中，尤其是在中速和中高速(2400b/s~4800b/s)的数传机中得到了广泛的应用。</a:t>
            </a:r>
            <a:r>
              <a:rPr lang="en-US" altLang="zh-CN" sz="2200" b="1">
                <a:uFillTx/>
                <a:latin typeface="宋体" panose="02010600030101010101" pitchFamily="2" charset="-122"/>
                <a:ea typeface="宋体" panose="02010600030101010101" pitchFamily="2" charset="-122"/>
                <a:cs typeface="宋体" panose="02010600030101010101" pitchFamily="2" charset="-122"/>
              </a:rPr>
              <a:t>相移键控有很好的抗干扰性，在有衰落的信道中也能获得很好的效果。</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228600" indent="-228600" algn="l">
              <a:buClrTx/>
              <a:buSzTx/>
              <a:buFont typeface="Arial" panose="020B0604020202020204" pitchFamily="34" charset="0"/>
              <a:buChar char="•"/>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在PSK调制时，载波的相位随调制信号状态的不同而改变。如果两个频率相同的载波同时开始振荡，这两个频率同时达到正最大值、零值和负最大值，此时它们处于“同相”状态；如果一个达到正最大值时，另一个达到负最大值，则称为“反相”。</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228600" indent="-228600" algn="l">
              <a:buClrTx/>
              <a:buSzTx/>
              <a:buFont typeface="Arial" panose="020B0604020202020204" pitchFamily="34" charset="0"/>
              <a:buChar char="•"/>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一般把 360°作为信号振荡的一个周期。如果一个波和另一个波在同一时刻相比相差半个周期，此时两个波的相位差为180°，即反相。</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marL="228600" indent="-228600" algn="l">
              <a:buClrTx/>
              <a:buSzTx/>
              <a:buFont typeface="Arial" panose="020B0604020202020204" pitchFamily="34" charset="0"/>
              <a:buChar char="•"/>
            </a:pPr>
            <a:r>
              <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rPr>
              <a:t>当传输数字信号时，0控制发同相相位，1控制发反相相位。以2PSK(进制PSK)调制为例，载波相位只有0和π两种取值，分别对应调制信号的0和1。传送信号1时，发起始相位为m的载波；当传送信号0时，发起始相位为0的载波。</a:t>
            </a:r>
            <a:endParaRPr lang="en-US" altLang="zh-CN" sz="2200" b="1">
              <a:solidFill>
                <a:schemeClr val="tx1"/>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1124585" y="1191968"/>
            <a:ext cx="5080000" cy="521970"/>
          </a:xfrm>
          <a:prstGeom prst="rect">
            <a:avLst/>
          </a:prstGeom>
          <a:noFill/>
          <a:ln w="9525">
            <a:noFill/>
          </a:ln>
        </p:spPr>
        <p:txBody>
          <a:bodyPr>
            <a:spAutoFit/>
          </a:bodyPr>
          <a:lstStyle/>
          <a:p>
            <a:pPr indent="0"/>
            <a:r>
              <a:rPr lang="zh-CN" sz="2800" b="1" dirty="0">
                <a:solidFill>
                  <a:srgbClr val="000000"/>
                </a:solidFill>
                <a:cs typeface="Times New Roman" panose="02020603050405020304" charset="0"/>
              </a:rPr>
              <a:t>PSK调制</a:t>
            </a:r>
            <a:endParaRPr lang="zh-CN" sz="2800" b="1" dirty="0">
              <a:solidFill>
                <a:srgbClr val="000000"/>
              </a:solidFill>
              <a:cs typeface="Times New Roman" panose="02020603050405020304" charset="0"/>
            </a:endParaRPr>
          </a:p>
        </p:txBody>
      </p:sp>
      <p:sp>
        <p:nvSpPr>
          <p:cNvPr id="8" name="标题 1"/>
          <p:cNvSpPr>
            <a:spLocks noGrp="1"/>
          </p:cNvSpPr>
          <p:nvPr>
            <p:ph type="title"/>
          </p:nvPr>
        </p:nvSpPr>
        <p:spPr>
          <a:xfrm>
            <a:off x="484505" y="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4900" y="1049020"/>
            <a:ext cx="5080000" cy="521970"/>
          </a:xfrm>
          <a:prstGeom prst="rect">
            <a:avLst/>
          </a:prstGeom>
          <a:noFill/>
          <a:ln w="9525">
            <a:noFill/>
          </a:ln>
        </p:spPr>
        <p:txBody>
          <a:bodyPr>
            <a:spAutoFit/>
          </a:bodyPr>
          <a:lstStyle/>
          <a:p>
            <a:pPr indent="0"/>
            <a:r>
              <a:rPr lang="zh-CN" sz="2800" b="1">
                <a:solidFill>
                  <a:srgbClr val="000000"/>
                </a:solidFill>
                <a:cs typeface="Times New Roman" panose="02020603050405020304" charset="0"/>
              </a:rPr>
              <a:t>PSK调制</a:t>
            </a:r>
            <a:endParaRPr lang="zh-CN" sz="2800" b="1">
              <a:solidFill>
                <a:srgbClr val="000000"/>
              </a:solidFill>
              <a:cs typeface="Times New Roman" panose="02020603050405020304" charset="0"/>
            </a:endParaRPr>
          </a:p>
        </p:txBody>
      </p:sp>
      <p:graphicFrame>
        <p:nvGraphicFramePr>
          <p:cNvPr id="5" name="对象 -2147482543"/>
          <p:cNvGraphicFramePr>
            <a:graphicFrameLocks noChangeAspect="1"/>
          </p:cNvGraphicFramePr>
          <p:nvPr/>
        </p:nvGraphicFramePr>
        <p:xfrm>
          <a:off x="8633460" y="1493520"/>
          <a:ext cx="527050" cy="418465"/>
        </p:xfrm>
        <a:graphic>
          <a:graphicData uri="http://schemas.openxmlformats.org/presentationml/2006/ole">
            <mc:AlternateContent xmlns:mc="http://schemas.openxmlformats.org/markup-compatibility/2006">
              <mc:Choice xmlns:v="urn:schemas-microsoft-com:vml" Requires="v">
                <p:oleObj spid="_x0000_s24775" name="" r:id="rId1" imgW="317500" imgH="254000" progId="Equation.DSMT4">
                  <p:embed/>
                </p:oleObj>
              </mc:Choice>
              <mc:Fallback>
                <p:oleObj name="" r:id="rId1" imgW="317500" imgH="254000" progId="Equation.DSMT4">
                  <p:embed/>
                  <p:pic>
                    <p:nvPicPr>
                      <p:cNvPr id="0" name="图片 3075"/>
                      <p:cNvPicPr/>
                      <p:nvPr/>
                    </p:nvPicPr>
                    <p:blipFill>
                      <a:blip r:embed="rId2"/>
                      <a:stretch>
                        <a:fillRect/>
                      </a:stretch>
                    </p:blipFill>
                    <p:spPr>
                      <a:xfrm>
                        <a:off x="8633460" y="1493520"/>
                        <a:ext cx="527050" cy="418465"/>
                      </a:xfrm>
                      <a:prstGeom prst="rect">
                        <a:avLst/>
                      </a:prstGeom>
                      <a:noFill/>
                      <a:ln w="9525">
                        <a:noFill/>
                        <a:miter/>
                      </a:ln>
                    </p:spPr>
                  </p:pic>
                </p:oleObj>
              </mc:Fallback>
            </mc:AlternateContent>
          </a:graphicData>
        </a:graphic>
      </p:graphicFrame>
      <p:pic>
        <p:nvPicPr>
          <p:cNvPr id="6" name="图片 83"/>
          <p:cNvPicPr>
            <a:picLocks noChangeAspect="1"/>
          </p:cNvPicPr>
          <p:nvPr/>
        </p:nvPicPr>
        <p:blipFill>
          <a:blip r:embed="rId3"/>
          <a:stretch>
            <a:fillRect/>
          </a:stretch>
        </p:blipFill>
        <p:spPr>
          <a:xfrm>
            <a:off x="1838643" y="2079625"/>
            <a:ext cx="3400425" cy="1490980"/>
          </a:xfrm>
          <a:prstGeom prst="rect">
            <a:avLst/>
          </a:prstGeom>
          <a:noFill/>
          <a:ln>
            <a:noFill/>
          </a:ln>
        </p:spPr>
      </p:pic>
      <p:graphicFrame>
        <p:nvGraphicFramePr>
          <p:cNvPr id="7" name="对象 -2147482542"/>
          <p:cNvGraphicFramePr>
            <a:graphicFrameLocks noChangeAspect="1"/>
          </p:cNvGraphicFramePr>
          <p:nvPr/>
        </p:nvGraphicFramePr>
        <p:xfrm>
          <a:off x="5734685" y="1911985"/>
          <a:ext cx="5609590" cy="2881630"/>
        </p:xfrm>
        <a:graphic>
          <a:graphicData uri="http://schemas.openxmlformats.org/presentationml/2006/ole">
            <mc:AlternateContent xmlns:mc="http://schemas.openxmlformats.org/markup-compatibility/2006">
              <mc:Choice xmlns:v="urn:schemas-microsoft-com:vml" Requires="v">
                <p:oleObj spid="_x0000_s3" name="" r:id="rId4" imgW="11734800" imgH="6019800" progId="Visio.Drawing.15">
                  <p:embed/>
                </p:oleObj>
              </mc:Choice>
              <mc:Fallback>
                <p:oleObj name="" r:id="rId4" imgW="11734800" imgH="6019800" progId="Visio.Drawing.15">
                  <p:embed/>
                  <p:pic>
                    <p:nvPicPr>
                      <p:cNvPr id="0" name="图片 5"/>
                      <p:cNvPicPr/>
                      <p:nvPr/>
                    </p:nvPicPr>
                    <p:blipFill>
                      <a:blip r:embed="rId5"/>
                      <a:stretch>
                        <a:fillRect/>
                      </a:stretch>
                    </p:blipFill>
                    <p:spPr>
                      <a:xfrm>
                        <a:off x="5734685" y="1911985"/>
                        <a:ext cx="5609590" cy="2881630"/>
                      </a:xfrm>
                      <a:prstGeom prst="rect">
                        <a:avLst/>
                      </a:prstGeom>
                      <a:noFill/>
                      <a:ln w="9525">
                        <a:noFill/>
                        <a:miter/>
                      </a:ln>
                    </p:spPr>
                  </p:pic>
                </p:oleObj>
              </mc:Fallback>
            </mc:AlternateContent>
          </a:graphicData>
        </a:graphic>
      </p:graphicFrame>
      <p:graphicFrame>
        <p:nvGraphicFramePr>
          <p:cNvPr id="9" name="表格 8"/>
          <p:cNvGraphicFramePr/>
          <p:nvPr>
            <p:custDataLst>
              <p:tags r:id="rId6"/>
            </p:custDataLst>
          </p:nvPr>
        </p:nvGraphicFramePr>
        <p:xfrm>
          <a:off x="847725" y="4078941"/>
          <a:ext cx="4665570" cy="2214282"/>
        </p:xfrm>
        <a:graphic>
          <a:graphicData uri="http://schemas.openxmlformats.org/drawingml/2006/table">
            <a:tbl>
              <a:tblPr firstRow="1" bandRow="1">
                <a:tableStyleId>{5940675A-B579-460E-94D1-54222C63F5DA}</a:tableStyleId>
              </a:tblPr>
              <a:tblGrid>
                <a:gridCol w="1385762"/>
                <a:gridCol w="1086401"/>
                <a:gridCol w="1101855"/>
                <a:gridCol w="1091552"/>
              </a:tblGrid>
              <a:tr h="272922">
                <a:tc>
                  <a:txBody>
                    <a:bodyPr/>
                    <a:lstStyle/>
                    <a:p>
                      <a:pPr indent="0" algn="ctr">
                        <a:buNone/>
                      </a:pPr>
                      <a:r>
                        <a:rPr lang="en-US" sz="1200" b="0" dirty="0">
                          <a:latin typeface="Times New Roman" panose="02020603050405020304" charset="0"/>
                          <a:cs typeface="Times New Roman" panose="02020603050405020304" charset="0"/>
                        </a:rPr>
                        <a:t>分 类</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窄 带</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扩 频</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UWB</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3505">
                <a:tc>
                  <a:txBody>
                    <a:bodyPr/>
                    <a:lstStyle/>
                    <a:p>
                      <a:pPr indent="0" algn="ctr">
                        <a:buNone/>
                      </a:pPr>
                      <a:r>
                        <a:rPr lang="en-US" sz="1200" b="0" dirty="0" err="1">
                          <a:latin typeface="Times New Roman" panose="02020603050405020304" charset="0"/>
                          <a:cs typeface="Times New Roman" panose="02020603050405020304" charset="0"/>
                        </a:rPr>
                        <a:t>成本</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3</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4</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3</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2014">
                <a:tc>
                  <a:txBody>
                    <a:bodyPr/>
                    <a:lstStyle/>
                    <a:p>
                      <a:pPr indent="0" algn="ctr">
                        <a:buNone/>
                      </a:pPr>
                      <a:r>
                        <a:rPr lang="en-US" sz="1200" b="0" dirty="0" err="1">
                          <a:latin typeface="Times New Roman" panose="02020603050405020304" charset="0"/>
                          <a:cs typeface="Times New Roman" panose="02020603050405020304" charset="0"/>
                        </a:rPr>
                        <a:t>功耗</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2</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5</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4</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8018">
                <a:tc>
                  <a:txBody>
                    <a:bodyPr/>
                    <a:lstStyle/>
                    <a:p>
                      <a:pPr indent="0" algn="ctr">
                        <a:buNone/>
                      </a:pPr>
                      <a:r>
                        <a:rPr lang="en-US" sz="1200" b="0">
                          <a:latin typeface="Times New Roman" panose="02020603050405020304" charset="0"/>
                          <a:cs typeface="Times New Roman" panose="02020603050405020304" charset="0"/>
                        </a:rPr>
                        <a:t>低传输范围和低速率</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3</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5</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4</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2597">
                <a:tc>
                  <a:txBody>
                    <a:bodyPr/>
                    <a:lstStyle/>
                    <a:p>
                      <a:pPr indent="0" algn="ctr">
                        <a:buNone/>
                      </a:pPr>
                      <a:r>
                        <a:rPr lang="en-US" sz="1200" b="0">
                          <a:latin typeface="Times New Roman" panose="02020603050405020304" charset="0"/>
                          <a:cs typeface="Times New Roman" panose="02020603050405020304" charset="0"/>
                        </a:rPr>
                        <a:t>抗干扰能力</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1</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5</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4</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2597">
                <a:tc>
                  <a:txBody>
                    <a:bodyPr/>
                    <a:lstStyle/>
                    <a:p>
                      <a:pPr indent="0" algn="ctr">
                        <a:buNone/>
                      </a:pPr>
                      <a:r>
                        <a:rPr lang="en-US" sz="1200" b="0">
                          <a:latin typeface="Times New Roman" panose="02020603050405020304" charset="0"/>
                          <a:cs typeface="Times New Roman" panose="02020603050405020304" charset="0"/>
                        </a:rPr>
                        <a:t>抗背景噪声能力</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2</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5</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2</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2597">
                <a:tc>
                  <a:txBody>
                    <a:bodyPr/>
                    <a:lstStyle/>
                    <a:p>
                      <a:pPr indent="0" algn="ctr">
                        <a:buNone/>
                      </a:pPr>
                      <a:r>
                        <a:rPr lang="en-US" sz="1200" b="0">
                          <a:latin typeface="Times New Roman" panose="02020603050405020304" charset="0"/>
                          <a:cs typeface="Times New Roman" panose="02020603050405020304" charset="0"/>
                        </a:rPr>
                        <a:t>同步难易度</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3</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2</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2</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435">
                <a:tc>
                  <a:txBody>
                    <a:bodyPr/>
                    <a:lstStyle/>
                    <a:p>
                      <a:pPr indent="0" algn="ctr">
                        <a:buNone/>
                      </a:pPr>
                      <a:r>
                        <a:rPr lang="en-US" sz="1200" b="0">
                          <a:latin typeface="Times New Roman" panose="02020603050405020304" charset="0"/>
                          <a:cs typeface="Times New Roman" panose="02020603050405020304" charset="0"/>
                        </a:rPr>
                        <a:t>频谱利用率</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2</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4</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5</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2597">
                <a:tc>
                  <a:txBody>
                    <a:bodyPr/>
                    <a:lstStyle/>
                    <a:p>
                      <a:pPr indent="0" algn="ctr">
                        <a:buNone/>
                      </a:pPr>
                      <a:r>
                        <a:rPr lang="en-US" sz="1200" b="0">
                          <a:latin typeface="Times New Roman" panose="02020603050405020304" charset="0"/>
                          <a:cs typeface="Times New Roman" panose="02020603050405020304" charset="0"/>
                        </a:rPr>
                        <a:t>多播能力</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1</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a:latin typeface="Times New Roman" panose="02020603050405020304" charset="0"/>
                          <a:cs typeface="Times New Roman" panose="02020603050405020304" charset="0"/>
                        </a:rPr>
                        <a:t>3</a:t>
                      </a:r>
                      <a:endParaRPr lang="en-US" altLang="en-US" sz="12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200" b="0" dirty="0">
                          <a:latin typeface="Times New Roman" panose="02020603050405020304" charset="0"/>
                          <a:cs typeface="Times New Roman" panose="02020603050405020304" charset="0"/>
                        </a:rPr>
                        <a:t>4</a:t>
                      </a:r>
                      <a:endParaRPr lang="en-US" altLang="en-US" sz="12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1" name="文本框 100"/>
          <p:cNvSpPr txBox="1"/>
          <p:nvPr/>
        </p:nvSpPr>
        <p:spPr>
          <a:xfrm>
            <a:off x="2749550" y="3570605"/>
            <a:ext cx="751205" cy="337185"/>
          </a:xfrm>
          <a:prstGeom prst="rect">
            <a:avLst/>
          </a:prstGeom>
          <a:noFill/>
          <a:ln w="9525">
            <a:noFill/>
          </a:ln>
        </p:spPr>
        <p:txBody>
          <a:bodyPr wrap="square">
            <a:spAutoFit/>
          </a:bodyPr>
          <a:lstStyle/>
          <a:p>
            <a:pPr indent="228600" algn="ctr"/>
            <a:r>
              <a:rPr lang="zh-CN" sz="1600" b="0" dirty="0">
                <a:ea typeface="宋体" panose="02010600030101010101" pitchFamily="2" charset="-122"/>
              </a:rPr>
              <a:t>图</a:t>
            </a:r>
            <a:r>
              <a:rPr lang="en-US" sz="1600" b="0" dirty="0">
                <a:latin typeface="Times New Roman" panose="02020603050405020304" charset="0"/>
                <a:ea typeface="宋体" panose="02010600030101010101" pitchFamily="2" charset="-122"/>
              </a:rPr>
              <a:t>a  </a:t>
            </a:r>
            <a:endParaRPr lang="zh-CN" altLang="en-US" sz="1600" dirty="0"/>
          </a:p>
        </p:txBody>
      </p:sp>
      <p:sp>
        <p:nvSpPr>
          <p:cNvPr id="10" name="文本框 9"/>
          <p:cNvSpPr txBox="1"/>
          <p:nvPr/>
        </p:nvSpPr>
        <p:spPr>
          <a:xfrm>
            <a:off x="8163560" y="4793615"/>
            <a:ext cx="751205" cy="337185"/>
          </a:xfrm>
          <a:prstGeom prst="rect">
            <a:avLst/>
          </a:prstGeom>
          <a:noFill/>
          <a:ln w="9525">
            <a:noFill/>
          </a:ln>
        </p:spPr>
        <p:txBody>
          <a:bodyPr wrap="square">
            <a:spAutoFit/>
          </a:bodyPr>
          <a:lstStyle/>
          <a:p>
            <a:pPr indent="228600" algn="ctr"/>
            <a:r>
              <a:rPr lang="zh-CN" sz="1600" b="0">
                <a:ea typeface="宋体" panose="02010600030101010101" pitchFamily="2" charset="-122"/>
              </a:rPr>
              <a:t>图</a:t>
            </a:r>
            <a:r>
              <a:rPr lang="en-US" altLang="zh-CN" sz="1600" b="0">
                <a:ea typeface="宋体" panose="02010600030101010101" pitchFamily="2" charset="-122"/>
              </a:rPr>
              <a:t>b</a:t>
            </a:r>
            <a:r>
              <a:rPr lang="en-US" sz="1600" b="0">
                <a:latin typeface="Times New Roman" panose="02020603050405020304" charset="0"/>
                <a:ea typeface="宋体" panose="02010600030101010101" pitchFamily="2" charset="-122"/>
              </a:rPr>
              <a:t>  </a:t>
            </a:r>
            <a:endParaRPr lang="zh-CN" altLang="en-US" sz="1600"/>
          </a:p>
        </p:txBody>
      </p:sp>
      <p:sp>
        <p:nvSpPr>
          <p:cNvPr id="11" name="文本框 10"/>
          <p:cNvSpPr txBox="1"/>
          <p:nvPr/>
        </p:nvSpPr>
        <p:spPr>
          <a:xfrm>
            <a:off x="5999480" y="5212080"/>
            <a:ext cx="5080000" cy="1014730"/>
          </a:xfrm>
          <a:prstGeom prst="rect">
            <a:avLst/>
          </a:prstGeom>
          <a:noFill/>
          <a:ln w="9525">
            <a:noFill/>
          </a:ln>
        </p:spPr>
        <p:txBody>
          <a:bodyPr>
            <a:spAutoFit/>
          </a:bodyPr>
          <a:lstStyle/>
          <a:p>
            <a:pPr indent="266700"/>
            <a:r>
              <a:rPr lang="en-US" altLang="zh-CN" sz="2000" b="1">
                <a:solidFill>
                  <a:srgbClr val="00B0F0"/>
                </a:solidFill>
                <a:uFillTx/>
                <a:latin typeface="宋体" panose="02010600030101010101" pitchFamily="2" charset="-122"/>
                <a:ea typeface="宋体" panose="02010600030101010101" pitchFamily="2" charset="-122"/>
                <a:cs typeface="宋体" panose="02010600030101010101" pitchFamily="2" charset="-122"/>
              </a:rPr>
              <a:t>3种调制解调方式性能的比较如表所示，表中的数据表示不同标准下的技术评级，“1”代表最差，“5”代表最好。</a:t>
            </a:r>
            <a:endParaRPr lang="en-US" altLang="zh-CN" sz="20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1104900" y="1482090"/>
            <a:ext cx="9772650" cy="429895"/>
          </a:xfrm>
          <a:prstGeom prst="rect">
            <a:avLst/>
          </a:prstGeom>
          <a:noFill/>
        </p:spPr>
        <p:txBody>
          <a:bodyPr wrap="none" rtlCol="0" anchor="t">
            <a:spAutoFit/>
          </a:bodyPr>
          <a:lstStyle/>
          <a:p>
            <a:pPr marL="0" indent="0">
              <a:buNone/>
            </a:pPr>
            <a:r>
              <a:rPr lang="en-US" altLang="zh-CN"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2PSK的调制原理如图a所示，调制波形图如图b所示，其中   为数字信号。</a:t>
            </a:r>
            <a:endParaRPr lang="zh-CN" altLang="en-US"/>
          </a:p>
        </p:txBody>
      </p:sp>
      <p:sp>
        <p:nvSpPr>
          <p:cNvPr id="8" name="标题 1"/>
          <p:cNvSpPr>
            <a:spLocks noGrp="1"/>
          </p:cNvSpPr>
          <p:nvPr>
            <p:ph type="title"/>
          </p:nvPr>
        </p:nvSpPr>
        <p:spPr>
          <a:xfrm>
            <a:off x="484505" y="635"/>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sym typeface="+mn-ea"/>
              </a:rPr>
              <a:t>3.3.1.2  数字调制</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03275" y="1694815"/>
            <a:ext cx="6539865" cy="2140585"/>
          </a:xfrm>
        </p:spPr>
        <p:txBody>
          <a:bodyPr>
            <a:noAutofit/>
          </a:bodyPr>
          <a:lstStyle/>
          <a:p>
            <a:pPr marL="0" indent="0">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使用信道编码器的主要目的是产生一个数据序列，这个数据序列必须对噪声具有很强的鲁棒性,并提供错误检测和前向纠错机制。</a:t>
            </a:r>
            <a:r>
              <a:rPr lang="en-US" altLang="zh-CN" sz="2200" b="1">
                <a:uFillTx/>
                <a:latin typeface="宋体" panose="02010600030101010101" pitchFamily="2" charset="-122"/>
                <a:ea typeface="宋体" panose="02010600030101010101" pitchFamily="2" charset="-122"/>
                <a:cs typeface="宋体" panose="02010600030101010101" pitchFamily="2" charset="-122"/>
              </a:rPr>
              <a:t>对于简单和廉价的收发器而言，前向纠错机制是昂贵的，因此，信道编码仅提供错误检测机制。</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物理信道限制了信号传输量和速率，</a:t>
            </a:r>
            <a:r>
              <a:rPr lang="en-US" altLang="zh-CN" sz="2200" b="1">
                <a:uFillTx/>
                <a:latin typeface="宋体" panose="02010600030101010101" pitchFamily="2" charset="-122"/>
                <a:ea typeface="宋体" panose="02010600030101010101" pitchFamily="2" charset="-122"/>
                <a:cs typeface="宋体" panose="02010600030101010101" pitchFamily="2" charset="-122"/>
              </a:rPr>
              <a:t>如图a所示。</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541"/>
          <p:cNvGraphicFramePr>
            <a:graphicFrameLocks noChangeAspect="1"/>
          </p:cNvGraphicFramePr>
          <p:nvPr/>
        </p:nvGraphicFramePr>
        <p:xfrm>
          <a:off x="7603490" y="2132330"/>
          <a:ext cx="3405505" cy="1652905"/>
        </p:xfrm>
        <a:graphic>
          <a:graphicData uri="http://schemas.openxmlformats.org/presentationml/2006/ole">
            <mc:AlternateContent xmlns:mc="http://schemas.openxmlformats.org/markup-compatibility/2006">
              <mc:Choice xmlns:v="urn:schemas-microsoft-com:vml" Requires="v">
                <p:oleObj spid="_x0000_s24775" name="" r:id="rId1" imgW="4140200" imgH="2019300" progId="Visio.Drawing.15">
                  <p:embed/>
                </p:oleObj>
              </mc:Choice>
              <mc:Fallback>
                <p:oleObj name="" r:id="rId1" imgW="4140200" imgH="2019300" progId="Visio.Drawing.15">
                  <p:embed/>
                  <p:pic>
                    <p:nvPicPr>
                      <p:cNvPr id="0" name="图片 3075"/>
                      <p:cNvPicPr/>
                      <p:nvPr/>
                    </p:nvPicPr>
                    <p:blipFill>
                      <a:blip r:embed="rId2"/>
                      <a:stretch>
                        <a:fillRect/>
                      </a:stretch>
                    </p:blipFill>
                    <p:spPr>
                      <a:xfrm>
                        <a:off x="7603490" y="2132330"/>
                        <a:ext cx="3405505" cy="1652905"/>
                      </a:xfrm>
                      <a:prstGeom prst="rect">
                        <a:avLst/>
                      </a:prstGeom>
                      <a:noFill/>
                      <a:ln w="9525">
                        <a:noFill/>
                        <a:miter/>
                      </a:ln>
                    </p:spPr>
                  </p:pic>
                </p:oleObj>
              </mc:Fallback>
            </mc:AlternateContent>
          </a:graphicData>
        </a:graphic>
      </p:graphicFrame>
      <p:sp>
        <p:nvSpPr>
          <p:cNvPr id="102" name="文本框 101"/>
          <p:cNvSpPr txBox="1"/>
          <p:nvPr/>
        </p:nvSpPr>
        <p:spPr>
          <a:xfrm>
            <a:off x="7901940" y="3785235"/>
            <a:ext cx="3359785" cy="337185"/>
          </a:xfrm>
          <a:prstGeom prst="rect">
            <a:avLst/>
          </a:prstGeom>
          <a:noFill/>
          <a:ln w="9525">
            <a:noFill/>
          </a:ln>
        </p:spPr>
        <p:txBody>
          <a:bodyPr wrap="square">
            <a:spAutoFit/>
          </a:bodyPr>
          <a:lstStyle/>
          <a:p>
            <a:pPr indent="228600" algn="ctr"/>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a  </a:t>
            </a:r>
            <a:r>
              <a:rPr lang="zh-CN" sz="1600" b="0">
                <a:ea typeface="宋体" panose="02010600030101010101" pitchFamily="2" charset="-122"/>
              </a:rPr>
              <a:t>随机模型的一个通道</a:t>
            </a:r>
            <a:endParaRPr lang="zh-CN" altLang="en-US" sz="1600"/>
          </a:p>
        </p:txBody>
      </p:sp>
      <p:sp>
        <p:nvSpPr>
          <p:cNvPr id="6" name="文本框 5"/>
          <p:cNvSpPr txBox="1"/>
          <p:nvPr/>
        </p:nvSpPr>
        <p:spPr>
          <a:xfrm>
            <a:off x="245110" y="4122420"/>
            <a:ext cx="11205845" cy="1383665"/>
          </a:xfrm>
          <a:prstGeom prst="rect">
            <a:avLst/>
          </a:prstGeom>
          <a:noFill/>
          <a:ln w="9525">
            <a:noFill/>
          </a:ln>
        </p:spPr>
        <p:txBody>
          <a:bodyPr wrap="square">
            <a:spAutoFit/>
          </a:bodyPr>
          <a:lstStyle/>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  根据香农定理，一个信道的无差错传输能力被定义为:</a:t>
            </a:r>
            <a:endParaRPr lang="en-US" altLang="zh-CN" sz="2200" b="1">
              <a:latin typeface="宋体" panose="02010600030101010101" pitchFamily="2" charset="-122"/>
              <a:ea typeface="宋体" panose="02010600030101010101" pitchFamily="2" charset="-122"/>
              <a:cs typeface="宋体" panose="02010600030101010101" pitchFamily="2" charset="-122"/>
            </a:endParaRPr>
          </a:p>
          <a:p>
            <a:pPr indent="266700"/>
            <a:endParaRPr lang="en-US" altLang="zh-CN" sz="2200" b="1">
              <a:latin typeface="宋体" panose="02010600030101010101" pitchFamily="2" charset="-122"/>
              <a:ea typeface="宋体" panose="02010600030101010101" pitchFamily="2" charset="-122"/>
              <a:cs typeface="宋体" panose="02010600030101010101" pitchFamily="2" charset="-122"/>
            </a:endParaRPr>
          </a:p>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                                        </a:t>
            </a:r>
            <a:r>
              <a:rPr lang="zh-CN" altLang="en-US" sz="2200" b="1">
                <a:latin typeface="宋体" panose="02010600030101010101" pitchFamily="2" charset="-122"/>
                <a:ea typeface="宋体" panose="02010600030101010101" pitchFamily="2" charset="-122"/>
                <a:cs typeface="宋体" panose="02010600030101010101" pitchFamily="2" charset="-122"/>
              </a:rPr>
              <a:t>（</a:t>
            </a:r>
            <a:r>
              <a:rPr lang="en-US" altLang="zh-CN" sz="2200" b="1">
                <a:latin typeface="宋体" panose="02010600030101010101" pitchFamily="2" charset="-122"/>
                <a:ea typeface="宋体" panose="02010600030101010101" pitchFamily="2" charset="-122"/>
                <a:cs typeface="宋体" panose="02010600030101010101" pitchFamily="2" charset="-122"/>
              </a:rPr>
              <a:t>3-3-4</a:t>
            </a:r>
            <a:r>
              <a:rPr lang="zh-CN" altLang="en-US" sz="2200" b="1">
                <a:latin typeface="宋体" panose="02010600030101010101" pitchFamily="2" charset="-122"/>
                <a:ea typeface="宋体" panose="02010600030101010101" pitchFamily="2" charset="-122"/>
                <a:cs typeface="宋体" panose="02010600030101010101" pitchFamily="2" charset="-122"/>
              </a:rPr>
              <a:t>）</a:t>
            </a:r>
            <a:endParaRPr lang="en-US" altLang="zh-CN" sz="2200" b="1">
              <a:latin typeface="宋体" panose="02010600030101010101" pitchFamily="2" charset="-122"/>
              <a:ea typeface="宋体" panose="02010600030101010101" pitchFamily="2" charset="-122"/>
              <a:cs typeface="宋体" panose="02010600030101010101" pitchFamily="2" charset="-122"/>
            </a:endParaRPr>
          </a:p>
          <a:p>
            <a:pPr indent="266700"/>
            <a:endParaRPr lang="zh-CN" altLang="en-US"/>
          </a:p>
        </p:txBody>
      </p:sp>
      <p:graphicFrame>
        <p:nvGraphicFramePr>
          <p:cNvPr id="7" name="对象 -2147482540"/>
          <p:cNvGraphicFramePr>
            <a:graphicFrameLocks noChangeAspect="1"/>
          </p:cNvGraphicFramePr>
          <p:nvPr/>
        </p:nvGraphicFramePr>
        <p:xfrm>
          <a:off x="3846830" y="4676140"/>
          <a:ext cx="1955165" cy="603250"/>
        </p:xfrm>
        <a:graphic>
          <a:graphicData uri="http://schemas.openxmlformats.org/presentationml/2006/ole">
            <mc:AlternateContent xmlns:mc="http://schemas.openxmlformats.org/markup-compatibility/2006">
              <mc:Choice xmlns:v="urn:schemas-microsoft-com:vml" Requires="v">
                <p:oleObj spid="_x0000_s2" name="" r:id="rId3" imgW="5715000" imgH="1727200" progId="Visio.Drawing.15">
                  <p:embed/>
                </p:oleObj>
              </mc:Choice>
              <mc:Fallback>
                <p:oleObj name="" r:id="rId3" imgW="5715000" imgH="1727200" progId="Visio.Drawing.15">
                  <p:embed/>
                  <p:pic>
                    <p:nvPicPr>
                      <p:cNvPr id="0" name="图片 5"/>
                      <p:cNvPicPr/>
                      <p:nvPr/>
                    </p:nvPicPr>
                    <p:blipFill>
                      <a:blip r:embed="rId4"/>
                      <a:stretch>
                        <a:fillRect/>
                      </a:stretch>
                    </p:blipFill>
                    <p:spPr>
                      <a:xfrm>
                        <a:off x="3846830" y="4676140"/>
                        <a:ext cx="1955165" cy="603250"/>
                      </a:xfrm>
                      <a:prstGeom prst="rect">
                        <a:avLst/>
                      </a:prstGeom>
                      <a:noFill/>
                      <a:ln w="9525">
                        <a:noFill/>
                        <a:miter/>
                      </a:ln>
                    </p:spPr>
                  </p:pic>
                </p:oleObj>
              </mc:Fallback>
            </mc:AlternateContent>
          </a:graphicData>
        </a:graphic>
      </p:graphicFrame>
      <p:sp>
        <p:nvSpPr>
          <p:cNvPr id="9" name="文本框 8"/>
          <p:cNvSpPr txBox="1"/>
          <p:nvPr/>
        </p:nvSpPr>
        <p:spPr>
          <a:xfrm>
            <a:off x="803275" y="5279390"/>
            <a:ext cx="10088880" cy="1106805"/>
          </a:xfrm>
          <a:prstGeom prst="rect">
            <a:avLst/>
          </a:prstGeom>
          <a:noFill/>
          <a:ln w="9525">
            <a:noFill/>
          </a:ln>
        </p:spPr>
        <p:txBody>
          <a:bodyPr wrap="square">
            <a:spAutoFit/>
          </a:bodyPr>
          <a:lstStyle/>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其中，C是信道容量(以每秒的比特数表示)，B是信道带宽(赫兹)，S是整个带宽上的平均信号功率(以瓦特表示)，N是整个带宽上的平均噪声功率(以瓦特表示)。</a:t>
            </a:r>
            <a:endParaRPr lang="en-US" altLang="zh-CN" sz="2200" b="1">
              <a:latin typeface="宋体" panose="02010600030101010101" pitchFamily="2" charset="-122"/>
              <a:ea typeface="宋体" panose="02010600030101010101" pitchFamily="2" charset="-122"/>
              <a:cs typeface="宋体" panose="02010600030101010101" pitchFamily="2" charset="-122"/>
            </a:endParaRPr>
          </a:p>
        </p:txBody>
      </p:sp>
      <p:sp>
        <p:nvSpPr>
          <p:cNvPr id="11"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  信道编码</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half" idx="1"/>
          </p:nvPr>
        </p:nvSpPr>
        <p:spPr>
          <a:xfrm>
            <a:off x="586105" y="1445895"/>
            <a:ext cx="11020425" cy="2388235"/>
          </a:xfrm>
        </p:spPr>
        <p:txBody>
          <a:bodyPr>
            <a:noAutofit/>
          </a:bodyPr>
          <a:lstStyle/>
          <a:p>
            <a:pPr marL="0" indent="0">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式(3-3-4)说明</a:t>
            </a:r>
            <a:r>
              <a:rPr lang="en-US" altLang="zh-CN" sz="2200" b="1">
                <a:uFillTx/>
                <a:latin typeface="宋体" panose="02010600030101010101" pitchFamily="2" charset="-122"/>
                <a:ea typeface="宋体" panose="02010600030101010101" pitchFamily="2" charset="-122"/>
                <a:cs typeface="宋体" panose="02010600030101010101" pitchFamily="2" charset="-122"/>
              </a:rPr>
              <a:t>，如果要保证发送的数据没有错误，其传输速率不能超出信道容量的可承受范围，这也表明了信噪比(SNR)是如何提高信道的容量的。</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式(3-3-4)还揭示了在传输过程中为什么会出现差错的两个不相关的原因</a:t>
            </a:r>
            <a:r>
              <a:rPr lang="zh-CN" altLang="en-US"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a:t>
            </a:r>
            <a:r>
              <a:rPr lang="en-US" altLang="zh-CN" sz="2200" b="1">
                <a:uFillTx/>
                <a:latin typeface="宋体" panose="02010600030101010101" pitchFamily="2" charset="-122"/>
                <a:ea typeface="宋体" panose="02010600030101010101" pitchFamily="2" charset="-122"/>
                <a:cs typeface="宋体" panose="02010600030101010101" pitchFamily="2" charset="-122"/>
              </a:rPr>
              <a:t>  </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（1）如果信号的传输速率超出信道容量的可承受范围，那么信息将会丢失。这</a:t>
            </a:r>
            <a:r>
              <a:rPr lang="zh-CN" altLang="en-US" sz="2200" b="1">
                <a:uFillTx/>
                <a:latin typeface="宋体" panose="02010600030101010101" pitchFamily="2" charset="-122"/>
                <a:ea typeface="宋体" panose="02010600030101010101" pitchFamily="2" charset="-122"/>
                <a:cs typeface="宋体" panose="02010600030101010101" pitchFamily="2" charset="-122"/>
              </a:rPr>
              <a:t>样的</a:t>
            </a:r>
            <a:r>
              <a:rPr lang="en-US" altLang="zh-CN" sz="2200" b="1">
                <a:uFillTx/>
                <a:latin typeface="宋体" panose="02010600030101010101" pitchFamily="2" charset="-122"/>
                <a:ea typeface="宋体" panose="02010600030101010101" pitchFamily="2" charset="-122"/>
                <a:cs typeface="宋体" panose="02010600030101010101" pitchFamily="2" charset="-122"/>
              </a:rPr>
              <a:t>错误在信息论里被称为疑义度(equivocation)，它具有负偏差的特点。</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（2）如果信号掺杂了很多不相关的噪声，信息将会丢失。</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sp>
        <p:nvSpPr>
          <p:cNvPr id="11" name="文本框 10"/>
          <p:cNvSpPr txBox="1"/>
          <p:nvPr/>
        </p:nvSpPr>
        <p:spPr>
          <a:xfrm>
            <a:off x="241935" y="3743960"/>
            <a:ext cx="11205845" cy="1445260"/>
          </a:xfrm>
          <a:prstGeom prst="rect">
            <a:avLst/>
          </a:prstGeom>
          <a:noFill/>
          <a:ln w="9525">
            <a:noFill/>
          </a:ln>
        </p:spPr>
        <p:txBody>
          <a:bodyPr wrap="square">
            <a:spAutoFit/>
          </a:bodyPr>
          <a:lstStyle/>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假设一个输入序列   ，有j个不同的值，即                ，在物理信道进行传输。令    表示         ，这个信道的输出可以解码为由k个值组成的                 。令    表示        。在  时刻，信道由输入信号   产生输出  。</a:t>
            </a:r>
            <a:endParaRPr lang="en-US" altLang="zh-CN" sz="2200" b="1">
              <a:latin typeface="宋体" panose="02010600030101010101" pitchFamily="2" charset="-122"/>
              <a:ea typeface="宋体" panose="02010600030101010101" pitchFamily="2" charset="-122"/>
              <a:cs typeface="宋体" panose="02010600030101010101" pitchFamily="2" charset="-122"/>
            </a:endParaRPr>
          </a:p>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假设信道传输的数据失真,可以把这个失真过程(传输概率)模型化为一个随机过程: </a:t>
            </a:r>
            <a:endParaRPr lang="en-US" altLang="zh-CN" sz="22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2" name="对象 -2147482539"/>
          <p:cNvGraphicFramePr>
            <a:graphicFrameLocks noChangeAspect="1"/>
          </p:cNvGraphicFramePr>
          <p:nvPr/>
        </p:nvGraphicFramePr>
        <p:xfrm>
          <a:off x="2880995" y="3763645"/>
          <a:ext cx="254000" cy="361950"/>
        </p:xfrm>
        <a:graphic>
          <a:graphicData uri="http://schemas.openxmlformats.org/presentationml/2006/ole">
            <mc:AlternateContent xmlns:mc="http://schemas.openxmlformats.org/markup-compatibility/2006">
              <mc:Choice xmlns:v="urn:schemas-microsoft-com:vml" Requires="v">
                <p:oleObj spid="_x0000_s24775" name="" r:id="rId1" imgW="533400" imgH="850265" progId="Visio.Drawing.15">
                  <p:embed/>
                </p:oleObj>
              </mc:Choice>
              <mc:Fallback>
                <p:oleObj name="" r:id="rId1" imgW="533400" imgH="850265" progId="Visio.Drawing.15">
                  <p:embed/>
                  <p:pic>
                    <p:nvPicPr>
                      <p:cNvPr id="0" name="图片 10"/>
                      <p:cNvPicPr/>
                      <p:nvPr/>
                    </p:nvPicPr>
                    <p:blipFill>
                      <a:blip r:embed="rId2"/>
                      <a:stretch>
                        <a:fillRect/>
                      </a:stretch>
                    </p:blipFill>
                    <p:spPr>
                      <a:xfrm>
                        <a:off x="2880995" y="3763645"/>
                        <a:ext cx="254000" cy="361950"/>
                      </a:xfrm>
                      <a:prstGeom prst="rect">
                        <a:avLst/>
                      </a:prstGeom>
                      <a:noFill/>
                      <a:ln w="9525">
                        <a:noFill/>
                        <a:miter/>
                      </a:ln>
                    </p:spPr>
                  </p:pic>
                </p:oleObj>
              </mc:Fallback>
            </mc:AlternateContent>
          </a:graphicData>
        </a:graphic>
      </p:graphicFrame>
      <p:graphicFrame>
        <p:nvGraphicFramePr>
          <p:cNvPr id="14" name="对象 -2147482538"/>
          <p:cNvGraphicFramePr>
            <a:graphicFrameLocks noChangeAspect="1"/>
          </p:cNvGraphicFramePr>
          <p:nvPr/>
        </p:nvGraphicFramePr>
        <p:xfrm>
          <a:off x="5942965" y="3787775"/>
          <a:ext cx="2252345" cy="337820"/>
        </p:xfrm>
        <a:graphic>
          <a:graphicData uri="http://schemas.openxmlformats.org/presentationml/2006/ole">
            <mc:AlternateContent xmlns:mc="http://schemas.openxmlformats.org/markup-compatibility/2006">
              <mc:Choice xmlns:v="urn:schemas-microsoft-com:vml" Requires="v">
                <p:oleObj spid="_x0000_s2" name="" r:id="rId3" imgW="5918200" imgH="939800" progId="Equation.DSMT4">
                  <p:embed/>
                </p:oleObj>
              </mc:Choice>
              <mc:Fallback>
                <p:oleObj name="" r:id="rId3" imgW="5918200" imgH="939800" progId="Equation.DSMT4">
                  <p:embed/>
                  <p:pic>
                    <p:nvPicPr>
                      <p:cNvPr id="0" name="图片 11"/>
                      <p:cNvPicPr/>
                      <p:nvPr/>
                    </p:nvPicPr>
                    <p:blipFill>
                      <a:blip r:embed="rId4"/>
                      <a:stretch>
                        <a:fillRect/>
                      </a:stretch>
                    </p:blipFill>
                    <p:spPr>
                      <a:xfrm>
                        <a:off x="5942965" y="3787775"/>
                        <a:ext cx="2252345" cy="337820"/>
                      </a:xfrm>
                      <a:prstGeom prst="rect">
                        <a:avLst/>
                      </a:prstGeom>
                      <a:noFill/>
                      <a:ln w="9525">
                        <a:noFill/>
                        <a:miter/>
                      </a:ln>
                    </p:spPr>
                  </p:pic>
                </p:oleObj>
              </mc:Fallback>
            </mc:AlternateContent>
          </a:graphicData>
        </a:graphic>
      </p:graphicFrame>
      <p:graphicFrame>
        <p:nvGraphicFramePr>
          <p:cNvPr id="16" name="对象 -2147482537"/>
          <p:cNvGraphicFramePr>
            <a:graphicFrameLocks noChangeAspect="1"/>
          </p:cNvGraphicFramePr>
          <p:nvPr/>
        </p:nvGraphicFramePr>
        <p:xfrm>
          <a:off x="617855" y="4175125"/>
          <a:ext cx="552450" cy="271780"/>
        </p:xfrm>
        <a:graphic>
          <a:graphicData uri="http://schemas.openxmlformats.org/presentationml/2006/ole">
            <mc:AlternateContent xmlns:mc="http://schemas.openxmlformats.org/markup-compatibility/2006">
              <mc:Choice xmlns:v="urn:schemas-microsoft-com:vml" Requires="v">
                <p:oleObj spid="_x0000_s3" name="" r:id="rId5" imgW="1650365" imgH="850265" progId="Equation.DSMT4">
                  <p:embed/>
                </p:oleObj>
              </mc:Choice>
              <mc:Fallback>
                <p:oleObj name="" r:id="rId5" imgW="1650365" imgH="850265" progId="Equation.DSMT4">
                  <p:embed/>
                  <p:pic>
                    <p:nvPicPr>
                      <p:cNvPr id="0" name="图片 12"/>
                      <p:cNvPicPr/>
                      <p:nvPr/>
                    </p:nvPicPr>
                    <p:blipFill>
                      <a:blip r:embed="rId6"/>
                      <a:stretch>
                        <a:fillRect/>
                      </a:stretch>
                    </p:blipFill>
                    <p:spPr>
                      <a:xfrm>
                        <a:off x="617855" y="4175125"/>
                        <a:ext cx="552450" cy="271780"/>
                      </a:xfrm>
                      <a:prstGeom prst="rect">
                        <a:avLst/>
                      </a:prstGeom>
                      <a:noFill/>
                      <a:ln w="9525">
                        <a:noFill/>
                        <a:miter/>
                      </a:ln>
                    </p:spPr>
                  </p:pic>
                </p:oleObj>
              </mc:Fallback>
            </mc:AlternateContent>
          </a:graphicData>
        </a:graphic>
      </p:graphicFrame>
      <p:graphicFrame>
        <p:nvGraphicFramePr>
          <p:cNvPr id="18" name="对象 -2147482536"/>
          <p:cNvGraphicFramePr>
            <a:graphicFrameLocks noChangeAspect="1"/>
          </p:cNvGraphicFramePr>
          <p:nvPr/>
        </p:nvGraphicFramePr>
        <p:xfrm>
          <a:off x="1758950" y="4161790"/>
          <a:ext cx="1122045" cy="304165"/>
        </p:xfrm>
        <a:graphic>
          <a:graphicData uri="http://schemas.openxmlformats.org/presentationml/2006/ole">
            <mc:AlternateContent xmlns:mc="http://schemas.openxmlformats.org/markup-compatibility/2006">
              <mc:Choice xmlns:v="urn:schemas-microsoft-com:vml" Requires="v">
                <p:oleObj spid="_x0000_s4" name="" r:id="rId7" imgW="3059430" imgH="850265" progId="Equation.DSMT4">
                  <p:embed/>
                </p:oleObj>
              </mc:Choice>
              <mc:Fallback>
                <p:oleObj name="" r:id="rId7" imgW="3059430" imgH="850265" progId="Equation.DSMT4">
                  <p:embed/>
                  <p:pic>
                    <p:nvPicPr>
                      <p:cNvPr id="0" name="图片 13"/>
                      <p:cNvPicPr/>
                      <p:nvPr/>
                    </p:nvPicPr>
                    <p:blipFill>
                      <a:blip r:embed="rId8"/>
                      <a:stretch>
                        <a:fillRect/>
                      </a:stretch>
                    </p:blipFill>
                    <p:spPr>
                      <a:xfrm>
                        <a:off x="1758950" y="4161790"/>
                        <a:ext cx="1122045" cy="304165"/>
                      </a:xfrm>
                      <a:prstGeom prst="rect">
                        <a:avLst/>
                      </a:prstGeom>
                      <a:noFill/>
                      <a:ln w="9525">
                        <a:noFill/>
                        <a:miter/>
                      </a:ln>
                    </p:spPr>
                  </p:pic>
                </p:oleObj>
              </mc:Fallback>
            </mc:AlternateContent>
          </a:graphicData>
        </a:graphic>
      </p:graphicFrame>
      <p:graphicFrame>
        <p:nvGraphicFramePr>
          <p:cNvPr id="20" name="对象 -2147482535"/>
          <p:cNvGraphicFramePr>
            <a:graphicFrameLocks noChangeAspect="1"/>
          </p:cNvGraphicFramePr>
          <p:nvPr/>
        </p:nvGraphicFramePr>
        <p:xfrm>
          <a:off x="8553450" y="4137660"/>
          <a:ext cx="2303780" cy="309245"/>
        </p:xfrm>
        <a:graphic>
          <a:graphicData uri="http://schemas.openxmlformats.org/presentationml/2006/ole">
            <mc:AlternateContent xmlns:mc="http://schemas.openxmlformats.org/markup-compatibility/2006">
              <mc:Choice xmlns:v="urn:schemas-microsoft-com:vml" Requires="v">
                <p:oleObj spid="_x0000_s5" name="" r:id="rId9" imgW="6195060" imgH="850265" progId="Equation.DSMT4">
                  <p:embed/>
                </p:oleObj>
              </mc:Choice>
              <mc:Fallback>
                <p:oleObj name="" r:id="rId9" imgW="6195060" imgH="850265" progId="Equation.DSMT4">
                  <p:embed/>
                  <p:pic>
                    <p:nvPicPr>
                      <p:cNvPr id="0" name="图片 14"/>
                      <p:cNvPicPr/>
                      <p:nvPr/>
                    </p:nvPicPr>
                    <p:blipFill>
                      <a:blip r:embed="rId10"/>
                      <a:stretch>
                        <a:fillRect/>
                      </a:stretch>
                    </p:blipFill>
                    <p:spPr>
                      <a:xfrm>
                        <a:off x="8553450" y="4137660"/>
                        <a:ext cx="2303780" cy="309245"/>
                      </a:xfrm>
                      <a:prstGeom prst="rect">
                        <a:avLst/>
                      </a:prstGeom>
                      <a:noFill/>
                      <a:ln w="9525">
                        <a:noFill/>
                        <a:miter/>
                      </a:ln>
                    </p:spPr>
                  </p:pic>
                </p:oleObj>
              </mc:Fallback>
            </mc:AlternateContent>
          </a:graphicData>
        </a:graphic>
      </p:graphicFrame>
      <p:graphicFrame>
        <p:nvGraphicFramePr>
          <p:cNvPr id="22" name="对象 -2147482534"/>
          <p:cNvGraphicFramePr>
            <a:graphicFrameLocks noChangeAspect="1"/>
          </p:cNvGraphicFramePr>
          <p:nvPr/>
        </p:nvGraphicFramePr>
        <p:xfrm>
          <a:off x="617855" y="4481195"/>
          <a:ext cx="552450" cy="279400"/>
        </p:xfrm>
        <a:graphic>
          <a:graphicData uri="http://schemas.openxmlformats.org/presentationml/2006/ole">
            <mc:AlternateContent xmlns:mc="http://schemas.openxmlformats.org/markup-compatibility/2006">
              <mc:Choice xmlns:v="urn:schemas-microsoft-com:vml" Requires="v">
                <p:oleObj spid="_x0000_s6" name="" r:id="rId11" imgW="1891665" imgH="850265" progId="Equation.DSMT4">
                  <p:embed/>
                </p:oleObj>
              </mc:Choice>
              <mc:Fallback>
                <p:oleObj name="" r:id="rId11" imgW="1891665" imgH="850265" progId="Equation.DSMT4">
                  <p:embed/>
                  <p:pic>
                    <p:nvPicPr>
                      <p:cNvPr id="0" name="图片 15"/>
                      <p:cNvPicPr/>
                      <p:nvPr/>
                    </p:nvPicPr>
                    <p:blipFill>
                      <a:blip r:embed="rId12"/>
                      <a:stretch>
                        <a:fillRect/>
                      </a:stretch>
                    </p:blipFill>
                    <p:spPr>
                      <a:xfrm>
                        <a:off x="617855" y="4481195"/>
                        <a:ext cx="552450" cy="279400"/>
                      </a:xfrm>
                      <a:prstGeom prst="rect">
                        <a:avLst/>
                      </a:prstGeom>
                      <a:noFill/>
                      <a:ln w="9525">
                        <a:noFill/>
                        <a:miter/>
                      </a:ln>
                    </p:spPr>
                  </p:pic>
                </p:oleObj>
              </mc:Fallback>
            </mc:AlternateContent>
          </a:graphicData>
        </a:graphic>
      </p:graphicFrame>
      <p:graphicFrame>
        <p:nvGraphicFramePr>
          <p:cNvPr id="24" name="对象 -2147482533"/>
          <p:cNvGraphicFramePr>
            <a:graphicFrameLocks noChangeAspect="1"/>
          </p:cNvGraphicFramePr>
          <p:nvPr/>
        </p:nvGraphicFramePr>
        <p:xfrm>
          <a:off x="1758950" y="4501515"/>
          <a:ext cx="1096645" cy="291465"/>
        </p:xfrm>
        <a:graphic>
          <a:graphicData uri="http://schemas.openxmlformats.org/presentationml/2006/ole">
            <mc:AlternateContent xmlns:mc="http://schemas.openxmlformats.org/markup-compatibility/2006">
              <mc:Choice xmlns:v="urn:schemas-microsoft-com:vml" Requires="v">
                <p:oleObj spid="_x0000_s7" name="" r:id="rId13" imgW="3122930" imgH="850265" progId="Equation.DSMT4">
                  <p:embed/>
                </p:oleObj>
              </mc:Choice>
              <mc:Fallback>
                <p:oleObj name="" r:id="rId13" imgW="3122930" imgH="850265" progId="Equation.DSMT4">
                  <p:embed/>
                  <p:pic>
                    <p:nvPicPr>
                      <p:cNvPr id="0" name="图片 16"/>
                      <p:cNvPicPr/>
                      <p:nvPr/>
                    </p:nvPicPr>
                    <p:blipFill>
                      <a:blip r:embed="rId14"/>
                      <a:stretch>
                        <a:fillRect/>
                      </a:stretch>
                    </p:blipFill>
                    <p:spPr>
                      <a:xfrm>
                        <a:off x="1758950" y="4501515"/>
                        <a:ext cx="1096645" cy="291465"/>
                      </a:xfrm>
                      <a:prstGeom prst="rect">
                        <a:avLst/>
                      </a:prstGeom>
                      <a:noFill/>
                      <a:ln w="9525">
                        <a:noFill/>
                        <a:miter/>
                      </a:ln>
                    </p:spPr>
                  </p:pic>
                </p:oleObj>
              </mc:Fallback>
            </mc:AlternateContent>
          </a:graphicData>
        </a:graphic>
      </p:graphicFrame>
      <p:graphicFrame>
        <p:nvGraphicFramePr>
          <p:cNvPr id="26" name="对象 -2147482532"/>
          <p:cNvGraphicFramePr>
            <a:graphicFrameLocks noChangeAspect="1"/>
          </p:cNvGraphicFramePr>
          <p:nvPr/>
        </p:nvGraphicFramePr>
        <p:xfrm>
          <a:off x="3499485" y="4491990"/>
          <a:ext cx="140970" cy="311785"/>
        </p:xfrm>
        <a:graphic>
          <a:graphicData uri="http://schemas.openxmlformats.org/presentationml/2006/ole">
            <mc:AlternateContent xmlns:mc="http://schemas.openxmlformats.org/markup-compatibility/2006">
              <mc:Choice xmlns:v="urn:schemas-microsoft-com:vml" Requires="v">
                <p:oleObj spid="_x0000_s8" name="" r:id="rId15" imgW="355600" imgH="850265" progId="Equation.DSMT4">
                  <p:embed/>
                </p:oleObj>
              </mc:Choice>
              <mc:Fallback>
                <p:oleObj name="" r:id="rId15" imgW="355600" imgH="850265" progId="Equation.DSMT4">
                  <p:embed/>
                  <p:pic>
                    <p:nvPicPr>
                      <p:cNvPr id="0" name="图片 17"/>
                      <p:cNvPicPr/>
                      <p:nvPr/>
                    </p:nvPicPr>
                    <p:blipFill>
                      <a:blip r:embed="rId16"/>
                      <a:stretch>
                        <a:fillRect/>
                      </a:stretch>
                    </p:blipFill>
                    <p:spPr>
                      <a:xfrm>
                        <a:off x="3499485" y="4491990"/>
                        <a:ext cx="140970" cy="311785"/>
                      </a:xfrm>
                      <a:prstGeom prst="rect">
                        <a:avLst/>
                      </a:prstGeom>
                      <a:noFill/>
                      <a:ln w="9525">
                        <a:noFill/>
                        <a:miter/>
                      </a:ln>
                    </p:spPr>
                  </p:pic>
                </p:oleObj>
              </mc:Fallback>
            </mc:AlternateContent>
          </a:graphicData>
        </a:graphic>
      </p:graphicFrame>
      <p:graphicFrame>
        <p:nvGraphicFramePr>
          <p:cNvPr id="28" name="对象 -2147482531"/>
          <p:cNvGraphicFramePr>
            <a:graphicFrameLocks noChangeAspect="1"/>
          </p:cNvGraphicFramePr>
          <p:nvPr/>
        </p:nvGraphicFramePr>
        <p:xfrm>
          <a:off x="6576695" y="4430395"/>
          <a:ext cx="262890" cy="387350"/>
        </p:xfrm>
        <a:graphic>
          <a:graphicData uri="http://schemas.openxmlformats.org/presentationml/2006/ole">
            <mc:AlternateContent xmlns:mc="http://schemas.openxmlformats.org/markup-compatibility/2006">
              <mc:Choice xmlns:v="urn:schemas-microsoft-com:vml" Requires="v">
                <p:oleObj spid="_x0000_s9" name="" r:id="rId17" imgW="520700" imgH="850265" progId="Equation.DSMT4">
                  <p:embed/>
                </p:oleObj>
              </mc:Choice>
              <mc:Fallback>
                <p:oleObj name="" r:id="rId17" imgW="520700" imgH="850265" progId="Equation.DSMT4">
                  <p:embed/>
                  <p:pic>
                    <p:nvPicPr>
                      <p:cNvPr id="0" name="图片 18"/>
                      <p:cNvPicPr/>
                      <p:nvPr/>
                    </p:nvPicPr>
                    <p:blipFill>
                      <a:blip r:embed="rId18"/>
                      <a:stretch>
                        <a:fillRect/>
                      </a:stretch>
                    </p:blipFill>
                    <p:spPr>
                      <a:xfrm>
                        <a:off x="6576695" y="4430395"/>
                        <a:ext cx="262890" cy="387350"/>
                      </a:xfrm>
                      <a:prstGeom prst="rect">
                        <a:avLst/>
                      </a:prstGeom>
                      <a:noFill/>
                      <a:ln w="9525">
                        <a:noFill/>
                        <a:miter/>
                      </a:ln>
                    </p:spPr>
                  </p:pic>
                </p:oleObj>
              </mc:Fallback>
            </mc:AlternateContent>
          </a:graphicData>
        </a:graphic>
      </p:graphicFrame>
      <p:graphicFrame>
        <p:nvGraphicFramePr>
          <p:cNvPr id="30" name="对象 -2147482530"/>
          <p:cNvGraphicFramePr>
            <a:graphicFrameLocks noChangeAspect="1"/>
          </p:cNvGraphicFramePr>
          <p:nvPr/>
        </p:nvGraphicFramePr>
        <p:xfrm>
          <a:off x="8096885" y="4452620"/>
          <a:ext cx="238125" cy="351155"/>
        </p:xfrm>
        <a:graphic>
          <a:graphicData uri="http://schemas.openxmlformats.org/presentationml/2006/ole">
            <mc:AlternateContent xmlns:mc="http://schemas.openxmlformats.org/markup-compatibility/2006">
              <mc:Choice xmlns:v="urn:schemas-microsoft-com:vml" Requires="v">
                <p:oleObj spid="_x0000_s13" name="" r:id="rId19" imgW="558800" imgH="850265" progId="Equation.DSMT4">
                  <p:embed/>
                </p:oleObj>
              </mc:Choice>
              <mc:Fallback>
                <p:oleObj name="" r:id="rId19" imgW="558800" imgH="850265" progId="Equation.DSMT4">
                  <p:embed/>
                  <p:pic>
                    <p:nvPicPr>
                      <p:cNvPr id="0" name="图片 19"/>
                      <p:cNvPicPr/>
                      <p:nvPr/>
                    </p:nvPicPr>
                    <p:blipFill>
                      <a:blip r:embed="rId20"/>
                      <a:stretch>
                        <a:fillRect/>
                      </a:stretch>
                    </p:blipFill>
                    <p:spPr>
                      <a:xfrm>
                        <a:off x="8096885" y="4452620"/>
                        <a:ext cx="238125" cy="351155"/>
                      </a:xfrm>
                      <a:prstGeom prst="rect">
                        <a:avLst/>
                      </a:prstGeom>
                      <a:noFill/>
                      <a:ln w="9525">
                        <a:noFill/>
                        <a:miter/>
                      </a:ln>
                    </p:spPr>
                  </p:pic>
                </p:oleObj>
              </mc:Fallback>
            </mc:AlternateContent>
          </a:graphicData>
        </a:graphic>
      </p:graphicFrame>
      <p:graphicFrame>
        <p:nvGraphicFramePr>
          <p:cNvPr id="32" name="对象 -2147482529"/>
          <p:cNvGraphicFramePr>
            <a:graphicFrameLocks noChangeAspect="1"/>
          </p:cNvGraphicFramePr>
          <p:nvPr/>
        </p:nvGraphicFramePr>
        <p:xfrm>
          <a:off x="3319145" y="5320030"/>
          <a:ext cx="3841115" cy="358775"/>
        </p:xfrm>
        <a:graphic>
          <a:graphicData uri="http://schemas.openxmlformats.org/presentationml/2006/ole">
            <mc:AlternateContent xmlns:mc="http://schemas.openxmlformats.org/markup-compatibility/2006">
              <mc:Choice xmlns:v="urn:schemas-microsoft-com:vml" Requires="v">
                <p:oleObj spid="_x0000_s15" name="" r:id="rId21" imgW="9165590" imgH="850265" progId="Equation.DSMT4">
                  <p:embed/>
                </p:oleObj>
              </mc:Choice>
              <mc:Fallback>
                <p:oleObj name="" r:id="rId21" imgW="9165590" imgH="850265" progId="Equation.DSMT4">
                  <p:embed/>
                  <p:pic>
                    <p:nvPicPr>
                      <p:cNvPr id="0" name="图片 20"/>
                      <p:cNvPicPr/>
                      <p:nvPr/>
                    </p:nvPicPr>
                    <p:blipFill>
                      <a:blip r:embed="rId22"/>
                      <a:stretch>
                        <a:fillRect/>
                      </a:stretch>
                    </p:blipFill>
                    <p:spPr>
                      <a:xfrm>
                        <a:off x="3319145" y="5320030"/>
                        <a:ext cx="3841115" cy="358775"/>
                      </a:xfrm>
                      <a:prstGeom prst="rect">
                        <a:avLst/>
                      </a:prstGeom>
                      <a:noFill/>
                      <a:ln w="9525">
                        <a:noFill/>
                        <a:miter/>
                      </a:ln>
                    </p:spPr>
                  </p:pic>
                </p:oleObj>
              </mc:Fallback>
            </mc:AlternateContent>
          </a:graphicData>
        </a:graphic>
      </p:graphicFrame>
      <p:sp>
        <p:nvSpPr>
          <p:cNvPr id="34" name="文本框 33"/>
          <p:cNvSpPr txBox="1"/>
          <p:nvPr/>
        </p:nvSpPr>
        <p:spPr>
          <a:xfrm>
            <a:off x="586105" y="5818505"/>
            <a:ext cx="1141095" cy="429895"/>
          </a:xfrm>
          <a:prstGeom prst="rect">
            <a:avLst/>
          </a:prstGeom>
          <a:noFill/>
          <a:ln w="9525">
            <a:noFill/>
          </a:ln>
        </p:spPr>
        <p:txBody>
          <a:bodyPr wrap="square">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rPr>
              <a:t>这里,</a:t>
            </a:r>
            <a:endParaRPr lang="en-US" altLang="zh-CN" sz="22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35" name="对象 -2147482528"/>
          <p:cNvGraphicFramePr>
            <a:graphicFrameLocks noChangeAspect="1"/>
          </p:cNvGraphicFramePr>
          <p:nvPr/>
        </p:nvGraphicFramePr>
        <p:xfrm>
          <a:off x="1350010" y="5937885"/>
          <a:ext cx="2603500" cy="267970"/>
        </p:xfrm>
        <a:graphic>
          <a:graphicData uri="http://schemas.openxmlformats.org/presentationml/2006/ole">
            <mc:AlternateContent xmlns:mc="http://schemas.openxmlformats.org/markup-compatibility/2006">
              <mc:Choice xmlns:v="urn:schemas-microsoft-com:vml" Requires="v">
                <p:oleObj spid="_x0000_s17" name="" r:id="rId23" imgW="7629525" imgH="774065" progId="Equation.DSMT4">
                  <p:embed/>
                </p:oleObj>
              </mc:Choice>
              <mc:Fallback>
                <p:oleObj name="" r:id="rId23" imgW="7629525" imgH="774065" progId="Equation.DSMT4">
                  <p:embed/>
                  <p:pic>
                    <p:nvPicPr>
                      <p:cNvPr id="0" name="图片 22"/>
                      <p:cNvPicPr/>
                      <p:nvPr/>
                    </p:nvPicPr>
                    <p:blipFill>
                      <a:blip r:embed="rId24"/>
                      <a:stretch>
                        <a:fillRect/>
                      </a:stretch>
                    </p:blipFill>
                    <p:spPr>
                      <a:xfrm>
                        <a:off x="1350010" y="5937885"/>
                        <a:ext cx="2603500" cy="267970"/>
                      </a:xfrm>
                      <a:prstGeom prst="rect">
                        <a:avLst/>
                      </a:prstGeom>
                      <a:noFill/>
                      <a:ln w="9525">
                        <a:noFill/>
                        <a:miter/>
                      </a:ln>
                    </p:spPr>
                  </p:pic>
                </p:oleObj>
              </mc:Fallback>
            </mc:AlternateContent>
          </a:graphicData>
        </a:graphic>
      </p:graphicFrame>
      <p:sp>
        <p:nvSpPr>
          <p:cNvPr id="19" name="标题 1"/>
          <p:cNvSpPr>
            <a:spLocks noGrp="1"/>
          </p:cNvSpPr>
          <p:nvPr>
            <p:ph type="title"/>
          </p:nvPr>
        </p:nvSpPr>
        <p:spPr>
          <a:xfrm>
            <a:off x="641350" y="11049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  信道编码</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666240" y="1167130"/>
            <a:ext cx="10450830" cy="2236470"/>
          </a:xfrm>
        </p:spPr>
        <p:txBody>
          <a:bodyPr>
            <a:noAutofit/>
          </a:bodyPr>
          <a:lstStyle/>
          <a:p>
            <a:pPr marL="0" indent="0">
              <a:buNone/>
            </a:pP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下面对信道随机过程特性的分析中，假设以下条件成立</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a:t>
            </a:r>
            <a:endParaRPr lang="en-US" altLang="zh-CN" sz="2200" b="1" dirty="0">
              <a:uFillTx/>
              <a:latin typeface="宋体" panose="02010600030101010101" pitchFamily="2" charset="-122"/>
              <a:ea typeface="宋体" panose="02010600030101010101" pitchFamily="2" charset="-122"/>
              <a:cs typeface="宋体" panose="02010600030101010101" pitchFamily="2" charset="-122"/>
            </a:endParaRPr>
          </a:p>
          <a:p>
            <a:pPr>
              <a:buFont typeface="Arial" panose="020B0604020202020204" pitchFamily="34" charset="0"/>
              <a:buChar char="•"/>
            </a:pP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信道是离散的，即X和Y是一组有限的符号集</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a:t>
            </a:r>
            <a:endParaRPr lang="en-US" altLang="zh-CN" sz="2200" b="1" dirty="0">
              <a:uFillTx/>
              <a:latin typeface="宋体" panose="02010600030101010101" pitchFamily="2" charset="-122"/>
              <a:ea typeface="宋体" panose="02010600030101010101" pitchFamily="2" charset="-122"/>
              <a:cs typeface="宋体" panose="02010600030101010101" pitchFamily="2" charset="-122"/>
            </a:endParaRPr>
          </a:p>
          <a:p>
            <a:pPr>
              <a:buFont typeface="Arial" panose="020B0604020202020204" pitchFamily="34" charset="0"/>
              <a:buChar char="•"/>
            </a:pP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信道是固定的，即</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独立于时间</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endParaRPr lang="en-US" altLang="zh-CN" sz="2200" b="1" dirty="0">
              <a:uFillTx/>
              <a:latin typeface="宋体" panose="02010600030101010101" pitchFamily="2" charset="-122"/>
              <a:ea typeface="宋体" panose="02010600030101010101" pitchFamily="2" charset="-122"/>
              <a:cs typeface="宋体" panose="02010600030101010101" pitchFamily="2" charset="-122"/>
            </a:endParaRPr>
          </a:p>
          <a:p>
            <a:pPr>
              <a:buFont typeface="Arial" panose="020B0604020202020204" pitchFamily="34" charset="0"/>
              <a:buChar char="•"/>
            </a:pP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信道是无记忆的，即</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       </a:t>
            </a:r>
            <a:r>
              <a:rPr lang="en-US" altLang="zh-CN" sz="2200" b="1" dirty="0" err="1">
                <a:uFillTx/>
                <a:latin typeface="宋体" panose="02010600030101010101" pitchFamily="2" charset="-122"/>
                <a:ea typeface="宋体" panose="02010600030101010101" pitchFamily="2" charset="-122"/>
                <a:cs typeface="宋体" panose="02010600030101010101" pitchFamily="2" charset="-122"/>
              </a:rPr>
              <a:t>与先前的输入输出数据相互独立</a:t>
            </a:r>
            <a:r>
              <a:rPr lang="en-US" altLang="zh-CN" sz="2200" b="1" dirty="0">
                <a:uFillTx/>
                <a:latin typeface="宋体" panose="02010600030101010101" pitchFamily="2" charset="-122"/>
                <a:ea typeface="宋体" panose="02010600030101010101" pitchFamily="2" charset="-122"/>
                <a:cs typeface="宋体" panose="02010600030101010101" pitchFamily="2" charset="-122"/>
              </a:rPr>
              <a:t>。</a:t>
            </a:r>
            <a:endParaRPr lang="en-US" altLang="zh-CN" sz="2200" b="1" dirty="0">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dirty="0" err="1">
                <a:solidFill>
                  <a:srgbClr val="00B0F0"/>
                </a:solidFill>
                <a:uFillTx/>
                <a:latin typeface="宋体" panose="02010600030101010101" pitchFamily="2" charset="-122"/>
                <a:ea typeface="宋体" panose="02010600030101010101" pitchFamily="2" charset="-122"/>
                <a:cs typeface="宋体" panose="02010600030101010101" pitchFamily="2" charset="-122"/>
              </a:rPr>
              <a:t>一种描述传输失真的方法是使用信道矩阵PC，即</a:t>
            </a:r>
            <a:endParaRPr lang="en-US" altLang="zh-CN" sz="2200" b="1" dirty="0">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1322070" y="4507865"/>
            <a:ext cx="11205845" cy="429895"/>
          </a:xfrm>
          <a:prstGeom prst="rect">
            <a:avLst/>
          </a:prstGeom>
          <a:noFill/>
          <a:ln w="9525">
            <a:noFill/>
          </a:ln>
        </p:spPr>
        <p:txBody>
          <a:bodyPr wrap="square">
            <a:spAutoFit/>
          </a:bodyPr>
          <a:lstStyle/>
          <a:p>
            <a:pPr indent="266700"/>
            <a:r>
              <a:rPr lang="en-US" altLang="zh-CN" sz="2200" b="1">
                <a:latin typeface="宋体" panose="02010600030101010101" pitchFamily="2" charset="-122"/>
                <a:ea typeface="宋体" panose="02010600030101010101" pitchFamily="2" charset="-122"/>
                <a:cs typeface="宋体" panose="02010600030101010101" pitchFamily="2" charset="-122"/>
              </a:rPr>
              <a:t>这里，有：</a:t>
            </a:r>
            <a:endParaRPr lang="en-US" altLang="zh-CN" sz="22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527"/>
          <p:cNvGraphicFramePr>
            <a:graphicFrameLocks noChangeAspect="1"/>
          </p:cNvGraphicFramePr>
          <p:nvPr/>
        </p:nvGraphicFramePr>
        <p:xfrm>
          <a:off x="4121150" y="2160270"/>
          <a:ext cx="1044575" cy="318135"/>
        </p:xfrm>
        <a:graphic>
          <a:graphicData uri="http://schemas.openxmlformats.org/presentationml/2006/ole">
            <mc:AlternateContent xmlns:mc="http://schemas.openxmlformats.org/markup-compatibility/2006">
              <mc:Choice xmlns:v="urn:schemas-microsoft-com:vml" Requires="v">
                <p:oleObj spid="_x0000_s24775" name="" r:id="rId1" imgW="2894330" imgH="850265" progId="Equation.DSMT4">
                  <p:embed/>
                </p:oleObj>
              </mc:Choice>
              <mc:Fallback>
                <p:oleObj name="" r:id="rId1" imgW="2894330" imgH="850265" progId="Equation.DSMT4">
                  <p:embed/>
                  <p:pic>
                    <p:nvPicPr>
                      <p:cNvPr id="0" name="图片 9"/>
                      <p:cNvPicPr/>
                      <p:nvPr/>
                    </p:nvPicPr>
                    <p:blipFill>
                      <a:blip r:embed="rId2"/>
                      <a:stretch>
                        <a:fillRect/>
                      </a:stretch>
                    </p:blipFill>
                    <p:spPr>
                      <a:xfrm>
                        <a:off x="4121150" y="2160270"/>
                        <a:ext cx="1044575" cy="318135"/>
                      </a:xfrm>
                      <a:prstGeom prst="rect">
                        <a:avLst/>
                      </a:prstGeom>
                      <a:noFill/>
                      <a:ln w="9525">
                        <a:noFill/>
                        <a:miter/>
                      </a:ln>
                    </p:spPr>
                  </p:pic>
                </p:oleObj>
              </mc:Fallback>
            </mc:AlternateContent>
          </a:graphicData>
        </a:graphic>
      </p:graphicFrame>
      <p:graphicFrame>
        <p:nvGraphicFramePr>
          <p:cNvPr id="7" name="对象 -2147482526"/>
          <p:cNvGraphicFramePr>
            <a:graphicFrameLocks noChangeAspect="1"/>
          </p:cNvGraphicFramePr>
          <p:nvPr/>
        </p:nvGraphicFramePr>
        <p:xfrm>
          <a:off x="6722110" y="2150745"/>
          <a:ext cx="131445" cy="337820"/>
        </p:xfrm>
        <a:graphic>
          <a:graphicData uri="http://schemas.openxmlformats.org/presentationml/2006/ole">
            <mc:AlternateContent xmlns:mc="http://schemas.openxmlformats.org/markup-compatibility/2006">
              <mc:Choice xmlns:v="urn:schemas-microsoft-com:vml" Requires="v">
                <p:oleObj spid="_x0000_s2" name="" r:id="rId3" imgW="355600" imgH="850265" progId="Equation.DSMT4">
                  <p:embed/>
                </p:oleObj>
              </mc:Choice>
              <mc:Fallback>
                <p:oleObj name="" r:id="rId3" imgW="355600" imgH="850265" progId="Equation.DSMT4">
                  <p:embed/>
                  <p:pic>
                    <p:nvPicPr>
                      <p:cNvPr id="0" name="图片 10"/>
                      <p:cNvPicPr/>
                      <p:nvPr/>
                    </p:nvPicPr>
                    <p:blipFill>
                      <a:blip r:embed="rId4"/>
                      <a:stretch>
                        <a:fillRect/>
                      </a:stretch>
                    </p:blipFill>
                    <p:spPr>
                      <a:xfrm>
                        <a:off x="6722110" y="2150745"/>
                        <a:ext cx="131445" cy="337820"/>
                      </a:xfrm>
                      <a:prstGeom prst="rect">
                        <a:avLst/>
                      </a:prstGeom>
                      <a:noFill/>
                      <a:ln w="9525">
                        <a:noFill/>
                        <a:miter/>
                      </a:ln>
                    </p:spPr>
                  </p:pic>
                </p:oleObj>
              </mc:Fallback>
            </mc:AlternateContent>
          </a:graphicData>
        </a:graphic>
      </p:graphicFrame>
      <p:graphicFrame>
        <p:nvGraphicFramePr>
          <p:cNvPr id="9" name="对象 -2147482525"/>
          <p:cNvGraphicFramePr>
            <a:graphicFrameLocks noChangeAspect="1"/>
          </p:cNvGraphicFramePr>
          <p:nvPr/>
        </p:nvGraphicFramePr>
        <p:xfrm>
          <a:off x="4370705" y="2600325"/>
          <a:ext cx="1017270" cy="297180"/>
        </p:xfrm>
        <a:graphic>
          <a:graphicData uri="http://schemas.openxmlformats.org/presentationml/2006/ole">
            <mc:AlternateContent xmlns:mc="http://schemas.openxmlformats.org/markup-compatibility/2006">
              <mc:Choice xmlns:v="urn:schemas-microsoft-com:vml" Requires="v">
                <p:oleObj spid="_x0000_s4" name="" r:id="rId5" imgW="2894330" imgH="850265" progId="Equation.DSMT4">
                  <p:embed/>
                </p:oleObj>
              </mc:Choice>
              <mc:Fallback>
                <p:oleObj name="" r:id="rId5" imgW="2894330" imgH="850265" progId="Equation.DSMT4">
                  <p:embed/>
                  <p:pic>
                    <p:nvPicPr>
                      <p:cNvPr id="0" name="图片 11"/>
                      <p:cNvPicPr/>
                      <p:nvPr/>
                    </p:nvPicPr>
                    <p:blipFill>
                      <a:blip r:embed="rId2"/>
                      <a:stretch>
                        <a:fillRect/>
                      </a:stretch>
                    </p:blipFill>
                    <p:spPr>
                      <a:xfrm>
                        <a:off x="4370705" y="2600325"/>
                        <a:ext cx="1017270" cy="297180"/>
                      </a:xfrm>
                      <a:prstGeom prst="rect">
                        <a:avLst/>
                      </a:prstGeom>
                      <a:noFill/>
                      <a:ln w="9525">
                        <a:noFill/>
                        <a:miter/>
                      </a:ln>
                    </p:spPr>
                  </p:pic>
                </p:oleObj>
              </mc:Fallback>
            </mc:AlternateContent>
          </a:graphicData>
        </a:graphic>
      </p:graphicFrame>
      <p:graphicFrame>
        <p:nvGraphicFramePr>
          <p:cNvPr id="38" name="对象 -2147482524"/>
          <p:cNvGraphicFramePr>
            <a:graphicFrameLocks noChangeAspect="1"/>
          </p:cNvGraphicFramePr>
          <p:nvPr/>
        </p:nvGraphicFramePr>
        <p:xfrm>
          <a:off x="5445760" y="3403600"/>
          <a:ext cx="2959100" cy="1073150"/>
        </p:xfrm>
        <a:graphic>
          <a:graphicData uri="http://schemas.openxmlformats.org/presentationml/2006/ole">
            <mc:AlternateContent xmlns:mc="http://schemas.openxmlformats.org/markup-compatibility/2006">
              <mc:Choice xmlns:v="urn:schemas-microsoft-com:vml" Requires="v">
                <p:oleObj spid="_x0000_s8" name="" r:id="rId6" imgW="10020300" imgH="3429000" progId="Equation.DSMT4">
                  <p:embed/>
                </p:oleObj>
              </mc:Choice>
              <mc:Fallback>
                <p:oleObj name="" r:id="rId6" imgW="10020300" imgH="3429000" progId="Equation.DSMT4">
                  <p:embed/>
                  <p:pic>
                    <p:nvPicPr>
                      <p:cNvPr id="0" name="图片 12"/>
                      <p:cNvPicPr/>
                      <p:nvPr/>
                    </p:nvPicPr>
                    <p:blipFill>
                      <a:blip r:embed="rId7"/>
                      <a:stretch>
                        <a:fillRect/>
                      </a:stretch>
                    </p:blipFill>
                    <p:spPr>
                      <a:xfrm>
                        <a:off x="5445760" y="3403600"/>
                        <a:ext cx="2959100" cy="1073150"/>
                      </a:xfrm>
                      <a:prstGeom prst="rect">
                        <a:avLst/>
                      </a:prstGeom>
                      <a:noFill/>
                      <a:ln w="9525">
                        <a:noFill/>
                        <a:miter/>
                      </a:ln>
                    </p:spPr>
                  </p:pic>
                </p:oleObj>
              </mc:Fallback>
            </mc:AlternateContent>
          </a:graphicData>
        </a:graphic>
      </p:graphicFrame>
      <p:graphicFrame>
        <p:nvGraphicFramePr>
          <p:cNvPr id="40" name="对象 -2147482523"/>
          <p:cNvGraphicFramePr>
            <a:graphicFrameLocks noChangeAspect="1"/>
          </p:cNvGraphicFramePr>
          <p:nvPr/>
        </p:nvGraphicFramePr>
        <p:xfrm>
          <a:off x="3571875" y="4381500"/>
          <a:ext cx="2315845" cy="788670"/>
        </p:xfrm>
        <a:graphic>
          <a:graphicData uri="http://schemas.openxmlformats.org/presentationml/2006/ole">
            <mc:AlternateContent xmlns:mc="http://schemas.openxmlformats.org/markup-compatibility/2006">
              <mc:Choice xmlns:v="urn:schemas-microsoft-com:vml" Requires="v">
                <p:oleObj spid="_x0000_s10" name="" r:id="rId8" imgW="5905500" imgH="1905000" progId="Equation.DSMT4">
                  <p:embed/>
                </p:oleObj>
              </mc:Choice>
              <mc:Fallback>
                <p:oleObj name="" r:id="rId8" imgW="5905500" imgH="1905000" progId="Equation.DSMT4">
                  <p:embed/>
                  <p:pic>
                    <p:nvPicPr>
                      <p:cNvPr id="0" name="图片 13"/>
                      <p:cNvPicPr/>
                      <p:nvPr/>
                    </p:nvPicPr>
                    <p:blipFill>
                      <a:blip r:embed="rId9"/>
                      <a:stretch>
                        <a:fillRect/>
                      </a:stretch>
                    </p:blipFill>
                    <p:spPr>
                      <a:xfrm>
                        <a:off x="3571875" y="4381500"/>
                        <a:ext cx="2315845" cy="788670"/>
                      </a:xfrm>
                      <a:prstGeom prst="rect">
                        <a:avLst/>
                      </a:prstGeom>
                      <a:noFill/>
                      <a:ln w="9525">
                        <a:noFill/>
                        <a:miter/>
                      </a:ln>
                    </p:spPr>
                  </p:pic>
                </p:oleObj>
              </mc:Fallback>
            </mc:AlternateContent>
          </a:graphicData>
        </a:graphic>
      </p:graphicFrame>
      <p:graphicFrame>
        <p:nvGraphicFramePr>
          <p:cNvPr id="42" name="对象 -2147482522"/>
          <p:cNvGraphicFramePr>
            <a:graphicFrameLocks noChangeAspect="1"/>
          </p:cNvGraphicFramePr>
          <p:nvPr/>
        </p:nvGraphicFramePr>
        <p:xfrm>
          <a:off x="3339465" y="5391785"/>
          <a:ext cx="2781300" cy="680085"/>
        </p:xfrm>
        <a:graphic>
          <a:graphicData uri="http://schemas.openxmlformats.org/presentationml/2006/ole">
            <mc:AlternateContent xmlns:mc="http://schemas.openxmlformats.org/markup-compatibility/2006">
              <mc:Choice xmlns:v="urn:schemas-microsoft-com:vml" Requires="v">
                <p:oleObj spid="_x0000_s11" name="" r:id="rId10" imgW="8458200" imgH="1930400" progId="Equation.DSMT4">
                  <p:embed/>
                </p:oleObj>
              </mc:Choice>
              <mc:Fallback>
                <p:oleObj name="" r:id="rId10" imgW="8458200" imgH="1930400" progId="Equation.DSMT4">
                  <p:embed/>
                  <p:pic>
                    <p:nvPicPr>
                      <p:cNvPr id="0" name="图片 14"/>
                      <p:cNvPicPr/>
                      <p:nvPr/>
                    </p:nvPicPr>
                    <p:blipFill>
                      <a:blip r:embed="rId11"/>
                      <a:stretch>
                        <a:fillRect/>
                      </a:stretch>
                    </p:blipFill>
                    <p:spPr>
                      <a:xfrm>
                        <a:off x="3339465" y="5391785"/>
                        <a:ext cx="2781300" cy="680085"/>
                      </a:xfrm>
                      <a:prstGeom prst="rect">
                        <a:avLst/>
                      </a:prstGeom>
                      <a:noFill/>
                      <a:ln w="9525">
                        <a:noFill/>
                        <a:miter/>
                      </a:ln>
                    </p:spPr>
                  </p:pic>
                </p:oleObj>
              </mc:Fallback>
            </mc:AlternateContent>
          </a:graphicData>
        </a:graphic>
      </p:graphicFrame>
      <p:sp>
        <p:nvSpPr>
          <p:cNvPr id="44" name="文本框 43"/>
          <p:cNvSpPr txBox="1"/>
          <p:nvPr/>
        </p:nvSpPr>
        <p:spPr>
          <a:xfrm>
            <a:off x="1322070" y="5527040"/>
            <a:ext cx="1572260" cy="429895"/>
          </a:xfrm>
          <a:prstGeom prst="rect">
            <a:avLst/>
          </a:prstGeom>
          <a:noFill/>
        </p:spPr>
        <p:txBody>
          <a:bodyPr wrap="none" rtlCol="0" anchor="t">
            <a:spAutoFit/>
          </a:bodyPr>
          <a:lstStyle/>
          <a:p>
            <a:pPr indent="266700" algn="l"/>
            <a:r>
              <a:rPr lang="en-US" altLang="zh-CN" sz="2200" b="1">
                <a:latin typeface="宋体" panose="02010600030101010101" pitchFamily="2" charset="-122"/>
                <a:ea typeface="宋体" panose="02010600030101010101" pitchFamily="2" charset="-122"/>
                <a:cs typeface="宋体" panose="02010600030101010101" pitchFamily="2" charset="-122"/>
                <a:sym typeface="+mn-ea"/>
              </a:rPr>
              <a:t>从而得：</a:t>
            </a:r>
            <a:endParaRPr lang="en-US" altLang="zh-CN" sz="2200" b="1">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2"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  信道编码</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87730" y="2862580"/>
            <a:ext cx="6976745" cy="1556385"/>
          </a:xfrm>
        </p:spPr>
        <p:txBody>
          <a:bodyPr>
            <a:noAutofit/>
          </a:bodyPr>
          <a:lstStyle/>
          <a:p>
            <a:pPr marL="0" indent="0" fontAlgn="auto">
              <a:lnSpc>
                <a:spcPct val="100000"/>
              </a:lnSpc>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二元对称信道(BSC)是一种能够传输二进制位(0和1)的信道。这个信道能够以概率p正确地传输一个比特信息(不管传送的是0还是1)，传输错误的概率则是1-p(即把1变成了0，0变成了1)。图a描述了这个信道模型。</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差错与无差错传输的条件概率分别表示成：</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sp>
        <p:nvSpPr>
          <p:cNvPr id="102" name="文本框 101"/>
          <p:cNvSpPr txBox="1"/>
          <p:nvPr/>
        </p:nvSpPr>
        <p:spPr>
          <a:xfrm>
            <a:off x="887730" y="1694815"/>
            <a:ext cx="2847340" cy="460375"/>
          </a:xfrm>
          <a:prstGeom prst="rect">
            <a:avLst/>
          </a:prstGeom>
          <a:noFill/>
          <a:ln w="9525">
            <a:noFill/>
          </a:ln>
        </p:spPr>
        <p:txBody>
          <a:bodyPr wrap="square">
            <a:spAutoFit/>
          </a:bodyPr>
          <a:lstStyle/>
          <a:p>
            <a:pPr indent="266700"/>
            <a:r>
              <a:rPr lang="en-US" altLang="zh-CN" sz="2400" b="1" dirty="0">
                <a:ea typeface="宋体" panose="02010600030101010101" pitchFamily="2" charset="-122"/>
              </a:rPr>
              <a:t>1.</a:t>
            </a:r>
            <a:r>
              <a:rPr lang="zh-CN" sz="2400" b="1" dirty="0">
                <a:ea typeface="宋体" panose="02010600030101010101" pitchFamily="2" charset="-122"/>
              </a:rPr>
              <a:t>二元对称信道</a:t>
            </a:r>
            <a:endParaRPr lang="zh-CN" altLang="en-US" sz="2400" b="1" dirty="0"/>
          </a:p>
        </p:txBody>
      </p:sp>
      <p:graphicFrame>
        <p:nvGraphicFramePr>
          <p:cNvPr id="5" name="对象 -2147482518"/>
          <p:cNvGraphicFramePr>
            <a:graphicFrameLocks noChangeAspect="1"/>
          </p:cNvGraphicFramePr>
          <p:nvPr/>
        </p:nvGraphicFramePr>
        <p:xfrm>
          <a:off x="8051165" y="2155190"/>
          <a:ext cx="2934335" cy="1899285"/>
        </p:xfrm>
        <a:graphic>
          <a:graphicData uri="http://schemas.openxmlformats.org/presentationml/2006/ole">
            <mc:AlternateContent xmlns:mc="http://schemas.openxmlformats.org/markup-compatibility/2006">
              <mc:Choice xmlns:v="urn:schemas-microsoft-com:vml" Requires="v">
                <p:oleObj spid="_x0000_s24775" name="" r:id="rId1" imgW="2387600" imgH="1549400" progId="Visio.Drawing.15">
                  <p:embed/>
                </p:oleObj>
              </mc:Choice>
              <mc:Fallback>
                <p:oleObj name="" r:id="rId1" imgW="2387600" imgH="1549400" progId="Visio.Drawing.15">
                  <p:embed/>
                  <p:pic>
                    <p:nvPicPr>
                      <p:cNvPr id="0" name="图片 3075"/>
                      <p:cNvPicPr/>
                      <p:nvPr/>
                    </p:nvPicPr>
                    <p:blipFill>
                      <a:blip r:embed="rId2"/>
                      <a:stretch>
                        <a:fillRect/>
                      </a:stretch>
                    </p:blipFill>
                    <p:spPr>
                      <a:xfrm>
                        <a:off x="8051165" y="2155190"/>
                        <a:ext cx="2934335" cy="1899285"/>
                      </a:xfrm>
                      <a:prstGeom prst="rect">
                        <a:avLst/>
                      </a:prstGeom>
                      <a:noFill/>
                      <a:ln w="9525">
                        <a:noFill/>
                        <a:miter/>
                      </a:ln>
                    </p:spPr>
                  </p:pic>
                </p:oleObj>
              </mc:Fallback>
            </mc:AlternateContent>
          </a:graphicData>
        </a:graphic>
      </p:graphicFrame>
      <p:sp>
        <p:nvSpPr>
          <p:cNvPr id="31" name="文本框 30"/>
          <p:cNvSpPr txBox="1"/>
          <p:nvPr/>
        </p:nvSpPr>
        <p:spPr>
          <a:xfrm>
            <a:off x="8321040" y="4054475"/>
            <a:ext cx="2394585" cy="337185"/>
          </a:xfrm>
          <a:prstGeom prst="rect">
            <a:avLst/>
          </a:prstGeom>
          <a:noFill/>
          <a:ln w="9525">
            <a:noFill/>
          </a:ln>
        </p:spPr>
        <p:txBody>
          <a:bodyPr wrap="square">
            <a:spAutoFit/>
          </a:bodyPr>
          <a:lstStyle/>
          <a:p>
            <a:pPr indent="0"/>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a </a:t>
            </a:r>
            <a:r>
              <a:rPr lang="zh-CN" sz="1600" b="0">
                <a:ea typeface="宋体" panose="02010600030101010101" pitchFamily="2" charset="-122"/>
              </a:rPr>
              <a:t>二元对称信道模型</a:t>
            </a:r>
            <a:endParaRPr lang="zh-CN" altLang="en-US" sz="1600"/>
          </a:p>
        </p:txBody>
      </p:sp>
      <p:graphicFrame>
        <p:nvGraphicFramePr>
          <p:cNvPr id="6" name="对象 -2147482521"/>
          <p:cNvGraphicFramePr>
            <a:graphicFrameLocks noChangeAspect="1"/>
          </p:cNvGraphicFramePr>
          <p:nvPr/>
        </p:nvGraphicFramePr>
        <p:xfrm>
          <a:off x="3656965" y="4540885"/>
          <a:ext cx="3605530" cy="371475"/>
        </p:xfrm>
        <a:graphic>
          <a:graphicData uri="http://schemas.openxmlformats.org/presentationml/2006/ole">
            <mc:AlternateContent xmlns:mc="http://schemas.openxmlformats.org/markup-compatibility/2006">
              <mc:Choice xmlns:v="urn:schemas-microsoft-com:vml" Requires="v">
                <p:oleObj spid="_x0000_s2" name="" r:id="rId3" imgW="8479790" imgH="850265" progId="Equation.DSMT4">
                  <p:embed/>
                </p:oleObj>
              </mc:Choice>
              <mc:Fallback>
                <p:oleObj name="" r:id="rId3" imgW="8479790" imgH="850265" progId="Equation.DSMT4">
                  <p:embed/>
                  <p:pic>
                    <p:nvPicPr>
                      <p:cNvPr id="0" name="图片 31"/>
                      <p:cNvPicPr/>
                      <p:nvPr/>
                    </p:nvPicPr>
                    <p:blipFill>
                      <a:blip r:embed="rId4"/>
                      <a:stretch>
                        <a:fillRect/>
                      </a:stretch>
                    </p:blipFill>
                    <p:spPr>
                      <a:xfrm>
                        <a:off x="3656965" y="4540885"/>
                        <a:ext cx="3605530" cy="371475"/>
                      </a:xfrm>
                      <a:prstGeom prst="rect">
                        <a:avLst/>
                      </a:prstGeom>
                      <a:noFill/>
                      <a:ln w="9525">
                        <a:noFill/>
                        <a:miter/>
                      </a:ln>
                    </p:spPr>
                  </p:pic>
                </p:oleObj>
              </mc:Fallback>
            </mc:AlternateContent>
          </a:graphicData>
        </a:graphic>
      </p:graphicFrame>
      <p:graphicFrame>
        <p:nvGraphicFramePr>
          <p:cNvPr id="7" name="对象 -2147482483"/>
          <p:cNvGraphicFramePr>
            <a:graphicFrameLocks noChangeAspect="1"/>
          </p:cNvGraphicFramePr>
          <p:nvPr/>
        </p:nvGraphicFramePr>
        <p:xfrm>
          <a:off x="3656965" y="5034280"/>
          <a:ext cx="3111500" cy="360045"/>
        </p:xfrm>
        <a:graphic>
          <a:graphicData uri="http://schemas.openxmlformats.org/presentationml/2006/ole">
            <mc:AlternateContent xmlns:mc="http://schemas.openxmlformats.org/markup-compatibility/2006">
              <mc:Choice xmlns:v="urn:schemas-microsoft-com:vml" Requires="v">
                <p:oleObj spid="_x0000_s4" name="" r:id="rId5" imgW="7566025" imgH="850265" progId="Equation.DSMT4">
                  <p:embed/>
                </p:oleObj>
              </mc:Choice>
              <mc:Fallback>
                <p:oleObj name="" r:id="rId5" imgW="7566025" imgH="850265" progId="Equation.DSMT4">
                  <p:embed/>
                  <p:pic>
                    <p:nvPicPr>
                      <p:cNvPr id="0" name="图片 32"/>
                      <p:cNvPicPr/>
                      <p:nvPr/>
                    </p:nvPicPr>
                    <p:blipFill>
                      <a:blip r:embed="rId6"/>
                      <a:stretch>
                        <a:fillRect/>
                      </a:stretch>
                    </p:blipFill>
                    <p:spPr>
                      <a:xfrm>
                        <a:off x="3656965" y="5034280"/>
                        <a:ext cx="3111500" cy="360045"/>
                      </a:xfrm>
                      <a:prstGeom prst="rect">
                        <a:avLst/>
                      </a:prstGeom>
                      <a:noFill/>
                      <a:ln w="9525">
                        <a:noFill/>
                        <a:miter/>
                      </a:ln>
                    </p:spPr>
                  </p:pic>
                </p:oleObj>
              </mc:Fallback>
            </mc:AlternateContent>
          </a:graphicData>
        </a:graphic>
      </p:graphicFrame>
      <p:sp>
        <p:nvSpPr>
          <p:cNvPr id="34" name="文本框 33"/>
          <p:cNvSpPr txBox="1"/>
          <p:nvPr/>
        </p:nvSpPr>
        <p:spPr>
          <a:xfrm>
            <a:off x="887730" y="5516880"/>
            <a:ext cx="7856220" cy="429895"/>
          </a:xfrm>
          <a:prstGeom prst="rect">
            <a:avLst/>
          </a:prstGeom>
          <a:noFill/>
          <a:ln w="9525">
            <a:noFill/>
          </a:ln>
        </p:spPr>
        <p:txBody>
          <a:bodyPr wrap="square">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rPr>
              <a:t>因此，二元对称信道的信道矩阵可表示成:</a:t>
            </a:r>
            <a:endParaRPr lang="zh-CN" altLang="en-US"/>
          </a:p>
        </p:txBody>
      </p:sp>
      <p:graphicFrame>
        <p:nvGraphicFramePr>
          <p:cNvPr id="8" name="对象 -2147482519"/>
          <p:cNvGraphicFramePr>
            <a:graphicFrameLocks noChangeAspect="1"/>
          </p:cNvGraphicFramePr>
          <p:nvPr/>
        </p:nvGraphicFramePr>
        <p:xfrm>
          <a:off x="6421755" y="5516880"/>
          <a:ext cx="2590800" cy="897890"/>
        </p:xfrm>
        <a:graphic>
          <a:graphicData uri="http://schemas.openxmlformats.org/presentationml/2006/ole">
            <mc:AlternateContent xmlns:mc="http://schemas.openxmlformats.org/markup-compatibility/2006">
              <mc:Choice xmlns:v="urn:schemas-microsoft-com:vml" Requires="v">
                <p:oleObj spid="_x0000_s9" name="" r:id="rId7" imgW="6337300" imgH="2082800" progId="Equation.DSMT4">
                  <p:embed/>
                </p:oleObj>
              </mc:Choice>
              <mc:Fallback>
                <p:oleObj name="" r:id="rId7" imgW="6337300" imgH="2082800" progId="Equation.DSMT4">
                  <p:embed/>
                  <p:pic>
                    <p:nvPicPr>
                      <p:cNvPr id="0" name="图片 34"/>
                      <p:cNvPicPr/>
                      <p:nvPr/>
                    </p:nvPicPr>
                    <p:blipFill>
                      <a:blip r:embed="rId8"/>
                      <a:stretch>
                        <a:fillRect/>
                      </a:stretch>
                    </p:blipFill>
                    <p:spPr>
                      <a:xfrm>
                        <a:off x="6421755" y="5516880"/>
                        <a:ext cx="2590800" cy="897890"/>
                      </a:xfrm>
                      <a:prstGeom prst="rect">
                        <a:avLst/>
                      </a:prstGeom>
                      <a:noFill/>
                      <a:ln w="9525">
                        <a:noFill/>
                        <a:miter/>
                      </a:ln>
                    </p:spPr>
                  </p:pic>
                </p:oleObj>
              </mc:Fallback>
            </mc:AlternateContent>
          </a:graphicData>
        </a:graphic>
      </p:graphicFrame>
      <p:sp>
        <p:nvSpPr>
          <p:cNvPr id="11"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3.3.2.1  信道类型</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87730" y="2275471"/>
            <a:ext cx="6976745" cy="1932940"/>
          </a:xfrm>
        </p:spPr>
        <p:txBody>
          <a:bodyPr>
            <a:noAutofit/>
          </a:bodyPr>
          <a:lstStyle/>
          <a:p>
            <a:pPr marL="0" indent="0" fontAlgn="auto">
              <a:lnSpc>
                <a:spcPct val="100000"/>
              </a:lnSpc>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在一个二元删除信道(BEC)中，无法保证传输的比特流都能被接收到(无论有否差错)。因此这种信道被描述为二元输入和三元输出信道。信息丢失的概率是p，无差错接收的概率是1-p，在删除信道中产生错误的概率是0，图a显示了一个二元删除信道。</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二元删除信道的信道矩阵可表示如下：</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102" name="文本框 101"/>
          <p:cNvSpPr txBox="1"/>
          <p:nvPr/>
        </p:nvSpPr>
        <p:spPr>
          <a:xfrm>
            <a:off x="887730" y="1017536"/>
            <a:ext cx="2847340" cy="460375"/>
          </a:xfrm>
          <a:prstGeom prst="rect">
            <a:avLst/>
          </a:prstGeom>
          <a:noFill/>
          <a:ln w="9525">
            <a:noFill/>
          </a:ln>
        </p:spPr>
        <p:txBody>
          <a:bodyPr wrap="square">
            <a:spAutoFit/>
          </a:bodyPr>
          <a:lstStyle/>
          <a:p>
            <a:pPr indent="266700"/>
            <a:r>
              <a:rPr sz="2400" b="1">
                <a:ea typeface="宋体" panose="02010600030101010101" pitchFamily="2" charset="-122"/>
              </a:rPr>
              <a:t>2.二元删除信道</a:t>
            </a:r>
            <a:endParaRPr sz="2400" b="1">
              <a:ea typeface="宋体" panose="02010600030101010101" pitchFamily="2" charset="-122"/>
            </a:endParaRPr>
          </a:p>
        </p:txBody>
      </p:sp>
      <p:graphicFrame>
        <p:nvGraphicFramePr>
          <p:cNvPr id="2" name="对象 -2147482517"/>
          <p:cNvGraphicFramePr>
            <a:graphicFrameLocks noChangeAspect="1"/>
          </p:cNvGraphicFramePr>
          <p:nvPr/>
        </p:nvGraphicFramePr>
        <p:xfrm>
          <a:off x="7958455" y="1625866"/>
          <a:ext cx="3087370" cy="1997710"/>
        </p:xfrm>
        <a:graphic>
          <a:graphicData uri="http://schemas.openxmlformats.org/presentationml/2006/ole">
            <mc:AlternateContent xmlns:mc="http://schemas.openxmlformats.org/markup-compatibility/2006">
              <mc:Choice xmlns:v="urn:schemas-microsoft-com:vml" Requires="v">
                <p:oleObj spid="_x0000_s24775" name="" r:id="rId1" imgW="2387600" imgH="1549400" progId="Visio.Drawing.15">
                  <p:embed/>
                </p:oleObj>
              </mc:Choice>
              <mc:Fallback>
                <p:oleObj name="" r:id="rId1" imgW="2387600" imgH="1549400" progId="Visio.Drawing.15">
                  <p:embed/>
                  <p:pic>
                    <p:nvPicPr>
                      <p:cNvPr id="0" name="图片 8"/>
                      <p:cNvPicPr/>
                      <p:nvPr/>
                    </p:nvPicPr>
                    <p:blipFill>
                      <a:blip r:embed="rId2"/>
                      <a:stretch>
                        <a:fillRect/>
                      </a:stretch>
                    </p:blipFill>
                    <p:spPr>
                      <a:xfrm>
                        <a:off x="7958455" y="1625866"/>
                        <a:ext cx="3087370" cy="1997710"/>
                      </a:xfrm>
                      <a:prstGeom prst="rect">
                        <a:avLst/>
                      </a:prstGeom>
                      <a:noFill/>
                      <a:ln w="9525">
                        <a:noFill/>
                        <a:miter/>
                      </a:ln>
                    </p:spPr>
                  </p:pic>
                </p:oleObj>
              </mc:Fallback>
            </mc:AlternateContent>
          </a:graphicData>
        </a:graphic>
      </p:graphicFrame>
      <p:sp>
        <p:nvSpPr>
          <p:cNvPr id="10" name="文本框 9"/>
          <p:cNvSpPr txBox="1"/>
          <p:nvPr/>
        </p:nvSpPr>
        <p:spPr>
          <a:xfrm>
            <a:off x="8456930" y="3623576"/>
            <a:ext cx="2394585" cy="337185"/>
          </a:xfrm>
          <a:prstGeom prst="rect">
            <a:avLst/>
          </a:prstGeom>
          <a:noFill/>
          <a:ln w="9525">
            <a:noFill/>
          </a:ln>
        </p:spPr>
        <p:txBody>
          <a:bodyPr wrap="square">
            <a:spAutoFit/>
          </a:bodyPr>
          <a:lstStyle/>
          <a:p>
            <a:pPr indent="0"/>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a </a:t>
            </a:r>
            <a:r>
              <a:rPr lang="zh-CN" sz="1600" b="0">
                <a:ea typeface="宋体" panose="02010600030101010101" pitchFamily="2" charset="-122"/>
              </a:rPr>
              <a:t>二元删除信道模型</a:t>
            </a:r>
            <a:endParaRPr lang="zh-CN" altLang="en-US" sz="1600"/>
          </a:p>
        </p:txBody>
      </p:sp>
      <p:graphicFrame>
        <p:nvGraphicFramePr>
          <p:cNvPr id="5" name="对象 -2147482516"/>
          <p:cNvGraphicFramePr>
            <a:graphicFrameLocks noChangeAspect="1"/>
          </p:cNvGraphicFramePr>
          <p:nvPr/>
        </p:nvGraphicFramePr>
        <p:xfrm>
          <a:off x="4550410" y="4428121"/>
          <a:ext cx="2708910" cy="780415"/>
        </p:xfrm>
        <a:graphic>
          <a:graphicData uri="http://schemas.openxmlformats.org/presentationml/2006/ole">
            <mc:AlternateContent xmlns:mc="http://schemas.openxmlformats.org/markup-compatibility/2006">
              <mc:Choice xmlns:v="urn:schemas-microsoft-com:vml" Requires="v">
                <p:oleObj spid="_x0000_s4" name="" r:id="rId3" imgW="7607300" imgH="2082800" progId="Equation.DSMT4">
                  <p:embed/>
                </p:oleObj>
              </mc:Choice>
              <mc:Fallback>
                <p:oleObj name="" r:id="rId3" imgW="7607300" imgH="2082800" progId="Equation.DSMT4">
                  <p:embed/>
                  <p:pic>
                    <p:nvPicPr>
                      <p:cNvPr id="0" name="图片 10"/>
                      <p:cNvPicPr/>
                      <p:nvPr/>
                    </p:nvPicPr>
                    <p:blipFill>
                      <a:blip r:embed="rId4"/>
                      <a:stretch>
                        <a:fillRect/>
                      </a:stretch>
                    </p:blipFill>
                    <p:spPr>
                      <a:xfrm>
                        <a:off x="4550410" y="4428121"/>
                        <a:ext cx="2708910" cy="780415"/>
                      </a:xfrm>
                      <a:prstGeom prst="rect">
                        <a:avLst/>
                      </a:prstGeom>
                      <a:noFill/>
                      <a:ln w="9525">
                        <a:noFill/>
                        <a:miter/>
                      </a:ln>
                    </p:spPr>
                  </p:pic>
                </p:oleObj>
              </mc:Fallback>
            </mc:AlternateContent>
          </a:graphicData>
        </a:graphic>
      </p:graphicFrame>
      <p:sp>
        <p:nvSpPr>
          <p:cNvPr id="12" name="文本框 11"/>
          <p:cNvSpPr txBox="1"/>
          <p:nvPr/>
        </p:nvSpPr>
        <p:spPr>
          <a:xfrm>
            <a:off x="887730" y="5336171"/>
            <a:ext cx="9048115" cy="929640"/>
          </a:xfrm>
          <a:prstGeom prst="rect">
            <a:avLst/>
          </a:prstGeom>
          <a:noFill/>
          <a:ln w="9525">
            <a:noFill/>
          </a:ln>
        </p:spPr>
        <p:txBody>
          <a:bodyPr wrap="square">
            <a:spAutoFit/>
          </a:bodyPr>
          <a:lstStyle/>
          <a:p>
            <a:pPr indent="0"/>
            <a:r>
              <a:rPr lang="zh-CN" altLang="en-US" sz="2200" b="1">
                <a:latin typeface="宋体" panose="02010600030101010101" pitchFamily="2" charset="-122"/>
                <a:ea typeface="宋体" panose="02010600030101010101" pitchFamily="2" charset="-122"/>
                <a:cs typeface="宋体" panose="02010600030101010101" pitchFamily="2" charset="-122"/>
              </a:rPr>
              <a:t>该</a:t>
            </a:r>
            <a:r>
              <a:rPr lang="en-US" altLang="zh-CN" sz="2200" b="1">
                <a:latin typeface="宋体" panose="02010600030101010101" pitchFamily="2" charset="-122"/>
                <a:ea typeface="宋体" panose="02010600030101010101" pitchFamily="2" charset="-122"/>
                <a:cs typeface="宋体" panose="02010600030101010101" pitchFamily="2" charset="-122"/>
              </a:rPr>
              <a:t>式说明一个比特的信息或者以                 </a:t>
            </a:r>
            <a:r>
              <a:rPr lang="en-US" altLang="zh-CN" sz="2200" b="1">
                <a:latin typeface="宋体" panose="02010600030101010101" pitchFamily="2" charset="-122"/>
                <a:ea typeface="宋体" panose="02010600030101010101" pitchFamily="2" charset="-122"/>
                <a:cs typeface="宋体" panose="02010600030101010101" pitchFamily="2" charset="-122"/>
                <a:sym typeface="+mn-ea"/>
              </a:rPr>
              <a:t>的概率成功传输，或者以概率p在信道中丢失。传输1的时候收到0的概率是零，反之亦然。</a:t>
            </a:r>
            <a:endParaRPr lang="en-US" altLang="zh-CN" sz="2200" b="1">
              <a:latin typeface="宋体" panose="02010600030101010101" pitchFamily="2" charset="-122"/>
              <a:ea typeface="宋体" panose="02010600030101010101" pitchFamily="2" charset="-122"/>
              <a:cs typeface="宋体" panose="02010600030101010101" pitchFamily="2" charset="-122"/>
            </a:endParaRPr>
          </a:p>
          <a:p>
            <a:pPr indent="0"/>
            <a:endParaRPr lang="zh-CN" altLang="en-US" sz="1050"/>
          </a:p>
        </p:txBody>
      </p:sp>
      <p:graphicFrame>
        <p:nvGraphicFramePr>
          <p:cNvPr id="6" name="对象 -2147482515"/>
          <p:cNvGraphicFramePr>
            <a:graphicFrameLocks noChangeAspect="1"/>
          </p:cNvGraphicFramePr>
          <p:nvPr/>
        </p:nvGraphicFramePr>
        <p:xfrm>
          <a:off x="4958715" y="5428246"/>
          <a:ext cx="2273935" cy="261620"/>
        </p:xfrm>
        <a:graphic>
          <a:graphicData uri="http://schemas.openxmlformats.org/presentationml/2006/ole">
            <mc:AlternateContent xmlns:mc="http://schemas.openxmlformats.org/markup-compatibility/2006">
              <mc:Choice xmlns:v="urn:schemas-microsoft-com:vml" Requires="v">
                <p:oleObj spid="_x0000_s7" name="" r:id="rId5" imgW="7058025" imgH="774065" progId="Equation.DSMT4">
                  <p:embed/>
                </p:oleObj>
              </mc:Choice>
              <mc:Fallback>
                <p:oleObj name="" r:id="rId5" imgW="7058025" imgH="774065" progId="Equation.DSMT4">
                  <p:embed/>
                  <p:pic>
                    <p:nvPicPr>
                      <p:cNvPr id="0" name="图片 13"/>
                      <p:cNvPicPr/>
                      <p:nvPr/>
                    </p:nvPicPr>
                    <p:blipFill>
                      <a:blip r:embed="rId6"/>
                      <a:stretch>
                        <a:fillRect/>
                      </a:stretch>
                    </p:blipFill>
                    <p:spPr>
                      <a:xfrm>
                        <a:off x="4958715" y="5428246"/>
                        <a:ext cx="2273935" cy="261620"/>
                      </a:xfrm>
                      <a:prstGeom prst="rect">
                        <a:avLst/>
                      </a:prstGeom>
                      <a:noFill/>
                      <a:ln w="9525">
                        <a:noFill/>
                        <a:miter/>
                      </a:ln>
                    </p:spPr>
                  </p:pic>
                </p:oleObj>
              </mc:Fallback>
            </mc:AlternateContent>
          </a:graphicData>
        </a:graphic>
      </p:graphicFrame>
      <p:sp>
        <p:nvSpPr>
          <p:cNvPr id="9" name="标题 1"/>
          <p:cNvSpPr>
            <a:spLocks noGrp="1"/>
          </p:cNvSpPr>
          <p:nvPr>
            <p:ph type="title"/>
          </p:nvPr>
        </p:nvSpPr>
        <p:spPr>
          <a:xfrm>
            <a:off x="647700"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3.3.2.1  信道类型</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20420" y="1736090"/>
            <a:ext cx="11020425" cy="2522220"/>
          </a:xfrm>
        </p:spPr>
        <p:txBody>
          <a:bodyPr>
            <a:noAutofit/>
          </a:bodyPr>
          <a:lstStyle/>
          <a:p>
            <a:pPr marL="0" indent="0">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给定输入信息             、信道矩阵P</a:t>
            </a:r>
            <a:r>
              <a:rPr lang="en-US" altLang="zh-CN" sz="2200" b="1" baseline="-25000">
                <a:uFillTx/>
                <a:latin typeface="宋体" panose="02010600030101010101" pitchFamily="2" charset="-122"/>
                <a:ea typeface="宋体" panose="02010600030101010101" pitchFamily="2" charset="-122"/>
                <a:cs typeface="宋体" panose="02010600030101010101" pitchFamily="2" charset="-122"/>
              </a:rPr>
              <a:t>C</a:t>
            </a:r>
            <a:r>
              <a:rPr lang="en-US" altLang="zh-CN" sz="2200" b="1">
                <a:uFillTx/>
                <a:latin typeface="宋体" panose="02010600030101010101" pitchFamily="2" charset="-122"/>
                <a:ea typeface="宋体" panose="02010600030101010101" pitchFamily="2" charset="-122"/>
                <a:cs typeface="宋体" panose="02010600030101010101" pitchFamily="2" charset="-122"/>
              </a:rPr>
              <a:t>和输出信息              </a:t>
            </a:r>
            <a:r>
              <a:rPr lang="zh-CN" altLang="en-US" sz="2200" b="1">
                <a:uFillTx/>
                <a:latin typeface="宋体" panose="02010600030101010101" pitchFamily="2" charset="-122"/>
                <a:ea typeface="宋体" panose="02010600030101010101" pitchFamily="2" charset="-122"/>
                <a:cs typeface="宋体" panose="02010600030101010101" pitchFamily="2" charset="-122"/>
              </a:rPr>
              <a:t>，</a:t>
            </a:r>
            <a:r>
              <a:rPr lang="en-US" altLang="zh-CN" sz="2200" b="1">
                <a:uFillTx/>
                <a:latin typeface="宋体" panose="02010600030101010101" pitchFamily="2" charset="-122"/>
                <a:ea typeface="宋体" panose="02010600030101010101" pitchFamily="2" charset="-122"/>
                <a:cs typeface="宋体" panose="02010600030101010101" pitchFamily="2" charset="-122"/>
              </a:rPr>
              <a:t>则可以描述不相关度和疑义度的影响以及信息在信道中无差错传输的百分比，它被称为信息传输量或者互信息。</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1.不相关性（Irrelevance）</a:t>
            </a:r>
            <a:endPar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由于噪声干扰而引入信道中传输的信息内容被定义为条件信息内涵      。如果x已知，则可以求出y的信息内容。这个条件即为：</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514"/>
          <p:cNvGraphicFramePr>
            <a:graphicFrameLocks noChangeAspect="1"/>
          </p:cNvGraphicFramePr>
          <p:nvPr/>
        </p:nvGraphicFramePr>
        <p:xfrm>
          <a:off x="3174365" y="1736090"/>
          <a:ext cx="1833245" cy="287655"/>
        </p:xfrm>
        <a:graphic>
          <a:graphicData uri="http://schemas.openxmlformats.org/presentationml/2006/ole">
            <mc:AlternateContent xmlns:mc="http://schemas.openxmlformats.org/markup-compatibility/2006">
              <mc:Choice xmlns:v="urn:schemas-microsoft-com:vml" Requires="v">
                <p:oleObj spid="_x0000_s24775" name="" r:id="rId1" imgW="6375400" imgH="927100" progId="Equation.DSMT4">
                  <p:embed/>
                </p:oleObj>
              </mc:Choice>
              <mc:Fallback>
                <p:oleObj name="" r:id="rId1" imgW="6375400" imgH="927100" progId="Equation.DSMT4">
                  <p:embed/>
                  <p:pic>
                    <p:nvPicPr>
                      <p:cNvPr id="0" name="图片 3075"/>
                      <p:cNvPicPr/>
                      <p:nvPr/>
                    </p:nvPicPr>
                    <p:blipFill>
                      <a:blip r:embed="rId2"/>
                      <a:stretch>
                        <a:fillRect/>
                      </a:stretch>
                    </p:blipFill>
                    <p:spPr>
                      <a:xfrm>
                        <a:off x="3174365" y="1736090"/>
                        <a:ext cx="1833245" cy="287655"/>
                      </a:xfrm>
                      <a:prstGeom prst="rect">
                        <a:avLst/>
                      </a:prstGeom>
                      <a:noFill/>
                      <a:ln w="9525">
                        <a:noFill/>
                        <a:miter/>
                      </a:ln>
                    </p:spPr>
                  </p:pic>
                </p:oleObj>
              </mc:Fallback>
            </mc:AlternateContent>
          </a:graphicData>
        </a:graphic>
      </p:graphicFrame>
      <p:graphicFrame>
        <p:nvGraphicFramePr>
          <p:cNvPr id="6" name="对象 -2147482513"/>
          <p:cNvGraphicFramePr>
            <a:graphicFrameLocks noChangeAspect="1"/>
          </p:cNvGraphicFramePr>
          <p:nvPr/>
        </p:nvGraphicFramePr>
        <p:xfrm>
          <a:off x="8086725" y="1695450"/>
          <a:ext cx="1892300" cy="328295"/>
        </p:xfrm>
        <a:graphic>
          <a:graphicData uri="http://schemas.openxmlformats.org/presentationml/2006/ole">
            <mc:AlternateContent xmlns:mc="http://schemas.openxmlformats.org/markup-compatibility/2006">
              <mc:Choice xmlns:v="urn:schemas-microsoft-com:vml" Requires="v">
                <p:oleObj spid="_x0000_s2" name="" r:id="rId3" imgW="6118860" imgH="989965" progId="Equation.DSMT4">
                  <p:embed/>
                </p:oleObj>
              </mc:Choice>
              <mc:Fallback>
                <p:oleObj name="" r:id="rId3" imgW="6118860" imgH="989965" progId="Equation.DSMT4">
                  <p:embed/>
                  <p:pic>
                    <p:nvPicPr>
                      <p:cNvPr id="0" name="图片 30"/>
                      <p:cNvPicPr/>
                      <p:nvPr/>
                    </p:nvPicPr>
                    <p:blipFill>
                      <a:blip r:embed="rId4"/>
                      <a:stretch>
                        <a:fillRect/>
                      </a:stretch>
                    </p:blipFill>
                    <p:spPr>
                      <a:xfrm>
                        <a:off x="8086725" y="1695450"/>
                        <a:ext cx="1892300" cy="328295"/>
                      </a:xfrm>
                      <a:prstGeom prst="rect">
                        <a:avLst/>
                      </a:prstGeom>
                      <a:noFill/>
                      <a:ln w="9525">
                        <a:noFill/>
                        <a:miter/>
                      </a:ln>
                    </p:spPr>
                  </p:pic>
                </p:oleObj>
              </mc:Fallback>
            </mc:AlternateContent>
          </a:graphicData>
        </a:graphic>
      </p:graphicFrame>
      <p:graphicFrame>
        <p:nvGraphicFramePr>
          <p:cNvPr id="7" name="对象 -2147482512"/>
          <p:cNvGraphicFramePr>
            <a:graphicFrameLocks noChangeAspect="1"/>
          </p:cNvGraphicFramePr>
          <p:nvPr/>
        </p:nvGraphicFramePr>
        <p:xfrm>
          <a:off x="9071610" y="3194050"/>
          <a:ext cx="831215" cy="308610"/>
        </p:xfrm>
        <a:graphic>
          <a:graphicData uri="http://schemas.openxmlformats.org/presentationml/2006/ole">
            <mc:AlternateContent xmlns:mc="http://schemas.openxmlformats.org/markup-compatibility/2006">
              <mc:Choice xmlns:v="urn:schemas-microsoft-com:vml" Requires="v">
                <p:oleObj spid="_x0000_s4" name="" r:id="rId5" imgW="2158365" imgH="774065" progId="Equation.DSMT4">
                  <p:embed/>
                </p:oleObj>
              </mc:Choice>
              <mc:Fallback>
                <p:oleObj name="" r:id="rId5" imgW="2158365" imgH="774065" progId="Equation.DSMT4">
                  <p:embed/>
                  <p:pic>
                    <p:nvPicPr>
                      <p:cNvPr id="0" name="图片 31"/>
                      <p:cNvPicPr/>
                      <p:nvPr/>
                    </p:nvPicPr>
                    <p:blipFill>
                      <a:blip r:embed="rId6"/>
                      <a:stretch>
                        <a:fillRect/>
                      </a:stretch>
                    </p:blipFill>
                    <p:spPr>
                      <a:xfrm>
                        <a:off x="9071610" y="3194050"/>
                        <a:ext cx="831215" cy="308610"/>
                      </a:xfrm>
                      <a:prstGeom prst="rect">
                        <a:avLst/>
                      </a:prstGeom>
                      <a:noFill/>
                      <a:ln w="9525">
                        <a:noFill/>
                        <a:miter/>
                      </a:ln>
                    </p:spPr>
                  </p:pic>
                </p:oleObj>
              </mc:Fallback>
            </mc:AlternateContent>
          </a:graphicData>
        </a:graphic>
      </p:graphicFrame>
      <p:graphicFrame>
        <p:nvGraphicFramePr>
          <p:cNvPr id="8" name="对象 -2147482511"/>
          <p:cNvGraphicFramePr>
            <a:graphicFrameLocks noChangeAspect="1"/>
          </p:cNvGraphicFramePr>
          <p:nvPr/>
        </p:nvGraphicFramePr>
        <p:xfrm>
          <a:off x="3174365" y="3891915"/>
          <a:ext cx="5528310" cy="762000"/>
        </p:xfrm>
        <a:graphic>
          <a:graphicData uri="http://schemas.openxmlformats.org/presentationml/2006/ole">
            <mc:AlternateContent xmlns:mc="http://schemas.openxmlformats.org/markup-compatibility/2006">
              <mc:Choice xmlns:v="urn:schemas-microsoft-com:vml" Requires="v">
                <p:oleObj spid="_x0000_s9" name="" r:id="rId7" imgW="6258560" imgH="862965" progId="Equation.DSMT4">
                  <p:embed/>
                </p:oleObj>
              </mc:Choice>
              <mc:Fallback>
                <p:oleObj name="" r:id="rId7" imgW="6258560" imgH="862965" progId="Equation.DSMT4">
                  <p:embed/>
                  <p:pic>
                    <p:nvPicPr>
                      <p:cNvPr id="0" name="图片 32"/>
                      <p:cNvPicPr/>
                      <p:nvPr/>
                    </p:nvPicPr>
                    <p:blipFill>
                      <a:blip r:embed="rId8"/>
                      <a:stretch>
                        <a:fillRect/>
                      </a:stretch>
                    </p:blipFill>
                    <p:spPr>
                      <a:xfrm>
                        <a:off x="3174365" y="3891915"/>
                        <a:ext cx="5528310" cy="762000"/>
                      </a:xfrm>
                      <a:prstGeom prst="rect">
                        <a:avLst/>
                      </a:prstGeom>
                      <a:noFill/>
                      <a:ln w="9525">
                        <a:noFill/>
                        <a:miter/>
                      </a:ln>
                    </p:spPr>
                  </p:pic>
                </p:oleObj>
              </mc:Fallback>
            </mc:AlternateContent>
          </a:graphicData>
        </a:graphic>
      </p:graphicFrame>
      <p:sp>
        <p:nvSpPr>
          <p:cNvPr id="104" name="文本框 103"/>
          <p:cNvSpPr txBox="1"/>
          <p:nvPr/>
        </p:nvSpPr>
        <p:spPr>
          <a:xfrm>
            <a:off x="586740" y="4834890"/>
            <a:ext cx="10420985" cy="429895"/>
          </a:xfrm>
          <a:prstGeom prst="rect">
            <a:avLst/>
          </a:prstGeom>
          <a:noFill/>
          <a:ln w="9525">
            <a:noFill/>
          </a:ln>
        </p:spPr>
        <p:txBody>
          <a:bodyPr wrap="square">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sym typeface="+mn-ea"/>
              </a:rPr>
              <a:t>其中       </a:t>
            </a:r>
            <a:r>
              <a:rPr lang="en-US" altLang="zh-CN" sz="2200" b="1">
                <a:latin typeface="宋体" panose="02010600030101010101" pitchFamily="2" charset="-122"/>
                <a:ea typeface="宋体" panose="02010600030101010101" pitchFamily="2" charset="-122"/>
                <a:cs typeface="宋体" panose="02010600030101010101" pitchFamily="2" charset="-122"/>
              </a:rPr>
              <a:t>可以从信道矩阵P</a:t>
            </a:r>
            <a:r>
              <a:rPr lang="en-US" altLang="zh-CN" sz="2200" b="1" baseline="-25000">
                <a:latin typeface="宋体" panose="02010600030101010101" pitchFamily="2" charset="-122"/>
                <a:ea typeface="宋体" panose="02010600030101010101" pitchFamily="2" charset="-122"/>
                <a:cs typeface="宋体" panose="02010600030101010101" pitchFamily="2" charset="-122"/>
              </a:rPr>
              <a:t>C</a:t>
            </a:r>
            <a:r>
              <a:rPr lang="en-US" altLang="zh-CN" sz="2200" b="1">
                <a:latin typeface="宋体" panose="02010600030101010101" pitchFamily="2" charset="-122"/>
                <a:ea typeface="宋体" panose="02010600030101010101" pitchFamily="2" charset="-122"/>
                <a:cs typeface="宋体" panose="02010600030101010101" pitchFamily="2" charset="-122"/>
              </a:rPr>
              <a:t>中得出。对于所有输入信号x∈X,得到平均条件熵为</a:t>
            </a:r>
            <a:r>
              <a:rPr lang="zh-CN" altLang="en-US" sz="2200" b="1">
                <a:latin typeface="宋体" panose="02010600030101010101" pitchFamily="2" charset="-122"/>
                <a:ea typeface="宋体" panose="02010600030101010101" pitchFamily="2" charset="-122"/>
                <a:cs typeface="宋体" panose="02010600030101010101" pitchFamily="2" charset="-122"/>
              </a:rPr>
              <a:t>：</a:t>
            </a:r>
            <a:endParaRPr lang="zh-CN" altLang="en-US" sz="22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0" name="对象 -2147482510"/>
          <p:cNvGraphicFramePr>
            <a:graphicFrameLocks noChangeAspect="1"/>
          </p:cNvGraphicFramePr>
          <p:nvPr/>
        </p:nvGraphicFramePr>
        <p:xfrm>
          <a:off x="1219835" y="4921885"/>
          <a:ext cx="965835" cy="342900"/>
        </p:xfrm>
        <a:graphic>
          <a:graphicData uri="http://schemas.openxmlformats.org/presentationml/2006/ole">
            <mc:AlternateContent xmlns:mc="http://schemas.openxmlformats.org/markup-compatibility/2006">
              <mc:Choice xmlns:v="urn:schemas-microsoft-com:vml" Requires="v">
                <p:oleObj spid="_x0000_s11" name="" r:id="rId9" imgW="951865" imgH="342900" progId="Equation.DSMT4">
                  <p:embed/>
                </p:oleObj>
              </mc:Choice>
              <mc:Fallback>
                <p:oleObj name="" r:id="rId9" imgW="951865" imgH="342900" progId="Equation.DSMT4">
                  <p:embed/>
                  <p:pic>
                    <p:nvPicPr>
                      <p:cNvPr id="0" name="图片 34"/>
                      <p:cNvPicPr/>
                      <p:nvPr/>
                    </p:nvPicPr>
                    <p:blipFill>
                      <a:blip r:embed="rId10"/>
                      <a:stretch>
                        <a:fillRect/>
                      </a:stretch>
                    </p:blipFill>
                    <p:spPr>
                      <a:xfrm>
                        <a:off x="1219835" y="4921885"/>
                        <a:ext cx="965835" cy="342900"/>
                      </a:xfrm>
                      <a:prstGeom prst="rect">
                        <a:avLst/>
                      </a:prstGeom>
                      <a:noFill/>
                      <a:ln w="9525">
                        <a:noFill/>
                        <a:miter/>
                      </a:ln>
                    </p:spPr>
                  </p:pic>
                </p:oleObj>
              </mc:Fallback>
            </mc:AlternateContent>
          </a:graphicData>
        </a:graphic>
      </p:graphicFrame>
      <p:graphicFrame>
        <p:nvGraphicFramePr>
          <p:cNvPr id="37" name="对象 36"/>
          <p:cNvGraphicFramePr>
            <a:graphicFrameLocks noChangeAspect="1"/>
          </p:cNvGraphicFramePr>
          <p:nvPr/>
        </p:nvGraphicFramePr>
        <p:xfrm>
          <a:off x="3187065" y="5354955"/>
          <a:ext cx="6492240" cy="734060"/>
        </p:xfrm>
        <a:graphic>
          <a:graphicData uri="http://schemas.openxmlformats.org/presentationml/2006/ole">
            <mc:AlternateContent xmlns:mc="http://schemas.openxmlformats.org/markup-compatibility/2006">
              <mc:Choice xmlns:v="urn:schemas-microsoft-com:vml" Requires="v">
                <p:oleObj spid="_x0000_s12" name="" r:id="rId11" imgW="7629525" imgH="862965" progId="Equation.DSMT4">
                  <p:embed/>
                </p:oleObj>
              </mc:Choice>
              <mc:Fallback>
                <p:oleObj name="" r:id="rId11" imgW="7629525" imgH="862965" progId="Equation.DSMT4">
                  <p:embed/>
                  <p:pic>
                    <p:nvPicPr>
                      <p:cNvPr id="0" name="图片 37"/>
                      <p:cNvPicPr/>
                      <p:nvPr/>
                    </p:nvPicPr>
                    <p:blipFill>
                      <a:blip r:embed="rId12"/>
                      <a:stretch>
                        <a:fillRect/>
                      </a:stretch>
                    </p:blipFill>
                    <p:spPr>
                      <a:xfrm>
                        <a:off x="3187065" y="5354955"/>
                        <a:ext cx="6492240" cy="734060"/>
                      </a:xfrm>
                      <a:prstGeom prst="rect">
                        <a:avLst/>
                      </a:prstGeom>
                      <a:noFill/>
                      <a:ln w="9525">
                        <a:noFill/>
                        <a:miter/>
                      </a:ln>
                    </p:spPr>
                  </p:pic>
                </p:oleObj>
              </mc:Fallback>
            </mc:AlternateContent>
          </a:graphicData>
        </a:graphic>
      </p:graphicFrame>
      <p:sp>
        <p:nvSpPr>
          <p:cNvPr id="39" name="文本框 38"/>
          <p:cNvSpPr txBox="1"/>
          <p:nvPr/>
        </p:nvSpPr>
        <p:spPr>
          <a:xfrm>
            <a:off x="586740" y="6103620"/>
            <a:ext cx="9663430" cy="429895"/>
          </a:xfrm>
          <a:prstGeom prst="rect">
            <a:avLst/>
          </a:prstGeom>
          <a:noFill/>
          <a:ln w="9525">
            <a:noFill/>
          </a:ln>
        </p:spPr>
        <p:txBody>
          <a:bodyPr wrap="square">
            <a:spAutoFit/>
          </a:bodyPr>
          <a:lstStyle/>
          <a:p>
            <a:pPr indent="266700"/>
            <a:r>
              <a:rPr lang="en-US" altLang="zh-CN" sz="2200" b="1">
                <a:solidFill>
                  <a:srgbClr val="00B0F0"/>
                </a:solidFill>
                <a:latin typeface="宋体" panose="02010600030101010101" pitchFamily="2" charset="-122"/>
                <a:ea typeface="宋体" panose="02010600030101010101" pitchFamily="2" charset="-122"/>
                <a:cs typeface="宋体" panose="02010600030101010101" pitchFamily="2" charset="-122"/>
              </a:rPr>
              <a:t>从式</a:t>
            </a:r>
            <a:r>
              <a:rPr lang="zh-CN" altLang="en-US" sz="2200" b="1">
                <a:solidFill>
                  <a:srgbClr val="00B0F0"/>
                </a:solidFill>
                <a:latin typeface="宋体" panose="02010600030101010101" pitchFamily="2" charset="-122"/>
                <a:ea typeface="宋体" panose="02010600030101010101" pitchFamily="2" charset="-122"/>
                <a:cs typeface="宋体" panose="02010600030101010101" pitchFamily="2" charset="-122"/>
              </a:rPr>
              <a:t>中</a:t>
            </a:r>
            <a:r>
              <a:rPr lang="en-US" altLang="zh-CN" sz="2200" b="1">
                <a:solidFill>
                  <a:srgbClr val="00B0F0"/>
                </a:solidFill>
                <a:latin typeface="宋体" panose="02010600030101010101" pitchFamily="2" charset="-122"/>
                <a:ea typeface="宋体" panose="02010600030101010101" pitchFamily="2" charset="-122"/>
                <a:cs typeface="宋体" panose="02010600030101010101" pitchFamily="2" charset="-122"/>
              </a:rPr>
              <a:t>可以看出，一个好的信道编码器应该能够减少不相关熵</a:t>
            </a:r>
            <a:r>
              <a:rPr lang="zh-CN" altLang="en-US" sz="2200" b="1">
                <a:solidFill>
                  <a:srgbClr val="00B0F0"/>
                </a:solidFill>
                <a:latin typeface="宋体" panose="02010600030101010101" pitchFamily="2" charset="-122"/>
                <a:ea typeface="宋体" panose="02010600030101010101" pitchFamily="2" charset="-122"/>
                <a:cs typeface="宋体" panose="02010600030101010101" pitchFamily="2" charset="-122"/>
              </a:rPr>
              <a:t>。</a:t>
            </a:r>
            <a:endParaRPr lang="zh-CN" altLang="en-US" sz="2200" b="1">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3.3.2.2  信道内的信息传输</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585470" y="930910"/>
            <a:ext cx="11020425" cy="1355090"/>
          </a:xfrm>
        </p:spPr>
        <p:txBody>
          <a:bodyPr>
            <a:noAutofit/>
          </a:bodyPr>
          <a:lstStyle/>
          <a:p>
            <a:pPr marL="0" indent="0">
              <a:buNone/>
            </a:pP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2.疑义度（Equivocation）</a:t>
            </a:r>
            <a:endPar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    由于信道固有的限制,信息内容可能会丢失。信息内容可以通过在输出y已知的情况下观察输入x来得到：</a:t>
            </a:r>
            <a:endParaRPr lang="en-US" altLang="zh-CN" sz="2200" b="1">
              <a:uFillTx/>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2" name="对象 -2147482506"/>
          <p:cNvGraphicFramePr>
            <a:graphicFrameLocks noChangeAspect="1"/>
          </p:cNvGraphicFramePr>
          <p:nvPr/>
        </p:nvGraphicFramePr>
        <p:xfrm>
          <a:off x="3123565" y="2139950"/>
          <a:ext cx="5351780" cy="793750"/>
        </p:xfrm>
        <a:graphic>
          <a:graphicData uri="http://schemas.openxmlformats.org/presentationml/2006/ole">
            <mc:AlternateContent xmlns:mc="http://schemas.openxmlformats.org/markup-compatibility/2006">
              <mc:Choice xmlns:v="urn:schemas-microsoft-com:vml" Requires="v">
                <p:oleObj spid="_x0000_s24775" name="" r:id="rId1" imgW="5826760" imgH="862965" progId="Equation.DSMT4">
                  <p:embed/>
                </p:oleObj>
              </mc:Choice>
              <mc:Fallback>
                <p:oleObj name="" r:id="rId1" imgW="5826760" imgH="862965" progId="Equation.DSMT4">
                  <p:embed/>
                  <p:pic>
                    <p:nvPicPr>
                      <p:cNvPr id="0" name="图片 3075"/>
                      <p:cNvPicPr/>
                      <p:nvPr/>
                    </p:nvPicPr>
                    <p:blipFill>
                      <a:blip r:embed="rId2"/>
                      <a:stretch>
                        <a:fillRect/>
                      </a:stretch>
                    </p:blipFill>
                    <p:spPr>
                      <a:xfrm>
                        <a:off x="3123565" y="2139950"/>
                        <a:ext cx="5351780" cy="793750"/>
                      </a:xfrm>
                      <a:prstGeom prst="rect">
                        <a:avLst/>
                      </a:prstGeom>
                      <a:noFill/>
                      <a:ln w="9525">
                        <a:noFill/>
                        <a:miter/>
                      </a:ln>
                    </p:spPr>
                  </p:pic>
                </p:oleObj>
              </mc:Fallback>
            </mc:AlternateContent>
          </a:graphicData>
        </a:graphic>
      </p:graphicFrame>
      <p:sp>
        <p:nvSpPr>
          <p:cNvPr id="104" name="文本框 103"/>
          <p:cNvSpPr txBox="1"/>
          <p:nvPr/>
        </p:nvSpPr>
        <p:spPr>
          <a:xfrm>
            <a:off x="837565" y="2933700"/>
            <a:ext cx="5080000" cy="429895"/>
          </a:xfrm>
          <a:prstGeom prst="rect">
            <a:avLst/>
          </a:prstGeom>
          <a:noFill/>
          <a:ln w="9525">
            <a:noFill/>
          </a:ln>
        </p:spPr>
        <p:txBody>
          <a:bodyPr>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rPr>
              <a:t>再次使用贝叶斯条件概率公式，可得</a:t>
            </a:r>
            <a:r>
              <a:rPr lang="zh-CN" altLang="en-US" sz="2200" b="1">
                <a:latin typeface="宋体" panose="02010600030101010101" pitchFamily="2" charset="-122"/>
                <a:ea typeface="宋体" panose="02010600030101010101" pitchFamily="2" charset="-122"/>
                <a:cs typeface="宋体" panose="02010600030101010101" pitchFamily="2" charset="-122"/>
              </a:rPr>
              <a:t>：</a:t>
            </a:r>
            <a:r>
              <a:rPr lang="en-US" sz="1050" b="0">
                <a:latin typeface="Times New Roman" panose="02020603050405020304" charset="0"/>
                <a:ea typeface="宋体" panose="02010600030101010101" pitchFamily="2" charset="-122"/>
              </a:rPr>
              <a:t> </a:t>
            </a:r>
            <a:endParaRPr lang="zh-CN" altLang="en-US"/>
          </a:p>
        </p:txBody>
      </p:sp>
      <p:graphicFrame>
        <p:nvGraphicFramePr>
          <p:cNvPr id="5" name="对象 -2147482505"/>
          <p:cNvGraphicFramePr>
            <a:graphicFrameLocks noChangeAspect="1"/>
          </p:cNvGraphicFramePr>
          <p:nvPr/>
        </p:nvGraphicFramePr>
        <p:xfrm>
          <a:off x="3123565" y="3579495"/>
          <a:ext cx="5017770" cy="965835"/>
        </p:xfrm>
        <a:graphic>
          <a:graphicData uri="http://schemas.openxmlformats.org/presentationml/2006/ole">
            <mc:AlternateContent xmlns:mc="http://schemas.openxmlformats.org/markup-compatibility/2006">
              <mc:Choice xmlns:v="urn:schemas-microsoft-com:vml" Requires="v">
                <p:oleObj spid="_x0000_s4" name="" r:id="rId3" imgW="5283200" imgH="1016000" progId="Equation.DSMT4">
                  <p:embed/>
                </p:oleObj>
              </mc:Choice>
              <mc:Fallback>
                <p:oleObj name="" r:id="rId3" imgW="5283200" imgH="1016000" progId="Equation.DSMT4">
                  <p:embed/>
                  <p:pic>
                    <p:nvPicPr>
                      <p:cNvPr id="0" name="图片 30"/>
                      <p:cNvPicPr/>
                      <p:nvPr/>
                    </p:nvPicPr>
                    <p:blipFill>
                      <a:blip r:embed="rId4"/>
                      <a:stretch>
                        <a:fillRect/>
                      </a:stretch>
                    </p:blipFill>
                    <p:spPr>
                      <a:xfrm>
                        <a:off x="3123565" y="3579495"/>
                        <a:ext cx="5017770" cy="965835"/>
                      </a:xfrm>
                      <a:prstGeom prst="rect">
                        <a:avLst/>
                      </a:prstGeom>
                      <a:noFill/>
                      <a:ln w="9525">
                        <a:noFill/>
                        <a:miter/>
                      </a:ln>
                    </p:spPr>
                  </p:pic>
                </p:oleObj>
              </mc:Fallback>
            </mc:AlternateContent>
          </a:graphicData>
        </a:graphic>
      </p:graphicFrame>
      <p:sp>
        <p:nvSpPr>
          <p:cNvPr id="32" name="文本框 31"/>
          <p:cNvSpPr txBox="1"/>
          <p:nvPr/>
        </p:nvSpPr>
        <p:spPr>
          <a:xfrm>
            <a:off x="837565" y="4761230"/>
            <a:ext cx="10133965" cy="1106805"/>
          </a:xfrm>
          <a:prstGeom prst="rect">
            <a:avLst/>
          </a:prstGeom>
          <a:noFill/>
          <a:ln w="9525">
            <a:noFill/>
          </a:ln>
        </p:spPr>
        <p:txBody>
          <a:bodyPr wrap="square">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rPr>
              <a:t>    </a:t>
            </a:r>
            <a:r>
              <a:rPr lang="zh-CN" altLang="en-US" sz="2200" b="1">
                <a:latin typeface="宋体" panose="02010600030101010101" pitchFamily="2" charset="-122"/>
                <a:ea typeface="宋体" panose="02010600030101010101" pitchFamily="2" charset="-122"/>
                <a:cs typeface="宋体" panose="02010600030101010101" pitchFamily="2" charset="-122"/>
              </a:rPr>
              <a:t>该</a:t>
            </a:r>
            <a:r>
              <a:rPr lang="en-US" altLang="zh-CN" sz="2200" b="1">
                <a:latin typeface="宋体" panose="02010600030101010101" pitchFamily="2" charset="-122"/>
                <a:ea typeface="宋体" panose="02010600030101010101" pitchFamily="2" charset="-122"/>
                <a:cs typeface="宋体" panose="02010600030101010101" pitchFamily="2" charset="-122"/>
              </a:rPr>
              <a:t>式</a:t>
            </a:r>
            <a:r>
              <a:rPr lang="zh-CN" altLang="en-US" sz="2200" b="1">
                <a:latin typeface="宋体" panose="02010600030101010101" pitchFamily="2" charset="-122"/>
                <a:ea typeface="宋体" panose="02010600030101010101" pitchFamily="2" charset="-122"/>
                <a:cs typeface="宋体" panose="02010600030101010101" pitchFamily="2" charset="-122"/>
              </a:rPr>
              <a:t>中</a:t>
            </a:r>
            <a:r>
              <a:rPr lang="en-US" altLang="zh-CN" sz="2200" b="1">
                <a:latin typeface="宋体" panose="02010600030101010101" pitchFamily="2" charset="-122"/>
                <a:ea typeface="宋体" panose="02010600030101010101" pitchFamily="2" charset="-122"/>
                <a:cs typeface="宋体" panose="02010600030101010101" pitchFamily="2" charset="-122"/>
              </a:rPr>
              <a:t>的条件概率也称为推理概率或者后验概率。因此，疑义度有时也称作估计熵。</a:t>
            </a:r>
            <a:r>
              <a:rPr lang="en-US" altLang="zh-CN" sz="2200" b="1">
                <a:solidFill>
                  <a:srgbClr val="00B0F0"/>
                </a:solidFill>
                <a:latin typeface="宋体" panose="02010600030101010101" pitchFamily="2" charset="-122"/>
                <a:ea typeface="宋体" panose="02010600030101010101" pitchFamily="2" charset="-122"/>
                <a:cs typeface="宋体" panose="02010600030101010101" pitchFamily="2" charset="-122"/>
              </a:rPr>
              <a:t>一个好的信道编码方案应具有较高的估计概率，这可以通过在道编码过程中引入冗余来实现。</a:t>
            </a:r>
            <a:endParaRPr lang="en-US" altLang="zh-CN" sz="2200" b="1">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标题 1"/>
          <p:cNvSpPr>
            <a:spLocks noGrp="1"/>
          </p:cNvSpPr>
          <p:nvPr>
            <p:ph type="title"/>
          </p:nvPr>
        </p:nvSpPr>
        <p:spPr>
          <a:xfrm>
            <a:off x="585470"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3.3.2.2  信道内的信息传输</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7565" y="1316990"/>
            <a:ext cx="11020425" cy="1138555"/>
          </a:xfrm>
        </p:spPr>
        <p:txBody>
          <a:bodyPr>
            <a:noAutofit/>
          </a:bodyPr>
          <a:lstStyle/>
          <a:p>
            <a:pPr marL="0" indent="0">
              <a:buNone/>
            </a:pP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rPr>
              <a:t> 3.信息传输量（Transinformation）</a:t>
            </a:r>
            <a:endPar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r>
              <a:rPr lang="en-US" altLang="zh-CN" sz="2200" b="1">
                <a:uFillTx/>
                <a:latin typeface="宋体" panose="02010600030101010101" pitchFamily="2" charset="-122"/>
                <a:ea typeface="宋体" panose="02010600030101010101" pitchFamily="2" charset="-122"/>
                <a:cs typeface="宋体" panose="02010600030101010101" pitchFamily="2" charset="-122"/>
                <a:sym typeface="+mn-ea"/>
              </a:rPr>
              <a:t>    信息传输量       定义为在克服信道的限制下所能到达目的地的信息量。给定信息源的熵     和疑义度         ，信息传输量表示为：</a:t>
            </a:r>
            <a:endParaRPr lang="en-US" altLang="zh-CN" sz="2200" b="1">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4" name="文本框 103"/>
          <p:cNvSpPr txBox="1"/>
          <p:nvPr/>
        </p:nvSpPr>
        <p:spPr>
          <a:xfrm>
            <a:off x="837565" y="2945765"/>
            <a:ext cx="2378710" cy="429895"/>
          </a:xfrm>
          <a:prstGeom prst="rect">
            <a:avLst/>
          </a:prstGeom>
          <a:noFill/>
          <a:ln w="9525">
            <a:noFill/>
          </a:ln>
        </p:spPr>
        <p:txBody>
          <a:bodyPr wrap="square">
            <a:spAutoFit/>
          </a:bodyPr>
          <a:lstStyle/>
          <a:p>
            <a:pPr indent="0"/>
            <a:r>
              <a:rPr lang="zh-CN" sz="2200" b="1">
                <a:latin typeface="宋体" panose="02010600030101010101" pitchFamily="2" charset="-122"/>
                <a:ea typeface="宋体" panose="02010600030101010101" pitchFamily="2" charset="-122"/>
                <a:cs typeface="宋体" panose="02010600030101010101" pitchFamily="2" charset="-122"/>
              </a:rPr>
              <a:t>也可表示为：</a:t>
            </a:r>
            <a:r>
              <a:rPr lang="en-US" sz="1050" b="0">
                <a:latin typeface="Times New Roman" panose="02020603050405020304" charset="0"/>
                <a:ea typeface="宋体" panose="02010600030101010101" pitchFamily="2" charset="-122"/>
              </a:rPr>
              <a:t> </a:t>
            </a:r>
            <a:endParaRPr lang="zh-CN" altLang="en-US"/>
          </a:p>
        </p:txBody>
      </p:sp>
      <p:sp>
        <p:nvSpPr>
          <p:cNvPr id="32" name="文本框 31"/>
          <p:cNvSpPr txBox="1"/>
          <p:nvPr/>
        </p:nvSpPr>
        <p:spPr>
          <a:xfrm>
            <a:off x="1063625" y="3505835"/>
            <a:ext cx="7915275" cy="429895"/>
          </a:xfrm>
          <a:prstGeom prst="rect">
            <a:avLst/>
          </a:prstGeom>
          <a:noFill/>
          <a:ln w="9525">
            <a:noFill/>
          </a:ln>
        </p:spPr>
        <p:txBody>
          <a:bodyPr wrap="square">
            <a:spAutoFit/>
          </a:bodyPr>
          <a:lstStyle/>
          <a:p>
            <a:pPr indent="0"/>
            <a:r>
              <a:rPr sz="2200" b="1">
                <a:solidFill>
                  <a:srgbClr val="00B0F0"/>
                </a:solidFill>
                <a:latin typeface="宋体" panose="02010600030101010101" pitchFamily="2" charset="-122"/>
                <a:ea typeface="宋体" panose="02010600030101010101" pitchFamily="2" charset="-122"/>
                <a:cs typeface="宋体" panose="02010600030101010101" pitchFamily="2" charset="-122"/>
              </a:rPr>
              <a:t>不相关性、疑义度和信息传输量的关系见图</a:t>
            </a:r>
            <a:r>
              <a:rPr lang="en-US" sz="2200" b="1">
                <a:solidFill>
                  <a:srgbClr val="00B0F0"/>
                </a:solidFill>
                <a:latin typeface="宋体" panose="02010600030101010101" pitchFamily="2" charset="-122"/>
                <a:ea typeface="宋体" panose="02010600030101010101" pitchFamily="2" charset="-122"/>
                <a:cs typeface="宋体" panose="02010600030101010101" pitchFamily="2" charset="-122"/>
              </a:rPr>
              <a:t>a</a:t>
            </a:r>
            <a:r>
              <a:rPr sz="2200" b="1">
                <a:latin typeface="宋体" panose="02010600030101010101" pitchFamily="2" charset="-122"/>
                <a:ea typeface="宋体" panose="02010600030101010101" pitchFamily="2" charset="-122"/>
                <a:cs typeface="宋体" panose="02010600030101010101" pitchFamily="2" charset="-122"/>
              </a:rPr>
              <a:t>。</a:t>
            </a:r>
            <a:endParaRPr sz="22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2" name="对象 -2147482504"/>
          <p:cNvGraphicFramePr>
            <a:graphicFrameLocks noChangeAspect="1"/>
          </p:cNvGraphicFramePr>
          <p:nvPr/>
        </p:nvGraphicFramePr>
        <p:xfrm>
          <a:off x="2936875" y="1798320"/>
          <a:ext cx="927100" cy="330200"/>
        </p:xfrm>
        <a:graphic>
          <a:graphicData uri="http://schemas.openxmlformats.org/presentationml/2006/ole">
            <mc:AlternateContent xmlns:mc="http://schemas.openxmlformats.org/markup-compatibility/2006">
              <mc:Choice xmlns:v="urn:schemas-microsoft-com:vml" Requires="v">
                <p:oleObj spid="_x0000_s24775" name="" r:id="rId1" imgW="964565" imgH="342900" progId="Equation.DSMT4">
                  <p:embed/>
                </p:oleObj>
              </mc:Choice>
              <mc:Fallback>
                <p:oleObj name="" r:id="rId1" imgW="964565" imgH="342900" progId="Equation.DSMT4">
                  <p:embed/>
                  <p:pic>
                    <p:nvPicPr>
                      <p:cNvPr id="0" name="图片 5"/>
                      <p:cNvPicPr/>
                      <p:nvPr/>
                    </p:nvPicPr>
                    <p:blipFill>
                      <a:blip r:embed="rId2"/>
                      <a:stretch>
                        <a:fillRect/>
                      </a:stretch>
                    </p:blipFill>
                    <p:spPr>
                      <a:xfrm>
                        <a:off x="2936875" y="1798320"/>
                        <a:ext cx="927100" cy="330200"/>
                      </a:xfrm>
                      <a:prstGeom prst="rect">
                        <a:avLst/>
                      </a:prstGeom>
                      <a:noFill/>
                      <a:ln w="9525">
                        <a:noFill/>
                        <a:miter/>
                      </a:ln>
                    </p:spPr>
                  </p:pic>
                </p:oleObj>
              </mc:Fallback>
            </mc:AlternateContent>
          </a:graphicData>
        </a:graphic>
      </p:graphicFrame>
      <p:graphicFrame>
        <p:nvGraphicFramePr>
          <p:cNvPr id="5" name="对象 -2147482503"/>
          <p:cNvGraphicFramePr>
            <a:graphicFrameLocks noChangeAspect="1"/>
          </p:cNvGraphicFramePr>
          <p:nvPr/>
        </p:nvGraphicFramePr>
        <p:xfrm>
          <a:off x="1770380" y="2128520"/>
          <a:ext cx="701675" cy="303530"/>
        </p:xfrm>
        <a:graphic>
          <a:graphicData uri="http://schemas.openxmlformats.org/presentationml/2006/ole">
            <mc:AlternateContent xmlns:mc="http://schemas.openxmlformats.org/markup-compatibility/2006">
              <mc:Choice xmlns:v="urn:schemas-microsoft-com:vml" Requires="v">
                <p:oleObj spid="_x0000_s4" name="" r:id="rId3" imgW="786765" imgH="342900" progId="Equation.DSMT4">
                  <p:embed/>
                </p:oleObj>
              </mc:Choice>
              <mc:Fallback>
                <p:oleObj name="" r:id="rId3" imgW="786765" imgH="342900" progId="Equation.DSMT4">
                  <p:embed/>
                  <p:pic>
                    <p:nvPicPr>
                      <p:cNvPr id="0" name="图片 6"/>
                      <p:cNvPicPr/>
                      <p:nvPr/>
                    </p:nvPicPr>
                    <p:blipFill>
                      <a:blip r:embed="rId4"/>
                      <a:stretch>
                        <a:fillRect/>
                      </a:stretch>
                    </p:blipFill>
                    <p:spPr>
                      <a:xfrm>
                        <a:off x="1770380" y="2128520"/>
                        <a:ext cx="701675" cy="303530"/>
                      </a:xfrm>
                      <a:prstGeom prst="rect">
                        <a:avLst/>
                      </a:prstGeom>
                      <a:noFill/>
                      <a:ln w="9525">
                        <a:noFill/>
                        <a:miter/>
                      </a:ln>
                    </p:spPr>
                  </p:pic>
                </p:oleObj>
              </mc:Fallback>
            </mc:AlternateContent>
          </a:graphicData>
        </a:graphic>
      </p:graphicFrame>
      <p:graphicFrame>
        <p:nvGraphicFramePr>
          <p:cNvPr id="8" name="对象 -2147482502"/>
          <p:cNvGraphicFramePr>
            <a:graphicFrameLocks noChangeAspect="1"/>
          </p:cNvGraphicFramePr>
          <p:nvPr/>
        </p:nvGraphicFramePr>
        <p:xfrm>
          <a:off x="3625850" y="2098040"/>
          <a:ext cx="1169035" cy="353060"/>
        </p:xfrm>
        <a:graphic>
          <a:graphicData uri="http://schemas.openxmlformats.org/presentationml/2006/ole">
            <mc:AlternateContent xmlns:mc="http://schemas.openxmlformats.org/markup-compatibility/2006">
              <mc:Choice xmlns:v="urn:schemas-microsoft-com:vml" Requires="v">
                <p:oleObj spid="_x0000_s6" name="" r:id="rId5" imgW="1142365" imgH="342900" progId="Equation.DSMT4">
                  <p:embed/>
                </p:oleObj>
              </mc:Choice>
              <mc:Fallback>
                <p:oleObj name="" r:id="rId5" imgW="1142365" imgH="342900" progId="Equation.DSMT4">
                  <p:embed/>
                  <p:pic>
                    <p:nvPicPr>
                      <p:cNvPr id="0" name="图片 7"/>
                      <p:cNvPicPr/>
                      <p:nvPr/>
                    </p:nvPicPr>
                    <p:blipFill>
                      <a:blip r:embed="rId6"/>
                      <a:stretch>
                        <a:fillRect/>
                      </a:stretch>
                    </p:blipFill>
                    <p:spPr>
                      <a:xfrm>
                        <a:off x="3625850" y="2098040"/>
                        <a:ext cx="1169035" cy="353060"/>
                      </a:xfrm>
                      <a:prstGeom prst="rect">
                        <a:avLst/>
                      </a:prstGeom>
                      <a:noFill/>
                      <a:ln w="9525">
                        <a:noFill/>
                        <a:miter/>
                      </a:ln>
                    </p:spPr>
                  </p:pic>
                </p:oleObj>
              </mc:Fallback>
            </mc:AlternateContent>
          </a:graphicData>
        </a:graphic>
      </p:graphicFrame>
      <p:graphicFrame>
        <p:nvGraphicFramePr>
          <p:cNvPr id="10" name="对象 -2147482501"/>
          <p:cNvGraphicFramePr>
            <a:graphicFrameLocks noChangeAspect="1"/>
          </p:cNvGraphicFramePr>
          <p:nvPr/>
        </p:nvGraphicFramePr>
        <p:xfrm>
          <a:off x="3863975" y="2481580"/>
          <a:ext cx="3291840" cy="333375"/>
        </p:xfrm>
        <a:graphic>
          <a:graphicData uri="http://schemas.openxmlformats.org/presentationml/2006/ole">
            <mc:AlternateContent xmlns:mc="http://schemas.openxmlformats.org/markup-compatibility/2006">
              <mc:Choice xmlns:v="urn:schemas-microsoft-com:vml" Requires="v">
                <p:oleObj spid="_x0000_s7" name="" r:id="rId7" imgW="3389630" imgH="342900" progId="Equation.DSMT4">
                  <p:embed/>
                </p:oleObj>
              </mc:Choice>
              <mc:Fallback>
                <p:oleObj name="" r:id="rId7" imgW="3389630" imgH="342900" progId="Equation.DSMT4">
                  <p:embed/>
                  <p:pic>
                    <p:nvPicPr>
                      <p:cNvPr id="0" name="图片 8"/>
                      <p:cNvPicPr/>
                      <p:nvPr/>
                    </p:nvPicPr>
                    <p:blipFill>
                      <a:blip r:embed="rId8"/>
                      <a:stretch>
                        <a:fillRect/>
                      </a:stretch>
                    </p:blipFill>
                    <p:spPr>
                      <a:xfrm>
                        <a:off x="3863975" y="2481580"/>
                        <a:ext cx="3291840" cy="333375"/>
                      </a:xfrm>
                      <a:prstGeom prst="rect">
                        <a:avLst/>
                      </a:prstGeom>
                      <a:noFill/>
                      <a:ln w="9525">
                        <a:noFill/>
                        <a:miter/>
                      </a:ln>
                    </p:spPr>
                  </p:pic>
                </p:oleObj>
              </mc:Fallback>
            </mc:AlternateContent>
          </a:graphicData>
        </a:graphic>
      </p:graphicFrame>
      <p:graphicFrame>
        <p:nvGraphicFramePr>
          <p:cNvPr id="12" name="对象 -2147482499"/>
          <p:cNvGraphicFramePr>
            <a:graphicFrameLocks noChangeAspect="1"/>
          </p:cNvGraphicFramePr>
          <p:nvPr/>
        </p:nvGraphicFramePr>
        <p:xfrm>
          <a:off x="3863975" y="2990215"/>
          <a:ext cx="3273425" cy="340360"/>
        </p:xfrm>
        <a:graphic>
          <a:graphicData uri="http://schemas.openxmlformats.org/presentationml/2006/ole">
            <mc:AlternateContent xmlns:mc="http://schemas.openxmlformats.org/markup-compatibility/2006">
              <mc:Choice xmlns:v="urn:schemas-microsoft-com:vml" Requires="v">
                <p:oleObj spid="_x0000_s9" name="" r:id="rId9" imgW="3313430" imgH="342900" progId="Equation.DSMT4">
                  <p:embed/>
                </p:oleObj>
              </mc:Choice>
              <mc:Fallback>
                <p:oleObj name="" r:id="rId9" imgW="3313430" imgH="342900" progId="Equation.DSMT4">
                  <p:embed/>
                  <p:pic>
                    <p:nvPicPr>
                      <p:cNvPr id="0" name="图片 9"/>
                      <p:cNvPicPr/>
                      <p:nvPr/>
                    </p:nvPicPr>
                    <p:blipFill>
                      <a:blip r:embed="rId10"/>
                      <a:stretch>
                        <a:fillRect/>
                      </a:stretch>
                    </p:blipFill>
                    <p:spPr>
                      <a:xfrm>
                        <a:off x="3863975" y="2990215"/>
                        <a:ext cx="3273425" cy="340360"/>
                      </a:xfrm>
                      <a:prstGeom prst="rect">
                        <a:avLst/>
                      </a:prstGeom>
                      <a:noFill/>
                      <a:ln w="9525">
                        <a:noFill/>
                        <a:miter/>
                      </a:ln>
                    </p:spPr>
                  </p:pic>
                </p:oleObj>
              </mc:Fallback>
            </mc:AlternateContent>
          </a:graphicData>
        </a:graphic>
      </p:graphicFrame>
      <p:pic>
        <p:nvPicPr>
          <p:cNvPr id="14" name="图片 128"/>
          <p:cNvPicPr>
            <a:picLocks noChangeAspect="1"/>
          </p:cNvPicPr>
          <p:nvPr/>
        </p:nvPicPr>
        <p:blipFill>
          <a:blip r:embed="rId11"/>
          <a:stretch>
            <a:fillRect/>
          </a:stretch>
        </p:blipFill>
        <p:spPr>
          <a:xfrm>
            <a:off x="8034655" y="2481580"/>
            <a:ext cx="3023235" cy="1605280"/>
          </a:xfrm>
          <a:prstGeom prst="rect">
            <a:avLst/>
          </a:prstGeom>
          <a:noFill/>
          <a:ln>
            <a:noFill/>
          </a:ln>
        </p:spPr>
      </p:pic>
      <p:sp>
        <p:nvSpPr>
          <p:cNvPr id="17" name="文本框 16"/>
          <p:cNvSpPr txBox="1"/>
          <p:nvPr/>
        </p:nvSpPr>
        <p:spPr>
          <a:xfrm>
            <a:off x="538480" y="4626610"/>
            <a:ext cx="10179050" cy="1783715"/>
          </a:xfrm>
          <a:prstGeom prst="rect">
            <a:avLst/>
          </a:prstGeom>
          <a:noFill/>
          <a:ln w="9525">
            <a:noFill/>
          </a:ln>
        </p:spPr>
        <p:txBody>
          <a:bodyPr wrap="square">
            <a:spAutoFit/>
          </a:bodyPr>
          <a:lstStyle/>
          <a:p>
            <a:pPr indent="0"/>
            <a:r>
              <a:rPr lang="en-US" altLang="zh-CN" sz="2200" b="1">
                <a:latin typeface="宋体" panose="02010600030101010101" pitchFamily="2" charset="-122"/>
                <a:ea typeface="宋体" panose="02010600030101010101" pitchFamily="2" charset="-122"/>
                <a:cs typeface="宋体" panose="02010600030101010101" pitchFamily="2" charset="-122"/>
              </a:rPr>
              <a:t>    除了提高信道的信息传输量外，识别和纠正在传输过程中的错误信息也是非常重要的。通过发送特殊类型的字符可以识别出错误。如果一个信道解码器识别到了未知码字，它就会纠错或者请求发送器重发，称为自动重传请求ARQ。理论上，一个解码器只能纠正m个错误(取决于码字的大小)。前向纠错可以通过发送n位的信息和r位的控制信息来完成。但是，前向纠错会降低信息的传输速度。</a:t>
            </a:r>
            <a:endParaRPr lang="en-US" altLang="zh-CN" sz="2200" b="1">
              <a:latin typeface="宋体" panose="02010600030101010101" pitchFamily="2" charset="-122"/>
              <a:ea typeface="宋体" panose="02010600030101010101" pitchFamily="2" charset="-122"/>
              <a:cs typeface="宋体" panose="02010600030101010101" pitchFamily="2" charset="-122"/>
            </a:endParaRPr>
          </a:p>
        </p:txBody>
      </p:sp>
      <p:sp>
        <p:nvSpPr>
          <p:cNvPr id="18" name="文本框 17"/>
          <p:cNvSpPr txBox="1"/>
          <p:nvPr/>
        </p:nvSpPr>
        <p:spPr>
          <a:xfrm>
            <a:off x="957580" y="4192905"/>
            <a:ext cx="1868170" cy="429895"/>
          </a:xfrm>
          <a:prstGeom prst="rect">
            <a:avLst/>
          </a:prstGeom>
          <a:noFill/>
        </p:spPr>
        <p:txBody>
          <a:bodyPr wrap="none" rtlCol="0" anchor="t">
            <a:spAutoFit/>
          </a:bodyPr>
          <a:lstStyle/>
          <a:p>
            <a:pPr indent="0">
              <a:buNone/>
            </a:pPr>
            <a:r>
              <a:rPr lang="en-US" altLang="zh-CN" sz="2200" b="1">
                <a:solidFill>
                  <a:srgbClr val="FF0000"/>
                </a:solidFill>
                <a:latin typeface="宋体" panose="02010600030101010101" pitchFamily="2" charset="-122"/>
                <a:ea typeface="宋体" panose="02010600030101010101" pitchFamily="2" charset="-122"/>
                <a:cs typeface="宋体" panose="02010600030101010101" pitchFamily="2" charset="-122"/>
              </a:rPr>
              <a:t>4.检错和纠错</a:t>
            </a:r>
            <a:endParaRPr lang="en-US" altLang="zh-CN" sz="2200" b="1">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19" name="文本框 18"/>
          <p:cNvSpPr txBox="1"/>
          <p:nvPr/>
        </p:nvSpPr>
        <p:spPr>
          <a:xfrm>
            <a:off x="6777990" y="4112895"/>
            <a:ext cx="5080000" cy="337185"/>
          </a:xfrm>
          <a:prstGeom prst="rect">
            <a:avLst/>
          </a:prstGeom>
          <a:noFill/>
          <a:ln w="9525">
            <a:noFill/>
          </a:ln>
        </p:spPr>
        <p:txBody>
          <a:bodyPr>
            <a:spAutoFit/>
          </a:bodyPr>
          <a:lstStyle/>
          <a:p>
            <a:pPr indent="228600" algn="ctr"/>
            <a:r>
              <a:rPr lang="zh-CN" sz="1600" b="0">
                <a:solidFill>
                  <a:srgbClr val="000000"/>
                </a:solidFill>
                <a:ea typeface="宋体" panose="02010600030101010101" pitchFamily="2" charset="-122"/>
              </a:rPr>
              <a:t>图</a:t>
            </a:r>
            <a:r>
              <a:rPr lang="en-US" sz="1600" b="0">
                <a:solidFill>
                  <a:srgbClr val="000000"/>
                </a:solidFill>
                <a:latin typeface="Times New Roman" panose="02020603050405020304" charset="0"/>
                <a:ea typeface="宋体" panose="02010600030101010101" pitchFamily="2" charset="-122"/>
              </a:rPr>
              <a:t>a  </a:t>
            </a:r>
            <a:r>
              <a:rPr lang="zh-CN" sz="1600" b="0">
                <a:solidFill>
                  <a:srgbClr val="000000"/>
                </a:solidFill>
                <a:latin typeface="Times New Roman" panose="02020603050405020304" charset="0"/>
                <a:ea typeface="宋体" panose="02010600030101010101" pitchFamily="2" charset="-122"/>
              </a:rPr>
              <a:t>不相</a:t>
            </a:r>
            <a:r>
              <a:rPr lang="zh-CN" sz="1600" b="0">
                <a:solidFill>
                  <a:srgbClr val="000000"/>
                </a:solidFill>
                <a:ea typeface="宋体" panose="02010600030101010101" pitchFamily="2" charset="-122"/>
              </a:rPr>
              <a:t>关性、疑义度和信息传输量</a:t>
            </a:r>
            <a:endParaRPr lang="zh-CN" altLang="en-US" sz="1600"/>
          </a:p>
        </p:txBody>
      </p:sp>
      <p:sp>
        <p:nvSpPr>
          <p:cNvPr id="13" name="标题 1"/>
          <p:cNvSpPr>
            <a:spLocks noGrp="1"/>
          </p:cNvSpPr>
          <p:nvPr>
            <p:ph type="title"/>
          </p:nvPr>
        </p:nvSpPr>
        <p:spPr>
          <a:xfrm>
            <a:off x="641350" y="-34925"/>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3.3.2.2  信道内的信息传输</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29310" y="1674495"/>
            <a:ext cx="11020425" cy="1802130"/>
          </a:xfrm>
        </p:spPr>
        <p:txBody>
          <a:bodyPr>
            <a:noAutofit/>
          </a:bodyPr>
          <a:lstStyle/>
          <a:p>
            <a:pPr marL="0" indent="0" fontAlgn="auto">
              <a:lnSpc>
                <a:spcPct val="100000"/>
              </a:lnSpc>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信号仅经过调制是不行的，还需要进行扩频。扩频就是将待传输数据进行频谱扩展的技术，其信号所占有的频带宽度远大于所传信息必需的最小带宽。扩频通信是将待传送的信息数据经伪随机编码扩频处理后，再将频谱扩展了的宽带信号在信道上进行传输；接收端则采用相同的编码序列进行解调及相关处理，恢复出原始信息数据。典型的扩频收发机结构如图a所示。</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494"/>
          <p:cNvGraphicFramePr>
            <a:graphicFrameLocks noChangeAspect="1"/>
          </p:cNvGraphicFramePr>
          <p:nvPr/>
        </p:nvGraphicFramePr>
        <p:xfrm>
          <a:off x="1987550" y="3518535"/>
          <a:ext cx="8432165" cy="1767205"/>
        </p:xfrm>
        <a:graphic>
          <a:graphicData uri="http://schemas.openxmlformats.org/presentationml/2006/ole">
            <mc:AlternateContent xmlns:mc="http://schemas.openxmlformats.org/markup-compatibility/2006">
              <mc:Choice xmlns:v="urn:schemas-microsoft-com:vml" Requires="v">
                <p:oleObj spid="_x0000_s24775" name="" r:id="rId1" imgW="12153900" imgH="2552700" progId="Visio.Drawing.15">
                  <p:embed/>
                </p:oleObj>
              </mc:Choice>
              <mc:Fallback>
                <p:oleObj name="" r:id="rId1" imgW="12153900" imgH="2552700" progId="Visio.Drawing.15">
                  <p:embed/>
                  <p:pic>
                    <p:nvPicPr>
                      <p:cNvPr id="0" name="图片 3075"/>
                      <p:cNvPicPr/>
                      <p:nvPr/>
                    </p:nvPicPr>
                    <p:blipFill>
                      <a:blip r:embed="rId2"/>
                      <a:stretch>
                        <a:fillRect/>
                      </a:stretch>
                    </p:blipFill>
                    <p:spPr>
                      <a:xfrm>
                        <a:off x="1987550" y="3518535"/>
                        <a:ext cx="8432165" cy="1767205"/>
                      </a:xfrm>
                      <a:prstGeom prst="rect">
                        <a:avLst/>
                      </a:prstGeom>
                      <a:noFill/>
                      <a:ln w="9525">
                        <a:noFill/>
                        <a:miter/>
                      </a:ln>
                    </p:spPr>
                  </p:pic>
                </p:oleObj>
              </mc:Fallback>
            </mc:AlternateContent>
          </a:graphicData>
        </a:graphic>
      </p:graphicFrame>
      <p:sp>
        <p:nvSpPr>
          <p:cNvPr id="108" name="文本框 107"/>
          <p:cNvSpPr txBox="1"/>
          <p:nvPr/>
        </p:nvSpPr>
        <p:spPr>
          <a:xfrm>
            <a:off x="4351655" y="5285740"/>
            <a:ext cx="2741295" cy="337185"/>
          </a:xfrm>
          <a:prstGeom prst="rect">
            <a:avLst/>
          </a:prstGeom>
          <a:noFill/>
          <a:ln w="9525">
            <a:noFill/>
          </a:ln>
        </p:spPr>
        <p:txBody>
          <a:bodyPr wrap="square">
            <a:spAutoFit/>
          </a:bodyPr>
          <a:lstStyle/>
          <a:p>
            <a:pPr indent="0"/>
            <a:r>
              <a:rPr lang="zh-CN" sz="1600" b="0">
                <a:ea typeface="宋体" panose="02010600030101010101" pitchFamily="2" charset="-122"/>
              </a:rPr>
              <a:t>图</a:t>
            </a:r>
            <a:r>
              <a:rPr lang="en-US" sz="1600" b="0">
                <a:latin typeface="Times New Roman" panose="02020603050405020304" charset="0"/>
                <a:ea typeface="宋体" panose="02010600030101010101" pitchFamily="2" charset="-122"/>
              </a:rPr>
              <a:t>a </a:t>
            </a:r>
            <a:r>
              <a:rPr lang="zh-CN" sz="1600" b="0">
                <a:ea typeface="宋体" panose="02010600030101010101" pitchFamily="2" charset="-122"/>
              </a:rPr>
              <a:t>扩频收发机结构图</a:t>
            </a:r>
            <a:endParaRPr lang="zh-CN" altLang="en-US" sz="1600"/>
          </a:p>
        </p:txBody>
      </p:sp>
      <p:sp>
        <p:nvSpPr>
          <p:cNvPr id="31" name="文本框 30"/>
          <p:cNvSpPr txBox="1"/>
          <p:nvPr/>
        </p:nvSpPr>
        <p:spPr>
          <a:xfrm>
            <a:off x="339725" y="5622925"/>
            <a:ext cx="11113770" cy="1106805"/>
          </a:xfrm>
          <a:prstGeom prst="rect">
            <a:avLst/>
          </a:prstGeom>
          <a:noFill/>
          <a:ln w="9525">
            <a:noFill/>
          </a:ln>
        </p:spPr>
        <p:txBody>
          <a:bodyPr wrap="square">
            <a:spAutoFit/>
          </a:bodyPr>
          <a:lstStyle/>
          <a:p>
            <a:pPr indent="0"/>
            <a:r>
              <a:rPr lang="en-US" altLang="zh-CN" sz="2200" b="1">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扩频通信的理论基础是从信息论和抗干扰理论的基本公式中引申而来的，如信息论中的香农公式。在给定的传输速率C不变的条件下，频带宽度B和信噪比（S/N）是可以互换的，即通过增加频带宽度的方法，在较低的信噪比下传输信息</a:t>
            </a:r>
            <a:r>
              <a:rPr lang="zh-CN" altLang="en-US"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a:t>
            </a:r>
            <a:endParaRPr lang="zh-CN" altLang="en-US"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7"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3.3.3  扩频通信</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28675" y="2875915"/>
            <a:ext cx="11020425" cy="2522220"/>
          </a:xfrm>
        </p:spPr>
        <p:txBody>
          <a:bodyPr>
            <a:noAutofit/>
          </a:bodyPr>
          <a:lstStyle/>
          <a:p>
            <a:pPr marL="0" indent="0" fontAlgn="auto">
              <a:lnSpc>
                <a:spcPct val="100000"/>
              </a:lnSpc>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扩频通信相比于窄带通信方式，主要特点包括以下两点：</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（1）信息的频谱在扩展后形成宽带进行传输。</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（2）信息的频谱经过相关处理后恢复成窄带信息数据。</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由于这两大特点，使扩频通信具有以下优点：</a:t>
            </a:r>
            <a:r>
              <a:rPr lang="en-US" altLang="zh-CN" sz="2200" b="1">
                <a:solidFill>
                  <a:srgbClr val="FF0000"/>
                </a:solidFill>
                <a:uFillTx/>
                <a:latin typeface="宋体" panose="02010600030101010101" pitchFamily="2" charset="-122"/>
                <a:ea typeface="宋体" panose="02010600030101010101" pitchFamily="2" charset="-122"/>
                <a:cs typeface="宋体" panose="02010600030101010101" pitchFamily="2" charset="-122"/>
              </a:rPr>
              <a:t>抗干扰、抗噪声、抗多径干扰、保密性好、功率谱密度低、具有隐藏性和低的截获概率、可多址复用和任意选址以及易于高精度测量等。</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    按照扩展频谱的方式不同，现有的扩频通信系统可以分为以下几类，直接序列扩频和跳频扩频是使用最广的两种方式。</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p:txBody>
      </p:sp>
      <p:sp>
        <p:nvSpPr>
          <p:cNvPr id="7" name="标题 1"/>
          <p:cNvSpPr>
            <a:spLocks noGrp="1"/>
          </p:cNvSpPr>
          <p:nvPr>
            <p:ph type="title"/>
          </p:nvPr>
        </p:nvSpPr>
        <p:spPr>
          <a:xfrm>
            <a:off x="641350" y="11049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3.3.3  扩频通信</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776605" y="3709035"/>
            <a:ext cx="11020425" cy="2522220"/>
          </a:xfrm>
        </p:spPr>
        <p:txBody>
          <a:bodyPr>
            <a:noAutofit/>
          </a:bodyPr>
          <a:lstStyle/>
          <a:p>
            <a:pPr marL="0" indent="0" fontAlgn="auto">
              <a:lnSpc>
                <a:spcPct val="100000"/>
              </a:lnSpc>
              <a:buNone/>
            </a:pPr>
            <a:r>
              <a:rPr lang="en-US" altLang="zh-CN" sz="2200" b="1">
                <a:solidFill>
                  <a:schemeClr val="accent1">
                    <a:lumMod val="75000"/>
                  </a:schemeClr>
                </a:solidFill>
                <a:uFillTx/>
                <a:latin typeface="宋体" panose="02010600030101010101" pitchFamily="2" charset="-122"/>
                <a:ea typeface="宋体" panose="02010600030101010101" pitchFamily="2" charset="-122"/>
                <a:cs typeface="宋体" panose="02010600030101010101" pitchFamily="2" charset="-122"/>
              </a:rPr>
              <a:t> </a:t>
            </a:r>
            <a:r>
              <a:rPr lang="en-US" altLang="zh-CN" sz="2200" b="1">
                <a:uFillTx/>
                <a:latin typeface="宋体" panose="02010600030101010101" pitchFamily="2" charset="-122"/>
                <a:ea typeface="宋体" panose="02010600030101010101" pitchFamily="2" charset="-122"/>
                <a:cs typeface="宋体" panose="02010600030101010101" pitchFamily="2" charset="-122"/>
              </a:rPr>
              <a:t>（1）直接序列扩频(Direct Sequence Spread Spectrum, DSSS)工作方式，简称直扩(DS)方式。</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（2）跳变频率(Frequency Hopping Spread Spectrum, FHSS)工作方式，简称跳频(FH)方式。</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（3）跳变时间(Time Hopping Spread Spectrum, THSS)工作方式，简称跳时(TH)方式。</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（4）宽带线性调频(Chirp Modulation Spread Spectrum, Chirp-SS)工作方式，简称Chip方式。</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（5）混合方式，即在几种基本扩频方式的基础上组合起来构成各种混合方式，如DS/FH、DS/TH、DS/FH/TH。</a:t>
            </a:r>
            <a:endParaRPr lang="en-US" altLang="zh-CN" sz="2200" b="1">
              <a:uFillTx/>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en-US" altLang="zh-CN" sz="2200" b="1">
                <a:uFillTx/>
                <a:latin typeface="宋体" panose="02010600030101010101" pitchFamily="2" charset="-122"/>
                <a:ea typeface="宋体" panose="02010600030101010101" pitchFamily="2" charset="-122"/>
                <a:cs typeface="宋体" panose="02010600030101010101" pitchFamily="2" charset="-122"/>
              </a:rPr>
              <a:t>    </a:t>
            </a:r>
            <a:r>
              <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rPr>
              <a:t>扩频技术的优点在于易于重复使用频率，提高了无线频谱利用率；抗干扰性强；隐蔽性好，对各种窄带通信系统的干扰很小；可以实现码分多址；抗多径干扰；能精确地定时和测距；适合数字语音和数据传输，以及开展多种通信业务；安装简便，易于维护。</a:t>
            </a:r>
            <a:endParaRPr lang="en-US" altLang="zh-CN" sz="2200" b="1">
              <a:solidFill>
                <a:srgbClr val="00B0F0"/>
              </a:solidFill>
              <a:uFillTx/>
              <a:latin typeface="宋体" panose="02010600030101010101" pitchFamily="2" charset="-122"/>
              <a:ea typeface="宋体" panose="02010600030101010101" pitchFamily="2" charset="-122"/>
              <a:cs typeface="宋体" panose="02010600030101010101" pitchFamily="2" charset="-122"/>
            </a:endParaRPr>
          </a:p>
        </p:txBody>
      </p:sp>
      <p:sp>
        <p:nvSpPr>
          <p:cNvPr id="7"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a:solidFill>
                  <a:srgbClr val="0563C1"/>
                </a:solidFill>
                <a:latin typeface="Times New Roman" panose="02020603050405020304" charset="0"/>
                <a:ea typeface="宋体" panose="02010600030101010101" pitchFamily="2" charset="-122"/>
              </a:rPr>
              <a:t>3.3.3  扩频通信</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7550" y="0"/>
            <a:ext cx="7310755" cy="1325880"/>
          </a:xfrm>
        </p:spPr>
        <p:txBody>
          <a:bodyPr/>
          <a:lstStyle/>
          <a:p>
            <a:pPr algn="l">
              <a:buClrTx/>
              <a:buSzTx/>
              <a:buFontTx/>
            </a:pPr>
            <a:r>
              <a:rPr lang="en-US" b="1" u="sng" dirty="0">
                <a:solidFill>
                  <a:srgbClr val="0563C1"/>
                </a:solidFill>
                <a:uFillTx/>
                <a:latin typeface="Times New Roman" panose="02020603050405020304" charset="0"/>
                <a:ea typeface="宋体" panose="02010600030101010101" pitchFamily="2" charset="-122"/>
              </a:rPr>
              <a:t>3.4  </a:t>
            </a:r>
            <a:r>
              <a:rPr lang="en-US" b="1" u="sng" dirty="0" err="1">
                <a:solidFill>
                  <a:srgbClr val="0563C1"/>
                </a:solidFill>
                <a:uFillTx/>
                <a:latin typeface="Times New Roman" panose="02020603050405020304" charset="0"/>
                <a:ea typeface="宋体" panose="02010600030101010101" pitchFamily="2" charset="-122"/>
              </a:rPr>
              <a:t>天线</a:t>
            </a:r>
            <a:endParaRPr lang="en-US" b="1" u="sng" dirty="0">
              <a:solidFill>
                <a:srgbClr val="0563C1"/>
              </a:solidFill>
              <a:uFillTx/>
              <a:latin typeface="Times New Roman" panose="02020603050405020304" charset="0"/>
              <a:ea typeface="宋体" panose="02010600030101010101" pitchFamily="2" charset="-122"/>
            </a:endParaRPr>
          </a:p>
        </p:txBody>
      </p:sp>
      <p:sp>
        <p:nvSpPr>
          <p:cNvPr id="7" name="文本框 6"/>
          <p:cNvSpPr txBox="1"/>
          <p:nvPr/>
        </p:nvSpPr>
        <p:spPr>
          <a:xfrm>
            <a:off x="717550" y="1222252"/>
            <a:ext cx="10909300" cy="2122805"/>
          </a:xfrm>
          <a:prstGeom prst="rect">
            <a:avLst/>
          </a:prstGeom>
          <a:noFill/>
          <a:ln w="9525">
            <a:noFill/>
          </a:ln>
        </p:spPr>
        <p:txBody>
          <a:bodyPr wrap="square">
            <a:spAutoFit/>
          </a:bodyPr>
          <a:lstStyle/>
          <a:p>
            <a:pPr>
              <a:spcBef>
                <a:spcPts val="1000"/>
              </a:spcBef>
            </a:pPr>
            <a:r>
              <a:rPr lang="zh-CN" altLang="zh-CN" sz="2200" b="1" kern="100" dirty="0">
                <a:latin typeface="Times New Roman" panose="02020603050405020304" charset="0"/>
                <a:ea typeface="宋体" panose="02010600030101010101" pitchFamily="2" charset="-122"/>
              </a:rPr>
              <a:t>天线是发送和接收电磁波的通信组件，是一种能量转换器</a:t>
            </a:r>
            <a:r>
              <a:rPr lang="en-US" altLang="zh-CN" sz="2200" b="1" kern="100" dirty="0">
                <a:latin typeface="Times New Roman" panose="02020603050405020304" charset="0"/>
                <a:ea typeface="宋体" panose="02010600030101010101" pitchFamily="2" charset="-122"/>
              </a:rPr>
              <a:t>(</a:t>
            </a:r>
            <a:r>
              <a:rPr lang="en-US" altLang="zh-CN" sz="2200" b="1" kern="100" dirty="0">
                <a:solidFill>
                  <a:srgbClr val="000000"/>
                </a:solidFill>
                <a:latin typeface="Times New Roman" panose="02020603050405020304" charset="0"/>
                <a:ea typeface="宋体" panose="02010600030101010101" pitchFamily="2" charset="-122"/>
              </a:rPr>
              <a:t>transducer</a:t>
            </a:r>
            <a:r>
              <a:rPr lang="en-US" altLang="zh-CN" sz="2200" b="1" kern="100" dirty="0">
                <a:latin typeface="Times New Roman" panose="02020603050405020304" charset="0"/>
                <a:ea typeface="宋体" panose="02010600030101010101" pitchFamily="2" charset="-122"/>
              </a:rPr>
              <a:t>)</a:t>
            </a:r>
            <a:r>
              <a:rPr lang="zh-CN" altLang="zh-CN" sz="2200" b="1" kern="100" dirty="0">
                <a:latin typeface="Times New Roman" panose="02020603050405020304" charset="0"/>
                <a:ea typeface="宋体" panose="02010600030101010101" pitchFamily="2" charset="-122"/>
              </a:rPr>
              <a:t>。天线是双向的：发送时，发射机产生的高频振荡能量，经过发射天线变为带有能量的电磁波，并向预定方向辐射，通过介质传播到达接收天线；接收时，接收天线将接收到的电磁波能量变为高频振荡能量送入接收机，完成无线电波传输的全过程。天线系统的发送和接收过程如图</a:t>
            </a:r>
            <a:r>
              <a:rPr lang="en-US" altLang="zh-CN" sz="2200" b="1" kern="100" dirty="0">
                <a:latin typeface="Times New Roman" panose="02020603050405020304" charset="0"/>
                <a:ea typeface="宋体" panose="02010600030101010101" pitchFamily="2" charset="-122"/>
              </a:rPr>
              <a:t>3-4-1</a:t>
            </a:r>
            <a:r>
              <a:rPr lang="zh-CN" altLang="zh-CN" sz="2200" b="1" kern="100" dirty="0">
                <a:latin typeface="Times New Roman" panose="02020603050405020304" charset="0"/>
                <a:ea typeface="宋体" panose="02010600030101010101" pitchFamily="2" charset="-122"/>
              </a:rPr>
              <a:t>所示。天线作为数据出入无线设备的通道，在传感器网络的通信过程中起着重要作用，天线及其相关电路往往也是影响整个节点能否高度集成的重要因素。</a:t>
            </a:r>
            <a:endParaRPr lang="en-US" altLang="zh-CN" sz="2000" dirty="0">
              <a:latin typeface="Times New Roman" panose="02020603050405020304" charset="0"/>
              <a:ea typeface="宋体" panose="02010600030101010101" pitchFamily="2" charset="-122"/>
              <a:cs typeface="Times New Roman" panose="02020603050405020304" charset="0"/>
            </a:endParaRPr>
          </a:p>
        </p:txBody>
      </p:sp>
      <p:pic>
        <p:nvPicPr>
          <p:cNvPr id="108" name="图片 107"/>
          <p:cNvPicPr/>
          <p:nvPr/>
        </p:nvPicPr>
        <p:blipFill>
          <a:blip r:embed="rId1"/>
          <a:stretch>
            <a:fillRect/>
          </a:stretch>
        </p:blipFill>
        <p:spPr>
          <a:xfrm>
            <a:off x="1630045" y="3345180"/>
            <a:ext cx="9084945" cy="2103755"/>
          </a:xfrm>
          <a:prstGeom prst="rect">
            <a:avLst/>
          </a:prstGeom>
          <a:noFill/>
          <a:ln w="9525">
            <a:noFill/>
          </a:ln>
        </p:spPr>
      </p:pic>
      <p:sp>
        <p:nvSpPr>
          <p:cNvPr id="3" name="文本框 2"/>
          <p:cNvSpPr txBox="1"/>
          <p:nvPr/>
        </p:nvSpPr>
        <p:spPr>
          <a:xfrm>
            <a:off x="5107940" y="5557520"/>
            <a:ext cx="2129790" cy="398780"/>
          </a:xfrm>
          <a:prstGeom prst="rect">
            <a:avLst/>
          </a:prstGeom>
          <a:noFill/>
        </p:spPr>
        <p:txBody>
          <a:bodyPr wrap="none" rtlCol="0">
            <a:spAutoFit/>
          </a:bodyPr>
          <a:p>
            <a:pPr algn="l"/>
            <a:r>
              <a:rPr lang="zh-CN" altLang="zh-CN" sz="2000" kern="100" dirty="0">
                <a:latin typeface="Times New Roman" panose="02020603050405020304" charset="0"/>
                <a:ea typeface="宋体" panose="02010600030101010101" pitchFamily="2" charset="-122"/>
                <a:cs typeface="Times New Roman" panose="02020603050405020304" charset="0"/>
                <a:sym typeface="+mn-ea"/>
              </a:rPr>
              <a:t>图</a:t>
            </a:r>
            <a:r>
              <a:rPr lang="en-US" altLang="zh-CN" sz="2000" kern="100" dirty="0">
                <a:latin typeface="Times New Roman" panose="02020603050405020304" charset="0"/>
                <a:ea typeface="宋体" panose="02010600030101010101" pitchFamily="2" charset="-122"/>
                <a:cs typeface="Times New Roman" panose="02020603050405020304" charset="0"/>
                <a:sym typeface="+mn-ea"/>
              </a:rPr>
              <a:t>3-4-1  </a:t>
            </a:r>
            <a:r>
              <a:rPr lang="zh-CN" altLang="zh-CN" sz="2000" kern="100" dirty="0">
                <a:latin typeface="Times New Roman" panose="02020603050405020304" charset="0"/>
                <a:ea typeface="宋体" panose="02010600030101010101" pitchFamily="2" charset="-122"/>
                <a:cs typeface="Times New Roman" panose="02020603050405020304" charset="0"/>
                <a:sym typeface="+mn-ea"/>
              </a:rPr>
              <a:t>天线系统</a:t>
            </a:r>
            <a:endParaRPr lang="en-US" altLang="zh-CN" sz="20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86765" y="1531620"/>
            <a:ext cx="10909300" cy="4585871"/>
          </a:xfrm>
          <a:prstGeom prst="rect">
            <a:avLst/>
          </a:prstGeom>
          <a:noFill/>
          <a:ln w="9525">
            <a:noFill/>
          </a:ln>
        </p:spPr>
        <p:txBody>
          <a:bodyPr wrap="square">
            <a:spAutoFit/>
          </a:bodyPr>
          <a:lstStyle/>
          <a:p>
            <a:pPr>
              <a:spcBef>
                <a:spcPts val="1000"/>
              </a:spcBef>
            </a:pPr>
            <a:r>
              <a:rPr lang="zh-CN" altLang="zh-CN" sz="2200" b="1" kern="100" dirty="0">
                <a:effectLst/>
                <a:latin typeface="Times New Roman" panose="02020603050405020304" charset="0"/>
                <a:ea typeface="宋体" panose="02010600030101010101" pitchFamily="2" charset="-122"/>
                <a:cs typeface="Times New Roman" panose="02020603050405020304" charset="0"/>
              </a:rPr>
              <a:t>天线的性能会对通信设备的无线通信能力、组网模式等产生重要的影响。一般来说，传感器网络对天线有以下要求：</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对于尺寸有一定的限制，并要符合极化要求；</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实现输入阻抗匹配要求，及信道频带宽度要求；</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优化传输性能和辐射效率，实现节能、高效；</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满足低成本、可靠工作等要求。</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a:spcBef>
                <a:spcPts val="1000"/>
              </a:spcBef>
            </a:pPr>
            <a:endParaRPr lang="en-US" altLang="zh-CN" sz="2200" b="1" dirty="0">
              <a:latin typeface="Times New Roman" panose="02020603050405020304" charset="0"/>
              <a:ea typeface="宋体" panose="02010600030101010101" pitchFamily="2" charset="-122"/>
              <a:cs typeface="Times New Roman" panose="02020603050405020304" charset="0"/>
            </a:endParaRPr>
          </a:p>
          <a:p>
            <a:pPr>
              <a:spcBef>
                <a:spcPts val="1000"/>
              </a:spcBef>
            </a:pPr>
            <a:r>
              <a:rPr lang="zh-CN" altLang="zh-CN" sz="2200" b="1" kern="100" dirty="0">
                <a:effectLst/>
                <a:latin typeface="Times New Roman" panose="02020603050405020304" charset="0"/>
                <a:ea typeface="宋体" panose="02010600030101010101" pitchFamily="2" charset="-122"/>
                <a:cs typeface="Times New Roman" panose="02020603050405020304" charset="0"/>
              </a:rPr>
              <a:t>天线是一种无源器件，本身并没有增加所辐射信号的能量，只是通过天线振子的组合改变其馈电方式。全向天线是将能量按照</a:t>
            </a:r>
            <a:r>
              <a:rPr lang="en-US" altLang="zh-CN" sz="2200" b="1" kern="100" dirty="0">
                <a:effectLst/>
                <a:latin typeface="Times New Roman" panose="02020603050405020304" charset="0"/>
                <a:ea typeface="宋体" panose="02010600030101010101" pitchFamily="2" charset="-122"/>
                <a:cs typeface="Times New Roman" panose="02020603050405020304" charset="0"/>
              </a:rPr>
              <a:t>360</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°的水平辐射模式均匀辐射出去，便于安装和管理。定向天线是将能量集中到某一特定方向上，相应地在其他方向上减小能量强度，大大节省能量在无效方向上的损耗，适合于远距离定向通信。</a:t>
            </a:r>
            <a:endParaRPr lang="en-US" altLang="zh-CN" sz="2200" b="1" dirty="0">
              <a:latin typeface="Times New Roman" panose="02020603050405020304" charset="0"/>
              <a:ea typeface="宋体" panose="02010600030101010101" pitchFamily="2" charset="-122"/>
              <a:cs typeface="Times New Roman" panose="02020603050405020304" charset="0"/>
            </a:endParaRPr>
          </a:p>
        </p:txBody>
      </p:sp>
      <p:sp>
        <p:nvSpPr>
          <p:cNvPr id="2" name="标题 1"/>
          <p:cNvSpPr>
            <a:spLocks noGrp="1"/>
          </p:cNvSpPr>
          <p:nvPr>
            <p:ph type="title"/>
          </p:nvPr>
        </p:nvSpPr>
        <p:spPr>
          <a:xfrm>
            <a:off x="717550" y="0"/>
            <a:ext cx="7310755" cy="1325880"/>
          </a:xfrm>
        </p:spPr>
        <p:txBody>
          <a:bodyPr/>
          <a:p>
            <a:pPr algn="l">
              <a:buClrTx/>
              <a:buSzTx/>
              <a:buFontTx/>
            </a:pPr>
            <a:r>
              <a:rPr lang="en-US" b="1" u="sng" dirty="0">
                <a:solidFill>
                  <a:srgbClr val="0563C1"/>
                </a:solidFill>
                <a:uFillTx/>
                <a:latin typeface="Times New Roman" panose="02020603050405020304" charset="0"/>
                <a:ea typeface="宋体" panose="02010600030101010101" pitchFamily="2" charset="-122"/>
              </a:rPr>
              <a:t>3.4  </a:t>
            </a:r>
            <a:r>
              <a:rPr lang="en-US" b="1" u="sng" dirty="0" err="1">
                <a:solidFill>
                  <a:srgbClr val="0563C1"/>
                </a:solidFill>
                <a:uFillTx/>
                <a:latin typeface="Times New Roman" panose="02020603050405020304" charset="0"/>
                <a:ea typeface="宋体" panose="02010600030101010101" pitchFamily="2" charset="-122"/>
              </a:rPr>
              <a:t>天线</a:t>
            </a:r>
            <a:endParaRPr lang="en-US" b="1" u="sng" dirty="0">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00405" y="2367280"/>
            <a:ext cx="10909300" cy="2123658"/>
          </a:xfrm>
          <a:prstGeom prst="rect">
            <a:avLst/>
          </a:prstGeom>
          <a:noFill/>
          <a:ln w="9525">
            <a:noFill/>
          </a:ln>
        </p:spPr>
        <p:txBody>
          <a:bodyPr wrap="square">
            <a:spAutoFit/>
          </a:bodyPr>
          <a:lstStyle/>
          <a:p>
            <a:pPr indent="266700" algn="just"/>
            <a:r>
              <a:rPr lang="zh-CN" altLang="zh-CN" sz="2200" b="1" kern="100" dirty="0">
                <a:effectLst/>
                <a:latin typeface="Times New Roman" panose="02020603050405020304" charset="0"/>
                <a:ea typeface="宋体" panose="02010600030101010101" pitchFamily="2" charset="-122"/>
              </a:rPr>
              <a:t>一般情况下，传感器网络难以利用高增益的定向天线，因为定向天线需要特殊的对准而不易实施。传感器网络首选全向天线，使得节点在各个方向上进行有效的通信。传感器网络所用的天线在体积、能耗效率、成本方面有一定的限制。常用的线状天线包括单极（</a:t>
            </a:r>
            <a:r>
              <a:rPr lang="en-US" altLang="zh-CN" sz="2200" b="1" kern="100" dirty="0">
                <a:effectLst/>
                <a:latin typeface="Times New Roman" panose="02020603050405020304" charset="0"/>
                <a:ea typeface="宋体" panose="02010600030101010101" pitchFamily="2" charset="-122"/>
              </a:rPr>
              <a:t>monopole</a:t>
            </a:r>
            <a:r>
              <a:rPr lang="zh-CN" altLang="zh-CN" sz="2200" b="1" kern="100" dirty="0">
                <a:effectLst/>
                <a:latin typeface="Times New Roman" panose="02020603050405020304" charset="0"/>
                <a:ea typeface="宋体" panose="02010600030101010101" pitchFamily="2" charset="-122"/>
              </a:rPr>
              <a:t>）天线、偶极（</a:t>
            </a:r>
            <a:r>
              <a:rPr lang="en-US" altLang="zh-CN" sz="2200" b="1" kern="100" dirty="0">
                <a:effectLst/>
                <a:latin typeface="Times New Roman" panose="02020603050405020304" charset="0"/>
                <a:ea typeface="宋体" panose="02010600030101010101" pitchFamily="2" charset="-122"/>
              </a:rPr>
              <a:t>dipole</a:t>
            </a:r>
            <a:r>
              <a:rPr lang="zh-CN" altLang="zh-CN" sz="2200" b="1" kern="100" dirty="0">
                <a:effectLst/>
                <a:latin typeface="Times New Roman" panose="02020603050405020304" charset="0"/>
                <a:ea typeface="宋体" panose="02010600030101010101" pitchFamily="2" charset="-122"/>
              </a:rPr>
              <a:t>）天线、环形（</a:t>
            </a:r>
            <a:r>
              <a:rPr lang="en-US" altLang="zh-CN" sz="2200" b="1" kern="100" dirty="0">
                <a:effectLst/>
                <a:latin typeface="Times New Roman" panose="02020603050405020304" charset="0"/>
                <a:ea typeface="宋体" panose="02010600030101010101" pitchFamily="2" charset="-122"/>
              </a:rPr>
              <a:t>loop</a:t>
            </a:r>
            <a:r>
              <a:rPr lang="zh-CN" altLang="zh-CN" sz="2200" b="1" kern="100" dirty="0">
                <a:effectLst/>
                <a:latin typeface="Times New Roman" panose="02020603050405020304" charset="0"/>
                <a:ea typeface="宋体" panose="02010600030101010101" pitchFamily="2" charset="-122"/>
              </a:rPr>
              <a:t>）天线、鞭状（</a:t>
            </a:r>
            <a:r>
              <a:rPr lang="en-US" altLang="zh-CN" sz="2200" b="1" kern="100" dirty="0">
                <a:effectLst/>
                <a:latin typeface="Times New Roman" panose="02020603050405020304" charset="0"/>
                <a:ea typeface="宋体" panose="02010600030101010101" pitchFamily="2" charset="-122"/>
              </a:rPr>
              <a:t>whip</a:t>
            </a:r>
            <a:r>
              <a:rPr lang="zh-CN" altLang="zh-CN" sz="2200" b="1" kern="100" dirty="0">
                <a:effectLst/>
                <a:latin typeface="Times New Roman" panose="02020603050405020304" charset="0"/>
                <a:ea typeface="宋体" panose="02010600030101010101" pitchFamily="2" charset="-122"/>
              </a:rPr>
              <a:t>）天线、螺旋状（</a:t>
            </a:r>
            <a:r>
              <a:rPr lang="en-US" altLang="zh-CN" sz="2200" b="1" kern="100" dirty="0">
                <a:effectLst/>
                <a:latin typeface="Times New Roman" panose="02020603050405020304" charset="0"/>
                <a:ea typeface="宋体" panose="02010600030101010101" pitchFamily="2" charset="-122"/>
              </a:rPr>
              <a:t>helix</a:t>
            </a:r>
            <a:r>
              <a:rPr lang="zh-CN" altLang="zh-CN" sz="2200" b="1" kern="100" dirty="0">
                <a:effectLst/>
                <a:latin typeface="Times New Roman" panose="02020603050405020304" charset="0"/>
                <a:ea typeface="宋体" panose="02010600030101010101" pitchFamily="2" charset="-122"/>
              </a:rPr>
              <a:t>）天线等。其他常用的还有槽状（</a:t>
            </a:r>
            <a:r>
              <a:rPr lang="en-US" altLang="zh-CN" sz="2200" b="1" kern="100" dirty="0">
                <a:effectLst/>
                <a:latin typeface="Times New Roman" panose="02020603050405020304" charset="0"/>
                <a:ea typeface="宋体" panose="02010600030101010101" pitchFamily="2" charset="-122"/>
              </a:rPr>
              <a:t>slot</a:t>
            </a:r>
            <a:r>
              <a:rPr lang="zh-CN" altLang="zh-CN" sz="2200" b="1" kern="100" dirty="0">
                <a:effectLst/>
                <a:latin typeface="Times New Roman" panose="02020603050405020304" charset="0"/>
                <a:ea typeface="宋体" panose="02010600030101010101" pitchFamily="2" charset="-122"/>
              </a:rPr>
              <a:t>）天线、微带（</a:t>
            </a:r>
            <a:r>
              <a:rPr lang="en-US" altLang="zh-CN" sz="2200" b="1" kern="100" dirty="0">
                <a:effectLst/>
                <a:latin typeface="Times New Roman" panose="02020603050405020304" charset="0"/>
                <a:ea typeface="宋体" panose="02010600030101010101" pitchFamily="2" charset="-122"/>
              </a:rPr>
              <a:t>microstrip</a:t>
            </a:r>
            <a:r>
              <a:rPr lang="zh-CN" altLang="zh-CN" sz="2200" b="1" kern="100" dirty="0">
                <a:effectLst/>
                <a:latin typeface="Times New Roman" panose="02020603050405020304" charset="0"/>
                <a:ea typeface="宋体" panose="02010600030101010101" pitchFamily="2" charset="-122"/>
              </a:rPr>
              <a:t>）天线等。表</a:t>
            </a:r>
            <a:r>
              <a:rPr lang="en-US" altLang="zh-CN" sz="2200" b="1" kern="100" dirty="0">
                <a:effectLst/>
                <a:latin typeface="Times New Roman" panose="02020603050405020304" charset="0"/>
                <a:ea typeface="宋体" panose="02010600030101010101" pitchFamily="2" charset="-122"/>
              </a:rPr>
              <a:t>3-4-1</a:t>
            </a:r>
            <a:r>
              <a:rPr lang="zh-CN" altLang="zh-CN" sz="2200" b="1" kern="100" dirty="0">
                <a:effectLst/>
                <a:latin typeface="Times New Roman" panose="02020603050405020304" charset="0"/>
                <a:ea typeface="宋体" panose="02010600030101010101" pitchFamily="2" charset="-122"/>
              </a:rPr>
              <a:t>分析了</a:t>
            </a:r>
            <a:r>
              <a:rPr lang="en-US" altLang="zh-CN" sz="2200" b="1" kern="100" dirty="0">
                <a:effectLst/>
                <a:latin typeface="Times New Roman" panose="02020603050405020304" charset="0"/>
                <a:ea typeface="宋体" panose="02010600030101010101" pitchFamily="2" charset="-122"/>
              </a:rPr>
              <a:t>PCB</a:t>
            </a:r>
            <a:r>
              <a:rPr lang="zh-CN" altLang="zh-CN" sz="2200" b="1" kern="100" dirty="0">
                <a:effectLst/>
                <a:latin typeface="Times New Roman" panose="02020603050405020304" charset="0"/>
                <a:ea typeface="宋体" panose="02010600030101010101" pitchFamily="2" charset="-122"/>
              </a:rPr>
              <a:t>天线、线型天线、芯片天线等常用天线的特性。</a:t>
            </a:r>
            <a:endParaRPr lang="zh-CN" altLang="zh-CN" sz="2200" b="1" kern="100" dirty="0">
              <a:effectLst/>
              <a:latin typeface="Times New Roman" panose="02020603050405020304" charset="0"/>
              <a:ea typeface="宋体" panose="02010600030101010101" pitchFamily="2" charset="-122"/>
            </a:endParaRPr>
          </a:p>
        </p:txBody>
      </p:sp>
      <p:sp>
        <p:nvSpPr>
          <p:cNvPr id="2" name="标题 1"/>
          <p:cNvSpPr>
            <a:spLocks noGrp="1"/>
          </p:cNvSpPr>
          <p:nvPr>
            <p:ph type="title"/>
          </p:nvPr>
        </p:nvSpPr>
        <p:spPr>
          <a:xfrm>
            <a:off x="717550" y="0"/>
            <a:ext cx="7310755" cy="1325880"/>
          </a:xfrm>
        </p:spPr>
        <p:txBody>
          <a:bodyPr/>
          <a:p>
            <a:pPr algn="l">
              <a:buClrTx/>
              <a:buSzTx/>
              <a:buFontTx/>
            </a:pPr>
            <a:r>
              <a:rPr lang="en-US" b="1" u="sng" dirty="0">
                <a:solidFill>
                  <a:srgbClr val="0563C1"/>
                </a:solidFill>
                <a:uFillTx/>
                <a:latin typeface="Times New Roman" panose="02020603050405020304" charset="0"/>
                <a:ea typeface="宋体" panose="02010600030101010101" pitchFamily="2" charset="-122"/>
              </a:rPr>
              <a:t>3.4  </a:t>
            </a:r>
            <a:r>
              <a:rPr lang="en-US" b="1" u="sng" dirty="0" err="1">
                <a:solidFill>
                  <a:srgbClr val="0563C1"/>
                </a:solidFill>
                <a:uFillTx/>
                <a:latin typeface="Times New Roman" panose="02020603050405020304" charset="0"/>
                <a:ea typeface="宋体" panose="02010600030101010101" pitchFamily="2" charset="-122"/>
              </a:rPr>
              <a:t>天线</a:t>
            </a:r>
            <a:endParaRPr lang="en-US" b="1" u="sng" dirty="0">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47712" y="393341"/>
            <a:ext cx="10909300" cy="769441"/>
          </a:xfrm>
          <a:prstGeom prst="rect">
            <a:avLst/>
          </a:prstGeom>
          <a:noFill/>
          <a:ln w="9525">
            <a:noFill/>
          </a:ln>
        </p:spPr>
        <p:txBody>
          <a:bodyPr wrap="square">
            <a:spAutoFit/>
          </a:bodyPr>
          <a:lstStyle/>
          <a:p>
            <a:pPr indent="266700" algn="ctr"/>
            <a:r>
              <a:rPr lang="zh-CN" altLang="zh-CN" sz="2200" b="1" kern="100" dirty="0">
                <a:effectLst/>
                <a:latin typeface="Times New Roman" panose="02020603050405020304" charset="0"/>
                <a:ea typeface="宋体" panose="02010600030101010101" pitchFamily="2" charset="-122"/>
              </a:rPr>
              <a:t>表</a:t>
            </a:r>
            <a:r>
              <a:rPr lang="en-US" altLang="zh-CN" sz="2200" b="1" kern="100" dirty="0">
                <a:effectLst/>
                <a:latin typeface="Times New Roman" panose="02020603050405020304" charset="0"/>
                <a:ea typeface="宋体" panose="02010600030101010101" pitchFamily="2" charset="-122"/>
              </a:rPr>
              <a:t>3-4-1  </a:t>
            </a:r>
            <a:r>
              <a:rPr lang="zh-CN" altLang="zh-CN" sz="2200" b="1" kern="100" dirty="0">
                <a:effectLst/>
                <a:latin typeface="Times New Roman" panose="02020603050405020304" charset="0"/>
                <a:ea typeface="宋体" panose="02010600030101010101" pitchFamily="2" charset="-122"/>
              </a:rPr>
              <a:t>近距离通信中常用天线及特性</a:t>
            </a:r>
            <a:endParaRPr lang="zh-CN" altLang="zh-CN" sz="2200" b="1" kern="100" dirty="0">
              <a:effectLst/>
              <a:latin typeface="Times New Roman" panose="02020603050405020304" charset="0"/>
              <a:ea typeface="宋体" panose="02010600030101010101" pitchFamily="2" charset="-122"/>
            </a:endParaRPr>
          </a:p>
          <a:p>
            <a:pPr indent="266700" algn="ctr"/>
            <a:endParaRPr lang="zh-CN" altLang="zh-CN" sz="2200" b="1" kern="100" dirty="0">
              <a:effectLst/>
              <a:latin typeface="Times New Roman" panose="02020603050405020304" charset="0"/>
              <a:ea typeface="宋体" panose="02010600030101010101" pitchFamily="2" charset="-122"/>
            </a:endParaRPr>
          </a:p>
        </p:txBody>
      </p:sp>
      <p:graphicFrame>
        <p:nvGraphicFramePr>
          <p:cNvPr id="10" name="表格 9"/>
          <p:cNvGraphicFramePr>
            <a:graphicFrameLocks noGrp="1"/>
          </p:cNvGraphicFramePr>
          <p:nvPr/>
        </p:nvGraphicFramePr>
        <p:xfrm>
          <a:off x="534988" y="905666"/>
          <a:ext cx="11274425" cy="5796154"/>
        </p:xfrm>
        <a:graphic>
          <a:graphicData uri="http://schemas.openxmlformats.org/drawingml/2006/table">
            <a:tbl>
              <a:tblPr firstRow="1" firstCol="1" bandRow="1">
                <a:tableStyleId>{5940675A-B579-460E-94D1-54222C63F5DA}</a:tableStyleId>
              </a:tblPr>
              <a:tblGrid>
                <a:gridCol w="1242943"/>
                <a:gridCol w="2823644"/>
                <a:gridCol w="3229852"/>
                <a:gridCol w="3977986"/>
              </a:tblGrid>
              <a:tr h="296897">
                <a:tc gridSpan="2">
                  <a:txBody>
                    <a:bodyPr/>
                    <a:lstStyle/>
                    <a:p>
                      <a:pPr algn="ctr">
                        <a:lnSpc>
                          <a:spcPct val="100000"/>
                        </a:lnSpc>
                      </a:pPr>
                      <a:r>
                        <a:rPr lang="zh-CN" sz="1600" kern="100" dirty="0">
                          <a:effectLst/>
                        </a:rPr>
                        <a:t>天线类型</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c>
                  <a:txBody>
                    <a:bodyPr/>
                    <a:lstStyle/>
                    <a:p>
                      <a:pPr algn="ctr">
                        <a:lnSpc>
                          <a:spcPct val="100000"/>
                        </a:lnSpc>
                      </a:pPr>
                      <a:r>
                        <a:rPr lang="zh-CN" sz="1600" kern="100">
                          <a:effectLst/>
                        </a:rPr>
                        <a:t>优势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lnSpc>
                          <a:spcPct val="100000"/>
                        </a:lnSpc>
                      </a:pPr>
                      <a:r>
                        <a:rPr lang="zh-CN" sz="1600" kern="100">
                          <a:effectLst/>
                        </a:rPr>
                        <a:t>劣势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714834">
                <a:tc gridSpan="2">
                  <a:txBody>
                    <a:bodyPr/>
                    <a:lstStyle/>
                    <a:p>
                      <a:pPr algn="ctr">
                        <a:lnSpc>
                          <a:spcPct val="100000"/>
                        </a:lnSpc>
                      </a:pPr>
                      <a:r>
                        <a:rPr lang="en-US" sz="1600" kern="100" dirty="0">
                          <a:effectLst/>
                        </a:rPr>
                        <a:t>PCB </a:t>
                      </a:r>
                      <a:r>
                        <a:rPr lang="zh-CN" sz="1600" kern="100" dirty="0">
                          <a:effectLst/>
                        </a:rPr>
                        <a:t>天线</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c>
                  <a:txBody>
                    <a:bodyPr/>
                    <a:lstStyle/>
                    <a:p>
                      <a:pPr algn="just">
                        <a:lnSpc>
                          <a:spcPct val="100000"/>
                        </a:lnSpc>
                      </a:pPr>
                      <a:r>
                        <a:rPr lang="zh-CN" sz="1600" kern="100" dirty="0">
                          <a:effectLst/>
                        </a:rPr>
                        <a:t>成本极低，适合</a:t>
                      </a:r>
                      <a:r>
                        <a:rPr lang="en-US" sz="1600" kern="100" dirty="0">
                          <a:effectLst/>
                        </a:rPr>
                        <a:t> 868 MHz </a:t>
                      </a:r>
                      <a:r>
                        <a:rPr lang="zh-CN" sz="1600" kern="100" dirty="0">
                          <a:effectLst/>
                        </a:rPr>
                        <a:t>以上频率，高频时尺寸小，有较多的标准化天线设计方案可供使用</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低频时尺寸大</a:t>
                      </a:r>
                      <a:r>
                        <a:rPr lang="en-US" sz="1600" kern="100">
                          <a:effectLst/>
                        </a:rPr>
                        <a:t>,</a:t>
                      </a:r>
                      <a:r>
                        <a:rPr lang="zh-CN" sz="1600" kern="100">
                          <a:effectLst/>
                        </a:rPr>
                        <a:t>不适合</a:t>
                      </a:r>
                      <a:r>
                        <a:rPr lang="en-US" sz="1600" kern="100">
                          <a:effectLst/>
                        </a:rPr>
                        <a:t> 433 MHz</a:t>
                      </a:r>
                      <a:r>
                        <a:rPr lang="zh-CN" sz="1600" kern="100">
                          <a:effectLst/>
                        </a:rPr>
                        <a:t>以下频率</a:t>
                      </a:r>
                      <a:endParaRPr lang="zh-CN" sz="2000" kern="100">
                        <a:effectLst/>
                      </a:endParaRPr>
                    </a:p>
                    <a:p>
                      <a:pPr algn="just">
                        <a:lnSpc>
                          <a:spcPct val="100000"/>
                        </a:lnSpc>
                      </a:pPr>
                      <a:r>
                        <a:rPr lang="en-US" sz="1600" kern="100">
                          <a:effectLst/>
                        </a:rPr>
                        <a:t> </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437595">
                <a:tc rowSpan="5">
                  <a:txBody>
                    <a:bodyPr/>
                    <a:lstStyle/>
                    <a:p>
                      <a:pPr algn="ctr">
                        <a:lnSpc>
                          <a:spcPct val="100000"/>
                        </a:lnSpc>
                      </a:pPr>
                      <a:r>
                        <a:rPr lang="zh-CN" sz="1600" kern="100">
                          <a:effectLst/>
                        </a:rPr>
                        <a:t>线型天线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lnSpc>
                          <a:spcPct val="100000"/>
                        </a:lnSpc>
                      </a:pPr>
                      <a:r>
                        <a:rPr lang="zh-CN" sz="1600" kern="100" dirty="0">
                          <a:effectLst/>
                        </a:rPr>
                        <a:t>偶极天线</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just">
                        <a:lnSpc>
                          <a:spcPct val="100000"/>
                        </a:lnSpc>
                      </a:pPr>
                      <a:r>
                        <a:rPr lang="zh-CN" sz="1600" kern="100">
                          <a:effectLst/>
                        </a:rPr>
                        <a:t>非常便宜，增益高</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低频时尺寸大</a:t>
                      </a:r>
                      <a:r>
                        <a:rPr lang="en-US" sz="1600" kern="100">
                          <a:effectLst/>
                        </a:rPr>
                        <a:t>,</a:t>
                      </a:r>
                      <a:r>
                        <a:rPr lang="zh-CN" sz="1600" kern="100">
                          <a:effectLst/>
                        </a:rPr>
                        <a:t>不适合</a:t>
                      </a:r>
                      <a:r>
                        <a:rPr lang="en-US" sz="1600" kern="100">
                          <a:effectLst/>
                        </a:rPr>
                        <a:t>433 MHz</a:t>
                      </a:r>
                      <a:r>
                        <a:rPr lang="zh-CN" sz="1600" kern="100">
                          <a:effectLst/>
                        </a:rPr>
                        <a:t>以下频率</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437595">
                <a:tc vMerge="1">
                  <a:tcPr/>
                </a:tc>
                <a:tc>
                  <a:txBody>
                    <a:bodyPr/>
                    <a:lstStyle/>
                    <a:p>
                      <a:pPr algn="ctr">
                        <a:lnSpc>
                          <a:spcPct val="100000"/>
                        </a:lnSpc>
                      </a:pPr>
                      <a:r>
                        <a:rPr lang="zh-CN" sz="1600" kern="100">
                          <a:effectLst/>
                        </a:rPr>
                        <a:t>鞭状天线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just">
                        <a:lnSpc>
                          <a:spcPct val="100000"/>
                        </a:lnSpc>
                      </a:pPr>
                      <a:r>
                        <a:rPr lang="zh-CN" sz="1600" kern="100">
                          <a:effectLst/>
                        </a:rPr>
                        <a:t>性能好，易于采购标准的天线模块</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成本高，很难适应许多应用</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437595">
                <a:tc vMerge="1">
                  <a:tcPr/>
                </a:tc>
                <a:tc>
                  <a:txBody>
                    <a:bodyPr/>
                    <a:lstStyle/>
                    <a:p>
                      <a:pPr algn="ctr">
                        <a:lnSpc>
                          <a:spcPct val="100000"/>
                        </a:lnSpc>
                      </a:pPr>
                      <a:r>
                        <a:rPr lang="zh-CN" sz="1600" kern="100">
                          <a:effectLst/>
                        </a:rPr>
                        <a:t>环形天线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just">
                        <a:lnSpc>
                          <a:spcPct val="100000"/>
                        </a:lnSpc>
                      </a:pPr>
                      <a:r>
                        <a:rPr lang="zh-CN" sz="1600" kern="100">
                          <a:effectLst/>
                        </a:rPr>
                        <a:t>便宜，不易手动调整</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增益差，窄带，工作频率难以调整</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341700">
                <a:tc vMerge="1">
                  <a:tcPr/>
                </a:tc>
                <a:tc>
                  <a:txBody>
                    <a:bodyPr/>
                    <a:lstStyle/>
                    <a:p>
                      <a:pPr algn="ctr">
                        <a:lnSpc>
                          <a:spcPct val="100000"/>
                        </a:lnSpc>
                      </a:pPr>
                      <a:r>
                        <a:rPr lang="zh-CN" sz="1600" kern="100">
                          <a:effectLst/>
                        </a:rPr>
                        <a:t>平面螺旋天线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just">
                        <a:lnSpc>
                          <a:spcPct val="100000"/>
                        </a:lnSpc>
                      </a:pPr>
                      <a:r>
                        <a:rPr lang="zh-CN" sz="1600" kern="100">
                          <a:effectLst/>
                        </a:rPr>
                        <a:t>尺寸比鞭状天线小，工作频谱宽</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dirty="0">
                          <a:effectLst/>
                        </a:rPr>
                        <a:t>难以设计馈电</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479490">
                <a:tc vMerge="1">
                  <a:tcPr/>
                </a:tc>
                <a:tc>
                  <a:txBody>
                    <a:bodyPr/>
                    <a:lstStyle/>
                    <a:p>
                      <a:pPr algn="ctr">
                        <a:lnSpc>
                          <a:spcPct val="100000"/>
                        </a:lnSpc>
                      </a:pPr>
                      <a:r>
                        <a:rPr lang="zh-CN" sz="1600" kern="100" dirty="0">
                          <a:effectLst/>
                        </a:rPr>
                        <a:t>立体螺旋天线</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just">
                        <a:lnSpc>
                          <a:spcPct val="100000"/>
                        </a:lnSpc>
                      </a:pPr>
                      <a:r>
                        <a:rPr lang="zh-CN" sz="1600" kern="100" dirty="0">
                          <a:effectLst/>
                        </a:rPr>
                        <a:t>定向性好，增益高</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dirty="0">
                          <a:effectLst/>
                        </a:rPr>
                        <a:t>机械构造，体积大，容易受到附近的物体影响而导致失谐</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1093988">
                <a:tc gridSpan="2">
                  <a:txBody>
                    <a:bodyPr/>
                    <a:lstStyle/>
                    <a:p>
                      <a:pPr algn="ctr">
                        <a:lnSpc>
                          <a:spcPct val="100000"/>
                        </a:lnSpc>
                      </a:pPr>
                      <a:r>
                        <a:rPr lang="zh-CN" sz="1600" kern="100">
                          <a:effectLst/>
                        </a:rPr>
                        <a:t>微带天线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c>
                  <a:txBody>
                    <a:bodyPr/>
                    <a:lstStyle/>
                    <a:p>
                      <a:pPr algn="just">
                        <a:lnSpc>
                          <a:spcPct val="100000"/>
                        </a:lnSpc>
                      </a:pPr>
                      <a:r>
                        <a:rPr lang="zh-CN" sz="1600" kern="100" dirty="0">
                          <a:effectLst/>
                        </a:rPr>
                        <a:t>制造成本低，适于大量生产；重量轻、体积小、制面薄；易于实现双频工作</a:t>
                      </a:r>
                      <a:endParaRPr lang="zh-CN" sz="2000" kern="100" dirty="0">
                        <a:effectLst/>
                      </a:endParaRPr>
                    </a:p>
                    <a:p>
                      <a:pPr algn="just">
                        <a:lnSpc>
                          <a:spcPct val="100000"/>
                        </a:lnSpc>
                      </a:pPr>
                      <a:r>
                        <a:rPr lang="en-US" sz="1600" kern="100" dirty="0">
                          <a:effectLst/>
                        </a:rPr>
                        <a:t> </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工作频带窄；损耗大，增益低；大多微带天线只在半空间辐射，端射性能差；功率容量低；低频时尺寸大，不适合</a:t>
                      </a:r>
                      <a:r>
                        <a:rPr lang="en-US" sz="1600" kern="100">
                          <a:effectLst/>
                        </a:rPr>
                        <a:t>433 MHz </a:t>
                      </a:r>
                      <a:r>
                        <a:rPr lang="zh-CN" sz="1600" kern="100">
                          <a:effectLst/>
                        </a:rPr>
                        <a:t>以下额率；性能受</a:t>
                      </a:r>
                      <a:r>
                        <a:rPr lang="en-US" sz="1600" kern="100">
                          <a:effectLst/>
                        </a:rPr>
                        <a:t> PCB</a:t>
                      </a:r>
                      <a:r>
                        <a:rPr lang="zh-CN" sz="1600" kern="100">
                          <a:effectLst/>
                        </a:rPr>
                        <a:t>设计影响大</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875191">
                <a:tc gridSpan="2">
                  <a:txBody>
                    <a:bodyPr/>
                    <a:lstStyle/>
                    <a:p>
                      <a:pPr algn="ctr">
                        <a:lnSpc>
                          <a:spcPct val="100000"/>
                        </a:lnSpc>
                      </a:pPr>
                      <a:r>
                        <a:rPr lang="zh-CN" sz="1600" kern="100">
                          <a:effectLst/>
                        </a:rPr>
                        <a:t>芯片天线</a:t>
                      </a:r>
                      <a:r>
                        <a:rPr lang="en-US" sz="1600" kern="100">
                          <a:effectLst/>
                        </a:rPr>
                        <a:t>/</a:t>
                      </a:r>
                      <a:r>
                        <a:rPr lang="zh-CN" sz="1600" kern="100">
                          <a:effectLst/>
                        </a:rPr>
                        <a:t>陶瓷天线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c>
                  <a:txBody>
                    <a:bodyPr/>
                    <a:lstStyle/>
                    <a:p>
                      <a:pPr algn="just">
                        <a:lnSpc>
                          <a:spcPct val="100000"/>
                        </a:lnSpc>
                      </a:pPr>
                      <a:r>
                        <a:rPr lang="zh-CN" sz="1600" kern="100" dirty="0">
                          <a:effectLst/>
                        </a:rPr>
                        <a:t>尺寸小；独立组件，不易受环境因素影响；易于采购标准的天线模块</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a:effectLst/>
                        </a:rPr>
                        <a:t>成本稍高，性能一般；易受到</a:t>
                      </a:r>
                      <a:r>
                        <a:rPr lang="en-US" sz="1600" kern="100">
                          <a:effectLst/>
                        </a:rPr>
                        <a:t>PCB</a:t>
                      </a:r>
                      <a:r>
                        <a:rPr lang="zh-CN" sz="1600" kern="100">
                          <a:effectLst/>
                        </a:rPr>
                        <a:t>尺寸、厚度、形状等因素影响；低频时尺寸大，不适合低于</a:t>
                      </a:r>
                      <a:r>
                        <a:rPr lang="en-US" sz="1600" kern="100">
                          <a:effectLst/>
                        </a:rPr>
                        <a:t> 433 MHz</a:t>
                      </a:r>
                      <a:r>
                        <a:rPr lang="zh-CN" sz="1600" kern="100">
                          <a:effectLst/>
                        </a:rPr>
                        <a:t>的频率</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r h="656393">
                <a:tc gridSpan="2">
                  <a:txBody>
                    <a:bodyPr/>
                    <a:lstStyle/>
                    <a:p>
                      <a:pPr algn="ctr">
                        <a:lnSpc>
                          <a:spcPct val="100000"/>
                        </a:lnSpc>
                      </a:pPr>
                      <a:r>
                        <a:rPr lang="zh-CN" sz="1600" kern="100">
                          <a:effectLst/>
                        </a:rPr>
                        <a:t>槽状天线</a:t>
                      </a:r>
                      <a:endParaRPr lang="zh-CN" sz="20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c>
                  <a:txBody>
                    <a:bodyPr/>
                    <a:lstStyle/>
                    <a:p>
                      <a:pPr algn="just">
                        <a:lnSpc>
                          <a:spcPct val="100000"/>
                        </a:lnSpc>
                      </a:pPr>
                      <a:r>
                        <a:rPr lang="zh-CN" sz="1600" kern="100" dirty="0">
                          <a:effectLst/>
                        </a:rPr>
                        <a:t>设计简单，健壮</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c>
                  <a:txBody>
                    <a:bodyPr/>
                    <a:lstStyle/>
                    <a:p>
                      <a:pPr algn="just">
                        <a:lnSpc>
                          <a:spcPct val="100000"/>
                        </a:lnSpc>
                      </a:pPr>
                      <a:r>
                        <a:rPr lang="zh-CN" sz="1600" kern="100" dirty="0">
                          <a:effectLst/>
                        </a:rPr>
                        <a:t>低频时尺寸大，不适合</a:t>
                      </a:r>
                      <a:r>
                        <a:rPr lang="en-US" sz="1600" kern="100" dirty="0">
                          <a:effectLst/>
                        </a:rPr>
                        <a:t>433 MHs</a:t>
                      </a:r>
                      <a:r>
                        <a:rPr lang="zh-CN" sz="1600" kern="100" dirty="0">
                          <a:effectLst/>
                        </a:rPr>
                        <a:t>以下频率</a:t>
                      </a:r>
                      <a:endParaRPr lang="zh-CN" sz="2000" kern="100" dirty="0">
                        <a:effectLst/>
                      </a:endParaRPr>
                    </a:p>
                    <a:p>
                      <a:pPr algn="just">
                        <a:lnSpc>
                          <a:spcPct val="100000"/>
                        </a:lnSpc>
                      </a:pPr>
                      <a:r>
                        <a:rPr lang="en-US" sz="1600" kern="100" dirty="0">
                          <a:effectLst/>
                        </a:rPr>
                        <a:t> </a:t>
                      </a:r>
                      <a:endParaRPr lang="zh-CN" sz="20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41350" y="2028190"/>
            <a:ext cx="10909300" cy="2800767"/>
          </a:xfrm>
          <a:prstGeom prst="rect">
            <a:avLst/>
          </a:prstGeom>
          <a:noFill/>
          <a:ln w="9525">
            <a:noFill/>
          </a:ln>
        </p:spPr>
        <p:txBody>
          <a:bodyPr wrap="square">
            <a:spAutoFit/>
          </a:bodyPr>
          <a:lstStyle/>
          <a:p>
            <a:pPr indent="266700" algn="just">
              <a:spcBef>
                <a:spcPts val="1000"/>
              </a:spcBef>
            </a:pPr>
            <a:r>
              <a:rPr lang="zh-CN" altLang="zh-CN" sz="2200" b="1" kern="100" dirty="0">
                <a:effectLst/>
                <a:latin typeface="Times New Roman" panose="02020603050405020304" charset="0"/>
                <a:ea typeface="宋体" panose="02010600030101010101" pitchFamily="2" charset="-122"/>
                <a:cs typeface="Times New Roman" panose="02020603050405020304" charset="0"/>
              </a:rPr>
              <a:t>上述天线均为单体（</a:t>
            </a:r>
            <a:r>
              <a:rPr lang="en-US" altLang="zh-CN" sz="2200" b="1" kern="100" dirty="0">
                <a:effectLst/>
                <a:latin typeface="Times New Roman" panose="02020603050405020304" charset="0"/>
                <a:ea typeface="宋体" panose="02010600030101010101" pitchFamily="2" charset="-122"/>
                <a:cs typeface="Times New Roman" panose="02020603050405020304" charset="0"/>
              </a:rPr>
              <a:t>single-element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）天线，若将多个相同的天线依特定距离置于一条线或一个平面上，即可形成线性天线阵列（</a:t>
            </a:r>
            <a:r>
              <a:rPr lang="en-US" altLang="zh-CN" sz="2200" b="1" kern="100" dirty="0">
                <a:solidFill>
                  <a:srgbClr val="000000"/>
                </a:solidFill>
                <a:effectLst/>
                <a:latin typeface="Times New Roman" panose="02020603050405020304" charset="0"/>
                <a:ea typeface="宋体" panose="02010600030101010101" pitchFamily="2" charset="-122"/>
                <a:cs typeface="Times New Roman" panose="02020603050405020304" charset="0"/>
              </a:rPr>
              <a:t>linear antenna array</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）或平面天线阵列（</a:t>
            </a:r>
            <a:r>
              <a:rPr lang="en-US" altLang="zh-CN" sz="2200" b="1" kern="100" dirty="0">
                <a:solidFill>
                  <a:srgbClr val="000000"/>
                </a:solidFill>
                <a:effectLst/>
                <a:latin typeface="Times New Roman" panose="02020603050405020304" charset="0"/>
                <a:ea typeface="宋体" panose="02010600030101010101" pitchFamily="2" charset="-122"/>
                <a:cs typeface="Times New Roman" panose="02020603050405020304" charset="0"/>
              </a:rPr>
              <a:t>planar antenna array</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智能天线是利用波束转换和自适应阵列方式将波束对准目标方向，并能按需调整波束宽度，实现系统资源的优化利用，获得较高的系统性能增益，将同样的数据发送到同样的距离，所需的发射功率要小得多。传感器网络中引入智能天线能够提高增益和信噪比，降低误码率，从而改善吞吐量、延迟和其他重要的无线网络性能参数，增加网络覆盖和容量，扩展传输距离。此外，使用智能天线可以显著减少节点的功率消耗，并因此增加网络的生命周期。</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2" name="标题 1"/>
          <p:cNvSpPr>
            <a:spLocks noGrp="1"/>
          </p:cNvSpPr>
          <p:nvPr>
            <p:ph type="title"/>
          </p:nvPr>
        </p:nvSpPr>
        <p:spPr>
          <a:xfrm>
            <a:off x="717550" y="0"/>
            <a:ext cx="7310755" cy="1325880"/>
          </a:xfrm>
        </p:spPr>
        <p:txBody>
          <a:bodyPr/>
          <a:p>
            <a:pPr algn="l">
              <a:buClrTx/>
              <a:buSzTx/>
              <a:buFontTx/>
            </a:pPr>
            <a:r>
              <a:rPr lang="en-US" b="1" u="sng" dirty="0">
                <a:solidFill>
                  <a:srgbClr val="0563C1"/>
                </a:solidFill>
                <a:uFillTx/>
                <a:latin typeface="Times New Roman" panose="02020603050405020304" charset="0"/>
                <a:ea typeface="宋体" panose="02010600030101010101" pitchFamily="2" charset="-122"/>
              </a:rPr>
              <a:t>3.4  </a:t>
            </a:r>
            <a:r>
              <a:rPr lang="en-US" b="1" u="sng" dirty="0" err="1">
                <a:solidFill>
                  <a:srgbClr val="0563C1"/>
                </a:solidFill>
                <a:uFillTx/>
                <a:latin typeface="Times New Roman" panose="02020603050405020304" charset="0"/>
                <a:ea typeface="宋体" panose="02010600030101010101" pitchFamily="2" charset="-122"/>
              </a:rPr>
              <a:t>天线</a:t>
            </a:r>
            <a:endParaRPr lang="en-US" b="1" u="sng" dirty="0">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7550" y="0"/>
            <a:ext cx="7310755" cy="1325880"/>
          </a:xfrm>
        </p:spPr>
        <p:txBody>
          <a:bodyPr/>
          <a:lstStyle/>
          <a:p>
            <a:pPr algn="l">
              <a:buClrTx/>
              <a:buSzTx/>
              <a:buFontTx/>
            </a:pPr>
            <a:r>
              <a:rPr lang="en-US" b="1" u="sng" dirty="0">
                <a:solidFill>
                  <a:srgbClr val="0563C1"/>
                </a:solidFill>
                <a:uFillTx/>
                <a:latin typeface="Times New Roman" panose="02020603050405020304" charset="0"/>
                <a:ea typeface="宋体" panose="02010600030101010101" pitchFamily="2" charset="-122"/>
              </a:rPr>
              <a:t>3.5  </a:t>
            </a:r>
            <a:r>
              <a:rPr lang="en-US" b="1" u="sng" dirty="0" err="1">
                <a:solidFill>
                  <a:srgbClr val="0563C1"/>
                </a:solidFill>
                <a:uFillTx/>
                <a:latin typeface="Times New Roman" panose="02020603050405020304" charset="0"/>
                <a:ea typeface="宋体" panose="02010600030101010101" pitchFamily="2" charset="-122"/>
              </a:rPr>
              <a:t>短距离无线通信技术</a:t>
            </a:r>
            <a:endParaRPr lang="en-US" b="1" u="sng" dirty="0">
              <a:solidFill>
                <a:srgbClr val="0563C1"/>
              </a:solidFill>
              <a:uFillTx/>
              <a:latin typeface="Times New Roman" panose="02020603050405020304" charset="0"/>
              <a:ea typeface="宋体" panose="02010600030101010101" pitchFamily="2" charset="-122"/>
            </a:endParaRPr>
          </a:p>
        </p:txBody>
      </p:sp>
      <p:sp>
        <p:nvSpPr>
          <p:cNvPr id="100" name="文本框 99"/>
          <p:cNvSpPr txBox="1"/>
          <p:nvPr/>
        </p:nvSpPr>
        <p:spPr>
          <a:xfrm>
            <a:off x="786765" y="1325880"/>
            <a:ext cx="5080000" cy="521970"/>
          </a:xfrm>
          <a:prstGeom prst="rect">
            <a:avLst/>
          </a:prstGeom>
          <a:noFill/>
          <a:ln w="9525">
            <a:noFill/>
          </a:ln>
        </p:spPr>
        <p:txBody>
          <a:bodyPr>
            <a:spAutoFit/>
          </a:bodyPr>
          <a:lstStyle/>
          <a:p>
            <a:r>
              <a:rPr lang="en-US" altLang="zh-CN" sz="2800" b="1" dirty="0">
                <a:solidFill>
                  <a:srgbClr val="000000"/>
                </a:solidFill>
                <a:cs typeface="Times New Roman" panose="02020603050405020304" charset="0"/>
              </a:rPr>
              <a:t>3.5.1  </a:t>
            </a:r>
            <a:r>
              <a:rPr lang="zh-CN" altLang="en-US" sz="2800" b="1" dirty="0">
                <a:solidFill>
                  <a:srgbClr val="000000"/>
                </a:solidFill>
                <a:cs typeface="Times New Roman" panose="02020603050405020304" charset="0"/>
              </a:rPr>
              <a:t>超宽带技术</a:t>
            </a:r>
            <a:endParaRPr lang="zh-CN" altLang="en-US" sz="2800" b="1" dirty="0">
              <a:solidFill>
                <a:srgbClr val="000000"/>
              </a:solidFill>
              <a:cs typeface="Times New Roman" panose="02020603050405020304" charset="0"/>
            </a:endParaRPr>
          </a:p>
        </p:txBody>
      </p:sp>
      <p:sp>
        <p:nvSpPr>
          <p:cNvPr id="7" name="文本框 6"/>
          <p:cNvSpPr txBox="1"/>
          <p:nvPr/>
        </p:nvSpPr>
        <p:spPr>
          <a:xfrm>
            <a:off x="786765" y="2195008"/>
            <a:ext cx="10909300" cy="4478149"/>
          </a:xfrm>
          <a:prstGeom prst="rect">
            <a:avLst/>
          </a:prstGeom>
          <a:noFill/>
          <a:ln w="9525">
            <a:noFill/>
          </a:ln>
        </p:spPr>
        <p:txBody>
          <a:bodyPr wrap="square">
            <a:spAutoFit/>
          </a:bodyPr>
          <a:lstStyle/>
          <a:p>
            <a:pPr marL="285750" indent="-285750" algn="l">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超宽带技术（</a:t>
            </a:r>
            <a:r>
              <a:rPr lang="en-US" altLang="zh-CN" sz="2200" b="1" kern="100" dirty="0">
                <a:effectLst/>
                <a:latin typeface="Times New Roman" panose="02020603050405020304" charset="0"/>
                <a:ea typeface="宋体" panose="02010600030101010101" pitchFamily="2" charset="-122"/>
              </a:rPr>
              <a:t>Ultra Wide Band, UWB</a:t>
            </a:r>
            <a:r>
              <a:rPr lang="zh-CN" altLang="zh-CN" sz="2200" b="1" kern="100" dirty="0">
                <a:effectLst/>
                <a:latin typeface="Times New Roman" panose="02020603050405020304" charset="0"/>
                <a:ea typeface="宋体" panose="02010600030101010101" pitchFamily="2" charset="-122"/>
              </a:rPr>
              <a:t>）是一种无载波通信技术，采用纳秒至皮秒级的脉冲进行通信，所占频谱非常宽，频段范围是</a:t>
            </a:r>
            <a:r>
              <a:rPr lang="en-US" altLang="zh-CN" sz="2200" b="1" kern="100" dirty="0">
                <a:effectLst/>
                <a:latin typeface="Times New Roman" panose="02020603050405020304" charset="0"/>
                <a:ea typeface="宋体" panose="02010600030101010101" pitchFamily="2" charset="-122"/>
              </a:rPr>
              <a:t>3.1~10.6GHz</a:t>
            </a:r>
            <a:r>
              <a:rPr lang="zh-CN" altLang="zh-CN" sz="2200" b="1" kern="100" dirty="0">
                <a:effectLst/>
                <a:latin typeface="Times New Roman" panose="02020603050405020304" charset="0"/>
                <a:ea typeface="宋体" panose="02010600030101010101" pitchFamily="2" charset="-122"/>
              </a:rPr>
              <a:t>，并且传输时，该技术发射功率极低。虽然</a:t>
            </a:r>
            <a:r>
              <a:rPr lang="en-US" altLang="zh-CN" sz="2200" b="1" kern="100" dirty="0">
                <a:effectLst/>
                <a:latin typeface="Times New Roman" panose="02020603050405020304" charset="0"/>
                <a:ea typeface="宋体" panose="02010600030101010101" pitchFamily="2" charset="-122"/>
              </a:rPr>
              <a:t>UWB</a:t>
            </a:r>
            <a:r>
              <a:rPr lang="zh-CN" altLang="zh-CN" sz="2200" b="1" kern="100" dirty="0">
                <a:effectLst/>
                <a:latin typeface="Times New Roman" panose="02020603050405020304" charset="0"/>
                <a:ea typeface="宋体" panose="02010600030101010101" pitchFamily="2" charset="-122"/>
              </a:rPr>
              <a:t>技术的传输范围在</a:t>
            </a:r>
            <a:r>
              <a:rPr lang="en-US" altLang="zh-CN" sz="2200" b="1" kern="100" dirty="0">
                <a:effectLst/>
                <a:latin typeface="Times New Roman" panose="02020603050405020304" charset="0"/>
                <a:ea typeface="宋体" panose="02010600030101010101" pitchFamily="2" charset="-122"/>
              </a:rPr>
              <a:t>10m</a:t>
            </a:r>
            <a:r>
              <a:rPr lang="zh-CN" altLang="zh-CN" sz="2200" b="1" kern="100" dirty="0">
                <a:effectLst/>
                <a:latin typeface="Times New Roman" panose="02020603050405020304" charset="0"/>
                <a:ea typeface="宋体" panose="02010600030101010101" pitchFamily="2" charset="-122"/>
              </a:rPr>
              <a:t>内，但速度能达到每秒几百兆位至几吉位。</a:t>
            </a:r>
            <a:r>
              <a:rPr lang="en-US" altLang="zh-CN" sz="2200" b="1" kern="100" dirty="0">
                <a:effectLst/>
                <a:latin typeface="Times New Roman" panose="02020603050405020304" charset="0"/>
                <a:ea typeface="宋体" panose="02010600030101010101" pitchFamily="2" charset="-122"/>
              </a:rPr>
              <a:t>UWB</a:t>
            </a:r>
            <a:r>
              <a:rPr lang="zh-CN" altLang="zh-CN" sz="2200" b="1" kern="100" dirty="0">
                <a:effectLst/>
                <a:latin typeface="Times New Roman" panose="02020603050405020304" charset="0"/>
                <a:ea typeface="宋体" panose="02010600030101010101" pitchFamily="2" charset="-122"/>
              </a:rPr>
              <a:t>技术最初用于军用雷达应用中，只在美国军方使用，现在该技术已被准许在民用领域使用。</a:t>
            </a:r>
            <a:endParaRPr lang="en-US"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由于</a:t>
            </a:r>
            <a:r>
              <a:rPr lang="en-US" altLang="zh-CN" sz="2200" b="1" kern="100" dirty="0">
                <a:effectLst/>
                <a:latin typeface="Times New Roman" panose="02020603050405020304" charset="0"/>
                <a:ea typeface="宋体" panose="02010600030101010101" pitchFamily="2" charset="-122"/>
              </a:rPr>
              <a:t> UWB</a:t>
            </a:r>
            <a:r>
              <a:rPr lang="zh-CN" altLang="zh-CN" sz="2200" b="1" kern="100" dirty="0">
                <a:effectLst/>
                <a:latin typeface="Times New Roman" panose="02020603050405020304" charset="0"/>
                <a:ea typeface="宋体" panose="02010600030101010101" pitchFamily="2" charset="-122"/>
              </a:rPr>
              <a:t>抗干扰能力强、极宽的谱宽、传输速率高、发射功率小等特点，</a:t>
            </a:r>
            <a:r>
              <a:rPr lang="en-US" altLang="zh-CN" sz="2200" b="1" kern="100" dirty="0">
                <a:effectLst/>
                <a:latin typeface="Times New Roman" panose="02020603050405020304" charset="0"/>
                <a:ea typeface="宋体" panose="02010600030101010101" pitchFamily="2" charset="-122"/>
              </a:rPr>
              <a:t>UWB</a:t>
            </a:r>
            <a:r>
              <a:rPr lang="zh-CN" altLang="zh-CN" sz="2200" b="1" kern="100" dirty="0">
                <a:effectLst/>
                <a:latin typeface="Times New Roman" panose="02020603050405020304" charset="0"/>
                <a:ea typeface="宋体" panose="02010600030101010101" pitchFamily="2" charset="-122"/>
              </a:rPr>
              <a:t>在室内无线通信、高速</a:t>
            </a:r>
            <a:r>
              <a:rPr lang="en-US" altLang="zh-CN" sz="2200" b="1" kern="100" dirty="0">
                <a:effectLst/>
                <a:latin typeface="Times New Roman" panose="02020603050405020304" charset="0"/>
                <a:ea typeface="宋体" panose="02010600030101010101" pitchFamily="2" charset="-122"/>
              </a:rPr>
              <a:t>WLAN</a:t>
            </a:r>
            <a:r>
              <a:rPr lang="zh-CN" altLang="zh-CN" sz="2200" b="1" kern="100" dirty="0">
                <a:effectLst/>
                <a:latin typeface="Times New Roman" panose="02020603050405020304" charset="0"/>
                <a:ea typeface="宋体" panose="02010600030101010101" pitchFamily="2" charset="-122"/>
              </a:rPr>
              <a:t>、安全监测等方面都具有应用前景。</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超宽带</a:t>
            </a:r>
            <a:r>
              <a:rPr lang="en-US" altLang="zh-CN" sz="2200" b="1" kern="100" dirty="0">
                <a:effectLst/>
                <a:latin typeface="Times New Roman" panose="02020603050405020304" charset="0"/>
                <a:ea typeface="宋体" panose="02010600030101010101" pitchFamily="2" charset="-122"/>
              </a:rPr>
              <a:t>(</a:t>
            </a:r>
            <a:r>
              <a:rPr lang="en-US" altLang="zh-CN" sz="2200" b="1" kern="100" dirty="0" err="1">
                <a:solidFill>
                  <a:srgbClr val="000000"/>
                </a:solidFill>
                <a:effectLst/>
                <a:latin typeface="Times New Roman" panose="02020603050405020304" charset="0"/>
                <a:ea typeface="宋体" panose="02010600030101010101" pitchFamily="2" charset="-122"/>
              </a:rPr>
              <a:t>Utra</a:t>
            </a:r>
            <a:r>
              <a:rPr lang="en-US" altLang="zh-CN" sz="2200" b="1" kern="100" dirty="0">
                <a:solidFill>
                  <a:srgbClr val="000000"/>
                </a:solidFill>
                <a:effectLst/>
                <a:latin typeface="Times New Roman" panose="02020603050405020304" charset="0"/>
                <a:ea typeface="宋体" panose="02010600030101010101" pitchFamily="2" charset="-122"/>
              </a:rPr>
              <a:t> Wide Band</a:t>
            </a:r>
            <a:r>
              <a:rPr lang="en-US" altLang="zh-CN" sz="2200" b="1" kern="100" dirty="0">
                <a:effectLst/>
                <a:latin typeface="Times New Roman" panose="02020603050405020304" charset="0"/>
                <a:ea typeface="宋体" panose="02010600030101010101" pitchFamily="2" charset="-122"/>
              </a:rPr>
              <a:t>, UWB)</a:t>
            </a:r>
            <a:r>
              <a:rPr lang="zh-CN" altLang="zh-CN" sz="2200" b="1" kern="100" dirty="0">
                <a:effectLst/>
                <a:latin typeface="Times New Roman" panose="02020603050405020304" charset="0"/>
                <a:ea typeface="宋体" panose="02010600030101010101" pitchFamily="2" charset="-122"/>
              </a:rPr>
              <a:t>无线通信技术是近年来备受青睐的短距离无线通信技术，是一种可实现短距离高速信息传输的技术，主要应用于无线</a:t>
            </a:r>
            <a:r>
              <a:rPr lang="en-US" altLang="zh-CN" sz="2200" b="1" kern="100" dirty="0">
                <a:effectLst/>
                <a:latin typeface="Times New Roman" panose="02020603050405020304" charset="0"/>
                <a:ea typeface="宋体" panose="02010600030101010101" pitchFamily="2" charset="-122"/>
              </a:rPr>
              <a:t>USB</a:t>
            </a:r>
            <a:r>
              <a:rPr lang="zh-CN" altLang="zh-CN" sz="2200" b="1" kern="100" dirty="0">
                <a:effectLst/>
                <a:latin typeface="Times New Roman" panose="02020603050405020304" charset="0"/>
                <a:ea typeface="宋体" panose="02010600030101010101" pitchFamily="2" charset="-122"/>
              </a:rPr>
              <a:t>和音频</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视频传输。由于其具有高传输速率、非常高的时间和空间分辨率、低功耗、保密性好、低成本及易于集成等特点，被认为是未来短距离高速通信最具潜力的技术之一。</a:t>
            </a:r>
            <a:endParaRPr lang="zh-CN" altLang="zh-CN" sz="2200" b="1" kern="100" dirty="0">
              <a:effectLst/>
              <a:latin typeface="Times New Roman" panose="02020603050405020304" charset="0"/>
              <a:ea typeface="宋体" panose="02010600030101010101" pitchFamily="2" charset="-122"/>
            </a:endParaRPr>
          </a:p>
          <a:p>
            <a:pPr indent="266700" algn="l">
              <a:spcBef>
                <a:spcPts val="1000"/>
              </a:spcBef>
            </a:pPr>
            <a:endParaRPr lang="zh-CN" altLang="zh-CN" sz="1800" kern="100" dirty="0">
              <a:effectLst/>
              <a:latin typeface="Times New Roman" panose="0202060305040502030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86765" y="1859339"/>
            <a:ext cx="10909300" cy="3138170"/>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rPr>
              <a:t>    </a:t>
            </a:r>
            <a:r>
              <a:rPr lang="zh-CN" altLang="zh-CN" sz="2200" b="1" kern="100" dirty="0">
                <a:effectLst/>
                <a:latin typeface="Times New Roman" panose="02020603050405020304" charset="0"/>
                <a:ea typeface="宋体" panose="02010600030101010101" pitchFamily="2" charset="-122"/>
              </a:rPr>
              <a:t>美国联邦通信委员会</a:t>
            </a:r>
            <a:r>
              <a:rPr lang="en-US" altLang="zh-CN" sz="2200" b="1" kern="100" dirty="0">
                <a:effectLst/>
                <a:latin typeface="Times New Roman" panose="02020603050405020304" charset="0"/>
                <a:ea typeface="宋体" panose="02010600030101010101" pitchFamily="2" charset="-122"/>
              </a:rPr>
              <a:t>(FCC)</a:t>
            </a:r>
            <a:r>
              <a:rPr lang="zh-CN" altLang="zh-CN" sz="2200" b="1" kern="100" dirty="0">
                <a:effectLst/>
                <a:latin typeface="Times New Roman" panose="02020603050405020304" charset="0"/>
                <a:ea typeface="宋体" panose="02010600030101010101" pitchFamily="2" charset="-122"/>
              </a:rPr>
              <a:t>对</a:t>
            </a:r>
            <a:r>
              <a:rPr lang="en-US" altLang="zh-CN" sz="2200" b="1" kern="100" dirty="0">
                <a:effectLst/>
                <a:latin typeface="Times New Roman" panose="02020603050405020304" charset="0"/>
                <a:ea typeface="宋体" panose="02010600030101010101" pitchFamily="2" charset="-122"/>
              </a:rPr>
              <a:t>UWB</a:t>
            </a:r>
            <a:r>
              <a:rPr lang="zh-CN" altLang="zh-CN" sz="2200" b="1" kern="100" dirty="0">
                <a:effectLst/>
                <a:latin typeface="Times New Roman" panose="02020603050405020304" charset="0"/>
                <a:ea typeface="宋体" panose="02010600030101010101" pitchFamily="2" charset="-122"/>
              </a:rPr>
              <a:t>的定义为：信号带宽大于</a:t>
            </a:r>
            <a:r>
              <a:rPr lang="en-US" altLang="zh-CN" sz="2200" b="1" kern="100" dirty="0">
                <a:effectLst/>
                <a:latin typeface="Times New Roman" panose="02020603050405020304" charset="0"/>
                <a:ea typeface="宋体" panose="02010600030101010101" pitchFamily="2" charset="-122"/>
              </a:rPr>
              <a:t>500 Hz</a:t>
            </a:r>
            <a:r>
              <a:rPr lang="zh-CN" altLang="zh-CN" sz="2200" b="1" kern="100" dirty="0">
                <a:effectLst/>
                <a:latin typeface="Times New Roman" panose="02020603050405020304" charset="0"/>
                <a:ea typeface="宋体" panose="02010600030101010101" pitchFamily="2" charset="-122"/>
              </a:rPr>
              <a:t>，或带宽与中心频率之比大于</a:t>
            </a:r>
            <a:r>
              <a:rPr lang="en-US" altLang="zh-CN" sz="2200" b="1" kern="100" dirty="0">
                <a:effectLst/>
                <a:latin typeface="Times New Roman" panose="02020603050405020304" charset="0"/>
                <a:ea typeface="宋体" panose="02010600030101010101" pitchFamily="2" charset="-122"/>
              </a:rPr>
              <a:t>25%</a:t>
            </a:r>
            <a:r>
              <a:rPr lang="zh-CN" altLang="zh-CN" sz="2200" b="1" kern="100" dirty="0">
                <a:effectLst/>
                <a:latin typeface="Times New Roman" panose="02020603050405020304" charset="0"/>
                <a:ea typeface="宋体" panose="02010600030101010101" pitchFamily="2" charset="-122"/>
              </a:rPr>
              <a:t>的带宽为超宽带。信号带宽和中心频率之比表达式为：</a:t>
            </a:r>
            <a:endParaRPr lang="en-US" altLang="zh-CN" sz="2200" b="1" kern="100" dirty="0">
              <a:effectLst/>
              <a:latin typeface="Times New Roman" panose="02020603050405020304" charset="0"/>
              <a:ea typeface="宋体" panose="02010600030101010101" pitchFamily="2" charset="-122"/>
            </a:endParaRPr>
          </a:p>
          <a:p>
            <a:pPr indent="266700" algn="just"/>
            <a:endParaRPr lang="en-US" altLang="zh-CN" sz="2200" b="1" kern="100" dirty="0">
              <a:latin typeface="Times New Roman" panose="02020603050405020304" charset="0"/>
              <a:ea typeface="宋体" panose="02010600030101010101" pitchFamily="2" charset="-122"/>
            </a:endParaRPr>
          </a:p>
          <a:p>
            <a:pPr indent="266700" algn="just"/>
            <a:endParaRPr lang="en-US" altLang="zh-CN" sz="2200" b="1" kern="100" dirty="0">
              <a:effectLst/>
              <a:latin typeface="Times New Roman" panose="02020603050405020304" charset="0"/>
              <a:ea typeface="宋体" panose="02010600030101010101" pitchFamily="2" charset="-122"/>
            </a:endParaRPr>
          </a:p>
          <a:p>
            <a:pPr indent="266700" algn="r"/>
            <a:r>
              <a:rPr lang="zh-CN" altLang="en-US" sz="2200" b="1" kern="100" dirty="0">
                <a:latin typeface="Times New Roman" panose="02020603050405020304" charset="0"/>
                <a:ea typeface="宋体" panose="02010600030101010101" pitchFamily="2" charset="-122"/>
              </a:rPr>
              <a:t>（</a:t>
            </a:r>
            <a:r>
              <a:rPr lang="en-US" altLang="zh-CN" sz="2200" b="1" kern="100" dirty="0">
                <a:latin typeface="Times New Roman" panose="02020603050405020304" charset="0"/>
                <a:ea typeface="宋体" panose="02010600030101010101" pitchFamily="2" charset="-122"/>
              </a:rPr>
              <a:t>3-5-1</a:t>
            </a:r>
            <a:r>
              <a:rPr lang="zh-CN" altLang="en-US" sz="2200" b="1" kern="100" dirty="0">
                <a:latin typeface="Times New Roman" panose="02020603050405020304" charset="0"/>
                <a:ea typeface="宋体" panose="02010600030101010101" pitchFamily="2" charset="-122"/>
              </a:rPr>
              <a:t>）</a:t>
            </a:r>
            <a:endParaRPr lang="en-US" altLang="zh-CN" sz="2200" b="1" kern="100" dirty="0">
              <a:latin typeface="Times New Roman" panose="02020603050405020304" charset="0"/>
              <a:ea typeface="宋体" panose="02010600030101010101" pitchFamily="2" charset="-122"/>
            </a:endParaRPr>
          </a:p>
          <a:p>
            <a:pPr indent="266700" algn="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l"/>
            <a:r>
              <a:rPr lang="zh-CN" altLang="zh-CN" sz="2200" b="1" kern="100" dirty="0">
                <a:effectLst/>
                <a:latin typeface="Times New Roman" panose="02020603050405020304" charset="0"/>
                <a:ea typeface="宋体" panose="02010600030101010101" pitchFamily="2" charset="-122"/>
                <a:cs typeface="Times New Roman" panose="02020603050405020304" charset="0"/>
              </a:rPr>
              <a:t>式中</a:t>
            </a:r>
            <a:r>
              <a:rPr lang="zh-CN" altLang="en-US" sz="2200" b="1" kern="100" dirty="0">
                <a:latin typeface="Times New Roman" panose="02020603050405020304" charset="0"/>
                <a:ea typeface="宋体" panose="02010600030101010101" pitchFamily="2" charset="-122"/>
                <a:cs typeface="Times New Roman" panose="02020603050405020304" charset="0"/>
              </a:rPr>
              <a:t>，   </a:t>
            </a:r>
            <a:r>
              <a:rPr lang="en-US" altLang="zh-CN" sz="2200" b="1" i="1" kern="100" dirty="0">
                <a:effectLst/>
                <a:latin typeface="Times New Roman" panose="02020603050405020304" charset="0"/>
                <a:ea typeface="宋体" panose="02010600030101010101" pitchFamily="2" charset="-122"/>
              </a:rPr>
              <a:t>f</a:t>
            </a:r>
            <a:r>
              <a:rPr lang="en-US" altLang="zh-CN" sz="2200" b="1" i="1" kern="100" baseline="-25000" dirty="0">
                <a:effectLst/>
                <a:latin typeface="Times New Roman" panose="02020603050405020304" charset="0"/>
                <a:ea typeface="宋体" panose="02010600030101010101" pitchFamily="2" charset="-122"/>
              </a:rPr>
              <a:t>c</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为带宽与中心频率之比，</a:t>
            </a:r>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为系统最高频率，</a:t>
            </a:r>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为系统最低频率。</a:t>
            </a:r>
            <a:r>
              <a:rPr lang="en-US" altLang="zh-CN" sz="2200" b="1" kern="100" dirty="0">
                <a:effectLst/>
                <a:latin typeface="Times New Roman" panose="02020603050405020304" charset="0"/>
                <a:ea typeface="宋体" panose="02010600030101010101" pitchFamily="2" charset="-122"/>
              </a:rPr>
              <a:t>FCC</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还规定，</a:t>
            </a:r>
            <a:r>
              <a:rPr lang="en-US" altLang="zh-CN" sz="2200" b="1" kern="100" dirty="0">
                <a:effectLst/>
                <a:latin typeface="Times New Roman" panose="02020603050405020304" charset="0"/>
                <a:ea typeface="宋体" panose="02010600030101010101" pitchFamily="2" charset="-122"/>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无线通信的频率范围是</a:t>
            </a:r>
            <a:r>
              <a:rPr lang="en-US" altLang="zh-CN" sz="2200" b="1" kern="100" dirty="0">
                <a:effectLst/>
                <a:latin typeface="Times New Roman" panose="02020603050405020304" charset="0"/>
                <a:ea typeface="宋体" panose="02010600030101010101" pitchFamily="2" charset="-122"/>
              </a:rPr>
              <a:t>3.1 GHz~ 10.6 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endParaRPr lang="en-US" altLang="zh-CN" sz="2200" b="1" kern="100" dirty="0">
              <a:effectLst/>
              <a:latin typeface="Times New Roman" panose="02020603050405020304" charset="0"/>
              <a:ea typeface="宋体" panose="02010600030101010101" pitchFamily="2" charset="-122"/>
            </a:endParaRPr>
          </a:p>
          <a:p>
            <a:pPr indent="266700"/>
            <a:endParaRPr lang="zh-CN" altLang="zh-CN" sz="2200" b="1" kern="100" dirty="0">
              <a:effectLst/>
              <a:latin typeface="Times New Roman" panose="02020603050405020304" charset="0"/>
              <a:ea typeface="宋体" panose="02010600030101010101" pitchFamily="2" charset="-122"/>
            </a:endParaRPr>
          </a:p>
        </p:txBody>
      </p:sp>
      <p:graphicFrame>
        <p:nvGraphicFramePr>
          <p:cNvPr id="4" name="对象 3"/>
          <p:cNvGraphicFramePr>
            <a:graphicFrameLocks noChangeAspect="1"/>
          </p:cNvGraphicFramePr>
          <p:nvPr/>
        </p:nvGraphicFramePr>
        <p:xfrm>
          <a:off x="4152264" y="2674053"/>
          <a:ext cx="3429001" cy="1207943"/>
        </p:xfrm>
        <a:graphic>
          <a:graphicData uri="http://schemas.openxmlformats.org/presentationml/2006/ole">
            <mc:AlternateContent xmlns:mc="http://schemas.openxmlformats.org/markup-compatibility/2006">
              <mc:Choice xmlns:v="urn:schemas-microsoft-com:vml" Requires="v">
                <p:oleObj spid="_x0000_s24775" name="Equation" r:id="rId1" imgW="1677670" imgH="591185" progId="Equation.DSMT4">
                  <p:embed/>
                </p:oleObj>
              </mc:Choice>
              <mc:Fallback>
                <p:oleObj name="Equation" r:id="rId1" imgW="1677670" imgH="591185" progId="Equation.DSMT4">
                  <p:embed/>
                  <p:pic>
                    <p:nvPicPr>
                      <p:cNvPr id="0" name="图片 2078"/>
                      <p:cNvPicPr/>
                      <p:nvPr/>
                    </p:nvPicPr>
                    <p:blipFill>
                      <a:blip r:embed="rId2"/>
                      <a:stretch>
                        <a:fillRect/>
                      </a:stretch>
                    </p:blipFill>
                    <p:spPr>
                      <a:xfrm>
                        <a:off x="4152264" y="2674053"/>
                        <a:ext cx="3429001" cy="1207943"/>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5676264" y="3846978"/>
          <a:ext cx="381000" cy="415636"/>
        </p:xfrm>
        <a:graphic>
          <a:graphicData uri="http://schemas.openxmlformats.org/presentationml/2006/ole">
            <mc:AlternateContent xmlns:mc="http://schemas.openxmlformats.org/markup-compatibility/2006">
              <mc:Choice xmlns:v="urn:schemas-microsoft-com:vml" Requires="v">
                <p:oleObj spid="_x0000_s2" name="Equation" r:id="rId3" imgW="210185" imgH="229870" progId="Equation.DSMT4">
                  <p:embed/>
                </p:oleObj>
              </mc:Choice>
              <mc:Fallback>
                <p:oleObj name="Equation" r:id="rId3" imgW="210185" imgH="229870" progId="Equation.DSMT4">
                  <p:embed/>
                  <p:pic>
                    <p:nvPicPr>
                      <p:cNvPr id="0" name="图片 2079"/>
                      <p:cNvPicPr/>
                      <p:nvPr/>
                    </p:nvPicPr>
                    <p:blipFill>
                      <a:blip r:embed="rId4"/>
                      <a:stretch>
                        <a:fillRect/>
                      </a:stretch>
                    </p:blipFill>
                    <p:spPr>
                      <a:xfrm>
                        <a:off x="5676264" y="3846978"/>
                        <a:ext cx="381000" cy="415636"/>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8383097" y="3881996"/>
          <a:ext cx="329045" cy="415636"/>
        </p:xfrm>
        <a:graphic>
          <a:graphicData uri="http://schemas.openxmlformats.org/presentationml/2006/ole">
            <mc:AlternateContent xmlns:mc="http://schemas.openxmlformats.org/markup-compatibility/2006">
              <mc:Choice xmlns:v="urn:schemas-microsoft-com:vml" Requires="v">
                <p:oleObj spid="_x0000_s3" name="Equation" r:id="rId5" imgW="182880" imgH="229870" progId="Equation.DSMT4">
                  <p:embed/>
                </p:oleObj>
              </mc:Choice>
              <mc:Fallback>
                <p:oleObj name="Equation" r:id="rId5" imgW="182880" imgH="229870" progId="Equation.DSMT4">
                  <p:embed/>
                  <p:pic>
                    <p:nvPicPr>
                      <p:cNvPr id="0" name="图片 2080"/>
                      <p:cNvPicPr/>
                      <p:nvPr/>
                    </p:nvPicPr>
                    <p:blipFill>
                      <a:blip r:embed="rId6"/>
                      <a:stretch>
                        <a:fillRect/>
                      </a:stretch>
                    </p:blipFill>
                    <p:spPr>
                      <a:xfrm>
                        <a:off x="8383097" y="3881996"/>
                        <a:ext cx="329045" cy="415636"/>
                      </a:xfrm>
                      <a:prstGeom prst="rect">
                        <a:avLst/>
                      </a:prstGeom>
                    </p:spPr>
                  </p:pic>
                </p:oleObj>
              </mc:Fallback>
            </mc:AlternateContent>
          </a:graphicData>
        </a:graphic>
      </p:graphicFrame>
      <p:sp>
        <p:nvSpPr>
          <p:cNvPr id="100" name="文本框 99"/>
          <p:cNvSpPr txBox="1"/>
          <p:nvPr/>
        </p:nvSpPr>
        <p:spPr>
          <a:xfrm>
            <a:off x="786765" y="413385"/>
            <a:ext cx="5080000" cy="768350"/>
          </a:xfrm>
          <a:prstGeom prst="rect">
            <a:avLst/>
          </a:prstGeom>
          <a:noFill/>
          <a:ln w="9525">
            <a:noFill/>
          </a:ln>
        </p:spPr>
        <p:txBody>
          <a:bodyPr>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3.5.1  超宽带技术</a:t>
            </a:r>
            <a:endParaRPr lang="zh-CN" altLang="en-US" sz="2800" b="1" dirty="0">
              <a:solidFill>
                <a:srgbClr val="000000"/>
              </a:solidFill>
              <a:cs typeface="Times New Roman" panose="020206030504050203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75945" y="1078230"/>
            <a:ext cx="9864725" cy="5446395"/>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的收发机与传统的无线收发机相比结构相对简单。</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发射机直接发送纳秒级脉冲来传输数据而不需要使用载波电路，经调制后的数据与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伪随机码产生器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生成的伪随机码一起送入</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可编程时延电路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可编程时延电路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产生的时延控制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脉冲信号发生器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的发送时刻。</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发射机框图如图</a:t>
            </a:r>
            <a:r>
              <a:rPr lang="en-US" altLang="zh-CN" sz="2200" b="1" kern="100" dirty="0">
                <a:effectLst/>
                <a:latin typeface="Times New Roman" panose="02020603050405020304" charset="0"/>
                <a:ea typeface="宋体" panose="02010600030101010101" pitchFamily="2" charset="-122"/>
                <a:cs typeface="Times New Roman" panose="02020603050405020304" charset="0"/>
              </a:rPr>
              <a:t>3-5-1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所示。</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ctr"/>
            <a:r>
              <a:rPr lang="zh-CN" altLang="zh-CN" sz="1800" b="1" kern="100" dirty="0">
                <a:effectLst/>
                <a:latin typeface="Times New Roman" panose="02020603050405020304" charset="0"/>
                <a:ea typeface="宋体" panose="02010600030101010101" pitchFamily="2" charset="-122"/>
              </a:rPr>
              <a:t>图</a:t>
            </a:r>
            <a:r>
              <a:rPr lang="en-US" altLang="zh-CN" sz="1800" b="1" kern="100" dirty="0">
                <a:effectLst/>
                <a:latin typeface="Times New Roman" panose="02020603050405020304" charset="0"/>
                <a:ea typeface="宋体" panose="02010600030101010101" pitchFamily="2" charset="-122"/>
              </a:rPr>
              <a:t>3-5-1  UWB</a:t>
            </a:r>
            <a:r>
              <a:rPr lang="zh-CN" altLang="zh-CN" sz="1800" b="1" kern="100" dirty="0">
                <a:effectLst/>
                <a:latin typeface="Times New Roman" panose="02020603050405020304" charset="0"/>
                <a:ea typeface="宋体" panose="02010600030101010101" pitchFamily="2" charset="-122"/>
              </a:rPr>
              <a:t>发射机框图</a:t>
            </a:r>
            <a:endParaRPr lang="zh-CN" altLang="zh-CN" sz="1800" b="1" kern="100" dirty="0">
              <a:effectLst/>
              <a:latin typeface="Times New Roman" panose="02020603050405020304" charset="0"/>
              <a:ea typeface="宋体" panose="02010600030101010101" pitchFamily="2" charset="-122"/>
            </a:endParaRPr>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4071937" y="2581275"/>
          <a:ext cx="4600575" cy="3369636"/>
        </p:xfrm>
        <a:graphic>
          <a:graphicData uri="http://schemas.openxmlformats.org/presentationml/2006/ole">
            <mc:AlternateContent xmlns:mc="http://schemas.openxmlformats.org/markup-compatibility/2006">
              <mc:Choice xmlns:v="urn:schemas-microsoft-com:vml" Requires="v">
                <p:oleObj spid="_x0000_s24775" name="Visio" r:id="rId1" imgW="5778500" imgH="4229100" progId="Visio.Drawing.15">
                  <p:embed/>
                </p:oleObj>
              </mc:Choice>
              <mc:Fallback>
                <p:oleObj name="Visio" r:id="rId1" imgW="5778500" imgH="4229100" progId="Visio.Drawing.15">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937" y="2581275"/>
                        <a:ext cx="4600575" cy="3369636"/>
                      </a:xfrm>
                      <a:prstGeom prst="rect">
                        <a:avLst/>
                      </a:prstGeom>
                      <a:noFill/>
                    </p:spPr>
                  </p:pic>
                </p:oleObj>
              </mc:Fallback>
            </mc:AlternateContent>
          </a:graphicData>
        </a:graphic>
      </p:graphicFrame>
      <p:sp>
        <p:nvSpPr>
          <p:cNvPr id="100" name="文本框 99"/>
          <p:cNvSpPr txBox="1"/>
          <p:nvPr/>
        </p:nvSpPr>
        <p:spPr>
          <a:xfrm>
            <a:off x="708025" y="154940"/>
            <a:ext cx="5080000" cy="768350"/>
          </a:xfrm>
          <a:prstGeom prst="rect">
            <a:avLst/>
          </a:prstGeom>
          <a:noFill/>
          <a:ln w="9525">
            <a:noFill/>
          </a:ln>
        </p:spPr>
        <p:txBody>
          <a:bodyPr>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3.5.1  超宽带技术</a:t>
            </a:r>
            <a:endParaRPr lang="zh-CN" altLang="en-US" sz="2800" b="1" dirty="0">
              <a:solidFill>
                <a:srgbClr val="000000"/>
              </a:solidFill>
              <a:cs typeface="Times New Roman" panose="0202060305040502030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6090" y="1321435"/>
            <a:ext cx="3971290" cy="7262495"/>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在接收端采用相关器进行接收，如图</a:t>
            </a:r>
            <a:r>
              <a:rPr lang="en-US" altLang="zh-CN" sz="2200" b="1" kern="100" dirty="0">
                <a:effectLst/>
                <a:latin typeface="Times New Roman" panose="02020603050405020304" charset="0"/>
                <a:ea typeface="宋体" panose="02010600030101010101" pitchFamily="2" charset="-122"/>
                <a:cs typeface="Times New Roman" panose="02020603050405020304" charset="0"/>
              </a:rPr>
              <a:t>3-5-2</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所示为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接收机框图，其中虚线部分为相关器。相关器由乘法器、积分器和取样</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保持</a:t>
            </a:r>
            <a:r>
              <a:rPr lang="en-US" altLang="zh-CN" sz="2200" b="1" kern="100" dirty="0">
                <a:effectLst/>
                <a:latin typeface="Times New Roman" panose="02020603050405020304" charset="0"/>
                <a:ea typeface="宋体" panose="02010600030101010101" pitchFamily="2" charset="-122"/>
                <a:cs typeface="Times New Roman" panose="02020603050405020304" charset="0"/>
              </a:rPr>
              <a:t>3</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部分电路组成。</a:t>
            </a:r>
            <a:r>
              <a:rPr lang="zh-CN" altLang="zh-CN" sz="2200" b="1" kern="100" dirty="0">
                <a:effectLst/>
                <a:latin typeface="Times New Roman" panose="02020603050405020304" charset="0"/>
                <a:ea typeface="宋体" panose="02010600030101010101" pitchFamily="2" charset="-122"/>
                <a:cs typeface="Times New Roman" panose="02020603050405020304" charset="0"/>
                <a:sym typeface="+mn-ea"/>
              </a:rPr>
              <a:t>相关器用特定的模板波形与接收到的射频信号相乘，再积分得到一个直流输出电压、接收机的基带信号处理器从取样/保持电路中解调数据，基带信号处理器的输出控制可编程时延电路，为可编程时延电路提供定时跟踪信号，保证相关器正确解调出数据。</a:t>
            </a:r>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200" b="1" kern="100" dirty="0">
              <a:latin typeface="Times New Roman" panose="02020603050405020304" charset="0"/>
              <a:ea typeface="宋体" panose="02010600030101010101" pitchFamily="2" charset="-122"/>
              <a:cs typeface="Times New Roman" panose="02020603050405020304" charset="0"/>
            </a:endParaRPr>
          </a:p>
          <a:p>
            <a:pPr indent="266700" algn="just"/>
            <a:endParaRPr kumimoji="0" lang="en-US" altLang="zh-CN" sz="2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a:p>
            <a:pPr indent="266700" algn="just"/>
            <a:endParaRPr lang="en-US" altLang="zh-CN" sz="2400" dirty="0">
              <a:latin typeface="Times New Roman" panose="02020603050405020304" charset="0"/>
              <a:ea typeface="宋体" panose="02010600030101010101" pitchFamily="2" charset="-122"/>
              <a:cs typeface="Times New Roman" panose="02020603050405020304" charset="0"/>
            </a:endParaRPr>
          </a:p>
          <a:p>
            <a:pPr indent="266700" algn="ctr"/>
            <a:endParaRPr kumimoji="0" lang="zh-CN" altLang="en-US" sz="4400" b="1" i="0" u="none" strike="noStrike" cap="none" normalizeH="0" baseline="0" dirty="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7"/>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3" name="对象 12"/>
          <p:cNvGraphicFramePr>
            <a:graphicFrameLocks noChangeAspect="1"/>
          </p:cNvGraphicFramePr>
          <p:nvPr/>
        </p:nvGraphicFramePr>
        <p:xfrm>
          <a:off x="4671060" y="1470659"/>
          <a:ext cx="7029450" cy="4257201"/>
        </p:xfrm>
        <a:graphic>
          <a:graphicData uri="http://schemas.openxmlformats.org/presentationml/2006/ole">
            <mc:AlternateContent xmlns:mc="http://schemas.openxmlformats.org/markup-compatibility/2006">
              <mc:Choice xmlns:v="urn:schemas-microsoft-com:vml" Requires="v">
                <p:oleObj spid="_x0000_s24775" name="Visio" r:id="rId1" imgW="9601200" imgH="5829300" progId="Visio.Drawing.15">
                  <p:embed/>
                </p:oleObj>
              </mc:Choice>
              <mc:Fallback>
                <p:oleObj name="Visio" r:id="rId1" imgW="9601200" imgH="5829300" progId="Visio.Drawing.15">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1060" y="1470659"/>
                        <a:ext cx="7029450" cy="4257201"/>
                      </a:xfrm>
                      <a:prstGeom prst="rect">
                        <a:avLst/>
                      </a:prstGeom>
                      <a:noFill/>
                    </p:spPr>
                  </p:pic>
                </p:oleObj>
              </mc:Fallback>
            </mc:AlternateContent>
          </a:graphicData>
        </a:graphic>
      </p:graphicFrame>
      <p:sp>
        <p:nvSpPr>
          <p:cNvPr id="5" name="文本框 4"/>
          <p:cNvSpPr txBox="1"/>
          <p:nvPr/>
        </p:nvSpPr>
        <p:spPr>
          <a:xfrm>
            <a:off x="795020" y="5616575"/>
            <a:ext cx="10905490" cy="429895"/>
          </a:xfrm>
          <a:prstGeom prst="rect">
            <a:avLst/>
          </a:prstGeom>
          <a:noFill/>
        </p:spPr>
        <p:txBody>
          <a:bodyPr wrap="square" rtlCol="0" anchor="t">
            <a:spAutoFit/>
          </a:bodyPr>
          <a:lstStyle/>
          <a:p>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2" name="文本框 1"/>
          <p:cNvSpPr txBox="1"/>
          <p:nvPr/>
        </p:nvSpPr>
        <p:spPr>
          <a:xfrm>
            <a:off x="6798310" y="5875020"/>
            <a:ext cx="2774950" cy="368300"/>
          </a:xfrm>
          <a:prstGeom prst="rect">
            <a:avLst/>
          </a:prstGeom>
          <a:noFill/>
        </p:spPr>
        <p:txBody>
          <a:bodyPr wrap="none" rtlCol="0">
            <a:spAutoFit/>
          </a:bodyPr>
          <a:p>
            <a:pPr algn="l"/>
            <a:r>
              <a:rPr lang="zh-CN" altLang="zh-CN" b="1" dirty="0">
                <a:ln>
                  <a:noFill/>
                </a:ln>
                <a:effectLst/>
                <a:latin typeface="Times New Roman" panose="02020603050405020304" charset="0"/>
                <a:ea typeface="宋体" panose="02010600030101010101" pitchFamily="2" charset="-122"/>
                <a:cs typeface="Times New Roman" panose="02020603050405020304" charset="0"/>
                <a:sym typeface="+mn-ea"/>
              </a:rPr>
              <a:t>图</a:t>
            </a:r>
            <a:r>
              <a:rPr lang="en-US" altLang="zh-CN" b="1" dirty="0">
                <a:ln>
                  <a:noFill/>
                </a:ln>
                <a:effectLst/>
                <a:latin typeface="Times New Roman" panose="02020603050405020304" charset="0"/>
                <a:ea typeface="宋体" panose="02010600030101010101" pitchFamily="2" charset="-122"/>
                <a:cs typeface="Times New Roman" panose="02020603050405020304" charset="0"/>
                <a:sym typeface="+mn-ea"/>
              </a:rPr>
              <a:t>3-5-2   UWB</a:t>
            </a:r>
            <a:r>
              <a:rPr lang="zh-CN" altLang="en-US" b="1" dirty="0">
                <a:ln>
                  <a:noFill/>
                </a:ln>
                <a:effectLst/>
                <a:latin typeface="Times New Roman" panose="02020603050405020304" charset="0"/>
                <a:ea typeface="宋体" panose="02010600030101010101" pitchFamily="2" charset="-122"/>
                <a:cs typeface="Times New Roman" panose="02020603050405020304" charset="0"/>
                <a:sym typeface="+mn-ea"/>
              </a:rPr>
              <a:t>接收机框图</a:t>
            </a:r>
            <a:endParaRPr kumimoji="0" lang="zh-CN" altLang="en-US" sz="4400" b="1" i="0" u="none" strike="noStrike" cap="none" normalizeH="0" baseline="0" dirty="0">
              <a:ln>
                <a:noFill/>
              </a:ln>
              <a:solidFill>
                <a:schemeClr val="tx1"/>
              </a:solidFill>
              <a:effectLst/>
              <a:latin typeface="Arial" panose="020B0604020202020204" pitchFamily="34" charset="0"/>
            </a:endParaRPr>
          </a:p>
        </p:txBody>
      </p:sp>
      <p:sp>
        <p:nvSpPr>
          <p:cNvPr id="100" name="文本框 99"/>
          <p:cNvSpPr txBox="1"/>
          <p:nvPr/>
        </p:nvSpPr>
        <p:spPr>
          <a:xfrm>
            <a:off x="636905" y="351155"/>
            <a:ext cx="5080000" cy="768350"/>
          </a:xfrm>
          <a:prstGeom prst="rect">
            <a:avLst/>
          </a:prstGeom>
          <a:noFill/>
          <a:ln w="9525">
            <a:noFill/>
          </a:ln>
        </p:spPr>
        <p:txBody>
          <a:bodyPr>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3.5.1  超宽带技术</a:t>
            </a:r>
            <a:endParaRPr lang="zh-CN" altLang="en-US" sz="2800" b="1" dirty="0">
              <a:solidFill>
                <a:srgbClr val="000000"/>
              </a:solidFill>
              <a:cs typeface="Times New Roman" panose="0202060305040502030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65784" y="1189414"/>
            <a:ext cx="10909300" cy="4667945"/>
          </a:xfrm>
          <a:prstGeom prst="rect">
            <a:avLst/>
          </a:prstGeom>
          <a:noFill/>
          <a:ln w="9525">
            <a:noFill/>
          </a:ln>
        </p:spPr>
        <p:txBody>
          <a:bodyPr wrap="square">
            <a:spAutoFit/>
          </a:bodyPr>
          <a:lstStyle/>
          <a:p>
            <a:pPr indent="266700" algn="just">
              <a:spcBef>
                <a:spcPts val="1000"/>
              </a:spcBef>
            </a:pPr>
            <a:r>
              <a:rPr lang="zh-CN" altLang="zh-CN" sz="2200" b="1" kern="100" dirty="0">
                <a:effectLst/>
                <a:latin typeface="Times New Roman" panose="02020603050405020304" charset="0"/>
                <a:ea typeface="宋体" panose="02010600030101010101" pitchFamily="2" charset="-122"/>
                <a:cs typeface="Times New Roman" panose="02020603050405020304" charset="0"/>
              </a:rPr>
              <a:t>与传统的窄带收发信机相比，</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技术具有以下优点：</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占有频带宽，传输速率高。</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使用的带宽在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 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以上，数据传输率高，目前在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10m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范围内其传输速率可以达到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420Mb/s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保密性好。</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保密性表现在两方面：一方面是采用跳时扩频，接收机只有已知发送端扩频码才能解出发射数据；另一方面是系统的发射功率谱密度极低，对于一般的通信系统，</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信号相当于白噪声信号，用传统的接收机无法接收。</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抗多径衰落。</a:t>
            </a:r>
            <a:r>
              <a:rPr lang="en-US" altLang="zh-CN" sz="2200" b="1" kern="100" dirty="0">
                <a:effectLst/>
                <a:latin typeface="Times New Roman" panose="02020603050405020304" charset="0"/>
                <a:ea typeface="宋体" panose="02010600030101010101" pitchFamily="2" charset="-122"/>
                <a:cs typeface="Times New Roman" panose="02020603050405020304" charset="0"/>
              </a:rPr>
              <a:t>UWB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每次发射的脉冲时间短，当发射波来时已经接受完毕，因此抗多径衰落能力较强。</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cs typeface="Times New Roman" panose="02020603050405020304" charset="0"/>
              </a:rPr>
              <a:t>无载波通信，功耗低，收发设备简单。采用纳秒级脉冲宽度的周期性非正弦高斯短脉冲信号传输信息，通信设备使用小于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1 </a:t>
            </a:r>
            <a:r>
              <a:rPr lang="en-US" altLang="zh-CN" sz="2200" b="1" kern="100" dirty="0" err="1">
                <a:effectLst/>
                <a:latin typeface="Times New Roman" panose="02020603050405020304" charset="0"/>
                <a:ea typeface="宋体" panose="02010600030101010101" pitchFamily="2" charset="-122"/>
                <a:cs typeface="Times New Roman" panose="02020603050405020304" charset="0"/>
              </a:rPr>
              <a:t>mW</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的发射功率就能实现通信，不需要上、下变频器，功率放大器和混频器，接收端无需中频处理，因此相对于传统的窄带信号来说简化了收发设备。</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0" name="文本框 99"/>
          <p:cNvSpPr txBox="1"/>
          <p:nvPr/>
        </p:nvSpPr>
        <p:spPr>
          <a:xfrm>
            <a:off x="748665" y="210185"/>
            <a:ext cx="5080000" cy="768350"/>
          </a:xfrm>
          <a:prstGeom prst="rect">
            <a:avLst/>
          </a:prstGeom>
          <a:noFill/>
          <a:ln w="9525">
            <a:noFill/>
          </a:ln>
        </p:spPr>
        <p:txBody>
          <a:bodyPr>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3.5.1  超宽带技术</a:t>
            </a:r>
            <a:endParaRPr lang="zh-CN" altLang="en-US" sz="2800" b="1" dirty="0">
              <a:solidFill>
                <a:srgbClr val="000000"/>
              </a:solidFill>
              <a:cs typeface="Times New Roman" panose="0202060305040502030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86765" y="2065020"/>
            <a:ext cx="10909300" cy="4283224"/>
          </a:xfrm>
          <a:prstGeom prst="rect">
            <a:avLst/>
          </a:prstGeom>
          <a:noFill/>
          <a:ln w="9525">
            <a:noFill/>
          </a:ln>
        </p:spPr>
        <p:txBody>
          <a:bodyPr wrap="square">
            <a:spAutoFit/>
          </a:bodyPr>
          <a:lstStyle/>
          <a:p>
            <a:pPr marL="342900" indent="-342900" algn="just">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一词源自蜜蜂群在发现花粉位置时，通过</a:t>
            </a:r>
            <a:r>
              <a:rPr lang="en-US" altLang="zh-CN" sz="2200" b="1" kern="100" dirty="0" err="1">
                <a:effectLst/>
                <a:latin typeface="Times New Roman" panose="02020603050405020304" charset="0"/>
                <a:ea typeface="宋体" panose="02010600030101010101" pitchFamily="2" charset="-122"/>
                <a:cs typeface="Times New Roman" panose="02020603050405020304" charset="0"/>
              </a:rPr>
              <a:t>ZigZag</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形舞蹈来告知同伴，达到交换信息的目的，可以说这是一种小功物通过简捷的方式实现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无线</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的沟通。</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技术是一种面向自动化和无线控制的低速率、低功耗、低复杂度、低价格的无线网络方案。在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方案被提出一段时间后，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工作组也开始了一种低速率无线通信标准的制定工作。最终</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联盟和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工作组决定合作共同制定一种通信协议标准，该协议标准被命名为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just">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的通信速率要求低于蓝牙，并由电池供电为设备提供无线通信功能，同时希望在不更换电池并且不充电的情况下能正常工作几个月甚至几年。</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支持</a:t>
            </a:r>
            <a:r>
              <a:rPr lang="en-US" altLang="zh-CN" sz="2200" b="1" kern="100" dirty="0">
                <a:effectLst/>
                <a:latin typeface="Times New Roman" panose="02020603050405020304" charset="0"/>
                <a:ea typeface="宋体" panose="02010600030101010101" pitchFamily="2" charset="-122"/>
                <a:cs typeface="Times New Roman" panose="02020603050405020304" charset="0"/>
              </a:rPr>
              <a:t>Mesh</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网络拓扑结构，网络规模可以比蓝牙设备大得多。</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无线设备工作在公共频段上（全球为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，美国为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915MHz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，欧洲为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868MHz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），传输距离为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10~75m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，具体数值取决于射频环境以及特定应用条件下传输功耗。</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的通信速率在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时为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250kb/s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915MHz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时为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40kb/s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868MHz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时为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20kb/s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8" name="文本框 7"/>
          <p:cNvSpPr txBox="1"/>
          <p:nvPr/>
        </p:nvSpPr>
        <p:spPr>
          <a:xfrm>
            <a:off x="641350" y="1205537"/>
            <a:ext cx="6100762" cy="461665"/>
          </a:xfrm>
          <a:prstGeom prst="rect">
            <a:avLst/>
          </a:prstGeom>
          <a:noFill/>
        </p:spPr>
        <p:txBody>
          <a:bodyPr wrap="square">
            <a:spAutoFit/>
          </a:bodyPr>
          <a:lstStyle/>
          <a:p>
            <a:r>
              <a:rPr lang="en-US" altLang="zh-CN" sz="2400" b="1" dirty="0">
                <a:latin typeface="Times New Roman" panose="02020603050405020304" charset="0"/>
                <a:ea typeface="宋体" panose="02010600030101010101" pitchFamily="2" charset="-122"/>
              </a:rPr>
              <a:t>3.5.2.1  ZigBee</a:t>
            </a:r>
            <a:r>
              <a:rPr lang="zh-CN" altLang="zh-CN" sz="2400" b="1" dirty="0">
                <a:latin typeface="Times New Roman" panose="02020603050405020304" charset="0"/>
                <a:ea typeface="宋体" panose="02010600030101010101" pitchFamily="2" charset="-122"/>
              </a:rPr>
              <a:t>的基本概况</a:t>
            </a:r>
            <a:endParaRPr lang="zh-CN" altLang="zh-CN" sz="2400" b="1" dirty="0">
              <a:latin typeface="Times New Roman" panose="02020603050405020304" charset="0"/>
              <a:ea typeface="宋体" panose="02010600030101010101" pitchFamily="2" charset="-122"/>
            </a:endParaRPr>
          </a:p>
        </p:txBody>
      </p:sp>
      <p:sp>
        <p:nvSpPr>
          <p:cNvPr id="5" name="标题 1"/>
          <p:cNvSpPr>
            <a:spLocks noGrp="1"/>
          </p:cNvSpPr>
          <p:nvPr>
            <p:ph type="title"/>
          </p:nvPr>
        </p:nvSpPr>
        <p:spPr>
          <a:xfrm>
            <a:off x="641350" y="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  ZigBee技术</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88770"/>
            <a:ext cx="10909300" cy="2975173"/>
          </a:xfrm>
          <a:prstGeom prst="rect">
            <a:avLst/>
          </a:prstGeom>
          <a:noFill/>
          <a:ln w="9525">
            <a:noFill/>
          </a:ln>
        </p:spPr>
        <p:txBody>
          <a:bodyPr wrap="square">
            <a:spAutoFit/>
          </a:bodyPr>
          <a:lstStyle/>
          <a:p>
            <a:pPr indent="266700" algn="l">
              <a:spcBef>
                <a:spcPts val="1000"/>
              </a:spcBef>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两者之间的区别和联系如下：</a:t>
            </a:r>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l">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完整、充分地利用了</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 15.4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定义的功能强大的物理特性优点。</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l">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增加了逻辑网络和应用软件。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l">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基于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射频标准，同时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联盟通过与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紧密工作来确保一个集成的、完整的市场解决方案。</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marL="342900" indent="-342900" algn="l">
              <a:spcBef>
                <a:spcPts val="1000"/>
              </a:spcBef>
              <a:buFont typeface="Arial" panose="020B0604020202020204" pitchFamily="34" charset="0"/>
              <a:buChar char="•"/>
            </a:pP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802.15.4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工作组主要负责制定物理层和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MAC</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层标准，而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ZigBee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负责网络层、安全层以及应用层的开发。</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8" name="文本框 7"/>
          <p:cNvSpPr txBox="1"/>
          <p:nvPr/>
        </p:nvSpPr>
        <p:spPr>
          <a:xfrm>
            <a:off x="610870" y="1127432"/>
            <a:ext cx="6100762" cy="461665"/>
          </a:xfrm>
          <a:prstGeom prst="rect">
            <a:avLst/>
          </a:prstGeom>
          <a:noFill/>
        </p:spPr>
        <p:txBody>
          <a:bodyPr wrap="square">
            <a:spAutoFit/>
          </a:bodyPr>
          <a:p>
            <a:r>
              <a:rPr lang="en-US" altLang="zh-CN" sz="2400" b="1" dirty="0">
                <a:latin typeface="Times New Roman" panose="02020603050405020304" charset="0"/>
                <a:ea typeface="宋体" panose="02010600030101010101" pitchFamily="2" charset="-122"/>
              </a:rPr>
              <a:t>3.5.2.1  ZigBee</a:t>
            </a:r>
            <a:r>
              <a:rPr lang="zh-CN" altLang="zh-CN" sz="2400" b="1" dirty="0">
                <a:latin typeface="Times New Roman" panose="02020603050405020304" charset="0"/>
                <a:ea typeface="宋体" panose="02010600030101010101" pitchFamily="2" charset="-122"/>
              </a:rPr>
              <a:t>的基本概况</a:t>
            </a:r>
            <a:endParaRPr lang="zh-CN" altLang="zh-CN" sz="2400" b="1" dirty="0">
              <a:latin typeface="Times New Roman" panose="02020603050405020304" charset="0"/>
              <a:ea typeface="宋体" panose="02010600030101010101" pitchFamily="2" charset="-122"/>
            </a:endParaRPr>
          </a:p>
        </p:txBody>
      </p:sp>
      <p:sp>
        <p:nvSpPr>
          <p:cNvPr id="5" name="标题 1"/>
          <p:cNvSpPr>
            <a:spLocks noGrp="1"/>
          </p:cNvSpPr>
          <p:nvPr>
            <p:ph type="title"/>
          </p:nvPr>
        </p:nvSpPr>
        <p:spPr>
          <a:xfrm>
            <a:off x="641350"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  ZigBee技术</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49447" y="943107"/>
            <a:ext cx="10909300" cy="1364476"/>
          </a:xfrm>
          <a:prstGeom prst="rect">
            <a:avLst/>
          </a:prstGeom>
          <a:noFill/>
          <a:ln w="9525">
            <a:noFill/>
          </a:ln>
        </p:spPr>
        <p:txBody>
          <a:bodyPr wrap="square">
            <a:spAutoFit/>
          </a:bodyPr>
          <a:lstStyle/>
          <a:p>
            <a:pPr indent="266700" algn="l">
              <a:spcBef>
                <a:spcPts val="1000"/>
              </a:spcBef>
            </a:pP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和</a:t>
            </a:r>
            <a:r>
              <a:rPr lang="en-US" altLang="zh-CN" sz="2200" b="1" kern="100" dirty="0">
                <a:effectLst/>
                <a:latin typeface="Times New Roman" panose="02020603050405020304" charset="0"/>
                <a:ea typeface="宋体" panose="02010600030101010101" pitchFamily="2" charset="-122"/>
              </a:rPr>
              <a:t>IEEE 802.11b</a:t>
            </a:r>
            <a:r>
              <a:rPr lang="zh-CN" altLang="zh-CN" sz="2200" b="1" kern="100" dirty="0">
                <a:effectLst/>
                <a:latin typeface="Times New Roman" panose="02020603050405020304" charset="0"/>
                <a:ea typeface="宋体" panose="02010600030101010101" pitchFamily="2" charset="-122"/>
              </a:rPr>
              <a:t>的区别如下表</a:t>
            </a:r>
            <a:r>
              <a:rPr lang="en-US" altLang="zh-CN" sz="2200" b="1" kern="100" dirty="0">
                <a:effectLst/>
                <a:latin typeface="Times New Roman" panose="02020603050405020304" charset="0"/>
                <a:ea typeface="宋体" panose="02010600030101010101" pitchFamily="2" charset="-122"/>
              </a:rPr>
              <a:t>3-5-1</a:t>
            </a:r>
            <a:r>
              <a:rPr lang="zh-CN" altLang="zh-CN" sz="2200" b="1" kern="100" dirty="0">
                <a:effectLst/>
                <a:latin typeface="Times New Roman" panose="02020603050405020304" charset="0"/>
                <a:ea typeface="宋体" panose="02010600030101010101" pitchFamily="2" charset="-122"/>
              </a:rPr>
              <a:t>所示。</a:t>
            </a:r>
            <a:endParaRPr lang="en-US" altLang="zh-CN" sz="2200" b="1" kern="100" dirty="0">
              <a:effectLst/>
              <a:latin typeface="Times New Roman" panose="02020603050405020304" charset="0"/>
              <a:ea typeface="宋体" panose="02010600030101010101" pitchFamily="2" charset="-122"/>
            </a:endParaRPr>
          </a:p>
          <a:p>
            <a:pPr indent="266700" algn="ctr">
              <a:spcBef>
                <a:spcPts val="1000"/>
              </a:spcBef>
            </a:pPr>
            <a:r>
              <a:rPr lang="zh-CN" altLang="zh-CN" sz="2200" b="1" kern="100" dirty="0">
                <a:effectLst/>
                <a:latin typeface="Times New Roman" panose="02020603050405020304" charset="0"/>
                <a:ea typeface="宋体" panose="02010600030101010101" pitchFamily="2" charset="-122"/>
              </a:rPr>
              <a:t>表</a:t>
            </a:r>
            <a:r>
              <a:rPr lang="en-US" altLang="zh-CN" sz="2200" b="1" kern="100" dirty="0">
                <a:effectLst/>
                <a:latin typeface="Times New Roman" panose="02020603050405020304" charset="0"/>
                <a:ea typeface="宋体" panose="02010600030101010101" pitchFamily="2" charset="-122"/>
              </a:rPr>
              <a:t>3-5-1  ZigBee</a:t>
            </a:r>
            <a:r>
              <a:rPr lang="zh-CN" altLang="zh-CN" sz="2200" b="1" kern="100" dirty="0">
                <a:effectLst/>
                <a:latin typeface="Times New Roman" panose="02020603050405020304" charset="0"/>
                <a:ea typeface="宋体" panose="02010600030101010101" pitchFamily="2" charset="-122"/>
              </a:rPr>
              <a:t>和</a:t>
            </a:r>
            <a:r>
              <a:rPr lang="en-US" altLang="zh-CN" sz="2200" b="1" kern="100" dirty="0">
                <a:effectLst/>
                <a:latin typeface="Times New Roman" panose="02020603050405020304" charset="0"/>
                <a:ea typeface="宋体" panose="02010600030101010101" pitchFamily="2" charset="-122"/>
              </a:rPr>
              <a:t>IEEE 802.11b</a:t>
            </a:r>
            <a:r>
              <a:rPr lang="zh-CN" altLang="zh-CN" sz="2200" b="1" kern="100" dirty="0">
                <a:effectLst/>
                <a:latin typeface="Times New Roman" panose="02020603050405020304" charset="0"/>
                <a:ea typeface="宋体" panose="02010600030101010101" pitchFamily="2" charset="-122"/>
              </a:rPr>
              <a:t>的比较</a:t>
            </a:r>
            <a:endParaRPr lang="zh-CN" altLang="zh-CN" sz="2200" b="1" kern="100" dirty="0">
              <a:effectLst/>
              <a:latin typeface="Times New Roman" panose="02020603050405020304" charset="0"/>
              <a:ea typeface="宋体" panose="02010600030101010101" pitchFamily="2" charset="-122"/>
            </a:endParaRPr>
          </a:p>
          <a:p>
            <a:pPr indent="266700" algn="l">
              <a:spcBef>
                <a:spcPts val="1000"/>
              </a:spcBef>
            </a:pPr>
            <a:endParaRPr lang="zh-CN" altLang="zh-CN" sz="2200" b="1" kern="100" dirty="0">
              <a:effectLst/>
              <a:latin typeface="Times New Roman" panose="02020603050405020304" charset="0"/>
              <a:ea typeface="宋体" panose="02010600030101010101" pitchFamily="2" charset="-122"/>
            </a:endParaRPr>
          </a:p>
        </p:txBody>
      </p:sp>
      <p:graphicFrame>
        <p:nvGraphicFramePr>
          <p:cNvPr id="6" name="表格 5"/>
          <p:cNvGraphicFramePr>
            <a:graphicFrameLocks noGrp="1"/>
          </p:cNvGraphicFramePr>
          <p:nvPr/>
        </p:nvGraphicFramePr>
        <p:xfrm>
          <a:off x="1994048" y="1950852"/>
          <a:ext cx="8601074" cy="4248144"/>
        </p:xfrm>
        <a:graphic>
          <a:graphicData uri="http://schemas.openxmlformats.org/drawingml/2006/table">
            <a:tbl>
              <a:tblPr firstRow="1" firstCol="1" bandRow="1">
                <a:tableStyleId>{5940675A-B579-460E-94D1-54222C63F5DA}</a:tableStyleId>
              </a:tblPr>
              <a:tblGrid>
                <a:gridCol w="2861923"/>
                <a:gridCol w="2923141"/>
                <a:gridCol w="2816010"/>
              </a:tblGrid>
              <a:tr h="472016">
                <a:tc>
                  <a:txBody>
                    <a:bodyPr/>
                    <a:lstStyle/>
                    <a:p>
                      <a:pPr algn="ctr"/>
                      <a:r>
                        <a:rPr lang="en-US" sz="2000" kern="100">
                          <a:effectLst/>
                          <a:latin typeface="Times New Roman" panose="02020603050405020304" charset="0"/>
                          <a:cs typeface="Times New Roman" panose="02020603050405020304" charset="0"/>
                        </a:rPr>
                        <a:t> </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ZigBee</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dirty="0">
                          <a:effectLst/>
                          <a:latin typeface="Times New Roman" panose="02020603050405020304" charset="0"/>
                          <a:cs typeface="Times New Roman" panose="02020603050405020304" charset="0"/>
                        </a:rPr>
                        <a:t>IEEE 802.11b</a:t>
                      </a:r>
                      <a:endParaRPr lang="zh-CN" sz="28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单点覆盖距离</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50~300m</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100~300m</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传输速度</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250Kb/s</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11Mb/s</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编程难度</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高</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低</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硬件复杂性</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dirty="0">
                          <a:effectLst/>
                          <a:latin typeface="Times New Roman" panose="02020603050405020304" charset="0"/>
                          <a:cs typeface="Times New Roman" panose="02020603050405020304" charset="0"/>
                        </a:rPr>
                        <a:t>简单</a:t>
                      </a:r>
                      <a:endParaRPr lang="zh-CN" sz="28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复杂</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频段</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868MHz~2.4GHz</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2.4GHz</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成本</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低</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dirty="0">
                          <a:effectLst/>
                          <a:latin typeface="Times New Roman" panose="02020603050405020304" charset="0"/>
                          <a:cs typeface="Times New Roman" panose="02020603050405020304" charset="0"/>
                        </a:rPr>
                        <a:t>高</a:t>
                      </a:r>
                      <a:endParaRPr lang="zh-CN" sz="28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电池寿命</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数年</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zh-CN" sz="2000" kern="100">
                          <a:effectLst/>
                          <a:latin typeface="Times New Roman" panose="02020603050405020304" charset="0"/>
                          <a:cs typeface="Times New Roman" panose="02020603050405020304" charset="0"/>
                        </a:rPr>
                        <a:t>数小时</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r h="472016">
                <a:tc>
                  <a:txBody>
                    <a:bodyPr/>
                    <a:lstStyle/>
                    <a:p>
                      <a:pPr algn="ctr"/>
                      <a:r>
                        <a:rPr lang="zh-CN" sz="2000" kern="100">
                          <a:effectLst/>
                          <a:latin typeface="Times New Roman" panose="02020603050405020304" charset="0"/>
                          <a:cs typeface="Times New Roman" panose="02020603050405020304" charset="0"/>
                        </a:rPr>
                        <a:t>网络节点数</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a:effectLst/>
                          <a:latin typeface="Times New Roman" panose="02020603050405020304" charset="0"/>
                          <a:cs typeface="Times New Roman" panose="02020603050405020304" charset="0"/>
                        </a:rPr>
                        <a:t>65000</a:t>
                      </a:r>
                      <a:endParaRPr lang="zh-CN" sz="28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a:txBody>
                    <a:bodyPr/>
                    <a:lstStyle/>
                    <a:p>
                      <a:pPr algn="ctr"/>
                      <a:r>
                        <a:rPr lang="en-US" sz="2000" kern="100" dirty="0">
                          <a:effectLst/>
                          <a:latin typeface="Times New Roman" panose="02020603050405020304" charset="0"/>
                          <a:cs typeface="Times New Roman" panose="02020603050405020304" charset="0"/>
                        </a:rPr>
                        <a:t>50</a:t>
                      </a:r>
                      <a:endParaRPr lang="zh-CN" sz="28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r>
            </a:tbl>
          </a:graphicData>
        </a:graphic>
      </p:graphicFrame>
      <p:sp>
        <p:nvSpPr>
          <p:cNvPr id="8" name="文本框 7"/>
          <p:cNvSpPr txBox="1"/>
          <p:nvPr/>
        </p:nvSpPr>
        <p:spPr>
          <a:xfrm>
            <a:off x="307340" y="0"/>
            <a:ext cx="6871335" cy="768350"/>
          </a:xfrm>
          <a:prstGeom prst="rect">
            <a:avLst/>
          </a:prstGeom>
          <a:noFill/>
        </p:spPr>
        <p:txBody>
          <a:bodyPr wrap="square">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3.5.2.1  ZigBee的基本概况</a:t>
            </a:r>
            <a:endParaRPr lang="zh-CN" altLang="zh-CN" sz="2400" b="1" dirty="0">
              <a:latin typeface="Times New Roman" panose="02020603050405020304"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19125" y="1487656"/>
            <a:ext cx="11153775" cy="5006499"/>
          </a:xfrm>
          <a:prstGeom prst="rect">
            <a:avLst/>
          </a:prstGeom>
          <a:noFill/>
          <a:ln w="9525">
            <a:noFill/>
          </a:ln>
        </p:spPr>
        <p:txBody>
          <a:bodyPr wrap="square">
            <a:spAutoFit/>
          </a:bodyPr>
          <a:lstStyle/>
          <a:p>
            <a:pPr indent="266700" algn="just">
              <a:spcBef>
                <a:spcPts val="1000"/>
              </a:spcBef>
            </a:pP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的底层技术基于</a:t>
            </a:r>
            <a:r>
              <a:rPr lang="en-US" altLang="zh-CN" sz="2200" b="1" kern="100" dirty="0">
                <a:effectLst/>
                <a:latin typeface="Times New Roman" panose="02020603050405020304" charset="0"/>
                <a:ea typeface="宋体" panose="02010600030101010101" pitchFamily="2" charset="-122"/>
              </a:rPr>
              <a:t>IEEE 802.15.4</a:t>
            </a:r>
            <a:r>
              <a:rPr lang="zh-CN" altLang="zh-CN" sz="2200" b="1" kern="100" dirty="0">
                <a:effectLst/>
                <a:latin typeface="Times New Roman" panose="02020603050405020304" charset="0"/>
                <a:ea typeface="宋体" panose="02010600030101010101" pitchFamily="2" charset="-122"/>
              </a:rPr>
              <a:t>，即其物理层和介质访问控制层直接使用了</a:t>
            </a:r>
            <a:r>
              <a:rPr lang="en-US" altLang="zh-CN" sz="2200" b="1" kern="100" dirty="0">
                <a:effectLst/>
                <a:latin typeface="Times New Roman" panose="02020603050405020304" charset="0"/>
                <a:ea typeface="宋体" panose="02010600030101010101" pitchFamily="2" charset="-122"/>
              </a:rPr>
              <a:t>IEEE 802.15.4</a:t>
            </a:r>
            <a:r>
              <a:rPr lang="zh-CN" altLang="zh-CN" sz="2200" b="1" kern="100" dirty="0">
                <a:effectLst/>
                <a:latin typeface="Times New Roman" panose="02020603050405020304" charset="0"/>
                <a:ea typeface="宋体" panose="02010600030101010101" pitchFamily="2" charset="-122"/>
              </a:rPr>
              <a:t>的定义。</a:t>
            </a:r>
            <a:r>
              <a:rPr lang="en-US" altLang="zh-CN" sz="2200" b="1" kern="100" dirty="0">
                <a:effectLst/>
                <a:latin typeface="Times New Roman" panose="02020603050405020304" charset="0"/>
                <a:ea typeface="宋体" panose="02010600030101010101" pitchFamily="2" charset="-122"/>
              </a:rPr>
              <a:t>IEEE 802.15.4</a:t>
            </a:r>
            <a:r>
              <a:rPr lang="zh-CN" altLang="zh-CN" sz="2200" b="1" kern="100" dirty="0">
                <a:effectLst/>
                <a:latin typeface="Times New Roman" panose="02020603050405020304" charset="0"/>
                <a:ea typeface="宋体" panose="02010600030101010101" pitchFamily="2" charset="-122"/>
              </a:rPr>
              <a:t>规范是一种经济、高效、低数据速率</a:t>
            </a:r>
            <a:r>
              <a:rPr lang="en-US" altLang="zh-CN" sz="2200" b="1" kern="100" dirty="0">
                <a:effectLst/>
                <a:latin typeface="Times New Roman" panose="02020603050405020304" charset="0"/>
                <a:ea typeface="宋体" panose="02010600030101010101" pitchFamily="2" charset="-122"/>
              </a:rPr>
              <a:t>(&lt;250 kb/s)</a:t>
            </a:r>
            <a:r>
              <a:rPr lang="zh-CN" altLang="zh-CN" sz="2200" b="1" kern="100" dirty="0">
                <a:effectLst/>
                <a:latin typeface="Times New Roman" panose="02020603050405020304" charset="0"/>
                <a:ea typeface="宋体" panose="02010600030101010101" pitchFamily="2" charset="-122"/>
              </a:rPr>
              <a:t>、工作在</a:t>
            </a:r>
            <a:r>
              <a:rPr lang="en-US" altLang="zh-CN" sz="2200" b="1" kern="100" dirty="0">
                <a:effectLst/>
                <a:latin typeface="Times New Roman" panose="02020603050405020304" charset="0"/>
                <a:ea typeface="宋体" panose="02010600030101010101" pitchFamily="2" charset="-122"/>
              </a:rPr>
              <a:t>2.4GHz</a:t>
            </a:r>
            <a:r>
              <a:rPr lang="zh-CN" altLang="zh-CN" sz="2200" b="1" kern="100" dirty="0">
                <a:effectLst/>
                <a:latin typeface="Times New Roman" panose="02020603050405020304" charset="0"/>
                <a:ea typeface="宋体" panose="02010600030101010101" pitchFamily="2" charset="-122"/>
              </a:rPr>
              <a:t>与</a:t>
            </a:r>
            <a:r>
              <a:rPr lang="en-US" altLang="zh-CN" sz="2200" b="1" kern="100" dirty="0">
                <a:effectLst/>
                <a:latin typeface="Times New Roman" panose="02020603050405020304" charset="0"/>
                <a:ea typeface="宋体" panose="02010600030101010101" pitchFamily="2" charset="-122"/>
              </a:rPr>
              <a:t>868MHz/915MHz</a:t>
            </a:r>
            <a:r>
              <a:rPr lang="zh-CN" altLang="zh-CN" sz="2200" b="1" kern="100" dirty="0">
                <a:effectLst/>
                <a:latin typeface="Times New Roman" panose="02020603050405020304" charset="0"/>
                <a:ea typeface="宋体" panose="02010600030101010101" pitchFamily="2" charset="-122"/>
              </a:rPr>
              <a:t>的无线技术，用于个人区域网和对等网络，它是</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应用层和网络层协议的基础。</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技术的主要特点如下：</a:t>
            </a:r>
            <a:endParaRPr lang="en-US" altLang="zh-CN" sz="2200" b="1" kern="100" dirty="0">
              <a:effectLst/>
              <a:latin typeface="Times New Roman" panose="02020603050405020304" charset="0"/>
              <a:ea typeface="宋体" panose="02010600030101010101" pitchFamily="2" charset="-122"/>
            </a:endParaRPr>
          </a:p>
          <a:p>
            <a:pPr indent="266700" algn="just">
              <a:spcBef>
                <a:spcPts val="1000"/>
              </a:spcBef>
            </a:pPr>
            <a:endParaRPr lang="en-US"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低功耗。节点在非工作模式时可休眠，模式切换延时短，且技术协议中对电池使用作了优化。在低耗电待机模式下，两节</a:t>
            </a:r>
            <a:r>
              <a:rPr lang="en-US" altLang="zh-CN" sz="2200" b="1" kern="100" dirty="0">
                <a:effectLst/>
                <a:latin typeface="Times New Roman" panose="02020603050405020304" charset="0"/>
                <a:ea typeface="宋体" panose="02010600030101010101" pitchFamily="2" charset="-122"/>
              </a:rPr>
              <a:t>5</a:t>
            </a:r>
            <a:r>
              <a:rPr lang="zh-CN" altLang="zh-CN" sz="2200" b="1" kern="100" dirty="0">
                <a:effectLst/>
                <a:latin typeface="Times New Roman" panose="02020603050405020304" charset="0"/>
                <a:ea typeface="宋体" panose="02010600030101010101" pitchFamily="2" charset="-122"/>
              </a:rPr>
              <a:t>号干电池可支持</a:t>
            </a:r>
            <a:r>
              <a:rPr lang="en-US" altLang="zh-CN" sz="2200" b="1" kern="100" dirty="0">
                <a:effectLst/>
                <a:latin typeface="Times New Roman" panose="02020603050405020304" charset="0"/>
                <a:ea typeface="宋体" panose="02010600030101010101" pitchFamily="2" charset="-122"/>
              </a:rPr>
              <a:t>1</a:t>
            </a:r>
            <a:r>
              <a:rPr lang="zh-CN" altLang="zh-CN" sz="2200" b="1" kern="100" dirty="0">
                <a:effectLst/>
                <a:latin typeface="Times New Roman" panose="02020603050405020304" charset="0"/>
                <a:ea typeface="宋体" panose="02010600030101010101" pitchFamily="2" charset="-122"/>
              </a:rPr>
              <a:t>个节点工作</a:t>
            </a:r>
            <a:r>
              <a:rPr lang="en-US" altLang="zh-CN" sz="2200" b="1" kern="100" dirty="0">
                <a:effectLst/>
                <a:latin typeface="Times New Roman" panose="02020603050405020304" charset="0"/>
                <a:ea typeface="宋体" panose="02010600030101010101" pitchFamily="2" charset="-122"/>
              </a:rPr>
              <a:t>6~24</a:t>
            </a:r>
            <a:r>
              <a:rPr lang="zh-CN" altLang="zh-CN" sz="2200" b="1" kern="100" dirty="0">
                <a:effectLst/>
                <a:latin typeface="Times New Roman" panose="02020603050405020304" charset="0"/>
                <a:ea typeface="宋体" panose="02010600030101010101" pitchFamily="2" charset="-122"/>
              </a:rPr>
              <a:t>个月</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甚至更长</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这是</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的突出优势。</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低成本。通过大幅简化协议</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不到蓝牙的</a:t>
            </a:r>
            <a:r>
              <a:rPr lang="en-US" altLang="zh-CN" sz="2200" b="1" kern="100" dirty="0">
                <a:effectLst/>
                <a:latin typeface="Times New Roman" panose="02020603050405020304" charset="0"/>
                <a:ea typeface="宋体" panose="02010600030101010101" pitchFamily="2" charset="-122"/>
              </a:rPr>
              <a:t>1/10),</a:t>
            </a:r>
            <a:r>
              <a:rPr lang="zh-CN" altLang="zh-CN" sz="2200" b="1" kern="100" dirty="0">
                <a:effectLst/>
                <a:latin typeface="Times New Roman" panose="02020603050405020304" charset="0"/>
                <a:ea typeface="宋体" panose="02010600030101010101" pitchFamily="2" charset="-122"/>
              </a:rPr>
              <a:t>降低了对通信控制器的要求。按预测分析</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以</a:t>
            </a:r>
            <a:r>
              <a:rPr lang="en-US" altLang="zh-CN" sz="2200" b="1" kern="100" dirty="0">
                <a:effectLst/>
                <a:latin typeface="Times New Roman" panose="02020603050405020304" charset="0"/>
                <a:ea typeface="宋体" panose="02010600030101010101" pitchFamily="2" charset="-122"/>
              </a:rPr>
              <a:t>8051</a:t>
            </a:r>
            <a:r>
              <a:rPr lang="zh-CN" altLang="zh-CN" sz="2200" b="1" kern="100" dirty="0">
                <a:effectLst/>
                <a:latin typeface="Times New Roman" panose="02020603050405020304" charset="0"/>
                <a:ea typeface="宋体" panose="02010600030101010101" pitchFamily="2" charset="-122"/>
              </a:rPr>
              <a:t>的</a:t>
            </a:r>
            <a:r>
              <a:rPr lang="en-US" altLang="zh-CN" sz="2200" b="1" kern="100" dirty="0">
                <a:effectLst/>
                <a:latin typeface="Times New Roman" panose="02020603050405020304" charset="0"/>
                <a:ea typeface="宋体" panose="02010600030101010101" pitchFamily="2" charset="-122"/>
              </a:rPr>
              <a:t>8</a:t>
            </a:r>
            <a:r>
              <a:rPr lang="zh-CN" altLang="zh-CN" sz="2200" b="1" kern="100" dirty="0">
                <a:effectLst/>
                <a:latin typeface="Times New Roman" panose="02020603050405020304" charset="0"/>
                <a:ea typeface="宋体" panose="02010600030101010101" pitchFamily="2" charset="-122"/>
              </a:rPr>
              <a:t>位微控制器测算，全功能的主节点需要</a:t>
            </a:r>
            <a:r>
              <a:rPr lang="en-US" altLang="zh-CN" sz="2200" b="1" kern="100" dirty="0">
                <a:effectLst/>
                <a:latin typeface="Times New Roman" panose="02020603050405020304" charset="0"/>
                <a:ea typeface="宋体" panose="02010600030101010101" pitchFamily="2" charset="-122"/>
              </a:rPr>
              <a:t>32KB</a:t>
            </a:r>
            <a:r>
              <a:rPr lang="zh-CN" altLang="zh-CN" sz="2200" b="1" kern="100" dirty="0">
                <a:effectLst/>
                <a:latin typeface="Times New Roman" panose="02020603050405020304" charset="0"/>
                <a:ea typeface="宋体" panose="02010600030101010101" pitchFamily="2" charset="-122"/>
              </a:rPr>
              <a:t>代码，子功能节点少至需要</a:t>
            </a:r>
            <a:r>
              <a:rPr lang="en-US" altLang="zh-CN" sz="2200" b="1" kern="100" dirty="0">
                <a:effectLst/>
                <a:latin typeface="Times New Roman" panose="02020603050405020304" charset="0"/>
                <a:ea typeface="宋体" panose="02010600030101010101" pitchFamily="2" charset="-122"/>
              </a:rPr>
              <a:t>4KB</a:t>
            </a:r>
            <a:r>
              <a:rPr lang="zh-CN" altLang="zh-CN" sz="2200" b="1" kern="100" dirty="0">
                <a:effectLst/>
                <a:latin typeface="Times New Roman" panose="02020603050405020304" charset="0"/>
                <a:ea typeface="宋体" panose="02010600030101010101" pitchFamily="2" charset="-122"/>
              </a:rPr>
              <a:t>代码，而且</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免协议专利费。</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低速率。</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的工作速率为</a:t>
            </a:r>
            <a:r>
              <a:rPr lang="en-US" altLang="zh-CN" sz="2200" b="1" kern="100" dirty="0">
                <a:effectLst/>
                <a:latin typeface="Times New Roman" panose="02020603050405020304" charset="0"/>
                <a:ea typeface="宋体" panose="02010600030101010101" pitchFamily="2" charset="-122"/>
              </a:rPr>
              <a:t>20~250kb/s</a:t>
            </a:r>
            <a:r>
              <a:rPr lang="zh-CN" altLang="zh-CN" sz="2200" b="1" kern="100" dirty="0">
                <a:effectLst/>
                <a:latin typeface="Times New Roman" panose="02020603050405020304" charset="0"/>
                <a:ea typeface="宋体" panose="02010600030101010101" pitchFamily="2" charset="-122"/>
              </a:rPr>
              <a:t>，分别提供</a:t>
            </a:r>
            <a:r>
              <a:rPr lang="en-US" altLang="zh-CN" sz="2200" b="1" kern="100" dirty="0">
                <a:effectLst/>
                <a:latin typeface="Times New Roman" panose="02020603050405020304" charset="0"/>
                <a:ea typeface="宋体" panose="02010600030101010101" pitchFamily="2" charset="-122"/>
              </a:rPr>
              <a:t>250kb/s(2.4GHz)</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40kb/s(915MHz)</a:t>
            </a:r>
            <a:r>
              <a:rPr lang="zh-CN" altLang="zh-CN" sz="2200" b="1" kern="100" dirty="0">
                <a:effectLst/>
                <a:latin typeface="Times New Roman" panose="02020603050405020304" charset="0"/>
                <a:ea typeface="宋体" panose="02010600030101010101" pitchFamily="2" charset="-122"/>
              </a:rPr>
              <a:t>和</a:t>
            </a:r>
            <a:r>
              <a:rPr lang="en-US" altLang="zh-CN" sz="2200" b="1" kern="100" dirty="0">
                <a:effectLst/>
                <a:latin typeface="Times New Roman" panose="02020603050405020304" charset="0"/>
                <a:ea typeface="宋体" panose="02010600030101010101" pitchFamily="2" charset="-122"/>
              </a:rPr>
              <a:t>20kb/s(868MHz)</a:t>
            </a:r>
            <a:r>
              <a:rPr lang="zh-CN" altLang="zh-CN" sz="2200" b="1" kern="100" dirty="0">
                <a:effectLst/>
                <a:latin typeface="Times New Roman" panose="02020603050405020304" charset="0"/>
                <a:ea typeface="宋体" panose="02010600030101010101" pitchFamily="2" charset="-122"/>
              </a:rPr>
              <a:t>的原始数据吞吐率，以满足低速率传输数据的应用需求。</a:t>
            </a:r>
            <a:endParaRPr lang="en-US"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488950" y="7112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3.5.2.2  ZigBee的技术特点</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483995"/>
            <a:ext cx="10909300" cy="3862596"/>
          </a:xfrm>
          <a:prstGeom prst="rect">
            <a:avLst/>
          </a:prstGeom>
          <a:noFill/>
          <a:ln w="9525">
            <a:noFill/>
          </a:ln>
        </p:spPr>
        <p:txBody>
          <a:bodyPr wrap="square">
            <a:spAutoFit/>
          </a:bodyPr>
          <a:lstStyle/>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近距离。传输范围一般介于</a:t>
            </a:r>
            <a:r>
              <a:rPr lang="en-US" altLang="zh-CN" sz="2200" b="1" kern="100" dirty="0">
                <a:effectLst/>
                <a:latin typeface="Times New Roman" panose="02020603050405020304" charset="0"/>
                <a:ea typeface="宋体" panose="02010600030101010101" pitchFamily="2" charset="-122"/>
              </a:rPr>
              <a:t>10~100m</a:t>
            </a:r>
            <a:r>
              <a:rPr lang="zh-CN" altLang="zh-CN" sz="2200" b="1" kern="100" dirty="0">
                <a:effectLst/>
                <a:latin typeface="Times New Roman" panose="02020603050405020304" charset="0"/>
                <a:ea typeface="宋体" panose="02010600030101010101" pitchFamily="2" charset="-122"/>
              </a:rPr>
              <a:t>，在增加发射功率后，亦可增加到</a:t>
            </a:r>
            <a:r>
              <a:rPr lang="en-US" altLang="zh-CN" sz="2200" b="1" kern="100" dirty="0">
                <a:effectLst/>
                <a:latin typeface="Times New Roman" panose="02020603050405020304" charset="0"/>
                <a:ea typeface="宋体" panose="02010600030101010101" pitchFamily="2" charset="-122"/>
              </a:rPr>
              <a:t>1~3km</a:t>
            </a:r>
            <a:r>
              <a:rPr lang="zh-CN" altLang="zh-CN" sz="2200" b="1" kern="100" dirty="0">
                <a:effectLst/>
                <a:latin typeface="Times New Roman" panose="02020603050405020304" charset="0"/>
                <a:ea typeface="宋体" panose="02010600030101010101" pitchFamily="2" charset="-122"/>
              </a:rPr>
              <a:t>。这指的是相邻节点间的距离。如果通过路由和多跳通信链路，传输距离将可以更远。</a:t>
            </a:r>
            <a:endParaRPr lang="en-US"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短时延。</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的响应速度较快，一般从睡眠转入工作状态只需</a:t>
            </a:r>
            <a:r>
              <a:rPr lang="en-US" altLang="zh-CN" sz="2200" b="1" kern="100" dirty="0">
                <a:effectLst/>
                <a:latin typeface="Times New Roman" panose="02020603050405020304" charset="0"/>
                <a:ea typeface="宋体" panose="02010600030101010101" pitchFamily="2" charset="-122"/>
              </a:rPr>
              <a:t>15ms</a:t>
            </a:r>
            <a:r>
              <a:rPr lang="zh-CN" altLang="zh-CN" sz="2200" b="1" kern="100" dirty="0">
                <a:effectLst/>
                <a:latin typeface="Times New Roman" panose="02020603050405020304" charset="0"/>
                <a:ea typeface="宋体" panose="02010600030101010101" pitchFamily="2" charset="-122"/>
              </a:rPr>
              <a:t>，节点连接进入网络只需</a:t>
            </a:r>
            <a:r>
              <a:rPr lang="en-US" altLang="zh-CN" sz="2200" b="1" kern="100" dirty="0">
                <a:effectLst/>
                <a:latin typeface="Times New Roman" panose="02020603050405020304" charset="0"/>
                <a:ea typeface="宋体" panose="02010600030101010101" pitchFamily="2" charset="-122"/>
              </a:rPr>
              <a:t>30ms</a:t>
            </a:r>
            <a:r>
              <a:rPr lang="zh-CN" altLang="zh-CN" sz="2200" b="1" kern="100" dirty="0">
                <a:effectLst/>
                <a:latin typeface="Times New Roman" panose="02020603050405020304" charset="0"/>
                <a:ea typeface="宋体" panose="02010600030101010101" pitchFamily="2" charset="-122"/>
              </a:rPr>
              <a:t>，进一步节省了电能。</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高容量。</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可采用星状、片状和网状网络结构，由一个主节点管理若干子节点，一个主节点最多可管理</a:t>
            </a:r>
            <a:r>
              <a:rPr lang="en-US" altLang="zh-CN" sz="2200" b="1" kern="100" dirty="0">
                <a:effectLst/>
                <a:latin typeface="Times New Roman" panose="02020603050405020304" charset="0"/>
                <a:ea typeface="宋体" panose="02010600030101010101" pitchFamily="2" charset="-122"/>
              </a:rPr>
              <a:t>254</a:t>
            </a:r>
            <a:r>
              <a:rPr lang="zh-CN" altLang="zh-CN" sz="2200" b="1" kern="100" dirty="0">
                <a:effectLst/>
                <a:latin typeface="Times New Roman" panose="02020603050405020304" charset="0"/>
                <a:ea typeface="宋体" panose="02010600030101010101" pitchFamily="2" charset="-122"/>
              </a:rPr>
              <a:t>个子节点；同时主节点还可由上一层网络节点管理，最多可组成</a:t>
            </a:r>
            <a:r>
              <a:rPr lang="en-US" altLang="zh-CN" sz="2200" b="1" kern="100" dirty="0">
                <a:effectLst/>
                <a:latin typeface="Times New Roman" panose="02020603050405020304" charset="0"/>
                <a:ea typeface="宋体" panose="02010600030101010101" pitchFamily="2" charset="-122"/>
              </a:rPr>
              <a:t>65000</a:t>
            </a:r>
            <a:r>
              <a:rPr lang="zh-CN" altLang="zh-CN" sz="2200" b="1" kern="100" dirty="0">
                <a:effectLst/>
                <a:latin typeface="Times New Roman" panose="02020603050405020304" charset="0"/>
                <a:ea typeface="宋体" panose="02010600030101010101" pitchFamily="2" charset="-122"/>
              </a:rPr>
              <a:t>个节点的大网，非常适合大面积传感器网络的布建需求。</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高安全性。</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提供了三级安全模式：一是无安全设定；二是使用访问控制清单</a:t>
            </a:r>
            <a:r>
              <a:rPr lang="en-US" altLang="zh-CN" sz="2200" b="1" kern="100" dirty="0">
                <a:effectLst/>
                <a:latin typeface="Times New Roman" panose="02020603050405020304" charset="0"/>
                <a:ea typeface="宋体" panose="02010600030101010101" pitchFamily="2" charset="-122"/>
              </a:rPr>
              <a:t>(Access Control List, ACL)</a:t>
            </a:r>
            <a:r>
              <a:rPr lang="zh-CN" altLang="zh-CN" sz="2200" b="1" kern="100" dirty="0">
                <a:effectLst/>
                <a:latin typeface="Times New Roman" panose="02020603050405020304" charset="0"/>
                <a:ea typeface="宋体" panose="02010600030101010101" pitchFamily="2" charset="-122"/>
              </a:rPr>
              <a:t>防止非法获取数据；三是采用高级加密标准</a:t>
            </a:r>
            <a:r>
              <a:rPr lang="en-US" altLang="zh-CN" sz="2200" b="1" kern="100" dirty="0">
                <a:effectLst/>
                <a:latin typeface="Times New Roman" panose="02020603050405020304" charset="0"/>
                <a:ea typeface="宋体" panose="02010600030101010101" pitchFamily="2" charset="-122"/>
              </a:rPr>
              <a:t>(AES 128)</a:t>
            </a:r>
            <a:r>
              <a:rPr lang="zh-CN" altLang="zh-CN" sz="2200" b="1" kern="100" dirty="0">
                <a:effectLst/>
                <a:latin typeface="Times New Roman" panose="02020603050405020304" charset="0"/>
                <a:ea typeface="宋体" panose="02010600030101010101" pitchFamily="2" charset="-122"/>
              </a:rPr>
              <a:t>的对称密码，以灵活确定其安全属性。</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488950" y="7112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3.5.2.2  ZigBee的技术特点</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41350" y="1598295"/>
            <a:ext cx="10909300" cy="2929007"/>
          </a:xfrm>
          <a:prstGeom prst="rect">
            <a:avLst/>
          </a:prstGeom>
          <a:noFill/>
          <a:ln w="9525">
            <a:noFill/>
          </a:ln>
        </p:spPr>
        <p:txBody>
          <a:bodyPr wrap="square">
            <a:spAutoFit/>
          </a:bodyPr>
          <a:lstStyle/>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自组织、自配置。协议中加入了关联和分离功能，协调器能自动建立网络，节点设备可随时加入和退出，是一种自组织、自配置的组网模式。</a:t>
            </a:r>
            <a:endParaRPr lang="zh-CN" altLang="zh-CN" sz="2200" b="1" kern="100" dirty="0">
              <a:effectLst/>
              <a:latin typeface="Times New Roman" panose="02020603050405020304" charset="0"/>
              <a:ea typeface="宋体" panose="02010600030101010101" pitchFamily="2" charset="-122"/>
            </a:endParaRPr>
          </a:p>
          <a:p>
            <a:pPr marL="285750" indent="-28575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免执照频段。</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使用工业科学医疗</a:t>
            </a:r>
            <a:r>
              <a:rPr lang="en-US" altLang="zh-CN" sz="2200" b="1" kern="100" dirty="0">
                <a:effectLst/>
                <a:latin typeface="Times New Roman" panose="02020603050405020304" charset="0"/>
                <a:ea typeface="宋体" panose="02010600030101010101" pitchFamily="2" charset="-122"/>
              </a:rPr>
              <a:t>(ISM)</a:t>
            </a:r>
            <a:r>
              <a:rPr lang="zh-CN" altLang="zh-CN" sz="2200" b="1" kern="100" dirty="0">
                <a:effectLst/>
                <a:latin typeface="Times New Roman" panose="02020603050405020304" charset="0"/>
                <a:ea typeface="宋体" panose="02010600030101010101" pitchFamily="2" charset="-122"/>
              </a:rPr>
              <a:t>频段，美国为</a:t>
            </a:r>
            <a:r>
              <a:rPr lang="en-US" altLang="zh-CN" sz="2200" b="1" kern="100" dirty="0">
                <a:effectLst/>
                <a:latin typeface="Times New Roman" panose="02020603050405020304" charset="0"/>
                <a:ea typeface="宋体" panose="02010600030101010101" pitchFamily="2" charset="-122"/>
              </a:rPr>
              <a:t>915MHz</a:t>
            </a:r>
            <a:r>
              <a:rPr lang="zh-CN" altLang="zh-CN" sz="2200" b="1" kern="100" dirty="0">
                <a:effectLst/>
                <a:latin typeface="Times New Roman" panose="02020603050405020304" charset="0"/>
                <a:ea typeface="宋体" panose="02010600030101010101" pitchFamily="2" charset="-122"/>
              </a:rPr>
              <a:t>，欧洲为</a:t>
            </a:r>
            <a:r>
              <a:rPr lang="en-US" altLang="zh-CN" sz="2200" b="1" kern="100" dirty="0">
                <a:effectLst/>
                <a:latin typeface="Times New Roman" panose="02020603050405020304" charset="0"/>
                <a:ea typeface="宋体" panose="02010600030101010101" pitchFamily="2" charset="-122"/>
              </a:rPr>
              <a:t>868MHz</a:t>
            </a:r>
            <a:r>
              <a:rPr lang="zh-CN" altLang="zh-CN" sz="2200" b="1" kern="100" dirty="0">
                <a:effectLst/>
                <a:latin typeface="Times New Roman" panose="02020603050405020304" charset="0"/>
                <a:ea typeface="宋体" panose="02010600030101010101" pitchFamily="2" charset="-122"/>
              </a:rPr>
              <a:t>，其他地区为</a:t>
            </a:r>
            <a:r>
              <a:rPr lang="en-US" altLang="zh-CN" sz="2200" b="1" kern="100" dirty="0">
                <a:effectLst/>
                <a:latin typeface="Times New Roman" panose="02020603050405020304" charset="0"/>
                <a:ea typeface="宋体" panose="02010600030101010101" pitchFamily="2" charset="-122"/>
              </a:rPr>
              <a:t>2.4GHz</a:t>
            </a:r>
            <a:r>
              <a:rPr lang="zh-CN" altLang="zh-CN" sz="2200" b="1" kern="100" dirty="0">
                <a:effectLst/>
                <a:latin typeface="Times New Roman" panose="02020603050405020304" charset="0"/>
                <a:ea typeface="宋体" panose="02010600030101010101" pitchFamily="2" charset="-122"/>
              </a:rPr>
              <a:t>。此</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个频带物理层并不相同，其各自信道带宽也不同，分别为</a:t>
            </a:r>
            <a:r>
              <a:rPr lang="en-US" altLang="zh-CN" sz="2200" b="1" kern="100" dirty="0">
                <a:effectLst/>
                <a:latin typeface="Times New Roman" panose="02020603050405020304" charset="0"/>
                <a:ea typeface="宋体" panose="02010600030101010101" pitchFamily="2" charset="-122"/>
              </a:rPr>
              <a:t>0.6MHz</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2MHz</a:t>
            </a:r>
            <a:r>
              <a:rPr lang="zh-CN" altLang="zh-CN" sz="2200" b="1" kern="100" dirty="0">
                <a:effectLst/>
                <a:latin typeface="Times New Roman" panose="02020603050405020304" charset="0"/>
                <a:ea typeface="宋体" panose="02010600030101010101" pitchFamily="2" charset="-122"/>
              </a:rPr>
              <a:t>和</a:t>
            </a:r>
            <a:r>
              <a:rPr lang="en-US" altLang="zh-CN" sz="2200" b="1" kern="100" dirty="0">
                <a:effectLst/>
                <a:latin typeface="Times New Roman" panose="02020603050405020304" charset="0"/>
                <a:ea typeface="宋体" panose="02010600030101010101" pitchFamily="2" charset="-122"/>
              </a:rPr>
              <a:t>5MHz</a:t>
            </a:r>
            <a:r>
              <a:rPr lang="zh-CN" altLang="zh-CN" sz="2200" b="1" kern="100" dirty="0">
                <a:effectLst/>
                <a:latin typeface="Times New Roman" panose="02020603050405020304" charset="0"/>
                <a:ea typeface="宋体" panose="02010600030101010101" pitchFamily="2" charset="-122"/>
              </a:rPr>
              <a:t>，且分别有</a:t>
            </a:r>
            <a:r>
              <a:rPr lang="en-US" altLang="zh-CN" sz="2200" b="1" kern="100" dirty="0">
                <a:effectLst/>
                <a:latin typeface="Times New Roman" panose="02020603050405020304" charset="0"/>
                <a:ea typeface="宋体" panose="02010600030101010101" pitchFamily="2" charset="-122"/>
              </a:rPr>
              <a:t>1</a:t>
            </a:r>
            <a:r>
              <a:rPr lang="zh-CN" altLang="zh-CN" sz="2200" b="1" kern="100" dirty="0">
                <a:effectLst/>
                <a:latin typeface="Times New Roman" panose="02020603050405020304" charset="0"/>
                <a:ea typeface="宋体" panose="02010600030101010101" pitchFamily="2" charset="-122"/>
              </a:rPr>
              <a:t>个、</a:t>
            </a:r>
            <a:r>
              <a:rPr lang="en-US" altLang="zh-CN" sz="2200" b="1" kern="100" dirty="0">
                <a:effectLst/>
                <a:latin typeface="Times New Roman" panose="02020603050405020304" charset="0"/>
                <a:ea typeface="宋体" panose="02010600030101010101" pitchFamily="2" charset="-122"/>
              </a:rPr>
              <a:t>10</a:t>
            </a:r>
            <a:r>
              <a:rPr lang="zh-CN" altLang="zh-CN" sz="2200" b="1" kern="100" dirty="0">
                <a:effectLst/>
                <a:latin typeface="Times New Roman" panose="02020603050405020304" charset="0"/>
                <a:ea typeface="宋体" panose="02010600030101010101" pitchFamily="2" charset="-122"/>
              </a:rPr>
              <a:t>个和</a:t>
            </a:r>
            <a:r>
              <a:rPr lang="en-US" altLang="zh-CN" sz="2200" b="1" kern="100" dirty="0">
                <a:effectLst/>
                <a:latin typeface="Times New Roman" panose="02020603050405020304" charset="0"/>
                <a:ea typeface="宋体" panose="02010600030101010101" pitchFamily="2" charset="-122"/>
              </a:rPr>
              <a:t>16</a:t>
            </a:r>
            <a:r>
              <a:rPr lang="zh-CN" altLang="zh-CN" sz="2200" b="1" kern="100" dirty="0">
                <a:effectLst/>
                <a:latin typeface="Times New Roman" panose="02020603050405020304" charset="0"/>
                <a:ea typeface="宋体" panose="02010600030101010101" pitchFamily="2" charset="-122"/>
              </a:rPr>
              <a:t>个信道。这</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个频带的扩频和调制方式亦有区别，扩频都使用直接序列扩频</a:t>
            </a:r>
            <a:r>
              <a:rPr lang="en-US" altLang="zh-CN" sz="2200" b="1" kern="100" dirty="0">
                <a:effectLst/>
                <a:latin typeface="Times New Roman" panose="02020603050405020304" charset="0"/>
                <a:ea typeface="宋体" panose="02010600030101010101" pitchFamily="2" charset="-122"/>
              </a:rPr>
              <a:t>(DSSS)</a:t>
            </a:r>
            <a:r>
              <a:rPr lang="zh-CN" altLang="zh-CN" sz="2200" b="1" kern="100" dirty="0">
                <a:effectLst/>
                <a:latin typeface="Times New Roman" panose="02020603050405020304" charset="0"/>
                <a:ea typeface="宋体" panose="02010600030101010101" pitchFamily="2" charset="-122"/>
              </a:rPr>
              <a:t>，但从比特到码片的变换差别较大。调制方式都采用调相技术，但</a:t>
            </a:r>
            <a:r>
              <a:rPr lang="en-US" altLang="zh-CN" sz="2200" b="1" kern="100" dirty="0">
                <a:effectLst/>
                <a:latin typeface="Times New Roman" panose="02020603050405020304" charset="0"/>
                <a:ea typeface="宋体" panose="02010600030101010101" pitchFamily="2" charset="-122"/>
              </a:rPr>
              <a:t>868MHz</a:t>
            </a:r>
            <a:r>
              <a:rPr lang="zh-CN" altLang="zh-CN" sz="2200" b="1" kern="100" dirty="0">
                <a:effectLst/>
                <a:latin typeface="Times New Roman" panose="02020603050405020304" charset="0"/>
                <a:ea typeface="宋体" panose="02010600030101010101" pitchFamily="2" charset="-122"/>
              </a:rPr>
              <a:t>和</a:t>
            </a:r>
            <a:r>
              <a:rPr lang="en-US" altLang="zh-CN" sz="2200" b="1" kern="100" dirty="0">
                <a:effectLst/>
                <a:latin typeface="Times New Roman" panose="02020603050405020304" charset="0"/>
                <a:ea typeface="宋体" panose="02010600030101010101" pitchFamily="2" charset="-122"/>
              </a:rPr>
              <a:t>915MHz</a:t>
            </a:r>
            <a:r>
              <a:rPr lang="zh-CN" altLang="zh-CN" sz="2200" b="1" kern="100" dirty="0">
                <a:effectLst/>
                <a:latin typeface="Times New Roman" panose="02020603050405020304" charset="0"/>
                <a:ea typeface="宋体" panose="02010600030101010101" pitchFamily="2" charset="-122"/>
              </a:rPr>
              <a:t>频段采用的是</a:t>
            </a:r>
            <a:r>
              <a:rPr lang="en-US" altLang="zh-CN" sz="2200" b="1" kern="100" dirty="0">
                <a:effectLst/>
                <a:latin typeface="Times New Roman" panose="02020603050405020304" charset="0"/>
                <a:ea typeface="宋体" panose="02010600030101010101" pitchFamily="2" charset="-122"/>
              </a:rPr>
              <a:t>BPSK</a:t>
            </a:r>
            <a:r>
              <a:rPr lang="zh-CN" altLang="zh-CN" sz="2200" b="1" kern="100" dirty="0">
                <a:effectLst/>
                <a:latin typeface="Times New Roman" panose="02020603050405020304" charset="0"/>
                <a:ea typeface="宋体" panose="02010600030101010101" pitchFamily="2" charset="-122"/>
              </a:rPr>
              <a:t>，而</a:t>
            </a:r>
            <a:r>
              <a:rPr lang="en-US" altLang="zh-CN" sz="2200" b="1" kern="100" dirty="0">
                <a:effectLst/>
                <a:latin typeface="Times New Roman" panose="02020603050405020304" charset="0"/>
                <a:ea typeface="宋体" panose="02010600030101010101" pitchFamily="2" charset="-122"/>
              </a:rPr>
              <a:t>2.4GHz</a:t>
            </a:r>
            <a:r>
              <a:rPr lang="zh-CN" altLang="zh-CN" sz="2200" b="1" kern="100" dirty="0">
                <a:effectLst/>
                <a:latin typeface="Times New Roman" panose="02020603050405020304" charset="0"/>
                <a:ea typeface="宋体" panose="02010600030101010101" pitchFamily="2" charset="-122"/>
              </a:rPr>
              <a:t>频段采用的是</a:t>
            </a:r>
            <a:r>
              <a:rPr lang="en-US" altLang="zh-CN" sz="2200" b="1" kern="100" dirty="0">
                <a:effectLst/>
                <a:latin typeface="Times New Roman" panose="02020603050405020304" charset="0"/>
                <a:ea typeface="宋体" panose="02010600030101010101" pitchFamily="2" charset="-122"/>
              </a:rPr>
              <a:t>OQPSK</a:t>
            </a:r>
            <a:r>
              <a:rPr lang="zh-CN" altLang="zh-CN" sz="2200" b="1" kern="100" dirty="0">
                <a:effectLst/>
                <a:latin typeface="Times New Roman" panose="02020603050405020304" charset="0"/>
                <a:ea typeface="宋体" panose="02010600030101010101" pitchFamily="2" charset="-122"/>
              </a:rPr>
              <a:t>。</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488950" y="7112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3.5.2.2  ZigBee的技术特点</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25349"/>
            <a:ext cx="11074400" cy="4862870"/>
          </a:xfrm>
          <a:prstGeom prst="rect">
            <a:avLst/>
          </a:prstGeom>
          <a:noFill/>
          <a:ln w="9525">
            <a:noFill/>
          </a:ln>
        </p:spPr>
        <p:txBody>
          <a:bodyPr wrap="square">
            <a:spAutoFit/>
          </a:bodyPr>
          <a:lstStyle/>
          <a:p>
            <a:pPr indent="266700" algn="l"/>
            <a:r>
              <a:rPr lang="zh-CN" altLang="zh-CN" sz="2200" b="1" kern="100" dirty="0">
                <a:effectLst/>
                <a:latin typeface="Times New Roman" panose="02020603050405020304" charset="0"/>
                <a:ea typeface="宋体" panose="02010600030101010101" pitchFamily="2" charset="-122"/>
              </a:rPr>
              <a:t>相对于常见的无线通信标准，</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协议比较紧凑、简单，</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协议栈的体系结构主要由物理层、</a:t>
            </a:r>
            <a:r>
              <a:rPr lang="en-US" altLang="zh-CN" sz="2200" b="1" kern="100" dirty="0">
                <a:effectLst/>
                <a:latin typeface="Times New Roman" panose="02020603050405020304" charset="0"/>
                <a:ea typeface="宋体" panose="02010600030101010101" pitchFamily="2" charset="-122"/>
              </a:rPr>
              <a:t>MAC</a:t>
            </a:r>
            <a:r>
              <a:rPr lang="zh-CN" altLang="zh-CN" sz="2200" b="1" kern="100" dirty="0">
                <a:effectLst/>
                <a:latin typeface="Times New Roman" panose="02020603050405020304" charset="0"/>
                <a:ea typeface="宋体" panose="02010600030101010101" pitchFamily="2" charset="-122"/>
              </a:rPr>
              <a:t>层、网络层和应用层组成，如图</a:t>
            </a:r>
            <a:r>
              <a:rPr lang="en-US" altLang="zh-CN" sz="2200" b="1" kern="100" dirty="0">
                <a:effectLst/>
                <a:latin typeface="Times New Roman" panose="02020603050405020304" charset="0"/>
                <a:ea typeface="宋体" panose="02010600030101010101" pitchFamily="2" charset="-122"/>
              </a:rPr>
              <a:t>3-5-3</a:t>
            </a:r>
            <a:r>
              <a:rPr lang="zh-CN" altLang="zh-CN" sz="2200" b="1" kern="100" dirty="0">
                <a:effectLst/>
                <a:latin typeface="Times New Roman" panose="02020603050405020304" charset="0"/>
                <a:ea typeface="宋体" panose="02010600030101010101" pitchFamily="2" charset="-122"/>
              </a:rPr>
              <a:t>所示。其中，物理层和</a:t>
            </a:r>
            <a:r>
              <a:rPr lang="en-US" altLang="zh-CN" sz="2200" b="1" kern="100" dirty="0">
                <a:effectLst/>
                <a:latin typeface="Times New Roman" panose="02020603050405020304" charset="0"/>
                <a:ea typeface="宋体" panose="02010600030101010101" pitchFamily="2" charset="-122"/>
              </a:rPr>
              <a:t>MAC</a:t>
            </a:r>
            <a:r>
              <a:rPr lang="zh-CN" altLang="zh-CN" sz="2200" b="1" kern="100" dirty="0">
                <a:effectLst/>
                <a:latin typeface="Times New Roman" panose="02020603050405020304" charset="0"/>
                <a:ea typeface="宋体" panose="02010600030101010101" pitchFamily="2" charset="-122"/>
              </a:rPr>
              <a:t>层采用</a:t>
            </a:r>
            <a:r>
              <a:rPr lang="en-US" altLang="zh-CN" sz="2200" b="1" kern="100" dirty="0">
                <a:effectLst/>
                <a:latin typeface="Times New Roman" panose="02020603050405020304" charset="0"/>
                <a:ea typeface="宋体" panose="02010600030101010101" pitchFamily="2" charset="-122"/>
              </a:rPr>
              <a:t>IEEE 802.15.4</a:t>
            </a:r>
            <a:r>
              <a:rPr lang="zh-CN" altLang="zh-CN" sz="2200" b="1" kern="100" dirty="0">
                <a:effectLst/>
                <a:latin typeface="Times New Roman" panose="02020603050405020304" charset="0"/>
                <a:ea typeface="宋体" panose="02010600030101010101" pitchFamily="2" charset="-122"/>
              </a:rPr>
              <a:t>协议标准，而网络层和应用层则由</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国际联盟制定，各层之间均有数据服务接口和管理实体接口。下面对各层协议的功能进行简单的介绍。</a:t>
            </a:r>
            <a:endParaRPr lang="en-US" altLang="zh-CN" sz="2200" b="1" kern="100" dirty="0">
              <a:effectLst/>
              <a:latin typeface="Times New Roman" panose="02020603050405020304" charset="0"/>
              <a:ea typeface="宋体" panose="02010600030101010101" pitchFamily="2" charset="-122"/>
            </a:endParaRPr>
          </a:p>
          <a:p>
            <a:pPr indent="266700" algn="l"/>
            <a:endParaRPr lang="en-US" altLang="zh-CN" sz="2200" b="1" kern="100" dirty="0">
              <a:latin typeface="Times New Roman" panose="02020603050405020304" charset="0"/>
              <a:ea typeface="宋体" panose="02010600030101010101" pitchFamily="2" charset="-122"/>
            </a:endParaRPr>
          </a:p>
          <a:p>
            <a:pPr indent="266700" algn="l"/>
            <a:endParaRPr lang="en-US" altLang="zh-CN" sz="2200" b="1" kern="100" dirty="0">
              <a:effectLst/>
              <a:latin typeface="Times New Roman" panose="02020603050405020304" charset="0"/>
              <a:ea typeface="宋体" panose="02010600030101010101" pitchFamily="2" charset="-122"/>
            </a:endParaRPr>
          </a:p>
          <a:p>
            <a:pPr indent="266700" algn="l"/>
            <a:endParaRPr lang="en-US" altLang="zh-CN" sz="2200" b="1" kern="100" dirty="0">
              <a:latin typeface="Times New Roman" panose="02020603050405020304" charset="0"/>
              <a:ea typeface="宋体" panose="02010600030101010101" pitchFamily="2" charset="-122"/>
            </a:endParaRPr>
          </a:p>
          <a:p>
            <a:pPr indent="266700" algn="l"/>
            <a:endParaRPr lang="en-US" altLang="zh-CN" sz="2200" b="1" kern="100" dirty="0">
              <a:effectLst/>
              <a:latin typeface="Times New Roman" panose="02020603050405020304" charset="0"/>
              <a:ea typeface="宋体" panose="02010600030101010101" pitchFamily="2" charset="-122"/>
            </a:endParaRPr>
          </a:p>
          <a:p>
            <a:pPr indent="266700" algn="l"/>
            <a:endParaRPr lang="en-US" altLang="zh-CN" sz="2200" b="1" kern="100" dirty="0">
              <a:latin typeface="Times New Roman" panose="02020603050405020304" charset="0"/>
              <a:ea typeface="宋体" panose="02010600030101010101" pitchFamily="2" charset="-122"/>
            </a:endParaRPr>
          </a:p>
          <a:p>
            <a:pPr indent="266700" algn="l"/>
            <a:endParaRPr lang="en-US" altLang="zh-CN" sz="2200" b="1" kern="100" dirty="0">
              <a:effectLst/>
              <a:latin typeface="Times New Roman" panose="02020603050405020304" charset="0"/>
              <a:ea typeface="宋体" panose="02010600030101010101" pitchFamily="2" charset="-122"/>
            </a:endParaRPr>
          </a:p>
          <a:p>
            <a:pPr indent="266700" algn="l"/>
            <a:endParaRPr lang="en-US" altLang="zh-CN" sz="2200" b="1" kern="100" dirty="0">
              <a:latin typeface="Times New Roman" panose="02020603050405020304" charset="0"/>
              <a:ea typeface="宋体" panose="02010600030101010101" pitchFamily="2" charset="-122"/>
            </a:endParaRPr>
          </a:p>
          <a:p>
            <a:pPr indent="266700" algn="l"/>
            <a:endParaRPr lang="en-US" altLang="zh-CN" sz="2200" b="1" kern="100" dirty="0">
              <a:effectLst/>
              <a:latin typeface="Times New Roman" panose="02020603050405020304" charset="0"/>
              <a:ea typeface="宋体" panose="02010600030101010101" pitchFamily="2" charset="-122"/>
            </a:endParaRPr>
          </a:p>
          <a:p>
            <a:pPr indent="266700" algn="l"/>
            <a:endParaRPr lang="en-US" altLang="zh-CN" sz="2200" b="1" kern="100" dirty="0">
              <a:latin typeface="Times New Roman" panose="02020603050405020304" charset="0"/>
              <a:ea typeface="宋体" panose="02010600030101010101" pitchFamily="2" charset="-122"/>
            </a:endParaRPr>
          </a:p>
          <a:p>
            <a:pPr indent="266700" algn="ctr"/>
            <a:r>
              <a:rPr kumimoji="0" lang="zh-CN" altLang="zh-CN" b="1"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图</a:t>
            </a:r>
            <a:r>
              <a:rPr kumimoji="0" lang="en-US" altLang="zh-CN" b="1"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3-5-3  ZigBee </a:t>
            </a:r>
            <a:r>
              <a:rPr kumimoji="0" lang="zh-CN" altLang="en-US" b="1"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协议框架</a:t>
            </a:r>
            <a:endParaRPr kumimoji="0" lang="zh-CN" altLang="en-US" sz="4400" b="1" i="0" u="none" strike="noStrike" cap="none" normalizeH="0" baseline="0" dirty="0">
              <a:ln>
                <a:noFill/>
              </a:ln>
              <a:solidFill>
                <a:schemeClr val="tx1"/>
              </a:solidFill>
              <a:effectLst/>
              <a:latin typeface="Arial" panose="020B0604020202020204" pitchFamily="34" charset="0"/>
            </a:endParaRPr>
          </a:p>
        </p:txBody>
      </p:sp>
      <p:graphicFrame>
        <p:nvGraphicFramePr>
          <p:cNvPr id="6" name="表格 5"/>
          <p:cNvGraphicFramePr>
            <a:graphicFrameLocks noGrp="1"/>
          </p:cNvGraphicFramePr>
          <p:nvPr/>
        </p:nvGraphicFramePr>
        <p:xfrm>
          <a:off x="2606135" y="3152139"/>
          <a:ext cx="7189618" cy="2587182"/>
        </p:xfrm>
        <a:graphic>
          <a:graphicData uri="http://schemas.openxmlformats.org/drawingml/2006/table">
            <a:tbl>
              <a:tblPr firstRow="1" firstCol="1" bandRow="1">
                <a:tableStyleId>{5940675A-B579-460E-94D1-54222C63F5DA}</a:tableStyleId>
              </a:tblPr>
              <a:tblGrid>
                <a:gridCol w="3594809"/>
                <a:gridCol w="3594809"/>
              </a:tblGrid>
              <a:tr h="431197">
                <a:tc gridSpan="2">
                  <a:txBody>
                    <a:bodyPr/>
                    <a:lstStyle/>
                    <a:p>
                      <a:pPr algn="ctr"/>
                      <a:r>
                        <a:rPr lang="zh-CN" sz="2800" kern="100">
                          <a:effectLst/>
                        </a:rPr>
                        <a:t>应用层</a:t>
                      </a:r>
                      <a:endParaRPr lang="zh-CN" sz="36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r>
              <a:tr h="431197">
                <a:tc gridSpan="2">
                  <a:txBody>
                    <a:bodyPr/>
                    <a:lstStyle/>
                    <a:p>
                      <a:pPr algn="ctr"/>
                      <a:r>
                        <a:rPr lang="zh-CN" sz="2800" kern="100" dirty="0">
                          <a:effectLst/>
                        </a:rPr>
                        <a:t>应用汇聚层</a:t>
                      </a:r>
                      <a:endParaRPr lang="zh-CN" sz="36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solidFill>
                      <a:schemeClr val="bg1">
                        <a:lumMod val="65000"/>
                      </a:schemeClr>
                    </a:solidFill>
                  </a:tcPr>
                </a:tc>
                <a:tc hMerge="1">
                  <a:tcPr/>
                </a:tc>
              </a:tr>
              <a:tr h="431197">
                <a:tc gridSpan="2">
                  <a:txBody>
                    <a:bodyPr/>
                    <a:lstStyle/>
                    <a:p>
                      <a:pPr algn="ctr"/>
                      <a:r>
                        <a:rPr lang="zh-CN" sz="2800" kern="100" dirty="0">
                          <a:effectLst/>
                        </a:rPr>
                        <a:t>网络层</a:t>
                      </a:r>
                      <a:endParaRPr lang="zh-CN" sz="36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r>
              <a:tr h="431197">
                <a:tc rowSpan="2">
                  <a:txBody>
                    <a:bodyPr/>
                    <a:lstStyle/>
                    <a:p>
                      <a:pPr algn="ctr"/>
                      <a:r>
                        <a:rPr lang="zh-CN" sz="2800" kern="100">
                          <a:effectLst/>
                        </a:rPr>
                        <a:t>数据链路层</a:t>
                      </a:r>
                      <a:endParaRPr lang="zh-CN" sz="36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solidFill>
                      <a:schemeClr val="bg1">
                        <a:lumMod val="65000"/>
                      </a:schemeClr>
                    </a:solidFill>
                  </a:tcPr>
                </a:tc>
                <a:tc>
                  <a:txBody>
                    <a:bodyPr/>
                    <a:lstStyle/>
                    <a:p>
                      <a:pPr algn="ctr"/>
                      <a:r>
                        <a:rPr lang="en-US" sz="2800" kern="100">
                          <a:effectLst/>
                        </a:rPr>
                        <a:t>LLC</a:t>
                      </a:r>
                      <a:endParaRPr lang="zh-CN" sz="3600"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solidFill>
                      <a:schemeClr val="bg1">
                        <a:lumMod val="65000"/>
                      </a:schemeClr>
                    </a:solidFill>
                  </a:tcPr>
                </a:tc>
              </a:tr>
              <a:tr h="431197">
                <a:tc vMerge="1">
                  <a:tcPr/>
                </a:tc>
                <a:tc>
                  <a:txBody>
                    <a:bodyPr/>
                    <a:lstStyle/>
                    <a:p>
                      <a:pPr algn="ctr"/>
                      <a:r>
                        <a:rPr lang="en-US" sz="2800" kern="100" dirty="0">
                          <a:effectLst/>
                        </a:rPr>
                        <a:t>MAC</a:t>
                      </a:r>
                      <a:endParaRPr lang="zh-CN" sz="36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solidFill>
                      <a:schemeClr val="bg1">
                        <a:lumMod val="65000"/>
                      </a:schemeClr>
                    </a:solidFill>
                  </a:tcPr>
                </a:tc>
              </a:tr>
              <a:tr h="431197">
                <a:tc gridSpan="2">
                  <a:txBody>
                    <a:bodyPr/>
                    <a:lstStyle/>
                    <a:p>
                      <a:pPr algn="ctr"/>
                      <a:r>
                        <a:rPr lang="zh-CN" sz="2800" kern="100" dirty="0">
                          <a:effectLst/>
                        </a:rPr>
                        <a:t>物理层</a:t>
                      </a:r>
                      <a:endParaRPr lang="zh-CN" sz="3600"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tc>
                <a:tc hMerge="1">
                  <a:tcPr/>
                </a:tc>
              </a:tr>
            </a:tbl>
          </a:graphicData>
        </a:graphic>
      </p:graphicFrame>
      <p:sp>
        <p:nvSpPr>
          <p:cNvPr id="5" name="标题 1"/>
          <p:cNvSpPr>
            <a:spLocks noGrp="1"/>
          </p:cNvSpPr>
          <p:nvPr>
            <p:ph type="title"/>
          </p:nvPr>
        </p:nvSpPr>
        <p:spPr>
          <a:xfrm>
            <a:off x="641350" y="11049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3.5.2.3  ZigBee的协议框架</a:t>
            </a:r>
            <a:endParaRPr kumimoji="0" lang="zh-CN" altLang="zh-CN"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25349"/>
            <a:ext cx="11074400" cy="4329390"/>
          </a:xfrm>
          <a:prstGeom prst="rect">
            <a:avLst/>
          </a:prstGeom>
          <a:noFill/>
          <a:ln w="9525">
            <a:noFill/>
          </a:ln>
        </p:spPr>
        <p:txBody>
          <a:bodyPr wrap="square">
            <a:spAutoFit/>
          </a:bodyPr>
          <a:lstStyle/>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应用层定义了各种类型的应用业务，是协议栈的最上层用户。</a:t>
            </a:r>
            <a:endParaRPr lang="zh-CN" altLang="zh-CN" sz="2200" b="1" kern="100" dirty="0">
              <a:effectLst/>
              <a:latin typeface="Times New Roman" panose="02020603050405020304" charset="0"/>
              <a:ea typeface="宋体" panose="02010600030101010101" pitchFamily="2" charset="-122"/>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应用汇聚层负责把不同的应用映射到</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网络层上，包括安全与鉴权，多个业务数据流的汇聚、设备发现和业务发现。</a:t>
            </a:r>
            <a:r>
              <a:rPr lang="en-US" altLang="zh-CN" sz="2200" b="1" kern="100" dirty="0">
                <a:effectLst/>
                <a:latin typeface="Times New Roman" panose="02020603050405020304" charset="0"/>
                <a:ea typeface="宋体" panose="02010600030101010101" pitchFamily="2" charset="-122"/>
              </a:rPr>
              <a:t> </a:t>
            </a:r>
            <a:r>
              <a:rPr lang="zh-CN" altLang="en-US" sz="2200" b="1" kern="100" dirty="0">
                <a:effectLst/>
                <a:latin typeface="Times New Roman" panose="02020603050405020304" charset="0"/>
                <a:ea typeface="宋体" panose="02010600030101010101" pitchFamily="2" charset="-122"/>
              </a:rPr>
              <a:t>、</a:t>
            </a:r>
            <a:endParaRPr lang="en-US" altLang="zh-CN" sz="2200" b="1" kern="100" dirty="0">
              <a:effectLst/>
              <a:latin typeface="Times New Roman" panose="02020603050405020304" charset="0"/>
              <a:ea typeface="宋体" panose="02010600030101010101" pitchFamily="2" charset="-122"/>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网络层的功能包括拓扑管理、</a:t>
            </a:r>
            <a:r>
              <a:rPr lang="en-US" altLang="zh-CN" sz="2200" b="1" kern="100" dirty="0">
                <a:effectLst/>
                <a:latin typeface="Times New Roman" panose="02020603050405020304" charset="0"/>
                <a:ea typeface="宋体" panose="02010600030101010101" pitchFamily="2" charset="-122"/>
              </a:rPr>
              <a:t>MAC</a:t>
            </a:r>
            <a:r>
              <a:rPr lang="zh-CN" altLang="zh-CN" sz="2200" b="1" kern="100" dirty="0">
                <a:effectLst/>
                <a:latin typeface="Times New Roman" panose="02020603050405020304" charset="0"/>
                <a:ea typeface="宋体" panose="02010600030101010101" pitchFamily="2" charset="-122"/>
              </a:rPr>
              <a:t>管理、路由管理和安全管理。</a:t>
            </a:r>
            <a:r>
              <a:rPr lang="en-US" altLang="zh-CN" sz="2200" b="1" kern="100" dirty="0">
                <a:effectLst/>
                <a:latin typeface="Times New Roman" panose="02020603050405020304" charset="0"/>
                <a:ea typeface="宋体" panose="02010600030101010101" pitchFamily="2" charset="-122"/>
              </a:rPr>
              <a:t>  </a:t>
            </a:r>
            <a:endParaRPr lang="zh-CN" altLang="zh-CN" sz="2200" b="1" kern="100" dirty="0">
              <a:effectLst/>
              <a:latin typeface="Times New Roman" panose="02020603050405020304" charset="0"/>
              <a:ea typeface="宋体" panose="02010600030101010101" pitchFamily="2" charset="-122"/>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数据链路层又可分为逻辑链路控制子层（</a:t>
            </a:r>
            <a:r>
              <a:rPr lang="en-US" altLang="zh-CN" sz="2200" b="1" kern="100" dirty="0">
                <a:effectLst/>
                <a:latin typeface="Times New Roman" panose="02020603050405020304" charset="0"/>
                <a:ea typeface="宋体" panose="02010600030101010101" pitchFamily="2" charset="-122"/>
              </a:rPr>
              <a:t>LLC</a:t>
            </a:r>
            <a:r>
              <a:rPr lang="zh-CN" altLang="zh-CN" sz="2200" b="1" kern="100" dirty="0">
                <a:effectLst/>
                <a:latin typeface="Times New Roman" panose="02020603050405020304" charset="0"/>
                <a:ea typeface="宋体" panose="02010600030101010101" pitchFamily="2" charset="-122"/>
              </a:rPr>
              <a:t>）和介质访问控制子层（</a:t>
            </a:r>
            <a:r>
              <a:rPr lang="en-US" altLang="zh-CN" sz="2200" b="1" kern="100" dirty="0">
                <a:effectLst/>
                <a:latin typeface="Times New Roman" panose="02020603050405020304" charset="0"/>
                <a:ea typeface="宋体" panose="02010600030101010101" pitchFamily="2" charset="-122"/>
              </a:rPr>
              <a:t>MAC</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IEEE 802.15.4</a:t>
            </a:r>
            <a:r>
              <a:rPr lang="zh-CN" altLang="zh-CN" sz="2200" b="1" kern="100" dirty="0">
                <a:effectLst/>
                <a:latin typeface="Times New Roman" panose="02020603050405020304" charset="0"/>
                <a:ea typeface="宋体" panose="02010600030101010101" pitchFamily="2" charset="-122"/>
              </a:rPr>
              <a:t>的</a:t>
            </a:r>
            <a:r>
              <a:rPr lang="en-US" altLang="zh-CN" sz="2200" b="1" kern="100" dirty="0">
                <a:effectLst/>
                <a:latin typeface="Times New Roman" panose="02020603050405020304" charset="0"/>
                <a:ea typeface="宋体" panose="02010600030101010101" pitchFamily="2" charset="-122"/>
              </a:rPr>
              <a:t>LLC</a:t>
            </a:r>
            <a:r>
              <a:rPr lang="zh-CN" altLang="zh-CN" sz="2200" b="1" kern="100" dirty="0">
                <a:effectLst/>
                <a:latin typeface="Times New Roman" panose="02020603050405020304" charset="0"/>
                <a:ea typeface="宋体" panose="02010600030101010101" pitchFamily="2" charset="-122"/>
              </a:rPr>
              <a:t>子层与</a:t>
            </a:r>
            <a:r>
              <a:rPr lang="en-US" altLang="zh-CN" sz="2200" b="1" kern="100" dirty="0">
                <a:effectLst/>
                <a:latin typeface="Times New Roman" panose="02020603050405020304" charset="0"/>
                <a:ea typeface="宋体" panose="02010600030101010101" pitchFamily="2" charset="-122"/>
              </a:rPr>
              <a:t>IEEE 802.2</a:t>
            </a:r>
            <a:r>
              <a:rPr lang="zh-CN" altLang="zh-CN" sz="2200" b="1" kern="100" dirty="0">
                <a:effectLst/>
                <a:latin typeface="Times New Roman" panose="02020603050405020304" charset="0"/>
                <a:ea typeface="宋体" panose="02010600030101010101" pitchFamily="2" charset="-122"/>
              </a:rPr>
              <a:t>的相同，其功能包括传输可靠性保障、数据包的分段与重组、数据包的顺序传输。</a:t>
            </a:r>
            <a:r>
              <a:rPr lang="en-US" altLang="zh-CN" sz="2200" b="1" kern="100" dirty="0">
                <a:effectLst/>
                <a:latin typeface="Times New Roman" panose="02020603050405020304" charset="0"/>
                <a:ea typeface="宋体" panose="02010600030101010101" pitchFamily="2" charset="-122"/>
              </a:rPr>
              <a:t>IEEE 802.15.4 MAC</a:t>
            </a:r>
            <a:r>
              <a:rPr lang="zh-CN" altLang="zh-CN" sz="2200" b="1" kern="100" dirty="0">
                <a:effectLst/>
                <a:latin typeface="Times New Roman" panose="02020603050405020304" charset="0"/>
                <a:ea typeface="宋体" panose="02010600030101010101" pitchFamily="2" charset="-122"/>
              </a:rPr>
              <a:t>子层通过</a:t>
            </a:r>
            <a:r>
              <a:rPr lang="en-US" altLang="zh-CN" sz="2200" b="1" kern="100" dirty="0">
                <a:effectLst/>
                <a:latin typeface="Times New Roman" panose="02020603050405020304" charset="0"/>
                <a:ea typeface="宋体" panose="02010600030101010101" pitchFamily="2" charset="-122"/>
              </a:rPr>
              <a:t>SSCS(service-Specific Convergence Sublayer)</a:t>
            </a:r>
            <a:r>
              <a:rPr lang="zh-CN" altLang="zh-CN" sz="2200" b="1" kern="100" dirty="0">
                <a:effectLst/>
                <a:latin typeface="Times New Roman" panose="02020603050405020304" charset="0"/>
                <a:ea typeface="宋体" panose="02010600030101010101" pitchFamily="2" charset="-122"/>
              </a:rPr>
              <a:t>协议能支持多种</a:t>
            </a:r>
            <a:r>
              <a:rPr lang="en-US" altLang="zh-CN" sz="2200" b="1" kern="100" dirty="0">
                <a:effectLst/>
                <a:latin typeface="Times New Roman" panose="02020603050405020304" charset="0"/>
                <a:ea typeface="宋体" panose="02010600030101010101" pitchFamily="2" charset="-122"/>
              </a:rPr>
              <a:t>LLC</a:t>
            </a:r>
            <a:r>
              <a:rPr lang="zh-CN" altLang="zh-CN" sz="2200" b="1" kern="100" dirty="0">
                <a:effectLst/>
                <a:latin typeface="Times New Roman" panose="02020603050405020304" charset="0"/>
                <a:ea typeface="宋体" panose="02010600030101010101" pitchFamily="2" charset="-122"/>
              </a:rPr>
              <a:t>标准，其功能包括设备间无线链路的建立、维护和拆除，确认模式的帧传送与接收，信道接入控制、帧校验、预留时隙管理和广播信息管理。</a:t>
            </a:r>
            <a:r>
              <a:rPr lang="en-US" altLang="zh-CN" sz="2200" b="1" kern="100" dirty="0">
                <a:effectLst/>
                <a:latin typeface="Times New Roman" panose="02020603050405020304" charset="0"/>
                <a:ea typeface="宋体" panose="02010600030101010101" pitchFamily="2" charset="-122"/>
              </a:rPr>
              <a:t>  </a:t>
            </a:r>
            <a:endParaRPr lang="zh-CN" altLang="zh-CN" sz="2200" b="1" kern="100" dirty="0">
              <a:effectLst/>
              <a:latin typeface="Times New Roman" panose="02020603050405020304" charset="0"/>
              <a:ea typeface="宋体" panose="02010600030101010101" pitchFamily="2" charset="-122"/>
            </a:endParaRPr>
          </a:p>
          <a:p>
            <a:pPr marL="285750" indent="-285750">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物理层采用直接序列扩频技术，定义了</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种频率等级。</a:t>
            </a:r>
            <a:endParaRPr lang="zh-CN" altLang="zh-CN" sz="2200" b="1" kern="100" dirty="0">
              <a:effectLst/>
              <a:latin typeface="Times New Roman" panose="02020603050405020304" charset="0"/>
              <a:ea typeface="宋体" panose="02010600030101010101" pitchFamily="2" charset="-122"/>
            </a:endParaRPr>
          </a:p>
        </p:txBody>
      </p:sp>
      <p:sp>
        <p:nvSpPr>
          <p:cNvPr id="5" name="标题 1"/>
          <p:cNvSpPr>
            <a:spLocks noGrp="1"/>
          </p:cNvSpPr>
          <p:nvPr>
            <p:ph type="title"/>
          </p:nvPr>
        </p:nvSpPr>
        <p:spPr>
          <a:xfrm>
            <a:off x="641350" y="11049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3.5.2.3  ZigBee的协议框架</a:t>
            </a:r>
            <a:endParaRPr kumimoji="0" lang="zh-CN" altLang="zh-CN"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887299"/>
            <a:ext cx="11074400" cy="2800767"/>
          </a:xfrm>
          <a:prstGeom prst="rect">
            <a:avLst/>
          </a:prstGeom>
          <a:noFill/>
          <a:ln w="9525">
            <a:noFill/>
          </a:ln>
        </p:spPr>
        <p:txBody>
          <a:bodyPr wrap="square">
            <a:spAutoFit/>
          </a:bodyPr>
          <a:lstStyle/>
          <a:p>
            <a:pPr indent="266700" algn="just"/>
            <a:r>
              <a:rPr lang="zh-CN" altLang="zh-CN" sz="2200" b="1" kern="100" dirty="0">
                <a:effectLst/>
                <a:latin typeface="Times New Roman" panose="02020603050405020304" charset="0"/>
                <a:ea typeface="宋体" panose="02010600030101010101" pitchFamily="2" charset="-122"/>
              </a:rPr>
              <a:t>数据传输的路径为动态路由，即网络中数据传输的路径并不是预先设定的，而是传输数据前通过对网络当时可利用的所有路径进行搜索，分析它们的位置关系以及远近，然后选择其中一条路径进行数据传输。在网络管理软件中，路径的选择使用的是</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梯度法</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即先选择路径最近的一条通道进行传输，如传输不成功，再使用另外一条稍远一点的通路进行传输，以此类推，直到数据送达目的地为止。在实际工业现场，预先确定的传输路径随时都可能发生变化，或者因各种原因路径被中断了，或者过于繁忙不能进行及时传送。动态路由结合网状拓扑结构，可以很好地解决这个问题，从而保证数据的可靠传输。</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组网方式，包括星型网、网型网、簇型网</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种组网方式，如图</a:t>
            </a:r>
            <a:r>
              <a:rPr lang="en-US" altLang="zh-CN" sz="2200" b="1" kern="100" dirty="0">
                <a:effectLst/>
                <a:latin typeface="Times New Roman" panose="02020603050405020304" charset="0"/>
                <a:ea typeface="宋体" panose="02010600030101010101" pitchFamily="2" charset="-122"/>
              </a:rPr>
              <a:t>3-5-4</a:t>
            </a:r>
            <a:r>
              <a:rPr lang="zh-CN" altLang="zh-CN" sz="2200" b="1" kern="100" dirty="0">
                <a:effectLst/>
                <a:latin typeface="Times New Roman" panose="02020603050405020304" charset="0"/>
                <a:ea typeface="宋体" panose="02010600030101010101" pitchFamily="2" charset="-122"/>
              </a:rPr>
              <a:t>所示。</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522123" y="6063191"/>
            <a:ext cx="3147754" cy="369332"/>
          </a:xfrm>
          <a:prstGeom prst="rect">
            <a:avLst/>
          </a:prstGeom>
          <a:noFill/>
          <a:ln w="9525">
            <a:noFill/>
          </a:ln>
        </p:spPr>
        <p:txBody>
          <a:bodyPr wrap="square">
            <a:spAutoFit/>
          </a:bodyPr>
          <a:lstStyle/>
          <a:p>
            <a:pPr indent="228600" algn="ctr"/>
            <a:r>
              <a:rPr lang="zh-CN" altLang="zh-CN" sz="1800" b="1" kern="100" dirty="0">
                <a:effectLst/>
                <a:latin typeface="Times New Roman" panose="02020603050405020304" charset="0"/>
                <a:ea typeface="宋体" panose="02010600030101010101" pitchFamily="2" charset="-122"/>
              </a:rPr>
              <a:t>图</a:t>
            </a:r>
            <a:r>
              <a:rPr lang="en-US" altLang="zh-CN" sz="1800" b="1" kern="100" dirty="0">
                <a:effectLst/>
                <a:latin typeface="Times New Roman" panose="02020603050405020304" charset="0"/>
                <a:ea typeface="宋体" panose="02010600030101010101" pitchFamily="2" charset="-122"/>
              </a:rPr>
              <a:t>3-5-4  ZigBee</a:t>
            </a:r>
            <a:r>
              <a:rPr lang="zh-CN" altLang="zh-CN" sz="1800" b="1" kern="100" dirty="0">
                <a:effectLst/>
                <a:latin typeface="Times New Roman" panose="02020603050405020304" charset="0"/>
                <a:ea typeface="宋体" panose="02010600030101010101" pitchFamily="2" charset="-122"/>
              </a:rPr>
              <a:t>组网方式</a:t>
            </a:r>
            <a:endParaRPr lang="zh-CN" altLang="zh-CN" sz="1800" b="1" kern="100" dirty="0">
              <a:effectLst/>
              <a:latin typeface="Times New Roman" panose="02020603050405020304" charset="0"/>
              <a:ea typeface="宋体" panose="02010600030101010101" pitchFamily="2" charset="-122"/>
            </a:endParaRPr>
          </a:p>
        </p:txBody>
      </p:sp>
      <p:pic>
        <p:nvPicPr>
          <p:cNvPr id="6" name="图片 5"/>
          <p:cNvPicPr>
            <a:picLocks noChangeAspect="1"/>
          </p:cNvPicPr>
          <p:nvPr/>
        </p:nvPicPr>
        <p:blipFill>
          <a:blip r:embed="rId1"/>
          <a:srcRect l="7724" t="7155" r="8472" b="16522"/>
          <a:stretch>
            <a:fillRect/>
          </a:stretch>
        </p:blipFill>
        <p:spPr>
          <a:xfrm>
            <a:off x="3202781" y="1072309"/>
            <a:ext cx="5348288" cy="4713382"/>
          </a:xfrm>
          <a:prstGeom prst="rect">
            <a:avLst/>
          </a:prstGeom>
          <a:noFill/>
          <a:ln>
            <a:noFill/>
          </a:ln>
        </p:spPr>
      </p:pic>
      <p:sp>
        <p:nvSpPr>
          <p:cNvPr id="4" name="标题 1"/>
          <p:cNvSpPr>
            <a:spLocks noGrp="1"/>
          </p:cNvSpPr>
          <p:nvPr>
            <p:ph type="title"/>
          </p:nvPr>
        </p:nvSpPr>
        <p:spPr>
          <a:xfrm>
            <a:off x="499110" y="0"/>
            <a:ext cx="7310755" cy="1325880"/>
          </a:xfrm>
        </p:spPr>
        <p:txBody>
          <a:bodyPr/>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48576"/>
            <a:ext cx="11074400" cy="4201150"/>
          </a:xfrm>
          <a:prstGeom prst="rect">
            <a:avLst/>
          </a:prstGeom>
          <a:noFill/>
          <a:ln w="9525">
            <a:noFill/>
          </a:ln>
        </p:spPr>
        <p:txBody>
          <a:bodyPr wrap="square">
            <a:spAutoFit/>
          </a:bodyPr>
          <a:lstStyle/>
          <a:p>
            <a:pPr marL="285750" indent="-285750" algn="just">
              <a:spcBef>
                <a:spcPts val="1000"/>
              </a:spcBef>
              <a:buFont typeface="Wingdings" panose="05000000000000000000" pitchFamily="2" charset="2"/>
              <a:buChar char="Ø"/>
            </a:pPr>
            <a:r>
              <a:rPr lang="en-US" altLang="zh-CN" sz="2200" b="1" kern="100" dirty="0">
                <a:effectLst/>
                <a:latin typeface="Times New Roman" panose="02020603050405020304" charset="0"/>
                <a:ea typeface="宋体" panose="02010600030101010101" pitchFamily="2" charset="-122"/>
              </a:rPr>
              <a:t>1.ZigBee</a:t>
            </a:r>
            <a:r>
              <a:rPr lang="zh-CN" altLang="zh-CN" sz="2200" b="1" kern="100" dirty="0">
                <a:effectLst/>
                <a:latin typeface="Times New Roman" panose="02020603050405020304" charset="0"/>
                <a:ea typeface="宋体" panose="02010600030101010101" pitchFamily="2" charset="-122"/>
              </a:rPr>
              <a:t>网络设备的功能</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技术采用的是自组织组网方式。在通信范围内，节点通过彼此自动寻找</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很快就可以形成一个互联互通的</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网络。而且，由于节点的移动</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彼此间的联络还会发生变化。因而，节点还可以通过重新寻找通信对象，确定彼此间的联络，对原有网络进行刷新，重新构建新的</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网络。在组网中有</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种不同类型的设备，分别为协调器、路由器和终端节点。</a:t>
            </a:r>
            <a:endParaRPr lang="en-US"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1</a:t>
            </a:r>
            <a:r>
              <a:rPr lang="zh-CN" altLang="zh-CN" sz="2200" b="1" kern="100" dirty="0">
                <a:effectLst/>
                <a:latin typeface="Times New Roman" panose="02020603050405020304" charset="0"/>
                <a:ea typeface="宋体" panose="02010600030101010101" pitchFamily="2" charset="-122"/>
              </a:rPr>
              <a:t>）协调器（</a:t>
            </a:r>
            <a:r>
              <a:rPr lang="en-US" altLang="zh-CN" sz="2200" b="1" kern="100" dirty="0">
                <a:effectLst/>
                <a:latin typeface="Times New Roman" panose="02020603050405020304" charset="0"/>
                <a:ea typeface="宋体" panose="02010600030101010101" pitchFamily="2" charset="-122"/>
              </a:rPr>
              <a:t>Coordinator</a:t>
            </a:r>
            <a:r>
              <a:rPr lang="zh-CN" altLang="zh-CN" sz="2200" b="1" kern="100" dirty="0">
                <a:effectLst/>
                <a:latin typeface="Times New Roman" panose="02020603050405020304" charset="0"/>
                <a:ea typeface="宋体" panose="02010600030101010101" pitchFamily="2" charset="-122"/>
              </a:rPr>
              <a:t>）：选择一个频道和</a:t>
            </a:r>
            <a:r>
              <a:rPr lang="en-US" altLang="zh-CN" sz="2200" b="1" kern="100" dirty="0">
                <a:effectLst/>
                <a:latin typeface="Times New Roman" panose="02020603050405020304" charset="0"/>
                <a:ea typeface="宋体" panose="02010600030101010101" pitchFamily="2" charset="-122"/>
              </a:rPr>
              <a:t>PAN ID(Personal Area Network,</a:t>
            </a:r>
            <a:r>
              <a:rPr lang="zh-CN" altLang="zh-CN" sz="2200" b="1" kern="100" dirty="0">
                <a:effectLst/>
                <a:latin typeface="Times New Roman" panose="02020603050405020304" charset="0"/>
                <a:ea typeface="宋体" panose="02010600030101010101" pitchFamily="2" charset="-122"/>
              </a:rPr>
              <a:t>即个域网，每个个域网都有一个独立的</a:t>
            </a:r>
            <a:r>
              <a:rPr lang="en-US" altLang="zh-CN" sz="2200" b="1" kern="100" dirty="0">
                <a:effectLst/>
                <a:latin typeface="Times New Roman" panose="02020603050405020304" charset="0"/>
                <a:ea typeface="宋体" panose="02010600030101010101" pitchFamily="2" charset="-122"/>
              </a:rPr>
              <a:t>ID</a:t>
            </a:r>
            <a:r>
              <a:rPr lang="zh-CN" altLang="zh-CN" sz="2200" b="1" kern="100" dirty="0">
                <a:effectLst/>
                <a:latin typeface="Times New Roman" panose="02020603050405020304" charset="0"/>
                <a:ea typeface="宋体" panose="02010600030101010101" pitchFamily="2" charset="-122"/>
              </a:rPr>
              <a:t>号</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称为</a:t>
            </a: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组建网络；允许路由和终端节点加入这个网络；对网络中的数据进行路由；通常是常电供电，一般不进入睡眠模式；可以为睡眠的终端节点保留数据，供它被唤醒后获取。</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48576"/>
            <a:ext cx="11074400" cy="4878259"/>
          </a:xfrm>
          <a:prstGeom prst="rect">
            <a:avLst/>
          </a:prstGeom>
          <a:noFill/>
          <a:ln w="9525">
            <a:noFill/>
          </a:ln>
        </p:spPr>
        <p:txBody>
          <a:bodyPr wrap="square">
            <a:spAutoFit/>
          </a:bodyPr>
          <a:lstStyle/>
          <a:p>
            <a:pPr indent="266700" algn="just">
              <a:spcBef>
                <a:spcPts val="1000"/>
              </a:spcBef>
            </a:pP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2</a:t>
            </a:r>
            <a:r>
              <a:rPr lang="zh-CN" altLang="zh-CN" sz="2200" b="1" kern="100" dirty="0">
                <a:effectLst/>
                <a:latin typeface="Times New Roman" panose="02020603050405020304" charset="0"/>
                <a:ea typeface="宋体" panose="02010600030101010101" pitchFamily="2" charset="-122"/>
              </a:rPr>
              <a:t>）路由器（</a:t>
            </a:r>
            <a:r>
              <a:rPr lang="en-US" altLang="zh-CN" sz="2200" b="1" kern="100" dirty="0">
                <a:effectLst/>
                <a:latin typeface="Times New Roman" panose="02020603050405020304" charset="0"/>
                <a:ea typeface="宋体" panose="02010600030101010101" pitchFamily="2" charset="-122"/>
              </a:rPr>
              <a:t>Router</a:t>
            </a:r>
            <a:r>
              <a:rPr lang="zh-CN" altLang="zh-CN" sz="2200" b="1" kern="100" dirty="0">
                <a:effectLst/>
                <a:latin typeface="Times New Roman" panose="02020603050405020304" charset="0"/>
                <a:ea typeface="宋体" panose="02010600030101010101" pitchFamily="2" charset="-122"/>
              </a:rPr>
              <a:t>）：在进行数据收发之前，路由器必须首先加入一个</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网络；加入网络后</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允许路由和终端节点加入；它们加入网络后，可以对网络中的数据进行路由；路由器必须一直供电，不能进入睡眠模式；通常，可以为睡眠的终端节点保留数据，供它被唤醒后获取。</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）终端节点（</a:t>
            </a:r>
            <a:r>
              <a:rPr lang="en-US" altLang="zh-CN" sz="2200" b="1" kern="100" dirty="0">
                <a:solidFill>
                  <a:srgbClr val="000000"/>
                </a:solidFill>
                <a:effectLst/>
                <a:latin typeface="Times New Roman" panose="02020603050405020304" charset="0"/>
                <a:ea typeface="宋体" panose="02010600030101010101" pitchFamily="2" charset="-122"/>
              </a:rPr>
              <a:t>End-Device</a:t>
            </a:r>
            <a:r>
              <a:rPr lang="zh-CN" altLang="zh-CN" sz="2200" b="1" kern="100" dirty="0">
                <a:effectLst/>
                <a:latin typeface="Times New Roman" panose="02020603050405020304" charset="0"/>
                <a:ea typeface="宋体" panose="02010600030101010101" pitchFamily="2" charset="-122"/>
              </a:rPr>
              <a:t>）：在进行数据收发之前</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必须首先加入一个</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网络；不允许其他设备加入；必须通过其父节点收发数据，不能对网络中的数据进行路由；可由电池供电，可进入睡眠模式。</a:t>
            </a:r>
            <a:endParaRPr lang="en-US"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协调器在选择频道和</a:t>
            </a: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组建网络后，其功能相当于一个路由器。协调器或者路由器均允许其他设备加入网络，并为其路由数据。终端节点通过协调器或者某个路由器加入网络后，便成为其</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子节点</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，对应的路由器或者协调器即成为</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父节点</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。由于终端节点可以进入睡眠模式，其父节点便有义务为其保留其他节点发来的数据，直至其醒来并将此数据取走。</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48576"/>
            <a:ext cx="11074400" cy="3734356"/>
          </a:xfrm>
          <a:prstGeom prst="rect">
            <a:avLst/>
          </a:prstGeom>
          <a:noFill/>
          <a:ln w="9525">
            <a:noFill/>
          </a:ln>
        </p:spPr>
        <p:txBody>
          <a:bodyPr wrap="square">
            <a:spAutoFit/>
          </a:bodyPr>
          <a:lstStyle/>
          <a:p>
            <a:pPr marL="285750" indent="-285750" algn="just">
              <a:spcBef>
                <a:spcPts val="1000"/>
              </a:spcBef>
              <a:buFont typeface="Wingdings" panose="05000000000000000000" pitchFamily="2" charset="2"/>
              <a:buChar char="Ø"/>
            </a:pPr>
            <a:r>
              <a:rPr lang="en-US" altLang="zh-CN" sz="2200" b="1" kern="100" dirty="0">
                <a:effectLst/>
                <a:latin typeface="Times New Roman" panose="02020603050405020304" charset="0"/>
                <a:ea typeface="宋体" panose="02010600030101010101" pitchFamily="2" charset="-122"/>
              </a:rPr>
              <a:t>2.</a:t>
            </a:r>
            <a:r>
              <a:rPr lang="zh-CN" altLang="zh-CN" sz="2200" b="1" kern="100" dirty="0">
                <a:effectLst/>
                <a:latin typeface="Times New Roman" panose="02020603050405020304" charset="0"/>
                <a:ea typeface="宋体" panose="02010600030101010101" pitchFamily="2" charset="-122"/>
              </a:rPr>
              <a:t>寻址</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就是指个域网</a:t>
            </a:r>
            <a:r>
              <a:rPr lang="en-US" altLang="zh-CN" sz="2200" b="1" kern="100" dirty="0">
                <a:effectLst/>
                <a:latin typeface="Times New Roman" panose="02020603050405020304" charset="0"/>
                <a:ea typeface="宋体" panose="02010600030101010101" pitchFamily="2" charset="-122"/>
              </a:rPr>
              <a:t>ID</a:t>
            </a:r>
            <a:r>
              <a:rPr lang="zh-CN" altLang="zh-CN" sz="2200" b="1" kern="100" dirty="0">
                <a:effectLst/>
                <a:latin typeface="Times New Roman" panose="02020603050405020304" charset="0"/>
                <a:ea typeface="宋体" panose="02010600030101010101" pitchFamily="2" charset="-122"/>
              </a:rPr>
              <a:t>，或称作为网络编号，用于区分不同的</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网络。协调器就是通过选择网络信道及</a:t>
            </a: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来启动一个无线网络的，网络建立后，</a:t>
            </a: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作为网络的唯一标志，不能与其他网络相同。</a:t>
            </a:r>
            <a:r>
              <a:rPr lang="en-US" altLang="zh-CN" sz="2200" b="1" kern="100" dirty="0">
                <a:effectLst/>
                <a:latin typeface="Times New Roman" panose="02020603050405020304" charset="0"/>
                <a:ea typeface="宋体" panose="02010600030101010101" pitchFamily="2" charset="-122"/>
              </a:rPr>
              <a:t>PAN ID</a:t>
            </a:r>
            <a:r>
              <a:rPr lang="zh-CN" altLang="zh-CN" sz="2200" b="1" kern="100" dirty="0">
                <a:effectLst/>
                <a:latin typeface="Times New Roman" panose="02020603050405020304" charset="0"/>
                <a:ea typeface="宋体" panose="02010600030101010101" pitchFamily="2" charset="-122"/>
              </a:rPr>
              <a:t>的有效范围为</a:t>
            </a:r>
            <a:r>
              <a:rPr lang="en-US" altLang="zh-CN" sz="2200" b="1" kern="100" dirty="0">
                <a:effectLst/>
                <a:latin typeface="Times New Roman" panose="02020603050405020304" charset="0"/>
                <a:ea typeface="宋体" panose="02010600030101010101" pitchFamily="2" charset="-122"/>
              </a:rPr>
              <a:t>0~0x3FFF</a:t>
            </a:r>
            <a:r>
              <a:rPr lang="zh-CN" altLang="zh-CN" sz="2200" b="1" kern="100" dirty="0">
                <a:effectLst/>
                <a:latin typeface="Times New Roman" panose="02020603050405020304" charset="0"/>
                <a:ea typeface="宋体" panose="02010600030101010101" pitchFamily="2" charset="-122"/>
              </a:rPr>
              <a:t>。</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每个</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设备有两种不同的地址类型：</a:t>
            </a:r>
            <a:r>
              <a:rPr lang="en-US" altLang="zh-CN" sz="2200" b="1" kern="100" dirty="0">
                <a:effectLst/>
                <a:latin typeface="Times New Roman" panose="02020603050405020304" charset="0"/>
                <a:ea typeface="宋体" panose="02010600030101010101" pitchFamily="2" charset="-122"/>
              </a:rPr>
              <a:t>16</a:t>
            </a:r>
            <a:r>
              <a:rPr lang="zh-CN" altLang="zh-CN" sz="2200" b="1" kern="100" dirty="0">
                <a:effectLst/>
                <a:latin typeface="Times New Roman" panose="02020603050405020304" charset="0"/>
                <a:ea typeface="宋体" panose="02010600030101010101" pitchFamily="2" charset="-122"/>
              </a:rPr>
              <a:t>位短地址和</a:t>
            </a:r>
            <a:r>
              <a:rPr lang="en-US" altLang="zh-CN" sz="2200" b="1" kern="100" dirty="0">
                <a:effectLst/>
                <a:latin typeface="Times New Roman" panose="02020603050405020304" charset="0"/>
                <a:ea typeface="宋体" panose="02010600030101010101" pitchFamily="2" charset="-122"/>
              </a:rPr>
              <a:t>64</a:t>
            </a:r>
            <a:r>
              <a:rPr lang="zh-CN" altLang="zh-CN" sz="2200" b="1" kern="100" dirty="0">
                <a:effectLst/>
                <a:latin typeface="Times New Roman" panose="02020603050405020304" charset="0"/>
                <a:ea typeface="宋体" panose="02010600030101010101" pitchFamily="2" charset="-122"/>
              </a:rPr>
              <a:t>位</a:t>
            </a:r>
            <a:r>
              <a:rPr lang="en-US" altLang="zh-CN" sz="2200" b="1" kern="100" dirty="0">
                <a:effectLst/>
                <a:latin typeface="Times New Roman" panose="02020603050405020304" charset="0"/>
                <a:ea typeface="宋体" panose="02010600030101010101" pitchFamily="2" charset="-122"/>
              </a:rPr>
              <a:t>IEEE</a:t>
            </a:r>
            <a:r>
              <a:rPr lang="zh-CN" altLang="zh-CN" sz="2200" b="1" kern="100" dirty="0">
                <a:effectLst/>
                <a:latin typeface="Times New Roman" panose="02020603050405020304" charset="0"/>
                <a:ea typeface="宋体" panose="02010600030101010101" pitchFamily="2" charset="-122"/>
              </a:rPr>
              <a:t>地址。其中</a:t>
            </a:r>
            <a:r>
              <a:rPr lang="en-US" altLang="zh-CN" sz="2200" b="1" kern="100" dirty="0">
                <a:effectLst/>
                <a:latin typeface="Times New Roman" panose="02020603050405020304" charset="0"/>
                <a:ea typeface="宋体" panose="02010600030101010101" pitchFamily="2" charset="-122"/>
              </a:rPr>
              <a:t>64</a:t>
            </a:r>
            <a:r>
              <a:rPr lang="zh-CN" altLang="zh-CN" sz="2200" b="1" kern="100" dirty="0">
                <a:effectLst/>
                <a:latin typeface="Times New Roman" panose="02020603050405020304" charset="0"/>
                <a:ea typeface="宋体" panose="02010600030101010101" pitchFamily="2" charset="-122"/>
              </a:rPr>
              <a:t>位</a:t>
            </a:r>
            <a:r>
              <a:rPr lang="en-US" altLang="zh-CN" sz="2200" b="1" kern="100" dirty="0">
                <a:effectLst/>
                <a:latin typeface="Times New Roman" panose="02020603050405020304" charset="0"/>
                <a:ea typeface="宋体" panose="02010600030101010101" pitchFamily="2" charset="-122"/>
              </a:rPr>
              <a:t>IEEE</a:t>
            </a:r>
            <a:r>
              <a:rPr lang="zh-CN" altLang="zh-CN" sz="2200" b="1" kern="100" dirty="0">
                <a:effectLst/>
                <a:latin typeface="Times New Roman" panose="02020603050405020304" charset="0"/>
                <a:ea typeface="宋体" panose="02010600030101010101" pitchFamily="2" charset="-122"/>
              </a:rPr>
              <a:t>地址是全球唯一的地址，在设备的整个生命周期内都将保持不变，它由国际</a:t>
            </a:r>
            <a:r>
              <a:rPr lang="en-US" altLang="zh-CN" sz="2200" b="1" kern="100" dirty="0">
                <a:effectLst/>
                <a:latin typeface="Times New Roman" panose="02020603050405020304" charset="0"/>
                <a:ea typeface="宋体" panose="02010600030101010101" pitchFamily="2" charset="-122"/>
              </a:rPr>
              <a:t>IEEE</a:t>
            </a:r>
            <a:r>
              <a:rPr lang="zh-CN" altLang="zh-CN" sz="2200" b="1" kern="100" dirty="0">
                <a:effectLst/>
                <a:latin typeface="Times New Roman" panose="02020603050405020304" charset="0"/>
                <a:ea typeface="宋体" panose="02010600030101010101" pitchFamily="2" charset="-122"/>
              </a:rPr>
              <a:t>组织分配，在芯片出厂时已经写入芯片中，并且不能修改。而</a:t>
            </a:r>
            <a:r>
              <a:rPr lang="en-US" altLang="zh-CN" sz="2200" b="1" kern="100" dirty="0">
                <a:effectLst/>
                <a:latin typeface="Times New Roman" panose="02020603050405020304" charset="0"/>
                <a:ea typeface="宋体" panose="02010600030101010101" pitchFamily="2" charset="-122"/>
              </a:rPr>
              <a:t>16</a:t>
            </a:r>
            <a:r>
              <a:rPr lang="zh-CN" altLang="zh-CN" sz="2200" b="1" kern="100" dirty="0">
                <a:effectLst/>
                <a:latin typeface="Times New Roman" panose="02020603050405020304" charset="0"/>
                <a:ea typeface="宋体" panose="02010600030101010101" pitchFamily="2" charset="-122"/>
              </a:rPr>
              <a:t>位短地址是在设备加入一个</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网络时分配的，它只在这个网络中唯一，用于网络内数据收发时的地址识别。但由于</a:t>
            </a:r>
            <a:r>
              <a:rPr lang="en-US" altLang="zh-CN" sz="2200" b="1" kern="100" dirty="0">
                <a:effectLst/>
                <a:latin typeface="Times New Roman" panose="02020603050405020304" charset="0"/>
                <a:ea typeface="宋体" panose="02010600030101010101" pitchFamily="2" charset="-122"/>
              </a:rPr>
              <a:t>16</a:t>
            </a:r>
            <a:r>
              <a:rPr lang="zh-CN" altLang="zh-CN" sz="2200" b="1" kern="100" dirty="0">
                <a:effectLst/>
                <a:latin typeface="Times New Roman" panose="02020603050405020304" charset="0"/>
                <a:ea typeface="宋体" panose="02010600030101010101" pitchFamily="2" charset="-122"/>
              </a:rPr>
              <a:t>位短地址有时并不稳定，网络结构会发生改变，所以在某些情况下必须以</a:t>
            </a:r>
            <a:r>
              <a:rPr lang="en-US" altLang="zh-CN" sz="2200" b="1" kern="100" dirty="0">
                <a:effectLst/>
                <a:latin typeface="Times New Roman" panose="02020603050405020304" charset="0"/>
                <a:ea typeface="宋体" panose="02010600030101010101" pitchFamily="2" charset="-122"/>
              </a:rPr>
              <a:t>64</a:t>
            </a:r>
            <a:r>
              <a:rPr lang="zh-CN" altLang="zh-CN" sz="2200" b="1" kern="100" dirty="0">
                <a:effectLst/>
                <a:latin typeface="Times New Roman" panose="02020603050405020304" charset="0"/>
                <a:ea typeface="宋体" panose="02010600030101010101" pitchFamily="2" charset="-122"/>
              </a:rPr>
              <a:t>位</a:t>
            </a:r>
            <a:r>
              <a:rPr lang="en-US" altLang="zh-CN" sz="2200" b="1" kern="100" dirty="0">
                <a:effectLst/>
                <a:latin typeface="Times New Roman" panose="02020603050405020304" charset="0"/>
                <a:ea typeface="宋体" panose="02010600030101010101" pitchFamily="2" charset="-122"/>
              </a:rPr>
              <a:t>IEEE</a:t>
            </a:r>
            <a:r>
              <a:rPr lang="zh-CN" altLang="zh-CN" sz="2200" b="1" kern="100" dirty="0">
                <a:effectLst/>
                <a:latin typeface="Times New Roman" panose="02020603050405020304" charset="0"/>
                <a:ea typeface="宋体" panose="02010600030101010101" pitchFamily="2" charset="-122"/>
              </a:rPr>
              <a:t>地址作为通信的目标地址，以保证数据送达。</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13167" y="1120184"/>
            <a:ext cx="10487586" cy="5427127"/>
          </a:xfrm>
          <a:prstGeom prst="rect">
            <a:avLst/>
          </a:prstGeom>
          <a:noFill/>
          <a:ln w="9525">
            <a:noFill/>
          </a:ln>
        </p:spPr>
        <p:txBody>
          <a:bodyPr wrap="square">
            <a:spAutoFit/>
          </a:bodyPr>
          <a:lstStyle/>
          <a:p>
            <a:pPr indent="266700" algn="just">
              <a:spcBef>
                <a:spcPts val="1000"/>
              </a:spcBef>
            </a:pPr>
            <a:r>
              <a:rPr lang="zh-CN" altLang="zh-CN" sz="2200" b="1" kern="100" dirty="0">
                <a:effectLst/>
                <a:latin typeface="Times New Roman" panose="02020603050405020304" charset="0"/>
                <a:ea typeface="宋体" panose="02010600030101010101" pitchFamily="2" charset="-122"/>
              </a:rPr>
              <a:t>最新的</a:t>
            </a:r>
            <a:r>
              <a:rPr lang="en-US" altLang="zh-CN" sz="2200" b="1" kern="100" dirty="0">
                <a:effectLst/>
                <a:latin typeface="Times New Roman" panose="02020603050405020304" charset="0"/>
                <a:ea typeface="宋体" panose="02010600030101010101" pitchFamily="2" charset="-122"/>
              </a:rPr>
              <a:t>ZigBee Pro</a:t>
            </a:r>
            <a:r>
              <a:rPr lang="zh-CN" altLang="zh-CN" sz="2200" b="1" kern="100" dirty="0">
                <a:effectLst/>
                <a:latin typeface="Times New Roman" panose="02020603050405020304" charset="0"/>
                <a:ea typeface="宋体" panose="02010600030101010101" pitchFamily="2" charset="-122"/>
              </a:rPr>
              <a:t>的协议桟栈中规定了地址分配方法：对于协调器来说，短地址始终为</a:t>
            </a:r>
            <a:r>
              <a:rPr lang="en-US" altLang="zh-CN" sz="2200" b="1" kern="100" dirty="0">
                <a:effectLst/>
                <a:latin typeface="Times New Roman" panose="02020603050405020304" charset="0"/>
                <a:ea typeface="宋体" panose="02010600030101010101" pitchFamily="2" charset="-122"/>
              </a:rPr>
              <a:t>0x0000</a:t>
            </a:r>
            <a:r>
              <a:rPr lang="zh-CN" altLang="zh-CN" sz="2200" b="1" kern="100" dirty="0">
                <a:effectLst/>
                <a:latin typeface="Times New Roman" panose="02020603050405020304" charset="0"/>
                <a:ea typeface="宋体" panose="02010600030101010101" pitchFamily="2" charset="-122"/>
              </a:rPr>
              <a:t>，而其他设备的短地址是随机生成的。当一个设备加入网络之后，它从其父节点获取一个随机地址，然后向整个网络广播一个包含其短地址和</a:t>
            </a:r>
            <a:r>
              <a:rPr lang="en-US" altLang="zh-CN" sz="2200" b="1" kern="100" dirty="0">
                <a:effectLst/>
                <a:latin typeface="Times New Roman" panose="02020603050405020304" charset="0"/>
                <a:ea typeface="宋体" panose="02010600030101010101" pitchFamily="2" charset="-122"/>
              </a:rPr>
              <a:t>IEEE </a:t>
            </a:r>
            <a:r>
              <a:rPr lang="zh-CN" altLang="zh-CN" sz="2200" b="1" kern="100" dirty="0">
                <a:effectLst/>
                <a:latin typeface="Times New Roman" panose="02020603050405020304" charset="0"/>
                <a:ea typeface="宋体" panose="02010600030101010101" pitchFamily="2" charset="-122"/>
              </a:rPr>
              <a:t>地址的“设备声明”。如果另外一个设备收到此广播后，发现收到的地址与自己的地址相同，它将发出一个</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地址冲突</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的广播信息。有地址冲突的设备将全部重新更换地址，然后重复上述过程，直至整个网络中无地址冲突。</a:t>
            </a:r>
            <a:endParaRPr lang="en-US"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路由器短地址在其第一次上电时，由其父节点成功分配一次之后，保存在内部</a:t>
            </a:r>
            <a:r>
              <a:rPr lang="en-US" altLang="zh-CN" sz="2200" b="1" kern="100" dirty="0">
                <a:effectLst/>
                <a:latin typeface="Times New Roman" panose="02020603050405020304" charset="0"/>
                <a:ea typeface="宋体" panose="02010600030101010101" pitchFamily="2" charset="-122"/>
              </a:rPr>
              <a:t>Flash</a:t>
            </a:r>
            <a:r>
              <a:rPr lang="zh-CN" altLang="zh-CN" sz="2200" b="1" kern="100" dirty="0">
                <a:effectLst/>
                <a:latin typeface="Times New Roman" panose="02020603050405020304" charset="0"/>
                <a:ea typeface="宋体" panose="02010600030101010101" pitchFamily="2" charset="-122"/>
              </a:rPr>
              <a:t>中，以后无论如何开关机都将保持不变。用户可以选择一个协调器加</a:t>
            </a:r>
            <a:r>
              <a:rPr lang="en-US" altLang="zh-CN" sz="2200" b="1" kern="100" dirty="0">
                <a:effectLst/>
                <a:latin typeface="Times New Roman" panose="02020603050405020304" charset="0"/>
                <a:ea typeface="宋体" panose="02010600030101010101" pitchFamily="2" charset="-122"/>
              </a:rPr>
              <a:t>n</a:t>
            </a:r>
            <a:r>
              <a:rPr lang="zh-CN" altLang="zh-CN" sz="2200" b="1" kern="100" dirty="0">
                <a:effectLst/>
                <a:latin typeface="Times New Roman" panose="02020603050405020304" charset="0"/>
                <a:ea typeface="宋体" panose="02010600030101010101" pitchFamily="2" charset="-122"/>
              </a:rPr>
              <a:t>个路由器的方式来组成一个无“低功耗”需求的网络，进行</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无线透传</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等应用，简单地使用短地址即可保证数据送至正确的设备。</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终端节点可实现</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的“自组织”“自愈”功能。每次打开终端节点的电源，它将自动检查其附近的路由器</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协调器与它连接的信号质量，并选择信号质量最好的路由为其父节点加入网络。在加入网络之后，它将周期性地发送数据请求，若其父节点没有对其请求进行响应，并且重试几次后仍无响应，则判定为父节点丢失，此时终端节点将重复上述过程，重新寻找父节点并加入网络。</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48576"/>
            <a:ext cx="11074400" cy="3524042"/>
          </a:xfrm>
          <a:prstGeom prst="rect">
            <a:avLst/>
          </a:prstGeom>
          <a:noFill/>
          <a:ln w="9525">
            <a:noFill/>
          </a:ln>
        </p:spPr>
        <p:txBody>
          <a:bodyPr wrap="square">
            <a:spAutoFit/>
          </a:bodyPr>
          <a:lstStyle/>
          <a:p>
            <a:pPr marL="285750" indent="-285750" algn="just">
              <a:spcBef>
                <a:spcPts val="1000"/>
              </a:spcBef>
              <a:buFont typeface="Wingdings" panose="05000000000000000000" pitchFamily="2" charset="2"/>
              <a:buChar char="Ø"/>
            </a:pPr>
            <a:r>
              <a:rPr lang="en-US" altLang="zh-CN" sz="2200" b="1" kern="100" dirty="0">
                <a:effectLst/>
                <a:latin typeface="Times New Roman" panose="02020603050405020304" charset="0"/>
                <a:ea typeface="宋体" panose="02010600030101010101" pitchFamily="2" charset="-122"/>
              </a:rPr>
              <a:t>3.</a:t>
            </a:r>
            <a:r>
              <a:rPr lang="zh-CN" altLang="zh-CN" sz="2200" b="1" kern="100" dirty="0">
                <a:effectLst/>
                <a:latin typeface="Times New Roman" panose="02020603050405020304" charset="0"/>
                <a:ea typeface="宋体" panose="02010600030101010101" pitchFamily="2" charset="-122"/>
              </a:rPr>
              <a:t>数据发送方式</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模块的数据发送方式有</a:t>
            </a:r>
            <a:r>
              <a:rPr lang="zh-CN" altLang="zh-CN" sz="2200" b="1" kern="100" dirty="0">
                <a:solidFill>
                  <a:srgbClr val="FF0000"/>
                </a:solidFill>
                <a:effectLst/>
                <a:latin typeface="Times New Roman" panose="02020603050405020304" charset="0"/>
                <a:ea typeface="宋体" panose="02010600030101010101" pitchFamily="2" charset="-122"/>
              </a:rPr>
              <a:t>单播和广播</a:t>
            </a:r>
            <a:r>
              <a:rPr lang="zh-CN" altLang="zh-CN" sz="2200" b="1" kern="100" dirty="0">
                <a:effectLst/>
                <a:latin typeface="Times New Roman" panose="02020603050405020304" charset="0"/>
                <a:ea typeface="宋体" panose="02010600030101010101" pitchFamily="2" charset="-122"/>
              </a:rPr>
              <a:t>两种。</a:t>
            </a:r>
            <a:endParaRPr lang="zh-CN" altLang="zh-CN" sz="2200" b="1" kern="100" dirty="0">
              <a:effectLst/>
              <a:latin typeface="Times New Roman" panose="02020603050405020304" charset="0"/>
              <a:ea typeface="宋体" panose="02010600030101010101" pitchFamily="2" charset="-122"/>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在单播方式下</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数据由源设备发出</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直接或者经过几级中转后发送至目的地址。加入</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网络的所有设备之间都可以进行单播传输，可用</a:t>
            </a:r>
            <a:r>
              <a:rPr lang="en-US" altLang="zh-CN" sz="2200" b="1" kern="100" dirty="0">
                <a:effectLst/>
                <a:latin typeface="Times New Roman" panose="02020603050405020304" charset="0"/>
                <a:ea typeface="宋体" panose="02010600030101010101" pitchFamily="2" charset="-122"/>
              </a:rPr>
              <a:t>16</a:t>
            </a:r>
            <a:r>
              <a:rPr lang="zh-CN" altLang="zh-CN" sz="2200" b="1" kern="100" dirty="0">
                <a:effectLst/>
                <a:latin typeface="Times New Roman" panose="02020603050405020304" charset="0"/>
                <a:ea typeface="宋体" panose="02010600030101010101" pitchFamily="2" charset="-122"/>
              </a:rPr>
              <a:t>位短地址或者</a:t>
            </a:r>
            <a:r>
              <a:rPr lang="en-US" altLang="zh-CN" sz="2200" b="1" kern="100" dirty="0">
                <a:effectLst/>
                <a:latin typeface="Times New Roman" panose="02020603050405020304" charset="0"/>
                <a:ea typeface="宋体" panose="02010600030101010101" pitchFamily="2" charset="-122"/>
              </a:rPr>
              <a:t>64</a:t>
            </a:r>
            <a:r>
              <a:rPr lang="zh-CN" altLang="zh-CN" sz="2200" b="1" kern="100" dirty="0">
                <a:effectLst/>
                <a:latin typeface="Times New Roman" panose="02020603050405020304" charset="0"/>
                <a:ea typeface="宋体" panose="02010600030101010101" pitchFamily="2" charset="-122"/>
              </a:rPr>
              <a:t>位长地址进行寻址，具体路由关系由协调器或路由器进行维护、查询。</a:t>
            </a:r>
            <a:endParaRPr lang="zh-CN" altLang="zh-CN" sz="2200" b="1" kern="100" dirty="0">
              <a:effectLst/>
              <a:latin typeface="Times New Roman" panose="02020603050405020304" charset="0"/>
              <a:ea typeface="宋体" panose="02010600030101010101" pitchFamily="2" charset="-122"/>
            </a:endParaRPr>
          </a:p>
          <a:p>
            <a:pPr marL="342900" indent="-342900" algn="just">
              <a:spcBef>
                <a:spcPts val="1000"/>
              </a:spcBef>
              <a:buFont typeface="Arial" panose="020B0604020202020204" pitchFamily="34" charset="0"/>
              <a:buChar char="•"/>
            </a:pPr>
            <a:r>
              <a:rPr lang="zh-CN" altLang="zh-CN" sz="2200" b="1" kern="100" dirty="0">
                <a:effectLst/>
                <a:latin typeface="Times New Roman" panose="02020603050405020304" charset="0"/>
                <a:ea typeface="宋体" panose="02010600030101010101" pitchFamily="2" charset="-122"/>
              </a:rPr>
              <a:t>广播方式是由一个设备发送信息至整个</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网络的所有设备，其目标短地址使用</a:t>
            </a:r>
            <a:r>
              <a:rPr lang="en-US" altLang="zh-CN" sz="2200" b="1" kern="100" dirty="0">
                <a:effectLst/>
                <a:latin typeface="Times New Roman" panose="02020603050405020304" charset="0"/>
                <a:ea typeface="宋体" panose="02010600030101010101" pitchFamily="2" charset="-122"/>
              </a:rPr>
              <a:t>0xFFFF,</a:t>
            </a:r>
            <a:r>
              <a:rPr lang="zh-CN" altLang="zh-CN" sz="2200" b="1" kern="100" dirty="0">
                <a:effectLst/>
                <a:latin typeface="Times New Roman" panose="02020603050405020304" charset="0"/>
                <a:ea typeface="宋体" panose="02010600030101010101" pitchFamily="2" charset="-122"/>
              </a:rPr>
              <a:t>广播数据发送至所有设备</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包括睡眠节点。另外，</a:t>
            </a:r>
            <a:r>
              <a:rPr lang="en-US" altLang="zh-CN" sz="2200" b="1" kern="100" dirty="0">
                <a:effectLst/>
                <a:latin typeface="Times New Roman" panose="02020603050405020304" charset="0"/>
                <a:ea typeface="宋体" panose="02010600030101010101" pitchFamily="2" charset="-122"/>
              </a:rPr>
              <a:t>0xFFFD</a:t>
            </a:r>
            <a:r>
              <a:rPr lang="zh-CN" altLang="zh-CN" sz="2200" b="1" kern="100" dirty="0">
                <a:effectLst/>
                <a:latin typeface="Times New Roman" panose="02020603050405020304" charset="0"/>
                <a:ea typeface="宋体" panose="02010600030101010101" pitchFamily="2" charset="-122"/>
              </a:rPr>
              <a:t>与</a:t>
            </a:r>
            <a:r>
              <a:rPr lang="en-US" altLang="zh-CN" sz="2200" b="1" kern="100" dirty="0">
                <a:effectLst/>
                <a:latin typeface="Times New Roman" panose="02020603050405020304" charset="0"/>
                <a:ea typeface="宋体" panose="02010600030101010101" pitchFamily="2" charset="-122"/>
              </a:rPr>
              <a:t>0xFFFC</a:t>
            </a:r>
            <a:r>
              <a:rPr lang="zh-CN" altLang="zh-CN" sz="2200" b="1" kern="100" dirty="0">
                <a:effectLst/>
                <a:latin typeface="Times New Roman" panose="02020603050405020304" charset="0"/>
                <a:ea typeface="宋体" panose="02010600030101010101" pitchFamily="2" charset="-122"/>
              </a:rPr>
              <a:t>也可以作为广播地址。其中，</a:t>
            </a:r>
            <a:r>
              <a:rPr lang="en-US" altLang="zh-CN" sz="2200" b="1" kern="100" dirty="0">
                <a:effectLst/>
                <a:latin typeface="Times New Roman" panose="02020603050405020304" charset="0"/>
                <a:ea typeface="宋体" panose="02010600030101010101" pitchFamily="2" charset="-122"/>
              </a:rPr>
              <a:t>0xFFFD</a:t>
            </a:r>
            <a:r>
              <a:rPr lang="zh-CN" altLang="zh-CN" sz="2200" b="1" kern="100" dirty="0">
                <a:effectLst/>
                <a:latin typeface="Times New Roman" panose="02020603050405020304" charset="0"/>
                <a:ea typeface="宋体" panose="02010600030101010101" pitchFamily="2" charset="-122"/>
              </a:rPr>
              <a:t>广播数据发送至正在睡眠的所有设备，</a:t>
            </a:r>
            <a:r>
              <a:rPr lang="en-US" altLang="zh-CN" sz="2200" b="1" kern="100" dirty="0">
                <a:effectLst/>
                <a:latin typeface="Times New Roman" panose="02020603050405020304" charset="0"/>
                <a:ea typeface="宋体" panose="02010600030101010101" pitchFamily="2" charset="-122"/>
              </a:rPr>
              <a:t>0xFFFC</a:t>
            </a:r>
            <a:r>
              <a:rPr lang="zh-CN" altLang="zh-CN" sz="2200" b="1" kern="100" dirty="0">
                <a:effectLst/>
                <a:latin typeface="Times New Roman" panose="02020603050405020304" charset="0"/>
                <a:ea typeface="宋体" panose="02010600030101010101" pitchFamily="2" charset="-122"/>
              </a:rPr>
              <a:t>广播数据发送至所有协调器和路由器。</a:t>
            </a: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a:t>
            </a: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3.5.2.4  ZigBee的组网方式</a:t>
            </a:r>
            <a:endPar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7550" y="1548576"/>
            <a:ext cx="11074400" cy="5088573"/>
          </a:xfrm>
          <a:prstGeom prst="rect">
            <a:avLst/>
          </a:prstGeom>
          <a:noFill/>
          <a:ln w="9525">
            <a:noFill/>
          </a:ln>
        </p:spPr>
        <p:txBody>
          <a:bodyPr wrap="square">
            <a:spAutoFit/>
          </a:bodyPr>
          <a:lstStyle/>
          <a:p>
            <a:pPr indent="266700" algn="just">
              <a:spcBef>
                <a:spcPts val="1000"/>
              </a:spcBef>
            </a:pPr>
            <a:r>
              <a:rPr lang="zh-CN" altLang="zh-CN" sz="2200" b="1" kern="100" dirty="0">
                <a:effectLst/>
                <a:latin typeface="Times New Roman" panose="02020603050405020304" charset="0"/>
                <a:ea typeface="宋体" panose="02010600030101010101" pitchFamily="2" charset="-122"/>
              </a:rPr>
              <a:t>一般地，</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模块包含了所有外围电路和完整协议栈，可以内置</a:t>
            </a:r>
            <a:r>
              <a:rPr lang="en-US" altLang="zh-CN" sz="2200" b="1" kern="100" dirty="0">
                <a:effectLst/>
                <a:latin typeface="Times New Roman" panose="02020603050405020304" charset="0"/>
                <a:ea typeface="宋体" panose="02010600030101010101" pitchFamily="2" charset="-122"/>
              </a:rPr>
              <a:t>Chip</a:t>
            </a:r>
            <a:r>
              <a:rPr lang="zh-CN" altLang="zh-CN" sz="2200" b="1" kern="100" dirty="0">
                <a:effectLst/>
                <a:latin typeface="Times New Roman" panose="02020603050405020304" charset="0"/>
                <a:ea typeface="宋体" panose="02010600030101010101" pitchFamily="2" charset="-122"/>
              </a:rPr>
              <a:t>或外置</a:t>
            </a:r>
            <a:r>
              <a:rPr lang="en-US" altLang="zh-CN" sz="2200" b="1" kern="100" dirty="0">
                <a:effectLst/>
                <a:latin typeface="Times New Roman" panose="02020603050405020304" charset="0"/>
                <a:ea typeface="宋体" panose="02010600030101010101" pitchFamily="2" charset="-122"/>
              </a:rPr>
              <a:t>SMA</a:t>
            </a:r>
            <a:r>
              <a:rPr lang="zh-CN" altLang="zh-CN" sz="2200" b="1" kern="100" dirty="0">
                <a:effectLst/>
                <a:latin typeface="Times New Roman" panose="02020603050405020304" charset="0"/>
                <a:ea typeface="宋体" panose="02010600030101010101" pitchFamily="2" charset="-122"/>
              </a:rPr>
              <a:t>天线，通信距离为</a:t>
            </a:r>
            <a:r>
              <a:rPr lang="en-US" altLang="zh-CN" sz="2200" b="1" kern="100" dirty="0">
                <a:effectLst/>
                <a:latin typeface="Times New Roman" panose="02020603050405020304" charset="0"/>
                <a:ea typeface="宋体" panose="02010600030101010101" pitchFamily="2" charset="-122"/>
              </a:rPr>
              <a:t>100m~1200m</a:t>
            </a:r>
            <a:r>
              <a:rPr lang="zh-CN" altLang="zh-CN" sz="2200" b="1" kern="100" dirty="0">
                <a:effectLst/>
                <a:latin typeface="Times New Roman" panose="02020603050405020304" charset="0"/>
                <a:ea typeface="宋体" panose="02010600030101010101" pitchFamily="2" charset="-122"/>
              </a:rPr>
              <a:t>，还包含了</a:t>
            </a:r>
            <a:r>
              <a:rPr lang="en-US" altLang="zh-CN" sz="2200" b="1" kern="100" dirty="0">
                <a:effectLst/>
                <a:latin typeface="Times New Roman" panose="02020603050405020304" charset="0"/>
                <a:ea typeface="宋体" panose="02010600030101010101" pitchFamily="2" charset="-122"/>
              </a:rPr>
              <a:t>ADC</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DAC</a:t>
            </a:r>
            <a:r>
              <a:rPr lang="zh-CN" altLang="zh-CN" sz="2200" b="1" kern="100" dirty="0">
                <a:effectLst/>
                <a:latin typeface="Times New Roman" panose="02020603050405020304" charset="0"/>
                <a:ea typeface="宋体" panose="02010600030101010101" pitchFamily="2" charset="-122"/>
              </a:rPr>
              <a:t>、比较器、多个</a:t>
            </a:r>
            <a:r>
              <a:rPr lang="en-US" altLang="zh-CN" sz="2200" b="1" kern="100" dirty="0">
                <a:effectLst/>
                <a:latin typeface="Times New Roman" panose="02020603050405020304" charset="0"/>
                <a:ea typeface="宋体" panose="02010600030101010101" pitchFamily="2" charset="-122"/>
              </a:rPr>
              <a:t>I/O</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I</a:t>
            </a:r>
            <a:r>
              <a:rPr lang="en-US" altLang="zh-CN" sz="2200" b="1" kern="100" baseline="30000" dirty="0">
                <a:effectLst/>
                <a:latin typeface="Times New Roman" panose="02020603050405020304" charset="0"/>
                <a:ea typeface="宋体" panose="02010600030101010101" pitchFamily="2" charset="-122"/>
              </a:rPr>
              <a:t>2</a:t>
            </a:r>
            <a:r>
              <a:rPr lang="en-US" altLang="zh-CN" sz="2200" b="1" kern="100" dirty="0">
                <a:effectLst/>
                <a:latin typeface="Times New Roman" panose="02020603050405020304" charset="0"/>
                <a:ea typeface="宋体" panose="02010600030101010101" pitchFamily="2" charset="-122"/>
              </a:rPr>
              <a:t>C</a:t>
            </a:r>
            <a:r>
              <a:rPr lang="zh-CN" altLang="zh-CN" sz="2200" b="1" kern="100" dirty="0">
                <a:effectLst/>
                <a:latin typeface="Times New Roman" panose="02020603050405020304" charset="0"/>
                <a:ea typeface="宋体" panose="02010600030101010101" pitchFamily="2" charset="-122"/>
              </a:rPr>
              <a:t>等接口，与用户的产品相对接。在软件上，</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模块包含了完整的</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协议栈，以及在自己的</a:t>
            </a:r>
            <a:r>
              <a:rPr lang="en-US" altLang="zh-CN" sz="2200" b="1" kern="100" dirty="0">
                <a:effectLst/>
                <a:latin typeface="Times New Roman" panose="02020603050405020304" charset="0"/>
                <a:ea typeface="宋体" panose="02010600030101010101" pitchFamily="2" charset="-122"/>
              </a:rPr>
              <a:t>PC</a:t>
            </a:r>
            <a:r>
              <a:rPr lang="zh-CN" altLang="zh-CN" sz="2200" b="1" kern="100" dirty="0">
                <a:effectLst/>
                <a:latin typeface="Times New Roman" panose="02020603050405020304" charset="0"/>
                <a:ea typeface="宋体" panose="02010600030101010101" pitchFamily="2" charset="-122"/>
              </a:rPr>
              <a:t>上的配置工具，采用串口与用户产品进行通信，且可以对模块的发射功率、信道等网络拓扑参数进行配置。设计者不需要考虑模块中程序是如何运行的，用户只需要将自己的数据通过串口发送到模块里，然后模块会自动将数据用无线发送出去，并按照预先配置好的网络结构和网络中的目的地址节点进行收发通信，接收模块会进行数据校验，如数据无误即通过串口送出。大多数用户应用</a:t>
            </a:r>
            <a:r>
              <a:rPr lang="en-US" altLang="zh-CN" sz="2200" b="1" kern="100" dirty="0">
                <a:effectLst/>
                <a:latin typeface="Times New Roman" panose="02020603050405020304" charset="0"/>
                <a:ea typeface="宋体" panose="02010600030101010101" pitchFamily="2" charset="-122"/>
              </a:rPr>
              <a:t>ZigBee</a:t>
            </a:r>
            <a:r>
              <a:rPr lang="zh-CN" altLang="zh-CN" sz="2200" b="1" kern="100" dirty="0">
                <a:effectLst/>
                <a:latin typeface="Times New Roman" panose="02020603050405020304" charset="0"/>
                <a:ea typeface="宋体" panose="02010600030101010101" pitchFamily="2" charset="-122"/>
              </a:rPr>
              <a:t>技术都会有自己的数据处理方式，以致每个节点设备都会拥有自己的</a:t>
            </a:r>
            <a:r>
              <a:rPr lang="en-US" altLang="zh-CN" sz="2200" b="1" kern="100" dirty="0">
                <a:effectLst/>
                <a:latin typeface="Times New Roman" panose="02020603050405020304" charset="0"/>
                <a:ea typeface="宋体" panose="02010600030101010101" pitchFamily="2" charset="-122"/>
              </a:rPr>
              <a:t>CPU</a:t>
            </a:r>
            <a:r>
              <a:rPr lang="zh-CN" altLang="zh-CN" sz="2200" b="1" kern="100" dirty="0">
                <a:effectLst/>
                <a:latin typeface="Times New Roman" panose="02020603050405020304" charset="0"/>
                <a:ea typeface="宋体" panose="02010600030101010101" pitchFamily="2" charset="-122"/>
              </a:rPr>
              <a:t>以便对数据进行处理，所以仍可以把模块当成一种已经集成射频、协议和程序的“芯片”。</a:t>
            </a:r>
            <a:endParaRPr lang="en-US" altLang="zh-CN" sz="2200" b="1" kern="100" dirty="0">
              <a:effectLst/>
              <a:latin typeface="Times New Roman" panose="02020603050405020304" charset="0"/>
              <a:ea typeface="宋体" panose="02010600030101010101" pitchFamily="2" charset="-122"/>
            </a:endParaRPr>
          </a:p>
          <a:p>
            <a:pPr indent="266700" algn="just">
              <a:spcBef>
                <a:spcPts val="1000"/>
              </a:spcBef>
            </a:pPr>
            <a:r>
              <a:rPr lang="zh-CN" altLang="zh-CN" sz="2200" b="1" kern="100" dirty="0">
                <a:effectLst/>
                <a:latin typeface="Times New Roman" panose="02020603050405020304" charset="0"/>
                <a:ea typeface="宋体" panose="02010600030101010101" pitchFamily="2" charset="-122"/>
              </a:rPr>
              <a:t>如图</a:t>
            </a:r>
            <a:r>
              <a:rPr lang="en-US" altLang="zh-CN" sz="2200" b="1" kern="100" dirty="0">
                <a:effectLst/>
                <a:latin typeface="Times New Roman" panose="02020603050405020304" charset="0"/>
                <a:ea typeface="宋体" panose="02010600030101010101" pitchFamily="2" charset="-122"/>
              </a:rPr>
              <a:t>3-5-5</a:t>
            </a:r>
            <a:r>
              <a:rPr lang="zh-CN" altLang="zh-CN" sz="2200" b="1" kern="100" dirty="0">
                <a:effectLst/>
                <a:latin typeface="Times New Roman" panose="02020603050405020304" charset="0"/>
                <a:ea typeface="宋体" panose="02010600030101010101" pitchFamily="2" charset="-122"/>
              </a:rPr>
              <a:t>所示为</a:t>
            </a:r>
            <a:r>
              <a:rPr lang="en-US" altLang="zh-CN" sz="2200" b="1" kern="100" dirty="0">
                <a:effectLst/>
                <a:latin typeface="Times New Roman" panose="02020603050405020304" charset="0"/>
                <a:ea typeface="宋体" panose="02010600030101010101" pitchFamily="2" charset="-122"/>
              </a:rPr>
              <a:t>CC2430</a:t>
            </a:r>
            <a:r>
              <a:rPr lang="zh-CN" altLang="zh-CN" sz="2200" b="1" kern="100" dirty="0">
                <a:effectLst/>
                <a:latin typeface="Times New Roman" panose="02020603050405020304" charset="0"/>
                <a:ea typeface="宋体" panose="02010600030101010101" pitchFamily="2" charset="-122"/>
              </a:rPr>
              <a:t>芯片的内部结构。天线接收的射频信号经过低噪声放大器等处理后，中频信号只有</a:t>
            </a:r>
            <a:r>
              <a:rPr lang="en-US" altLang="zh-CN" sz="2200" b="1" kern="100" dirty="0">
                <a:effectLst/>
                <a:latin typeface="Times New Roman" panose="02020603050405020304" charset="0"/>
                <a:ea typeface="宋体" panose="02010600030101010101" pitchFamily="2" charset="-122"/>
              </a:rPr>
              <a:t>2MHz</a:t>
            </a:r>
            <a:r>
              <a:rPr lang="zh-CN" altLang="zh-CN" sz="2200" b="1" kern="100" dirty="0">
                <a:effectLst/>
                <a:latin typeface="Times New Roman" panose="02020603050405020304" charset="0"/>
                <a:ea typeface="宋体" panose="02010600030101010101" pitchFamily="2" charset="-122"/>
              </a:rPr>
              <a:t>，此混合信号经过滤波、放大、</a:t>
            </a:r>
            <a:r>
              <a:rPr lang="en-US" altLang="zh-CN" sz="2200" b="1" kern="100" dirty="0">
                <a:effectLst/>
                <a:latin typeface="Times New Roman" panose="02020603050405020304" charset="0"/>
                <a:ea typeface="宋体" panose="02010600030101010101" pitchFamily="2" charset="-122"/>
              </a:rPr>
              <a:t>A/D</a:t>
            </a:r>
            <a:r>
              <a:rPr lang="zh-CN" altLang="zh-CN" sz="2200" b="1" kern="100" dirty="0">
                <a:effectLst/>
                <a:latin typeface="Times New Roman" panose="02020603050405020304" charset="0"/>
                <a:ea typeface="宋体" panose="02010600030101010101" pitchFamily="2" charset="-122"/>
              </a:rPr>
              <a:t>变换、自动增益控制、数字解调和解扩，最终恢复出传输的正确数据。</a:t>
            </a:r>
            <a:endParaRPr lang="zh-CN" altLang="zh-CN" sz="2200" b="1" kern="100" dirty="0">
              <a:effectLst/>
              <a:latin typeface="Times New Roman" panose="02020603050405020304" charset="0"/>
              <a:ea typeface="宋体" panose="02010600030101010101" pitchFamily="2" charset="-122"/>
            </a:endParaRPr>
          </a:p>
          <a:p>
            <a:pPr indent="266700" algn="just">
              <a:spcBef>
                <a:spcPts val="1000"/>
              </a:spcBef>
            </a:pPr>
            <a:endParaRPr lang="zh-CN" altLang="zh-CN" sz="2200" b="1" kern="100" dirty="0">
              <a:effectLst/>
              <a:latin typeface="Times New Roman" panose="02020603050405020304" charset="0"/>
              <a:ea typeface="宋体" panose="02010600030101010101" pitchFamily="2" charset="-122"/>
            </a:endParaRPr>
          </a:p>
        </p:txBody>
      </p:sp>
      <p:sp>
        <p:nvSpPr>
          <p:cNvPr id="4" name="标题 1"/>
          <p:cNvSpPr>
            <a:spLocks noGrp="1"/>
          </p:cNvSpPr>
          <p:nvPr>
            <p:ph type="title"/>
          </p:nvPr>
        </p:nvSpPr>
        <p:spPr>
          <a:xfrm>
            <a:off x="641350" y="110490"/>
            <a:ext cx="7310755" cy="1325880"/>
          </a:xfrm>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4400" b="1" i="0" u="sng" strike="noStrike" cap="none" spc="0" normalizeH="0" baseline="0" dirty="0" err="1">
                <a:solidFill>
                  <a:srgbClr val="0563C1"/>
                </a:solidFill>
                <a:uFillTx/>
                <a:latin typeface="Times New Roman" panose="02020603050405020304" charset="0"/>
                <a:ea typeface="宋体" panose="02010600030101010101" pitchFamily="2" charset="-122"/>
              </a:rPr>
              <a:t>3.5.2.5  模块参数</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58800" y="6396801"/>
            <a:ext cx="11074400" cy="369332"/>
          </a:xfrm>
          <a:prstGeom prst="rect">
            <a:avLst/>
          </a:prstGeom>
          <a:noFill/>
          <a:ln w="9525">
            <a:noFill/>
          </a:ln>
        </p:spPr>
        <p:txBody>
          <a:bodyPr wrap="square">
            <a:spAutoFit/>
          </a:bodyPr>
          <a:lstStyle/>
          <a:p>
            <a:pPr algn="ctr"/>
            <a:r>
              <a:rPr lang="zh-CN" altLang="zh-CN" sz="1800" b="1" kern="100" dirty="0">
                <a:effectLst/>
                <a:latin typeface="Times New Roman" panose="02020603050405020304" charset="0"/>
                <a:ea typeface="宋体" panose="02010600030101010101" pitchFamily="2" charset="-122"/>
              </a:rPr>
              <a:t>图</a:t>
            </a:r>
            <a:r>
              <a:rPr lang="en-US" altLang="zh-CN" sz="1800" b="1" kern="100" dirty="0">
                <a:effectLst/>
                <a:latin typeface="Times New Roman" panose="02020603050405020304" charset="0"/>
                <a:ea typeface="宋体" panose="02010600030101010101" pitchFamily="2" charset="-122"/>
              </a:rPr>
              <a:t>3-5-5  CC2430</a:t>
            </a:r>
            <a:r>
              <a:rPr lang="zh-CN" altLang="zh-CN" sz="1800" b="1" kern="100" dirty="0">
                <a:effectLst/>
                <a:latin typeface="Times New Roman" panose="02020603050405020304" charset="0"/>
                <a:ea typeface="宋体" panose="02010600030101010101" pitchFamily="2" charset="-122"/>
              </a:rPr>
              <a:t>芯片的内部结构</a:t>
            </a:r>
            <a:endParaRPr lang="zh-CN" altLang="zh-CN" sz="1800" b="1" kern="100" dirty="0">
              <a:effectLst/>
              <a:latin typeface="Times New Roman" panose="02020603050405020304" charset="0"/>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1941830" y="959859"/>
            <a:ext cx="8497570" cy="5095682"/>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79425" y="1172210"/>
            <a:ext cx="5080000" cy="460375"/>
          </a:xfrm>
          <a:prstGeom prst="rect">
            <a:avLst/>
          </a:prstGeom>
          <a:noFill/>
          <a:ln w="9525">
            <a:noFill/>
          </a:ln>
        </p:spPr>
        <p:txBody>
          <a:bodyPr>
            <a:spAutoFit/>
          </a:bodyPr>
          <a:lstStyle/>
          <a:p>
            <a:r>
              <a:rPr lang="en-US" sz="2400" b="1" dirty="0">
                <a:latin typeface="Times New Roman" panose="02020603050405020304" charset="0"/>
                <a:ea typeface="宋体" panose="02010600030101010101" pitchFamily="2" charset="-122"/>
              </a:rPr>
              <a:t>3.5.3.1  Bluetooth</a:t>
            </a:r>
            <a:r>
              <a:rPr lang="zh-CN" altLang="en-US" sz="2400" b="1" dirty="0">
                <a:latin typeface="Times New Roman" panose="02020603050405020304" charset="0"/>
                <a:ea typeface="宋体" panose="02010600030101010101" pitchFamily="2" charset="-122"/>
              </a:rPr>
              <a:t>的基本概况</a:t>
            </a:r>
            <a:endParaRPr lang="zh-CN" altLang="en-US" sz="2400" b="1" dirty="0">
              <a:latin typeface="Times New Roman" panose="02020603050405020304" charset="0"/>
              <a:ea typeface="宋体" panose="02010600030101010101" pitchFamily="2" charset="-122"/>
            </a:endParaRPr>
          </a:p>
        </p:txBody>
      </p:sp>
      <p:sp>
        <p:nvSpPr>
          <p:cNvPr id="8" name="文本框 7"/>
          <p:cNvSpPr txBox="1"/>
          <p:nvPr/>
        </p:nvSpPr>
        <p:spPr>
          <a:xfrm>
            <a:off x="419100" y="1697990"/>
            <a:ext cx="11713210" cy="5077460"/>
          </a:xfrm>
          <a:prstGeom prst="rect">
            <a:avLst/>
          </a:prstGeom>
          <a:noFill/>
          <a:ln w="9525">
            <a:noFill/>
          </a:ln>
        </p:spPr>
        <p:txBody>
          <a:bodyPr wrap="square">
            <a:spAutoFit/>
          </a:bodyPr>
          <a:lstStyle/>
          <a:p>
            <a:pPr indent="266700" fontAlgn="auto">
              <a:lnSpc>
                <a:spcPct val="150000"/>
              </a:lnSpc>
            </a:pPr>
            <a:r>
              <a:rPr lang="en-US" b="0" dirty="0">
                <a:latin typeface="Times New Roman" panose="02020603050405020304" charset="0"/>
                <a:ea typeface="宋体" panose="02010600030101010101" pitchFamily="2" charset="-122"/>
              </a:rPr>
              <a:t>Bluetooth</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蓝牙</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技术是</a:t>
            </a:r>
            <a:r>
              <a:rPr lang="en-US" b="0" dirty="0">
                <a:latin typeface="Times New Roman" panose="02020603050405020304" charset="0"/>
                <a:ea typeface="宋体" panose="02010600030101010101" pitchFamily="2" charset="-122"/>
              </a:rPr>
              <a:t>1998</a:t>
            </a:r>
            <a:r>
              <a:rPr lang="zh-CN" b="0" dirty="0">
                <a:latin typeface="Times New Roman" panose="02020603050405020304" charset="0"/>
                <a:ea typeface="宋体" panose="02010600030101010101" pitchFamily="2" charset="-122"/>
              </a:rPr>
              <a:t>年</a:t>
            </a:r>
            <a:r>
              <a:rPr lang="zh-CN" b="0" dirty="0">
                <a:ea typeface="宋体" panose="02010600030101010101" pitchFamily="2" charset="-122"/>
              </a:rPr>
              <a:t>由瑞典爱立信公</a:t>
            </a:r>
            <a:r>
              <a:rPr lang="zh-CN" b="0" dirty="0">
                <a:latin typeface="Times New Roman" panose="02020603050405020304" charset="0"/>
                <a:ea typeface="宋体" panose="02010600030101010101" pitchFamily="2" charset="-122"/>
              </a:rPr>
              <a:t>司</a:t>
            </a:r>
            <a:r>
              <a:rPr lang="zh-CN" b="0" dirty="0">
                <a:ea typeface="宋体" panose="02010600030101010101" pitchFamily="2" charset="-122"/>
              </a:rPr>
              <a:t>提出的一种全球性的短距离无线通信标准，起初的目的是取代手机与其附件的一切电缆连接，实现更方便的无线通信。蓝牙技术是一种典型的短距离无线通信技术，传输的距离为</a:t>
            </a:r>
            <a:r>
              <a:rPr lang="en-US" b="0" dirty="0">
                <a:latin typeface="Times New Roman" panose="02020603050405020304" charset="0"/>
                <a:ea typeface="宋体" panose="02010600030101010101" pitchFamily="2" charset="-122"/>
              </a:rPr>
              <a:t>10m</a:t>
            </a:r>
            <a:r>
              <a:rPr lang="zh-CN" b="0" dirty="0">
                <a:ea typeface="宋体" panose="02010600030101010101" pitchFamily="2" charset="-122"/>
              </a:rPr>
              <a:t>左右，工作于</a:t>
            </a:r>
            <a:r>
              <a:rPr lang="en-US" b="0" dirty="0">
                <a:latin typeface="Times New Roman" panose="02020603050405020304" charset="0"/>
                <a:ea typeface="宋体" panose="02010600030101010101" pitchFamily="2" charset="-122"/>
              </a:rPr>
              <a:t>2.4GHz</a:t>
            </a:r>
            <a:r>
              <a:rPr lang="zh-CN" b="0" dirty="0">
                <a:ea typeface="宋体" panose="02010600030101010101" pitchFamily="2" charset="-122"/>
              </a:rPr>
              <a:t>的</a:t>
            </a:r>
            <a:r>
              <a:rPr lang="en-US" b="0" dirty="0">
                <a:latin typeface="Times New Roman" panose="02020603050405020304" charset="0"/>
                <a:ea typeface="宋体" panose="02010600030101010101" pitchFamily="2" charset="-122"/>
              </a:rPr>
              <a:t>ISM</a:t>
            </a:r>
            <a:r>
              <a:rPr lang="zh-CN" b="0" dirty="0">
                <a:ea typeface="宋体" panose="02010600030101010101" pitchFamily="2" charset="-122"/>
              </a:rPr>
              <a:t>频段，传输速率在最新的版本中可达到</a:t>
            </a:r>
            <a:r>
              <a:rPr lang="en-US" b="0" dirty="0">
                <a:latin typeface="Times New Roman" panose="02020603050405020304" charset="0"/>
                <a:ea typeface="宋体" panose="02010600030101010101" pitchFamily="2" charset="-122"/>
              </a:rPr>
              <a:t>10Mb/s</a:t>
            </a:r>
            <a:r>
              <a:rPr lang="zh-CN" b="0" dirty="0">
                <a:ea typeface="宋体" panose="02010600030101010101" pitchFamily="2" charset="-122"/>
              </a:rPr>
              <a:t>。蓝牙支持点对点、点对多点的连接，方便灵</a:t>
            </a:r>
            <a:r>
              <a:rPr lang="zh-CN" b="0" dirty="0">
                <a:latin typeface="Times New Roman" panose="02020603050405020304" charset="0"/>
                <a:ea typeface="宋体" panose="02010600030101010101" pitchFamily="2" charset="-122"/>
              </a:rPr>
              <a:t>活</a:t>
            </a:r>
            <a:r>
              <a:rPr lang="zh-CN" b="0" dirty="0">
                <a:ea typeface="宋体" panose="02010600030101010101" pitchFamily="2" charset="-122"/>
              </a:rPr>
              <a:t>地实现安全可靠、快速的语音及数据业务的无线传输。但由于其通信范围和网络容量的限制，一个蓝牙设备不能和超过</a:t>
            </a:r>
            <a:r>
              <a:rPr lang="en-US" b="0" dirty="0">
                <a:latin typeface="Times New Roman" panose="02020603050405020304" charset="0"/>
                <a:ea typeface="宋体" panose="02010600030101010101" pitchFamily="2" charset="-122"/>
              </a:rPr>
              <a:t>7</a:t>
            </a:r>
            <a:r>
              <a:rPr lang="zh-CN" b="0" dirty="0">
                <a:ea typeface="宋体" panose="02010600030101010101" pitchFamily="2" charset="-122"/>
              </a:rPr>
              <a:t>个蓝牙设备进行通信，因此在很大程度上限制了蓝牙技术在无线传感器网络中的应用。</a:t>
            </a:r>
            <a:endParaRPr lang="zh-CN" b="0" dirty="0">
              <a:ea typeface="宋体" panose="02010600030101010101" pitchFamily="2" charset="-122"/>
            </a:endParaRPr>
          </a:p>
          <a:p>
            <a:pPr indent="266700" fontAlgn="auto">
              <a:lnSpc>
                <a:spcPct val="150000"/>
              </a:lnSpc>
            </a:pPr>
            <a:r>
              <a:rPr lang="zh-CN" b="0" dirty="0">
                <a:ea typeface="宋体" panose="02010600030101010101" pitchFamily="2" charset="-122"/>
              </a:rPr>
              <a:t>蓝牙技术是由一个叫做蓝牙特别兴趣小组</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Special </a:t>
            </a:r>
            <a:r>
              <a:rPr lang="en-US" b="0" dirty="0" err="1">
                <a:latin typeface="Times New Roman" panose="02020603050405020304" charset="0"/>
                <a:ea typeface="宋体" panose="02010600030101010101" pitchFamily="2" charset="-122"/>
              </a:rPr>
              <a:t>Interet</a:t>
            </a:r>
            <a:r>
              <a:rPr lang="en-US" b="0" dirty="0">
                <a:latin typeface="Times New Roman" panose="02020603050405020304" charset="0"/>
                <a:ea typeface="宋体" panose="02010600030101010101" pitchFamily="2" charset="-122"/>
              </a:rPr>
              <a:t> Group, SIG</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的组织来维护。</a:t>
            </a:r>
            <a:r>
              <a:rPr lang="zh-CN" b="0" dirty="0">
                <a:latin typeface="Times New Roman" panose="02020603050405020304" charset="0"/>
                <a:ea typeface="宋体" panose="02010600030101010101" pitchFamily="2" charset="-122"/>
              </a:rPr>
              <a:t>组</a:t>
            </a:r>
            <a:r>
              <a:rPr lang="zh-CN" b="0" dirty="0">
                <a:ea typeface="宋体" panose="02010600030101010101" pitchFamily="2" charset="-122"/>
              </a:rPr>
              <a:t>织成立于</a:t>
            </a:r>
            <a:r>
              <a:rPr lang="en-US" b="0" dirty="0">
                <a:latin typeface="Times New Roman" panose="02020603050405020304" charset="0"/>
                <a:ea typeface="宋体" panose="02010600030101010101" pitchFamily="2" charset="-122"/>
              </a:rPr>
              <a:t>1998</a:t>
            </a:r>
            <a:r>
              <a:rPr lang="zh-CN" b="0" dirty="0">
                <a:ea typeface="宋体" panose="02010600030101010101" pitchFamily="2" charset="-122"/>
              </a:rPr>
              <a:t>年，其成员包括爱立信、</a:t>
            </a:r>
            <a:r>
              <a:rPr lang="en-US" b="0" dirty="0">
                <a:latin typeface="Times New Roman" panose="02020603050405020304" charset="0"/>
                <a:ea typeface="宋体" panose="02010600030101010101" pitchFamily="2" charset="-122"/>
              </a:rPr>
              <a:t>IBM</a:t>
            </a:r>
            <a:r>
              <a:rPr lang="zh-CN" b="0" dirty="0">
                <a:ea typeface="宋体" panose="02010600030101010101" pitchFamily="2" charset="-122"/>
              </a:rPr>
              <a:t>、</a:t>
            </a:r>
            <a:r>
              <a:rPr lang="en-US" b="0" dirty="0">
                <a:latin typeface="Times New Roman" panose="02020603050405020304" charset="0"/>
                <a:ea typeface="宋体" panose="02010600030101010101" pitchFamily="2" charset="-122"/>
              </a:rPr>
              <a:t>Intel</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东芝和诺基亚等国际通信巨头。在蓝牙通信中，蓝牙设备有两种可能的角色，分别为主设备和从设备</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同一个蓝牙设备可以在这两种角色之间转换。在任意时刻，主设备可以向从设备中的任意一个发送信息，也可以用广播方式实现同时向多个从设备发送信息。截至</a:t>
            </a:r>
            <a:r>
              <a:rPr lang="en-US" b="0" dirty="0">
                <a:latin typeface="Times New Roman" panose="02020603050405020304" charset="0"/>
                <a:ea typeface="宋体" panose="02010600030101010101" pitchFamily="2" charset="-122"/>
              </a:rPr>
              <a:t>2010</a:t>
            </a:r>
            <a:r>
              <a:rPr lang="zh-CN" b="0" dirty="0">
                <a:ea typeface="宋体" panose="02010600030101010101" pitchFamily="2" charset="-122"/>
              </a:rPr>
              <a:t>年</a:t>
            </a:r>
            <a:r>
              <a:rPr lang="en-US" b="0" dirty="0">
                <a:latin typeface="Times New Roman" panose="02020603050405020304" charset="0"/>
                <a:ea typeface="宋体" panose="02010600030101010101" pitchFamily="2" charset="-122"/>
              </a:rPr>
              <a:t>7</a:t>
            </a:r>
            <a:r>
              <a:rPr lang="zh-CN" b="0" dirty="0">
                <a:ea typeface="宋体" panose="02010600030101010101" pitchFamily="2" charset="-122"/>
              </a:rPr>
              <a:t>月，蓝牙特别兴趣小组共推出</a:t>
            </a:r>
            <a:r>
              <a:rPr lang="en-US" b="0" dirty="0">
                <a:latin typeface="Times New Roman" panose="02020603050405020304" charset="0"/>
                <a:ea typeface="宋体" panose="02010600030101010101" pitchFamily="2" charset="-122"/>
              </a:rPr>
              <a:t>6</a:t>
            </a:r>
            <a:r>
              <a:rPr lang="zh-CN" b="0" dirty="0">
                <a:ea typeface="宋体" panose="02010600030101010101" pitchFamily="2" charset="-122"/>
              </a:rPr>
              <a:t>个版本</a:t>
            </a:r>
            <a:r>
              <a:rPr lang="en-US" b="0" dirty="0">
                <a:latin typeface="Times New Roman" panose="02020603050405020304" charset="0"/>
                <a:ea typeface="宋体" panose="02010600030101010101" pitchFamily="2" charset="-122"/>
              </a:rPr>
              <a:t>V.I</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V.2</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V2.0</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V2.1</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V3.0</a:t>
            </a:r>
            <a:r>
              <a:rPr lang="zh-CN" b="0" dirty="0">
                <a:latin typeface="Times New Roman" panose="02020603050405020304" charset="0"/>
                <a:ea typeface="宋体" panose="02010600030101010101" pitchFamily="2" charset="-122"/>
              </a:rPr>
              <a:t>，</a:t>
            </a:r>
            <a:r>
              <a:rPr lang="en-US" b="0" dirty="0">
                <a:latin typeface="Times New Roman" panose="02020603050405020304" charset="0"/>
                <a:ea typeface="宋体" panose="02010600030101010101" pitchFamily="2" charset="-122"/>
              </a:rPr>
              <a:t>V4.0, </a:t>
            </a:r>
            <a:r>
              <a:rPr lang="zh-CN" b="0" dirty="0">
                <a:ea typeface="宋体" panose="02010600030101010101" pitchFamily="2" charset="-122"/>
              </a:rPr>
              <a:t>根据通信距离不同可将每个版本再分为</a:t>
            </a:r>
            <a:r>
              <a:rPr lang="en-US" b="0" dirty="0">
                <a:latin typeface="Times New Roman" panose="02020603050405020304" charset="0"/>
                <a:ea typeface="宋体" panose="02010600030101010101" pitchFamily="2" charset="-122"/>
              </a:rPr>
              <a:t>Class A(1)/</a:t>
            </a:r>
            <a:r>
              <a:rPr lang="en-US" b="0" dirty="0" err="1">
                <a:latin typeface="Times New Roman" panose="02020603050405020304" charset="0"/>
                <a:ea typeface="宋体" panose="02010600030101010101" pitchFamily="2" charset="-122"/>
              </a:rPr>
              <a:t>ClassB</a:t>
            </a:r>
            <a:r>
              <a:rPr lang="en-US" b="0" dirty="0">
                <a:latin typeface="Times New Roman" panose="02020603050405020304" charset="0"/>
                <a:ea typeface="宋体" panose="02010600030101010101" pitchFamily="2" charset="-122"/>
              </a:rPr>
              <a:t>(2)</a:t>
            </a:r>
            <a:r>
              <a:rPr lang="zh-CN" b="0" dirty="0">
                <a:ea typeface="宋体" panose="02010600030101010101" pitchFamily="2" charset="-122"/>
              </a:rPr>
              <a:t>。蓝牙的通信距离也提高到</a:t>
            </a:r>
            <a:r>
              <a:rPr lang="en-US" b="0" dirty="0">
                <a:latin typeface="Times New Roman" panose="02020603050405020304" charset="0"/>
                <a:ea typeface="宋体" panose="02010600030101010101" pitchFamily="2" charset="-122"/>
              </a:rPr>
              <a:t>100m</a:t>
            </a:r>
            <a:r>
              <a:rPr lang="zh-CN" b="0" dirty="0">
                <a:ea typeface="宋体" panose="02010600030101010101" pitchFamily="2" charset="-122"/>
              </a:rPr>
              <a:t>以上，通信速率达到</a:t>
            </a:r>
            <a:r>
              <a:rPr lang="en-US" b="0" dirty="0">
                <a:latin typeface="Times New Roman" panose="02020603050405020304" charset="0"/>
                <a:ea typeface="宋体" panose="02010600030101010101" pitchFamily="2" charset="-122"/>
              </a:rPr>
              <a:t>24 Mb/s</a:t>
            </a:r>
            <a:r>
              <a:rPr lang="zh-CN" b="0" dirty="0">
                <a:latin typeface="Times New Roman" panose="02020603050405020304" charset="0"/>
                <a:ea typeface="宋体" panose="02010600030101010101" pitchFamily="2" charset="-122"/>
              </a:rPr>
              <a:t>。</a:t>
            </a:r>
            <a:r>
              <a:rPr lang="zh-CN" b="0" dirty="0">
                <a:ea typeface="宋体" panose="02010600030101010101" pitchFamily="2" charset="-122"/>
              </a:rPr>
              <a:t>广泛使用在移动设备</a:t>
            </a:r>
            <a:r>
              <a:rPr lang="en-US" b="0" dirty="0">
                <a:latin typeface="Times New Roman" panose="02020603050405020304" charset="0"/>
                <a:ea typeface="宋体" panose="02010600030101010101" pitchFamily="2" charset="-122"/>
              </a:rPr>
              <a:t>(</a:t>
            </a:r>
            <a:r>
              <a:rPr lang="zh-CN" b="0" dirty="0">
                <a:ea typeface="宋体" panose="02010600030101010101" pitchFamily="2" charset="-122"/>
              </a:rPr>
              <a:t>手机、</a:t>
            </a:r>
            <a:r>
              <a:rPr lang="en-US" b="0" dirty="0">
                <a:latin typeface="Times New Roman" panose="02020603050405020304" charset="0"/>
                <a:ea typeface="宋体" panose="02010600030101010101" pitchFamily="2" charset="-122"/>
              </a:rPr>
              <a:t>PDA)</a:t>
            </a:r>
            <a:r>
              <a:rPr lang="zh-CN" b="0" dirty="0">
                <a:ea typeface="宋体" panose="02010600030101010101" pitchFamily="2" charset="-122"/>
              </a:rPr>
              <a:t>、个人</a:t>
            </a:r>
            <a:r>
              <a:rPr lang="zh-CN" b="0" dirty="0">
                <a:latin typeface="Times New Roman" panose="02020603050405020304" charset="0"/>
                <a:ea typeface="宋体" panose="02010600030101010101" pitchFamily="2" charset="-122"/>
              </a:rPr>
              <a:t>计算机</a:t>
            </a:r>
            <a:r>
              <a:rPr lang="zh-CN" b="0" dirty="0">
                <a:ea typeface="宋体" panose="02010600030101010101" pitchFamily="2" charset="-122"/>
              </a:rPr>
              <a:t>与</a:t>
            </a:r>
            <a:r>
              <a:rPr lang="en-US" b="0" dirty="0">
                <a:latin typeface="Times New Roman" panose="02020603050405020304" charset="0"/>
                <a:ea typeface="宋体" panose="02010600030101010101" pitchFamily="2" charset="-122"/>
              </a:rPr>
              <a:t>GPS</a:t>
            </a:r>
            <a:r>
              <a:rPr lang="zh-CN" b="0" dirty="0">
                <a:ea typeface="宋体" panose="02010600030101010101" pitchFamily="2" charset="-122"/>
              </a:rPr>
              <a:t>设备、医疗设备以及无线外围设备等各种不同的领域，</a:t>
            </a:r>
            <a:r>
              <a:rPr lang="zh-CN" b="0" dirty="0">
                <a:latin typeface="Times New Roman" panose="02020603050405020304" charset="0"/>
                <a:ea typeface="宋体" panose="02010600030101010101" pitchFamily="2" charset="-122"/>
              </a:rPr>
              <a:t>计算机</a:t>
            </a:r>
            <a:r>
              <a:rPr lang="zh-CN" b="0" dirty="0">
                <a:ea typeface="宋体" panose="02010600030101010101" pitchFamily="2" charset="-122"/>
              </a:rPr>
              <a:t>配套有蓝牙耳机、蓝牙鼠标、蓝牙键盘等，如图</a:t>
            </a:r>
            <a:r>
              <a:rPr lang="en-US" b="0" dirty="0">
                <a:latin typeface="Times New Roman" panose="02020603050405020304" charset="0"/>
                <a:ea typeface="宋体" panose="02010600030101010101" pitchFamily="2" charset="-122"/>
              </a:rPr>
              <a:t>3-5-6</a:t>
            </a:r>
            <a:r>
              <a:rPr lang="zh-CN" b="0" dirty="0">
                <a:ea typeface="宋体" panose="02010600030101010101" pitchFamily="2" charset="-122"/>
              </a:rPr>
              <a:t>所示</a:t>
            </a:r>
            <a:r>
              <a:rPr lang="zh-CN" b="0" dirty="0">
                <a:latin typeface="Times New Roman" panose="02020603050405020304" charset="0"/>
                <a:ea typeface="宋体" panose="02010600030101010101" pitchFamily="2" charset="-122"/>
              </a:rPr>
              <a:t>。</a:t>
            </a:r>
            <a:endParaRPr lang="zh-CN" altLang="en-US" dirty="0"/>
          </a:p>
        </p:txBody>
      </p:sp>
      <p:sp>
        <p:nvSpPr>
          <p:cNvPr id="5" name="标题 1"/>
          <p:cNvSpPr>
            <a:spLocks noGrp="1"/>
          </p:cNvSpPr>
          <p:nvPr>
            <p:ph type="title"/>
          </p:nvPr>
        </p:nvSpPr>
        <p:spPr>
          <a:xfrm>
            <a:off x="479425" y="8255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  Bluetooth技术</a:t>
            </a:r>
            <a:endParaRPr kumimoji="0" lang="zh-CN" altLang="en-US" sz="2800" b="1"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Times New Roman" panose="0202060305040502030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568"/>
          <p:cNvPicPr>
            <a:picLocks noChangeAspect="1"/>
          </p:cNvPicPr>
          <p:nvPr/>
        </p:nvPicPr>
        <p:blipFill>
          <a:blip r:embed="rId1"/>
          <a:stretch>
            <a:fillRect/>
          </a:stretch>
        </p:blipFill>
        <p:spPr>
          <a:xfrm>
            <a:off x="7569200" y="1896745"/>
            <a:ext cx="4183380" cy="3307080"/>
          </a:xfrm>
          <a:prstGeom prst="rect">
            <a:avLst/>
          </a:prstGeom>
          <a:noFill/>
          <a:ln>
            <a:noFill/>
          </a:ln>
        </p:spPr>
      </p:pic>
      <p:sp>
        <p:nvSpPr>
          <p:cNvPr id="100" name="文本框 99"/>
          <p:cNvSpPr txBox="1"/>
          <p:nvPr/>
        </p:nvSpPr>
        <p:spPr>
          <a:xfrm>
            <a:off x="7382510" y="5352415"/>
            <a:ext cx="4370070" cy="398780"/>
          </a:xfrm>
          <a:prstGeom prst="rect">
            <a:avLst/>
          </a:prstGeom>
          <a:noFill/>
          <a:ln w="9525">
            <a:noFill/>
          </a:ln>
        </p:spPr>
        <p:txBody>
          <a:bodyPr wrap="square">
            <a:spAutoFit/>
          </a:bodyPr>
          <a:lstStyle/>
          <a:p>
            <a:pPr indent="228600" algn="ct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3-5-6 </a:t>
            </a:r>
            <a:r>
              <a:rPr lang="zh-CN" sz="2000" b="0">
                <a:ea typeface="宋体" panose="02010600030101010101" pitchFamily="2" charset="-122"/>
              </a:rPr>
              <a:t>蓝牙技术的应用领域</a:t>
            </a:r>
            <a:endParaRPr lang="zh-CN" altLang="en-US" sz="2000"/>
          </a:p>
        </p:txBody>
      </p:sp>
      <p:sp>
        <p:nvSpPr>
          <p:cNvPr id="3" name="文本框 2"/>
          <p:cNvSpPr txBox="1"/>
          <p:nvPr/>
        </p:nvSpPr>
        <p:spPr>
          <a:xfrm>
            <a:off x="443230" y="1338580"/>
            <a:ext cx="7040245" cy="5262245"/>
          </a:xfrm>
          <a:prstGeom prst="rect">
            <a:avLst/>
          </a:prstGeom>
          <a:noFill/>
          <a:ln w="9525">
            <a:noFill/>
          </a:ln>
        </p:spPr>
        <p:txBody>
          <a:bodyPr wrap="square">
            <a:spAutoFit/>
          </a:bodyPr>
          <a:lstStyle/>
          <a:p>
            <a:pPr indent="266700" fontAlgn="auto">
              <a:lnSpc>
                <a:spcPct val="100000"/>
              </a:lnSpc>
            </a:pPr>
            <a:r>
              <a:rPr lang="zh-CN" sz="2400" b="1">
                <a:ea typeface="宋体" panose="02010600030101010101" pitchFamily="2" charset="-122"/>
              </a:rPr>
              <a:t>但是，蓝牙技术发展并不顺利，仅在耳机、鼠标、车载语音系统等小范围内取得</a:t>
            </a:r>
            <a:r>
              <a:rPr lang="zh-CN" sz="2400" b="1">
                <a:latin typeface="Times New Roman" panose="02020603050405020304" charset="0"/>
                <a:ea typeface="宋体" panose="02010600030101010101" pitchFamily="2" charset="-122"/>
              </a:rPr>
              <a:t>了</a:t>
            </a:r>
            <a:r>
              <a:rPr lang="zh-CN" sz="2400" b="1">
                <a:ea typeface="宋体" panose="02010600030101010101" pitchFamily="2" charset="-122"/>
              </a:rPr>
              <a:t>成功。究其原因，从市场来看，主要有芯片价格高、模块小型化安装成本高、天线设计和组装困难、全面测量难等问题</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从技术上来看，蓝牙技术的建立连接时间长、功耗高、安全性不高等。正当蓝牙技术已经快要被人们遗忘的时候，智能手机的快速普及拯救了蓝牙技术，它已经是智能手机和平板计算机标准配置的功能。尤其是</a:t>
            </a:r>
            <a:r>
              <a:rPr lang="en-US" sz="2400" b="1">
                <a:latin typeface="Times New Roman" panose="02020603050405020304" charset="0"/>
                <a:ea typeface="宋体" panose="02010600030101010101" pitchFamily="2" charset="-122"/>
              </a:rPr>
              <a:t>Bluetooth</a:t>
            </a:r>
            <a:r>
              <a:rPr lang="en-US" sz="2400" b="1">
                <a:latin typeface="Times New Roman" panose="02020603050405020304" charset="0"/>
                <a:ea typeface="宋体" panose="02010600030101010101" pitchFamily="2" charset="-122"/>
                <a:cs typeface="Times New Roman" panose="02020603050405020304" charset="0"/>
              </a:rPr>
              <a:t> </a:t>
            </a:r>
            <a:r>
              <a:rPr lang="en-US" sz="2400" b="1">
                <a:latin typeface="Times New Roman" panose="02020603050405020304" charset="0"/>
                <a:ea typeface="宋体" panose="02010600030101010101" pitchFamily="2" charset="-122"/>
              </a:rPr>
              <a:t>V4.0</a:t>
            </a:r>
            <a:r>
              <a:rPr lang="zh-CN" sz="2400" b="1">
                <a:ea typeface="宋体" panose="02010600030101010101" pitchFamily="2" charset="-122"/>
              </a:rPr>
              <a:t>的出现，蓝牙技术在功耗、安全性、连接性等方面有了巨大的提升。智能手机的外设和应用是未来的发展趋势，在运动、健身、健康和医疗领域存在着极为广阔的应用前景，而蓝牙技术作为连接手机和外设的标准，一定会有爆炸性的市场机会。</a:t>
            </a:r>
            <a:endParaRPr lang="zh-CN" altLang="en-US" sz="2400" b="1"/>
          </a:p>
        </p:txBody>
      </p:sp>
      <p:sp>
        <p:nvSpPr>
          <p:cNvPr id="6" name="文本框 5"/>
          <p:cNvSpPr txBox="1"/>
          <p:nvPr/>
        </p:nvSpPr>
        <p:spPr>
          <a:xfrm>
            <a:off x="570865" y="441960"/>
            <a:ext cx="7646035" cy="768350"/>
          </a:xfrm>
          <a:prstGeom prst="rect">
            <a:avLst/>
          </a:prstGeom>
          <a:noFill/>
          <a:ln w="9525">
            <a:noFill/>
          </a:ln>
        </p:spPr>
        <p:txBody>
          <a:bodyPr wrap="square">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3.5.3.1  Bluetooth的基本概况</a:t>
            </a:r>
            <a:endParaRPr lang="en-US" sz="4400" b="1" u="sng" dirty="0" err="1">
              <a:solidFill>
                <a:srgbClr val="0563C1"/>
              </a:solidFill>
              <a:uFillTx/>
              <a:latin typeface="Times New Roman" panose="02020603050405020304" charset="0"/>
              <a:ea typeface="宋体" panose="02010600030101010101" pitchFamily="2" charset="-122"/>
              <a:cs typeface="+mj-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39140" y="1478915"/>
            <a:ext cx="7309485" cy="4523105"/>
          </a:xfrm>
          <a:prstGeom prst="rect">
            <a:avLst/>
          </a:prstGeom>
          <a:noFill/>
          <a:ln w="9525">
            <a:noFill/>
          </a:ln>
        </p:spPr>
        <p:txBody>
          <a:bodyPr wrap="square">
            <a:spAutoFit/>
          </a:bodyPr>
          <a:lstStyle/>
          <a:p>
            <a:pPr indent="457200" fontAlgn="auto">
              <a:lnSpc>
                <a:spcPct val="100000"/>
              </a:lnSpc>
            </a:pPr>
            <a:r>
              <a:rPr lang="en-US" altLang="zh-CN" sz="2400" b="1">
                <a:ea typeface="宋体" panose="02010600030101010101" pitchFamily="2" charset="-122"/>
              </a:rPr>
              <a:t>  </a:t>
            </a:r>
            <a:r>
              <a:rPr lang="zh-CN" sz="2400" b="1">
                <a:ea typeface="宋体" panose="02010600030101010101" pitchFamily="2" charset="-122"/>
              </a:rPr>
              <a:t>目前，智能手机外设是一个新的研究热点，如运动巨头</a:t>
            </a:r>
            <a:r>
              <a:rPr lang="en-US" sz="2400" b="1">
                <a:solidFill>
                  <a:srgbClr val="000000"/>
                </a:solidFill>
                <a:latin typeface="Times New Roman" panose="02020603050405020304" charset="0"/>
                <a:ea typeface="宋体" panose="02010600030101010101" pitchFamily="2" charset="-122"/>
              </a:rPr>
              <a:t>Nike</a:t>
            </a:r>
            <a:r>
              <a:rPr lang="zh-CN" sz="2400" b="1">
                <a:ea typeface="宋体" panose="02010600030101010101" pitchFamily="2" charset="-122"/>
              </a:rPr>
              <a:t>公司</a:t>
            </a:r>
            <a:r>
              <a:rPr lang="zh-CN" sz="2400" b="1">
                <a:latin typeface="Times New Roman" panose="02020603050405020304" charset="0"/>
                <a:ea typeface="宋体" panose="02010600030101010101" pitchFamily="2" charset="-122"/>
              </a:rPr>
              <a:t>推</a:t>
            </a:r>
            <a:r>
              <a:rPr lang="zh-CN" sz="2400" b="1">
                <a:ea typeface="宋体" panose="02010600030101010101" pitchFamily="2" charset="-122"/>
              </a:rPr>
              <a:t>出的</a:t>
            </a:r>
            <a:r>
              <a:rPr lang="en-US" sz="2400" b="1">
                <a:latin typeface="Times New Roman" panose="02020603050405020304" charset="0"/>
                <a:ea typeface="宋体" panose="02010600030101010101" pitchFamily="2" charset="-122"/>
              </a:rPr>
              <a:t>FuelBand</a:t>
            </a:r>
            <a:r>
              <a:rPr lang="zh-CN" sz="2400" b="1">
                <a:ea typeface="宋体" panose="02010600030101010101" pitchFamily="2" charset="-122"/>
              </a:rPr>
              <a:t>腕带</a:t>
            </a:r>
            <a:r>
              <a:rPr lang="zh-CN" sz="2400" b="1">
                <a:latin typeface="Times New Roman" panose="02020603050405020304" charset="0"/>
                <a:ea typeface="宋体" panose="02010600030101010101" pitchFamily="2" charset="-122"/>
              </a:rPr>
              <a:t>、</a:t>
            </a:r>
            <a:r>
              <a:rPr lang="en-US" sz="2400" b="1">
                <a:latin typeface="Times New Roman" panose="02020603050405020304" charset="0"/>
                <a:ea typeface="宋体" panose="02010600030101010101" pitchFamily="2" charset="-122"/>
              </a:rPr>
              <a:t>MIT</a:t>
            </a:r>
            <a:r>
              <a:rPr lang="zh-CN" sz="2400" b="1">
                <a:ea typeface="宋体" panose="02010600030101010101" pitchFamily="2" charset="-122"/>
              </a:rPr>
              <a:t>学生发明的</a:t>
            </a:r>
            <a:r>
              <a:rPr lang="en-US" sz="2400" b="1">
                <a:latin typeface="Times New Roman" panose="02020603050405020304" charset="0"/>
                <a:ea typeface="宋体" panose="02010600030101010101" pitchFamily="2" charset="-122"/>
              </a:rPr>
              <a:t>Amiigo</a:t>
            </a:r>
            <a:r>
              <a:rPr lang="zh-CN" sz="2400" b="1">
                <a:ea typeface="宋体" panose="02010600030101010101" pitchFamily="2" charset="-122"/>
              </a:rPr>
              <a:t>智能腕带等。以</a:t>
            </a:r>
            <a:r>
              <a:rPr lang="en-US" sz="2400" b="1">
                <a:latin typeface="Times New Roman" panose="02020603050405020304" charset="0"/>
                <a:ea typeface="宋体" panose="02010600030101010101" pitchFamily="2" charset="-122"/>
              </a:rPr>
              <a:t>Amiigo</a:t>
            </a:r>
            <a:r>
              <a:rPr lang="zh-CN" sz="2400" b="1">
                <a:ea typeface="宋体" panose="02010600030101010101" pitchFamily="2" charset="-122"/>
              </a:rPr>
              <a:t>为例，如图</a:t>
            </a:r>
            <a:r>
              <a:rPr lang="en-US" sz="2400" b="1">
                <a:latin typeface="Times New Roman" panose="02020603050405020304" charset="0"/>
                <a:ea typeface="宋体" panose="02010600030101010101" pitchFamily="2" charset="-122"/>
              </a:rPr>
              <a:t>3-5-7</a:t>
            </a:r>
            <a:r>
              <a:rPr lang="zh-CN" sz="2400" b="1">
                <a:ea typeface="宋体" panose="02010600030101010101" pitchFamily="2" charset="-122"/>
              </a:rPr>
              <a:t>所示，它可以记录和测量日常生活中的运动量</a:t>
            </a:r>
            <a:r>
              <a:rPr lang="en-US" sz="2400" b="1">
                <a:latin typeface="Times New Roman" panose="02020603050405020304" charset="0"/>
                <a:ea typeface="宋体" panose="02010600030101010101" pitchFamily="2" charset="-122"/>
              </a:rPr>
              <a:t>(</a:t>
            </a:r>
            <a:r>
              <a:rPr lang="zh-CN" sz="2400" b="1">
                <a:ea typeface="宋体" panose="02010600030101010101" pitchFamily="2" charset="-122"/>
              </a:rPr>
              <a:t>如跑步赶上公交车、从超市拎回大包小包等日常生活</a:t>
            </a:r>
            <a:r>
              <a:rPr lang="zh-CN" sz="2400" b="1">
                <a:latin typeface="Times New Roman" panose="02020603050405020304" charset="0"/>
                <a:ea typeface="宋体" panose="02010600030101010101" pitchFamily="2" charset="-122"/>
              </a:rPr>
              <a:t>用品</a:t>
            </a:r>
            <a:r>
              <a:rPr lang="zh-CN" sz="2400" b="1">
                <a:ea typeface="宋体" panose="02010600030101010101" pitchFamily="2" charset="-122"/>
              </a:rPr>
              <a:t>中随时随地获得的运动量</a:t>
            </a:r>
            <a:r>
              <a:rPr lang="en-US" sz="2400" b="1">
                <a:latin typeface="Times New Roman" panose="02020603050405020304" charset="0"/>
                <a:ea typeface="宋体" panose="02010600030101010101" pitchFamily="2" charset="-122"/>
              </a:rPr>
              <a:t>)</a:t>
            </a:r>
            <a:r>
              <a:rPr lang="zh-CN" sz="2400" b="1">
                <a:ea typeface="宋体" panose="02010600030101010101" pitchFamily="2" charset="-122"/>
              </a:rPr>
              <a:t>，以此激励人们生活得更有活力。</a:t>
            </a:r>
            <a:endParaRPr lang="zh-CN" sz="2400" b="1">
              <a:ea typeface="宋体" panose="02010600030101010101" pitchFamily="2" charset="-122"/>
            </a:endParaRPr>
          </a:p>
          <a:p>
            <a:pPr indent="457200" fontAlgn="auto">
              <a:lnSpc>
                <a:spcPct val="100000"/>
              </a:lnSpc>
            </a:pPr>
            <a:r>
              <a:rPr lang="zh-CN" sz="2400" b="1">
                <a:ea typeface="宋体" panose="02010600030101010101" pitchFamily="2" charset="-122"/>
              </a:rPr>
              <a:t> </a:t>
            </a:r>
            <a:r>
              <a:rPr lang="en-US" altLang="zh-CN" sz="2400" b="1">
                <a:ea typeface="宋体" panose="02010600030101010101" pitchFamily="2" charset="-122"/>
              </a:rPr>
              <a:t> </a:t>
            </a:r>
            <a:r>
              <a:rPr lang="zh-CN" sz="2400" b="1">
                <a:ea typeface="宋体" panose="02010600030101010101" pitchFamily="2" charset="-122"/>
                <a:sym typeface="+mn-ea"/>
              </a:rPr>
              <a:t>智能腕带</a:t>
            </a:r>
            <a:r>
              <a:rPr lang="en-US" sz="2400" b="1">
                <a:latin typeface="Times New Roman" panose="02020603050405020304" charset="0"/>
                <a:ea typeface="宋体" panose="02010600030101010101" pitchFamily="2" charset="-122"/>
                <a:sym typeface="+mn-ea"/>
              </a:rPr>
              <a:t>Amigo</a:t>
            </a:r>
            <a:r>
              <a:rPr lang="zh-CN" sz="2400" b="1">
                <a:ea typeface="宋体" panose="02010600030101010101" pitchFamily="2" charset="-122"/>
                <a:sym typeface="+mn-ea"/>
              </a:rPr>
              <a:t>测量的时间、卡路里、步数、体温等数据可以通过蓝牙技术传送到智能手机上</a:t>
            </a:r>
            <a:r>
              <a:rPr lang="zh-CN" sz="2400" b="1">
                <a:latin typeface="Times New Roman" panose="02020603050405020304" charset="0"/>
                <a:ea typeface="宋体" panose="02010600030101010101" pitchFamily="2" charset="-122"/>
                <a:sym typeface="+mn-ea"/>
              </a:rPr>
              <a:t>。</a:t>
            </a:r>
            <a:r>
              <a:rPr lang="zh-CN" sz="2400" b="1">
                <a:ea typeface="宋体" panose="02010600030101010101" pitchFamily="2" charset="-122"/>
                <a:sym typeface="+mn-ea"/>
              </a:rPr>
              <a:t>用户打开</a:t>
            </a:r>
            <a:r>
              <a:rPr lang="en-US" sz="2400" b="1">
                <a:latin typeface="Times New Roman" panose="02020603050405020304" charset="0"/>
                <a:ea typeface="宋体" panose="02010600030101010101" pitchFamily="2" charset="-122"/>
                <a:sym typeface="+mn-ea"/>
              </a:rPr>
              <a:t>iPhone</a:t>
            </a:r>
            <a:r>
              <a:rPr lang="zh-CN" sz="2400" b="1">
                <a:ea typeface="宋体" panose="02010600030101010101" pitchFamily="2" charset="-122"/>
                <a:sym typeface="+mn-ea"/>
              </a:rPr>
              <a:t>成者</a:t>
            </a:r>
            <a:r>
              <a:rPr lang="en-US" sz="2400" b="1">
                <a:latin typeface="Times New Roman" panose="02020603050405020304" charset="0"/>
                <a:ea typeface="宋体" panose="02010600030101010101" pitchFamily="2" charset="-122"/>
                <a:sym typeface="+mn-ea"/>
              </a:rPr>
              <a:t>Android</a:t>
            </a:r>
            <a:r>
              <a:rPr lang="zh-CN" sz="2400" b="1">
                <a:ea typeface="宋体" panose="02010600030101010101" pitchFamily="2" charset="-122"/>
                <a:sym typeface="+mn-ea"/>
              </a:rPr>
              <a:t>智能手机的</a:t>
            </a:r>
            <a:r>
              <a:rPr lang="en-US" sz="2400" b="1">
                <a:latin typeface="Times New Roman" panose="02020603050405020304" charset="0"/>
                <a:ea typeface="宋体" panose="02010600030101010101" pitchFamily="2" charset="-122"/>
                <a:sym typeface="+mn-ea"/>
              </a:rPr>
              <a:t>Amigo</a:t>
            </a:r>
            <a:r>
              <a:rPr lang="zh-CN" sz="2400" b="1">
                <a:ea typeface="宋体" panose="02010600030101010101" pitchFamily="2" charset="-122"/>
                <a:sym typeface="+mn-ea"/>
              </a:rPr>
              <a:t>应用，便可以了解到自己的身体状况、运动量以及</a:t>
            </a:r>
            <a:r>
              <a:rPr lang="zh-CN" sz="2400" b="1">
                <a:latin typeface="Times New Roman" panose="02020603050405020304" charset="0"/>
                <a:ea typeface="宋体" panose="02010600030101010101" pitchFamily="2" charset="-122"/>
                <a:sym typeface="+mn-ea"/>
              </a:rPr>
              <a:t>与</a:t>
            </a:r>
            <a:r>
              <a:rPr lang="zh-CN" sz="2400" b="1">
                <a:ea typeface="宋体" panose="02010600030101010101" pitchFamily="2" charset="-122"/>
                <a:sym typeface="+mn-ea"/>
              </a:rPr>
              <a:t>目标的差距，用户还可以社区的形式与好友进行分享。</a:t>
            </a:r>
            <a:endParaRPr lang="zh-CN" altLang="en-US" sz="2400" b="1"/>
          </a:p>
        </p:txBody>
      </p:sp>
      <p:pic>
        <p:nvPicPr>
          <p:cNvPr id="12" name="图片 569" descr="查看源图像"/>
          <p:cNvPicPr>
            <a:picLocks noChangeAspect="1"/>
          </p:cNvPicPr>
          <p:nvPr/>
        </p:nvPicPr>
        <p:blipFill>
          <a:blip r:embed="rId1"/>
          <a:stretch>
            <a:fillRect/>
          </a:stretch>
        </p:blipFill>
        <p:spPr>
          <a:xfrm>
            <a:off x="8754745" y="2049780"/>
            <a:ext cx="1921510" cy="2757805"/>
          </a:xfrm>
          <a:prstGeom prst="rect">
            <a:avLst/>
          </a:prstGeom>
          <a:noFill/>
          <a:ln>
            <a:noFill/>
          </a:ln>
        </p:spPr>
      </p:pic>
      <p:sp>
        <p:nvSpPr>
          <p:cNvPr id="2" name="文本框 1"/>
          <p:cNvSpPr txBox="1"/>
          <p:nvPr/>
        </p:nvSpPr>
        <p:spPr>
          <a:xfrm>
            <a:off x="8308975" y="4916170"/>
            <a:ext cx="3223895" cy="398780"/>
          </a:xfrm>
          <a:prstGeom prst="rect">
            <a:avLst/>
          </a:prstGeom>
          <a:noFill/>
          <a:ln w="9525">
            <a:noFill/>
          </a:ln>
        </p:spPr>
        <p:txBody>
          <a:bodyPr wrap="square">
            <a:spAutoFit/>
          </a:bodyPr>
          <a:lstStyle/>
          <a:p>
            <a:pPr indent="228600" algn="ct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3-5-7  Amiigo</a:t>
            </a:r>
            <a:r>
              <a:rPr lang="zh-CN" sz="2000" b="0">
                <a:ea typeface="宋体" panose="02010600030101010101" pitchFamily="2" charset="-122"/>
              </a:rPr>
              <a:t>智能腕带</a:t>
            </a:r>
            <a:endParaRPr lang="zh-CN" altLang="en-US" sz="2000"/>
          </a:p>
        </p:txBody>
      </p:sp>
      <p:sp>
        <p:nvSpPr>
          <p:cNvPr id="6" name="文本框 5"/>
          <p:cNvSpPr txBox="1"/>
          <p:nvPr/>
        </p:nvSpPr>
        <p:spPr>
          <a:xfrm>
            <a:off x="570865" y="441960"/>
            <a:ext cx="7646035" cy="768350"/>
          </a:xfrm>
          <a:prstGeom prst="rect">
            <a:avLst/>
          </a:prstGeom>
          <a:noFill/>
          <a:ln w="9525">
            <a:noFill/>
          </a:ln>
        </p:spPr>
        <p:txBody>
          <a:bodyPr wrap="square">
            <a:spAutoFit/>
          </a:bodyPr>
          <a:p>
            <a:r>
              <a:rPr lang="en-US" sz="4400" b="1" u="sng" dirty="0" err="1">
                <a:solidFill>
                  <a:srgbClr val="0563C1"/>
                </a:solidFill>
                <a:uFillTx/>
                <a:latin typeface="Times New Roman" panose="02020603050405020304" charset="0"/>
                <a:ea typeface="宋体" panose="02010600030101010101" pitchFamily="2" charset="-122"/>
                <a:cs typeface="+mj-cs"/>
              </a:rPr>
              <a:t>3.5.3.1  Bluetooth的基本概况</a:t>
            </a:r>
            <a:endParaRPr lang="en-US" sz="4400" b="1" u="sng" dirty="0" err="1">
              <a:solidFill>
                <a:srgbClr val="0563C1"/>
              </a:solidFill>
              <a:uFillTx/>
              <a:latin typeface="Times New Roman" panose="02020603050405020304" charset="0"/>
              <a:ea typeface="宋体" panose="02010600030101010101" pitchFamily="2" charset="-122"/>
              <a:cs typeface="+mj-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7035" y="1561465"/>
            <a:ext cx="11247755" cy="4154170"/>
          </a:xfrm>
          <a:prstGeom prst="rect">
            <a:avLst/>
          </a:prstGeom>
          <a:noFill/>
          <a:ln w="9525">
            <a:noFill/>
          </a:ln>
        </p:spPr>
        <p:txBody>
          <a:bodyPr wrap="square">
            <a:spAutoFit/>
          </a:bodyPr>
          <a:lstStyle/>
          <a:p>
            <a:pPr indent="266700" fontAlgn="auto">
              <a:lnSpc>
                <a:spcPct val="100000"/>
              </a:lnSpc>
            </a:pPr>
            <a:r>
              <a:rPr lang="en-US" sz="2400" b="1" dirty="0">
                <a:latin typeface="Times New Roman" panose="02020603050405020304" charset="0"/>
                <a:ea typeface="宋体" panose="02010600030101010101" pitchFamily="2" charset="-122"/>
              </a:rPr>
              <a:t>    Bluetooth</a:t>
            </a: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a:latin typeface="Times New Roman" panose="02020603050405020304" charset="0"/>
                <a:ea typeface="宋体" panose="02010600030101010101" pitchFamily="2" charset="-122"/>
              </a:rPr>
              <a:t>4.0</a:t>
            </a:r>
            <a:r>
              <a:rPr lang="zh-CN" sz="2400" b="1" dirty="0">
                <a:ea typeface="宋体" panose="02010600030101010101" pitchFamily="2" charset="-122"/>
              </a:rPr>
              <a:t>技术是蓝牙发展史上一次重大的革新。</a:t>
            </a:r>
            <a:endParaRPr lang="en-US" sz="2400" b="1" dirty="0">
              <a:latin typeface="Times New Roman" panose="02020603050405020304" charset="0"/>
              <a:ea typeface="宋体" panose="02010600030101010101" pitchFamily="2" charset="-122"/>
            </a:endParaRPr>
          </a:p>
          <a:p>
            <a:pPr indent="266700" fontAlgn="auto">
              <a:lnSpc>
                <a:spcPct val="100000"/>
              </a:lnSpc>
            </a:pPr>
            <a:r>
              <a:rPr lang="en-US" sz="2400" b="1" dirty="0">
                <a:latin typeface="Times New Roman" panose="02020603050405020304" charset="0"/>
                <a:ea typeface="宋体" panose="02010600030101010101" pitchFamily="2" charset="-122"/>
              </a:rPr>
              <a:t>    1.</a:t>
            </a:r>
            <a:r>
              <a:rPr lang="zh-CN" sz="2400" b="1" dirty="0">
                <a:ea typeface="宋体" panose="02010600030101010101" pitchFamily="2" charset="-122"/>
              </a:rPr>
              <a:t>相关规范</a:t>
            </a:r>
            <a:endParaRPr lang="en-US" sz="2400" b="1" dirty="0">
              <a:latin typeface="Times New Roman" panose="02020603050405020304" charset="0"/>
              <a:ea typeface="宋体" panose="02010600030101010101" pitchFamily="2" charset="-122"/>
            </a:endParaRPr>
          </a:p>
          <a:p>
            <a:pPr indent="266700" fontAlgn="auto">
              <a:lnSpc>
                <a:spcPct val="100000"/>
              </a:lnSpc>
            </a:pPr>
            <a:r>
              <a:rPr lang="en-US" sz="2400" b="1" dirty="0">
                <a:latin typeface="Times New Roman" panose="02020603050405020304" charset="0"/>
                <a:ea typeface="宋体" panose="02010600030101010101" pitchFamily="2" charset="-122"/>
              </a:rPr>
              <a:t>    Bluetooth</a:t>
            </a: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a:latin typeface="Times New Roman" panose="02020603050405020304" charset="0"/>
                <a:ea typeface="宋体" panose="02010600030101010101" pitchFamily="2" charset="-122"/>
              </a:rPr>
              <a:t>4.0</a:t>
            </a:r>
            <a:r>
              <a:rPr lang="zh-CN" sz="2400" b="1" dirty="0">
                <a:ea typeface="宋体" panose="02010600030101010101" pitchFamily="2" charset="-122"/>
              </a:rPr>
              <a:t>是</a:t>
            </a:r>
            <a:r>
              <a:rPr lang="en-US" sz="2400" b="1" dirty="0">
                <a:latin typeface="Times New Roman" panose="02020603050405020304" charset="0"/>
                <a:ea typeface="宋体" panose="02010600030101010101" pitchFamily="2" charset="-122"/>
              </a:rPr>
              <a:t>Bluetooth</a:t>
            </a:r>
            <a:r>
              <a:rPr lang="zh-CN" sz="2400" b="1" dirty="0">
                <a:ea typeface="宋体" panose="02010600030101010101" pitchFamily="2" charset="-122"/>
              </a:rPr>
              <a:t>从诞生至今唯一的一个综合协议规范，还提出了低功耗蓝牙、经典蓝牙和高速蓝牙</a:t>
            </a:r>
            <a:r>
              <a:rPr lang="en-US" sz="2400" b="1" dirty="0">
                <a:latin typeface="Times New Roman" panose="02020603050405020304" charset="0"/>
                <a:ea typeface="宋体" panose="02010600030101010101" pitchFamily="2" charset="-122"/>
              </a:rPr>
              <a:t>3</a:t>
            </a:r>
            <a:r>
              <a:rPr lang="zh-CN" sz="2400" b="1" dirty="0">
                <a:ea typeface="宋体" panose="02010600030101010101" pitchFamily="2" charset="-122"/>
              </a:rPr>
              <a:t>种模式。经典蓝牙和高速蓝牙都只是对旧有蓝牙版本的延续和强化，高速蓝牙主攻数据交换与传输；经典蓝牙则以信息沟通、设备连接为重点；低功耗蓝牙，以不需占用太多带定的设备连接为主。这三种协议规范能够互相组合搭配，从而实现更广泛的应用模式。</a:t>
            </a:r>
            <a:r>
              <a:rPr lang="en-US" sz="2400" b="1" dirty="0">
                <a:latin typeface="Times New Roman" panose="02020603050405020304" charset="0"/>
                <a:ea typeface="宋体" panose="02010600030101010101" pitchFamily="2" charset="-122"/>
              </a:rPr>
              <a:t>Bluetooth 4.0</a:t>
            </a:r>
            <a:r>
              <a:rPr lang="zh-CN" sz="2400" b="1" dirty="0">
                <a:ea typeface="宋体" panose="02010600030101010101" pitchFamily="2" charset="-122"/>
              </a:rPr>
              <a:t>把蓝牙的传输距离提升到</a:t>
            </a:r>
            <a:r>
              <a:rPr lang="en-US" sz="2400" b="1" dirty="0">
                <a:latin typeface="Times New Roman" panose="02020603050405020304" charset="0"/>
                <a:ea typeface="宋体" panose="02010600030101010101" pitchFamily="2" charset="-122"/>
              </a:rPr>
              <a:t>100 m</a:t>
            </a:r>
            <a:r>
              <a:rPr lang="zh-CN" sz="2400" b="1" dirty="0">
                <a:ea typeface="宋体" panose="02010600030101010101" pitchFamily="2" charset="-122"/>
              </a:rPr>
              <a:t>以上</a:t>
            </a:r>
            <a:r>
              <a:rPr lang="en-US" sz="2400" b="1" dirty="0">
                <a:latin typeface="Times New Roman" panose="02020603050405020304" charset="0"/>
                <a:ea typeface="宋体" panose="02010600030101010101" pitchFamily="2" charset="-122"/>
              </a:rPr>
              <a:t>(</a:t>
            </a:r>
            <a:r>
              <a:rPr lang="zh-CN" sz="2400" b="1" dirty="0">
                <a:ea typeface="宋体" panose="02010600030101010101" pitchFamily="2" charset="-122"/>
              </a:rPr>
              <a:t>低功耗模式条件下</a:t>
            </a:r>
            <a:r>
              <a:rPr lang="en-US" sz="2400" b="1" dirty="0">
                <a:latin typeface="Times New Roman" panose="02020603050405020304" charset="0"/>
                <a:ea typeface="宋体" panose="02010600030101010101" pitchFamily="2" charset="-122"/>
              </a:rPr>
              <a:t>)</a:t>
            </a:r>
            <a:r>
              <a:rPr lang="zh-CN" sz="2400" b="1" dirty="0">
                <a:ea typeface="宋体" panose="02010600030101010101" pitchFamily="2" charset="-122"/>
              </a:rPr>
              <a:t>，而且通过单一的接口让应用系统自己挑选技术使用， 而不是让消费者进行设备互</a:t>
            </a:r>
            <a:r>
              <a:rPr lang="zh-CN" sz="2400" b="1" dirty="0">
                <a:latin typeface="Times New Roman" panose="02020603050405020304" charset="0"/>
                <a:ea typeface="宋体" panose="02010600030101010101" pitchFamily="2" charset="-122"/>
              </a:rPr>
              <a:t>联</a:t>
            </a:r>
            <a:r>
              <a:rPr lang="zh-CN" sz="2400" b="1" dirty="0">
                <a:ea typeface="宋体" panose="02010600030101010101" pitchFamily="2" charset="-122"/>
              </a:rPr>
              <a:t>时还要手动选择各项设备的连接模式，这一人性化的功能显然沿袭了蓝牙关注可用性和实际体验的设计思路。表</a:t>
            </a:r>
            <a:r>
              <a:rPr lang="en-US" sz="2400" b="1" dirty="0">
                <a:latin typeface="Times New Roman" panose="02020603050405020304" charset="0"/>
                <a:ea typeface="宋体" panose="02010600030101010101" pitchFamily="2" charset="-122"/>
              </a:rPr>
              <a:t>3-5-2</a:t>
            </a:r>
            <a:r>
              <a:rPr lang="zh-CN" sz="2400" b="1" dirty="0">
                <a:ea typeface="宋体" panose="02010600030101010101" pitchFamily="2" charset="-122"/>
              </a:rPr>
              <a:t>给出了低功耗蓝牙与经典蓝牙在相关规范方面的区别。</a:t>
            </a:r>
            <a:endParaRPr lang="zh-CN" altLang="en-US" sz="2400" b="1" dirty="0"/>
          </a:p>
        </p:txBody>
      </p:sp>
      <p:sp>
        <p:nvSpPr>
          <p:cNvPr id="4" name="标题 1"/>
          <p:cNvSpPr>
            <a:spLocks noGrp="1"/>
          </p:cNvSpPr>
          <p:nvPr>
            <p:ph type="title"/>
          </p:nvPr>
        </p:nvSpPr>
        <p:spPr>
          <a:xfrm>
            <a:off x="479425" y="8255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619375" y="346075"/>
            <a:ext cx="7114540" cy="398780"/>
          </a:xfrm>
          <a:prstGeom prst="rect">
            <a:avLst/>
          </a:prstGeom>
          <a:noFill/>
          <a:ln w="9525">
            <a:noFill/>
          </a:ln>
        </p:spPr>
        <p:txBody>
          <a:bodyPr wrap="square">
            <a:spAutoFit/>
          </a:bodyPr>
          <a:lstStyle/>
          <a:p>
            <a:pPr indent="228600" algn="ctr"/>
            <a:r>
              <a:rPr lang="zh-CN" sz="2000" b="1" dirty="0">
                <a:ea typeface="宋体" panose="02010600030101010101" pitchFamily="2" charset="-122"/>
              </a:rPr>
              <a:t>表</a:t>
            </a:r>
            <a:r>
              <a:rPr lang="en-US" sz="2000" b="1" dirty="0">
                <a:latin typeface="Times New Roman" panose="02020603050405020304" charset="0"/>
                <a:ea typeface="宋体" panose="02010600030101010101" pitchFamily="2" charset="-122"/>
              </a:rPr>
              <a:t>3-5-2 </a:t>
            </a:r>
            <a:r>
              <a:rPr lang="zh-CN" sz="2000" b="1" dirty="0">
                <a:ea typeface="宋体" panose="02010600030101010101" pitchFamily="2" charset="-122"/>
              </a:rPr>
              <a:t>低功耗蓝牙与经典蓝牙在相关规范方面的区别</a:t>
            </a:r>
            <a:endParaRPr lang="zh-CN" altLang="en-US" sz="2000" b="1" dirty="0"/>
          </a:p>
        </p:txBody>
      </p:sp>
      <p:graphicFrame>
        <p:nvGraphicFramePr>
          <p:cNvPr id="2" name="表格 1"/>
          <p:cNvGraphicFramePr/>
          <p:nvPr>
            <p:custDataLst>
              <p:tags r:id="rId1"/>
            </p:custDataLst>
          </p:nvPr>
        </p:nvGraphicFramePr>
        <p:xfrm>
          <a:off x="483235" y="875665"/>
          <a:ext cx="11225530" cy="5785485"/>
        </p:xfrm>
        <a:graphic>
          <a:graphicData uri="http://schemas.openxmlformats.org/drawingml/2006/table">
            <a:tbl>
              <a:tblPr firstRow="1" bandRow="1">
                <a:tableStyleId>{5940675A-B579-460E-94D1-54222C63F5DA}</a:tableStyleId>
              </a:tblPr>
              <a:tblGrid>
                <a:gridCol w="3436620"/>
                <a:gridCol w="3870960"/>
                <a:gridCol w="3917950"/>
              </a:tblGrid>
              <a:tr h="304800">
                <a:tc>
                  <a:txBody>
                    <a:bodyPr/>
                    <a:lstStyle/>
                    <a:p>
                      <a:pPr indent="0" algn="ctr">
                        <a:buNone/>
                      </a:pPr>
                      <a:r>
                        <a:rPr lang="en-US" sz="2000" b="1">
                          <a:solidFill>
                            <a:srgbClr val="00B0F0"/>
                          </a:solidFill>
                          <a:latin typeface="Times New Roman" panose="02020603050405020304" charset="0"/>
                          <a:cs typeface="Times New Roman" panose="02020603050405020304" charset="0"/>
                        </a:rPr>
                        <a:t>技术规范</a:t>
                      </a:r>
                      <a:endParaRPr lang="en-US" altLang="en-US" sz="2000" b="1">
                        <a:solidFill>
                          <a:srgbClr val="00B0F0"/>
                        </a:solidFill>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solidFill>
                            <a:srgbClr val="00B0F0"/>
                          </a:solidFill>
                          <a:latin typeface="Times New Roman" panose="02020603050405020304" charset="0"/>
                          <a:cs typeface="Times New Roman" panose="02020603050405020304" charset="0"/>
                        </a:rPr>
                        <a:t>经典蓝牙</a:t>
                      </a:r>
                      <a:endParaRPr lang="en-US" altLang="en-US" sz="2000" b="1">
                        <a:solidFill>
                          <a:srgbClr val="00B0F0"/>
                        </a:solidFill>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solidFill>
                            <a:srgbClr val="00B0F0"/>
                          </a:solidFill>
                          <a:latin typeface="Times New Roman" panose="02020603050405020304" charset="0"/>
                          <a:cs typeface="Times New Roman" panose="02020603050405020304" charset="0"/>
                        </a:rPr>
                        <a:t>低功耗蓝牙</a:t>
                      </a:r>
                      <a:endParaRPr lang="en-US" altLang="en-US" sz="2000" b="1">
                        <a:solidFill>
                          <a:srgbClr val="00B0F0"/>
                        </a:solidFill>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ctr">
                        <a:buNone/>
                      </a:pPr>
                      <a:r>
                        <a:rPr lang="en-US" sz="2000" b="1">
                          <a:latin typeface="Times New Roman" panose="02020603050405020304" charset="0"/>
                          <a:cs typeface="Times New Roman" panose="02020603050405020304" charset="0"/>
                        </a:rPr>
                        <a:t>无线电频率/GHz</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2.4</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2.4</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ctr">
                        <a:buNone/>
                      </a:pPr>
                      <a:r>
                        <a:rPr lang="en-US" sz="2000" b="1">
                          <a:latin typeface="Times New Roman" panose="02020603050405020304" charset="0"/>
                          <a:cs typeface="Times New Roman" panose="02020603050405020304" charset="0"/>
                        </a:rPr>
                        <a:t>传输距离/m</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10</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≤100</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ctr">
                        <a:buNone/>
                      </a:pPr>
                      <a:r>
                        <a:rPr lang="en-US" sz="2000" b="1">
                          <a:latin typeface="Times New Roman" panose="02020603050405020304" charset="0"/>
                          <a:cs typeface="Times New Roman" panose="02020603050405020304" charset="0"/>
                        </a:rPr>
                        <a:t>空中数据速率/(Mb/s)</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1~3</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ctr">
                        <a:buNone/>
                      </a:pPr>
                      <a:r>
                        <a:rPr lang="en-US" sz="2000" b="1">
                          <a:latin typeface="Times New Roman" panose="02020603050405020304" charset="0"/>
                          <a:cs typeface="Times New Roman" panose="02020603050405020304" charset="0"/>
                        </a:rPr>
                        <a:t>应用吞吐量/(Mb/s)</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Times New Roman" panose="02020603050405020304" charset="0"/>
                          <a:cs typeface="Times New Roman" panose="02020603050405020304" charset="0"/>
                        </a:rPr>
                        <a:t>0.7~2.1</a:t>
                      </a:r>
                      <a:endParaRPr lang="en-US" altLang="en-US" sz="2000" b="1" dirty="0">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0.2</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050">
                <a:tc>
                  <a:txBody>
                    <a:bodyPr/>
                    <a:lstStyle/>
                    <a:p>
                      <a:pPr indent="0" algn="ctr">
                        <a:buNone/>
                      </a:pPr>
                      <a:r>
                        <a:rPr lang="en-US" sz="2000" b="1">
                          <a:latin typeface="Times New Roman" panose="02020603050405020304" charset="0"/>
                          <a:cs typeface="Times New Roman" panose="02020603050405020304" charset="0"/>
                        </a:rPr>
                        <a:t>安全</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64/128bit及自定义的应用层</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128bitAES及自定义的应用层</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7985">
                <a:tc>
                  <a:txBody>
                    <a:bodyPr/>
                    <a:lstStyle/>
                    <a:p>
                      <a:pPr indent="0" algn="ctr">
                        <a:buNone/>
                      </a:pPr>
                      <a:r>
                        <a:rPr lang="en-US" sz="2000" b="1">
                          <a:latin typeface="Times New Roman" panose="02020603050405020304" charset="0"/>
                          <a:cs typeface="Times New Roman" panose="02020603050405020304" charset="0"/>
                        </a:rPr>
                        <a:t>鲁棒性</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自动适应快速跳频，FEC，ACK</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自动适应快速跳频</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ctr">
                        <a:buNone/>
                      </a:pPr>
                      <a:r>
                        <a:rPr lang="en-US" sz="2000" b="1">
                          <a:latin typeface="Times New Roman" panose="02020603050405020304" charset="0"/>
                          <a:cs typeface="Times New Roman" panose="02020603050405020304" charset="0"/>
                        </a:rPr>
                        <a:t>发送数据的总时间/ms</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100</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&lt;6</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295">
                <a:tc>
                  <a:txBody>
                    <a:bodyPr/>
                    <a:lstStyle/>
                    <a:p>
                      <a:pPr indent="0" algn="ctr">
                        <a:buNone/>
                      </a:pPr>
                      <a:r>
                        <a:rPr lang="en-US" sz="2000" b="1">
                          <a:latin typeface="Times New Roman" panose="02020603050405020304" charset="0"/>
                          <a:cs typeface="Times New Roman" panose="02020603050405020304" charset="0"/>
                        </a:rPr>
                        <a:t>政府监管</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全球</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全球</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295">
                <a:tc>
                  <a:txBody>
                    <a:bodyPr/>
                    <a:lstStyle/>
                    <a:p>
                      <a:pPr indent="0" algn="ctr">
                        <a:buNone/>
                      </a:pPr>
                      <a:r>
                        <a:rPr lang="en-US" sz="2000" b="1">
                          <a:latin typeface="Times New Roman" panose="02020603050405020304" charset="0"/>
                          <a:cs typeface="Times New Roman" panose="02020603050405020304" charset="0"/>
                        </a:rPr>
                        <a:t>认证机构</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蓝牙技术联盟</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蓝牙技术联盟</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660">
                <a:tc>
                  <a:txBody>
                    <a:bodyPr/>
                    <a:lstStyle/>
                    <a:p>
                      <a:pPr indent="0" algn="ctr">
                        <a:buNone/>
                      </a:pPr>
                      <a:r>
                        <a:rPr lang="en-US" sz="2000" b="1">
                          <a:latin typeface="Times New Roman" panose="02020603050405020304" charset="0"/>
                          <a:cs typeface="Times New Roman" panose="02020603050405020304" charset="0"/>
                        </a:rPr>
                        <a:t>语音能力</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有</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没有</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295">
                <a:tc>
                  <a:txBody>
                    <a:bodyPr/>
                    <a:lstStyle/>
                    <a:p>
                      <a:pPr indent="0" algn="ctr">
                        <a:buNone/>
                      </a:pPr>
                      <a:r>
                        <a:rPr lang="en-US" sz="2000" b="1">
                          <a:latin typeface="Times New Roman" panose="02020603050405020304" charset="0"/>
                          <a:cs typeface="Times New Roman" panose="02020603050405020304" charset="0"/>
                        </a:rPr>
                        <a:t>网络拓扑</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分散网</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星型网</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930">
                <a:tc>
                  <a:txBody>
                    <a:bodyPr/>
                    <a:lstStyle/>
                    <a:p>
                      <a:pPr indent="0" algn="ctr">
                        <a:buNone/>
                      </a:pPr>
                      <a:r>
                        <a:rPr lang="en-US" sz="2000" b="1">
                          <a:latin typeface="Times New Roman" panose="02020603050405020304" charset="0"/>
                          <a:cs typeface="Times New Roman" panose="02020603050405020304" charset="0"/>
                        </a:rPr>
                        <a:t>耗电量</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100%（作为参考）</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1%~50%（视使用情况）</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295">
                <a:tc>
                  <a:txBody>
                    <a:bodyPr/>
                    <a:lstStyle/>
                    <a:p>
                      <a:pPr indent="0" algn="ctr">
                        <a:buNone/>
                      </a:pPr>
                      <a:r>
                        <a:rPr lang="en-US" sz="2000" b="1">
                          <a:latin typeface="Times New Roman" panose="02020603050405020304" charset="0"/>
                          <a:cs typeface="Times New Roman" panose="02020603050405020304" charset="0"/>
                        </a:rPr>
                        <a:t>运行的最大功耗</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&lt;30 mA</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&lt;15mA（最高运行为15mA）</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8295">
                <a:tc>
                  <a:txBody>
                    <a:bodyPr/>
                    <a:lstStyle/>
                    <a:p>
                      <a:pPr indent="0" algn="ctr">
                        <a:buNone/>
                      </a:pPr>
                      <a:r>
                        <a:rPr lang="en-US" sz="2000" b="1">
                          <a:latin typeface="Times New Roman" panose="02020603050405020304" charset="0"/>
                          <a:cs typeface="Times New Roman" panose="02020603050405020304" charset="0"/>
                        </a:rPr>
                        <a:t>发现服务</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有</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有</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70585">
                <a:tc>
                  <a:txBody>
                    <a:bodyPr/>
                    <a:lstStyle/>
                    <a:p>
                      <a:pPr indent="0" algn="ctr">
                        <a:buNone/>
                      </a:pPr>
                      <a:r>
                        <a:rPr lang="en-US" sz="2000" b="1">
                          <a:latin typeface="Times New Roman" panose="02020603050405020304" charset="0"/>
                          <a:cs typeface="Times New Roman" panose="02020603050405020304" charset="0"/>
                        </a:rPr>
                        <a:t> 主要用途</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anose="02020603050405020304" charset="0"/>
                          <a:cs typeface="Times New Roman" panose="02020603050405020304" charset="0"/>
                        </a:rPr>
                        <a:t>手机、游戏机、耳机、汽车和PC等</a:t>
                      </a:r>
                      <a:endParaRPr lang="en-US" altLang="en-US" sz="2000" b="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anose="02020603050405020304" charset="0"/>
                          <a:cs typeface="Times New Roman" panose="02020603050405020304" charset="0"/>
                        </a:rPr>
                        <a:t>手机、游戏机、PC、</a:t>
                      </a:r>
                      <a:r>
                        <a:rPr lang="en-US" sz="2000" b="1" dirty="0" err="1">
                          <a:latin typeface="宋体" panose="02010600030101010101" pitchFamily="2" charset="-122"/>
                          <a:ea typeface="宋体" panose="02010600030101010101" pitchFamily="2" charset="-122"/>
                          <a:cs typeface="宋体" panose="02010600030101010101" pitchFamily="2" charset="-122"/>
                        </a:rPr>
                        <a:t>手</a:t>
                      </a:r>
                      <a:r>
                        <a:rPr lang="en-US" sz="2000" b="1" dirty="0" err="1">
                          <a:latin typeface="Times New Roman" panose="02020603050405020304" charset="0"/>
                          <a:cs typeface="Times New Roman" panose="02020603050405020304" charset="0"/>
                        </a:rPr>
                        <a:t>表、体育健身、医疗保健、汽车、家用电器</a:t>
                      </a:r>
                      <a:endParaRPr lang="en-US" altLang="en-US" sz="2000" b="1" dirty="0" err="1">
                        <a:latin typeface="Times New Roman" panose="02020603050405020304" charset="0"/>
                        <a:ea typeface="Times New Roman" panose="02020603050405020304" charset="0"/>
                        <a:cs typeface="Times New Roman" panose="020206030504050203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16865" y="1325880"/>
            <a:ext cx="11304270" cy="5169535"/>
          </a:xfrm>
          <a:prstGeom prst="rect">
            <a:avLst/>
          </a:prstGeom>
          <a:noFill/>
          <a:ln w="9525">
            <a:noFill/>
          </a:ln>
        </p:spPr>
        <p:txBody>
          <a:bodyPr wrap="square">
            <a:spAutoFit/>
          </a:bodyPr>
          <a:lstStyle/>
          <a:p>
            <a:pPr indent="266700" fontAlgn="auto">
              <a:lnSpc>
                <a:spcPct val="100000"/>
              </a:lnSpc>
            </a:pPr>
            <a:r>
              <a:rPr lang="en-US" altLang="zh-CN" sz="2200" b="1">
                <a:ea typeface="宋体" panose="02010600030101010101" pitchFamily="2" charset="-122"/>
              </a:rPr>
              <a:t>    </a:t>
            </a:r>
            <a:r>
              <a:rPr lang="zh-CN" sz="2200" b="1">
                <a:ea typeface="宋体" panose="02010600030101010101" pitchFamily="2" charset="-122"/>
              </a:rPr>
              <a:t>低功耗蓝牙的前身其实是</a:t>
            </a:r>
            <a:r>
              <a:rPr lang="en-US" sz="2200" b="1">
                <a:latin typeface="Times New Roman" panose="02020603050405020304" charset="0"/>
                <a:ea typeface="宋体" panose="02010600030101010101" pitchFamily="2" charset="-122"/>
              </a:rPr>
              <a:t>Nokia</a:t>
            </a:r>
            <a:r>
              <a:rPr lang="zh-CN" sz="2200" b="1">
                <a:ea typeface="宋体" panose="02010600030101010101" pitchFamily="2" charset="-122"/>
              </a:rPr>
              <a:t>开发的</a:t>
            </a:r>
            <a:r>
              <a:rPr lang="en-US" sz="2200" b="1">
                <a:latin typeface="Times New Roman" panose="02020603050405020304" charset="0"/>
                <a:ea typeface="宋体" panose="02010600030101010101" pitchFamily="2" charset="-122"/>
              </a:rPr>
              <a:t>Wibree</a:t>
            </a:r>
            <a:r>
              <a:rPr lang="zh-CN" sz="2200" b="1">
                <a:ea typeface="宋体" panose="02010600030101010101" pitchFamily="2" charset="-122"/>
              </a:rPr>
              <a:t>技术。该技术本是一项专为移动设备开发的极低功耗的移动无线通信技术，在被</a:t>
            </a:r>
            <a:r>
              <a:rPr lang="en-US" sz="2200" b="1">
                <a:latin typeface="Times New Roman" panose="02020603050405020304" charset="0"/>
                <a:ea typeface="宋体" panose="02010600030101010101" pitchFamily="2" charset="-122"/>
              </a:rPr>
              <a:t>SIG</a:t>
            </a:r>
            <a:r>
              <a:rPr lang="zh-CN" sz="2200" b="1">
                <a:ea typeface="宋体" panose="02010600030101010101" pitchFamily="2" charset="-122"/>
              </a:rPr>
              <a:t>接纳并规范化之后重新命名为</a:t>
            </a:r>
            <a:r>
              <a:rPr lang="en-US" sz="2200" b="1">
                <a:latin typeface="Times New Roman" panose="02020603050405020304" charset="0"/>
                <a:ea typeface="宋体" panose="02010600030101010101" pitchFamily="2" charset="-122"/>
              </a:rPr>
              <a:t>Bluetooth Low Energy(</a:t>
            </a:r>
            <a:r>
              <a:rPr lang="zh-CN" sz="2200" b="1">
                <a:ea typeface="宋体" panose="02010600030101010101" pitchFamily="2" charset="-122"/>
              </a:rPr>
              <a:t>即低功耗蓝牙</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。由于该技术专为极低电池量的装置而设计，仅通过普通纽扣电池供电便可确保正常使用长达一年，因此在包括医疗、工业控制、无线键盘、鼠标、单音耳机、无线遥控器等设备领域都得到</a:t>
            </a:r>
            <a:r>
              <a:rPr lang="zh-CN" sz="2200" b="1">
                <a:latin typeface="Times New Roman" panose="02020603050405020304" charset="0"/>
                <a:ea typeface="宋体" panose="02010600030101010101" pitchFamily="2" charset="-122"/>
              </a:rPr>
              <a:t>了</a:t>
            </a:r>
            <a:r>
              <a:rPr lang="zh-CN" sz="2200" b="1">
                <a:ea typeface="宋体" panose="02010600030101010101" pitchFamily="2" charset="-122"/>
              </a:rPr>
              <a:t>广泛应用。</a:t>
            </a:r>
            <a:r>
              <a:rPr lang="zh-CN" sz="2200" b="1">
                <a:latin typeface="Times New Roman" panose="02020603050405020304" charset="0"/>
                <a:ea typeface="宋体" panose="02010600030101010101" pitchFamily="2" charset="-122"/>
              </a:rPr>
              <a:t>譬</a:t>
            </a:r>
            <a:r>
              <a:rPr lang="zh-CN" sz="2200" b="1">
                <a:ea typeface="宋体" panose="02010600030101010101" pitchFamily="2" charset="-122"/>
              </a:rPr>
              <a:t>如装有计步器的运动鞋、装有脉搏量测的运动手环等，就可以通过低功耗蓝牙技术将监控信息传送到记录器</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可能是手表或是</a:t>
            </a:r>
            <a:r>
              <a:rPr lang="en-US" sz="2200" b="1">
                <a:latin typeface="Times New Roman" panose="02020603050405020304" charset="0"/>
                <a:ea typeface="宋体" panose="02010600030101010101" pitchFamily="2" charset="-122"/>
              </a:rPr>
              <a:t>PDA)</a:t>
            </a:r>
            <a:r>
              <a:rPr lang="zh-CN" sz="2200" b="1">
                <a:ea typeface="宋体" panose="02010600030101010101" pitchFamily="2" charset="-122"/>
              </a:rPr>
              <a:t>上，而不需像标准蓝牙设备一般需要常常充电。它易与其他蓝牙技术整合，既可补足蓝牙技术在无线个人区域网络</a:t>
            </a:r>
            <a:r>
              <a:rPr lang="en-US" sz="2200" b="1">
                <a:latin typeface="Times New Roman" panose="02020603050405020304" charset="0"/>
                <a:ea typeface="宋体" panose="02010600030101010101" pitchFamily="2" charset="-122"/>
              </a:rPr>
              <a:t>(PAN)</a:t>
            </a:r>
            <a:r>
              <a:rPr lang="zh-CN" sz="2200" b="1">
                <a:ea typeface="宋体" panose="02010600030101010101" pitchFamily="2" charset="-122"/>
              </a:rPr>
              <a:t>的应用，也能加强该技术为小型设备提供无线连接的能力。</a:t>
            </a:r>
            <a:endParaRPr lang="en-US" sz="2200" b="1">
              <a:latin typeface="Times New Roman" panose="02020603050405020304" charset="0"/>
              <a:ea typeface="宋体" panose="02010600030101010101" pitchFamily="2" charset="-122"/>
            </a:endParaRPr>
          </a:p>
          <a:p>
            <a:pPr indent="266700" fontAlgn="auto">
              <a:lnSpc>
                <a:spcPct val="100000"/>
              </a:lnSpc>
            </a:pPr>
            <a:r>
              <a:rPr lang="en-US" sz="2200" b="1">
                <a:latin typeface="Times New Roman" panose="02020603050405020304" charset="0"/>
                <a:ea typeface="宋体" panose="02010600030101010101" pitchFamily="2" charset="-122"/>
              </a:rPr>
              <a:t>    2.</a:t>
            </a:r>
            <a:r>
              <a:rPr lang="zh-CN" sz="2200" b="1">
                <a:ea typeface="宋体" panose="02010600030101010101" pitchFamily="2" charset="-122"/>
              </a:rPr>
              <a:t>应用模式</a:t>
            </a:r>
            <a:endParaRPr lang="zh-CN" sz="2200" b="1">
              <a:ea typeface="宋体" panose="02010600030101010101" pitchFamily="2" charset="-122"/>
            </a:endParaRPr>
          </a:p>
          <a:p>
            <a:pPr indent="266700" fontAlgn="auto">
              <a:lnSpc>
                <a:spcPct val="100000"/>
              </a:lnSpc>
            </a:pPr>
            <a:r>
              <a:rPr lang="en-US" altLang="zh-CN" sz="2200" b="1">
                <a:ea typeface="宋体" panose="02010600030101010101" pitchFamily="2" charset="-122"/>
              </a:rPr>
              <a:t>    </a:t>
            </a:r>
            <a:r>
              <a:rPr lang="zh-CN" sz="2200" b="1">
                <a:ea typeface="宋体" panose="02010600030101010101" pitchFamily="2" charset="-122"/>
              </a:rPr>
              <a:t>如果说</a:t>
            </a:r>
            <a:r>
              <a:rPr lang="en-US" sz="2200" b="1">
                <a:latin typeface="Times New Roman" panose="02020603050405020304" charset="0"/>
                <a:ea typeface="宋体" panose="02010600030101010101" pitchFamily="2" charset="-122"/>
              </a:rPr>
              <a:t>Wibree</a:t>
            </a:r>
            <a:r>
              <a:rPr lang="zh-CN" sz="2200" b="1">
                <a:ea typeface="宋体" panose="02010600030101010101" pitchFamily="2" charset="-122"/>
              </a:rPr>
              <a:t>的超低功耗奠定了一个技术上的基础，</a:t>
            </a:r>
            <a:r>
              <a:rPr lang="en-US" sz="2200" b="1">
                <a:latin typeface="Times New Roman" panose="02020603050405020304" charset="0"/>
                <a:ea typeface="宋体" panose="02010600030101010101" pitchFamily="2" charset="-122"/>
              </a:rPr>
              <a:t>Bluetooth 4.0</a:t>
            </a:r>
            <a:r>
              <a:rPr lang="zh-CN" sz="2200" b="1">
                <a:ea typeface="宋体" panose="02010600030101010101" pitchFamily="2" charset="-122"/>
              </a:rPr>
              <a:t>便拓展成为一种全新的应用模式。因为低功耗蓝牙提供了持久的无线连接且有效扩大相关应用产品的射程，在各种传感器和终端设备上采集到的信息通过低功耗蓝牙传送到</a:t>
            </a:r>
            <a:r>
              <a:rPr lang="zh-CN" sz="2200" b="1">
                <a:latin typeface="Times New Roman" panose="02020603050405020304" charset="0"/>
                <a:ea typeface="宋体" panose="02010600030101010101" pitchFamily="2" charset="-122"/>
              </a:rPr>
              <a:t>计算机</a:t>
            </a:r>
            <a:r>
              <a:rPr lang="zh-CN" sz="2200" b="1">
                <a:ea typeface="宋体" panose="02010600030101010101" pitchFamily="2" charset="-122"/>
              </a:rPr>
              <a:t>、手表、移动电话等具备计算和处理能力的主机设备中，再通过</a:t>
            </a:r>
            <a:r>
              <a:rPr lang="en-US" sz="2200" b="1">
                <a:latin typeface="Times New Roman" panose="02020603050405020304" charset="0"/>
                <a:ea typeface="宋体" panose="02010600030101010101" pitchFamily="2" charset="-122"/>
              </a:rPr>
              <a:t>GPRS</a:t>
            </a:r>
            <a:r>
              <a:rPr lang="zh-CN" sz="2200" b="1">
                <a:ea typeface="宋体" panose="02010600030101010101" pitchFamily="2" charset="-122"/>
              </a:rPr>
              <a:t>、</a:t>
            </a:r>
            <a:r>
              <a:rPr lang="en-US" sz="2200" b="1">
                <a:latin typeface="Times New Roman" panose="02020603050405020304" charset="0"/>
                <a:ea typeface="宋体" panose="02010600030101010101" pitchFamily="2" charset="-122"/>
              </a:rPr>
              <a:t>3G</a:t>
            </a:r>
            <a:r>
              <a:rPr lang="zh-CN" sz="2200" b="1">
                <a:ea typeface="宋体" panose="02010600030101010101" pitchFamily="2" charset="-122"/>
              </a:rPr>
              <a:t>、经典</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高速模式蓝牙或</a:t>
            </a:r>
            <a:r>
              <a:rPr lang="en-US" sz="2200" b="1">
                <a:latin typeface="Times New Roman" panose="02020603050405020304" charset="0"/>
                <a:ea typeface="宋体" panose="02010600030101010101" pitchFamily="2" charset="-122"/>
              </a:rPr>
              <a:t>WLAN</a:t>
            </a:r>
            <a:r>
              <a:rPr lang="zh-CN" sz="2200" b="1">
                <a:ea typeface="宋体" panose="02010600030101010101" pitchFamily="2" charset="-122"/>
              </a:rPr>
              <a:t>等传统无线网络应用与相应的</a:t>
            </a:r>
            <a:r>
              <a:rPr lang="en-US" sz="2200" b="1">
                <a:latin typeface="Times New Roman" panose="02020603050405020304" charset="0"/>
                <a:ea typeface="宋体" panose="02010600030101010101" pitchFamily="2" charset="-122"/>
              </a:rPr>
              <a:t>Web</a:t>
            </a:r>
            <a:r>
              <a:rPr lang="zh-CN" sz="2200" b="1">
                <a:ea typeface="宋体" panose="02010600030101010101" pitchFamily="2" charset="-122"/>
              </a:rPr>
              <a:t>服务关联，从而从根本上解决当前传统网络应用在模式上的局限性和交互手段匮乏、数据来源少、实时性差等问题。</a:t>
            </a:r>
            <a:endParaRPr lang="zh-CN" altLang="en-US" sz="2200" b="1"/>
          </a:p>
        </p:txBody>
      </p:sp>
      <p:sp>
        <p:nvSpPr>
          <p:cNvPr id="4" name="标题 1"/>
          <p:cNvSpPr>
            <a:spLocks noGrp="1"/>
          </p:cNvSpPr>
          <p:nvPr>
            <p:ph type="title"/>
          </p:nvPr>
        </p:nvSpPr>
        <p:spPr>
          <a:xfrm>
            <a:off x="47942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70205" y="1232535"/>
            <a:ext cx="11451590" cy="5200650"/>
          </a:xfrm>
          <a:prstGeom prst="rect">
            <a:avLst/>
          </a:prstGeom>
          <a:noFill/>
          <a:ln w="9525">
            <a:noFill/>
          </a:ln>
        </p:spPr>
        <p:txBody>
          <a:bodyPr wrap="square">
            <a:spAutoFit/>
          </a:bodyPr>
          <a:lstStyle/>
          <a:p>
            <a:pPr indent="266700" fontAlgn="auto">
              <a:lnSpc>
                <a:spcPct val="100000"/>
              </a:lnSpc>
            </a:pPr>
            <a:r>
              <a:rPr lang="en-US" altLang="zh-CN" sz="2400" b="1">
                <a:ea typeface="宋体" panose="02010600030101010101" pitchFamily="2" charset="-122"/>
              </a:rPr>
              <a:t>    </a:t>
            </a:r>
            <a:r>
              <a:rPr lang="zh-CN" sz="2200" b="1">
                <a:ea typeface="宋体" panose="02010600030101010101" pitchFamily="2" charset="-122"/>
              </a:rPr>
              <a:t>根据</a:t>
            </a:r>
            <a:r>
              <a:rPr lang="en-US" sz="2200" b="1">
                <a:latin typeface="Times New Roman" panose="02020603050405020304" charset="0"/>
                <a:ea typeface="宋体" panose="02010600030101010101" pitchFamily="2" charset="-122"/>
              </a:rPr>
              <a:t>Bluetooth SIG</a:t>
            </a:r>
            <a:r>
              <a:rPr lang="zh-CN" sz="2200" b="1">
                <a:ea typeface="宋体" panose="02010600030101010101" pitchFamily="2" charset="-122"/>
              </a:rPr>
              <a:t>发布的</a:t>
            </a:r>
            <a:r>
              <a:rPr lang="en-US" sz="2200" b="1">
                <a:latin typeface="Times New Roman" panose="02020603050405020304" charset="0"/>
                <a:ea typeface="宋体" panose="02010600030101010101" pitchFamily="2" charset="-122"/>
              </a:rPr>
              <a:t>Bluetooth 4.0</a:t>
            </a:r>
            <a:r>
              <a:rPr lang="zh-CN" sz="2200" b="1">
                <a:ea typeface="宋体" panose="02010600030101010101" pitchFamily="2" charset="-122"/>
              </a:rPr>
              <a:t>核心规范白皮书，</a:t>
            </a:r>
            <a:r>
              <a:rPr lang="en-US" sz="2200" b="1">
                <a:latin typeface="Times New Roman" panose="02020603050405020304" charset="0"/>
                <a:ea typeface="宋体" panose="02010600030101010101" pitchFamily="2" charset="-122"/>
              </a:rPr>
              <a:t>Bluetooth 4.0</a:t>
            </a:r>
            <a:r>
              <a:rPr lang="zh-CN" sz="2200" b="1">
                <a:ea typeface="宋体" panose="02010600030101010101" pitchFamily="2" charset="-122"/>
              </a:rPr>
              <a:t>低功耗模式有双模式和单模式两种单模式蓝牙的技术特点通过低功率无线电波传输数据，其本质是一种支持设备短距离通信</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一般是</a:t>
            </a:r>
            <a:r>
              <a:rPr lang="en-US" sz="2200" b="1">
                <a:latin typeface="Times New Roman" panose="02020603050405020304" charset="0"/>
                <a:ea typeface="宋体" panose="02010600030101010101" pitchFamily="2" charset="-122"/>
              </a:rPr>
              <a:t>10m</a:t>
            </a:r>
            <a:r>
              <a:rPr lang="zh-CN" sz="2200" b="1">
                <a:ea typeface="宋体" panose="02010600030101010101" pitchFamily="2" charset="-122"/>
              </a:rPr>
              <a:t>之内</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的无线电技术。其标准是</a:t>
            </a:r>
            <a:r>
              <a:rPr lang="en-US" sz="2200" b="1">
                <a:latin typeface="Times New Roman" panose="02020603050405020304" charset="0"/>
                <a:ea typeface="宋体" panose="02010600030101010101" pitchFamily="2" charset="-122"/>
              </a:rPr>
              <a:t>IEEE 802.15</a:t>
            </a:r>
            <a:r>
              <a:rPr lang="zh-CN" sz="2200" b="1">
                <a:ea typeface="宋体" panose="02010600030101010101" pitchFamily="2" charset="-122"/>
              </a:rPr>
              <a:t>，工作在</a:t>
            </a:r>
            <a:r>
              <a:rPr lang="en-US" sz="2200" b="1">
                <a:latin typeface="Times New Roman" panose="02020603050405020304" charset="0"/>
                <a:ea typeface="宋体" panose="02010600030101010101" pitchFamily="2" charset="-122"/>
              </a:rPr>
              <a:t>2.402~2.480GHz</a:t>
            </a:r>
            <a:r>
              <a:rPr lang="zh-CN" sz="2200" b="1">
                <a:ea typeface="宋体" panose="02010600030101010101" pitchFamily="2" charset="-122"/>
              </a:rPr>
              <a:t>频率</a:t>
            </a:r>
            <a:r>
              <a:rPr lang="zh-CN" sz="2200" b="1">
                <a:latin typeface="Times New Roman" panose="02020603050405020304" charset="0"/>
                <a:ea typeface="宋体" panose="02010600030101010101" pitchFamily="2" charset="-122"/>
              </a:rPr>
              <a:t>范围</a:t>
            </a:r>
            <a:r>
              <a:rPr lang="zh-CN" sz="2200" b="1">
                <a:ea typeface="宋体" panose="02010600030101010101" pitchFamily="2" charset="-122"/>
              </a:rPr>
              <a:t>，基础带宽为</a:t>
            </a:r>
            <a:r>
              <a:rPr lang="en-US" sz="2200" b="1">
                <a:latin typeface="Times New Roman" panose="02020603050405020304" charset="0"/>
                <a:ea typeface="宋体" panose="02010600030101010101" pitchFamily="2" charset="-122"/>
              </a:rPr>
              <a:t>1 Mb/s</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与</a:t>
            </a:r>
            <a:r>
              <a:rPr lang="en-US" sz="2200" b="1">
                <a:latin typeface="Times New Roman" panose="02020603050405020304" charset="0"/>
                <a:ea typeface="宋体" panose="02010600030101010101" pitchFamily="2" charset="-122"/>
              </a:rPr>
              <a:t>Wi-Fi</a:t>
            </a:r>
            <a:r>
              <a:rPr lang="zh-CN" sz="2200" b="1">
                <a:ea typeface="宋体" panose="02010600030101010101" pitchFamily="2" charset="-122"/>
              </a:rPr>
              <a:t>、</a:t>
            </a:r>
            <a:r>
              <a:rPr lang="en-US" sz="2200" b="1">
                <a:latin typeface="Times New Roman" panose="02020603050405020304" charset="0"/>
                <a:ea typeface="宋体" panose="02010600030101010101" pitchFamily="2" charset="-122"/>
              </a:rPr>
              <a:t>WiMAX</a:t>
            </a:r>
            <a:r>
              <a:rPr lang="zh-CN" sz="2200" b="1">
                <a:ea typeface="宋体" panose="02010600030101010101" pitchFamily="2" charset="-122"/>
              </a:rPr>
              <a:t>等用于局域、城域的无线网络规范不同的是，</a:t>
            </a:r>
            <a:r>
              <a:rPr lang="en-US" sz="2200" b="1">
                <a:latin typeface="Times New Roman" panose="02020603050405020304" charset="0"/>
                <a:ea typeface="宋体" panose="02010600030101010101" pitchFamily="2" charset="-122"/>
              </a:rPr>
              <a:t>Bluetooth </a:t>
            </a:r>
            <a:r>
              <a:rPr lang="zh-CN" sz="2200" b="1">
                <a:ea typeface="宋体" panose="02010600030101010101" pitchFamily="2" charset="-122"/>
              </a:rPr>
              <a:t>所定义的应用范围更小一些，它将应用锁定在</a:t>
            </a:r>
            <a:r>
              <a:rPr lang="zh-CN" sz="2200" b="1">
                <a:latin typeface="Times New Roman" panose="02020603050405020304" charset="0"/>
                <a:ea typeface="宋体" panose="02010600030101010101" pitchFamily="2" charset="-122"/>
              </a:rPr>
              <a:t>一</a:t>
            </a:r>
            <a:r>
              <a:rPr lang="zh-CN" sz="2200" b="1">
                <a:ea typeface="宋体" panose="02010600030101010101" pitchFamily="2" charset="-122"/>
              </a:rPr>
              <a:t>个以个人为单位的人域网</a:t>
            </a:r>
            <a:r>
              <a:rPr lang="en-US" sz="2200" b="1">
                <a:latin typeface="Times New Roman" panose="02020603050405020304" charset="0"/>
                <a:ea typeface="宋体" panose="02010600030101010101" pitchFamily="2" charset="-122"/>
              </a:rPr>
              <a:t>(PAN)</a:t>
            </a:r>
            <a:r>
              <a:rPr lang="zh-CN" sz="2200" b="1">
                <a:ea typeface="宋体" panose="02010600030101010101" pitchFamily="2" charset="-122"/>
              </a:rPr>
              <a:t>领域，也就是个人起居活动的方圆</a:t>
            </a:r>
            <a:r>
              <a:rPr lang="en-US" sz="2200" b="1">
                <a:latin typeface="Times New Roman" panose="02020603050405020304" charset="0"/>
                <a:ea typeface="宋体" panose="02010600030101010101" pitchFamily="2" charset="-122"/>
              </a:rPr>
              <a:t>10m</a:t>
            </a:r>
            <a:r>
              <a:rPr lang="zh-CN" sz="2200" b="1">
                <a:ea typeface="宋体" panose="02010600030101010101" pitchFamily="2" charset="-122"/>
              </a:rPr>
              <a:t>范围之内。该区域容纳了包括音频、互联网、移动通信、文件传输等在内的非常多样化的应用取向，加上强调自动化和易操作性，因此蓝牙在这一领域里很快得到了普及。必须指出，因为低功耗蓝牙在应用模式上的革命性提升，对于将催生的应用模式完全无法进行预估，因此它将拓展出的应用市场绝不会是一个成熟的</a:t>
            </a:r>
            <a:r>
              <a:rPr lang="zh-CN" sz="2200" b="1">
                <a:solidFill>
                  <a:srgbClr val="FF0000"/>
                </a:solidFill>
                <a:ea typeface="宋体" panose="02010600030101010101" pitchFamily="2" charset="-122"/>
              </a:rPr>
              <a:t>利基</a:t>
            </a:r>
            <a:r>
              <a:rPr lang="zh-CN" sz="2200" b="1">
                <a:ea typeface="宋体" panose="02010600030101010101" pitchFamily="2" charset="-122"/>
              </a:rPr>
              <a:t>市场，而将是一片真正意义上的新领域。</a:t>
            </a:r>
            <a:endParaRPr lang="en-US" sz="2200" b="1">
              <a:latin typeface="Times New Roman" panose="02020603050405020304" charset="0"/>
              <a:ea typeface="宋体" panose="02010600030101010101" pitchFamily="2" charset="-122"/>
            </a:endParaRPr>
          </a:p>
          <a:p>
            <a:pPr indent="266700" fontAlgn="auto">
              <a:lnSpc>
                <a:spcPct val="100000"/>
              </a:lnSpc>
            </a:pPr>
            <a:r>
              <a:rPr lang="en-US" sz="2200" b="1">
                <a:latin typeface="Times New Roman" panose="02020603050405020304" charset="0"/>
                <a:ea typeface="宋体" panose="02010600030101010101" pitchFamily="2" charset="-122"/>
              </a:rPr>
              <a:t>     3.</a:t>
            </a:r>
            <a:r>
              <a:rPr lang="zh-CN" sz="2200" b="1">
                <a:ea typeface="宋体" panose="02010600030101010101" pitchFamily="2" charset="-122"/>
              </a:rPr>
              <a:t>协议架构</a:t>
            </a:r>
            <a:endParaRPr lang="zh-CN" sz="2200" b="1">
              <a:ea typeface="宋体" panose="02010600030101010101" pitchFamily="2" charset="-122"/>
            </a:endParaRPr>
          </a:p>
          <a:p>
            <a:pPr indent="266700" fontAlgn="auto">
              <a:lnSpc>
                <a:spcPct val="100000"/>
              </a:lnSpc>
            </a:pPr>
            <a:r>
              <a:rPr lang="en-US" altLang="zh-CN" sz="2200" b="1">
                <a:ea typeface="宋体" panose="02010600030101010101" pitchFamily="2" charset="-122"/>
              </a:rPr>
              <a:t>    </a:t>
            </a:r>
            <a:r>
              <a:rPr lang="zh-CN" sz="2200" b="1">
                <a:ea typeface="宋体" panose="02010600030101010101" pitchFamily="2" charset="-122"/>
              </a:rPr>
              <a:t>因为蓝牙所用的频带仍处于应用繁多的</a:t>
            </a:r>
            <a:r>
              <a:rPr lang="en-US" sz="2200" b="1">
                <a:latin typeface="Times New Roman" panose="02020603050405020304" charset="0"/>
                <a:ea typeface="宋体" panose="02010600030101010101" pitchFamily="2" charset="-122"/>
              </a:rPr>
              <a:t>2.4GHz</a:t>
            </a:r>
            <a:r>
              <a:rPr lang="zh-CN" sz="2200" b="1">
                <a:ea typeface="宋体" panose="02010600030101010101" pitchFamily="2" charset="-122"/>
              </a:rPr>
              <a:t>无线电频率范围附近，为达到最大限度地避免设备间的相互干扰的目的，设计人员从蓝牙的实际应用出发，将信号功率设计 得非常微弱，仅为手机信号的数千分之一，这样设备间的距离就只能保持在约</a:t>
            </a:r>
            <a:r>
              <a:rPr lang="en-US" sz="2200" b="1">
                <a:latin typeface="Times New Roman" panose="02020603050405020304" charset="0"/>
                <a:ea typeface="宋体" panose="02010600030101010101" pitchFamily="2" charset="-122"/>
              </a:rPr>
              <a:t>10 m</a:t>
            </a:r>
            <a:r>
              <a:rPr lang="zh-CN" sz="2200" b="1">
                <a:ea typeface="宋体" panose="02010600030101010101" pitchFamily="2" charset="-122"/>
              </a:rPr>
              <a:t>范围内，从而避免了和移动电话、电视机等设备间的相互干扰。</a:t>
            </a:r>
            <a:endParaRPr lang="zh-CN" altLang="en-US" sz="2200" b="1"/>
          </a:p>
        </p:txBody>
      </p:sp>
      <p:sp>
        <p:nvSpPr>
          <p:cNvPr id="4" name="标题 1"/>
          <p:cNvSpPr>
            <a:spLocks noGrp="1"/>
          </p:cNvSpPr>
          <p:nvPr>
            <p:ph type="title"/>
          </p:nvPr>
        </p:nvSpPr>
        <p:spPr>
          <a:xfrm>
            <a:off x="4591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22885" y="1195070"/>
            <a:ext cx="11746230" cy="5631180"/>
          </a:xfrm>
          <a:prstGeom prst="rect">
            <a:avLst/>
          </a:prstGeom>
          <a:noFill/>
          <a:ln w="9525">
            <a:noFill/>
          </a:ln>
        </p:spPr>
        <p:txBody>
          <a:bodyPr wrap="square">
            <a:spAutoFit/>
          </a:bodyPr>
          <a:lstStyle/>
          <a:p>
            <a:pPr indent="266700" fontAlgn="auto">
              <a:lnSpc>
                <a:spcPct val="100000"/>
              </a:lnSpc>
            </a:pPr>
            <a:r>
              <a:rPr lang="en-US" altLang="zh-CN" sz="2000" b="1">
                <a:ea typeface="宋体" panose="02010600030101010101" pitchFamily="2" charset="-122"/>
              </a:rPr>
              <a:t>   </a:t>
            </a:r>
            <a:r>
              <a:rPr lang="zh-CN" sz="2000" b="1">
                <a:ea typeface="宋体" panose="02010600030101010101" pitchFamily="2" charset="-122"/>
              </a:rPr>
              <a:t>蓝牙协议被设计为同时允许最多</a:t>
            </a:r>
            <a:r>
              <a:rPr lang="en-US" sz="2000" b="1">
                <a:latin typeface="Times New Roman" panose="02020603050405020304" charset="0"/>
                <a:ea typeface="宋体" panose="02010600030101010101" pitchFamily="2" charset="-122"/>
              </a:rPr>
              <a:t>8</a:t>
            </a:r>
            <a:r>
              <a:rPr lang="zh-CN" sz="2000" b="1">
                <a:ea typeface="宋体" panose="02010600030101010101" pitchFamily="2" charset="-122"/>
              </a:rPr>
              <a:t>个蓝牙设备互连，因此协议需要解决的另一个问题就是如何处理同在有效传输范围内的这些蓝牙设备之间的相互干扰，这一问题的解决催生了蓝牙协议最具独创性的通信方式</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调节性跳频技术。 它定义了</a:t>
            </a:r>
            <a:r>
              <a:rPr lang="en-US" sz="2000" b="1">
                <a:latin typeface="Times New Roman" panose="02020603050405020304" charset="0"/>
                <a:ea typeface="宋体" panose="02010600030101010101" pitchFamily="2" charset="-122"/>
              </a:rPr>
              <a:t>79</a:t>
            </a:r>
            <a:r>
              <a:rPr lang="zh-CN" sz="2000" b="1">
                <a:ea typeface="宋体" panose="02010600030101010101" pitchFamily="2" charset="-122"/>
              </a:rPr>
              <a:t>个独立且可随机选择的有效通信频率，每个蓝牙设备都能使用其中任何一个频率，且能有规律地随时跳往另一个频率，按协议规范，这样的频率跳转每秒钟会发生</a:t>
            </a:r>
            <a:r>
              <a:rPr lang="en-US" sz="2000" b="1">
                <a:latin typeface="Times New Roman" panose="02020603050405020304" charset="0"/>
                <a:ea typeface="宋体" panose="02010600030101010101" pitchFamily="2" charset="-122"/>
              </a:rPr>
              <a:t>1600</a:t>
            </a:r>
            <a:r>
              <a:rPr lang="zh-CN" sz="2000" b="1">
                <a:ea typeface="宋体" panose="02010600030101010101" pitchFamily="2" charset="-122"/>
              </a:rPr>
              <a:t>次，因此不太可能出现两个发射器使用相同频率的情况。即使在特定频率下有任何干扰</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其持续时间也不到千分之一秒</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因此该技术同时还将外界干扰对蓝牙设备间通信的影响降到最小。</a:t>
            </a:r>
            <a:r>
              <a:rPr lang="zh-CN" sz="2000" b="1">
                <a:latin typeface="Times New Roman" panose="02020603050405020304" charset="0"/>
                <a:ea typeface="宋体" panose="02010600030101010101" pitchFamily="2" charset="-122"/>
              </a:rPr>
              <a:t>在</a:t>
            </a:r>
            <a:r>
              <a:rPr lang="zh-CN" sz="2000" b="1">
                <a:ea typeface="宋体" panose="02010600030101010101" pitchFamily="2" charset="-122"/>
              </a:rPr>
              <a:t>两个蓝牙设备间通信时</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两个蓝牙设备互相靠近</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它们之间会发生电子会话以交流需求。这一会话过程无需用户参与</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而一旦需求确认</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设备间便会自动确认地址并组成一个被称为微微网</a:t>
            </a:r>
            <a:r>
              <a:rPr lang="en-US" sz="2000" b="1">
                <a:latin typeface="Times New Roman" panose="02020603050405020304" charset="0"/>
                <a:ea typeface="宋体" panose="02010600030101010101" pitchFamily="2" charset="-122"/>
              </a:rPr>
              <a:t>(Piconet)</a:t>
            </a:r>
            <a:r>
              <a:rPr lang="zh-CN" sz="2000" b="1">
                <a:ea typeface="宋体" panose="02010600030101010101" pitchFamily="2" charset="-122"/>
              </a:rPr>
              <a:t>的微型网络</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此网络一旦形成</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组成网络的设备便可协商好和谐地随机跳频</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以确保彼此间的联系</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且不会对其他信号构成干扰。</a:t>
            </a:r>
            <a:endParaRPr lang="zh-CN" sz="2000" b="1">
              <a:ea typeface="宋体" panose="02010600030101010101" pitchFamily="2" charset="-122"/>
            </a:endParaRPr>
          </a:p>
          <a:p>
            <a:pPr indent="266700" fontAlgn="auto">
              <a:lnSpc>
                <a:spcPct val="100000"/>
              </a:lnSpc>
            </a:pPr>
            <a:r>
              <a:rPr lang="en-US" altLang="zh-CN" sz="2000" b="1">
                <a:ea typeface="宋体" panose="02010600030101010101" pitchFamily="2" charset="-122"/>
              </a:rPr>
              <a:t>     </a:t>
            </a:r>
            <a:r>
              <a:rPr lang="zh-CN" sz="2000" b="1">
                <a:ea typeface="宋体" panose="02010600030101010101" pitchFamily="2" charset="-122"/>
              </a:rPr>
              <a:t>蓝牙标准从制定之初便被定义成为个人区域内的无线通信制定的协议。它包括两部分</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第一部分为协议核心</a:t>
            </a:r>
            <a:r>
              <a:rPr lang="en-US" sz="2000" b="1">
                <a:latin typeface="Times New Roman" panose="02020603050405020304" charset="0"/>
                <a:ea typeface="宋体" panose="02010600030101010101" pitchFamily="2" charset="-122"/>
              </a:rPr>
              <a:t>(Core)</a:t>
            </a:r>
            <a:r>
              <a:rPr lang="zh-CN" sz="2000" b="1">
                <a:ea typeface="宋体" panose="02010600030101010101" pitchFamily="2" charset="-122"/>
              </a:rPr>
              <a:t>部分</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用来规定诸如射频、基带、链路管理、服务发现、传输层以及与其他通信协议间的互用、互操作性等基本组件及方法</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第二部分为协议子集</a:t>
            </a:r>
            <a:r>
              <a:rPr lang="en-US" sz="2000" b="1">
                <a:latin typeface="Times New Roman" panose="02020603050405020304" charset="0"/>
                <a:ea typeface="宋体" panose="02010600030101010101" pitchFamily="2" charset="-122"/>
              </a:rPr>
              <a:t>(</a:t>
            </a:r>
            <a:r>
              <a:rPr lang="en-US" sz="2000" b="1">
                <a:solidFill>
                  <a:srgbClr val="000000"/>
                </a:solidFill>
                <a:latin typeface="Times New Roman" panose="02020603050405020304" charset="0"/>
                <a:ea typeface="宋体" panose="02010600030101010101" pitchFamily="2" charset="-122"/>
              </a:rPr>
              <a:t>Profile</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部分</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用来规定不同蓝牙应用</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也称使用模式</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所需的协议和过程。</a:t>
            </a:r>
            <a:r>
              <a:rPr lang="zh-CN" sz="2000" b="1">
                <a:latin typeface="Times New Roman" panose="02020603050405020304" charset="0"/>
                <a:ea typeface="宋体" panose="02010600030101010101" pitchFamily="2" charset="-122"/>
              </a:rPr>
              <a:t>如</a:t>
            </a: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3-5-8</a:t>
            </a:r>
            <a:r>
              <a:rPr lang="zh-CN" sz="2000" b="1">
                <a:ea typeface="宋体" panose="02010600030101010101" pitchFamily="2" charset="-122"/>
              </a:rPr>
              <a:t>所示为蓝牙标准模块构成。蓝牙标准的设计采用从下至上的分层式结构</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以人机接口</a:t>
            </a:r>
            <a:r>
              <a:rPr lang="en-US" sz="2000" b="1">
                <a:latin typeface="Times New Roman" panose="02020603050405020304" charset="0"/>
                <a:ea typeface="宋体" panose="02010600030101010101" pitchFamily="2" charset="-122"/>
              </a:rPr>
              <a:t>(</a:t>
            </a:r>
            <a:r>
              <a:rPr lang="en-US" sz="2000" b="1">
                <a:solidFill>
                  <a:srgbClr val="000000"/>
                </a:solidFill>
                <a:latin typeface="Times New Roman" panose="02020603050405020304" charset="0"/>
                <a:ea typeface="宋体" panose="02010600030101010101" pitchFamily="2" charset="-122"/>
              </a:rPr>
              <a:t>Host Controller Interface</a:t>
            </a:r>
            <a:r>
              <a:rPr lang="en-US" sz="2000" b="1">
                <a:latin typeface="Times New Roman" panose="02020603050405020304" charset="0"/>
                <a:ea typeface="宋体" panose="02010600030101010101" pitchFamily="2" charset="-122"/>
              </a:rPr>
              <a:t>, HCI)</a:t>
            </a:r>
            <a:r>
              <a:rPr lang="zh-CN" sz="2000" b="1">
                <a:ea typeface="宋体" panose="02010600030101010101" pitchFamily="2" charset="-122"/>
              </a:rPr>
              <a:t>为界分为低层和高层协议。其中</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底层的基带</a:t>
            </a:r>
            <a:r>
              <a:rPr lang="en-US" sz="2000" b="1">
                <a:latin typeface="Times New Roman" panose="02020603050405020304" charset="0"/>
                <a:ea typeface="宋体" panose="02010600030101010101" pitchFamily="2" charset="-122"/>
              </a:rPr>
              <a:t>(Baseband)</a:t>
            </a:r>
            <a:r>
              <a:rPr lang="zh-CN" sz="2000" b="1">
                <a:ea typeface="宋体" panose="02010600030101010101" pitchFamily="2" charset="-122"/>
              </a:rPr>
              <a:t>、射频</a:t>
            </a:r>
            <a:r>
              <a:rPr lang="en-US" sz="2000" b="1">
                <a:latin typeface="Times New Roman" panose="02020603050405020304" charset="0"/>
                <a:ea typeface="宋体" panose="02010600030101010101" pitchFamily="2" charset="-122"/>
              </a:rPr>
              <a:t>(</a:t>
            </a:r>
            <a:r>
              <a:rPr lang="en-US" sz="2000" b="1">
                <a:solidFill>
                  <a:srgbClr val="000000"/>
                </a:solidFill>
                <a:latin typeface="Times New Roman" panose="02020603050405020304" charset="0"/>
                <a:ea typeface="宋体" panose="02010600030101010101" pitchFamily="2" charset="-122"/>
              </a:rPr>
              <a:t>Bluetooth Radio</a:t>
            </a:r>
            <a:r>
              <a:rPr lang="en-US" sz="2000" b="1">
                <a:latin typeface="Times New Roman" panose="02020603050405020304" charset="0"/>
                <a:ea typeface="宋体" panose="02010600030101010101" pitchFamily="2" charset="-122"/>
              </a:rPr>
              <a:t>)</a:t>
            </a:r>
            <a:r>
              <a:rPr lang="zh-CN" sz="2000" b="1">
                <a:ea typeface="宋体" panose="02010600030101010101" pitchFamily="2" charset="-122"/>
              </a:rPr>
              <a:t>和链路管理层</a:t>
            </a:r>
            <a:r>
              <a:rPr lang="en-US" sz="2000" b="1">
                <a:latin typeface="Times New Roman" panose="02020603050405020304" charset="0"/>
                <a:ea typeface="宋体" panose="02010600030101010101" pitchFamily="2" charset="-122"/>
              </a:rPr>
              <a:t>(LMP)</a:t>
            </a:r>
            <a:r>
              <a:rPr lang="zh-CN" sz="2000" b="1">
                <a:ea typeface="宋体" panose="02010600030101010101" pitchFamily="2" charset="-122"/>
              </a:rPr>
              <a:t>协议定义了完成数据流的过滤和功能组件是一个高度集成的装置</a:t>
            </a:r>
            <a:r>
              <a:rPr lang="zh-CN" sz="2000" b="1">
                <a:latin typeface="Times New Roman" panose="02020603050405020304" charset="0"/>
                <a:ea typeface="宋体" panose="02010600030101010101" pitchFamily="2" charset="-122"/>
              </a:rPr>
              <a:t>，</a:t>
            </a:r>
            <a:r>
              <a:rPr lang="zh-CN" sz="2000" b="1">
                <a:ea typeface="宋体" panose="02010600030101010101" pitchFamily="2" charset="-122"/>
              </a:rPr>
              <a:t>具备轻量的链路层</a:t>
            </a:r>
            <a:r>
              <a:rPr lang="en-US" sz="2000" b="1">
                <a:latin typeface="Times New Roman" panose="02020603050405020304" charset="0"/>
                <a:ea typeface="宋体" panose="02010600030101010101" pitchFamily="2" charset="-122"/>
              </a:rPr>
              <a:t>(Link Layer)</a:t>
            </a:r>
            <a:r>
              <a:rPr lang="zh-CN" sz="2000" b="1">
                <a:ea typeface="宋体" panose="02010600030101010101" pitchFamily="2" charset="-122"/>
              </a:rPr>
              <a:t>。能在最低成本的前提下支持低功耗的待机模式、简易的设备发现、可靠的点对多点的数据传输、安全的加密连接等。</a:t>
            </a:r>
            <a:endParaRPr lang="zh-CN" altLang="en-US" sz="2000" b="1"/>
          </a:p>
        </p:txBody>
      </p:sp>
      <p:sp>
        <p:nvSpPr>
          <p:cNvPr id="4" name="标题 1"/>
          <p:cNvSpPr>
            <a:spLocks noGrp="1"/>
          </p:cNvSpPr>
          <p:nvPr>
            <p:ph type="title"/>
          </p:nvPr>
        </p:nvSpPr>
        <p:spPr>
          <a:xfrm>
            <a:off x="4591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18515" y="1325880"/>
            <a:ext cx="9443085" cy="829945"/>
          </a:xfrm>
          <a:prstGeom prst="rect">
            <a:avLst/>
          </a:prstGeom>
          <a:noFill/>
        </p:spPr>
        <p:txBody>
          <a:bodyPr wrap="square" rtlCol="0" anchor="t">
            <a:spAutoFit/>
          </a:bodyPr>
          <a:lstStyle/>
          <a:p>
            <a:pPr indent="266700" fontAlgn="auto">
              <a:lnSpc>
                <a:spcPct val="100000"/>
              </a:lnSpc>
            </a:pPr>
            <a:r>
              <a:rPr lang="en-US" altLang="zh-CN" sz="2400" b="1">
                <a:ea typeface="宋体" panose="02010600030101010101" pitchFamily="2" charset="-122"/>
                <a:sym typeface="+mn-ea"/>
              </a:rPr>
              <a:t>     </a:t>
            </a:r>
            <a:r>
              <a:rPr lang="zh-CN" sz="2400" b="1">
                <a:ea typeface="宋体" panose="02010600030101010101" pitchFamily="2" charset="-122"/>
                <a:sym typeface="+mn-ea"/>
              </a:rPr>
              <a:t>这些协议位于上述控制器中的链路层</a:t>
            </a:r>
            <a:r>
              <a:rPr lang="zh-CN" sz="2400" b="1">
                <a:latin typeface="Times New Roman" panose="02020603050405020304" charset="0"/>
                <a:ea typeface="宋体" panose="02010600030101010101" pitchFamily="2" charset="-122"/>
                <a:sym typeface="+mn-ea"/>
              </a:rPr>
              <a:t>，</a:t>
            </a:r>
            <a:r>
              <a:rPr lang="zh-CN" sz="2400" b="1">
                <a:ea typeface="宋体" panose="02010600030101010101" pitchFamily="2" charset="-122"/>
                <a:sym typeface="+mn-ea"/>
              </a:rPr>
              <a:t>适用于网络连接传感器</a:t>
            </a:r>
            <a:r>
              <a:rPr lang="zh-CN" sz="2400" b="1">
                <a:latin typeface="Times New Roman" panose="02020603050405020304" charset="0"/>
                <a:ea typeface="宋体" panose="02010600030101010101" pitchFamily="2" charset="-122"/>
                <a:sym typeface="+mn-ea"/>
              </a:rPr>
              <a:t>，</a:t>
            </a:r>
            <a:r>
              <a:rPr lang="zh-CN" sz="2400" b="1">
                <a:ea typeface="宋体" panose="02010600030101010101" pitchFamily="2" charset="-122"/>
                <a:sym typeface="+mn-ea"/>
              </a:rPr>
              <a:t>并确保在无线传输中都能通过低功耗蓝牙传输。</a:t>
            </a:r>
            <a:endParaRPr lang="zh-CN" altLang="en-US" sz="2400" b="1"/>
          </a:p>
        </p:txBody>
      </p:sp>
      <p:pic>
        <p:nvPicPr>
          <p:cNvPr id="7" name="图片 141"/>
          <p:cNvPicPr>
            <a:picLocks noChangeAspect="1"/>
          </p:cNvPicPr>
          <p:nvPr/>
        </p:nvPicPr>
        <p:blipFill>
          <a:blip r:embed="rId1"/>
          <a:stretch>
            <a:fillRect/>
          </a:stretch>
        </p:blipFill>
        <p:spPr>
          <a:xfrm>
            <a:off x="3405505" y="2155825"/>
            <a:ext cx="5192395" cy="3606800"/>
          </a:xfrm>
          <a:prstGeom prst="rect">
            <a:avLst/>
          </a:prstGeom>
          <a:noFill/>
          <a:ln>
            <a:noFill/>
          </a:ln>
        </p:spPr>
      </p:pic>
      <p:sp>
        <p:nvSpPr>
          <p:cNvPr id="100" name="文本框 99"/>
          <p:cNvSpPr txBox="1"/>
          <p:nvPr/>
        </p:nvSpPr>
        <p:spPr>
          <a:xfrm>
            <a:off x="3314065" y="5863590"/>
            <a:ext cx="5080000" cy="398780"/>
          </a:xfrm>
          <a:prstGeom prst="rect">
            <a:avLst/>
          </a:prstGeom>
          <a:noFill/>
          <a:ln w="9525">
            <a:noFill/>
          </a:ln>
        </p:spPr>
        <p:txBody>
          <a:bodyPr>
            <a:spAutoFit/>
          </a:bodyPr>
          <a:lstStyle/>
          <a:p>
            <a:pPr indent="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3-5-8 </a:t>
            </a:r>
            <a:r>
              <a:rPr lang="zh-CN" sz="2000" b="1">
                <a:ea typeface="宋体" panose="02010600030101010101" pitchFamily="2" charset="-122"/>
              </a:rPr>
              <a:t>蓝牙标准模块构成</a:t>
            </a:r>
            <a:endParaRPr lang="zh-CN" altLang="en-US" sz="2000" b="1"/>
          </a:p>
        </p:txBody>
      </p:sp>
      <p:sp>
        <p:nvSpPr>
          <p:cNvPr id="4" name="标题 1"/>
          <p:cNvSpPr>
            <a:spLocks noGrp="1"/>
          </p:cNvSpPr>
          <p:nvPr>
            <p:ph type="title"/>
          </p:nvPr>
        </p:nvSpPr>
        <p:spPr>
          <a:xfrm>
            <a:off x="3575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50825" y="1398905"/>
            <a:ext cx="6217285" cy="4523105"/>
          </a:xfrm>
          <a:prstGeom prst="rect">
            <a:avLst/>
          </a:prstGeom>
          <a:noFill/>
          <a:ln w="9525">
            <a:noFill/>
          </a:ln>
        </p:spPr>
        <p:txBody>
          <a:bodyPr wrap="square">
            <a:spAutoFit/>
          </a:bodyPr>
          <a:lstStyle/>
          <a:p>
            <a:pPr indent="457200" fontAlgn="auto">
              <a:lnSpc>
                <a:spcPct val="100000"/>
              </a:lnSpc>
            </a:pPr>
            <a:r>
              <a:rPr lang="en-US" altLang="zh-CN" sz="2400" b="1">
                <a:ea typeface="宋体" panose="02010600030101010101" pitchFamily="2" charset="-122"/>
              </a:rPr>
              <a:t>  </a:t>
            </a:r>
            <a:r>
              <a:rPr lang="zh-CN" sz="2400" b="1">
                <a:ea typeface="宋体" panose="02010600030101010101" pitchFamily="2" charset="-122"/>
              </a:rPr>
              <a:t>在双模式应用中</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蓝牙低功耗的功能会整合至现有的传统蓝牙控制器中</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共享传统蓝牙技术已有的射频和功能</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相较于传统的蓝牙技术</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该功能增加的成本更</a:t>
            </a:r>
            <a:r>
              <a:rPr lang="zh-CN" sz="2400" b="1">
                <a:latin typeface="Times New Roman" panose="02020603050405020304" charset="0"/>
                <a:ea typeface="宋体" panose="02010600030101010101" pitchFamily="2" charset="-122"/>
              </a:rPr>
              <a:t>低</a:t>
            </a:r>
            <a:r>
              <a:rPr lang="zh-CN" sz="2400" b="1">
                <a:ea typeface="宋体" panose="02010600030101010101" pitchFamily="2" charset="-122"/>
              </a:rPr>
              <a:t>。除此之外</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制造商可利用升级版蓝牙低功耗技术的功能模块</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集成蓝牙</a:t>
            </a:r>
            <a:r>
              <a:rPr lang="en-US" sz="2400" b="1">
                <a:latin typeface="Times New Roman" panose="02020603050405020304" charset="0"/>
                <a:ea typeface="宋体" panose="02010600030101010101" pitchFamily="2" charset="-122"/>
              </a:rPr>
              <a:t>3.0</a:t>
            </a:r>
            <a:r>
              <a:rPr lang="zh-CN" sz="2400" b="1">
                <a:ea typeface="宋体" panose="02010600030101010101" pitchFamily="2" charset="-122"/>
              </a:rPr>
              <a:t>高速版本或</a:t>
            </a:r>
            <a:r>
              <a:rPr lang="en-US" sz="2400" b="1">
                <a:latin typeface="Times New Roman" panose="02020603050405020304" charset="0"/>
                <a:ea typeface="宋体" panose="02010600030101010101" pitchFamily="2" charset="-122"/>
              </a:rPr>
              <a:t>2.1+EDR</a:t>
            </a:r>
            <a:r>
              <a:rPr lang="zh-CN" sz="2400" b="1">
                <a:ea typeface="宋体" panose="02010600030101010101" pitchFamily="2" charset="-122"/>
              </a:rPr>
              <a:t>等传统蓝牙功能组件</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从而改善传统蓝牙设备的数据传输效能。</a:t>
            </a:r>
            <a:r>
              <a:rPr lang="zh-CN" sz="2400" b="1">
                <a:latin typeface="Times New Roman" panose="02020603050405020304" charset="0"/>
                <a:ea typeface="宋体" panose="02010600030101010101" pitchFamily="2" charset="-122"/>
              </a:rPr>
              <a:t>如</a:t>
            </a:r>
            <a:r>
              <a:rPr lang="zh-CN" sz="2400" b="1">
                <a:ea typeface="宋体" panose="02010600030101010101" pitchFamily="2" charset="-122"/>
              </a:rPr>
              <a:t>图</a:t>
            </a:r>
            <a:r>
              <a:rPr lang="en-US" sz="2400" b="1">
                <a:latin typeface="Times New Roman" panose="02020603050405020304" charset="0"/>
                <a:ea typeface="宋体" panose="02010600030101010101" pitchFamily="2" charset="-122"/>
              </a:rPr>
              <a:t>3-5-9</a:t>
            </a:r>
            <a:r>
              <a:rPr lang="zh-CN" sz="2400" b="1">
                <a:ea typeface="宋体" panose="02010600030101010101" pitchFamily="2" charset="-122"/>
              </a:rPr>
              <a:t>所示为蓝牙低功耗技术的双模式应用和整合情况</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图</a:t>
            </a:r>
            <a:r>
              <a:rPr lang="en-US" sz="2400" b="1">
                <a:latin typeface="Times New Roman" panose="02020603050405020304" charset="0"/>
                <a:ea typeface="宋体" panose="02010600030101010101" pitchFamily="2" charset="-122"/>
              </a:rPr>
              <a:t>3-5-9(a)</a:t>
            </a:r>
            <a:r>
              <a:rPr lang="zh-CN" sz="2400" b="1">
                <a:ea typeface="宋体" panose="02010600030101010101" pitchFamily="2" charset="-122"/>
              </a:rPr>
              <a:t>为蓝牙低功耗技术的双模式应用功能逻辑拓扑图</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图</a:t>
            </a:r>
            <a:r>
              <a:rPr lang="en-US" sz="2400" b="1">
                <a:latin typeface="Times New Roman" panose="02020603050405020304" charset="0"/>
                <a:ea typeface="宋体" panose="02010600030101010101" pitchFamily="2" charset="-122"/>
              </a:rPr>
              <a:t>3-5-9(b)</a:t>
            </a:r>
            <a:r>
              <a:rPr lang="zh-CN" sz="2400" b="1">
                <a:ea typeface="宋体" panose="02010600030101010101" pitchFamily="2" charset="-122"/>
              </a:rPr>
              <a:t>为通过整合原有蓝牙技术的射频降低了升级成本。</a:t>
            </a:r>
            <a:endParaRPr lang="zh-CN" altLang="en-US" sz="2400" b="1"/>
          </a:p>
        </p:txBody>
      </p:sp>
      <p:pic>
        <p:nvPicPr>
          <p:cNvPr id="6" name="图片 142"/>
          <p:cNvPicPr>
            <a:picLocks noChangeAspect="1"/>
          </p:cNvPicPr>
          <p:nvPr/>
        </p:nvPicPr>
        <p:blipFill>
          <a:blip r:embed="rId1"/>
          <a:stretch>
            <a:fillRect/>
          </a:stretch>
        </p:blipFill>
        <p:spPr>
          <a:xfrm>
            <a:off x="6468745" y="1476375"/>
            <a:ext cx="5677535" cy="4209415"/>
          </a:xfrm>
          <a:prstGeom prst="rect">
            <a:avLst/>
          </a:prstGeom>
          <a:noFill/>
          <a:ln>
            <a:noFill/>
          </a:ln>
        </p:spPr>
      </p:pic>
      <p:sp>
        <p:nvSpPr>
          <p:cNvPr id="7" name="文本框 6"/>
          <p:cNvSpPr txBox="1"/>
          <p:nvPr/>
        </p:nvSpPr>
        <p:spPr>
          <a:xfrm>
            <a:off x="6767195" y="5836285"/>
            <a:ext cx="5080000" cy="368300"/>
          </a:xfrm>
          <a:prstGeom prst="rect">
            <a:avLst/>
          </a:prstGeom>
          <a:noFill/>
          <a:ln w="9525">
            <a:noFill/>
          </a:ln>
        </p:spPr>
        <p:txBody>
          <a:bodyPr>
            <a:spAutoFit/>
          </a:bodyPr>
          <a:lstStyle/>
          <a:p>
            <a:pPr indent="0" algn="ctr"/>
            <a:r>
              <a:rPr lang="zh-CN" b="0">
                <a:ea typeface="宋体" panose="02010600030101010101" pitchFamily="2" charset="-122"/>
              </a:rPr>
              <a:t>图</a:t>
            </a:r>
            <a:r>
              <a:rPr lang="en-US" b="0">
                <a:latin typeface="Times New Roman" panose="02020603050405020304" charset="0"/>
                <a:ea typeface="宋体" panose="02010600030101010101" pitchFamily="2" charset="-122"/>
              </a:rPr>
              <a:t>3-5-9 </a:t>
            </a:r>
            <a:r>
              <a:rPr lang="zh-CN" b="0">
                <a:ea typeface="宋体" panose="02010600030101010101" pitchFamily="2" charset="-122"/>
              </a:rPr>
              <a:t>蓝牙低功耗技术的双</a:t>
            </a:r>
            <a:r>
              <a:rPr lang="zh-CN" b="0">
                <a:latin typeface="Times New Roman" panose="02020603050405020304" charset="0"/>
                <a:ea typeface="宋体" panose="02010600030101010101" pitchFamily="2" charset="-122"/>
              </a:rPr>
              <a:t>模式</a:t>
            </a:r>
            <a:r>
              <a:rPr lang="zh-CN" b="0">
                <a:ea typeface="宋体" panose="02010600030101010101" pitchFamily="2" charset="-122"/>
              </a:rPr>
              <a:t>应用和整合情况</a:t>
            </a:r>
            <a:endParaRPr lang="zh-CN" altLang="en-US"/>
          </a:p>
        </p:txBody>
      </p:sp>
      <p:sp>
        <p:nvSpPr>
          <p:cNvPr id="4" name="标题 1"/>
          <p:cNvSpPr>
            <a:spLocks noGrp="1"/>
          </p:cNvSpPr>
          <p:nvPr>
            <p:ph type="title"/>
          </p:nvPr>
        </p:nvSpPr>
        <p:spPr>
          <a:xfrm>
            <a:off x="3575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03530" y="1187450"/>
            <a:ext cx="11348085" cy="5507990"/>
          </a:xfrm>
          <a:prstGeom prst="rect">
            <a:avLst/>
          </a:prstGeom>
          <a:noFill/>
          <a:ln w="9525">
            <a:noFill/>
          </a:ln>
        </p:spPr>
        <p:txBody>
          <a:bodyPr wrap="square">
            <a:spAutoFit/>
          </a:bodyPr>
          <a:lstStyle/>
          <a:p>
            <a:pPr indent="266700" fontAlgn="auto">
              <a:lnSpc>
                <a:spcPct val="100000"/>
              </a:lnSpc>
            </a:pPr>
            <a:r>
              <a:rPr lang="en-US" sz="2200" b="1">
                <a:solidFill>
                  <a:schemeClr val="tx1"/>
                </a:solidFill>
                <a:latin typeface="Times New Roman" panose="02020603050405020304" charset="0"/>
                <a:ea typeface="宋体" panose="02010600030101010101" pitchFamily="2" charset="-122"/>
              </a:rPr>
              <a:t>     4.</a:t>
            </a:r>
            <a:r>
              <a:rPr lang="zh-CN" sz="2200" b="1">
                <a:solidFill>
                  <a:schemeClr val="tx1"/>
                </a:solidFill>
                <a:ea typeface="宋体" panose="02010600030101010101" pitchFamily="2" charset="-122"/>
              </a:rPr>
              <a:t>高速连接的实现</a:t>
            </a:r>
            <a:endParaRPr lang="zh-CN" sz="2200" b="1">
              <a:solidFill>
                <a:schemeClr val="tx1"/>
              </a:solidFill>
              <a:ea typeface="宋体" panose="02010600030101010101" pitchFamily="2" charset="-122"/>
            </a:endParaRPr>
          </a:p>
          <a:p>
            <a:pPr indent="266700" fontAlgn="auto">
              <a:lnSpc>
                <a:spcPct val="100000"/>
              </a:lnSpc>
            </a:pPr>
            <a:r>
              <a:rPr lang="en-US" altLang="zh-CN" sz="2200" b="1">
                <a:solidFill>
                  <a:schemeClr val="tx1"/>
                </a:solidFill>
                <a:ea typeface="宋体" panose="02010600030101010101" pitchFamily="2" charset="-122"/>
              </a:rPr>
              <a:t>    </a:t>
            </a:r>
            <a:r>
              <a:rPr lang="zh-CN" sz="2200" b="1">
                <a:solidFill>
                  <a:schemeClr val="tx1"/>
                </a:solidFill>
                <a:ea typeface="宋体" panose="02010600030101010101" pitchFamily="2" charset="-122"/>
              </a:rPr>
              <a:t>低功耗蓝牙省电的原因主要体现在待机功耗的减少</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高速连接的实现和峰值功率的降低</a:t>
            </a:r>
            <a:r>
              <a:rPr lang="en-US" sz="2200" b="1">
                <a:solidFill>
                  <a:schemeClr val="tx1"/>
                </a:solidFill>
                <a:latin typeface="Times New Roman" panose="02020603050405020304" charset="0"/>
                <a:ea typeface="宋体" panose="02010600030101010101" pitchFamily="2" charset="-122"/>
              </a:rPr>
              <a:t>3</a:t>
            </a:r>
            <a:r>
              <a:rPr lang="zh-CN" sz="2200" b="1">
                <a:solidFill>
                  <a:schemeClr val="tx1"/>
                </a:solidFill>
                <a:ea typeface="宋体" panose="02010600030101010101" pitchFamily="2" charset="-122"/>
              </a:rPr>
              <a:t>个方面</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与传统蓝牙技术采用</a:t>
            </a:r>
            <a:r>
              <a:rPr lang="en-US" sz="2200" b="1">
                <a:solidFill>
                  <a:schemeClr val="tx1"/>
                </a:solidFill>
                <a:latin typeface="Times New Roman" panose="02020603050405020304" charset="0"/>
                <a:ea typeface="宋体" panose="02010600030101010101" pitchFamily="2" charset="-122"/>
              </a:rPr>
              <a:t>16~32</a:t>
            </a:r>
            <a:r>
              <a:rPr lang="zh-CN" sz="2200" b="1">
                <a:solidFill>
                  <a:schemeClr val="tx1"/>
                </a:solidFill>
                <a:ea typeface="宋体" panose="02010600030101010101" pitchFamily="2" charset="-122"/>
              </a:rPr>
              <a:t>个频道进行广播相比</a:t>
            </a:r>
            <a:r>
              <a:rPr lang="en-US"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低功耗蓝牙仅使用了</a:t>
            </a:r>
            <a:r>
              <a:rPr lang="en-US" sz="2200" b="1">
                <a:solidFill>
                  <a:schemeClr val="tx1"/>
                </a:solidFill>
                <a:latin typeface="Times New Roman" panose="02020603050405020304" charset="0"/>
                <a:ea typeface="宋体" panose="02010600030101010101" pitchFamily="2" charset="-122"/>
              </a:rPr>
              <a:t>3</a:t>
            </a:r>
            <a:r>
              <a:rPr lang="zh-CN" sz="2200" b="1">
                <a:solidFill>
                  <a:schemeClr val="tx1"/>
                </a:solidFill>
                <a:ea typeface="宋体" panose="02010600030101010101" pitchFamily="2" charset="-122"/>
              </a:rPr>
              <a:t>个广播通道</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且每次广播时射频的开启时间也由传统的</a:t>
            </a:r>
            <a:r>
              <a:rPr lang="en-US" sz="2200" b="1">
                <a:solidFill>
                  <a:schemeClr val="tx1"/>
                </a:solidFill>
                <a:latin typeface="Times New Roman" panose="02020603050405020304" charset="0"/>
                <a:ea typeface="宋体" panose="02010600030101010101" pitchFamily="2" charset="-122"/>
              </a:rPr>
              <a:t>22.5ms</a:t>
            </a:r>
            <a:r>
              <a:rPr lang="zh-CN" sz="2200" b="1">
                <a:solidFill>
                  <a:schemeClr val="tx1"/>
                </a:solidFill>
                <a:ea typeface="宋体" panose="02010600030101010101" pitchFamily="2" charset="-122"/>
              </a:rPr>
              <a:t>减少到</a:t>
            </a:r>
            <a:r>
              <a:rPr lang="en-US" sz="2200" b="1">
                <a:solidFill>
                  <a:schemeClr val="tx1"/>
                </a:solidFill>
                <a:latin typeface="Times New Roman" panose="02020603050405020304" charset="0"/>
                <a:ea typeface="宋体" panose="02010600030101010101" pitchFamily="2" charset="-122"/>
              </a:rPr>
              <a:t>0.6~1.2ms</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降低了由广播数据导致的待机功耗</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此外</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低功耗蓝牙用深度睡眠状态来替换传统蓝牙的空闲状态</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在深度睡眠状态下</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主机长时间处于超低的负载循环</a:t>
            </a:r>
            <a:r>
              <a:rPr lang="en-US" sz="2200" b="1">
                <a:solidFill>
                  <a:schemeClr val="tx1"/>
                </a:solidFill>
                <a:latin typeface="Times New Roman" panose="02020603050405020304" charset="0"/>
                <a:ea typeface="宋体" panose="02010600030101010101" pitchFamily="2" charset="-122"/>
              </a:rPr>
              <a:t>(Duty Cycle)</a:t>
            </a:r>
            <a:r>
              <a:rPr lang="zh-CN" sz="2200" b="1">
                <a:solidFill>
                  <a:schemeClr val="tx1"/>
                </a:solidFill>
                <a:ea typeface="宋体" panose="02010600030101010101" pitchFamily="2" charset="-122"/>
              </a:rPr>
              <a:t>状态</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只在需要运作时由控制器来启动</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因主机较控制器消耗更多的能源</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因此这样的设计也节省了</a:t>
            </a:r>
            <a:r>
              <a:rPr lang="zh-CN" sz="2200" b="1">
                <a:solidFill>
                  <a:schemeClr val="tx1"/>
                </a:solidFill>
                <a:latin typeface="Times New Roman" panose="02020603050405020304" charset="0"/>
                <a:ea typeface="宋体" panose="02010600030101010101" pitchFamily="2" charset="-122"/>
              </a:rPr>
              <a:t>更</a:t>
            </a:r>
            <a:r>
              <a:rPr lang="zh-CN" sz="2200" b="1">
                <a:solidFill>
                  <a:schemeClr val="tx1"/>
                </a:solidFill>
                <a:ea typeface="宋体" panose="02010600030101010101" pitchFamily="2" charset="-122"/>
              </a:rPr>
              <a:t>多的能源。在深度睡眠状态下</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协议针对此通信模式进行了优化</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数据发送间隔时间也增加到</a:t>
            </a:r>
            <a:r>
              <a:rPr lang="en-US" sz="2200" b="1">
                <a:solidFill>
                  <a:schemeClr val="tx1"/>
                </a:solidFill>
                <a:latin typeface="Times New Roman" panose="02020603050405020304" charset="0"/>
                <a:ea typeface="宋体" panose="02010600030101010101" pitchFamily="2" charset="-122"/>
              </a:rPr>
              <a:t>0.5~4s</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传感器类应用程序发送的数据量较平常要少很多</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而且所有连接均采用先进的嗅探性次额定功能模式</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因此此时的射频能耗几乎可以忽略不计。</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低功耗蓝牙高速连接的实现主要分成以下</a:t>
            </a:r>
            <a:r>
              <a:rPr lang="en-US" sz="2200" b="1">
                <a:solidFill>
                  <a:schemeClr val="tx1"/>
                </a:solidFill>
                <a:latin typeface="Times New Roman" panose="02020603050405020304" charset="0"/>
                <a:ea typeface="宋体" panose="02010600030101010101" pitchFamily="2" charset="-122"/>
              </a:rPr>
              <a:t>5</a:t>
            </a:r>
            <a:r>
              <a:rPr lang="zh-CN" sz="2200" b="1">
                <a:solidFill>
                  <a:schemeClr val="tx1"/>
                </a:solidFill>
                <a:ea typeface="宋体" panose="02010600030101010101" pitchFamily="2" charset="-122"/>
              </a:rPr>
              <a:t>个步骤</a:t>
            </a:r>
            <a:r>
              <a:rPr lang="zh-CN" sz="2200" b="1">
                <a:solidFill>
                  <a:schemeClr val="tx1"/>
                </a:solidFill>
                <a:latin typeface="Times New Roman" panose="02020603050405020304" charset="0"/>
                <a:ea typeface="宋体" panose="02010600030101010101" pitchFamily="2" charset="-122"/>
              </a:rPr>
              <a:t>：</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第一步</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通过扫描</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试图发现新设备。</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第二步</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确认发现的设备没有处于锁定状况。</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第三步</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发送</a:t>
            </a:r>
            <a:r>
              <a:rPr lang="en-US" sz="2200" b="1">
                <a:solidFill>
                  <a:schemeClr val="tx1"/>
                </a:solidFill>
                <a:latin typeface="Times New Roman" panose="02020603050405020304" charset="0"/>
                <a:ea typeface="宋体" panose="02010600030101010101" pitchFamily="2" charset="-122"/>
              </a:rPr>
              <a:t>IP</a:t>
            </a:r>
            <a:r>
              <a:rPr lang="zh-CN" sz="2200" b="1">
                <a:solidFill>
                  <a:schemeClr val="tx1"/>
                </a:solidFill>
                <a:ea typeface="宋体" panose="02010600030101010101" pitchFamily="2" charset="-122"/>
              </a:rPr>
              <a:t>地址。</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第四步</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收到并解读待配对设备发送过来的数据。</a:t>
            </a:r>
            <a:endParaRPr lang="zh-CN" sz="2200" b="1">
              <a:solidFill>
                <a:schemeClr val="tx1"/>
              </a:solidFill>
              <a:ea typeface="宋体" panose="02010600030101010101" pitchFamily="2" charset="-122"/>
            </a:endParaRPr>
          </a:p>
          <a:p>
            <a:pPr lvl="1" indent="266700" fontAlgn="auto">
              <a:lnSpc>
                <a:spcPct val="100000"/>
              </a:lnSpc>
            </a:pPr>
            <a:r>
              <a:rPr lang="zh-CN" sz="2200" b="1">
                <a:solidFill>
                  <a:schemeClr val="tx1"/>
                </a:solidFill>
                <a:ea typeface="宋体" panose="02010600030101010101" pitchFamily="2" charset="-122"/>
              </a:rPr>
              <a:t>第五步</a:t>
            </a:r>
            <a:r>
              <a:rPr lang="zh-CN" sz="2200" b="1">
                <a:solidFill>
                  <a:schemeClr val="tx1"/>
                </a:solidFill>
                <a:latin typeface="Times New Roman" panose="02020603050405020304" charset="0"/>
                <a:ea typeface="宋体" panose="02010600030101010101" pitchFamily="2" charset="-122"/>
              </a:rPr>
              <a:t>，</a:t>
            </a:r>
            <a:r>
              <a:rPr lang="zh-CN" sz="2200" b="1">
                <a:solidFill>
                  <a:schemeClr val="tx1"/>
                </a:solidFill>
                <a:ea typeface="宋体" panose="02010600030101010101" pitchFamily="2" charset="-122"/>
              </a:rPr>
              <a:t>建立并保存连接。</a:t>
            </a:r>
            <a:endParaRPr lang="zh-CN" altLang="en-US" sz="2200" b="1">
              <a:solidFill>
                <a:schemeClr val="tx1"/>
              </a:solidFill>
              <a:ea typeface="宋体" panose="02010600030101010101" pitchFamily="2" charset="-122"/>
            </a:endParaRPr>
          </a:p>
        </p:txBody>
      </p:sp>
      <p:sp>
        <p:nvSpPr>
          <p:cNvPr id="4" name="标题 1"/>
          <p:cNvSpPr>
            <a:spLocks noGrp="1"/>
          </p:cNvSpPr>
          <p:nvPr>
            <p:ph type="title"/>
          </p:nvPr>
        </p:nvSpPr>
        <p:spPr>
          <a:xfrm>
            <a:off x="3575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21615" y="1325880"/>
            <a:ext cx="11626850" cy="5169535"/>
          </a:xfrm>
          <a:prstGeom prst="rect">
            <a:avLst/>
          </a:prstGeom>
          <a:noFill/>
          <a:ln w="9525">
            <a:noFill/>
          </a:ln>
        </p:spPr>
        <p:txBody>
          <a:bodyPr wrap="square">
            <a:spAutoFit/>
          </a:bodyPr>
          <a:lstStyle/>
          <a:p>
            <a:pPr indent="266700" fontAlgn="auto">
              <a:lnSpc>
                <a:spcPct val="100000"/>
              </a:lnSpc>
            </a:pPr>
            <a:r>
              <a:rPr lang="en-US" altLang="zh-CN" sz="2200" b="1">
                <a:ea typeface="宋体" panose="02010600030101010101" pitchFamily="2" charset="-122"/>
              </a:rPr>
              <a:t>    </a:t>
            </a:r>
            <a:r>
              <a:rPr lang="zh-CN" sz="2200" b="1">
                <a:ea typeface="宋体" panose="02010600030101010101" pitchFamily="2" charset="-122"/>
              </a:rPr>
              <a:t>按照传统的蓝牙协议规范</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若某一蓝牙设备正在进行广播</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则它不会响应当前正在进行的设备扫描</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而低功耗蓝牙协议规范则允许正在进行广播的设备连接到正在扫描的设备上</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这就有效避免了重复扫描。而通过对连接机制的改善</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低功耗蓝牙下的设备连接建立过程已可控制在</a:t>
            </a:r>
            <a:r>
              <a:rPr lang="en-US" sz="2200" b="1">
                <a:latin typeface="Times New Roman" panose="02020603050405020304" charset="0"/>
                <a:ea typeface="宋体" panose="02010600030101010101" pitchFamily="2" charset="-122"/>
              </a:rPr>
              <a:t>3ms</a:t>
            </a:r>
            <a:r>
              <a:rPr lang="zh-CN" sz="2200" b="1">
                <a:ea typeface="宋体" panose="02010600030101010101" pitchFamily="2" charset="-122"/>
              </a:rPr>
              <a:t>内完成</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同时能以应用程序迅速启动连接器</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并以数毫秒的传输速度完成经认可的数</a:t>
            </a:r>
            <a:r>
              <a:rPr lang="zh-CN" sz="2200" b="1">
                <a:latin typeface="Times New Roman" panose="02020603050405020304" charset="0"/>
                <a:ea typeface="宋体" panose="02010600030101010101" pitchFamily="2" charset="-122"/>
              </a:rPr>
              <a:t>据传递，并立即关闭连接。</a:t>
            </a:r>
            <a:r>
              <a:rPr lang="zh-CN" sz="2200" b="1">
                <a:ea typeface="宋体" panose="02010600030101010101" pitchFamily="2" charset="-122"/>
              </a:rPr>
              <a:t>而传统蓝牙协议下即使只是建立链路层连接都需要</a:t>
            </a:r>
            <a:r>
              <a:rPr lang="en-US" sz="2200" b="1">
                <a:latin typeface="Times New Roman" panose="02020603050405020304" charset="0"/>
                <a:ea typeface="宋体" panose="02010600030101010101" pitchFamily="2" charset="-122"/>
              </a:rPr>
              <a:t>100ms</a:t>
            </a:r>
            <a:r>
              <a:rPr lang="zh-CN" sz="2200" b="1">
                <a:ea typeface="宋体" panose="02010600030101010101" pitchFamily="2" charset="-122"/>
              </a:rPr>
              <a:t>，</a:t>
            </a:r>
            <a:r>
              <a:rPr lang="en-US" sz="2200" b="1">
                <a:latin typeface="Times New Roman" panose="02020603050405020304" charset="0"/>
                <a:ea typeface="宋体" panose="02010600030101010101" pitchFamily="2" charset="-122"/>
              </a:rPr>
              <a:t>L2CAR(</a:t>
            </a:r>
            <a:r>
              <a:rPr lang="zh-CN" sz="2200" b="1">
                <a:ea typeface="宋体" panose="02010600030101010101" pitchFamily="2" charset="-122"/>
              </a:rPr>
              <a:t>逻辑链路控制与适应协议</a:t>
            </a:r>
            <a:r>
              <a:rPr lang="en-US" sz="2200" b="1">
                <a:latin typeface="Times New Roman" panose="02020603050405020304" charset="0"/>
                <a:ea typeface="宋体" panose="02010600030101010101" pitchFamily="2" charset="-122"/>
              </a:rPr>
              <a:t>)</a:t>
            </a:r>
            <a:r>
              <a:rPr lang="zh-CN" sz="2200" b="1">
                <a:ea typeface="宋体" panose="02010600030101010101" pitchFamily="2" charset="-122"/>
              </a:rPr>
              <a:t>层的连接建立时间则更长。</a:t>
            </a:r>
            <a:endParaRPr lang="zh-CN" sz="2200" b="1">
              <a:ea typeface="宋体" panose="02010600030101010101" pitchFamily="2" charset="-122"/>
            </a:endParaRPr>
          </a:p>
          <a:p>
            <a:pPr indent="266700" fontAlgn="auto">
              <a:lnSpc>
                <a:spcPct val="100000"/>
              </a:lnSpc>
            </a:pPr>
            <a:r>
              <a:rPr lang="en-US" altLang="zh-CN" sz="2200" b="1">
                <a:ea typeface="宋体" panose="02010600030101010101" pitchFamily="2" charset="-122"/>
              </a:rPr>
              <a:t>    </a:t>
            </a:r>
            <a:r>
              <a:rPr lang="zh-CN" sz="2200" b="1">
                <a:ea typeface="宋体" panose="02010600030101010101" pitchFamily="2" charset="-122"/>
              </a:rPr>
              <a:t>低功耗蓝牙协议还对拓扑结构进行了优化</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通过在每个从设备及每个数据包上使用</a:t>
            </a:r>
            <a:r>
              <a:rPr lang="en-US" sz="2200" b="1">
                <a:latin typeface="Times New Roman" panose="02020603050405020304" charset="0"/>
                <a:ea typeface="宋体" panose="02010600030101010101" pitchFamily="2" charset="-122"/>
              </a:rPr>
              <a:t>32</a:t>
            </a:r>
            <a:r>
              <a:rPr lang="zh-CN" sz="2200" b="1">
                <a:ea typeface="宋体" panose="02010600030101010101" pitchFamily="2" charset="-122"/>
              </a:rPr>
              <a:t>位的存取地址</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能</a:t>
            </a:r>
            <a:r>
              <a:rPr lang="zh-CN" sz="2200" b="1">
                <a:latin typeface="Times New Roman" panose="02020603050405020304" charset="0"/>
                <a:ea typeface="宋体" panose="02010600030101010101" pitchFamily="2" charset="-122"/>
              </a:rPr>
              <a:t>够</a:t>
            </a:r>
            <a:r>
              <a:rPr lang="zh-CN" sz="2200" b="1">
                <a:ea typeface="宋体" panose="02010600030101010101" pitchFamily="2" charset="-122"/>
              </a:rPr>
              <a:t>让数十亿个设备同时连接</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此技术不但将传统蓝牙一对一的连接优化</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同时也利用星状拓扑来完成一对多点的连接</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在连接和断线切换</a:t>
            </a:r>
            <a:r>
              <a:rPr lang="zh-CN" sz="2200" b="1">
                <a:latin typeface="Times New Roman" panose="02020603050405020304" charset="0"/>
                <a:ea typeface="宋体" panose="02010600030101010101" pitchFamily="2" charset="-122"/>
              </a:rPr>
              <a:t>迅速</a:t>
            </a:r>
            <a:r>
              <a:rPr lang="zh-CN" sz="2200" b="1">
                <a:ea typeface="宋体" panose="02010600030101010101" pitchFamily="2" charset="-122"/>
              </a:rPr>
              <a:t>的应用场景下</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数据能够在网状拓扑之间移动</a:t>
            </a:r>
            <a:r>
              <a:rPr lang="zh-CN" sz="2200" b="1">
                <a:latin typeface="Times New Roman" panose="02020603050405020304" charset="0"/>
                <a:ea typeface="宋体" panose="02010600030101010101" pitchFamily="2" charset="-122"/>
              </a:rPr>
              <a:t>，但</a:t>
            </a:r>
            <a:r>
              <a:rPr lang="zh-CN" sz="2200" b="1">
                <a:ea typeface="宋体" panose="02010600030101010101" pitchFamily="2" charset="-122"/>
              </a:rPr>
              <a:t>不至于为了维</a:t>
            </a:r>
            <a:r>
              <a:rPr lang="zh-CN" sz="2200" b="1">
                <a:latin typeface="Times New Roman" panose="02020603050405020304" charset="0"/>
                <a:ea typeface="宋体" panose="02010600030101010101" pitchFamily="2" charset="-122"/>
              </a:rPr>
              <a:t>持</a:t>
            </a:r>
            <a:r>
              <a:rPr lang="zh-CN" sz="2200" b="1">
                <a:ea typeface="宋体" panose="02010600030101010101" pitchFamily="2" charset="-122"/>
              </a:rPr>
              <a:t>此网络而显得过于复杂</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这也有效减轻了连接复杂度</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减少了连接建立的时间</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降低了峰值功率。低功耗监牙对数据包长度进行了更如严格的定义</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支持超短</a:t>
            </a:r>
            <a:r>
              <a:rPr lang="en-US" sz="2200" b="1">
                <a:latin typeface="Times New Roman" panose="02020603050405020304" charset="0"/>
                <a:ea typeface="宋体" panose="02010600030101010101" pitchFamily="2" charset="-122"/>
              </a:rPr>
              <a:t>(8~27B)</a:t>
            </a:r>
            <a:r>
              <a:rPr lang="zh-CN" sz="2200" b="1">
                <a:ea typeface="宋体" panose="02010600030101010101" pitchFamily="2" charset="-122"/>
              </a:rPr>
              <a:t>数据封包</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并使用了随机射频参数和增加了</a:t>
            </a:r>
            <a:r>
              <a:rPr lang="en-US" sz="2200" b="1">
                <a:latin typeface="Times New Roman" panose="02020603050405020304" charset="0"/>
                <a:ea typeface="宋体" panose="02010600030101010101" pitchFamily="2" charset="-122"/>
              </a:rPr>
              <a:t>GSFK</a:t>
            </a:r>
            <a:r>
              <a:rPr lang="zh-CN" sz="2200" b="1">
                <a:ea typeface="宋体" panose="02010600030101010101" pitchFamily="2" charset="-122"/>
              </a:rPr>
              <a:t>调制索引</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这些指数最大限度地减小了数据收发的复杂性。此外</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低功耗蓝牙还通过增加调变指数</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并采用</a:t>
            </a:r>
            <a:r>
              <a:rPr lang="en-US" sz="2200" b="1">
                <a:latin typeface="Times New Roman" panose="02020603050405020304" charset="0"/>
                <a:ea typeface="宋体" panose="02010600030101010101" pitchFamily="2" charset="-122"/>
              </a:rPr>
              <a:t>24</a:t>
            </a:r>
            <a:r>
              <a:rPr lang="zh-CN" sz="2200" b="1">
                <a:ea typeface="宋体" panose="02010600030101010101" pitchFamily="2" charset="-122"/>
              </a:rPr>
              <a:t>位的</a:t>
            </a:r>
            <a:r>
              <a:rPr lang="en-US" sz="2200" b="1">
                <a:latin typeface="Times New Roman" panose="02020603050405020304" charset="0"/>
                <a:ea typeface="宋体" panose="02010600030101010101" pitchFamily="2" charset="-122"/>
              </a:rPr>
              <a:t>CRC</a:t>
            </a:r>
            <a:r>
              <a:rPr lang="zh-CN" sz="2200" b="1">
                <a:ea typeface="宋体" panose="02010600030101010101" pitchFamily="2" charset="-122"/>
              </a:rPr>
              <a:t>（循环冗余检查</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确保封包在受干扰时具有更大的稳定度</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低功耗蓝牙的射程增加至</a:t>
            </a:r>
            <a:r>
              <a:rPr lang="en-US" sz="2200" b="1">
                <a:latin typeface="Times New Roman" panose="02020603050405020304" charset="0"/>
                <a:ea typeface="宋体" panose="02010600030101010101" pitchFamily="2" charset="-122"/>
              </a:rPr>
              <a:t>100m</a:t>
            </a:r>
            <a:r>
              <a:rPr lang="zh-CN" sz="2200" b="1">
                <a:ea typeface="宋体" panose="02010600030101010101" pitchFamily="2" charset="-122"/>
              </a:rPr>
              <a:t>以上</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以上措施结合蓝牙传统的跳频原理</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有效降低了峰值功率。</a:t>
            </a:r>
            <a:endParaRPr lang="zh-CN" altLang="en-US" sz="2200" b="1"/>
          </a:p>
        </p:txBody>
      </p:sp>
      <p:sp>
        <p:nvSpPr>
          <p:cNvPr id="4" name="标题 1"/>
          <p:cNvSpPr>
            <a:spLocks noGrp="1"/>
          </p:cNvSpPr>
          <p:nvPr>
            <p:ph type="title"/>
          </p:nvPr>
        </p:nvSpPr>
        <p:spPr>
          <a:xfrm>
            <a:off x="357505" y="0"/>
            <a:ext cx="7310755" cy="1325880"/>
          </a:xfrm>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3.5.3.2  Bluetooth 4.0技术</a:t>
            </a:r>
            <a:endPar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1940" y="1092835"/>
            <a:ext cx="11333480" cy="1938020"/>
          </a:xfrm>
          <a:prstGeom prst="rect">
            <a:avLst/>
          </a:prstGeom>
          <a:noFill/>
          <a:ln w="9525">
            <a:noFill/>
          </a:ln>
        </p:spPr>
        <p:txBody>
          <a:bodyPr wrap="square">
            <a:spAutoFit/>
          </a:bodyPr>
          <a:lstStyle/>
          <a:p>
            <a:pPr indent="266700" fontAlgn="auto">
              <a:lnSpc>
                <a:spcPct val="100000"/>
              </a:lnSpc>
            </a:pPr>
            <a:r>
              <a:rPr lang="en-US" altLang="zh-CN" sz="2400" b="1">
                <a:ea typeface="宋体" panose="02010600030101010101" pitchFamily="2" charset="-122"/>
              </a:rPr>
              <a:t>    </a:t>
            </a:r>
            <a:r>
              <a:rPr lang="zh-CN" sz="2400" b="1">
                <a:ea typeface="宋体" panose="02010600030101010101" pitchFamily="2" charset="-122"/>
              </a:rPr>
              <a:t>蓝牙信号的收发采用蓝牙模块实现。蓝牙模块是一种集成</a:t>
            </a:r>
            <a:r>
              <a:rPr lang="zh-CN" sz="2400" b="1">
                <a:latin typeface="Times New Roman" panose="02020603050405020304" charset="0"/>
                <a:ea typeface="宋体" panose="02010600030101010101" pitchFamily="2" charset="-122"/>
              </a:rPr>
              <a:t>了</a:t>
            </a:r>
            <a:r>
              <a:rPr lang="zh-CN" sz="2400" b="1">
                <a:ea typeface="宋体" panose="02010600030101010101" pitchFamily="2" charset="-122"/>
              </a:rPr>
              <a:t>蓝牙功能的</a:t>
            </a:r>
            <a:r>
              <a:rPr lang="en-US" sz="2400" b="1">
                <a:latin typeface="Times New Roman" panose="02020603050405020304" charset="0"/>
                <a:ea typeface="宋体" panose="02010600030101010101" pitchFamily="2" charset="-122"/>
              </a:rPr>
              <a:t>PCBA</a:t>
            </a:r>
            <a:r>
              <a:rPr lang="zh-CN" sz="2400" b="1">
                <a:ea typeface="宋体" panose="02010600030101010101" pitchFamily="2" charset="-122"/>
              </a:rPr>
              <a:t>板</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是指集成蓝牙功能的芯片基本电路集合</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由芯片、</a:t>
            </a:r>
            <a:r>
              <a:rPr lang="en-US" sz="2400" b="1">
                <a:latin typeface="Times New Roman" panose="02020603050405020304" charset="0"/>
                <a:ea typeface="宋体" panose="02010600030101010101" pitchFamily="2" charset="-122"/>
              </a:rPr>
              <a:t>PCB</a:t>
            </a:r>
            <a:r>
              <a:rPr lang="zh-CN" sz="2400" b="1">
                <a:ea typeface="宋体" panose="02010600030101010101" pitchFamily="2" charset="-122"/>
              </a:rPr>
              <a:t>板、外围器件构成。</a:t>
            </a:r>
            <a:r>
              <a:rPr lang="zh-CN" sz="2400" b="1">
                <a:latin typeface="Times New Roman" panose="02020603050405020304" charset="0"/>
                <a:ea typeface="宋体" panose="02010600030101010101" pitchFamily="2" charset="-122"/>
              </a:rPr>
              <a:t>如</a:t>
            </a:r>
            <a:r>
              <a:rPr lang="zh-CN" sz="2400" b="1">
                <a:ea typeface="宋体" panose="02010600030101010101" pitchFamily="2" charset="-122"/>
              </a:rPr>
              <a:t>表</a:t>
            </a:r>
            <a:r>
              <a:rPr lang="en-US" sz="2400" b="1">
                <a:latin typeface="Times New Roman" panose="02020603050405020304" charset="0"/>
                <a:ea typeface="宋体" panose="02010600030101010101" pitchFamily="2" charset="-122"/>
              </a:rPr>
              <a:t>3-5-3</a:t>
            </a:r>
            <a:r>
              <a:rPr lang="zh-CN" sz="2400" b="1">
                <a:ea typeface="宋体" panose="02010600030101010101" pitchFamily="2" charset="-122"/>
              </a:rPr>
              <a:t>所示为蓝牙模块的分类。对于最终用户而言</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蓝牙模块是半成品</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而蓝牙适配器是成品</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蓝牙适配器</a:t>
            </a:r>
            <a:r>
              <a:rPr lang="en-US" sz="2400" b="1">
                <a:latin typeface="Times New Roman" panose="02020603050405020304" charset="0"/>
                <a:ea typeface="宋体" panose="02010600030101010101" pitchFamily="2" charset="-122"/>
              </a:rPr>
              <a:t>(</a:t>
            </a:r>
            <a:r>
              <a:rPr lang="zh-CN" sz="2400" b="1">
                <a:ea typeface="宋体" panose="02010600030101010101" pitchFamily="2" charset="-122"/>
              </a:rPr>
              <a:t>也称</a:t>
            </a:r>
            <a:r>
              <a:rPr lang="en-US" sz="2400" b="1">
                <a:latin typeface="Times New Roman" panose="02020603050405020304" charset="0"/>
                <a:ea typeface="宋体" panose="02010600030101010101" pitchFamily="2" charset="-122"/>
              </a:rPr>
              <a:t>dongle)</a:t>
            </a:r>
            <a:r>
              <a:rPr lang="zh-CN" sz="2400" b="1">
                <a:ea typeface="宋体" panose="02010600030101010101" pitchFamily="2" charset="-122"/>
              </a:rPr>
              <a:t>为</a:t>
            </a:r>
            <a:r>
              <a:rPr lang="en-US" sz="2400" b="1">
                <a:latin typeface="Times New Roman" panose="02020603050405020304" charset="0"/>
                <a:ea typeface="宋体" panose="02010600030101010101" pitchFamily="2" charset="-122"/>
              </a:rPr>
              <a:t>USB Dongle,</a:t>
            </a:r>
            <a:r>
              <a:rPr lang="zh-CN" sz="2400" b="1">
                <a:ea typeface="宋体" panose="02010600030101010101" pitchFamily="2" charset="-122"/>
              </a:rPr>
              <a:t>主要用于传输数据</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也有串口</a:t>
            </a:r>
            <a:r>
              <a:rPr lang="en-US" sz="2400" b="1">
                <a:latin typeface="Times New Roman" panose="02020603050405020304" charset="0"/>
                <a:ea typeface="宋体" panose="02010600030101010101" pitchFamily="2" charset="-122"/>
              </a:rPr>
              <a:t>Dongle</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针对特殊用户</a:t>
            </a:r>
            <a:r>
              <a:rPr lang="zh-CN" sz="2400" b="1">
                <a:latin typeface="Times New Roman" panose="02020603050405020304" charset="0"/>
                <a:ea typeface="宋体" panose="02010600030101010101" pitchFamily="2" charset="-122"/>
              </a:rPr>
              <a:t>，还</a:t>
            </a:r>
            <a:r>
              <a:rPr lang="zh-CN" sz="2400" b="1">
                <a:ea typeface="宋体" panose="02010600030101010101" pitchFamily="2" charset="-122"/>
              </a:rPr>
              <a:t>有语音</a:t>
            </a:r>
            <a:r>
              <a:rPr lang="en-US" sz="2400" b="1">
                <a:latin typeface="Times New Roman" panose="02020603050405020304" charset="0"/>
                <a:ea typeface="宋体" panose="02010600030101010101" pitchFamily="2" charset="-122"/>
              </a:rPr>
              <a:t>Dongle</a:t>
            </a:r>
            <a:r>
              <a:rPr lang="zh-CN" sz="2400" b="1">
                <a:ea typeface="宋体" panose="02010600030101010101" pitchFamily="2" charset="-122"/>
              </a:rPr>
              <a:t>等。</a:t>
            </a:r>
            <a:endParaRPr lang="zh-CN" altLang="en-US" sz="2400" b="1"/>
          </a:p>
        </p:txBody>
      </p:sp>
      <p:sp>
        <p:nvSpPr>
          <p:cNvPr id="3" name="文本框 2"/>
          <p:cNvSpPr txBox="1"/>
          <p:nvPr/>
        </p:nvSpPr>
        <p:spPr>
          <a:xfrm>
            <a:off x="2539365" y="2968625"/>
            <a:ext cx="6376035" cy="398780"/>
          </a:xfrm>
          <a:prstGeom prst="rect">
            <a:avLst/>
          </a:prstGeom>
          <a:noFill/>
          <a:ln w="9525">
            <a:noFill/>
          </a:ln>
        </p:spPr>
        <p:txBody>
          <a:bodyPr wrap="square">
            <a:spAutoFit/>
          </a:bodyPr>
          <a:lstStyle/>
          <a:p>
            <a:pPr indent="1714500" algn="ctr"/>
            <a:r>
              <a:rPr lang="zh-CN" sz="2000" b="0">
                <a:ea typeface="宋体" panose="02010600030101010101" pitchFamily="2" charset="-122"/>
              </a:rPr>
              <a:t>表</a:t>
            </a:r>
            <a:r>
              <a:rPr lang="en-US" sz="2000" b="0">
                <a:latin typeface="Times New Roman" panose="02020603050405020304" charset="0"/>
                <a:ea typeface="宋体" panose="02010600030101010101" pitchFamily="2" charset="-122"/>
              </a:rPr>
              <a:t>3-5-3  </a:t>
            </a:r>
            <a:r>
              <a:rPr lang="zh-CN" sz="2000" b="0">
                <a:ea typeface="宋体" panose="02010600030101010101" pitchFamily="2" charset="-122"/>
              </a:rPr>
              <a:t>蓝牙模块的分类</a:t>
            </a:r>
            <a:endParaRPr lang="zh-CN" altLang="en-US" sz="2000"/>
          </a:p>
        </p:txBody>
      </p:sp>
      <p:graphicFrame>
        <p:nvGraphicFramePr>
          <p:cNvPr id="4" name="表格 3"/>
          <p:cNvGraphicFramePr/>
          <p:nvPr>
            <p:custDataLst>
              <p:tags r:id="rId1"/>
            </p:custDataLst>
          </p:nvPr>
        </p:nvGraphicFramePr>
        <p:xfrm>
          <a:off x="3275965" y="3582035"/>
          <a:ext cx="6520180" cy="3105150"/>
        </p:xfrm>
        <a:graphic>
          <a:graphicData uri="http://schemas.openxmlformats.org/drawingml/2006/table">
            <a:tbl>
              <a:tblPr firstRow="1" bandRow="1">
                <a:tableStyleId>{5940675A-B579-460E-94D1-54222C63F5DA}</a:tableStyleId>
              </a:tblPr>
              <a:tblGrid>
                <a:gridCol w="1241425"/>
                <a:gridCol w="5278755"/>
              </a:tblGrid>
              <a:tr h="436245">
                <a:tc>
                  <a:txBody>
                    <a:bodyPr/>
                    <a:lstStyle/>
                    <a:p>
                      <a:pPr indent="0" algn="ctr">
                        <a:buNone/>
                      </a:pPr>
                      <a:r>
                        <a:rPr lang="en-US" sz="1600" b="1">
                          <a:latin typeface="Times New Roman" panose="02020603050405020304" charset="0"/>
                          <a:cs typeface="Times New Roman" panose="02020603050405020304" charset="0"/>
                        </a:rPr>
                        <a:t>分类方法</a:t>
                      </a:r>
                      <a:endParaRPr lang="en-US" altLang="en-US" sz="1600" b="1">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类型</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indent="0" algn="ctr">
                        <a:buNone/>
                      </a:pPr>
                      <a:r>
                        <a:rPr lang="en-US" sz="1600" b="1">
                          <a:latin typeface="Times New Roman" panose="02020603050405020304" charset="0"/>
                          <a:cs typeface="Times New Roman" panose="02020603050405020304" charset="0"/>
                        </a:rPr>
                        <a:t>标准</a:t>
                      </a:r>
                      <a:endParaRPr lang="en-US" altLang="en-US" sz="9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1.2、2.0、2.1、4.0、4.1</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algn="ctr">
                        <a:buClrTx/>
                        <a:buSzTx/>
                        <a:buFontTx/>
                        <a:buNone/>
                      </a:pPr>
                      <a:r>
                        <a:rPr lang="en-US" sz="1600" b="1">
                          <a:latin typeface="Times New Roman" panose="02020603050405020304" charset="0"/>
                          <a:cs typeface="Times New Roman" panose="02020603050405020304" charset="0"/>
                        </a:rPr>
                        <a:t>传输内容</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数据蓝牙模块、语音蓝牙模块</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indent="0" algn="ctr">
                        <a:buNone/>
                      </a:pPr>
                      <a:r>
                        <a:rPr lang="en-US" sz="1600" b="1">
                          <a:latin typeface="Times New Roman" panose="02020603050405020304" charset="0"/>
                          <a:cs typeface="Times New Roman" panose="02020603050405020304" charset="0"/>
                        </a:rPr>
                        <a:t>芯片设计</a:t>
                      </a:r>
                      <a:endParaRPr lang="en-US" altLang="en-US" sz="9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BGA封装外置Flash版本、QFN封装外接EEPROM版本</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algn="ctr">
                        <a:buClrTx/>
                        <a:buSzTx/>
                        <a:buFontTx/>
                        <a:buNone/>
                      </a:pPr>
                      <a:r>
                        <a:rPr lang="en-US" sz="1600" b="1">
                          <a:latin typeface="Times New Roman" panose="02020603050405020304" charset="0"/>
                          <a:cs typeface="Times New Roman" panose="02020603050405020304" charset="0"/>
                        </a:rPr>
                        <a:t>芯片厂商</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BroadCom蓝牙模块、Dell蓝牙模块、CSR蓝牙模块</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algn="ctr">
                        <a:buClrTx/>
                        <a:buSzTx/>
                        <a:buFontTx/>
                        <a:buNone/>
                      </a:pPr>
                      <a:r>
                        <a:rPr lang="en-US" sz="1600" b="1">
                          <a:latin typeface="Times New Roman" panose="02020603050405020304" charset="0"/>
                          <a:cs typeface="Times New Roman" panose="02020603050405020304" charset="0"/>
                        </a:rPr>
                        <a:t>用途</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数据蓝牙模块、串行蓝牙模块、语音蓝牙模块、车载蓝牙模块</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6245">
                <a:tc>
                  <a:txBody>
                    <a:bodyPr/>
                    <a:lstStyle/>
                    <a:p>
                      <a:pPr indent="0" algn="ctr">
                        <a:buNone/>
                      </a:pPr>
                      <a:r>
                        <a:rPr lang="en-US" sz="1600" b="1">
                          <a:latin typeface="Times New Roman" panose="02020603050405020304" charset="0"/>
                          <a:cs typeface="Times New Roman" panose="02020603050405020304" charset="0"/>
                        </a:rPr>
                        <a:t>功率</a:t>
                      </a:r>
                      <a:endParaRPr lang="en-US" altLang="en-US" sz="9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ClrTx/>
                        <a:buSzTx/>
                        <a:buFontTx/>
                        <a:buNone/>
                      </a:pPr>
                      <a:r>
                        <a:rPr lang="en-US" sz="1600" b="1">
                          <a:latin typeface="Times New Roman" panose="02020603050405020304" charset="0"/>
                          <a:cs typeface="Times New Roman" panose="02020603050405020304" charset="0"/>
                        </a:rPr>
                        <a:t>CLASS1、CLASS2、CLASS3</a:t>
                      </a:r>
                      <a:endParaRPr lang="en-US" sz="1600" b="1">
                        <a:latin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 name="标题 1"/>
          <p:cNvSpPr>
            <a:spLocks noGrp="1"/>
          </p:cNvSpPr>
          <p:nvPr>
            <p:ph type="title"/>
          </p:nvPr>
        </p:nvSpPr>
        <p:spPr>
          <a:xfrm>
            <a:off x="479425" y="0"/>
            <a:ext cx="7310755" cy="1325880"/>
          </a:xfrm>
        </p:spPr>
        <p:txBody>
          <a:bodyPr/>
          <a:lstStyle/>
          <a:p>
            <a:pPr>
              <a:buClrTx/>
              <a:buSzTx/>
              <a:buFontTx/>
            </a:pPr>
            <a:r>
              <a:rPr lang="en-US" sz="4400" b="1" u="sng" dirty="0" err="1">
                <a:solidFill>
                  <a:srgbClr val="0563C1"/>
                </a:solidFill>
                <a:uFillTx/>
                <a:latin typeface="Times New Roman" panose="02020603050405020304" charset="0"/>
                <a:ea typeface="宋体" panose="02010600030101010101" pitchFamily="2" charset="-122"/>
              </a:rPr>
              <a:t>3.5.3.3  Bluetooth模块</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80670" y="1612265"/>
            <a:ext cx="11454765" cy="3415030"/>
          </a:xfrm>
          <a:prstGeom prst="rect">
            <a:avLst/>
          </a:prstGeom>
          <a:noFill/>
          <a:ln w="9525">
            <a:noFill/>
          </a:ln>
        </p:spPr>
        <p:txBody>
          <a:bodyPr wrap="square">
            <a:spAutoFit/>
          </a:bodyPr>
          <a:lstStyle/>
          <a:p>
            <a:pPr indent="266700" fontAlgn="auto">
              <a:lnSpc>
                <a:spcPct val="100000"/>
              </a:lnSpc>
            </a:pPr>
            <a:r>
              <a:rPr lang="en-US" altLang="zh-CN" sz="2400" b="1">
                <a:ea typeface="宋体" panose="02010600030101010101" pitchFamily="2" charset="-122"/>
              </a:rPr>
              <a:t>    </a:t>
            </a:r>
            <a:r>
              <a:rPr lang="zh-CN" sz="2400" b="1">
                <a:ea typeface="宋体" panose="02010600030101010101" pitchFamily="2" charset="-122"/>
              </a:rPr>
              <a:t>一般地</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应用蓝牙模块设计时</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协议包括软硬件、中间件的实现</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如图</a:t>
            </a:r>
            <a:r>
              <a:rPr lang="en-US" sz="2400" b="1">
                <a:latin typeface="Times New Roman" panose="02020603050405020304" charset="0"/>
                <a:ea typeface="宋体" panose="02010600030101010101" pitchFamily="2" charset="-122"/>
              </a:rPr>
              <a:t>3-5-10</a:t>
            </a:r>
            <a:r>
              <a:rPr lang="zh-CN" sz="2400" b="1">
                <a:ea typeface="宋体" panose="02010600030101010101" pitchFamily="2" charset="-122"/>
              </a:rPr>
              <a:t>所示。硬件包含片内数字无线处理器</a:t>
            </a:r>
            <a:r>
              <a:rPr lang="en-US" sz="2400" b="1">
                <a:latin typeface="Times New Roman" panose="02020603050405020304" charset="0"/>
                <a:ea typeface="宋体" panose="02010600030101010101" pitchFamily="2" charset="-122"/>
              </a:rPr>
              <a:t>(</a:t>
            </a:r>
            <a:r>
              <a:rPr lang="en-US" sz="2400" b="1">
                <a:solidFill>
                  <a:srgbClr val="000000"/>
                </a:solidFill>
                <a:latin typeface="Times New Roman" panose="02020603050405020304" charset="0"/>
                <a:ea typeface="宋体" panose="02010600030101010101" pitchFamily="2" charset="-122"/>
              </a:rPr>
              <a:t>Digital Radio Processor</a:t>
            </a:r>
            <a:r>
              <a:rPr lang="en-US" sz="2400" b="1">
                <a:latin typeface="Times New Roman" panose="02020603050405020304" charset="0"/>
                <a:ea typeface="宋体" panose="02010600030101010101" pitchFamily="2" charset="-122"/>
              </a:rPr>
              <a:t>, DRP)</a:t>
            </a:r>
            <a:r>
              <a:rPr lang="zh-CN" sz="2400" b="1">
                <a:ea typeface="宋体" panose="02010600030101010101" pitchFamily="2" charset="-122"/>
              </a:rPr>
              <a:t>、数控振荡器、片内射频收发开关切换、内置 </a:t>
            </a:r>
            <a:r>
              <a:rPr lang="en-US" sz="2400" b="1">
                <a:latin typeface="Times New Roman" panose="02020603050405020304" charset="0"/>
                <a:ea typeface="宋体" panose="02010600030101010101" pitchFamily="2" charset="-122"/>
              </a:rPr>
              <a:t>ARM </a:t>
            </a:r>
            <a:r>
              <a:rPr lang="zh-CN" sz="2400" b="1">
                <a:latin typeface="Times New Roman" panose="02020603050405020304" charset="0"/>
                <a:ea typeface="宋体" panose="02010600030101010101" pitchFamily="2" charset="-122"/>
              </a:rPr>
              <a:t>嵌入</a:t>
            </a:r>
            <a:r>
              <a:rPr lang="zh-CN" sz="2400" b="1">
                <a:ea typeface="宋体" panose="02010600030101010101" pitchFamily="2" charset="-122"/>
              </a:rPr>
              <a:t>式处理器等。接收信号时</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收发开关置为收状态</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射频信号从天线接收后</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经过蓝牙收发器直接传输到基带信号处理器。</a:t>
            </a:r>
            <a:endParaRPr lang="zh-CN" sz="2400" b="1">
              <a:ea typeface="宋体" panose="02010600030101010101" pitchFamily="2" charset="-122"/>
            </a:endParaRPr>
          </a:p>
          <a:p>
            <a:pPr indent="266700" fontAlgn="auto">
              <a:lnSpc>
                <a:spcPct val="100000"/>
              </a:lnSpc>
            </a:pPr>
            <a:r>
              <a:rPr lang="en-US" altLang="zh-CN" sz="2400" b="1">
                <a:ea typeface="宋体" panose="02010600030101010101" pitchFamily="2" charset="-122"/>
              </a:rPr>
              <a:t>    </a:t>
            </a:r>
            <a:r>
              <a:rPr lang="zh-CN" sz="2400" b="1">
                <a:ea typeface="宋体" panose="02010600030101010101" pitchFamily="2" charset="-122"/>
              </a:rPr>
              <a:t>基带信号处理包括下变频和采样</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采用零中频结构。数字信号存储在</a:t>
            </a:r>
            <a:r>
              <a:rPr lang="en-US" sz="2400" b="1">
                <a:latin typeface="Times New Roman" panose="02020603050405020304" charset="0"/>
                <a:ea typeface="宋体" panose="02010600030101010101" pitchFamily="2" charset="-122"/>
              </a:rPr>
              <a:t>RAM(</a:t>
            </a:r>
            <a:r>
              <a:rPr lang="zh-CN" sz="2400" b="1">
                <a:ea typeface="宋体" panose="02010600030101010101" pitchFamily="2" charset="-122"/>
              </a:rPr>
              <a:t>容量为</a:t>
            </a:r>
            <a:r>
              <a:rPr lang="en-US" sz="2400" b="1">
                <a:latin typeface="Times New Roman" panose="02020603050405020304" charset="0"/>
                <a:ea typeface="宋体" panose="02010600030101010101" pitchFamily="2" charset="-122"/>
              </a:rPr>
              <a:t>32KB)</a:t>
            </a:r>
            <a:r>
              <a:rPr lang="zh-CN" sz="2400" b="1">
                <a:ea typeface="宋体" panose="02010600030101010101" pitchFamily="2" charset="-122"/>
              </a:rPr>
              <a:t>中</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供</a:t>
            </a:r>
            <a:r>
              <a:rPr lang="en-US" sz="2400" b="1">
                <a:latin typeface="Times New Roman" panose="02020603050405020304" charset="0"/>
                <a:ea typeface="宋体" panose="02010600030101010101" pitchFamily="2" charset="-122"/>
              </a:rPr>
              <a:t>ARM</a:t>
            </a:r>
            <a:r>
              <a:rPr lang="zh-CN" sz="2400" b="1">
                <a:ea typeface="宋体" panose="02010600030101010101" pitchFamily="2" charset="-122"/>
              </a:rPr>
              <a:t>处理器调用和处理</a:t>
            </a:r>
            <a:r>
              <a:rPr lang="zh-CN" sz="2400" b="1">
                <a:latin typeface="Times New Roman" panose="02020603050405020304" charset="0"/>
                <a:ea typeface="宋体" panose="02010600030101010101" pitchFamily="2" charset="-122"/>
              </a:rPr>
              <a:t>，</a:t>
            </a:r>
            <a:r>
              <a:rPr lang="en-US" sz="2400" b="1">
                <a:latin typeface="Times New Roman" panose="02020603050405020304" charset="0"/>
                <a:ea typeface="宋体" panose="02010600030101010101" pitchFamily="2" charset="-122"/>
              </a:rPr>
              <a:t>ARM</a:t>
            </a:r>
            <a:r>
              <a:rPr lang="zh-CN" sz="2400" b="1">
                <a:ea typeface="宋体" panose="02010600030101010101" pitchFamily="2" charset="-122"/>
              </a:rPr>
              <a:t>将处理后的数据从编码接口输出到其他设备。信号发</a:t>
            </a:r>
            <a:r>
              <a:rPr lang="zh-CN" sz="2400" b="1">
                <a:latin typeface="Times New Roman" panose="02020603050405020304" charset="0"/>
                <a:ea typeface="宋体" panose="02010600030101010101" pitchFamily="2" charset="-122"/>
              </a:rPr>
              <a:t>送</a:t>
            </a:r>
            <a:r>
              <a:rPr lang="zh-CN" sz="2400" b="1">
                <a:ea typeface="宋体" panose="02010600030101010101" pitchFamily="2" charset="-122"/>
              </a:rPr>
              <a:t>过程是信号</a:t>
            </a:r>
            <a:r>
              <a:rPr lang="zh-CN" sz="2400" b="1">
                <a:latin typeface="Times New Roman" panose="02020603050405020304" charset="0"/>
                <a:ea typeface="宋体" panose="02010600030101010101" pitchFamily="2" charset="-122"/>
              </a:rPr>
              <a:t>接</a:t>
            </a:r>
            <a:r>
              <a:rPr lang="zh-CN" sz="2400" b="1">
                <a:ea typeface="宋体" panose="02010600030101010101" pitchFamily="2" charset="-122"/>
              </a:rPr>
              <a:t>收的逆过程。此外</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硬件还包括时钟和电源管理模块以及多个通用</a:t>
            </a:r>
            <a:r>
              <a:rPr lang="en-US" sz="2400" b="1">
                <a:latin typeface="Times New Roman" panose="02020603050405020304" charset="0"/>
                <a:ea typeface="宋体" panose="02010600030101010101" pitchFamily="2" charset="-122"/>
              </a:rPr>
              <a:t>I/O</a:t>
            </a:r>
            <a:r>
              <a:rPr lang="zh-CN" sz="2400" b="1">
                <a:ea typeface="宋体" panose="02010600030101010101" pitchFamily="2" charset="-122"/>
              </a:rPr>
              <a:t>口</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供不同的外设使用。主机接口可以提供双工的通用串口</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可以方便地与</a:t>
            </a:r>
            <a:r>
              <a:rPr lang="en-US" sz="2400" b="1">
                <a:latin typeface="Times New Roman" panose="02020603050405020304" charset="0"/>
                <a:ea typeface="宋体" panose="02010600030101010101" pitchFamily="2" charset="-122"/>
              </a:rPr>
              <a:t>PC</a:t>
            </a:r>
            <a:r>
              <a:rPr lang="zh-CN" sz="2400" b="1">
                <a:ea typeface="宋体" panose="02010600030101010101" pitchFamily="2" charset="-122"/>
              </a:rPr>
              <a:t>的</a:t>
            </a:r>
            <a:r>
              <a:rPr lang="en-US" sz="2400" b="1">
                <a:latin typeface="Times New Roman" panose="02020603050405020304" charset="0"/>
                <a:ea typeface="宋体" panose="02010600030101010101" pitchFamily="2" charset="-122"/>
              </a:rPr>
              <a:t>RS-232</a:t>
            </a:r>
            <a:r>
              <a:rPr lang="zh-CN" sz="2400" b="1">
                <a:ea typeface="宋体" panose="02010600030101010101" pitchFamily="2" charset="-122"/>
              </a:rPr>
              <a:t>通信</a:t>
            </a:r>
            <a:r>
              <a:rPr lang="zh-CN" sz="2400" b="1">
                <a:latin typeface="Times New Roman" panose="02020603050405020304" charset="0"/>
                <a:ea typeface="宋体" panose="02010600030101010101" pitchFamily="2" charset="-122"/>
              </a:rPr>
              <a:t>，</a:t>
            </a:r>
            <a:r>
              <a:rPr lang="zh-CN" sz="2400" b="1">
                <a:ea typeface="宋体" panose="02010600030101010101" pitchFamily="2" charset="-122"/>
              </a:rPr>
              <a:t>也可以与</a:t>
            </a:r>
            <a:r>
              <a:rPr lang="en-US" sz="2400" b="1">
                <a:latin typeface="Times New Roman" panose="02020603050405020304" charset="0"/>
                <a:ea typeface="宋体" panose="02010600030101010101" pitchFamily="2" charset="-122"/>
              </a:rPr>
              <a:t>DSP</a:t>
            </a:r>
            <a:r>
              <a:rPr lang="zh-CN" sz="2400" b="1">
                <a:ea typeface="宋体" panose="02010600030101010101" pitchFamily="2" charset="-122"/>
              </a:rPr>
              <a:t>的缓冲串口通信。</a:t>
            </a:r>
            <a:endParaRPr lang="zh-CN" altLang="en-US" sz="2400" b="1"/>
          </a:p>
        </p:txBody>
      </p:sp>
      <p:sp>
        <p:nvSpPr>
          <p:cNvPr id="6" name="标题 1"/>
          <p:cNvSpPr>
            <a:spLocks noGrp="1"/>
          </p:cNvSpPr>
          <p:nvPr>
            <p:ph type="title"/>
          </p:nvPr>
        </p:nvSpPr>
        <p:spPr>
          <a:xfrm>
            <a:off x="479425" y="0"/>
            <a:ext cx="7310755" cy="1325880"/>
          </a:xfrm>
        </p:spPr>
        <p:txBody>
          <a:bodyPr/>
          <a:p>
            <a:pPr>
              <a:buClrTx/>
              <a:buSzTx/>
              <a:buFontTx/>
            </a:pPr>
            <a:r>
              <a:rPr lang="en-US" sz="4400" b="1" u="sng" dirty="0" err="1">
                <a:solidFill>
                  <a:srgbClr val="0563C1"/>
                </a:solidFill>
                <a:uFillTx/>
                <a:latin typeface="Times New Roman" panose="02020603050405020304" charset="0"/>
                <a:ea typeface="宋体" panose="02010600030101010101" pitchFamily="2" charset="-122"/>
              </a:rPr>
              <a:t>3.5.3.3  Bluetooth模块</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572" descr="图3-24"/>
          <p:cNvPicPr>
            <a:picLocks noChangeAspect="1"/>
          </p:cNvPicPr>
          <p:nvPr/>
        </p:nvPicPr>
        <p:blipFill>
          <a:blip r:embed="rId1"/>
          <a:stretch>
            <a:fillRect/>
          </a:stretch>
        </p:blipFill>
        <p:spPr>
          <a:xfrm>
            <a:off x="3256280" y="238760"/>
            <a:ext cx="6746875" cy="6119495"/>
          </a:xfrm>
          <a:prstGeom prst="rect">
            <a:avLst/>
          </a:prstGeom>
          <a:noFill/>
          <a:ln>
            <a:noFill/>
          </a:ln>
        </p:spPr>
      </p:pic>
      <p:sp>
        <p:nvSpPr>
          <p:cNvPr id="100" name="文本框 99"/>
          <p:cNvSpPr txBox="1"/>
          <p:nvPr/>
        </p:nvSpPr>
        <p:spPr>
          <a:xfrm>
            <a:off x="3947795" y="6249670"/>
            <a:ext cx="5080000" cy="398780"/>
          </a:xfrm>
          <a:prstGeom prst="rect">
            <a:avLst/>
          </a:prstGeom>
          <a:noFill/>
          <a:ln w="9525">
            <a:noFill/>
          </a:ln>
        </p:spPr>
        <p:txBody>
          <a:bodyPr>
            <a:spAutoFit/>
          </a:bodyPr>
          <a:lstStyle/>
          <a:p>
            <a:pPr indent="0" algn="ct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3-5-10   </a:t>
            </a:r>
            <a:r>
              <a:rPr lang="zh-CN" sz="2000" b="0">
                <a:ea typeface="宋体" panose="02010600030101010101" pitchFamily="2" charset="-122"/>
              </a:rPr>
              <a:t>蓝牙模块设计时协议实现的内容</a:t>
            </a:r>
            <a:endParaRPr lang="zh-CN" altLang="en-US" sz="20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0"/>
            <a:ext cx="7310755" cy="1325880"/>
          </a:xfrm>
        </p:spPr>
        <p:txBody>
          <a:bodyPr/>
          <a:lstStyle/>
          <a:p>
            <a:pPr>
              <a:lnSpc>
                <a:spcPct val="100000"/>
              </a:lnSpc>
              <a:spcBef>
                <a:spcPts val="0"/>
              </a:spcBef>
              <a:defRPr/>
            </a:pPr>
            <a:r>
              <a:rPr lang="en-US" sz="2800" b="1" dirty="0">
                <a:solidFill>
                  <a:srgbClr val="0563C1"/>
                </a:solidFill>
                <a:latin typeface="Times New Roman" panose="02020603050405020304" charset="0"/>
                <a:ea typeface="等线" panose="02010600030101010101" charset="-122"/>
                <a:cs typeface="Times New Roman" panose="02020603050405020304" charset="0"/>
                <a:sym typeface="+mn-ea"/>
              </a:rPr>
              <a:t> </a:t>
            </a:r>
            <a:r>
              <a:rPr lang="en-US" sz="4400" b="1" u="sng" dirty="0" err="1">
                <a:solidFill>
                  <a:srgbClr val="0563C1"/>
                </a:solidFill>
                <a:uFillTx/>
                <a:latin typeface="Times New Roman" panose="02020603050405020304" charset="0"/>
                <a:ea typeface="宋体" panose="02010600030101010101" pitchFamily="2" charset="-122"/>
                <a:sym typeface="+mn-ea"/>
              </a:rPr>
              <a:t>3.5.4 </a:t>
            </a:r>
            <a:r>
              <a:rPr lang="en-US" sz="4400" b="1" u="sng" dirty="0" err="1">
                <a:solidFill>
                  <a:srgbClr val="0563C1"/>
                </a:solidFill>
                <a:uFillTx/>
                <a:latin typeface="Times New Roman" panose="02020603050405020304" charset="0"/>
                <a:ea typeface="宋体" panose="02010600030101010101" pitchFamily="2" charset="-122"/>
              </a:rPr>
              <a:t>Wi-Fi技术</a:t>
            </a:r>
            <a:endParaRPr lang="zh-CN" altLang="en-US" sz="2800" b="1" dirty="0">
              <a:solidFill>
                <a:srgbClr val="0563C1"/>
              </a:solidFill>
              <a:latin typeface="Times New Roman" panose="02020603050405020304" charset="0"/>
              <a:ea typeface="等线" panose="02010600030101010101" charset="-122"/>
              <a:cs typeface="Times New Roman" panose="02020603050405020304" charset="0"/>
            </a:endParaRPr>
          </a:p>
        </p:txBody>
      </p:sp>
      <p:sp>
        <p:nvSpPr>
          <p:cNvPr id="6" name="文本框 5"/>
          <p:cNvSpPr txBox="1"/>
          <p:nvPr/>
        </p:nvSpPr>
        <p:spPr>
          <a:xfrm>
            <a:off x="641350" y="1076976"/>
            <a:ext cx="10909299" cy="5507990"/>
          </a:xfrm>
          <a:prstGeom prst="rect">
            <a:avLst/>
          </a:prstGeom>
          <a:noFill/>
        </p:spPr>
        <p:txBody>
          <a:bodyPr wrap="square">
            <a:spAutoFit/>
          </a:bodyPr>
          <a:lstStyle/>
          <a:p>
            <a:pPr>
              <a:lnSpc>
                <a:spcPct val="100000"/>
              </a:lnSpc>
            </a:pPr>
            <a:r>
              <a:rPr lang="en-US" altLang="zh-CN" sz="2200" b="1" dirty="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a:t>
            </a:r>
            <a:r>
              <a:rPr lang="en-US" altLang="zh-CN" sz="2200" b="1" dirty="0">
                <a:latin typeface="Times New Roman" panose="02020603050405020304" charset="0"/>
                <a:ea typeface="宋体" panose="02010600030101010101" pitchFamily="2" charset="-122"/>
                <a:cs typeface="Times New Roman" panose="02020603050405020304" charset="0"/>
              </a:rPr>
              <a:t>Wireless Fidelity</a:t>
            </a:r>
            <a:r>
              <a:rPr lang="zh-CN" altLang="en-US" sz="2200" b="1" dirty="0">
                <a:latin typeface="Times New Roman" panose="02020603050405020304" charset="0"/>
                <a:ea typeface="宋体" panose="02010600030101010101" pitchFamily="2" charset="-122"/>
                <a:cs typeface="Times New Roman" panose="02020603050405020304" charset="0"/>
              </a:rPr>
              <a:t>，无线保真技术）其实就是</a:t>
            </a:r>
            <a:r>
              <a:rPr lang="en-US" altLang="zh-CN" sz="2200" b="1" dirty="0">
                <a:latin typeface="Times New Roman" panose="02020603050405020304" charset="0"/>
                <a:ea typeface="宋体" panose="02010600030101010101" pitchFamily="2" charset="-122"/>
                <a:cs typeface="Times New Roman" panose="02020603050405020304" charset="0"/>
              </a:rPr>
              <a:t>IEEE 802.11b</a:t>
            </a:r>
            <a:r>
              <a:rPr lang="zh-CN" altLang="en-US" sz="2200" b="1" dirty="0">
                <a:latin typeface="Times New Roman" panose="02020603050405020304" charset="0"/>
                <a:ea typeface="宋体" panose="02010600030101010101" pitchFamily="2" charset="-122"/>
                <a:cs typeface="Times New Roman" panose="02020603050405020304" charset="0"/>
              </a:rPr>
              <a:t>的别称，是无线局域网联盟的一个商标，目的是改善基于</a:t>
            </a:r>
            <a:r>
              <a:rPr lang="en-US" altLang="zh-CN" sz="2200" b="1" dirty="0">
                <a:latin typeface="Times New Roman" panose="02020603050405020304" charset="0"/>
                <a:ea typeface="宋体" panose="02010600030101010101" pitchFamily="2" charset="-122"/>
                <a:cs typeface="Times New Roman" panose="02020603050405020304" charset="0"/>
              </a:rPr>
              <a:t>IEEE 802.i1</a:t>
            </a:r>
            <a:r>
              <a:rPr lang="zh-CN" altLang="en-US" sz="2200" b="1" dirty="0">
                <a:latin typeface="Times New Roman" panose="02020603050405020304" charset="0"/>
                <a:ea typeface="宋体" panose="02010600030101010101" pitchFamily="2" charset="-122"/>
                <a:cs typeface="Times New Roman" panose="02020603050405020304" charset="0"/>
              </a:rPr>
              <a:t>协议的无线产品之间的互通性。因此，现在基于</a:t>
            </a:r>
            <a:r>
              <a:rPr lang="en-US" altLang="zh-CN" sz="2200" b="1" dirty="0">
                <a:latin typeface="Times New Roman" panose="02020603050405020304" charset="0"/>
                <a:ea typeface="宋体" panose="02010600030101010101" pitchFamily="2" charset="-122"/>
                <a:cs typeface="Times New Roman" panose="02020603050405020304" charset="0"/>
              </a:rPr>
              <a:t>IEEE 802.i1</a:t>
            </a:r>
            <a:r>
              <a:rPr lang="zh-CN" altLang="en-US" sz="2200" b="1" dirty="0">
                <a:latin typeface="Times New Roman" panose="02020603050405020304" charset="0"/>
                <a:ea typeface="宋体" panose="02010600030101010101" pitchFamily="2" charset="-122"/>
                <a:cs typeface="Times New Roman" panose="02020603050405020304" charset="0"/>
              </a:rPr>
              <a:t>协议的无线局域网统称为</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网络。</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网络是以太网的一种无线扩展，具有部署方便、构建快速和灵活的特点，能够与现有的有线网络无缝连接，不需要额外的接入设备。</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的工作频段在</a:t>
            </a:r>
            <a:r>
              <a:rPr lang="en-US" altLang="zh-CN" sz="2200" b="1" dirty="0">
                <a:latin typeface="Times New Roman" panose="02020603050405020304" charset="0"/>
                <a:ea typeface="宋体" panose="02010600030101010101" pitchFamily="2" charset="-122"/>
                <a:cs typeface="Times New Roman" panose="02020603050405020304" charset="0"/>
              </a:rPr>
              <a:t>ISM 2.4GHz</a:t>
            </a:r>
            <a:r>
              <a:rPr lang="zh-CN" altLang="en-US" sz="2200" b="1" dirty="0">
                <a:latin typeface="Times New Roman" panose="02020603050405020304" charset="0"/>
                <a:ea typeface="宋体" panose="02010600030101010101" pitchFamily="2" charset="-122"/>
                <a:cs typeface="Times New Roman" panose="02020603050405020304" charset="0"/>
              </a:rPr>
              <a:t>频带上。</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的主要特点是高速率，</a:t>
            </a:r>
            <a:r>
              <a:rPr lang="en-US" altLang="zh-CN" sz="2200" b="1" dirty="0">
                <a:latin typeface="Times New Roman" panose="02020603050405020304" charset="0"/>
                <a:ea typeface="宋体" panose="02010600030101010101" pitchFamily="2" charset="-122"/>
                <a:cs typeface="Times New Roman" panose="02020603050405020304" charset="0"/>
              </a:rPr>
              <a:t>IEEE 802.i1</a:t>
            </a:r>
            <a:r>
              <a:rPr lang="zh-CN" altLang="en-US" sz="2200" b="1" dirty="0">
                <a:latin typeface="Times New Roman" panose="02020603050405020304" charset="0"/>
                <a:ea typeface="宋体" panose="02010600030101010101" pitchFamily="2" charset="-122"/>
                <a:cs typeface="Times New Roman" panose="02020603050405020304" charset="0"/>
              </a:rPr>
              <a:t>标准从最初的</a:t>
            </a:r>
            <a:r>
              <a:rPr lang="en-US" altLang="zh-CN" sz="2200" b="1" dirty="0">
                <a:latin typeface="Times New Roman" panose="02020603050405020304" charset="0"/>
                <a:ea typeface="宋体" panose="02010600030101010101" pitchFamily="2" charset="-122"/>
                <a:cs typeface="Times New Roman" panose="02020603050405020304" charset="0"/>
              </a:rPr>
              <a:t>1Mb/s</a:t>
            </a:r>
            <a:r>
              <a:rPr lang="zh-CN" altLang="en-US" sz="2200" b="1" dirty="0">
                <a:latin typeface="Times New Roman" panose="02020603050405020304" charset="0"/>
                <a:ea typeface="宋体" panose="02010600030101010101" pitchFamily="2" charset="-122"/>
                <a:cs typeface="Times New Roman" panose="02020603050405020304" charset="0"/>
              </a:rPr>
              <a:t>和</a:t>
            </a:r>
            <a:r>
              <a:rPr lang="en-US" altLang="zh-CN" sz="2200" b="1" dirty="0">
                <a:latin typeface="Times New Roman" panose="02020603050405020304" charset="0"/>
                <a:ea typeface="宋体" panose="02010600030101010101" pitchFamily="2" charset="-122"/>
                <a:cs typeface="Times New Roman" panose="02020603050405020304" charset="0"/>
              </a:rPr>
              <a:t>2Mb/s</a:t>
            </a:r>
            <a:r>
              <a:rPr lang="zh-CN" altLang="en-US" sz="2200" b="1" dirty="0">
                <a:latin typeface="Times New Roman" panose="02020603050405020304" charset="0"/>
                <a:ea typeface="宋体" panose="02010600030101010101" pitchFamily="2" charset="-122"/>
                <a:cs typeface="Times New Roman" panose="02020603050405020304" charset="0"/>
              </a:rPr>
              <a:t>传输速率的技术发展到目前广泛使用的</a:t>
            </a:r>
            <a:r>
              <a:rPr lang="en-US" altLang="zh-CN" sz="2200" b="1" dirty="0">
                <a:latin typeface="Times New Roman" panose="02020603050405020304" charset="0"/>
                <a:ea typeface="宋体" panose="02010600030101010101" pitchFamily="2" charset="-122"/>
                <a:cs typeface="Times New Roman" panose="02020603050405020304" charset="0"/>
              </a:rPr>
              <a:t>IEEE 802.11g</a:t>
            </a:r>
            <a:r>
              <a:rPr lang="zh-CN" altLang="en-US" sz="2200" b="1" dirty="0">
                <a:latin typeface="Times New Roman" panose="02020603050405020304" charset="0"/>
                <a:ea typeface="宋体" panose="02010600030101010101" pitchFamily="2" charset="-122"/>
                <a:cs typeface="Times New Roman" panose="02020603050405020304" charset="0"/>
              </a:rPr>
              <a:t>协议，其最大数据传输率为</a:t>
            </a:r>
            <a:r>
              <a:rPr lang="en-US" altLang="zh-CN" sz="2200" b="1" dirty="0">
                <a:latin typeface="Times New Roman" panose="02020603050405020304" charset="0"/>
                <a:ea typeface="宋体" panose="02010600030101010101" pitchFamily="2" charset="-122"/>
                <a:cs typeface="Times New Roman" panose="02020603050405020304" charset="0"/>
              </a:rPr>
              <a:t>54Mb/s</a:t>
            </a:r>
            <a:r>
              <a:rPr lang="zh-CN" altLang="en-US" sz="2200" b="1" dirty="0">
                <a:latin typeface="Times New Roman" panose="02020603050405020304" charset="0"/>
                <a:ea typeface="宋体" panose="02010600030101010101" pitchFamily="2" charset="-122"/>
                <a:cs typeface="Times New Roman" panose="02020603050405020304" charset="0"/>
              </a:rPr>
              <a:t>。</a:t>
            </a:r>
            <a:endParaRPr lang="zh-CN" altLang="en-US" sz="2200" b="1" dirty="0">
              <a:latin typeface="Times New Roman" panose="02020603050405020304" charset="0"/>
              <a:ea typeface="宋体" panose="02010600030101010101" pitchFamily="2" charset="-122"/>
              <a:cs typeface="Times New Roman" panose="02020603050405020304" charset="0"/>
            </a:endParaRPr>
          </a:p>
          <a:p>
            <a:pPr>
              <a:lnSpc>
                <a:spcPct val="100000"/>
              </a:lnSpc>
            </a:pPr>
            <a:r>
              <a:rPr lang="en-US" altLang="zh-CN" sz="2200" b="1" dirty="0">
                <a:latin typeface="Times New Roman" panose="02020603050405020304" charset="0"/>
                <a:ea typeface="宋体" panose="02010600030101010101" pitchFamily="2" charset="-122"/>
                <a:cs typeface="Times New Roman" panose="02020603050405020304" charset="0"/>
              </a:rPr>
              <a:t>        IEEE 802.11</a:t>
            </a:r>
            <a:r>
              <a:rPr lang="zh-CN" altLang="en-US" sz="2200" b="1" dirty="0">
                <a:latin typeface="Times New Roman" panose="02020603050405020304" charset="0"/>
                <a:ea typeface="宋体" panose="02010600030101010101" pitchFamily="2" charset="-122"/>
                <a:cs typeface="Times New Roman" panose="02020603050405020304" charset="0"/>
              </a:rPr>
              <a:t>支持带宽的自动调节，在信号不好或信道受到干扰的情况下，网络带宽可在</a:t>
            </a:r>
            <a:r>
              <a:rPr lang="en-US" altLang="zh-CN" sz="2200" b="1" dirty="0">
                <a:latin typeface="Times New Roman" panose="02020603050405020304" charset="0"/>
                <a:ea typeface="宋体" panose="02010600030101010101" pitchFamily="2" charset="-122"/>
                <a:cs typeface="Times New Roman" panose="02020603050405020304" charset="0"/>
              </a:rPr>
              <a:t>11Mb/s</a:t>
            </a:r>
            <a:r>
              <a:rPr lang="zh-CN" altLang="en-US" sz="2200" b="1" dirty="0">
                <a:latin typeface="Times New Roman" panose="02020603050405020304" charset="0"/>
                <a:ea typeface="宋体" panose="02010600030101010101" pitchFamily="2" charset="-122"/>
                <a:cs typeface="Times New Roman" panose="02020603050405020304" charset="0"/>
              </a:rPr>
              <a:t>、</a:t>
            </a:r>
            <a:r>
              <a:rPr lang="en-US" altLang="zh-CN" sz="2200" b="1" dirty="0">
                <a:latin typeface="Times New Roman" panose="02020603050405020304" charset="0"/>
                <a:ea typeface="宋体" panose="02010600030101010101" pitchFamily="2" charset="-122"/>
                <a:cs typeface="Times New Roman" panose="02020603050405020304" charset="0"/>
              </a:rPr>
              <a:t>5.5Mb/s</a:t>
            </a:r>
            <a:r>
              <a:rPr lang="zh-CN" altLang="en-US" sz="2200" b="1" dirty="0">
                <a:latin typeface="Times New Roman" panose="02020603050405020304" charset="0"/>
                <a:ea typeface="宋体" panose="02010600030101010101" pitchFamily="2" charset="-122"/>
                <a:cs typeface="Times New Roman" panose="02020603050405020304" charset="0"/>
              </a:rPr>
              <a:t>、</a:t>
            </a:r>
            <a:r>
              <a:rPr lang="en-US" altLang="zh-CN" sz="2200" b="1" dirty="0">
                <a:latin typeface="Times New Roman" panose="02020603050405020304" charset="0"/>
                <a:ea typeface="宋体" panose="02010600030101010101" pitchFamily="2" charset="-122"/>
                <a:cs typeface="Times New Roman" panose="02020603050405020304" charset="0"/>
              </a:rPr>
              <a:t>2Mb/s</a:t>
            </a:r>
            <a:r>
              <a:rPr lang="zh-CN" altLang="en-US" sz="2200" b="1" dirty="0">
                <a:latin typeface="Times New Roman" panose="02020603050405020304" charset="0"/>
                <a:ea typeface="宋体" panose="02010600030101010101" pitchFamily="2" charset="-122"/>
                <a:cs typeface="Times New Roman" panose="02020603050405020304" charset="0"/>
              </a:rPr>
              <a:t>和</a:t>
            </a:r>
            <a:r>
              <a:rPr lang="en-US" altLang="zh-CN" sz="2200" b="1" dirty="0">
                <a:latin typeface="Times New Roman" panose="02020603050405020304" charset="0"/>
                <a:ea typeface="宋体" panose="02010600030101010101" pitchFamily="2" charset="-122"/>
                <a:cs typeface="Times New Roman" panose="02020603050405020304" charset="0"/>
              </a:rPr>
              <a:t>1Mb/s</a:t>
            </a:r>
            <a:r>
              <a:rPr lang="zh-CN" altLang="en-US" sz="2200" b="1" dirty="0">
                <a:latin typeface="Times New Roman" panose="02020603050405020304" charset="0"/>
                <a:ea typeface="宋体" panose="02010600030101010101" pitchFamily="2" charset="-122"/>
                <a:cs typeface="Times New Roman" panose="02020603050405020304" charset="0"/>
              </a:rPr>
              <a:t>内变化。通信距离远也是</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的一大优势，其通信距离在空旷的室外能达到</a:t>
            </a:r>
            <a:r>
              <a:rPr lang="en-US" altLang="zh-CN" sz="2200" b="1" dirty="0">
                <a:latin typeface="Times New Roman" panose="02020603050405020304" charset="0"/>
                <a:ea typeface="宋体" panose="02010600030101010101" pitchFamily="2" charset="-122"/>
                <a:cs typeface="Times New Roman" panose="02020603050405020304" charset="0"/>
              </a:rPr>
              <a:t>300m</a:t>
            </a:r>
            <a:r>
              <a:rPr lang="zh-CN" altLang="en-US" sz="2200" b="1" dirty="0">
                <a:latin typeface="Times New Roman" panose="02020603050405020304" charset="0"/>
                <a:ea typeface="宋体" panose="02010600030101010101" pitchFamily="2" charset="-122"/>
                <a:cs typeface="Times New Roman" panose="02020603050405020304" charset="0"/>
              </a:rPr>
              <a:t>，在室内也能达到</a:t>
            </a:r>
            <a:r>
              <a:rPr lang="en-US" altLang="zh-CN" sz="2200" b="1" dirty="0">
                <a:latin typeface="Times New Roman" panose="02020603050405020304" charset="0"/>
                <a:ea typeface="宋体" panose="02010600030101010101" pitchFamily="2" charset="-122"/>
                <a:cs typeface="Times New Roman" panose="02020603050405020304" charset="0"/>
              </a:rPr>
              <a:t>100m</a:t>
            </a:r>
            <a:r>
              <a:rPr lang="zh-CN" altLang="en-US" sz="2200" b="1" dirty="0">
                <a:latin typeface="Times New Roman" panose="02020603050405020304" charset="0"/>
                <a:ea typeface="宋体" panose="02010600030101010101" pitchFamily="2" charset="-122"/>
                <a:cs typeface="Times New Roman" panose="02020603050405020304" charset="0"/>
              </a:rPr>
              <a:t>，在监测区域能有效减少设备的使用，降低成本。</a:t>
            </a:r>
            <a:endParaRPr lang="zh-CN" altLang="en-US" sz="2200" b="1" dirty="0">
              <a:latin typeface="Times New Roman" panose="02020603050405020304" charset="0"/>
              <a:ea typeface="宋体" panose="02010600030101010101" pitchFamily="2" charset="-122"/>
              <a:cs typeface="Times New Roman" panose="02020603050405020304" charset="0"/>
            </a:endParaRPr>
          </a:p>
          <a:p>
            <a:pPr>
              <a:lnSpc>
                <a:spcPct val="100000"/>
              </a:lnSpc>
            </a:pPr>
            <a:r>
              <a:rPr lang="zh-CN" altLang="en-US" sz="2200" b="1" dirty="0">
                <a:latin typeface="Times New Roman" panose="02020603050405020304" charset="0"/>
                <a:ea typeface="宋体" panose="02010600030101010101" pitchFamily="2" charset="-122"/>
                <a:cs typeface="Times New Roman" panose="02020603050405020304" charset="0"/>
              </a:rPr>
              <a:t>    </a:t>
            </a:r>
            <a:r>
              <a:rPr lang="en-US" altLang="zh-CN" sz="2200" b="1" dirty="0">
                <a:latin typeface="Times New Roman" panose="02020603050405020304" charset="0"/>
                <a:ea typeface="宋体" panose="02010600030101010101" pitchFamily="2" charset="-122"/>
                <a:cs typeface="Times New Roman" panose="02020603050405020304" charset="0"/>
              </a:rPr>
              <a:t>    </a:t>
            </a:r>
            <a:r>
              <a:rPr lang="zh-CN" altLang="en-US" sz="2200" b="1" dirty="0">
                <a:latin typeface="Times New Roman" panose="02020603050405020304" charset="0"/>
                <a:ea typeface="宋体" panose="02010600030101010101" pitchFamily="2" charset="-122"/>
                <a:cs typeface="Times New Roman" panose="02020603050405020304" charset="0"/>
              </a:rPr>
              <a:t>在</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刚面市时，价格比较贵，不同制造商的设备兼容性差、安全性不理想，使用不是十分广泛。但随着研究的不断深入，</a:t>
            </a:r>
            <a:r>
              <a:rPr lang="en-US" altLang="zh-CN" sz="2200" b="1" dirty="0">
                <a:latin typeface="Times New Roman" panose="02020603050405020304" charset="0"/>
                <a:ea typeface="宋体" panose="02010600030101010101" pitchFamily="2" charset="-122"/>
                <a:cs typeface="Times New Roman" panose="02020603050405020304" charset="0"/>
              </a:rPr>
              <a:t>IEEE 802.11</a:t>
            </a:r>
            <a:r>
              <a:rPr lang="zh-CN" altLang="en-US" sz="2200" b="1" dirty="0">
                <a:latin typeface="Times New Roman" panose="02020603050405020304" charset="0"/>
                <a:ea typeface="宋体" panose="02010600030101010101" pitchFamily="2" charset="-122"/>
                <a:cs typeface="Times New Roman" panose="02020603050405020304" charset="0"/>
              </a:rPr>
              <a:t>协议更加完善，硬件制造技术更加成熟，这些问题逐步得到了解决。近年来，</a:t>
            </a:r>
            <a:r>
              <a:rPr lang="en-US" altLang="zh-CN" sz="2200" b="1" dirty="0">
                <a:latin typeface="Times New Roman" panose="02020603050405020304" charset="0"/>
                <a:ea typeface="宋体" panose="02010600030101010101" pitchFamily="2" charset="-122"/>
                <a:cs typeface="Times New Roman" panose="02020603050405020304" charset="0"/>
              </a:rPr>
              <a:t>Wi-Fi </a:t>
            </a:r>
            <a:r>
              <a:rPr lang="zh-CN" altLang="en-US" sz="2200" b="1" dirty="0">
                <a:latin typeface="Times New Roman" panose="02020603050405020304" charset="0"/>
                <a:ea typeface="宋体" panose="02010600030101010101" pitchFamily="2" charset="-122"/>
                <a:cs typeface="Times New Roman" panose="02020603050405020304" charset="0"/>
              </a:rPr>
              <a:t>芯片广泛应用在</a:t>
            </a:r>
            <a:r>
              <a:rPr lang="en-US" altLang="zh-CN" sz="2200" b="1" dirty="0">
                <a:latin typeface="Times New Roman" panose="02020603050405020304" charset="0"/>
                <a:ea typeface="宋体" panose="02010600030101010101" pitchFamily="2" charset="-122"/>
                <a:cs typeface="Times New Roman" panose="02020603050405020304" charset="0"/>
              </a:rPr>
              <a:t>PDA</a:t>
            </a:r>
            <a:r>
              <a:rPr lang="zh-CN" altLang="en-US" sz="2200" b="1" dirty="0">
                <a:latin typeface="Times New Roman" panose="02020603050405020304" charset="0"/>
                <a:ea typeface="宋体" panose="02010600030101010101" pitchFamily="2" charset="-122"/>
                <a:cs typeface="Times New Roman" panose="02020603050405020304" charset="0"/>
              </a:rPr>
              <a:t>、移动电话和其他便携式设备中。随着各国政府对无线基础设施的大力建设，在无线传感器网络中应用</a:t>
            </a:r>
            <a:r>
              <a:rPr lang="en-US" altLang="zh-CN" sz="2200" b="1" dirty="0">
                <a:latin typeface="Times New Roman" panose="02020603050405020304" charset="0"/>
                <a:ea typeface="宋体" panose="02010600030101010101" pitchFamily="2" charset="-122"/>
                <a:cs typeface="Times New Roman" panose="02020603050405020304" charset="0"/>
              </a:rPr>
              <a:t>Wi-Fi</a:t>
            </a:r>
            <a:r>
              <a:rPr lang="zh-CN" altLang="en-US" sz="2200" b="1" dirty="0">
                <a:latin typeface="Times New Roman" panose="02020603050405020304" charset="0"/>
                <a:ea typeface="宋体" panose="02010600030101010101" pitchFamily="2" charset="-122"/>
                <a:cs typeface="Times New Roman" panose="02020603050405020304" charset="0"/>
              </a:rPr>
              <a:t>技术已具备了相应的条件。</a:t>
            </a:r>
            <a:endParaRPr lang="zh-CN" altLang="en-US" sz="2200" b="1"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6765" y="0"/>
            <a:ext cx="7310755" cy="132588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t>3.5.4.1  Wi-Fi的基本概况</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
        <p:nvSpPr>
          <p:cNvPr id="7" name="文本框 6"/>
          <p:cNvSpPr txBox="1"/>
          <p:nvPr/>
        </p:nvSpPr>
        <p:spPr>
          <a:xfrm>
            <a:off x="957580" y="1697990"/>
            <a:ext cx="9649460" cy="2306955"/>
          </a:xfrm>
          <a:prstGeom prst="rect">
            <a:avLst/>
          </a:prstGeom>
          <a:noFill/>
          <a:ln w="9525">
            <a:noFill/>
          </a:ln>
        </p:spPr>
        <p:txBody>
          <a:bodyPr wrap="square">
            <a:spAutoFit/>
          </a:bodyPr>
          <a:lstStyle/>
          <a:p>
            <a:pPr indent="0">
              <a:lnSpc>
                <a:spcPct val="100000"/>
              </a:lnSpc>
            </a:pPr>
            <a:r>
              <a:rPr lang="zh-CN" altLang="en-US" sz="22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从</a:t>
            </a:r>
            <a:r>
              <a:rPr lang="en-US" altLang="zh-CN" sz="2400" b="1" dirty="0">
                <a:latin typeface="宋体" panose="02010600030101010101" pitchFamily="2" charset="-122"/>
                <a:ea typeface="宋体" panose="02010600030101010101" pitchFamily="2" charset="-122"/>
              </a:rPr>
              <a:t>20</a:t>
            </a:r>
            <a:r>
              <a:rPr lang="zh-CN" altLang="en-US" sz="2400" b="1" dirty="0">
                <a:latin typeface="宋体" panose="02010600030101010101" pitchFamily="2" charset="-122"/>
                <a:ea typeface="宋体" panose="02010600030101010101" pitchFamily="2" charset="-122"/>
              </a:rPr>
              <a:t>世纪</a:t>
            </a:r>
            <a:r>
              <a:rPr lang="en-US" altLang="zh-CN" sz="2400" b="1" dirty="0">
                <a:latin typeface="宋体" panose="02010600030101010101" pitchFamily="2" charset="-122"/>
                <a:ea typeface="宋体" panose="02010600030101010101" pitchFamily="2" charset="-122"/>
              </a:rPr>
              <a:t>90</a:t>
            </a:r>
            <a:r>
              <a:rPr lang="zh-CN" altLang="en-US" sz="2400" b="1" dirty="0">
                <a:latin typeface="宋体" panose="02010600030101010101" pitchFamily="2" charset="-122"/>
                <a:ea typeface="宋体" panose="02010600030101010101" pitchFamily="2" charset="-122"/>
              </a:rPr>
              <a:t>年代开始，个人计算机、手持设备（如</a:t>
            </a:r>
            <a:r>
              <a:rPr lang="en-US" altLang="zh-CN" sz="2400" b="1" dirty="0">
                <a:latin typeface="宋体" panose="02010600030101010101" pitchFamily="2" charset="-122"/>
                <a:ea typeface="宋体" panose="02010600030101010101" pitchFamily="2" charset="-122"/>
              </a:rPr>
              <a:t>PDA</a:t>
            </a:r>
            <a:r>
              <a:rPr lang="zh-CN" altLang="en-US" sz="2400" b="1" dirty="0">
                <a:latin typeface="宋体" panose="02010600030101010101" pitchFamily="2" charset="-122"/>
                <a:ea typeface="宋体" panose="02010600030101010101" pitchFamily="2" charset="-122"/>
              </a:rPr>
              <a:t>、手机）等终端产品快速进入人们的生活，这促使了无线网络技术的诞生和发展。无线网络技术是由澳大利亚研究机构</a:t>
            </a:r>
            <a:r>
              <a:rPr lang="en-US" altLang="zh-CN" sz="2400" b="1" dirty="0">
                <a:latin typeface="宋体" panose="02010600030101010101" pitchFamily="2" charset="-122"/>
                <a:ea typeface="宋体" panose="02010600030101010101" pitchFamily="2" charset="-122"/>
              </a:rPr>
              <a:t>CSIRO</a:t>
            </a:r>
            <a:r>
              <a:rPr lang="zh-CN" altLang="en-US" sz="2400" b="1" dirty="0">
                <a:latin typeface="宋体" panose="02010600030101010101" pitchFamily="2" charset="-122"/>
                <a:ea typeface="宋体" panose="02010600030101010101" pitchFamily="2" charset="-122"/>
              </a:rPr>
              <a:t>在</a:t>
            </a:r>
            <a:r>
              <a:rPr lang="en-US" altLang="zh-CN" sz="2400" b="1" dirty="0">
                <a:latin typeface="宋体" panose="02010600030101010101" pitchFamily="2" charset="-122"/>
                <a:ea typeface="宋体" panose="02010600030101010101" pitchFamily="2" charset="-122"/>
              </a:rPr>
              <a:t>20</a:t>
            </a:r>
            <a:r>
              <a:rPr lang="zh-CN" altLang="en-US" sz="2400" b="1" dirty="0">
                <a:latin typeface="宋体" panose="02010600030101010101" pitchFamily="2" charset="-122"/>
                <a:ea typeface="宋体" panose="02010600030101010101" pitchFamily="2" charset="-122"/>
              </a:rPr>
              <a:t>世纪</a:t>
            </a:r>
            <a:r>
              <a:rPr lang="en-US" altLang="zh-CN" sz="2400" b="1" dirty="0">
                <a:latin typeface="宋体" panose="02010600030101010101" pitchFamily="2" charset="-122"/>
                <a:ea typeface="宋体" panose="02010600030101010101" pitchFamily="2" charset="-122"/>
              </a:rPr>
              <a:t>90</a:t>
            </a:r>
            <a:r>
              <a:rPr lang="zh-CN" altLang="en-US" sz="2400" b="1" dirty="0">
                <a:latin typeface="宋体" panose="02010600030101010101" pitchFamily="2" charset="-122"/>
                <a:ea typeface="宋体" panose="02010600030101010101" pitchFamily="2" charset="-122"/>
              </a:rPr>
              <a:t>年代发明，并于</a:t>
            </a:r>
            <a:r>
              <a:rPr lang="en-US" altLang="zh-CN" sz="2400" b="1" dirty="0">
                <a:latin typeface="宋体" panose="02010600030101010101" pitchFamily="2" charset="-122"/>
                <a:ea typeface="宋体" panose="02010600030101010101" pitchFamily="2" charset="-122"/>
              </a:rPr>
              <a:t>1996</a:t>
            </a:r>
            <a:r>
              <a:rPr lang="zh-CN" altLang="en-US" sz="2400" b="1" dirty="0">
                <a:latin typeface="宋体" panose="02010600030101010101" pitchFamily="2" charset="-122"/>
                <a:ea typeface="宋体" panose="02010600030101010101" pitchFamily="2" charset="-122"/>
              </a:rPr>
              <a:t>年在美国成功申请了无线网技术专利。其发明者为悉尼大学工程系毕业生</a:t>
            </a:r>
            <a:r>
              <a:rPr lang="en-US" altLang="zh-CN" sz="2400" b="1" dirty="0">
                <a:latin typeface="宋体" panose="02010600030101010101" pitchFamily="2" charset="-122"/>
                <a:ea typeface="宋体" panose="02010600030101010101" pitchFamily="2" charset="-122"/>
              </a:rPr>
              <a:t>John O'Sullivan</a:t>
            </a:r>
            <a:r>
              <a:rPr lang="zh-CN" altLang="en-US" sz="2400" b="1" dirty="0">
                <a:latin typeface="宋体" panose="02010600030101010101" pitchFamily="2" charset="-122"/>
                <a:ea typeface="宋体" panose="02010600030101010101" pitchFamily="2" charset="-122"/>
              </a:rPr>
              <a:t>领导的一群由悉尼大学工程系毕业生组成的研究小组。</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55930" y="1191260"/>
            <a:ext cx="11280775" cy="5015865"/>
          </a:xfrm>
          <a:prstGeom prst="rect">
            <a:avLst/>
          </a:prstGeom>
          <a:noFill/>
          <a:ln w="9525">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        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模块是基于</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IEEE 802.11b</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标准的无线局域网设备。</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已成为当今无线上网的主要方式。一般架设无线网络的基本配备就是无线网卡及一台“无线访问接入点（</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Access Point, AP</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）”或桥接器，如此便能以无线的模式利用既有的有线架构来分享网络资源。如果只是几台计算机构成的对等网，也可不要</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AP</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，只需每台计算机配备无线网卡，得到授权后，无需增加端口，就可以以共享方式上网。</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模块的主要技术特点如下：</a:t>
            </a:r>
            <a:endPar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a:p>
            <a:pPr marL="228600" marR="0" lvl="0" indent="2667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更宽的带宽。</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IEEE802.11n</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标准将数据速率提高到千兆每秒或几千兆每秒，可以适应不同的功能和设备，收发装置支持</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3</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或</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4</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个数据流，发送和接收数据可以使用</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2</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个或</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3</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个天线组合，数据速率可以分别达到</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450Mb/s</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和</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600Mb/s</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。利用</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600Mb/s</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物理层数据速率，可以实现高速无线骨干网，将这些高端节点连接起来形成类似互联网的具有冗余能力的</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网络。</a:t>
            </a:r>
            <a:endPar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a:p>
            <a:pPr marL="228600" marR="0" lvl="0" indent="2667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更强的射频信号。</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IEEE 802.11n</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标准规定了无线芯片的特殊性能</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包括低密度奇偶校验码、提高纠错能力、发射波束形成、空间时分组编码等，这些物理层技术将使</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功能更强大，在给定范围内数据传输速率更高，传输距离更长。</a:t>
            </a:r>
            <a:endPar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a:p>
            <a:pPr marL="228600" marR="0" lvl="0" indent="2667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功耗更低。嵌入式无线数据通信技术的引入使</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在功耗管理方面得到控制，设备带有一个</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IP</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软件堆栈，使之具备其他射频技术所没有的功能。</a:t>
            </a:r>
            <a:endPar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a:p>
            <a:pPr marL="228600" marR="0" lvl="0" indent="2667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高安全性。</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IEEE 802.11w</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标准规定了</a:t>
            </a:r>
            <a:r>
              <a:rPr kumimoji="0" lang="en-US"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Wi-Fi</a:t>
            </a:r>
            <a:r>
              <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rPr>
              <a:t>无线管理帧，确定安全策略与用户关联，而不是与端口关联，切断和拒绝服务攻击、侵犯隐私、刺探等破坏性攻击的影响，使无线链路更安全地工作。</a:t>
            </a:r>
            <a:endParaRPr kumimoji="0" lang="zh-CN" altLang="zh-CN" sz="2000" b="1" i="0" u="none" strike="noStrike" kern="1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mn-cs"/>
            </a:endParaRPr>
          </a:p>
        </p:txBody>
      </p:sp>
      <p:sp>
        <p:nvSpPr>
          <p:cNvPr id="8" name="标题 1"/>
          <p:cNvSpPr>
            <a:spLocks noGrp="1"/>
          </p:cNvSpPr>
          <p:nvPr>
            <p:ph type="title"/>
          </p:nvPr>
        </p:nvSpPr>
        <p:spPr>
          <a:xfrm>
            <a:off x="618490" y="75347"/>
            <a:ext cx="10515600" cy="1325563"/>
          </a:xfrm>
        </p:spPr>
        <p:txBody>
          <a:bodyPr>
            <a:normAutofit fontScale="90000"/>
          </a:bodyPr>
          <a:lstStyle/>
          <a:p>
            <a:br>
              <a:rPr lang="en-US" altLang="zh-CN" sz="2400" b="1" dirty="0">
                <a:latin typeface="Times New Roman" panose="02020603050405020304" charset="0"/>
                <a:ea typeface="宋体" panose="02010600030101010101" pitchFamily="2" charset="-122"/>
              </a:rPr>
            </a:br>
            <a:r>
              <a:rPr lang="en-US" sz="4890" b="1" u="sng" dirty="0" err="1">
                <a:solidFill>
                  <a:srgbClr val="0563C1"/>
                </a:solidFill>
                <a:uFillTx/>
                <a:latin typeface="Times New Roman" panose="02020603050405020304" charset="0"/>
                <a:ea typeface="宋体" panose="02010600030101010101" pitchFamily="2" charset="-122"/>
              </a:rPr>
              <a:t>3.5.4.2  技术特点</a:t>
            </a:r>
            <a:br>
              <a:rPr kumimoji="0" lang="en-US" sz="4400" b="1" i="0" u="sng" strike="noStrike" kern="1200" cap="none" spc="0" normalizeH="0" baseline="0" dirty="0" err="1">
                <a:solidFill>
                  <a:srgbClr val="0563C1"/>
                </a:solidFill>
                <a:uFillTx/>
                <a:latin typeface="Times New Roman" panose="02020603050405020304" charset="0"/>
                <a:ea typeface="宋体" panose="02010600030101010101" pitchFamily="2" charset="-122"/>
              </a:rPr>
            </a:br>
            <a:endParaRPr lang="en-US"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8490" y="327025"/>
            <a:ext cx="10515600" cy="1325563"/>
          </a:xfrm>
        </p:spPr>
        <p:txBody>
          <a:bodyPr>
            <a:normAutofit fontScale="90000"/>
          </a:bodyPr>
          <a:lstStyle/>
          <a:p>
            <a:r>
              <a:rPr lang="en-US" sz="4890" b="1" u="sng" dirty="0" err="1">
                <a:solidFill>
                  <a:srgbClr val="0563C1"/>
                </a:solidFill>
                <a:uFillTx/>
                <a:latin typeface="Times New Roman" panose="02020603050405020304" charset="0"/>
                <a:ea typeface="宋体" panose="02010600030101010101" pitchFamily="2" charset="-122"/>
              </a:rPr>
              <a:t>3.5.4.3  工作方式</a:t>
            </a:r>
            <a:br>
              <a:rPr kumimoji="0" lang="en-US" altLang="zh-CN" sz="440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Times New Roman" panose="02020603050405020304" charset="0"/>
              </a:rPr>
            </a:br>
            <a:endParaRPr lang="zh-CN" altLang="en-US" dirty="0"/>
          </a:p>
        </p:txBody>
      </p:sp>
      <p:sp>
        <p:nvSpPr>
          <p:cNvPr id="100" name="文本框 99"/>
          <p:cNvSpPr txBox="1"/>
          <p:nvPr/>
        </p:nvSpPr>
        <p:spPr>
          <a:xfrm>
            <a:off x="550227" y="1287244"/>
            <a:ext cx="10652125" cy="5631180"/>
          </a:xfrm>
          <a:prstGeom prst="rect">
            <a:avLst/>
          </a:prstGeom>
          <a:noFill/>
          <a:ln w="9525">
            <a:noFill/>
          </a:ln>
        </p:spPr>
        <p:txBody>
          <a:bodyPr wrap="square">
            <a:spAutoFit/>
          </a:bodyPr>
          <a:lstStyle/>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模块为串口或</a:t>
            </a:r>
            <a:r>
              <a:rPr lang="en-US" altLang="zh-CN" sz="2000" b="1" kern="100" dirty="0">
                <a:effectLst/>
                <a:latin typeface="Times New Roman" panose="02020603050405020304" charset="0"/>
                <a:ea typeface="宋体" panose="02010600030101010101" pitchFamily="2" charset="-122"/>
                <a:cs typeface="Times New Roman" panose="02020603050405020304" charset="0"/>
              </a:rPr>
              <a:t>TTL</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电平转</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通信的一种传输转换产品，</a:t>
            </a:r>
            <a:r>
              <a:rPr lang="en-US" altLang="zh-CN" sz="2000" b="1" kern="100" dirty="0" err="1">
                <a:effectLst/>
                <a:latin typeface="Times New Roman" panose="02020603050405020304" charset="0"/>
                <a:ea typeface="宋体" panose="02010600030101010101" pitchFamily="2" charset="-122"/>
                <a:cs typeface="Times New Roman" panose="02020603050405020304" charset="0"/>
              </a:rPr>
              <a:t>Uart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模块是基于</a:t>
            </a:r>
            <a:r>
              <a:rPr lang="en-US" altLang="zh-CN" sz="2000" b="1" kern="100" dirty="0" err="1">
                <a:effectLst/>
                <a:latin typeface="Times New Roman" panose="02020603050405020304" charset="0"/>
                <a:ea typeface="宋体" panose="02010600030101010101" pitchFamily="2" charset="-122"/>
                <a:cs typeface="Times New Roman" panose="02020603050405020304" charset="0"/>
              </a:rPr>
              <a:t>Uart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接口的符合</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无线网络标准的嵌入式模块，内置无线网络协议</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协议栈以及</a:t>
            </a:r>
            <a:r>
              <a:rPr lang="en-US" altLang="zh-CN" sz="2000" b="1" kern="100" dirty="0">
                <a:effectLst/>
                <a:latin typeface="Times New Roman" panose="02020603050405020304" charset="0"/>
                <a:ea typeface="宋体" panose="02010600030101010101" pitchFamily="2" charset="-122"/>
                <a:cs typeface="Times New Roman" panose="02020603050405020304" charset="0"/>
              </a:rPr>
              <a:t>TCP/IP</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协议找，能够实现用户串口或</a:t>
            </a:r>
            <a:r>
              <a:rPr lang="en-US" altLang="zh-CN" sz="2000" b="1" kern="100" dirty="0">
                <a:effectLst/>
                <a:latin typeface="Times New Roman" panose="02020603050405020304" charset="0"/>
                <a:ea typeface="宋体" panose="02010600030101010101" pitchFamily="2" charset="-122"/>
                <a:cs typeface="Times New Roman" panose="02020603050405020304" charset="0"/>
              </a:rPr>
              <a:t>TTL</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电平数据到无线网络之间的转换。</a:t>
            </a:r>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模块可分为以下</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类：</a:t>
            </a:r>
            <a:endParaRPr lang="en-US"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）通用</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模块。例如手机、笔记本、平板电脑上的</a:t>
            </a:r>
            <a:r>
              <a:rPr lang="en-US" altLang="zh-CN" sz="2000" b="1" kern="100" dirty="0" err="1">
                <a:effectLst/>
                <a:latin typeface="Times New Roman" panose="02020603050405020304" charset="0"/>
                <a:ea typeface="宋体" panose="02010600030101010101" pitchFamily="2" charset="-122"/>
                <a:cs typeface="Times New Roman" panose="02020603050405020304" charset="0"/>
              </a:rPr>
              <a:t>USBorSDIO</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接口模块，</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协议栈和驱动是在安卓、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Windows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IOS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的系统里，需要非常强大的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CPU</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来完成应用。</a:t>
            </a:r>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2</a:t>
            </a:r>
            <a:r>
              <a:rPr lang="zh-CN" altLang="zh-CN" sz="2000" b="1" kern="100" dirty="0">
                <a:effectLst/>
                <a:latin typeface="Times New Roman" panose="02020603050405020304" charset="0"/>
                <a:ea typeface="宋体" panose="02010600030101010101" pitchFamily="2" charset="-122"/>
                <a:cs typeface="Times New Roman" panose="02020603050405020304" charset="0"/>
              </a:rPr>
              <a:t>）路由器</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模块。典型的产品是家用路由器，其协议和驱动是借助拥有强大</a:t>
            </a:r>
            <a:r>
              <a:rPr lang="en-US" altLang="zh-CN" sz="2000" b="1" kern="100" dirty="0">
                <a:effectLst/>
                <a:latin typeface="Times New Roman" panose="02020603050405020304" charset="0"/>
                <a:ea typeface="宋体" panose="02010600030101010101" pitchFamily="2" charset="-122"/>
                <a:cs typeface="Times New Roman" panose="02020603050405020304" charset="0"/>
              </a:rPr>
              <a:t>Flash</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000" b="1" kern="100" dirty="0">
                <a:effectLst/>
                <a:latin typeface="Times New Roman" panose="02020603050405020304" charset="0"/>
                <a:ea typeface="宋体" panose="02010600030101010101" pitchFamily="2" charset="-122"/>
                <a:cs typeface="Times New Roman" panose="02020603050405020304" charset="0"/>
              </a:rPr>
              <a:t>RAM</a:t>
            </a:r>
            <a:r>
              <a:rPr lang="zh-CN" altLang="zh-CN" sz="2000" b="1" kern="100" dirty="0">
                <a:effectLst/>
                <a:latin typeface="Times New Roman" panose="02020603050405020304" charset="0"/>
                <a:ea typeface="宋体" panose="02010600030101010101" pitchFamily="2" charset="-122"/>
                <a:cs typeface="Times New Roman" panose="02020603050405020304" charset="0"/>
              </a:rPr>
              <a:t>资源的芯片及</a:t>
            </a:r>
            <a:r>
              <a:rPr lang="en-US" altLang="zh-CN" sz="2000" b="1" kern="100" dirty="0">
                <a:effectLst/>
                <a:latin typeface="Times New Roman" panose="02020603050405020304" charset="0"/>
                <a:ea typeface="宋体" panose="02010600030101010101" pitchFamily="2" charset="-122"/>
                <a:cs typeface="Times New Roman" panose="02020603050405020304" charset="0"/>
              </a:rPr>
              <a:t>Linux</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操作系统。</a:t>
            </a:r>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）嵌入式</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32</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位单片机，内置</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驱动和协议，接口为一般的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MCU </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接口（如</a:t>
            </a:r>
            <a:r>
              <a:rPr lang="en-US" altLang="zh-CN" sz="2000" b="1" kern="100" dirty="0">
                <a:effectLst/>
                <a:latin typeface="Times New Roman" panose="02020603050405020304" charset="0"/>
                <a:ea typeface="宋体" panose="02010600030101010101" pitchFamily="2" charset="-122"/>
                <a:cs typeface="Times New Roman" panose="02020603050405020304" charset="0"/>
              </a:rPr>
              <a:t>UART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等），适合于各类智能家居或智能硬件单品。现在很多厂家已经尝试将</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模块加入电视、空调等设备中，以搭建无线家居智能系统，让家电厂家快速方便地实现自身产品的网络化、智能化，并与更多的其他电器实现互联互通。</a:t>
            </a:r>
            <a:endParaRPr lang="en-US"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如图</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3-5-11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所示为</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模块典型系统内部结构图。</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模块拓扑形式包括基于</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AP</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组建的基础无线网络（</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Infra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也称为基础网）和基于自组网的无线网络（</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Ad Hoc</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也称为自组网）两种类型。基础网以</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AP</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为整个网络的中心，所有的通信都通过</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AP</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来转发完成。自组网是一种松散的结构，网络中所有的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STA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（每一个连接到无线网络中的终端）都可以直接通信。</a:t>
            </a:r>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1733239" y="1082675"/>
            <a:ext cx="8544589" cy="5060950"/>
          </a:xfrm>
          <a:prstGeom prst="rect">
            <a:avLst/>
          </a:prstGeom>
        </p:spPr>
      </p:pic>
      <p:sp>
        <p:nvSpPr>
          <p:cNvPr id="6" name="文本框 5"/>
          <p:cNvSpPr txBox="1"/>
          <p:nvPr/>
        </p:nvSpPr>
        <p:spPr>
          <a:xfrm>
            <a:off x="4591049" y="6143625"/>
            <a:ext cx="4562475" cy="646331"/>
          </a:xfrm>
          <a:prstGeom prst="rect">
            <a:avLst/>
          </a:prstGeom>
          <a:noFill/>
        </p:spPr>
        <p:txBody>
          <a:bodyPr wrap="square" rtlCol="0">
            <a:spAutoFit/>
          </a:bodyPr>
          <a:lstStyle/>
          <a:p>
            <a:r>
              <a:rPr lang="zh-CN" altLang="zh-CN" sz="1800" kern="100" dirty="0">
                <a:effectLst/>
                <a:latin typeface="Times New Roman" panose="02020603050405020304" charset="0"/>
                <a:ea typeface="宋体" panose="02010600030101010101" pitchFamily="2" charset="-122"/>
              </a:rPr>
              <a:t>图</a:t>
            </a:r>
            <a:r>
              <a:rPr lang="en-US" altLang="zh-CN" sz="1800" kern="100" dirty="0">
                <a:effectLst/>
                <a:latin typeface="Times New Roman" panose="02020603050405020304" charset="0"/>
                <a:ea typeface="宋体" panose="02010600030101010101" pitchFamily="2" charset="-122"/>
              </a:rPr>
              <a:t>3-5-11  Wi-Fi</a:t>
            </a:r>
            <a:r>
              <a:rPr lang="zh-CN" altLang="zh-CN" sz="1800" kern="100" dirty="0">
                <a:effectLst/>
                <a:latin typeface="Times New Roman" panose="02020603050405020304" charset="0"/>
                <a:ea typeface="宋体" panose="02010600030101010101" pitchFamily="2" charset="-122"/>
              </a:rPr>
              <a:t>模块典型系统内部结构图</a:t>
            </a:r>
            <a:endParaRPr lang="zh-CN" altLang="zh-CN" sz="1800" kern="100" dirty="0">
              <a:effectLst/>
              <a:latin typeface="Times New Roman" panose="02020603050405020304" charset="0"/>
              <a:ea typeface="宋体" panose="02010600030101010101" pitchFamily="2" charset="-122"/>
            </a:endParaRPr>
          </a:p>
          <a:p>
            <a:endParaRPr lang="zh-CN" altLang="en-US" dirty="0"/>
          </a:p>
        </p:txBody>
      </p:sp>
      <p:sp>
        <p:nvSpPr>
          <p:cNvPr id="2" name="标题 1"/>
          <p:cNvSpPr>
            <a:spLocks noGrp="1"/>
          </p:cNvSpPr>
          <p:nvPr>
            <p:ph type="title"/>
          </p:nvPr>
        </p:nvSpPr>
        <p:spPr>
          <a:xfrm>
            <a:off x="618490" y="327025"/>
            <a:ext cx="10515600" cy="1325563"/>
          </a:xfrm>
        </p:spPr>
        <p:txBody>
          <a:bodyPr>
            <a:normAutofit fontScale="90000"/>
          </a:bodyPr>
          <a:p>
            <a:r>
              <a:rPr lang="en-US" sz="4890" b="1" u="sng" dirty="0" err="1">
                <a:solidFill>
                  <a:srgbClr val="0563C1"/>
                </a:solidFill>
                <a:uFillTx/>
                <a:latin typeface="Times New Roman" panose="02020603050405020304" charset="0"/>
                <a:ea typeface="宋体" panose="02010600030101010101" pitchFamily="2" charset="-122"/>
              </a:rPr>
              <a:t>3.5.4.3  工作方式</a:t>
            </a:r>
            <a:br>
              <a:rPr kumimoji="0" lang="en-US" altLang="zh-CN" sz="489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Times New Roman" panose="02020603050405020304" charset="0"/>
              </a:rPr>
            </a:br>
            <a:endParaRPr lang="zh-CN" altLang="en-US" sz="489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618490" y="1479550"/>
            <a:ext cx="10652125" cy="4646295"/>
          </a:xfrm>
          <a:prstGeom prst="rect">
            <a:avLst/>
          </a:prstGeom>
          <a:noFill/>
          <a:ln w="9525">
            <a:noFill/>
          </a:ln>
        </p:spPr>
        <p:txBody>
          <a:bodyPr wrap="square">
            <a:spAutoFit/>
          </a:bodyPr>
          <a:lstStyle/>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Wi-Fi</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模块支持多种无线网络加密方式</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en-US" sz="2000" b="1" kern="100" dirty="0">
                <a:effectLst/>
                <a:latin typeface="Times New Roman" panose="02020603050405020304" charset="0"/>
                <a:ea typeface="宋体" panose="02010600030101010101" pitchFamily="2" charset="-122"/>
                <a:cs typeface="Times New Roman" panose="02020603050405020304" charset="0"/>
              </a:rPr>
              <a:t>能充分保证用户数据的安全传输。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模块通过指定信道号的方式来进行快速联网。在联网过程中，首先对当前的所有信道自动进行一次扫描</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en-US" sz="2000" b="1" kern="100" dirty="0">
                <a:effectLst/>
                <a:latin typeface="Times New Roman" panose="02020603050405020304" charset="0"/>
                <a:ea typeface="宋体" panose="02010600030101010101" pitchFamily="2" charset="-122"/>
                <a:cs typeface="Times New Roman" panose="02020603050405020304" charset="0"/>
              </a:rPr>
              <a:t>以搜索准备连接的目的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AP</a:t>
            </a:r>
            <a:r>
              <a:rPr lang="zh-CN" altLang="en-US" sz="2000" b="1" kern="100" dirty="0">
                <a:effectLst/>
                <a:latin typeface="Times New Roman" panose="02020603050405020304" charset="0"/>
                <a:ea typeface="宋体" panose="02010600030101010101" pitchFamily="2" charset="-122"/>
                <a:cs typeface="Times New Roman" panose="02020603050405020304" charset="0"/>
              </a:rPr>
              <a:t>创建的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或</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Ad Hoc)</a:t>
            </a:r>
            <a:r>
              <a:rPr lang="zh-CN" altLang="en-US" sz="2000" b="1" kern="100" dirty="0">
                <a:effectLst/>
                <a:latin typeface="Times New Roman" panose="02020603050405020304" charset="0"/>
                <a:ea typeface="宋体" panose="02010600030101010101" pitchFamily="2" charset="-122"/>
                <a:cs typeface="Times New Roman" panose="02020603050405020304" charset="0"/>
              </a:rPr>
              <a:t>网络；其次设置工作信道的参数，在已知目的网络所在信道的条件下，直接指定模块的工作信道，从而达到加快联网速度的目的；最后，</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模块绑定目的网络地址，再通过无线漫游扩大一个无线网络的覆盖范围。</a:t>
            </a:r>
            <a:endParaRPr lang="zh-CN" altLang="en-US"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Wi-Fi</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模块的工作方式有以下两类：</a:t>
            </a:r>
            <a:endParaRPr lang="zh-CN" altLang="en-US"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zh-CN" altLang="en-US"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a:t>
            </a:r>
            <a:r>
              <a:rPr lang="zh-CN" altLang="en-US" sz="2000" b="1" kern="100" dirty="0">
                <a:effectLst/>
                <a:latin typeface="Times New Roman" panose="02020603050405020304" charset="0"/>
                <a:ea typeface="宋体" panose="02010600030101010101" pitchFamily="2" charset="-122"/>
                <a:cs typeface="Times New Roman" panose="02020603050405020304" charset="0"/>
              </a:rPr>
              <a:t>）主动型串口设备联网。由设备主动发起连接，并与后台服务器进行数据交互</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en-US" sz="2000" b="1" kern="100" dirty="0">
                <a:effectLst/>
                <a:latin typeface="Times New Roman" panose="02020603050405020304" charset="0"/>
                <a:ea typeface="宋体" panose="02010600030101010101" pitchFamily="2" charset="-122"/>
                <a:cs typeface="Times New Roman" panose="02020603050405020304" charset="0"/>
              </a:rPr>
              <a:t>上传或下载</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en-US" sz="2000" b="1" kern="100" dirty="0">
                <a:effectLst/>
                <a:latin typeface="Times New Roman" panose="02020603050405020304" charset="0"/>
                <a:ea typeface="宋体" panose="02010600030101010101" pitchFamily="2" charset="-122"/>
                <a:cs typeface="Times New Roman" panose="02020603050405020304" charset="0"/>
              </a:rPr>
              <a:t>的方式。例如，典型的主动型设备中的无线</a:t>
            </a:r>
            <a:r>
              <a:rPr lang="en-US" altLang="zh-CN" sz="2000" b="1" kern="100" dirty="0">
                <a:effectLst/>
                <a:latin typeface="Times New Roman" panose="02020603050405020304" charset="0"/>
                <a:ea typeface="宋体" panose="02010600030101010101" pitchFamily="2" charset="-122"/>
                <a:cs typeface="Times New Roman" panose="02020603050405020304" charset="0"/>
              </a:rPr>
              <a:t>POS</a:t>
            </a:r>
            <a:r>
              <a:rPr lang="zh-CN" altLang="en-US" sz="2000" b="1" kern="100" dirty="0">
                <a:effectLst/>
                <a:latin typeface="Times New Roman" panose="02020603050405020304" charset="0"/>
                <a:ea typeface="宋体" panose="02010600030101010101" pitchFamily="2" charset="-122"/>
                <a:cs typeface="Times New Roman" panose="02020603050405020304" charset="0"/>
              </a:rPr>
              <a:t>机，在每次刷卡交易完成后即开始连接后台服务器，并上传交易数据。</a:t>
            </a:r>
            <a:endParaRPr lang="zh-CN" altLang="en-US"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zh-CN" altLang="en-US"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2</a:t>
            </a:r>
            <a:r>
              <a:rPr lang="zh-CN" altLang="en-US" sz="2000" b="1" kern="100" dirty="0">
                <a:effectLst/>
                <a:latin typeface="Times New Roman" panose="02020603050405020304" charset="0"/>
                <a:ea typeface="宋体" panose="02010600030101010101" pitchFamily="2" charset="-122"/>
                <a:cs typeface="Times New Roman" panose="02020603050405020304" charset="0"/>
              </a:rPr>
              <a:t>）被动型串口设备联网。在系统中所有设备一直处于被动地等待连接状态，仅由后台服务器主动发起与设备的连接，并进行请求或下载数据的方式。例如，在某些无线传感器网络中，每个传感器终端始终实时地在采集数据，但是采集到的数据并没有马上传，而是暂时保存在设备中。而后台服务器则周期性地每隔一段时间主动连接设备，并请求上传或下载数据。</a:t>
            </a:r>
            <a:endParaRPr lang="zh-CN" altLang="en-US"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2" name="标题 1"/>
          <p:cNvSpPr>
            <a:spLocks noGrp="1"/>
          </p:cNvSpPr>
          <p:nvPr>
            <p:ph type="title"/>
          </p:nvPr>
        </p:nvSpPr>
        <p:spPr>
          <a:xfrm>
            <a:off x="618490" y="327025"/>
            <a:ext cx="10515600" cy="1325563"/>
          </a:xfrm>
        </p:spPr>
        <p:txBody>
          <a:bodyPr>
            <a:normAutofit fontScale="90000"/>
          </a:bodyPr>
          <a:lstStyle/>
          <a:p>
            <a:r>
              <a:rPr lang="en-US" sz="4890" b="1" u="sng" dirty="0" err="1">
                <a:solidFill>
                  <a:srgbClr val="0563C1"/>
                </a:solidFill>
                <a:uFillTx/>
                <a:latin typeface="Times New Roman" panose="02020603050405020304" charset="0"/>
                <a:ea typeface="宋体" panose="02010600030101010101" pitchFamily="2" charset="-122"/>
              </a:rPr>
              <a:t>3.5.4.3  工作方式</a:t>
            </a:r>
            <a:br>
              <a:rPr kumimoji="0" lang="en-US" altLang="zh-CN" sz="4890" b="1" i="0" u="none" strike="noStrike" kern="1200" cap="none" spc="0" normalizeH="0" baseline="0" noProof="0" dirty="0">
                <a:ln>
                  <a:noFill/>
                </a:ln>
                <a:solidFill>
                  <a:prstClr val="black"/>
                </a:solidFill>
                <a:effectLst/>
                <a:uLnTx/>
                <a:uFillTx/>
                <a:latin typeface="Times New Roman" panose="02020603050405020304" charset="0"/>
                <a:ea typeface="宋体" panose="02010600030101010101" pitchFamily="2" charset="-122"/>
                <a:cs typeface="Times New Roman" panose="02020603050405020304" charset="0"/>
              </a:rPr>
            </a:br>
            <a:endParaRPr lang="zh-CN" altLang="en-US" sz="489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8490" y="153987"/>
            <a:ext cx="10515600" cy="1325563"/>
          </a:xfrm>
        </p:spPr>
        <p:txBody>
          <a:bodyPr>
            <a:norm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618490" y="1479550"/>
            <a:ext cx="10652125" cy="5384800"/>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无线局域网</a:t>
            </a:r>
            <a:r>
              <a:rPr lang="en-US" altLang="zh-CN" sz="22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可以通过一个或多个体积很小的接入点为一定区域内</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家庭、校园、餐厅、机场等</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的众多用户提供互联网访问服务。在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为无线局域网制定</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规范之前，存在许多不同的无线局域网标准。多种不同标准的缺点是用户在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区域</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如餐厅</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上网需要在计算机上安装一种类型的网卡，当回到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区域</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如办公室</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时则需要为计算机更换另一种类型的网卡。除了浪费时间和增加硬件成本外，在不同协议覆盖重叠区域内，无线信号的干扰降低了网络访问的性能。因此，为了规范和统一无线局域网的行为，从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20</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世纪</a:t>
            </a:r>
            <a:r>
              <a:rPr lang="en-US" altLang="zh-CN" sz="2200" b="1" kern="100" dirty="0">
                <a:effectLst/>
                <a:latin typeface="Times New Roman" panose="02020603050405020304" charset="0"/>
                <a:ea typeface="宋体" panose="02010600030101010101" pitchFamily="2" charset="-122"/>
                <a:cs typeface="Times New Roman" panose="02020603050405020304" charset="0"/>
              </a:rPr>
              <a:t>90</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年代至今，</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制定了一系列</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不同的</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协议的差异主要体现在使用频段、调制模式、信道差分等物理层技术上，如表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3-5-4</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所示。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协议中典型的使用频段有两个：一是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公共频段，二是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5.1~5.8GHz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高频频段。由于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是公共频段，微波炉、无绳电话和无线传感网也使用这个频段，因此信号噪声和干扰可能会稍大。</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5.1~5.8 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高频段主要受制于非视线传输和多径传播效应，一般用于室内环境中，其覆盖范围要稍小。不同的调制模式决定了不同的传输带宽，在噪声较高或无线连接较弱的环境中，可通过减小对每个信号区间内的信息量来保证无误传输。</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29123" y="1213736"/>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graphicFrame>
        <p:nvGraphicFramePr>
          <p:cNvPr id="3" name="表格 2"/>
          <p:cNvGraphicFramePr>
            <a:graphicFrameLocks noGrp="1"/>
          </p:cNvGraphicFramePr>
          <p:nvPr>
            <p:custDataLst>
              <p:tags r:id="rId1"/>
            </p:custDataLst>
          </p:nvPr>
        </p:nvGraphicFramePr>
        <p:xfrm>
          <a:off x="1442876" y="2048760"/>
          <a:ext cx="9305924" cy="3895724"/>
        </p:xfrm>
        <a:graphic>
          <a:graphicData uri="http://schemas.openxmlformats.org/drawingml/2006/table">
            <a:tbl>
              <a:tblPr firstRow="1" firstCol="1" bandRow="1"/>
              <a:tblGrid>
                <a:gridCol w="2121497"/>
                <a:gridCol w="1717402"/>
                <a:gridCol w="2128545"/>
                <a:gridCol w="1839570"/>
                <a:gridCol w="1498910"/>
              </a:tblGrid>
              <a:tr h="1113064">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IEEE 802.11</a:t>
                      </a:r>
                      <a:r>
                        <a:rPr lang="zh-CN" sz="2000" b="1" kern="100" dirty="0">
                          <a:effectLst/>
                          <a:latin typeface="Times New Roman" panose="02020603050405020304" charset="0"/>
                          <a:ea typeface="宋体" panose="02010600030101010101" pitchFamily="2" charset="-122"/>
                          <a:cs typeface="Times New Roman" panose="02020603050405020304" charset="0"/>
                        </a:rPr>
                        <a:t>协议</a:t>
                      </a:r>
                      <a:endParaRPr lang="zh-CN"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000" b="1" kern="100" dirty="0">
                          <a:effectLst/>
                          <a:latin typeface="Times New Roman" panose="02020603050405020304" charset="0"/>
                          <a:ea typeface="宋体" panose="02010600030101010101" pitchFamily="2" charset="-122"/>
                          <a:cs typeface="Times New Roman" panose="02020603050405020304" charset="0"/>
                        </a:rPr>
                        <a:t>发布时间</a:t>
                      </a:r>
                      <a:endParaRPr lang="zh-CN"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000" b="1" kern="100">
                          <a:effectLst/>
                          <a:latin typeface="Times New Roman" panose="02020603050405020304" charset="0"/>
                          <a:ea typeface="宋体" panose="02010600030101010101" pitchFamily="2" charset="-122"/>
                          <a:cs typeface="Times New Roman" panose="02020603050405020304" charset="0"/>
                        </a:rPr>
                        <a:t>频宽</a:t>
                      </a:r>
                      <a:r>
                        <a:rPr lang="en-US" sz="2000" b="1" kern="100">
                          <a:effectLst/>
                          <a:latin typeface="Times New Roman" panose="02020603050405020304" charset="0"/>
                          <a:ea typeface="宋体" panose="02010600030101010101" pitchFamily="2" charset="-122"/>
                          <a:cs typeface="Times New Roman" panose="02020603050405020304" charset="0"/>
                        </a:rPr>
                        <a:t>/GHz</a:t>
                      </a:r>
                      <a:endParaRPr lang="zh-CN"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000" b="1" kern="100">
                          <a:effectLst/>
                          <a:latin typeface="Times New Roman" panose="02020603050405020304" charset="0"/>
                          <a:ea typeface="宋体" panose="02010600030101010101" pitchFamily="2" charset="-122"/>
                          <a:cs typeface="Times New Roman" panose="02020603050405020304" charset="0"/>
                        </a:rPr>
                        <a:t>最大传输速率</a:t>
                      </a:r>
                      <a:r>
                        <a:rPr lang="en-US" sz="2000" b="1" kern="100">
                          <a:effectLst/>
                          <a:latin typeface="Times New Roman" panose="02020603050405020304" charset="0"/>
                          <a:ea typeface="宋体" panose="02010600030101010101" pitchFamily="2" charset="-122"/>
                          <a:cs typeface="Times New Roman" panose="02020603050405020304" charset="0"/>
                        </a:rPr>
                        <a:t>/</a:t>
                      </a:r>
                      <a:r>
                        <a:rPr lang="zh-CN" sz="2000" b="1" kern="100">
                          <a:effectLst/>
                          <a:latin typeface="Times New Roman" panose="02020603050405020304" charset="0"/>
                          <a:ea typeface="宋体" panose="02010600030101010101" pitchFamily="2" charset="-122"/>
                          <a:cs typeface="Times New Roman" panose="02020603050405020304" charset="0"/>
                        </a:rPr>
                        <a:t>（</a:t>
                      </a:r>
                      <a:r>
                        <a:rPr lang="en-US" sz="2000" b="1" kern="100">
                          <a:effectLst/>
                          <a:latin typeface="Times New Roman" panose="02020603050405020304" charset="0"/>
                          <a:ea typeface="宋体" panose="02010600030101010101" pitchFamily="2" charset="-122"/>
                          <a:cs typeface="Times New Roman" panose="02020603050405020304" charset="0"/>
                        </a:rPr>
                        <a:t>Mb/s</a:t>
                      </a:r>
                      <a:r>
                        <a:rPr lang="zh-CN" sz="2000" b="1" kern="100">
                          <a:effectLst/>
                          <a:latin typeface="Times New Roman" panose="02020603050405020304" charset="0"/>
                          <a:ea typeface="宋体" panose="02010600030101010101" pitchFamily="2" charset="-122"/>
                          <a:cs typeface="Times New Roman" panose="02020603050405020304" charset="0"/>
                        </a:rPr>
                        <a:t>）</a:t>
                      </a:r>
                      <a:endParaRPr lang="zh-CN"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000" b="1" kern="100">
                          <a:effectLst/>
                          <a:latin typeface="Times New Roman" panose="02020603050405020304" charset="0"/>
                          <a:ea typeface="宋体" panose="02010600030101010101" pitchFamily="2" charset="-122"/>
                          <a:cs typeface="Times New Roman" panose="02020603050405020304" charset="0"/>
                        </a:rPr>
                        <a:t>调制模式</a:t>
                      </a:r>
                      <a:endParaRPr lang="zh-CN"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6532">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IEEE 802.11—1997</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1997.06</a:t>
                      </a:r>
                      <a:endParaRPr lang="en-US"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2.4~2.485</a:t>
                      </a:r>
                      <a:endParaRPr lang="en-US"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DSSS</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6532">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IEEE 802.11a</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1999.09</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5.1~5.8</a:t>
                      </a:r>
                      <a:endParaRPr lang="en-US"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54</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OFDM</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6532">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IEEE 802.11b</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1999.09</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2.4~2.485</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11</a:t>
                      </a:r>
                      <a:endParaRPr lang="en-US"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DSSS</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6532">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IEEE 802.11g</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2003.06</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2.4~2.485</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54</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DSSS</a:t>
                      </a:r>
                      <a:r>
                        <a:rPr lang="zh-CN" sz="2000" b="1" kern="100" dirty="0">
                          <a:effectLst/>
                          <a:latin typeface="Times New Roman" panose="02020603050405020304" charset="0"/>
                          <a:ea typeface="宋体" panose="02010600030101010101" pitchFamily="2" charset="-122"/>
                          <a:cs typeface="Times New Roman" panose="02020603050405020304" charset="0"/>
                        </a:rPr>
                        <a:t>或</a:t>
                      </a:r>
                      <a:r>
                        <a:rPr lang="en-US" sz="2000" b="1" kern="100" dirty="0">
                          <a:effectLst/>
                          <a:latin typeface="Times New Roman" panose="02020603050405020304" charset="0"/>
                          <a:ea typeface="宋体" panose="02010600030101010101" pitchFamily="2" charset="-122"/>
                          <a:cs typeface="Times New Roman" panose="02020603050405020304" charset="0"/>
                        </a:rPr>
                        <a:t>OFDM</a:t>
                      </a:r>
                      <a:endParaRPr lang="zh-CN"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6532">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IEEE 802.11n</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2009.10</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2.4~2.485</a:t>
                      </a:r>
                      <a:r>
                        <a:rPr lang="zh-CN" sz="2000" b="1" kern="100">
                          <a:effectLst/>
                          <a:latin typeface="Times New Roman" panose="02020603050405020304" charset="0"/>
                          <a:ea typeface="宋体" panose="02010600030101010101" pitchFamily="2" charset="-122"/>
                          <a:cs typeface="Times New Roman" panose="02020603050405020304" charset="0"/>
                        </a:rPr>
                        <a:t>或</a:t>
                      </a:r>
                      <a:r>
                        <a:rPr lang="en-US" sz="2000" b="1" kern="100">
                          <a:effectLst/>
                          <a:latin typeface="Times New Roman" panose="02020603050405020304" charset="0"/>
                          <a:ea typeface="宋体" panose="02010600030101010101" pitchFamily="2" charset="-122"/>
                          <a:cs typeface="Times New Roman" panose="02020603050405020304" charset="0"/>
                        </a:rPr>
                        <a:t>5.1~5.8</a:t>
                      </a:r>
                      <a:endParaRPr lang="zh-CN"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a:effectLst/>
                          <a:latin typeface="Times New Roman" panose="02020603050405020304" charset="0"/>
                          <a:ea typeface="宋体" panose="02010600030101010101" pitchFamily="2" charset="-122"/>
                          <a:cs typeface="Times New Roman" panose="02020603050405020304" charset="0"/>
                        </a:rPr>
                        <a:t>100</a:t>
                      </a:r>
                      <a:endParaRPr lang="en-US" sz="2000" b="1" kern="10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1" kern="100" dirty="0">
                          <a:effectLst/>
                          <a:latin typeface="Times New Roman" panose="02020603050405020304" charset="0"/>
                          <a:ea typeface="宋体" panose="02010600030101010101" pitchFamily="2" charset="-122"/>
                          <a:cs typeface="Times New Roman" panose="02020603050405020304" charset="0"/>
                        </a:rPr>
                        <a:t>OFDM</a:t>
                      </a:r>
                      <a:endParaRPr lang="en-US" sz="2000" b="1" kern="100" dirty="0">
                        <a:effectLst/>
                        <a:latin typeface="Times New Roman" panose="02020603050405020304" charset="0"/>
                        <a:ea typeface="宋体" panose="02010600030101010101" pitchFamily="2" charset="-122"/>
                        <a:cs typeface="Times New Roman" panose="0202060305040502030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文本框 3"/>
          <p:cNvSpPr txBox="1"/>
          <p:nvPr/>
        </p:nvSpPr>
        <p:spPr>
          <a:xfrm>
            <a:off x="3763645" y="1621790"/>
            <a:ext cx="5688965" cy="398780"/>
          </a:xfrm>
          <a:prstGeom prst="rect">
            <a:avLst/>
          </a:prstGeom>
          <a:noFill/>
        </p:spPr>
        <p:txBody>
          <a:bodyPr wrap="square" rtlCol="0">
            <a:spAutoFit/>
          </a:bodyPr>
          <a:lstStyle/>
          <a:p>
            <a:r>
              <a:rPr lang="zh-CN" altLang="zh-CN" sz="2000" b="1" kern="100" dirty="0">
                <a:effectLst/>
                <a:latin typeface="Times New Roman" panose="02020603050405020304" charset="0"/>
                <a:ea typeface="宋体" panose="02010600030101010101" pitchFamily="2" charset="-122"/>
              </a:rPr>
              <a:t>表</a:t>
            </a:r>
            <a:r>
              <a:rPr lang="en-US" altLang="zh-CN" sz="2000" b="1" kern="100" dirty="0">
                <a:effectLst/>
                <a:latin typeface="Times New Roman" panose="02020603050405020304" charset="0"/>
                <a:ea typeface="宋体" panose="02010600030101010101" pitchFamily="2" charset="-122"/>
              </a:rPr>
              <a:t>3-5-4  </a:t>
            </a:r>
            <a:r>
              <a:rPr lang="zh-CN" altLang="zh-CN" sz="2000" b="1" kern="100" dirty="0">
                <a:effectLst/>
                <a:latin typeface="Times New Roman" panose="02020603050405020304" charset="0"/>
                <a:ea typeface="宋体" panose="02010600030101010101" pitchFamily="2" charset="-122"/>
              </a:rPr>
              <a:t>无线局域网</a:t>
            </a:r>
            <a:r>
              <a:rPr lang="en-US" altLang="zh-CN" sz="2000" b="1" kern="100" dirty="0">
                <a:effectLst/>
                <a:latin typeface="Times New Roman" panose="02020603050405020304" charset="0"/>
                <a:ea typeface="宋体" panose="02010600030101010101" pitchFamily="2" charset="-122"/>
              </a:rPr>
              <a:t>Wi-Fi</a:t>
            </a:r>
            <a:r>
              <a:rPr lang="zh-CN" altLang="zh-CN" sz="2000" b="1" kern="100" dirty="0">
                <a:effectLst/>
                <a:latin typeface="Times New Roman" panose="02020603050405020304" charset="0"/>
                <a:ea typeface="宋体" panose="02010600030101010101" pitchFamily="2" charset="-122"/>
              </a:rPr>
              <a:t>的</a:t>
            </a:r>
            <a:r>
              <a:rPr lang="en-US" altLang="zh-CN" sz="2000" b="1" kern="100" dirty="0">
                <a:effectLst/>
                <a:latin typeface="Times New Roman" panose="02020603050405020304" charset="0"/>
                <a:ea typeface="宋体" panose="02010600030101010101" pitchFamily="2" charset="-122"/>
              </a:rPr>
              <a:t>IEEE 802.11</a:t>
            </a:r>
            <a:r>
              <a:rPr lang="zh-CN" altLang="zh-CN" sz="2000" b="1" kern="100" dirty="0">
                <a:effectLst/>
                <a:latin typeface="Times New Roman" panose="02020603050405020304" charset="0"/>
                <a:ea typeface="宋体" panose="02010600030101010101" pitchFamily="2" charset="-122"/>
              </a:rPr>
              <a:t>协议对比</a:t>
            </a:r>
            <a:endParaRPr lang="zh-CN" altLang="en-US" sz="2000" b="1" dirty="0"/>
          </a:p>
        </p:txBody>
      </p:sp>
      <p:sp>
        <p:nvSpPr>
          <p:cNvPr id="2" name="标题 1"/>
          <p:cNvSpPr>
            <a:spLocks noGrp="1"/>
          </p:cNvSpPr>
          <p:nvPr>
            <p:ph type="title"/>
          </p:nvPr>
        </p:nvSpPr>
        <p:spPr>
          <a:xfrm>
            <a:off x="618490" y="15398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618490" y="1479550"/>
            <a:ext cx="10652125" cy="5169535"/>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最初</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制定的</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协议采用直接序列扩频</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solidFill>
                  <a:srgbClr val="000000"/>
                </a:solidFill>
                <a:effectLst/>
                <a:latin typeface="Times New Roman" panose="02020603050405020304" charset="0"/>
                <a:ea typeface="宋体" panose="02010600030101010101" pitchFamily="2" charset="-122"/>
                <a:cs typeface="Times New Roman" panose="02020603050405020304" charset="0"/>
              </a:rPr>
              <a:t>Direct Sequence Spread Spectrum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effectLst/>
                <a:latin typeface="Times New Roman" panose="02020603050405020304" charset="0"/>
                <a:ea typeface="宋体" panose="02010600030101010101" pitchFamily="2" charset="-122"/>
                <a:cs typeface="Times New Roman" panose="02020603050405020304" charset="0"/>
              </a:rPr>
              <a:t>DSSS)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技术，使用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频段，可支持传输速率为</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802.11a</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协议采用正交频分多路复用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solidFill>
                  <a:srgbClr val="000000"/>
                </a:solidFill>
                <a:effectLst/>
                <a:latin typeface="Times New Roman" panose="02020603050405020304" charset="0"/>
                <a:ea typeface="宋体" panose="02010600030101010101" pitchFamily="2" charset="-122"/>
                <a:cs typeface="Times New Roman" panose="02020603050405020304" charset="0"/>
              </a:rPr>
              <a:t>Orthogonal Frequency Division Multiplexing</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effectLst/>
                <a:latin typeface="Times New Roman" panose="02020603050405020304" charset="0"/>
                <a:ea typeface="宋体" panose="02010600030101010101" pitchFamily="2" charset="-122"/>
                <a:cs typeface="Times New Roman" panose="02020603050405020304" charset="0"/>
              </a:rPr>
              <a:t>OFDM)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使用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5.1~5.8 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相对较高的频段，传输速率可达到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54 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。由于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使用高频频段</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其室内覆盖范围要略小。使用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频段</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传输速率可达到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802.11g</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协议采用了与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相同的</a:t>
            </a:r>
            <a:r>
              <a:rPr lang="en-US" altLang="zh-CN" sz="2200" b="1" kern="100" dirty="0">
                <a:effectLst/>
                <a:latin typeface="Times New Roman" panose="02020603050405020304" charset="0"/>
                <a:ea typeface="宋体" panose="02010600030101010101" pitchFamily="2" charset="-122"/>
                <a:cs typeface="Times New Roman" panose="02020603050405020304" charset="0"/>
              </a:rPr>
              <a:t>OFDM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技术，保持了其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54Mb/s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的最大传输速率。同时，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802.11g</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使用和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相同的</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频段，并且兼容</a:t>
            </a:r>
            <a:r>
              <a:rPr lang="en-US" altLang="zh-CN" sz="2200" b="1" kern="100" dirty="0">
                <a:effectLst/>
                <a:latin typeface="Times New Roman" panose="02020603050405020304" charset="0"/>
                <a:ea typeface="宋体" panose="02010600030101010101" pitchFamily="2" charset="-122"/>
                <a:cs typeface="Times New Roman" panose="02020603050405020304" charset="0"/>
              </a:rPr>
              <a:t>802.11b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的设备</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但兼容</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802.11b</a:t>
            </a:r>
            <a:r>
              <a:rPr lang="zh-CN" altLang="zh-CN" sz="2200" b="1" kern="100" dirty="0">
                <a:effectLst/>
                <a:latin typeface="Times New Roman" panose="02020603050405020304" charset="0"/>
                <a:ea typeface="宋体" panose="02010600030101010101" pitchFamily="2" charset="-122"/>
                <a:cs typeface="Times New Roman" panose="02020603050405020304" charset="0"/>
              </a:rPr>
              <a:t>设备会降低</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802.11g</a:t>
            </a:r>
            <a:r>
              <a:rPr lang="zh-CN" altLang="zh-CN" sz="2200" b="1" kern="100" dirty="0">
                <a:effectLst/>
                <a:latin typeface="Times New Roman" panose="02020603050405020304" charset="0"/>
                <a:ea typeface="宋体" panose="02010600030101010101" pitchFamily="2" charset="-122"/>
                <a:cs typeface="Times New Roman" panose="02020603050405020304" charset="0"/>
              </a:rPr>
              <a:t>网络的传输带宽。</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802.11n</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协议除了采用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OFDM</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技术外，还采用了多天线多输入多输出技术，其传输速率可达到</a:t>
            </a:r>
            <a:r>
              <a:rPr lang="en-US" altLang="zh-CN" sz="2200" b="1" kern="100" dirty="0">
                <a:effectLst/>
                <a:latin typeface="Times New Roman" panose="02020603050405020304" charset="0"/>
                <a:ea typeface="宋体" panose="02010600030101010101" pitchFamily="2" charset="-122"/>
                <a:cs typeface="Times New Roman" panose="02020603050405020304" charset="0"/>
              </a:rPr>
              <a:t>100Mb/s</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。同时，</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802.11n</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可选择使用</a:t>
            </a:r>
            <a:r>
              <a:rPr lang="en-US" altLang="zh-CN" sz="2200" b="1" kern="100" dirty="0">
                <a:effectLst/>
                <a:latin typeface="Times New Roman" panose="02020603050405020304" charset="0"/>
                <a:ea typeface="宋体" panose="02010600030101010101" pitchFamily="2" charset="-122"/>
                <a:cs typeface="Times New Roman" panose="02020603050405020304" charset="0"/>
              </a:rPr>
              <a:t>2.4~2.485 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200" b="1" kern="100" dirty="0">
                <a:effectLst/>
                <a:latin typeface="Times New Roman" panose="02020603050405020304" charset="0"/>
                <a:ea typeface="宋体" panose="02010600030101010101" pitchFamily="2" charset="-122"/>
                <a:cs typeface="Times New Roman" panose="02020603050405020304" charset="0"/>
              </a:rPr>
              <a:t>5.1~5.8GHz</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两个频段。</a:t>
            </a:r>
            <a:endParaRPr lang="zh-CN" altLang="zh-CN" sz="22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200" b="1" kern="100" dirty="0">
                <a:effectLst/>
                <a:latin typeface="Times New Roman" panose="02020603050405020304" charset="0"/>
                <a:ea typeface="宋体" panose="02010600030101010101" pitchFamily="2" charset="-122"/>
                <a:cs typeface="Times New Roman" panose="02020603050405020304" charset="0"/>
              </a:rPr>
              <a:t>    </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尽管在物理层使用的技术有很大差异</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但这一系列</a:t>
            </a:r>
            <a:r>
              <a:rPr lang="en-US" altLang="zh-CN" sz="22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协议的上层架构和链路访问协议是相同的。例如，</a:t>
            </a:r>
            <a:r>
              <a:rPr lang="en-US" altLang="zh-CN" sz="2200" b="1" kern="100" dirty="0">
                <a:effectLst/>
                <a:latin typeface="Times New Roman" panose="02020603050405020304" charset="0"/>
                <a:ea typeface="宋体" panose="02010600030101010101" pitchFamily="2" charset="-122"/>
                <a:cs typeface="Times New Roman" panose="02020603050405020304" charset="0"/>
              </a:rPr>
              <a:t>MAC</a:t>
            </a:r>
            <a:r>
              <a:rPr lang="zh-CN" altLang="zh-CN" sz="2200" b="1" kern="100" dirty="0">
                <a:effectLst/>
                <a:latin typeface="Times New Roman" panose="02020603050405020304" charset="0"/>
                <a:ea typeface="宋体" panose="02010600030101010101" pitchFamily="2" charset="-122"/>
                <a:cs typeface="Times New Roman" panose="02020603050405020304" charset="0"/>
              </a:rPr>
              <a:t>层都使用带冲突预防的载波侦听多路访问</a:t>
            </a:r>
            <a:r>
              <a:rPr lang="en-US" altLang="zh-CN" sz="2200" b="1" kern="100" dirty="0">
                <a:effectLst/>
                <a:latin typeface="Times New Roman" panose="02020603050405020304" charset="0"/>
                <a:ea typeface="宋体" panose="02010600030101010101" pitchFamily="2" charset="-122"/>
                <a:cs typeface="Times New Roman" panose="02020603050405020304" charset="0"/>
              </a:rPr>
              <a:t>(CSMA/CA)</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技术</a:t>
            </a:r>
            <a:r>
              <a:rPr lang="en-US" altLang="zh-CN" sz="2200" b="1" kern="100" dirty="0">
                <a:effectLst/>
                <a:latin typeface="Times New Roman" panose="02020603050405020304" charset="0"/>
                <a:ea typeface="宋体" panose="02010600030101010101" pitchFamily="2" charset="-122"/>
                <a:cs typeface="Times New Roman" panose="02020603050405020304" charset="0"/>
              </a:rPr>
              <a:t>,</a:t>
            </a:r>
            <a:r>
              <a:rPr lang="zh-CN" altLang="zh-CN" sz="2200" b="1" kern="100" dirty="0">
                <a:effectLst/>
                <a:latin typeface="Times New Roman" panose="02020603050405020304" charset="0"/>
                <a:ea typeface="宋体" panose="02010600030101010101" pitchFamily="2" charset="-122"/>
                <a:cs typeface="Times New Roman" panose="02020603050405020304" charset="0"/>
              </a:rPr>
              <a:t>数据链路层数据帧结构相同以及它们都支持基站和自组织两种组网模式。</a:t>
            </a:r>
            <a:endParaRPr lang="zh-CN" altLang="zh-CN" sz="1800" kern="100" dirty="0">
              <a:effectLst/>
              <a:latin typeface="Times New Roman" panose="02020603050405020304" charset="0"/>
              <a:ea typeface="宋体" panose="02010600030101010101" pitchFamily="2" charset="-122"/>
            </a:endParaRPr>
          </a:p>
        </p:txBody>
      </p:sp>
      <p:sp>
        <p:nvSpPr>
          <p:cNvPr id="2" name="标题 1"/>
          <p:cNvSpPr>
            <a:spLocks noGrp="1"/>
          </p:cNvSpPr>
          <p:nvPr>
            <p:ph type="title"/>
          </p:nvPr>
        </p:nvSpPr>
        <p:spPr>
          <a:xfrm>
            <a:off x="618490" y="15398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550545" y="1610142"/>
            <a:ext cx="10652125" cy="4831080"/>
          </a:xfrm>
          <a:prstGeom prst="rect">
            <a:avLst/>
          </a:prstGeom>
          <a:noFill/>
          <a:ln w="9525">
            <a:noFill/>
          </a:ln>
        </p:spPr>
        <p:txBody>
          <a:bodyPr wrap="square">
            <a:spAutoFit/>
          </a:bodyPr>
          <a:lstStyle/>
          <a:p>
            <a:pPr indent="266700" algn="just"/>
            <a:r>
              <a:rPr lang="en-US" altLang="zh-CN" sz="2200" kern="100" dirty="0">
                <a:effectLst/>
                <a:latin typeface="Times New Roman" panose="02020603050405020304" charset="0"/>
                <a:ea typeface="宋体" panose="02010600030101010101" pitchFamily="2" charset="-122"/>
              </a:rPr>
              <a:t>   </a:t>
            </a:r>
            <a:r>
              <a:rPr lang="en-US" altLang="zh-CN" sz="2800" b="1" kern="100" dirty="0">
                <a:effectLst/>
                <a:latin typeface="Times New Roman" panose="02020603050405020304" charset="0"/>
                <a:ea typeface="宋体" panose="02010600030101010101" pitchFamily="2" charset="-122"/>
              </a:rPr>
              <a:t>    1.IEEE 802.11</a:t>
            </a:r>
            <a:r>
              <a:rPr lang="zh-CN" altLang="zh-CN" sz="2800" b="1" kern="100" dirty="0">
                <a:effectLst/>
                <a:latin typeface="Times New Roman" panose="02020603050405020304" charset="0"/>
                <a:ea typeface="宋体" panose="02010600030101010101" pitchFamily="2" charset="-122"/>
              </a:rPr>
              <a:t>架构</a:t>
            </a:r>
            <a:endParaRPr lang="zh-CN" altLang="zh-CN" sz="2800" b="1" kern="100" dirty="0">
              <a:effectLst/>
              <a:latin typeface="Times New Roman" panose="02020603050405020304" charset="0"/>
              <a:ea typeface="宋体" panose="02010600030101010101" pitchFamily="2" charset="-122"/>
            </a:endParaRPr>
          </a:p>
          <a:p>
            <a:r>
              <a:rPr lang="en-US" altLang="zh-CN" sz="2800" b="1" kern="100" dirty="0">
                <a:effectLst/>
                <a:latin typeface="Times New Roman" panose="02020603050405020304" charset="0"/>
                <a:ea typeface="宋体" panose="02010600030101010101" pitchFamily="2" charset="-122"/>
                <a:cs typeface="Times New Roman" panose="02020603050405020304" charset="0"/>
              </a:rPr>
              <a:t>        </a:t>
            </a:r>
            <a:r>
              <a:rPr lang="zh-CN" altLang="zh-CN" sz="2800" b="1" kern="100" dirty="0">
                <a:effectLst/>
                <a:latin typeface="Times New Roman" panose="02020603050405020304" charset="0"/>
                <a:ea typeface="宋体" panose="02010600030101010101" pitchFamily="2" charset="-122"/>
                <a:cs typeface="Times New Roman" panose="02020603050405020304" charset="0"/>
              </a:rPr>
              <a:t>在</a:t>
            </a:r>
            <a:r>
              <a:rPr lang="en-US" altLang="zh-CN" sz="2800" b="1" kern="100" dirty="0">
                <a:effectLst/>
                <a:latin typeface="Times New Roman" panose="02020603050405020304" charset="0"/>
                <a:ea typeface="宋体" panose="02010600030101010101" pitchFamily="2" charset="-122"/>
              </a:rPr>
              <a:t>802.11</a:t>
            </a:r>
            <a:r>
              <a:rPr lang="zh-CN" altLang="zh-CN" sz="2800" b="1" kern="100" dirty="0">
                <a:effectLst/>
                <a:latin typeface="Times New Roman" panose="02020603050405020304" charset="0"/>
                <a:ea typeface="宋体" panose="02010600030101010101" pitchFamily="2" charset="-122"/>
                <a:cs typeface="Times New Roman" panose="02020603050405020304" charset="0"/>
              </a:rPr>
              <a:t>的架构中，最重要的组成部分是由一个基站</a:t>
            </a:r>
            <a:r>
              <a:rPr lang="en-US" altLang="zh-CN" sz="2800" b="1" kern="100" dirty="0">
                <a:effectLst/>
                <a:latin typeface="Times New Roman" panose="02020603050405020304" charset="0"/>
                <a:ea typeface="宋体" panose="02010600030101010101" pitchFamily="2" charset="-122"/>
              </a:rPr>
              <a: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在</a:t>
            </a:r>
            <a:r>
              <a:rPr lang="en-US" altLang="zh-CN" sz="2800" b="1" kern="100" dirty="0">
                <a:effectLst/>
                <a:latin typeface="Times New Roman" panose="02020603050405020304" charset="0"/>
                <a:ea typeface="宋体" panose="02010600030101010101" pitchFamily="2" charset="-122"/>
              </a:rPr>
              <a:t>802.11</a:t>
            </a:r>
            <a:r>
              <a:rPr lang="zh-CN" altLang="zh-CN" sz="2800" b="1" kern="100" dirty="0">
                <a:effectLst/>
                <a:latin typeface="Times New Roman" panose="02020603050405020304" charset="0"/>
                <a:ea typeface="宋体" panose="02010600030101010101" pitchFamily="2" charset="-122"/>
                <a:cs typeface="Times New Roman" panose="02020603050405020304" charset="0"/>
              </a:rPr>
              <a:t>中被称为接入点</a:t>
            </a:r>
            <a:r>
              <a:rPr lang="en-US" altLang="zh-CN" sz="2800" b="1" kern="100" dirty="0">
                <a:effectLst/>
                <a:latin typeface="Times New Roman" panose="02020603050405020304" charset="0"/>
                <a:ea typeface="宋体" panose="02010600030101010101" pitchFamily="2" charset="-122"/>
              </a:rPr>
              <a: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和多个无线网络用户组成的基本服务组</a:t>
            </a:r>
            <a:r>
              <a:rPr lang="en-US" altLang="zh-CN" sz="2800" b="1" kern="100" dirty="0">
                <a:effectLst/>
                <a:latin typeface="Times New Roman" panose="02020603050405020304" charset="0"/>
                <a:ea typeface="宋体" panose="02010600030101010101" pitchFamily="2" charset="-122"/>
              </a:rPr>
              <a:t>(Basic Service Set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a:t>
            </a:r>
            <a:r>
              <a:rPr lang="en-US" altLang="zh-CN" sz="2800" b="1" kern="100" dirty="0">
                <a:effectLst/>
                <a:latin typeface="Times New Roman" panose="02020603050405020304" charset="0"/>
                <a:ea typeface="宋体" panose="02010600030101010101" pitchFamily="2" charset="-122"/>
              </a:rPr>
              <a:t>BSS)</a:t>
            </a:r>
            <a:r>
              <a:rPr lang="zh-CN" altLang="zh-CN" sz="2800" b="1" kern="100" dirty="0">
                <a:effectLst/>
                <a:latin typeface="Times New Roman" panose="02020603050405020304" charset="0"/>
                <a:ea typeface="宋体" panose="02010600030101010101" pitchFamily="2" charset="-122"/>
                <a:cs typeface="Times New Roman" panose="02020603050405020304" charset="0"/>
              </a:rPr>
              <a:t>，如图</a:t>
            </a:r>
            <a:r>
              <a:rPr lang="en-US" altLang="zh-CN" sz="2800" b="1" kern="100" dirty="0">
                <a:effectLst/>
                <a:latin typeface="Times New Roman" panose="02020603050405020304" charset="0"/>
                <a:ea typeface="宋体" panose="02010600030101010101" pitchFamily="2" charset="-122"/>
              </a:rPr>
              <a:t>3-5-12</a:t>
            </a:r>
            <a:r>
              <a:rPr lang="zh-CN" altLang="zh-CN" sz="2800" b="1" kern="100" dirty="0">
                <a:effectLst/>
                <a:latin typeface="Times New Roman" panose="02020603050405020304" charset="0"/>
                <a:ea typeface="宋体" panose="02010600030101010101" pitchFamily="2" charset="-122"/>
                <a:cs typeface="Times New Roman" panose="02020603050405020304" charset="0"/>
              </a:rPr>
              <a:t>所示，每个圆形的区域表示一个基本服务组。每个接入点通过有线网络互联设备</a:t>
            </a:r>
            <a:r>
              <a:rPr lang="en-US" altLang="zh-CN" sz="2800" b="1" kern="100" dirty="0">
                <a:effectLst/>
                <a:latin typeface="Times New Roman" panose="02020603050405020304" charset="0"/>
                <a:ea typeface="宋体" panose="02010600030101010101" pitchFamily="2" charset="-122"/>
              </a:rPr>
              <a: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交换机或者路由器</a:t>
            </a:r>
            <a:r>
              <a:rPr lang="en-US" altLang="zh-CN" sz="2800" b="1" kern="100" dirty="0">
                <a:effectLst/>
                <a:latin typeface="Times New Roman" panose="02020603050405020304" charset="0"/>
                <a:ea typeface="宋体" panose="02010600030101010101" pitchFamily="2" charset="-122"/>
              </a:rPr>
              <a: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连入上层公共网络中。无线路由器将接入点和路由器两者的功能结合为一体。在一个家庭中</a:t>
            </a:r>
            <a:r>
              <a:rPr lang="en-US" altLang="zh-CN" sz="2800" b="1" kern="100" dirty="0">
                <a:effectLst/>
                <a:latin typeface="Times New Roman" panose="02020603050405020304" charset="0"/>
                <a:ea typeface="宋体" panose="02010600030101010101" pitchFamily="2" charset="-122"/>
              </a:rPr>
              <a:t>,</a:t>
            </a:r>
            <a:r>
              <a:rPr lang="zh-CN" altLang="zh-CN" sz="2800" b="1" kern="100" dirty="0">
                <a:effectLst/>
                <a:latin typeface="Times New Roman" panose="02020603050405020304" charset="0"/>
                <a:ea typeface="宋体" panose="02010600030101010101" pitchFamily="2" charset="-122"/>
                <a:cs typeface="Times New Roman" panose="02020603050405020304" charset="0"/>
              </a:rPr>
              <a:t>可能有笔记本电脑、台式机、掌上电脑等多种无线网络设备，而往往网络运营商只为每个家庭提供一条有线宽带连接。这时按照</a:t>
            </a:r>
            <a:r>
              <a:rPr lang="en-US" altLang="zh-CN" sz="2800" b="1" kern="100" dirty="0">
                <a:effectLst/>
                <a:latin typeface="Times New Roman" panose="02020603050405020304" charset="0"/>
                <a:ea typeface="宋体" panose="02010600030101010101" pitchFamily="2" charset="-122"/>
              </a:rPr>
              <a:t>802.11</a:t>
            </a:r>
            <a:r>
              <a:rPr lang="zh-CN" altLang="zh-CN" sz="2800" b="1" kern="100" dirty="0">
                <a:effectLst/>
                <a:latin typeface="Times New Roman" panose="02020603050405020304" charset="0"/>
                <a:ea typeface="宋体" panose="02010600030101010101" pitchFamily="2" charset="-122"/>
                <a:cs typeface="Times New Roman" panose="02020603050405020304" charset="0"/>
              </a:rPr>
              <a:t>的架构，将无线路由器通过有线连接方式与宽带网络相连，家庭中所有的无线网络设备都可通过它访问上层网络。</a:t>
            </a:r>
            <a:endParaRPr lang="zh-CN" altLang="zh-CN" sz="2800" b="1" kern="100" dirty="0">
              <a:effectLst/>
              <a:latin typeface="Times New Roman" panose="02020603050405020304" charset="0"/>
              <a:ea typeface="宋体" panose="02010600030101010101" pitchFamily="2" charset="-122"/>
            </a:endParaRPr>
          </a:p>
        </p:txBody>
      </p:sp>
      <p:sp>
        <p:nvSpPr>
          <p:cNvPr id="2" name="标题 1"/>
          <p:cNvSpPr>
            <a:spLocks noGrp="1"/>
          </p:cNvSpPr>
          <p:nvPr>
            <p:ph type="title"/>
          </p:nvPr>
        </p:nvSpPr>
        <p:spPr>
          <a:xfrm>
            <a:off x="618490" y="15398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4" name="Rectangle 2"/>
          <p:cNvSpPr>
            <a:spLocks noChangeArrowheads="1"/>
          </p:cNvSpPr>
          <p:nvPr/>
        </p:nvSpPr>
        <p:spPr bwMode="auto">
          <a:xfrm>
            <a:off x="2295525" y="2000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074205" y="937290"/>
          <a:ext cx="7745849" cy="4775479"/>
        </p:xfrm>
        <a:graphic>
          <a:graphicData uri="http://schemas.openxmlformats.org/presentationml/2006/ole">
            <mc:AlternateContent xmlns:mc="http://schemas.openxmlformats.org/markup-compatibility/2006">
              <mc:Choice xmlns:v="urn:schemas-microsoft-com:vml" Requires="v">
                <p:oleObj spid="_x0000_s24775" name="Visio" r:id="rId1" imgW="11745595" imgH="7251065" progId="Visio.Drawing.15">
                  <p:embed/>
                </p:oleObj>
              </mc:Choice>
              <mc:Fallback>
                <p:oleObj name="Visio" r:id="rId1" imgW="11745595" imgH="7251065" progId="Visio.Drawing.15">
                  <p:embed/>
                  <p:pic>
                    <p:nvPicPr>
                      <p:cNvPr id="0" name="Object 1"/>
                      <p:cNvPicPr>
                        <a:picLocks noChangeAspect="1" noChangeArrowheads="1"/>
                      </p:cNvPicPr>
                      <p:nvPr/>
                    </p:nvPicPr>
                    <p:blipFill>
                      <a:blip r:embed="rId2"/>
                      <a:srcRect/>
                      <a:stretch>
                        <a:fillRect/>
                      </a:stretch>
                    </p:blipFill>
                    <p:spPr bwMode="auto">
                      <a:xfrm>
                        <a:off x="2074205" y="937290"/>
                        <a:ext cx="7745849" cy="4775479"/>
                      </a:xfrm>
                      <a:prstGeom prst="rect">
                        <a:avLst/>
                      </a:prstGeom>
                      <a:noFill/>
                    </p:spPr>
                  </p:pic>
                </p:oleObj>
              </mc:Fallback>
            </mc:AlternateContent>
          </a:graphicData>
        </a:graphic>
      </p:graphicFrame>
      <p:sp>
        <p:nvSpPr>
          <p:cNvPr id="6" name="文本框 5"/>
          <p:cNvSpPr txBox="1"/>
          <p:nvPr/>
        </p:nvSpPr>
        <p:spPr>
          <a:xfrm>
            <a:off x="4143154" y="5712769"/>
            <a:ext cx="4705350" cy="646331"/>
          </a:xfrm>
          <a:prstGeom prst="rect">
            <a:avLst/>
          </a:prstGeom>
          <a:noFill/>
        </p:spPr>
        <p:txBody>
          <a:bodyPr wrap="square" rtlCol="0">
            <a:spAutoFit/>
          </a:bodyPr>
          <a:lstStyle/>
          <a:p>
            <a:r>
              <a:rPr lang="zh-CN" altLang="zh-CN" sz="1800" kern="100" dirty="0">
                <a:effectLst/>
                <a:latin typeface="Times New Roman" panose="02020603050405020304" charset="0"/>
                <a:ea typeface="宋体" panose="02010600030101010101" pitchFamily="2" charset="-122"/>
              </a:rPr>
              <a:t>图</a:t>
            </a:r>
            <a:r>
              <a:rPr lang="en-US" altLang="zh-CN" sz="1800" kern="100" dirty="0">
                <a:effectLst/>
                <a:latin typeface="Times New Roman" panose="02020603050405020304" charset="0"/>
                <a:ea typeface="宋体" panose="02010600030101010101" pitchFamily="2" charset="-122"/>
              </a:rPr>
              <a:t>3-5-12 </a:t>
            </a:r>
            <a:r>
              <a:rPr lang="zh-CN" altLang="zh-CN" sz="1800" kern="100" dirty="0">
                <a:effectLst/>
                <a:latin typeface="Times New Roman" panose="02020603050405020304" charset="0"/>
                <a:ea typeface="宋体" panose="02010600030101010101" pitchFamily="2" charset="-122"/>
              </a:rPr>
              <a:t>无线局域网</a:t>
            </a:r>
            <a:r>
              <a:rPr lang="en-US" altLang="zh-CN" sz="1800" kern="100" dirty="0">
                <a:effectLst/>
                <a:latin typeface="Times New Roman" panose="02020603050405020304" charset="0"/>
                <a:ea typeface="宋体" panose="02010600030101010101" pitchFamily="2" charset="-122"/>
              </a:rPr>
              <a:t>WLAN</a:t>
            </a:r>
            <a:r>
              <a:rPr lang="zh-CN" altLang="zh-CN" sz="1800" kern="100" dirty="0">
                <a:effectLst/>
                <a:latin typeface="Times New Roman" panose="02020603050405020304" charset="0"/>
                <a:ea typeface="宋体" panose="02010600030101010101" pitchFamily="2" charset="-122"/>
              </a:rPr>
              <a:t>架构</a:t>
            </a:r>
            <a:endParaRPr lang="zh-CN" altLang="zh-CN" sz="1800" kern="100" dirty="0">
              <a:effectLst/>
              <a:latin typeface="Times New Roman" panose="02020603050405020304" charset="0"/>
              <a:ea typeface="宋体" panose="02010600030101010101" pitchFamily="2" charset="-122"/>
            </a:endParaRPr>
          </a:p>
          <a:p>
            <a:endParaRPr lang="zh-CN" altLang="en-US" dirty="0"/>
          </a:p>
        </p:txBody>
      </p:sp>
      <p:sp>
        <p:nvSpPr>
          <p:cNvPr id="2" name="标题 1"/>
          <p:cNvSpPr>
            <a:spLocks noGrp="1"/>
          </p:cNvSpPr>
          <p:nvPr>
            <p:ph type="title"/>
          </p:nvPr>
        </p:nvSpPr>
        <p:spPr>
          <a:xfrm>
            <a:off x="618490" y="15398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356870" y="1208937"/>
            <a:ext cx="11478260" cy="5631180"/>
          </a:xfrm>
          <a:prstGeom prst="rect">
            <a:avLst/>
          </a:prstGeom>
          <a:noFill/>
          <a:ln w="9525">
            <a:noFill/>
          </a:ln>
        </p:spPr>
        <p:txBody>
          <a:bodyPr wrap="square">
            <a:spAutoFit/>
          </a:bodyPr>
          <a:lstStyle/>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在</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中，每个无线网络用户都需要与一个接入点相关联才能获取上层网络的数据。那么，接入点有哪些参数呢？以</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802.11b/g</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协议为例，每个接入点的管理者都会为其指定一个或多个服务集标识符</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solidFill>
                  <a:srgbClr val="000000"/>
                </a:solidFill>
                <a:effectLst/>
                <a:latin typeface="Times New Roman" panose="02020603050405020304" charset="0"/>
                <a:ea typeface="宋体" panose="02010600030101010101" pitchFamily="2" charset="-122"/>
                <a:cs typeface="Times New Roman" panose="02020603050405020304" charset="0"/>
              </a:rPr>
              <a:t>Service Set Identifier</a:t>
            </a:r>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SSID)</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。同时，接入点管理者会为其指定一个频段作为通信信道。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802.11b/g</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使用</a:t>
            </a:r>
            <a:r>
              <a:rPr lang="en-US" altLang="zh-CN" sz="2000" b="1" kern="100" dirty="0">
                <a:effectLst/>
                <a:latin typeface="Times New Roman" panose="02020603050405020304" charset="0"/>
                <a:ea typeface="宋体" panose="02010600030101010101" pitchFamily="2" charset="-122"/>
                <a:cs typeface="Times New Roman" panose="02020603050405020304" charset="0"/>
              </a:rPr>
              <a:t>2.4~2.485 GHz</a:t>
            </a:r>
            <a:r>
              <a:rPr lang="zh-CN" altLang="zh-CN" sz="2000" b="1" kern="100" dirty="0">
                <a:effectLst/>
                <a:latin typeface="Times New Roman" panose="02020603050405020304" charset="0"/>
                <a:ea typeface="宋体" panose="02010600030101010101" pitchFamily="2" charset="-122"/>
                <a:cs typeface="Times New Roman" panose="02020603050405020304" charset="0"/>
              </a:rPr>
              <a:t>频段传输数据，对于这</a:t>
            </a:r>
            <a:r>
              <a:rPr lang="en-US" altLang="zh-CN" sz="2000" b="1" kern="100" dirty="0">
                <a:effectLst/>
                <a:latin typeface="Times New Roman" panose="02020603050405020304" charset="0"/>
                <a:ea typeface="宋体" panose="02010600030101010101" pitchFamily="2" charset="-122"/>
                <a:cs typeface="Times New Roman" panose="02020603050405020304" charset="0"/>
              </a:rPr>
              <a:t>85MHz</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的频宽，</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802.11b/g</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将其分为</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个部分相互重叠的信道。例如，信道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a:t>
            </a:r>
            <a:r>
              <a:rPr lang="en-US" altLang="zh-CN" sz="2000" b="1" kern="100" dirty="0">
                <a:effectLst/>
                <a:latin typeface="Times New Roman" panose="02020603050405020304" charset="0"/>
                <a:ea typeface="宋体" panose="02010600030101010101" pitchFamily="2" charset="-122"/>
                <a:cs typeface="Times New Roman" panose="02020603050405020304" charset="0"/>
              </a:rPr>
              <a:t>6</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是</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条互相不重叠的信道，如果在一间教室内有</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个接入点，则</a:t>
            </a:r>
            <a:r>
              <a:rPr lang="en-US" altLang="zh-CN" sz="2000" b="1" kern="100" dirty="0">
                <a:effectLst/>
                <a:latin typeface="Times New Roman" panose="02020603050405020304" charset="0"/>
                <a:ea typeface="宋体" panose="02010600030101010101" pitchFamily="2" charset="-122"/>
                <a:cs typeface="Times New Roman" panose="02020603050405020304" charset="0"/>
              </a:rPr>
              <a:t>IEEE 802.11b/g</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信道分配模式可以保证这</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个接入点之间的信号互不干扰。但如果有多于</a:t>
            </a:r>
            <a:r>
              <a:rPr lang="en-US" altLang="zh-CN" sz="2000" b="1" kern="100" dirty="0">
                <a:effectLst/>
                <a:latin typeface="Times New Roman" panose="02020603050405020304" charset="0"/>
                <a:ea typeface="宋体" panose="02010600030101010101" pitchFamily="2" charset="-122"/>
                <a:cs typeface="Times New Roman" panose="02020603050405020304" charset="0"/>
              </a:rPr>
              <a:t>3</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个的接入点，如存在一个使用信道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9</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的接入点</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则会对使用信道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6</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和信道</a:t>
            </a:r>
            <a:r>
              <a:rPr lang="en-US" altLang="zh-CN" sz="2000" b="1" kern="100" dirty="0">
                <a:effectLst/>
                <a:latin typeface="Times New Roman" panose="02020603050405020304" charset="0"/>
                <a:ea typeface="宋体" panose="02010600030101010101" pitchFamily="2" charset="-122"/>
                <a:cs typeface="Times New Roman" panose="02020603050405020304" charset="0"/>
              </a:rPr>
              <a:t>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的接入点造成干扰。</a:t>
            </a:r>
            <a:endParaRPr lang="zh-CN" altLang="zh-CN" sz="20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对于特定无线网络用户来说</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其所在位置可能被多个</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接入点覆盖，通常它只能选择其中之一建立连接并交换数据。那么，无线网络用户是如何与特定</a:t>
            </a:r>
            <a:r>
              <a:rPr lang="en-US" altLang="zh-CN" sz="20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接入点建立关联的呢</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首先，每个接入点会周期性地向周围广播识别帧，其中包含了接入点的</a:t>
            </a:r>
            <a:r>
              <a:rPr lang="en-US" altLang="zh-CN" sz="2000" b="1" kern="100" dirty="0">
                <a:effectLst/>
                <a:latin typeface="Times New Roman" panose="02020603050405020304" charset="0"/>
                <a:ea typeface="宋体" panose="02010600030101010101" pitchFamily="2" charset="-122"/>
                <a:cs typeface="Times New Roman" panose="02020603050405020304" charset="0"/>
              </a:rPr>
              <a:t>MAC</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地址和</a:t>
            </a:r>
            <a:r>
              <a:rPr lang="en-US" altLang="zh-CN" sz="2000" b="1" kern="100" dirty="0">
                <a:effectLst/>
                <a:latin typeface="Times New Roman" panose="02020603050405020304" charset="0"/>
                <a:ea typeface="宋体" panose="02010600030101010101" pitchFamily="2" charset="-122"/>
                <a:cs typeface="Times New Roman" panose="02020603050405020304" charset="0"/>
              </a:rPr>
              <a:t>SSID</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其次，无线网络用户通过一段时间内收集的识别帧信息确定可提供服务的接入点的集合。最后，无线网络用户向其中一个接入点发送关联请求从而建立连接。这里还存在如下一个问题：无线网络用户如何从设备选择接入点集合中选择最优的接入点作为关联点？这种策略在</a:t>
            </a:r>
            <a:r>
              <a:rPr lang="en-US" altLang="zh-CN" sz="2000" b="1" kern="100" dirty="0">
                <a:effectLst/>
                <a:latin typeface="Times New Roman" panose="02020603050405020304" charset="0"/>
                <a:ea typeface="宋体" panose="02010600030101010101" pitchFamily="2" charset="-122"/>
                <a:cs typeface="Times New Roman" panose="02020603050405020304" charset="0"/>
              </a:rPr>
              <a:t>802.11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协议中并没有明文规定</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它是由</a:t>
            </a:r>
            <a:r>
              <a:rPr lang="en-US" altLang="zh-CN" sz="2000" b="1" kern="100" dirty="0">
                <a:effectLst/>
                <a:latin typeface="Times New Roman" panose="02020603050405020304" charset="0"/>
                <a:ea typeface="宋体" panose="02010600030101010101" pitchFamily="2" charset="-122"/>
                <a:cs typeface="Times New Roman" panose="02020603050405020304" charset="0"/>
              </a:rPr>
              <a:t>802.11</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协议的硬件制造商或者无线网络管理软件开发者决定的。一种常见的做法是将通信链路质量最好的接入点作为关联接入点，但可能存在的问题就是：假定在相邻的两个教室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000" b="1" kern="100" dirty="0">
                <a:effectLst/>
                <a:latin typeface="Times New Roman" panose="02020603050405020304" charset="0"/>
                <a:ea typeface="宋体" panose="02010600030101010101" pitchFamily="2" charset="-122"/>
                <a:cs typeface="Times New Roman" panose="02020603050405020304" charset="0"/>
              </a:rPr>
              <a:t>B</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中各有一个接入点，且教室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中无线网络用户数量远多于教室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B</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中的数量。由于无线信号强度衰减特性，教室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中的用户只会与教室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中的接入点关联。但是众多用户与教室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的接入点关联降低了每个用户的带宽</a:t>
            </a:r>
            <a:r>
              <a:rPr lang="en-US" altLang="zh-CN" sz="2000" b="1" kern="100" dirty="0">
                <a:effectLst/>
                <a:latin typeface="Times New Roman" panose="02020603050405020304" charset="0"/>
                <a:ea typeface="宋体" panose="02010600030101010101" pitchFamily="2" charset="-122"/>
                <a:cs typeface="Times New Roman" panose="02020603050405020304" charset="0"/>
              </a:rPr>
              <a:t>,</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反而可能不如与信号强度稍差但关联用户较少的教室</a:t>
            </a:r>
            <a:r>
              <a:rPr lang="en-US" altLang="zh-CN" sz="2000" b="1" kern="100" dirty="0">
                <a:effectLst/>
                <a:latin typeface="Times New Roman" panose="02020603050405020304" charset="0"/>
                <a:ea typeface="宋体" panose="02010600030101010101" pitchFamily="2" charset="-122"/>
                <a:cs typeface="Times New Roman" panose="02020603050405020304" charset="0"/>
              </a:rPr>
              <a:t>B</a:t>
            </a:r>
            <a:r>
              <a:rPr lang="zh-CN" altLang="zh-CN" sz="2000" b="1" kern="100" dirty="0">
                <a:effectLst/>
                <a:latin typeface="Times New Roman" panose="02020603050405020304" charset="0"/>
                <a:ea typeface="宋体" panose="02010600030101010101" pitchFamily="2" charset="-122"/>
                <a:cs typeface="Times New Roman" panose="02020603050405020304" charset="0"/>
              </a:rPr>
              <a:t>的接入点关联。</a:t>
            </a:r>
            <a:endParaRPr lang="zh-CN" altLang="zh-CN" sz="18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2" name="标题 1"/>
          <p:cNvSpPr>
            <a:spLocks noGrp="1"/>
          </p:cNvSpPr>
          <p:nvPr>
            <p:ph type="title"/>
          </p:nvPr>
        </p:nvSpPr>
        <p:spPr>
          <a:xfrm>
            <a:off x="445770"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205740" y="1545945"/>
            <a:ext cx="11478260" cy="4892675"/>
          </a:xfrm>
          <a:prstGeom prst="rect">
            <a:avLst/>
          </a:prstGeom>
          <a:noFill/>
          <a:ln w="9525">
            <a:noFill/>
          </a:ln>
        </p:spPr>
        <p:txBody>
          <a:bodyPr wrap="square">
            <a:spAutoFit/>
          </a:bodyPr>
          <a:lstStyle/>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a:t>
            </a:r>
            <a:r>
              <a:rPr lang="en-US" altLang="zh-CN" sz="2400" b="1" kern="100" dirty="0">
                <a:effectLst/>
                <a:latin typeface="Times New Roman" panose="02020603050405020304" charset="0"/>
                <a:ea typeface="宋体" panose="02010600030101010101" pitchFamily="2" charset="-122"/>
                <a:cs typeface="Times New Roman" panose="02020603050405020304" charset="0"/>
              </a:rPr>
              <a:t>  </a:t>
            </a:r>
            <a:r>
              <a:rPr lang="zh-CN" altLang="zh-CN" sz="2400" b="1" kern="100" dirty="0">
                <a:effectLst/>
                <a:latin typeface="Times New Roman" panose="02020603050405020304" charset="0"/>
                <a:ea typeface="宋体" panose="02010600030101010101" pitchFamily="2" charset="-122"/>
                <a:cs typeface="Times New Roman" panose="02020603050405020304" charset="0"/>
              </a:rPr>
              <a:t>上面建立关联的方式称为被动扫描模式。另一种模式是主动扫描模式，其工作原理如下：当无线网络用户寻找潜在可提供服务的接入点时，它主动向周围广播一个探测帧；收到探测帧的接入点进行响应，返回一个回应帧；然后无线网络用户再根据所有回应帧的信息选取一个接入点关联。</a:t>
            </a:r>
            <a:endParaRPr lang="zh-CN" altLang="zh-CN" sz="24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400" b="1" kern="100" dirty="0">
                <a:effectLst/>
                <a:latin typeface="Times New Roman" panose="02020603050405020304" charset="0"/>
                <a:ea typeface="宋体" panose="02010600030101010101" pitchFamily="2" charset="-122"/>
                <a:cs typeface="Times New Roman" panose="02020603050405020304" charset="0"/>
              </a:rPr>
              <a:t>    IEEE 802.11</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的另一种架构模式是自组织网络，在这种模式下不需要类似基站的基础设施，每个无线网络用户既是数据交互的终端也作为数据传输过程中的路由。由于没有一个类似基站这样集中收发数据的管理者，每条数据传输路径是当数据传输需求出现时动态形成的。这种网络架构可结合基站式架构，用于无线设备相对集中且有线</a:t>
            </a:r>
            <a:r>
              <a:rPr lang="en-US" altLang="zh-CN" sz="24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400" b="1" kern="100" dirty="0">
                <a:effectLst/>
                <a:latin typeface="Times New Roman" panose="02020603050405020304" charset="0"/>
                <a:ea typeface="宋体" panose="02010600030101010101" pitchFamily="2" charset="-122"/>
                <a:cs typeface="Times New Roman" panose="02020603050405020304" charset="0"/>
              </a:rPr>
              <a:t>接入点无法覆盖整个区域的情况。例如，在一个大会议室中，无线网络用户可能达到数百上千人，可以在会议室的四角各放置一个接入点，这样部分用户可直接通过接入点访问上层网络，更多的用户通过自组织网络相互连接起来，间接通过其他用户的中继访问网络。</a:t>
            </a:r>
            <a:endParaRPr lang="zh-CN" altLang="zh-CN" sz="24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400" b="1" kern="100" dirty="0">
                <a:effectLst/>
                <a:latin typeface="Times New Roman" panose="02020603050405020304" charset="0"/>
                <a:ea typeface="宋体" panose="02010600030101010101" pitchFamily="2" charset="-122"/>
                <a:cs typeface="Times New Roman" panose="02020603050405020304" charset="0"/>
              </a:rPr>
              <a:t>   </a:t>
            </a:r>
            <a:endParaRPr lang="zh-CN" altLang="zh-CN" sz="24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2" name="标题 1"/>
          <p:cNvSpPr>
            <a:spLocks noGrp="1"/>
          </p:cNvSpPr>
          <p:nvPr>
            <p:ph type="title"/>
          </p:nvPr>
        </p:nvSpPr>
        <p:spPr>
          <a:xfrm>
            <a:off x="527685"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356870" y="1145260"/>
            <a:ext cx="11478260" cy="5631180"/>
          </a:xfrm>
          <a:prstGeom prst="rect">
            <a:avLst/>
          </a:prstGeom>
          <a:noFill/>
          <a:ln w="9525">
            <a:noFill/>
          </a:ln>
        </p:spPr>
        <p:txBody>
          <a:bodyPr wrap="square">
            <a:spAutoFit/>
          </a:bodyPr>
          <a:lstStyle/>
          <a:p>
            <a:pPr indent="266700" algn="just"/>
            <a:r>
              <a:rPr lang="en-US" altLang="zh-CN" sz="2000" b="1" kern="100" dirty="0">
                <a:effectLst/>
                <a:latin typeface="Times New Roman" panose="02020603050405020304" charset="0"/>
                <a:ea typeface="宋体" panose="02010600030101010101" pitchFamily="2" charset="-122"/>
                <a:cs typeface="Times New Roman" panose="02020603050405020304" charset="0"/>
              </a:rPr>
              <a:t>   </a:t>
            </a:r>
            <a:r>
              <a:rPr lang="en-US" altLang="zh-CN" sz="2400" b="1" kern="100" dirty="0">
                <a:effectLst/>
                <a:latin typeface="Times New Roman" panose="02020603050405020304" charset="0"/>
                <a:ea typeface="宋体" panose="02010600030101010101" pitchFamily="2" charset="-122"/>
                <a:cs typeface="Times New Roman" panose="02020603050405020304" charset="0"/>
              </a:rPr>
              <a:t> 2.IEEE 802.11</a:t>
            </a:r>
            <a:r>
              <a:rPr lang="zh-CN" altLang="zh-CN" sz="2400" b="1" kern="100" dirty="0">
                <a:effectLst/>
                <a:latin typeface="Times New Roman" panose="02020603050405020304" charset="0"/>
                <a:ea typeface="宋体" panose="02010600030101010101" pitchFamily="2" charset="-122"/>
                <a:cs typeface="Times New Roman" panose="02020603050405020304" charset="0"/>
              </a:rPr>
              <a:t>介质访问控制协议</a:t>
            </a:r>
            <a:endParaRPr lang="zh-CN" altLang="zh-CN" sz="2400" b="1" kern="100" dirty="0">
              <a:effectLst/>
              <a:latin typeface="Times New Roman" panose="02020603050405020304" charset="0"/>
              <a:ea typeface="宋体" panose="02010600030101010101" pitchFamily="2" charset="-122"/>
              <a:cs typeface="Times New Roman" panose="02020603050405020304" charset="0"/>
            </a:endParaRPr>
          </a:p>
          <a:p>
            <a:pPr indent="266700" algn="just"/>
            <a:r>
              <a:rPr lang="en-US" altLang="zh-CN" sz="2400" b="1" kern="100" dirty="0">
                <a:effectLst/>
                <a:latin typeface="Times New Roman" panose="02020603050405020304" charset="0"/>
                <a:ea typeface="宋体" panose="02010600030101010101" pitchFamily="2" charset="-122"/>
                <a:cs typeface="Times New Roman" panose="02020603050405020304" charset="0"/>
              </a:rPr>
              <a:t>    </a:t>
            </a:r>
            <a:r>
              <a:rPr lang="zh-CN" altLang="zh-CN" sz="2400" b="1" kern="100" dirty="0">
                <a:effectLst/>
                <a:latin typeface="Times New Roman" panose="02020603050405020304" charset="0"/>
                <a:ea typeface="宋体" panose="02010600030101010101" pitchFamily="2" charset="-122"/>
                <a:cs typeface="Times New Roman" panose="02020603050405020304" charset="0"/>
              </a:rPr>
              <a:t>由于每个</a:t>
            </a:r>
            <a:r>
              <a:rPr lang="en-US" altLang="zh-CN" sz="2400" b="1" kern="100" dirty="0">
                <a:effectLst/>
                <a:latin typeface="Times New Roman" panose="02020603050405020304" charset="0"/>
                <a:ea typeface="宋体" panose="02010600030101010101" pitchFamily="2" charset="-122"/>
                <a:cs typeface="Times New Roman" panose="02020603050405020304" charset="0"/>
              </a:rPr>
              <a:t>Wi-Fi</a:t>
            </a:r>
            <a:r>
              <a:rPr lang="zh-CN" altLang="zh-CN" sz="2400" b="1" kern="100" dirty="0">
                <a:effectLst/>
                <a:latin typeface="Times New Roman" panose="02020603050405020304" charset="0"/>
                <a:ea typeface="宋体" panose="02010600030101010101" pitchFamily="2" charset="-122"/>
                <a:cs typeface="Times New Roman" panose="02020603050405020304" charset="0"/>
              </a:rPr>
              <a:t>接入点都可能会关联多个无线网络用户，并且在一定区域内可能存在多个接入点</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因此两个或更多用户可能在同一时间使用相同的信道传输数据。此时由于无线连接会相互干扰，更容易导致数据包的丢失，因此需要多用户信道访问协议来控制用户对信道的访问。</a:t>
            </a:r>
            <a:r>
              <a:rPr lang="en-US" altLang="zh-CN" sz="24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协议中使用带冲突避免的载波侦听多路访问</a:t>
            </a:r>
            <a:r>
              <a:rPr lang="en-US" altLang="zh-CN" sz="2400" b="1" kern="100" dirty="0">
                <a:effectLst/>
                <a:latin typeface="Times New Roman" panose="02020603050405020304" charset="0"/>
                <a:ea typeface="宋体" panose="02010600030101010101" pitchFamily="2" charset="-122"/>
                <a:cs typeface="Times New Roman" panose="02020603050405020304" charset="0"/>
              </a:rPr>
              <a:t>(CSMA/CA)</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a:t>
            </a:r>
            <a:r>
              <a:rPr lang="en-US" altLang="zh-CN" sz="2400" b="1" kern="100" dirty="0">
                <a:effectLst/>
                <a:latin typeface="Times New Roman" panose="02020603050405020304" charset="0"/>
                <a:ea typeface="宋体" panose="02010600030101010101" pitchFamily="2" charset="-122"/>
                <a:cs typeface="Times New Roman" panose="02020603050405020304" charset="0"/>
              </a:rPr>
              <a:t>CSMA</a:t>
            </a:r>
            <a:r>
              <a:rPr lang="zh-CN" altLang="zh-CN" sz="2400" b="1" kern="100" dirty="0">
                <a:effectLst/>
                <a:latin typeface="Times New Roman" panose="02020603050405020304" charset="0"/>
                <a:ea typeface="宋体" panose="02010600030101010101" pitchFamily="2" charset="-122"/>
                <a:cs typeface="Times New Roman" panose="02020603050405020304" charset="0"/>
              </a:rPr>
              <a:t>是指用户在发送数据之前先侦听信道</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若信道被占用，则不发送数据。</a:t>
            </a:r>
            <a:r>
              <a:rPr lang="en-US" altLang="zh-CN" sz="2400" b="1" kern="100" dirty="0">
                <a:effectLst/>
                <a:latin typeface="Times New Roman" panose="02020603050405020304" charset="0"/>
                <a:ea typeface="宋体" panose="02010600030101010101" pitchFamily="2" charset="-122"/>
                <a:cs typeface="Times New Roman" panose="02020603050405020304" charset="0"/>
              </a:rPr>
              <a:t>CSMA/CA</a:t>
            </a:r>
            <a:r>
              <a:rPr lang="zh-CN" altLang="zh-CN" sz="2400" b="1" kern="100" dirty="0">
                <a:effectLst/>
                <a:latin typeface="Times New Roman" panose="02020603050405020304" charset="0"/>
                <a:ea typeface="宋体" panose="02010600030101010101" pitchFamily="2" charset="-122"/>
                <a:cs typeface="Times New Roman" panose="02020603050405020304" charset="0"/>
              </a:rPr>
              <a:t>是指即使侦听到信道为空</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也为了避免冲突而等待一小段随机时间后再发送数据帧。虽然以太网介质访问控制协议也使用了</a:t>
            </a:r>
            <a:r>
              <a:rPr lang="en-US" altLang="zh-CN" sz="2400" b="1" kern="100" dirty="0">
                <a:effectLst/>
                <a:latin typeface="Times New Roman" panose="02020603050405020304" charset="0"/>
                <a:ea typeface="宋体" panose="02010600030101010101" pitchFamily="2" charset="-122"/>
                <a:cs typeface="Times New Roman" panose="02020603050405020304" charset="0"/>
              </a:rPr>
              <a:t>CSMA</a:t>
            </a:r>
            <a:r>
              <a:rPr lang="zh-CN" altLang="zh-CN" sz="2400" b="1" kern="100" dirty="0">
                <a:effectLst/>
                <a:latin typeface="Times New Roman" panose="02020603050405020304" charset="0"/>
                <a:ea typeface="宋体" panose="02010600030101010101" pitchFamily="2" charset="-122"/>
                <a:cs typeface="Times New Roman" panose="02020603050405020304" charset="0"/>
              </a:rPr>
              <a:t>技术，但其细节与</a:t>
            </a:r>
            <a:r>
              <a:rPr lang="en-US" altLang="zh-CN" sz="2400" b="1" kern="100" dirty="0">
                <a:effectLst/>
                <a:latin typeface="Times New Roman" panose="02020603050405020304" charset="0"/>
                <a:ea typeface="宋体" panose="02010600030101010101" pitchFamily="2" charset="-122"/>
                <a:cs typeface="Times New Roman" panose="02020603050405020304" charset="0"/>
              </a:rPr>
              <a:t>IEEE 802.11</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协议的介质访问控制协议还有很大差异。首先</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由于无线信号干扰问题，造成数据传输出错概率较大，因此</a:t>
            </a:r>
            <a:r>
              <a:rPr lang="en-US" altLang="zh-CN" sz="2400" b="1" kern="100" dirty="0">
                <a:effectLst/>
                <a:latin typeface="Times New Roman" panose="02020603050405020304" charset="0"/>
                <a:ea typeface="宋体" panose="02010600030101010101" pitchFamily="2" charset="-122"/>
                <a:cs typeface="Times New Roman" panose="02020603050405020304" charset="0"/>
              </a:rPr>
              <a:t>802.11</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协议中要求建立数据链路层确认</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重传机制。然而，以太网中有线连接的传输出错概率较小，并没有强制要求数据链路层建立确认</a:t>
            </a:r>
            <a:r>
              <a:rPr lang="en-US" altLang="zh-CN" sz="2400" b="1" kern="100" dirty="0">
                <a:effectLst/>
                <a:latin typeface="Times New Roman" panose="02020603050405020304" charset="0"/>
                <a:ea typeface="宋体" panose="02010600030101010101" pitchFamily="2" charset="-122"/>
                <a:cs typeface="Times New Roman" panose="02020603050405020304" charset="0"/>
              </a:rPr>
              <a:t>/</a:t>
            </a:r>
            <a:r>
              <a:rPr lang="zh-CN" altLang="zh-CN" sz="2400" b="1" kern="100" dirty="0">
                <a:effectLst/>
                <a:latin typeface="Times New Roman" panose="02020603050405020304" charset="0"/>
                <a:ea typeface="宋体" panose="02010600030101010101" pitchFamily="2" charset="-122"/>
                <a:cs typeface="Times New Roman" panose="02020603050405020304" charset="0"/>
              </a:rPr>
              <a:t>重传机制。再者，以太网使用带冲突检测的载波监听多路访问</a:t>
            </a:r>
            <a:r>
              <a:rPr lang="en-US" altLang="zh-CN" sz="2400" b="1" kern="100" dirty="0">
                <a:effectLst/>
                <a:latin typeface="Times New Roman" panose="02020603050405020304" charset="0"/>
                <a:ea typeface="宋体" panose="02010600030101010101" pitchFamily="2" charset="-122"/>
                <a:cs typeface="Times New Roman" panose="02020603050405020304" charset="0"/>
              </a:rPr>
              <a:t>(CSMA/CD)</a:t>
            </a:r>
            <a:r>
              <a:rPr lang="zh-CN" altLang="zh-CN" sz="2400" b="1" kern="100" dirty="0">
                <a:effectLst/>
                <a:latin typeface="Times New Roman" panose="02020603050405020304" charset="0"/>
                <a:ea typeface="宋体" panose="02010600030101010101" pitchFamily="2" charset="-122"/>
                <a:cs typeface="Times New Roman" panose="02020603050405020304" charset="0"/>
              </a:rPr>
              <a:t>协议。其原理如下：当用户监听到信道为空时立即发送数据，并且在发送数据的同时监听信道，若此时它检测到和其他用户的数据传输信号发生了冲突，则立即停止传输并随机等待一小段时间后重新传输。</a:t>
            </a:r>
            <a:endParaRPr lang="zh-CN" altLang="zh-CN" sz="2400" b="1" kern="100" dirty="0">
              <a:effectLst/>
              <a:latin typeface="Times New Roman" panose="02020603050405020304" charset="0"/>
              <a:ea typeface="宋体" panose="02010600030101010101" pitchFamily="2" charset="-122"/>
              <a:cs typeface="Times New Roman" panose="02020603050405020304" charset="0"/>
            </a:endParaRPr>
          </a:p>
        </p:txBody>
      </p:sp>
      <p:sp>
        <p:nvSpPr>
          <p:cNvPr id="2" name="标题 1"/>
          <p:cNvSpPr>
            <a:spLocks noGrp="1"/>
          </p:cNvSpPr>
          <p:nvPr>
            <p:ph type="title"/>
          </p:nvPr>
        </p:nvSpPr>
        <p:spPr>
          <a:xfrm>
            <a:off x="527685"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sp>
        <p:nvSpPr>
          <p:cNvPr id="8" name="文本框 7"/>
          <p:cNvSpPr txBox="1"/>
          <p:nvPr/>
        </p:nvSpPr>
        <p:spPr>
          <a:xfrm>
            <a:off x="356870" y="1095375"/>
            <a:ext cx="11478260" cy="5507990"/>
          </a:xfrm>
          <a:prstGeom prst="rect">
            <a:avLst/>
          </a:prstGeom>
          <a:noFill/>
          <a:ln w="9525">
            <a:noFill/>
          </a:ln>
        </p:spPr>
        <p:txBody>
          <a:bodyPr wrap="square">
            <a:spAutoFit/>
          </a:bodyPr>
          <a:lstStyle/>
          <a:p>
            <a:pPr indent="266700" algn="just"/>
            <a:r>
              <a:rPr lang="en-US" altLang="zh-CN" sz="2200" b="1" kern="100" dirty="0">
                <a:effectLst/>
                <a:latin typeface="Times New Roman" panose="02020603050405020304" charset="0"/>
                <a:ea typeface="宋体" panose="02010600030101010101" pitchFamily="2" charset="-122"/>
              </a:rPr>
              <a:t>    IEEE 802.11</a:t>
            </a:r>
            <a:r>
              <a:rPr lang="zh-CN" altLang="zh-CN" sz="2200" b="1" kern="100" dirty="0">
                <a:effectLst/>
                <a:latin typeface="Times New Roman" panose="02020603050405020304" charset="0"/>
                <a:ea typeface="宋体" panose="02010600030101010101" pitchFamily="2" charset="-122"/>
              </a:rPr>
              <a:t>协议使用</a:t>
            </a:r>
            <a:r>
              <a:rPr lang="en-US" altLang="zh-CN" sz="2200" b="1" kern="100" dirty="0">
                <a:effectLst/>
                <a:latin typeface="Times New Roman" panose="02020603050405020304" charset="0"/>
                <a:ea typeface="宋体" panose="02010600030101010101" pitchFamily="2" charset="-122"/>
              </a:rPr>
              <a:t>CSMA/CA</a:t>
            </a:r>
            <a:r>
              <a:rPr lang="zh-CN" altLang="zh-CN" sz="2200" b="1" kern="100" dirty="0">
                <a:effectLst/>
                <a:latin typeface="Times New Roman" panose="02020603050405020304" charset="0"/>
                <a:ea typeface="宋体" panose="02010600030101010101" pitchFamily="2" charset="-122"/>
              </a:rPr>
              <a:t>而不使用</a:t>
            </a:r>
            <a:r>
              <a:rPr lang="en-US" altLang="zh-CN" sz="2200" b="1" kern="100" dirty="0">
                <a:effectLst/>
                <a:latin typeface="Times New Roman" panose="02020603050405020304" charset="0"/>
                <a:ea typeface="宋体" panose="02010600030101010101" pitchFamily="2" charset="-122"/>
              </a:rPr>
              <a:t>CSMA/CD</a:t>
            </a:r>
            <a:r>
              <a:rPr lang="zh-CN" altLang="zh-CN" sz="2200" b="1" kern="100" dirty="0">
                <a:effectLst/>
                <a:latin typeface="Times New Roman" panose="02020603050405020304" charset="0"/>
                <a:ea typeface="宋体" panose="02010600030101010101" pitchFamily="2" charset="-122"/>
              </a:rPr>
              <a:t>主要有以下两个原因：</a:t>
            </a:r>
            <a:endParaRPr lang="zh-CN" altLang="zh-CN" sz="2200" b="1" kern="100" dirty="0">
              <a:effectLst/>
              <a:latin typeface="Times New Roman" panose="02020603050405020304" charset="0"/>
              <a:ea typeface="宋体" panose="02010600030101010101" pitchFamily="2" charset="-122"/>
            </a:endParaRPr>
          </a:p>
          <a:p>
            <a:pPr indent="266700" algn="just"/>
            <a:r>
              <a:rPr lang="en-US" altLang="zh-CN" sz="2200" b="1" kern="100" dirty="0">
                <a:effectLst/>
                <a:latin typeface="Times New Roman" panose="02020603050405020304" charset="0"/>
                <a:ea typeface="宋体" panose="02010600030101010101" pitchFamily="2" charset="-122"/>
              </a:rPr>
              <a:t> </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1</a:t>
            </a:r>
            <a:r>
              <a:rPr lang="zh-CN" altLang="zh-CN" sz="2200" b="1" kern="100" dirty="0">
                <a:effectLst/>
                <a:latin typeface="Times New Roman" panose="02020603050405020304" charset="0"/>
                <a:ea typeface="宋体" panose="02010600030101010101" pitchFamily="2" charset="-122"/>
              </a:rPr>
              <a:t>）冲突帧需要全双工</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发送数据的同时也可以接收数据</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的信道。而对于无线传输信号来说，发送信号的能量往往远高于接收信号的能量，建立能侦测冲突的硬件代价是很高的。</a:t>
            </a:r>
            <a:endParaRPr lang="zh-CN" altLang="zh-CN" sz="2200" b="1" kern="100" dirty="0">
              <a:effectLst/>
              <a:latin typeface="Times New Roman" panose="02020603050405020304" charset="0"/>
              <a:ea typeface="宋体" panose="02010600030101010101" pitchFamily="2" charset="-122"/>
            </a:endParaRPr>
          </a:p>
          <a:p>
            <a:pPr indent="266700" algn="just"/>
            <a:r>
              <a:rPr lang="en-US" altLang="zh-CN" sz="2200" b="1" kern="100" dirty="0">
                <a:effectLst/>
                <a:latin typeface="Times New Roman" panose="02020603050405020304" charset="0"/>
                <a:ea typeface="宋体" panose="02010600030101010101" pitchFamily="2" charset="-122"/>
              </a:rPr>
              <a:t> </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2</a:t>
            </a:r>
            <a:r>
              <a:rPr lang="zh-CN" altLang="zh-CN" sz="2200" b="1" kern="100" dirty="0">
                <a:effectLst/>
                <a:latin typeface="Times New Roman" panose="02020603050405020304" charset="0"/>
                <a:ea typeface="宋体" panose="02010600030101010101" pitchFamily="2" charset="-122"/>
              </a:rPr>
              <a:t>）即使无线信道是全双工的，但是由于无线信号衰减特性和隐藏终端问题，硬件还是不能侦听到全部可能的冲突。</a:t>
            </a:r>
            <a:endParaRPr lang="zh-CN" altLang="zh-CN" sz="2200" b="1" kern="100" dirty="0">
              <a:effectLst/>
              <a:latin typeface="Times New Roman" panose="02020603050405020304" charset="0"/>
              <a:ea typeface="宋体" panose="02010600030101010101" pitchFamily="2" charset="-122"/>
            </a:endParaRPr>
          </a:p>
          <a:p>
            <a:pPr indent="266700" algn="just"/>
            <a:r>
              <a:rPr lang="en-US" altLang="zh-CN" sz="2200" b="1" kern="100" dirty="0">
                <a:effectLst/>
                <a:latin typeface="Times New Roman" panose="02020603050405020304" charset="0"/>
                <a:ea typeface="宋体" panose="02010600030101010101" pitchFamily="2" charset="-122"/>
              </a:rPr>
              <a:t>    </a:t>
            </a:r>
            <a:r>
              <a:rPr lang="zh-CN" altLang="zh-CN" sz="2200" b="1" kern="100" dirty="0">
                <a:effectLst/>
                <a:latin typeface="Times New Roman" panose="02020603050405020304" charset="0"/>
                <a:ea typeface="宋体" panose="02010600030101010101" pitchFamily="2" charset="-122"/>
              </a:rPr>
              <a:t>在</a:t>
            </a:r>
            <a:r>
              <a:rPr lang="en-US" altLang="zh-CN" sz="2200" b="1" kern="100" dirty="0">
                <a:effectLst/>
                <a:latin typeface="Times New Roman" panose="02020603050405020304" charset="0"/>
                <a:ea typeface="宋体" panose="02010600030101010101" pitchFamily="2" charset="-122"/>
              </a:rPr>
              <a:t>IEEE 802.11</a:t>
            </a:r>
            <a:r>
              <a:rPr lang="zh-CN" altLang="zh-CN" sz="2200" b="1" kern="100" dirty="0">
                <a:effectLst/>
                <a:latin typeface="Times New Roman" panose="02020603050405020304" charset="0"/>
                <a:ea typeface="宋体" panose="02010600030101010101" pitchFamily="2" charset="-122"/>
              </a:rPr>
              <a:t>协议中</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一旦无线网络用户开始传输数据帧，直到整个帧传输完成，传输过程才会停止。在多用户访问环境中，由于无法使用</a:t>
            </a:r>
            <a:r>
              <a:rPr lang="en-US" altLang="zh-CN" sz="2200" b="1" kern="100" dirty="0">
                <a:effectLst/>
                <a:latin typeface="Times New Roman" panose="02020603050405020304" charset="0"/>
                <a:ea typeface="宋体" panose="02010600030101010101" pitchFamily="2" charset="-122"/>
              </a:rPr>
              <a:t>CSMA/CD</a:t>
            </a:r>
            <a:r>
              <a:rPr lang="zh-CN" altLang="zh-CN" sz="2200" b="1" kern="100" dirty="0">
                <a:effectLst/>
                <a:latin typeface="Times New Roman" panose="02020603050405020304" charset="0"/>
                <a:ea typeface="宋体" panose="02010600030101010101" pitchFamily="2" charset="-122"/>
              </a:rPr>
              <a:t>机制，所以，无计划地传输整个帧带来的冲突会导致整体传输性能的下降。尤其当数据帧的长度相对较长时，冲突的概率会极大地增加。为了降低传输冲突的概率，</a:t>
            </a:r>
            <a:r>
              <a:rPr lang="en-US" altLang="zh-CN" sz="2200" b="1" kern="100" dirty="0">
                <a:effectLst/>
                <a:latin typeface="Times New Roman" panose="02020603050405020304" charset="0"/>
                <a:ea typeface="宋体" panose="02010600030101010101" pitchFamily="2" charset="-122"/>
              </a:rPr>
              <a:t>802.11</a:t>
            </a:r>
            <a:r>
              <a:rPr lang="zh-CN" altLang="zh-CN" sz="2200" b="1" kern="100" dirty="0">
                <a:effectLst/>
                <a:latin typeface="Times New Roman" panose="02020603050405020304" charset="0"/>
                <a:ea typeface="宋体" panose="02010600030101010101" pitchFamily="2" charset="-122"/>
              </a:rPr>
              <a:t>协议采用的</a:t>
            </a:r>
            <a:r>
              <a:rPr lang="en-US" altLang="zh-CN" sz="2200" b="1" kern="100" dirty="0">
                <a:effectLst/>
                <a:latin typeface="Times New Roman" panose="02020603050405020304" charset="0"/>
                <a:ea typeface="宋体" panose="02010600030101010101" pitchFamily="2" charset="-122"/>
              </a:rPr>
              <a:t>CSMA/CA</a:t>
            </a:r>
            <a:r>
              <a:rPr lang="zh-CN" altLang="zh-CN" sz="2200" b="1" kern="100" dirty="0">
                <a:effectLst/>
                <a:latin typeface="Times New Roman" panose="02020603050405020304" charset="0"/>
                <a:ea typeface="宋体" panose="02010600030101010101" pitchFamily="2" charset="-122"/>
              </a:rPr>
              <a:t>机制采取了一系列尽量避免冲突的措施。</a:t>
            </a:r>
            <a:endParaRPr lang="zh-CN" altLang="zh-CN" sz="2200" b="1" kern="100" dirty="0">
              <a:effectLst/>
              <a:latin typeface="Times New Roman" panose="02020603050405020304" charset="0"/>
              <a:ea typeface="宋体" panose="02010600030101010101" pitchFamily="2" charset="-122"/>
            </a:endParaRPr>
          </a:p>
          <a:p>
            <a:pPr indent="266700" algn="just"/>
            <a:r>
              <a:rPr lang="en-US" altLang="zh-CN" sz="2200" b="1" kern="100" dirty="0">
                <a:effectLst/>
                <a:latin typeface="Times New Roman" panose="02020603050405020304" charset="0"/>
                <a:ea typeface="宋体" panose="02010600030101010101" pitchFamily="2" charset="-122"/>
              </a:rPr>
              <a:t>    IEEE 802.11</a:t>
            </a:r>
            <a:r>
              <a:rPr lang="zh-CN" altLang="zh-CN" sz="2200" b="1" kern="100" dirty="0">
                <a:effectLst/>
                <a:latin typeface="Times New Roman" panose="02020603050405020304" charset="0"/>
                <a:ea typeface="宋体" panose="02010600030101010101" pitchFamily="2" charset="-122"/>
              </a:rPr>
              <a:t>介质访问控制协议提供了一种可选的机制来消除</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隐藏终端</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问题。如图</a:t>
            </a:r>
            <a:r>
              <a:rPr lang="en-US" altLang="zh-CN" sz="2200" b="1" kern="100" dirty="0">
                <a:effectLst/>
                <a:latin typeface="Times New Roman" panose="02020603050405020304" charset="0"/>
                <a:ea typeface="宋体" panose="02010600030101010101" pitchFamily="2" charset="-122"/>
              </a:rPr>
              <a:t>3-5-13</a:t>
            </a:r>
            <a:r>
              <a:rPr lang="zh-CN" altLang="zh-CN" sz="2200" b="1" kern="100" dirty="0">
                <a:effectLst/>
                <a:latin typeface="Times New Roman" panose="02020603050405020304" charset="0"/>
                <a:ea typeface="宋体" panose="02010600030101010101" pitchFamily="2" charset="-122"/>
              </a:rPr>
              <a:t>所示</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有两个无线网络用户</a:t>
            </a:r>
            <a:r>
              <a:rPr lang="en-US" altLang="zh-CN" sz="2200" b="1" kern="100" dirty="0">
                <a:effectLst/>
                <a:latin typeface="Times New Roman" panose="02020603050405020304" charset="0"/>
                <a:ea typeface="宋体" panose="02010600030101010101" pitchFamily="2" charset="-122"/>
              </a:rPr>
              <a:t>A</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B</a:t>
            </a:r>
            <a:r>
              <a:rPr lang="zh-CN" altLang="zh-CN" sz="2200" b="1" kern="100" dirty="0">
                <a:effectLst/>
                <a:latin typeface="Times New Roman" panose="02020603050405020304" charset="0"/>
                <a:ea typeface="宋体" panose="02010600030101010101" pitchFamily="2" charset="-122"/>
              </a:rPr>
              <a:t>和一个基站。用户</a:t>
            </a:r>
            <a:r>
              <a:rPr lang="en-US" altLang="zh-CN" sz="2200" b="1" kern="100" dirty="0">
                <a:effectLst/>
                <a:latin typeface="Times New Roman" panose="02020603050405020304" charset="0"/>
                <a:ea typeface="宋体" panose="02010600030101010101" pitchFamily="2" charset="-122"/>
              </a:rPr>
              <a:t>A</a:t>
            </a:r>
            <a:r>
              <a:rPr lang="zh-CN" altLang="zh-CN" sz="2200" b="1" kern="100" dirty="0">
                <a:effectLst/>
                <a:latin typeface="Times New Roman" panose="02020603050405020304" charset="0"/>
                <a:ea typeface="宋体" panose="02010600030101010101" pitchFamily="2" charset="-122"/>
              </a:rPr>
              <a:t>、</a:t>
            </a:r>
            <a:r>
              <a:rPr lang="en-US" altLang="zh-CN" sz="2200" b="1" kern="100" dirty="0">
                <a:effectLst/>
                <a:latin typeface="Times New Roman" panose="02020603050405020304" charset="0"/>
                <a:ea typeface="宋体" panose="02010600030101010101" pitchFamily="2" charset="-122"/>
              </a:rPr>
              <a:t>B</a:t>
            </a:r>
            <a:r>
              <a:rPr lang="zh-CN" altLang="zh-CN" sz="2200" b="1" kern="100" dirty="0">
                <a:effectLst/>
                <a:latin typeface="Times New Roman" panose="02020603050405020304" charset="0"/>
                <a:ea typeface="宋体" panose="02010600030101010101" pitchFamily="2" charset="-122"/>
              </a:rPr>
              <a:t>都在接入点的信号覆盖范围内，但两个用户都位于彼此的信号覆盖范围之外，因此它们是典型的</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隐藏终端</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关系。当用户</a:t>
            </a:r>
            <a:r>
              <a:rPr lang="en-US" altLang="zh-CN" sz="2200" b="1" kern="100" dirty="0">
                <a:effectLst/>
                <a:latin typeface="Times New Roman" panose="02020603050405020304" charset="0"/>
                <a:ea typeface="宋体" panose="02010600030101010101" pitchFamily="2" charset="-122"/>
              </a:rPr>
              <a:t>A</a:t>
            </a:r>
            <a:r>
              <a:rPr lang="zh-CN" altLang="zh-CN" sz="2200" b="1" kern="100" dirty="0">
                <a:effectLst/>
                <a:latin typeface="Times New Roman" panose="02020603050405020304" charset="0"/>
                <a:ea typeface="宋体" panose="02010600030101010101" pitchFamily="2" charset="-122"/>
              </a:rPr>
              <a:t>传输数据时</a:t>
            </a:r>
            <a:r>
              <a:rPr lang="en-US" altLang="zh-CN" sz="2200" b="1" kern="100" dirty="0">
                <a:effectLst/>
                <a:latin typeface="Times New Roman" panose="02020603050405020304" charset="0"/>
                <a:ea typeface="宋体" panose="02010600030101010101" pitchFamily="2" charset="-122"/>
              </a:rPr>
              <a:t>,</a:t>
            </a:r>
            <a:r>
              <a:rPr lang="zh-CN" altLang="zh-CN" sz="2200" b="1" kern="100" dirty="0">
                <a:effectLst/>
                <a:latin typeface="Times New Roman" panose="02020603050405020304" charset="0"/>
                <a:ea typeface="宋体" panose="02010600030101010101" pitchFamily="2" charset="-122"/>
              </a:rPr>
              <a:t>由于用户</a:t>
            </a:r>
            <a:r>
              <a:rPr lang="en-US" altLang="zh-CN" sz="2200" b="1" kern="100" dirty="0">
                <a:effectLst/>
                <a:latin typeface="Times New Roman" panose="02020603050405020304" charset="0"/>
                <a:ea typeface="宋体" panose="02010600030101010101" pitchFamily="2" charset="-122"/>
              </a:rPr>
              <a:t>B</a:t>
            </a:r>
            <a:r>
              <a:rPr lang="zh-CN" altLang="zh-CN" sz="2200" b="1" kern="100" dirty="0">
                <a:effectLst/>
                <a:latin typeface="Times New Roman" panose="02020603050405020304" charset="0"/>
                <a:ea typeface="宋体" panose="02010600030101010101" pitchFamily="2" charset="-122"/>
              </a:rPr>
              <a:t>无法侦听到</a:t>
            </a:r>
            <a:r>
              <a:rPr lang="en-US" altLang="zh-CN" sz="2200" b="1" kern="100" dirty="0">
                <a:effectLst/>
                <a:latin typeface="Times New Roman" panose="02020603050405020304" charset="0"/>
                <a:ea typeface="宋体" panose="02010600030101010101" pitchFamily="2" charset="-122"/>
              </a:rPr>
              <a:t>A</a:t>
            </a:r>
            <a:r>
              <a:rPr lang="zh-CN" altLang="zh-CN" sz="2200" b="1" kern="100" dirty="0">
                <a:effectLst/>
                <a:latin typeface="Times New Roman" panose="02020603050405020304" charset="0"/>
                <a:ea typeface="宋体" panose="02010600030101010101" pitchFamily="2" charset="-122"/>
              </a:rPr>
              <a:t>的传输信号，根据</a:t>
            </a:r>
            <a:r>
              <a:rPr lang="en-US" altLang="zh-CN" sz="2200" b="1" kern="100" dirty="0">
                <a:effectLst/>
                <a:latin typeface="Times New Roman" panose="02020603050405020304" charset="0"/>
                <a:ea typeface="宋体" panose="02010600030101010101" pitchFamily="2" charset="-122"/>
              </a:rPr>
              <a:t>CSMA/CA</a:t>
            </a:r>
            <a:r>
              <a:rPr lang="zh-CN" altLang="zh-CN" sz="2200" b="1" kern="100" dirty="0">
                <a:effectLst/>
                <a:latin typeface="Times New Roman" panose="02020603050405020304" charset="0"/>
                <a:ea typeface="宋体" panose="02010600030101010101" pitchFamily="2" charset="-122"/>
              </a:rPr>
              <a:t>机制，当</a:t>
            </a:r>
            <a:r>
              <a:rPr lang="en-US" altLang="zh-CN" sz="2200" b="1" kern="100" dirty="0">
                <a:effectLst/>
                <a:latin typeface="Times New Roman" panose="02020603050405020304" charset="0"/>
                <a:ea typeface="宋体" panose="02010600030101010101" pitchFamily="2" charset="-122"/>
              </a:rPr>
              <a:t>B</a:t>
            </a:r>
            <a:r>
              <a:rPr lang="zh-CN" altLang="zh-CN" sz="2200" b="1" kern="100" dirty="0">
                <a:effectLst/>
                <a:latin typeface="Times New Roman" panose="02020603050405020304" charset="0"/>
                <a:ea typeface="宋体" panose="02010600030101010101" pitchFamily="2" charset="-122"/>
              </a:rPr>
              <a:t>侦测到当前信道空闲时，等待</a:t>
            </a:r>
            <a:r>
              <a:rPr lang="en-US" altLang="zh-CN" sz="2200" b="1" kern="100" dirty="0">
                <a:effectLst/>
                <a:latin typeface="Times New Roman" panose="02020603050405020304" charset="0"/>
                <a:ea typeface="宋体" panose="02010600030101010101" pitchFamily="2" charset="-122"/>
              </a:rPr>
              <a:t>DIFS(Distributed Inter-Frame Space)</a:t>
            </a:r>
            <a:r>
              <a:rPr lang="zh-CN" altLang="zh-CN" sz="2200" b="1" kern="100" dirty="0">
                <a:effectLst/>
                <a:latin typeface="Times New Roman" panose="02020603050405020304" charset="0"/>
                <a:ea typeface="宋体" panose="02010600030101010101" pitchFamily="2" charset="-122"/>
              </a:rPr>
              <a:t>后也开始传输数据。如果此时</a:t>
            </a:r>
            <a:r>
              <a:rPr lang="en-US" altLang="zh-CN" sz="2200" b="1" kern="100" dirty="0">
                <a:effectLst/>
                <a:latin typeface="Times New Roman" panose="02020603050405020304" charset="0"/>
                <a:ea typeface="宋体" panose="02010600030101010101" pitchFamily="2" charset="-122"/>
              </a:rPr>
              <a:t>A</a:t>
            </a:r>
            <a:r>
              <a:rPr lang="zh-CN" altLang="zh-CN" sz="2200" b="1" kern="100" dirty="0">
                <a:effectLst/>
                <a:latin typeface="Times New Roman" panose="02020603050405020304" charset="0"/>
                <a:ea typeface="宋体" panose="02010600030101010101" pitchFamily="2" charset="-122"/>
              </a:rPr>
              <a:t>仍未结束其传输过程，就会造成在接入点处的信号冲突。</a:t>
            </a:r>
            <a:endParaRPr lang="zh-CN" altLang="zh-CN" sz="2200" b="1" kern="100" dirty="0">
              <a:effectLst/>
              <a:latin typeface="Times New Roman" panose="02020603050405020304" charset="0"/>
              <a:ea typeface="宋体" panose="02010600030101010101" pitchFamily="2" charset="-122"/>
            </a:endParaRPr>
          </a:p>
        </p:txBody>
      </p:sp>
      <p:sp>
        <p:nvSpPr>
          <p:cNvPr id="2" name="标题 1"/>
          <p:cNvSpPr>
            <a:spLocks noGrp="1"/>
          </p:cNvSpPr>
          <p:nvPr>
            <p:ph type="title"/>
          </p:nvPr>
        </p:nvSpPr>
        <p:spPr>
          <a:xfrm>
            <a:off x="527685"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18490" y="1479550"/>
            <a:ext cx="10652125" cy="646331"/>
          </a:xfrm>
          <a:prstGeom prst="rect">
            <a:avLst/>
          </a:prstGeom>
          <a:noFill/>
          <a:ln w="9525">
            <a:noFill/>
          </a:ln>
        </p:spPr>
        <p:txBody>
          <a:bodyPr wrap="square">
            <a:spAutoFit/>
          </a:bodyPr>
          <a:lstStyle/>
          <a:p>
            <a:pPr indent="266700" algn="just"/>
            <a:endParaRPr lang="zh-CN" altLang="zh-CN" sz="1800" kern="100" dirty="0">
              <a:effectLst/>
              <a:latin typeface="Times New Roman" panose="02020603050405020304" charset="0"/>
              <a:ea typeface="宋体" panose="02010600030101010101" pitchFamily="2" charset="-122"/>
            </a:endParaRPr>
          </a:p>
          <a:p>
            <a:endParaRPr lang="zh-CN" altLang="zh-CN" sz="1800" kern="100" dirty="0">
              <a:effectLst/>
              <a:latin typeface="Times New Roman" panose="02020603050405020304"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3335972" y="1348006"/>
            <a:ext cx="4664352" cy="2652712"/>
          </a:xfrm>
          <a:prstGeom prst="rect">
            <a:avLst/>
          </a:prstGeom>
          <a:noFill/>
          <a:ln>
            <a:noFill/>
          </a:ln>
        </p:spPr>
      </p:pic>
      <p:sp>
        <p:nvSpPr>
          <p:cNvPr id="4" name="文本框 3"/>
          <p:cNvSpPr txBox="1"/>
          <p:nvPr/>
        </p:nvSpPr>
        <p:spPr>
          <a:xfrm>
            <a:off x="4476750" y="4132262"/>
            <a:ext cx="2847975" cy="646331"/>
          </a:xfrm>
          <a:prstGeom prst="rect">
            <a:avLst/>
          </a:prstGeom>
          <a:noFill/>
        </p:spPr>
        <p:txBody>
          <a:bodyPr wrap="square" rtlCol="0">
            <a:spAutoFit/>
          </a:bodyPr>
          <a:lstStyle/>
          <a:p>
            <a:r>
              <a:rPr lang="zh-CN" altLang="zh-CN" sz="1800" kern="100" dirty="0">
                <a:effectLst/>
                <a:latin typeface="Times New Roman" panose="02020603050405020304" charset="0"/>
                <a:ea typeface="宋体" panose="02010600030101010101" pitchFamily="2" charset="-122"/>
              </a:rPr>
              <a:t>图</a:t>
            </a:r>
            <a:r>
              <a:rPr lang="en-US" altLang="zh-CN" sz="1800" kern="100" dirty="0">
                <a:effectLst/>
                <a:latin typeface="Times New Roman" panose="02020603050405020304" charset="0"/>
                <a:ea typeface="宋体" panose="02010600030101010101" pitchFamily="2" charset="-122"/>
              </a:rPr>
              <a:t>3-5-13  “</a:t>
            </a:r>
            <a:r>
              <a:rPr lang="zh-CN" altLang="zh-CN" sz="1800" kern="100" dirty="0">
                <a:effectLst/>
                <a:latin typeface="Times New Roman" panose="02020603050405020304" charset="0"/>
                <a:ea typeface="宋体" panose="02010600030101010101" pitchFamily="2" charset="-122"/>
              </a:rPr>
              <a:t>隐藏终端</a:t>
            </a:r>
            <a:r>
              <a:rPr lang="en-US" altLang="zh-CN" sz="1800" kern="100" dirty="0">
                <a:effectLst/>
                <a:latin typeface="Times New Roman" panose="02020603050405020304" charset="0"/>
                <a:ea typeface="宋体" panose="02010600030101010101" pitchFamily="2" charset="-122"/>
              </a:rPr>
              <a:t>”</a:t>
            </a:r>
            <a:r>
              <a:rPr lang="zh-CN" altLang="zh-CN" sz="1800" kern="100" dirty="0">
                <a:effectLst/>
                <a:latin typeface="Times New Roman" panose="02020603050405020304" charset="0"/>
                <a:ea typeface="宋体" panose="02010600030101010101" pitchFamily="2" charset="-122"/>
              </a:rPr>
              <a:t>现象</a:t>
            </a:r>
            <a:endParaRPr lang="zh-CN" altLang="zh-CN" sz="1800" kern="100" dirty="0">
              <a:effectLst/>
              <a:latin typeface="Times New Roman" panose="02020603050405020304" charset="0"/>
              <a:ea typeface="宋体" panose="02010600030101010101" pitchFamily="2" charset="-122"/>
            </a:endParaRPr>
          </a:p>
          <a:p>
            <a:endParaRPr lang="zh-CN" altLang="en-US" dirty="0"/>
          </a:p>
        </p:txBody>
      </p:sp>
      <p:sp>
        <p:nvSpPr>
          <p:cNvPr id="5" name="文本框 4"/>
          <p:cNvSpPr txBox="1"/>
          <p:nvPr/>
        </p:nvSpPr>
        <p:spPr>
          <a:xfrm>
            <a:off x="618490" y="4552950"/>
            <a:ext cx="11021060" cy="2214880"/>
          </a:xfrm>
          <a:prstGeom prst="rect">
            <a:avLst/>
          </a:prstGeom>
          <a:noFill/>
        </p:spPr>
        <p:txBody>
          <a:bodyPr wrap="square" rtlCol="0">
            <a:spAutoFit/>
          </a:bodyPr>
          <a:lstStyle/>
          <a:p>
            <a:r>
              <a:rPr lang="en-US" altLang="zh-CN" sz="2000" b="1" kern="100" dirty="0">
                <a:effectLst/>
                <a:latin typeface="Times New Roman" panose="02020603050405020304" charset="0"/>
                <a:ea typeface="宋体" panose="02010600030101010101" pitchFamily="2" charset="-122"/>
              </a:rPr>
              <a:t>         </a:t>
            </a:r>
            <a:r>
              <a:rPr lang="zh-CN" altLang="zh-CN" sz="2000" b="1" kern="100" dirty="0">
                <a:effectLst/>
                <a:latin typeface="Times New Roman" panose="02020603050405020304" charset="0"/>
                <a:ea typeface="宋体" panose="02010600030101010101" pitchFamily="2" charset="-122"/>
              </a:rPr>
              <a:t>为了消除隐藏终端的影响，</a:t>
            </a:r>
            <a:r>
              <a:rPr lang="en-US" altLang="zh-CN" sz="2000" b="1" kern="100" dirty="0">
                <a:effectLst/>
                <a:latin typeface="Times New Roman" panose="02020603050405020304" charset="0"/>
                <a:ea typeface="宋体" panose="02010600030101010101" pitchFamily="2" charset="-122"/>
              </a:rPr>
              <a:t>IEEE 802.11</a:t>
            </a:r>
            <a:r>
              <a:rPr lang="zh-CN" altLang="zh-CN" sz="2000" b="1" kern="100" dirty="0">
                <a:effectLst/>
                <a:latin typeface="Times New Roman" panose="02020603050405020304" charset="0"/>
                <a:ea typeface="宋体" panose="02010600030101010101" pitchFamily="2" charset="-122"/>
              </a:rPr>
              <a:t>允许某个用户使用控制帧</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在传输数据帧之前和接入点通信，令接入点只为其保留信道的使用权。如图</a:t>
            </a:r>
            <a:r>
              <a:rPr lang="en-US" altLang="zh-CN" sz="2000" b="1" kern="100" dirty="0">
                <a:effectLst/>
                <a:latin typeface="Times New Roman" panose="02020603050405020304" charset="0"/>
                <a:ea typeface="宋体" panose="02010600030101010101" pitchFamily="2" charset="-122"/>
              </a:rPr>
              <a:t>3-5-14</a:t>
            </a:r>
            <a:r>
              <a:rPr lang="zh-CN" altLang="zh-CN" sz="2000" b="1" kern="100" dirty="0">
                <a:effectLst/>
                <a:latin typeface="Times New Roman" panose="02020603050405020304" charset="0"/>
                <a:ea typeface="宋体" panose="02010600030101010101" pitchFamily="2" charset="-122"/>
              </a:rPr>
              <a:t>所示</a:t>
            </a:r>
            <a:r>
              <a:rPr lang="en-US" altLang="zh-CN" sz="2000" b="1" kern="100" dirty="0">
                <a:effectLst/>
                <a:latin typeface="Times New Roman" panose="02020603050405020304" charset="0"/>
                <a:ea typeface="宋体" panose="02010600030101010101" pitchFamily="2" charset="-122"/>
              </a:rPr>
              <a:t>,</a:t>
            </a:r>
            <a:r>
              <a:rPr lang="zh-CN" altLang="zh-CN" sz="2000" b="1" kern="100" dirty="0">
                <a:effectLst/>
                <a:latin typeface="Times New Roman" panose="02020603050405020304" charset="0"/>
                <a:ea typeface="宋体" panose="02010600030101010101" pitchFamily="2" charset="-122"/>
              </a:rPr>
              <a:t>当传输端有数据帧要发送时，它先向接入点发送</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帧，</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中包含了传输数据帧和确认帧总共可能需要的时间。当接入点收到传输端的</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帧时，它等待</a:t>
            </a:r>
            <a:r>
              <a:rPr lang="en-US" altLang="zh-CN" sz="2000" b="1" kern="100" dirty="0">
                <a:effectLst/>
                <a:latin typeface="Times New Roman" panose="02020603050405020304" charset="0"/>
                <a:ea typeface="宋体" panose="02010600030101010101" pitchFamily="2" charset="-122"/>
              </a:rPr>
              <a:t>SIFS(Short Inter-Frame Space)</a:t>
            </a:r>
            <a:r>
              <a:rPr lang="zh-CN" altLang="zh-CN" sz="2000" b="1" kern="100" dirty="0">
                <a:effectLst/>
                <a:latin typeface="Times New Roman" panose="02020603050405020304" charset="0"/>
                <a:ea typeface="宋体" panose="02010600030101010101" pitchFamily="2" charset="-122"/>
              </a:rPr>
              <a:t>后广播一个</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帧作为回应。</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帧的作用有两个：一是为传输端提供信道的使用权；二是防止其他用户在传输端发送数据和接收确认帧这段时间内进行传输。</a:t>
            </a:r>
            <a:endParaRPr lang="zh-CN" altLang="zh-CN" sz="2000" b="1" kern="100" dirty="0">
              <a:effectLst/>
              <a:latin typeface="Times New Roman" panose="02020603050405020304" charset="0"/>
              <a:ea typeface="宋体" panose="02010600030101010101" pitchFamily="2" charset="-122"/>
            </a:endParaRPr>
          </a:p>
          <a:p>
            <a:endParaRPr lang="zh-CN" altLang="en-US" b="1" dirty="0"/>
          </a:p>
        </p:txBody>
      </p:sp>
      <p:sp>
        <p:nvSpPr>
          <p:cNvPr id="2" name="标题 1"/>
          <p:cNvSpPr>
            <a:spLocks noGrp="1"/>
          </p:cNvSpPr>
          <p:nvPr>
            <p:ph type="title"/>
          </p:nvPr>
        </p:nvSpPr>
        <p:spPr>
          <a:xfrm>
            <a:off x="527685"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372360" y="1046480"/>
            <a:ext cx="6950710" cy="2729865"/>
          </a:xfrm>
          <a:prstGeom prst="rect">
            <a:avLst/>
          </a:prstGeom>
        </p:spPr>
      </p:pic>
      <p:sp>
        <p:nvSpPr>
          <p:cNvPr id="4" name="文本框 3"/>
          <p:cNvSpPr txBox="1"/>
          <p:nvPr/>
        </p:nvSpPr>
        <p:spPr>
          <a:xfrm>
            <a:off x="4335321" y="3681213"/>
            <a:ext cx="3952875" cy="368300"/>
          </a:xfrm>
          <a:prstGeom prst="rect">
            <a:avLst/>
          </a:prstGeom>
          <a:noFill/>
        </p:spPr>
        <p:txBody>
          <a:bodyPr wrap="square" rtlCol="0">
            <a:spAutoFit/>
          </a:bodyPr>
          <a:lstStyle/>
          <a:p>
            <a:r>
              <a:rPr lang="zh-CN" altLang="zh-CN" sz="1800" kern="100" dirty="0">
                <a:effectLst/>
                <a:latin typeface="Times New Roman" panose="02020603050405020304" charset="0"/>
                <a:ea typeface="宋体" panose="02010600030101010101" pitchFamily="2" charset="-122"/>
              </a:rPr>
              <a:t>图</a:t>
            </a:r>
            <a:r>
              <a:rPr lang="en-US" altLang="zh-CN" sz="1800" kern="100" dirty="0">
                <a:effectLst/>
                <a:latin typeface="Times New Roman" panose="02020603050405020304" charset="0"/>
                <a:ea typeface="宋体" panose="02010600030101010101" pitchFamily="2" charset="-122"/>
              </a:rPr>
              <a:t>3-5-14  RTS</a:t>
            </a:r>
            <a:r>
              <a:rPr lang="zh-CN" altLang="zh-CN" sz="1800" kern="100" dirty="0">
                <a:effectLst/>
                <a:latin typeface="Times New Roman" panose="02020603050405020304" charset="0"/>
                <a:ea typeface="宋体" panose="02010600030101010101" pitchFamily="2" charset="-122"/>
              </a:rPr>
              <a:t>和</a:t>
            </a:r>
            <a:r>
              <a:rPr lang="en-US" altLang="zh-CN" sz="1800" kern="100" dirty="0">
                <a:effectLst/>
                <a:latin typeface="Times New Roman" panose="02020603050405020304" charset="0"/>
                <a:ea typeface="宋体" panose="02010600030101010101" pitchFamily="2" charset="-122"/>
              </a:rPr>
              <a:t>CTS</a:t>
            </a:r>
            <a:r>
              <a:rPr lang="zh-CN" altLang="zh-CN" sz="1800" kern="100" dirty="0">
                <a:effectLst/>
                <a:latin typeface="Times New Roman" panose="02020603050405020304" charset="0"/>
                <a:ea typeface="宋体" panose="02010600030101010101" pitchFamily="2" charset="-122"/>
              </a:rPr>
              <a:t>控制帧示意图</a:t>
            </a:r>
            <a:endParaRPr lang="zh-CN" altLang="en-US" dirty="0"/>
          </a:p>
        </p:txBody>
      </p:sp>
      <p:sp>
        <p:nvSpPr>
          <p:cNvPr id="5" name="文本框 4"/>
          <p:cNvSpPr txBox="1"/>
          <p:nvPr/>
        </p:nvSpPr>
        <p:spPr>
          <a:xfrm>
            <a:off x="527860" y="3996709"/>
            <a:ext cx="10751186" cy="2861310"/>
          </a:xfrm>
          <a:prstGeom prst="rect">
            <a:avLst/>
          </a:prstGeom>
          <a:noFill/>
        </p:spPr>
        <p:txBody>
          <a:bodyPr wrap="square" rtlCol="0">
            <a:spAutoFit/>
          </a:bodyPr>
          <a:lstStyle/>
          <a:p>
            <a:pPr indent="266700" algn="just"/>
            <a:r>
              <a:rPr lang="zh-CN" altLang="zh-CN" sz="2000" b="1" kern="100" dirty="0">
                <a:effectLst/>
                <a:latin typeface="Times New Roman" panose="02020603050405020304" charset="0"/>
                <a:ea typeface="宋体" panose="02010600030101010101" pitchFamily="2" charset="-122"/>
              </a:rPr>
              <a:t>使用</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帧从以下两个方面提升了无线传输的性能：</a:t>
            </a:r>
            <a:endParaRPr lang="zh-CN" altLang="zh-CN" sz="2000" b="1" kern="100" dirty="0">
              <a:effectLst/>
              <a:latin typeface="Times New Roman" panose="02020603050405020304" charset="0"/>
              <a:ea typeface="宋体" panose="02010600030101010101" pitchFamily="2" charset="-122"/>
            </a:endParaRPr>
          </a:p>
          <a:p>
            <a:pPr indent="266700" algn="just"/>
            <a:r>
              <a:rPr lang="zh-CN" altLang="zh-CN" sz="2000" b="1" kern="100" dirty="0">
                <a:effectLst/>
                <a:latin typeface="Times New Roman" panose="02020603050405020304" charset="0"/>
                <a:ea typeface="宋体" panose="02010600030101010101" pitchFamily="2" charset="-122"/>
              </a:rPr>
              <a:t>（</a:t>
            </a:r>
            <a:r>
              <a:rPr lang="en-US" altLang="zh-CN" sz="2000" b="1" kern="100" dirty="0">
                <a:effectLst/>
                <a:latin typeface="Times New Roman" panose="02020603050405020304" charset="0"/>
                <a:ea typeface="宋体" panose="02010600030101010101" pitchFamily="2" charset="-122"/>
              </a:rPr>
              <a:t>1</a:t>
            </a:r>
            <a:r>
              <a:rPr lang="zh-CN" altLang="zh-CN" sz="2000" b="1" kern="100" dirty="0">
                <a:effectLst/>
                <a:latin typeface="Times New Roman" panose="02020603050405020304" charset="0"/>
                <a:ea typeface="宋体" panose="02010600030101010101" pitchFamily="2" charset="-122"/>
              </a:rPr>
              <a:t>）由于无线网络用户在传输数据之前需要与接入点通信，使其只为当前用户保留信道的使用权，在这段时间内其他任何与接入点相关联的用户都不会与接入点进行数据交换，从而消除了隐藏终端问题。</a:t>
            </a:r>
            <a:endParaRPr lang="zh-CN" altLang="zh-CN" sz="2000" b="1" kern="100" dirty="0">
              <a:effectLst/>
              <a:latin typeface="Times New Roman" panose="02020603050405020304" charset="0"/>
              <a:ea typeface="宋体" panose="02010600030101010101" pitchFamily="2" charset="-122"/>
            </a:endParaRPr>
          </a:p>
          <a:p>
            <a:pPr indent="266700" algn="just"/>
            <a:r>
              <a:rPr lang="zh-CN" altLang="zh-CN" sz="2000" b="1" kern="100" dirty="0">
                <a:effectLst/>
                <a:latin typeface="Times New Roman" panose="02020603050405020304" charset="0"/>
                <a:ea typeface="宋体" panose="02010600030101010101" pitchFamily="2" charset="-122"/>
              </a:rPr>
              <a:t>（</a:t>
            </a:r>
            <a:r>
              <a:rPr lang="en-US" altLang="zh-CN" sz="2000" b="1" kern="100" dirty="0">
                <a:effectLst/>
                <a:latin typeface="Times New Roman" panose="02020603050405020304" charset="0"/>
                <a:ea typeface="宋体" panose="02010600030101010101" pitchFamily="2" charset="-122"/>
              </a:rPr>
              <a:t>2</a:t>
            </a:r>
            <a:r>
              <a:rPr lang="zh-CN" altLang="zh-CN" sz="2000" b="1" kern="100" dirty="0">
                <a:effectLst/>
                <a:latin typeface="Times New Roman" panose="02020603050405020304" charset="0"/>
                <a:ea typeface="宋体" panose="02010600030101010101" pitchFamily="2" charset="-122"/>
              </a:rPr>
              <a:t>）由于</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帧的长度非常短，所以，即使</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有冲突发生，其代价也非常小。一旦</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rPr>
              <a:t>成功传达，数据帧和确认帧的传输就不会再有冲突发生。</a:t>
            </a:r>
            <a:endParaRPr lang="zh-CN" altLang="zh-CN" sz="2000" b="1" kern="100" dirty="0">
              <a:effectLst/>
              <a:latin typeface="Times New Roman" panose="02020603050405020304" charset="0"/>
              <a:ea typeface="宋体" panose="02010600030101010101" pitchFamily="2" charset="-122"/>
            </a:endParaRPr>
          </a:p>
          <a:p>
            <a:r>
              <a:rPr lang="zh-CN" altLang="zh-CN" sz="2000" b="1" kern="100" dirty="0">
                <a:effectLst/>
                <a:latin typeface="Times New Roman" panose="02020603050405020304" charset="0"/>
                <a:ea typeface="宋体" panose="02010600030101010101" pitchFamily="2" charset="-122"/>
                <a:cs typeface="Times New Roman" panose="02020603050405020304" charset="0"/>
              </a:rPr>
              <a:t>虽然使用</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帧可以减少冲突，但与此同时也会增加传输延时和降低信道利用率，因此</a:t>
            </a:r>
            <a:r>
              <a:rPr lang="en-US" altLang="zh-CN" sz="2000" b="1" kern="100" dirty="0">
                <a:effectLst/>
                <a:latin typeface="Times New Roman" panose="02020603050405020304" charset="0"/>
                <a:ea typeface="宋体" panose="02010600030101010101" pitchFamily="2" charset="-122"/>
              </a:rPr>
              <a:t>RTS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和</a:t>
            </a:r>
            <a:r>
              <a:rPr lang="en-US" altLang="zh-CN" sz="2000" b="1" kern="100" dirty="0">
                <a:effectLst/>
                <a:latin typeface="Times New Roman" panose="02020603050405020304" charset="0"/>
                <a:ea typeface="宋体" panose="02010600030101010101" pitchFamily="2" charset="-122"/>
              </a:rPr>
              <a:t>CTS</a:t>
            </a:r>
            <a:r>
              <a:rPr lang="zh-CN" altLang="zh-CN" sz="2000" b="1" kern="100" dirty="0">
                <a:effectLst/>
                <a:latin typeface="Times New Roman" panose="02020603050405020304" charset="0"/>
                <a:ea typeface="宋体" panose="02010600030101010101" pitchFamily="2" charset="-122"/>
                <a:cs typeface="Times New Roman" panose="02020603050405020304" charset="0"/>
              </a:rPr>
              <a:t>机制往往被用于冲突概率发生较高的情境中。例如，无线网络用户每次都需要传输较长数据帧，每个数据帧的传输时间较长，增加了冲突发生的概率。</a:t>
            </a:r>
            <a:endParaRPr lang="zh-CN" altLang="en-US" sz="2000" b="1" dirty="0"/>
          </a:p>
        </p:txBody>
      </p:sp>
      <p:sp>
        <p:nvSpPr>
          <p:cNvPr id="2" name="标题 1"/>
          <p:cNvSpPr>
            <a:spLocks noGrp="1"/>
          </p:cNvSpPr>
          <p:nvPr>
            <p:ph type="title"/>
          </p:nvPr>
        </p:nvSpPr>
        <p:spPr>
          <a:xfrm>
            <a:off x="527685" y="317"/>
            <a:ext cx="10515600" cy="1325563"/>
          </a:xfrm>
        </p:spPr>
        <p:txBody>
          <a:bodyPr>
            <a:normAutofit/>
          </a:bodyPr>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charset="0"/>
                <a:ea typeface="宋体" panose="02010600030101010101" pitchFamily="2" charset="-122"/>
                <a:cs typeface="+mn-cs"/>
              </a:rPr>
              <a:t>  </a:t>
            </a:r>
            <a:r>
              <a:rPr lang="en-US" sz="4400" b="1" u="sng" dirty="0" err="1">
                <a:solidFill>
                  <a:srgbClr val="0563C1"/>
                </a:solidFill>
                <a:uFillTx/>
                <a:latin typeface="Times New Roman" panose="02020603050405020304" charset="0"/>
                <a:ea typeface="宋体" panose="02010600030101010101" pitchFamily="2" charset="-122"/>
              </a:rPr>
              <a:t>3.5.4.4  Wi-Fi协议</a:t>
            </a:r>
            <a:endParaRPr lang="en-US" sz="4400" b="1" u="sng" dirty="0" err="1">
              <a:solidFill>
                <a:srgbClr val="0563C1"/>
              </a:solidFill>
              <a:uFillTx/>
              <a:latin typeface="Times New Roman" panose="02020603050405020304" charset="0"/>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505" y="0"/>
            <a:ext cx="11337925" cy="1325880"/>
          </a:xfrm>
        </p:spPr>
        <p:txBody>
          <a:bodyP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en-US" sz="4400" b="1" u="sng" dirty="0" err="1">
                <a:solidFill>
                  <a:srgbClr val="0563C1"/>
                </a:solidFill>
                <a:uFillTx/>
                <a:latin typeface="Times New Roman" panose="02020603050405020304" charset="0"/>
                <a:ea typeface="宋体" panose="02010600030101010101" pitchFamily="2" charset="-122"/>
              </a:rPr>
              <a:t>3.5.5 红外通信技术</a:t>
            </a:r>
            <a:endParaRPr lang="zh-CN" altLang="en-US" sz="2800" b="1" dirty="0">
              <a:solidFill>
                <a:srgbClr val="0563C1"/>
              </a:solidFill>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342265" y="1325880"/>
            <a:ext cx="11507470" cy="4831080"/>
          </a:xfrm>
          <a:prstGeom prst="rect">
            <a:avLst/>
          </a:prstGeom>
          <a:noFill/>
          <a:ln w="9525">
            <a:noFill/>
          </a:ln>
        </p:spPr>
        <p:txBody>
          <a:bodyPr wrap="square">
            <a:spAutoFit/>
          </a:bodyPr>
          <a:lstStyle/>
          <a:p>
            <a:pPr indent="558800" algn="just" fontAlgn="auto">
              <a:extLst>
                <a:ext uri="{35155182-B16C-46BC-9424-99874614C6A1}">
                  <wpsdc:indentchars xmlns:wpsdc="http://www.wps.cn/officeDocument/2017/drawingmlCustomData" val="200" checksum="1956455923"/>
                </a:ext>
              </a:extLst>
            </a:pPr>
            <a:r>
              <a:rPr lang="en-US" altLang="zh-CN" sz="2200" b="1" dirty="0">
                <a:latin typeface="Times New Roman" panose="02020603050405020304" charset="0"/>
                <a:ea typeface="宋体" panose="02010600030101010101" pitchFamily="2" charset="-122"/>
                <a:cs typeface="Times New Roman" panose="02020603050405020304" charset="0"/>
              </a:rPr>
              <a:t>(1)</a:t>
            </a:r>
            <a:r>
              <a:rPr lang="zh-CN" sz="2200" b="1" dirty="0">
                <a:latin typeface="Times New Roman" panose="02020603050405020304" charset="0"/>
                <a:ea typeface="宋体" panose="02010600030101010101" pitchFamily="2" charset="-122"/>
                <a:cs typeface="Times New Roman" panose="02020603050405020304" charset="0"/>
              </a:rPr>
              <a:t>红外通信技术（IrDA）是一种无线通信方式，可以进行无线数据的传输。红外通信技术适用于低成本、跨平台、点对点高速数据连接，尤其是嵌入式系统。红外通信技术主要应用于设备互联，还可用于信息网关。设备互联后可完成不同设备内文件与信息的交换。信息网关负责连接信息终端和互联网。红外通信技术已被全球范围内的众多软硬件厂商所支持和采用，目前主流的软件和硬件平台均提供对它的支持，红外通信技术已被广泛应用在移动计算设备和移动通信设备中。红外传输是一种点对点的无线传输方式，近距离传输，且需要对准方向，红外传输路径中间不能有障碍物，几乎无法控制信息传输的速度。</a:t>
            </a:r>
            <a:endParaRPr lang="zh-CN" sz="2200" b="1" dirty="0">
              <a:latin typeface="Times New Roman" panose="02020603050405020304" charset="0"/>
              <a:ea typeface="宋体" panose="02010600030101010101" pitchFamily="2" charset="-122"/>
              <a:cs typeface="Times New Roman" panose="02020603050405020304" charset="0"/>
            </a:endParaRPr>
          </a:p>
          <a:p>
            <a:pPr indent="558800" algn="just" fontAlgn="auto">
              <a:extLst>
                <a:ext uri="{35155182-B16C-46BC-9424-99874614C6A1}">
                  <wpsdc:indentchars xmlns:wpsdc="http://www.wps.cn/officeDocument/2017/drawingmlCustomData" val="200" checksum="1956455923"/>
                </a:ext>
              </a:extLst>
            </a:pPr>
            <a:r>
              <a:rPr lang="en-US" altLang="zh-CN" sz="2200" b="1" dirty="0">
                <a:latin typeface="Times New Roman" panose="02020603050405020304" charset="0"/>
                <a:ea typeface="宋体" panose="02010600030101010101" pitchFamily="2" charset="-122"/>
                <a:cs typeface="Times New Roman" panose="02020603050405020304" charset="0"/>
              </a:rPr>
              <a:t>(2)</a:t>
            </a:r>
            <a:r>
              <a:rPr lang="zh-CN" sz="2200" b="1" dirty="0">
                <a:latin typeface="Times New Roman" panose="02020603050405020304" charset="0"/>
                <a:ea typeface="宋体" panose="02010600030101010101" pitchFamily="2" charset="-122"/>
                <a:cs typeface="Times New Roman" panose="02020603050405020304" charset="0"/>
              </a:rPr>
              <a:t>红外数据传输使用的传播介质为红外线。红外线是波长为750 nm~1mm的电磁波，是人眼看不到的光线。红外数据传输一般采用红外波段内的近红外线，波长为0.75μm~25μm。红外数据协会成立后，为保证不同厂商的红外产品能获得最佳的通信效果，限定所用红外波长为850 nm~900nm。红外线接口的标准是由IrDA（Infrared Data Association，红外线数据协会）制定的，是一种利用红外线进行点对点通信的技术，是第一个实现无线个人局域网的技术。目前它的软硬件技术都很成熟，在小型移动设备（如PDA、手机）上广泛使用。事实上，当今每一个出厂的PDA及许多手机、笔记本电脑、打印机等产品都支持IrDA。</a:t>
            </a:r>
            <a:endParaRPr lang="zh-CN" sz="2200" b="1"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95935" y="1452245"/>
            <a:ext cx="11199495" cy="2988310"/>
          </a:xfrm>
          <a:prstGeom prst="rect">
            <a:avLst/>
          </a:prstGeom>
          <a:noFill/>
          <a:ln w="9525">
            <a:noFill/>
          </a:ln>
        </p:spPr>
        <p:txBody>
          <a:bodyPr wrap="square">
            <a:spAutoFit/>
          </a:bodyPr>
          <a:lstStyle/>
          <a:p>
            <a:pPr indent="558800" algn="just" fontAlgn="auto">
              <a:lnSpc>
                <a:spcPct val="100000"/>
              </a:lnSpc>
              <a:spcBef>
                <a:spcPts val="0"/>
              </a:spcBef>
              <a:buClrTx/>
              <a:buSzTx/>
              <a:buFont typeface="Arial" panose="020B0604020202020204" pitchFamily="34" charset="0"/>
              <a:buNone/>
              <a:extLst>
                <a:ext uri="{35155182-B16C-46BC-9424-99874614C6A1}">
                  <wpsdc:indentchars xmlns:wpsdc="http://www.wps.cn/officeDocument/2017/drawingmlCustomData" val="200" checksum="1956455923"/>
                </a:ext>
              </a:extLst>
            </a:pPr>
            <a:r>
              <a:rPr lang="en-US" altLang="zh-CN" sz="2200" b="1" dirty="0">
                <a:latin typeface="Times New Roman" panose="02020603050405020304" charset="0"/>
                <a:ea typeface="宋体" panose="02010600030101010101" pitchFamily="2" charset="-122"/>
                <a:cs typeface="Times New Roman" panose="02020603050405020304" charset="0"/>
              </a:rPr>
              <a:t>(3)</a:t>
            </a:r>
            <a:r>
              <a:rPr lang="zh-CN" sz="2200" b="1" dirty="0">
                <a:latin typeface="Times New Roman" panose="02020603050405020304" charset="0"/>
                <a:ea typeface="宋体" panose="02010600030101010101" pitchFamily="2" charset="-122"/>
                <a:cs typeface="Times New Roman" panose="02020603050405020304" charset="0"/>
              </a:rPr>
              <a:t>IrDA的主要优点是无需申请频率的使用权，因而红外通信成本低廉。同时，它还具有移动通信所需的体积小、功耗低、连接方便、简单易用的特点。由于数据传输率较高，因此，IrDA适于传输大容量的文件和多媒体数据。此外，红外线发射角度较小，传输上安全性高。IrDA的不足之处在于它是一种视距传输，两个相互通信的设备之间必须对准，中间不能被其他物体阻隔，因而该技术只能用于两台设备之间的连接。如图3-5-15所示为红外数据传输的基本模型，如图3-5-16所示为IrDA器件类型。</a:t>
            </a:r>
            <a:r>
              <a:rPr lang="en-US" sz="2200" b="1" dirty="0">
                <a:latin typeface="Times New Roman" panose="02020603050405020304" charset="0"/>
                <a:ea typeface="宋体" panose="02010600030101010101" pitchFamily="2" charset="-122"/>
                <a:cs typeface="Times New Roman" panose="02020603050405020304" charset="0"/>
              </a:rPr>
              <a:t>   </a:t>
            </a:r>
            <a:r>
              <a:rPr lang="en-US" sz="2200" b="1" dirty="0">
                <a:latin typeface="宋体" panose="02010600030101010101" pitchFamily="2" charset="-122"/>
                <a:ea typeface="宋体" panose="02010600030101010101" pitchFamily="2" charset="-122"/>
                <a:cs typeface="宋体" panose="02010600030101010101" pitchFamily="2" charset="-122"/>
              </a:rPr>
              <a:t> </a:t>
            </a:r>
            <a:endParaRPr lang="en-US" sz="2200" b="1" dirty="0">
              <a:latin typeface="宋体" panose="02010600030101010101" pitchFamily="2" charset="-122"/>
              <a:ea typeface="宋体" panose="02010600030101010101" pitchFamily="2" charset="-122"/>
              <a:cs typeface="宋体" panose="02010600030101010101" pitchFamily="2" charset="-122"/>
            </a:endParaRPr>
          </a:p>
          <a:p>
            <a:pPr indent="0">
              <a:lnSpc>
                <a:spcPct val="90000"/>
              </a:lnSpc>
              <a:spcBef>
                <a:spcPts val="1000"/>
              </a:spcBef>
              <a:buClrTx/>
              <a:buSzTx/>
              <a:buFont typeface="Arial" panose="020B0604020202020204" pitchFamily="34" charset="0"/>
              <a:buNone/>
            </a:pPr>
            <a:r>
              <a:rPr lang="en-US" sz="2200" b="1" dirty="0">
                <a:latin typeface="宋体" panose="02010600030101010101" pitchFamily="2" charset="-122"/>
                <a:ea typeface="宋体" panose="02010600030101010101" pitchFamily="2" charset="-122"/>
                <a:cs typeface="宋体" panose="02010600030101010101" pitchFamily="2" charset="-122"/>
              </a:rPr>
              <a:t>    </a:t>
            </a:r>
            <a:endParaRPr lang="zh-CN" sz="2200" b="1" dirty="0">
              <a:solidFill>
                <a:srgbClr val="00B0F0"/>
              </a:solidFill>
              <a:ea typeface="宋体" panose="02010600030101010101" pitchFamily="2" charset="-122"/>
            </a:endParaRPr>
          </a:p>
          <a:p>
            <a:pPr indent="0">
              <a:lnSpc>
                <a:spcPct val="90000"/>
              </a:lnSpc>
              <a:spcBef>
                <a:spcPts val="1000"/>
              </a:spcBef>
              <a:buClrTx/>
              <a:buSzTx/>
              <a:buFont typeface="Arial" panose="020B0604020202020204" pitchFamily="34" charset="0"/>
              <a:buNone/>
            </a:pPr>
            <a:endParaRPr lang="zh-CN" sz="2200" b="1" dirty="0">
              <a:solidFill>
                <a:srgbClr val="00B0F0"/>
              </a:solidFill>
              <a:ea typeface="宋体" panose="02010600030101010101" pitchFamily="2" charset="-122"/>
            </a:endParaRPr>
          </a:p>
        </p:txBody>
      </p:sp>
      <p:graphicFrame>
        <p:nvGraphicFramePr>
          <p:cNvPr id="2" name="对象 -2147482487"/>
          <p:cNvGraphicFramePr>
            <a:graphicFrameLocks noChangeAspect="1"/>
          </p:cNvGraphicFramePr>
          <p:nvPr/>
        </p:nvGraphicFramePr>
        <p:xfrm>
          <a:off x="3101340" y="3606165"/>
          <a:ext cx="5821680" cy="2696210"/>
        </p:xfrm>
        <a:graphic>
          <a:graphicData uri="http://schemas.openxmlformats.org/presentationml/2006/ole">
            <mc:AlternateContent xmlns:mc="http://schemas.openxmlformats.org/markup-compatibility/2006">
              <mc:Choice xmlns:v="urn:schemas-microsoft-com:vml" Requires="v">
                <p:oleObj spid="_x0000_s24775" name="" r:id="rId1" imgW="4123690" imgH="1909445" progId="Visio.Drawing.15">
                  <p:embed/>
                </p:oleObj>
              </mc:Choice>
              <mc:Fallback>
                <p:oleObj name="" r:id="rId1" imgW="4123690" imgH="1909445" progId="Visio.Drawing.15">
                  <p:embed/>
                  <p:pic>
                    <p:nvPicPr>
                      <p:cNvPr id="0" name="对象 -2147482487"/>
                      <p:cNvPicPr/>
                      <p:nvPr/>
                    </p:nvPicPr>
                    <p:blipFill>
                      <a:blip r:embed="rId2"/>
                      <a:stretch>
                        <a:fillRect/>
                      </a:stretch>
                    </p:blipFill>
                    <p:spPr>
                      <a:xfrm>
                        <a:off x="3101340" y="3606165"/>
                        <a:ext cx="5821680" cy="2696210"/>
                      </a:xfrm>
                      <a:prstGeom prst="rect">
                        <a:avLst/>
                      </a:prstGeom>
                      <a:noFill/>
                      <a:ln w="9525">
                        <a:noFill/>
                        <a:miter/>
                      </a:ln>
                    </p:spPr>
                  </p:pic>
                </p:oleObj>
              </mc:Fallback>
            </mc:AlternateContent>
          </a:graphicData>
        </a:graphic>
      </p:graphicFrame>
      <p:sp>
        <p:nvSpPr>
          <p:cNvPr id="7" name="文本框 6"/>
          <p:cNvSpPr txBox="1"/>
          <p:nvPr/>
        </p:nvSpPr>
        <p:spPr>
          <a:xfrm>
            <a:off x="3556000" y="6302375"/>
            <a:ext cx="5080000" cy="368300"/>
          </a:xfrm>
          <a:prstGeom prst="rect">
            <a:avLst/>
          </a:prstGeom>
          <a:noFill/>
          <a:ln w="9525">
            <a:noFill/>
          </a:ln>
        </p:spPr>
        <p:txBody>
          <a:bodyPr>
            <a:spAutoFit/>
          </a:bodyPr>
          <a:lstStyle/>
          <a:p>
            <a:pPr indent="228600" algn="ctr"/>
            <a:r>
              <a:rPr lang="zh-CN" b="0">
                <a:ea typeface="宋体" panose="02010600030101010101" pitchFamily="2" charset="-122"/>
              </a:rPr>
              <a:t>图</a:t>
            </a:r>
            <a:r>
              <a:rPr lang="en-US" b="0">
                <a:latin typeface="Times New Roman" panose="02020603050405020304" charset="0"/>
                <a:ea typeface="宋体" panose="02010600030101010101" pitchFamily="2" charset="-122"/>
              </a:rPr>
              <a:t>3-5-15 </a:t>
            </a:r>
            <a:r>
              <a:rPr lang="en-US" b="0">
                <a:latin typeface="Times New Roman" panose="02020603050405020304" charset="0"/>
                <a:ea typeface="宋体" panose="02010600030101010101" pitchFamily="2" charset="-122"/>
                <a:cs typeface="Times New Roman" panose="02020603050405020304" charset="0"/>
              </a:rPr>
              <a:t> </a:t>
            </a:r>
            <a:r>
              <a:rPr lang="zh-CN" b="0">
                <a:ea typeface="宋体" panose="02010600030101010101" pitchFamily="2" charset="-122"/>
              </a:rPr>
              <a:t>红外数据传输的基</a:t>
            </a:r>
            <a:r>
              <a:rPr lang="zh-CN" b="0">
                <a:latin typeface="Times New Roman" panose="02020603050405020304" charset="0"/>
                <a:ea typeface="宋体" panose="02010600030101010101" pitchFamily="2" charset="-122"/>
              </a:rPr>
              <a:t>本框架</a:t>
            </a:r>
            <a:endParaRPr lang="zh-CN" altLang="en-US" b="0">
              <a:latin typeface="Times New Roman" panose="02020603050405020304" charset="0"/>
              <a:ea typeface="宋体" panose="02010600030101010101" pitchFamily="2" charset="-122"/>
            </a:endParaRPr>
          </a:p>
        </p:txBody>
      </p:sp>
      <p:sp>
        <p:nvSpPr>
          <p:cNvPr id="3" name="标题 2"/>
          <p:cNvSpPr>
            <a:spLocks noGrp="1"/>
          </p:cNvSpPr>
          <p:nvPr>
            <p:ph type="title"/>
          </p:nvPr>
        </p:nvSpPr>
        <p:spPr>
          <a:xfrm>
            <a:off x="357505" y="0"/>
            <a:ext cx="11337925" cy="1325880"/>
          </a:xfrm>
        </p:spPr>
        <p:txBody>
          <a:bodyPr>
            <a:normAutofit/>
          </a:bodyPr>
          <a:p>
            <a:pPr marL="0" marR="0" lvl="0" indent="0" algn="l" defTabSz="914400" rtl="0" eaLnBrk="1" fontAlgn="auto" latinLnBrk="0" hangingPunct="1">
              <a:lnSpc>
                <a:spcPct val="90000"/>
              </a:lnSpc>
              <a:spcBef>
                <a:spcPct val="0"/>
              </a:spcBef>
              <a:spcAft>
                <a:spcPts val="0"/>
              </a:spcAft>
              <a:buClrTx/>
              <a:buSzTx/>
              <a:buFontTx/>
              <a:buNone/>
              <a:defRPr/>
            </a:pPr>
            <a:r>
              <a:rPr lang="en-US" sz="4400" b="1" u="sng" dirty="0" err="1">
                <a:solidFill>
                  <a:srgbClr val="0563C1"/>
                </a:solidFill>
                <a:uFillTx/>
                <a:latin typeface="Times New Roman" panose="02020603050405020304" charset="0"/>
                <a:ea typeface="宋体" panose="02010600030101010101" pitchFamily="2" charset="-122"/>
              </a:rPr>
              <a:t>3.5.5 红外通信技术</a:t>
            </a:r>
            <a:endParaRPr lang="zh-CN" altLang="en-US" sz="2800" b="1" dirty="0">
              <a:solidFill>
                <a:srgbClr val="0563C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85445" y="1159510"/>
            <a:ext cx="11526520" cy="2553335"/>
          </a:xfrm>
          <a:prstGeom prst="rect">
            <a:avLst/>
          </a:prstGeom>
          <a:noFill/>
          <a:ln w="9525">
            <a:noFill/>
          </a:ln>
        </p:spPr>
        <p:txBody>
          <a:bodyPr wrap="square">
            <a:spAutoFit/>
          </a:bodyPr>
          <a:lstStyle/>
          <a:p>
            <a:pPr indent="508000" algn="just" fontAlgn="auto">
              <a:extLst>
                <a:ext uri="{35155182-B16C-46BC-9424-99874614C6A1}">
                  <wpsdc:indentchars xmlns:wpsdc="http://www.wps.cn/officeDocument/2017/drawingmlCustomData" val="200" checksum="282533468"/>
                </a:ext>
              </a:extLst>
            </a:pPr>
            <a:r>
              <a:rPr lang="en-US" sz="2000" b="1" dirty="0">
                <a:latin typeface="Times New Roman" panose="02020603050405020304" charset="0"/>
                <a:ea typeface="宋体" panose="02010600030101010101" pitchFamily="2" charset="-122"/>
                <a:cs typeface="Times New Roman" panose="02020603050405020304" charset="0"/>
              </a:rPr>
              <a:t>(4)</a:t>
            </a:r>
            <a:r>
              <a:rPr lang="en-US" sz="2000" b="1" dirty="0" err="1">
                <a:latin typeface="Times New Roman" panose="02020603050405020304" charset="0"/>
                <a:ea typeface="宋体" panose="02010600030101010101" pitchFamily="2" charset="-122"/>
                <a:cs typeface="Times New Roman" panose="02020603050405020304" charset="0"/>
              </a:rPr>
              <a:t>IrDA标准主要分为两种类型，即IrDA</a:t>
            </a:r>
            <a:r>
              <a:rPr lang="en-US" sz="2000" b="1" dirty="0">
                <a:latin typeface="Times New Roman" panose="02020603050405020304" charset="0"/>
                <a:ea typeface="宋体" panose="02010600030101010101" pitchFamily="2" charset="-122"/>
                <a:cs typeface="Times New Roman" panose="02020603050405020304" charset="0"/>
              </a:rPr>
              <a:t> </a:t>
            </a:r>
            <a:r>
              <a:rPr lang="en-US" sz="2000" b="1" dirty="0" err="1">
                <a:latin typeface="Times New Roman" panose="02020603050405020304" charset="0"/>
                <a:ea typeface="宋体" panose="02010600030101010101" pitchFamily="2" charset="-122"/>
                <a:cs typeface="Times New Roman" panose="02020603050405020304" charset="0"/>
              </a:rPr>
              <a:t>Data和IrDA</a:t>
            </a:r>
            <a:r>
              <a:rPr lang="en-US" sz="2000" b="1" dirty="0">
                <a:latin typeface="Times New Roman" panose="02020603050405020304" charset="0"/>
                <a:ea typeface="宋体" panose="02010600030101010101" pitchFamily="2" charset="-122"/>
                <a:cs typeface="Times New Roman" panose="02020603050405020304" charset="0"/>
              </a:rPr>
              <a:t> </a:t>
            </a:r>
            <a:r>
              <a:rPr lang="en-US" sz="2000" b="1" dirty="0" err="1">
                <a:latin typeface="Times New Roman" panose="02020603050405020304" charset="0"/>
                <a:ea typeface="宋体" panose="02010600030101010101" pitchFamily="2" charset="-122"/>
                <a:cs typeface="Times New Roman" panose="02020603050405020304" charset="0"/>
              </a:rPr>
              <a:t>Control，其中，IrDA</a:t>
            </a:r>
            <a:r>
              <a:rPr lang="en-US" sz="2000" b="1" dirty="0">
                <a:latin typeface="Times New Roman" panose="02020603050405020304" charset="0"/>
                <a:ea typeface="宋体" panose="02010600030101010101" pitchFamily="2" charset="-122"/>
                <a:cs typeface="Times New Roman" panose="02020603050405020304" charset="0"/>
              </a:rPr>
              <a:t> </a:t>
            </a:r>
            <a:r>
              <a:rPr lang="en-US" sz="2000" b="1" dirty="0" err="1">
                <a:latin typeface="Times New Roman" panose="02020603050405020304" charset="0"/>
                <a:ea typeface="宋体" panose="02010600030101010101" pitchFamily="2" charset="-122"/>
                <a:cs typeface="Times New Roman" panose="02020603050405020304" charset="0"/>
              </a:rPr>
              <a:t>Data主要用于与其他设备交换数据</a:t>
            </a:r>
            <a:r>
              <a:rPr lang="en-US" sz="2000" b="1" dirty="0">
                <a:latin typeface="Times New Roman" panose="02020603050405020304" charset="0"/>
                <a:ea typeface="宋体" panose="02010600030101010101" pitchFamily="2" charset="-122"/>
                <a:cs typeface="Times New Roman" panose="02020603050405020304" charset="0"/>
              </a:rPr>
              <a:t>； IrDA </a:t>
            </a:r>
            <a:r>
              <a:rPr lang="en-US" sz="2000" b="1" dirty="0" err="1">
                <a:latin typeface="Times New Roman" panose="02020603050405020304" charset="0"/>
                <a:ea typeface="宋体" panose="02010600030101010101" pitchFamily="2" charset="-122"/>
                <a:cs typeface="Times New Roman" panose="02020603050405020304" charset="0"/>
              </a:rPr>
              <a:t>Control主要用于与人机接口设备交互，如键盘、鼠标器等</a:t>
            </a:r>
            <a:r>
              <a:rPr lang="en-US" sz="2000" b="1" dirty="0">
                <a:latin typeface="Times New Roman" panose="02020603050405020304" charset="0"/>
                <a:ea typeface="宋体" panose="02010600030101010101" pitchFamily="2" charset="-122"/>
                <a:cs typeface="Times New Roman" panose="02020603050405020304" charset="0"/>
              </a:rPr>
              <a:t>。</a:t>
            </a:r>
            <a:endParaRPr lang="en-US" sz="2000" b="1" dirty="0">
              <a:latin typeface="Times New Roman" panose="02020603050405020304" charset="0"/>
              <a:ea typeface="宋体" panose="02010600030101010101" pitchFamily="2" charset="-122"/>
              <a:cs typeface="Times New Roman" panose="02020603050405020304" charset="0"/>
            </a:endParaRPr>
          </a:p>
          <a:p>
            <a:pPr indent="508000" fontAlgn="auto">
              <a:extLst>
                <a:ext uri="{35155182-B16C-46BC-9424-99874614C6A1}">
                  <wpsdc:indentchars xmlns:wpsdc="http://www.wps.cn/officeDocument/2017/drawingmlCustomData" val="200" checksum="282533468"/>
                </a:ext>
              </a:extLst>
            </a:pPr>
            <a:r>
              <a:rPr lang="en-US" sz="2000" b="1" dirty="0">
                <a:latin typeface="Times New Roman" panose="02020603050405020304" charset="0"/>
                <a:ea typeface="宋体" panose="02010600030101010101" pitchFamily="2" charset="-122"/>
                <a:cs typeface="Times New Roman" panose="02020603050405020304" charset="0"/>
              </a:rPr>
              <a:t> IrDA Data标准已有6个版本，如表3-5-5所示。在这6个标准中，AIR（Advanced IfraRed）是IrDA针对蓝牙技术的竞争发布的一个多点连接红外线规范，其优点是传输距离和发射接收角度的改进，在4Mb/s通信速率下其传输距离可以达到4m，在更低速率下其传输距离可以达到8m。AIR规范的发射接收角度为120°。更重要的是它支持多点连接，其他的IrDA规范都只支持点对点连接。红外接口主要用于便携设备，这类设备通常对功耗要求很高，为了降低设备的功耗，IrDA发布了低功耗的IrDA1.2和IrDA1.3，但同时缩短了传输距离，传输距离为0.2~0.3m。</a:t>
            </a:r>
            <a:endParaRPr lang="en-US" sz="2000" b="1" dirty="0">
              <a:latin typeface="Times New Roman" panose="02020603050405020304" charset="0"/>
              <a:ea typeface="宋体" panose="02010600030101010101" pitchFamily="2" charset="-122"/>
              <a:cs typeface="Times New Roman" panose="02020603050405020304" charset="0"/>
            </a:endParaRPr>
          </a:p>
        </p:txBody>
      </p:sp>
      <p:sp>
        <p:nvSpPr>
          <p:cNvPr id="12" name="文本框 11"/>
          <p:cNvSpPr txBox="1"/>
          <p:nvPr/>
        </p:nvSpPr>
        <p:spPr>
          <a:xfrm>
            <a:off x="4335780" y="3802380"/>
            <a:ext cx="3625850" cy="368300"/>
          </a:xfrm>
          <a:prstGeom prst="rect">
            <a:avLst/>
          </a:prstGeom>
          <a:noFill/>
          <a:ln w="9525">
            <a:noFill/>
          </a:ln>
        </p:spPr>
        <p:txBody>
          <a:bodyPr wrap="square">
            <a:spAutoFit/>
          </a:bodyPr>
          <a:lstStyle/>
          <a:p>
            <a:pPr indent="0" algn="ctr" fontAlgn="auto"/>
            <a:r>
              <a:rPr lang="zh-CN" b="0">
                <a:ea typeface="宋体" panose="02010600030101010101" pitchFamily="2" charset="-122"/>
              </a:rPr>
              <a:t>表</a:t>
            </a:r>
            <a:r>
              <a:rPr lang="en-US" b="0">
                <a:latin typeface="Times New Roman" panose="02020603050405020304" charset="0"/>
                <a:ea typeface="宋体" panose="02010600030101010101" pitchFamily="2" charset="-122"/>
              </a:rPr>
              <a:t>3-5-5   IrDA Data</a:t>
            </a:r>
            <a:r>
              <a:rPr lang="zh-CN" b="0">
                <a:ea typeface="宋体" panose="02010600030101010101" pitchFamily="2" charset="-122"/>
              </a:rPr>
              <a:t>标准</a:t>
            </a:r>
            <a:endParaRPr lang="zh-CN" altLang="en-US" b="0">
              <a:ea typeface="宋体" panose="02010600030101010101" pitchFamily="2" charset="-122"/>
            </a:endParaRPr>
          </a:p>
        </p:txBody>
      </p:sp>
      <p:graphicFrame>
        <p:nvGraphicFramePr>
          <p:cNvPr id="13" name="表格 12"/>
          <p:cNvGraphicFramePr/>
          <p:nvPr>
            <p:custDataLst>
              <p:tags r:id="rId1"/>
            </p:custDataLst>
          </p:nvPr>
        </p:nvGraphicFramePr>
        <p:xfrm>
          <a:off x="539115" y="4170680"/>
          <a:ext cx="10974705" cy="2426970"/>
        </p:xfrm>
        <a:graphic>
          <a:graphicData uri="http://schemas.openxmlformats.org/drawingml/2006/table">
            <a:tbl>
              <a:tblPr firstRow="1" bandRow="1">
                <a:tableStyleId>{5940675A-B579-460E-94D1-54222C63F5DA}</a:tableStyleId>
              </a:tblPr>
              <a:tblGrid>
                <a:gridCol w="1550670"/>
                <a:gridCol w="1593215"/>
                <a:gridCol w="1536700"/>
                <a:gridCol w="1562735"/>
                <a:gridCol w="1555750"/>
                <a:gridCol w="1559560"/>
                <a:gridCol w="1616075"/>
              </a:tblGrid>
              <a:tr h="385445">
                <a:tc>
                  <a:txBody>
                    <a:bodyPr/>
                    <a:lstStyle/>
                    <a:p>
                      <a:pPr indent="0" algn="ctr">
                        <a:buNone/>
                      </a:pPr>
                      <a:r>
                        <a:rPr lang="en-US" sz="2000" b="0">
                          <a:latin typeface="Times New Roman" panose="02020603050405020304" charset="0"/>
                          <a:cs typeface="Times New Roman" panose="02020603050405020304" charset="0"/>
                        </a:rPr>
                        <a:t> </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IrDA1.0SIR</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IrDA1.1SIR</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AIR</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IrDA1.2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IrDA1.3</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IrDA1.4VFID</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8630">
                <a:tc>
                  <a:txBody>
                    <a:bodyPr/>
                    <a:lstStyle/>
                    <a:p>
                      <a:pPr indent="0" algn="ctr">
                        <a:buNone/>
                      </a:pPr>
                      <a:r>
                        <a:rPr lang="en-US" sz="2000" b="0">
                          <a:latin typeface="Times New Roman" panose="02020603050405020304" charset="0"/>
                          <a:cs typeface="Times New Roman" panose="02020603050405020304" charset="0"/>
                        </a:rPr>
                        <a:t>最高速率</a:t>
                      </a:r>
                      <a:r>
                        <a:rPr lang="en-US" sz="2000" b="0">
                          <a:latin typeface="宋体" panose="02010600030101010101" pitchFamily="2" charset="-122"/>
                          <a:ea typeface="宋体" panose="02010600030101010101" pitchFamily="2" charset="-122"/>
                          <a:cs typeface="宋体" panose="02010600030101010101" pitchFamily="2" charset="-122"/>
                        </a:rPr>
                        <a:t>（</a:t>
                      </a:r>
                      <a:r>
                        <a:rPr lang="en-US" sz="2000" b="0">
                          <a:latin typeface="Times New Roman" panose="02020603050405020304" charset="0"/>
                          <a:cs typeface="Times New Roman" panose="02020603050405020304" charset="0"/>
                        </a:rPr>
                        <a:t>kb/s</a:t>
                      </a: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charset="0"/>
                          <a:cs typeface="Times New Roman" panose="02020603050405020304" charset="0"/>
                        </a:rPr>
                        <a:t>115.2</a:t>
                      </a:r>
                      <a:endParaRPr lang="en-US" altLang="en-US" sz="20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4000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4000/250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115.2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4000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16000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4485">
                <a:tc>
                  <a:txBody>
                    <a:bodyPr/>
                    <a:lstStyle/>
                    <a:p>
                      <a:pPr indent="0" algn="ctr">
                        <a:buNone/>
                      </a:pPr>
                      <a:r>
                        <a:rPr lang="en-US" sz="2000" b="0">
                          <a:latin typeface="Times New Roman" panose="02020603050405020304" charset="0"/>
                          <a:cs typeface="Times New Roman" panose="02020603050405020304" charset="0"/>
                        </a:rPr>
                        <a:t>通信距离/m</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4/8</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000" b="0">
                          <a:latin typeface="Times New Roman" panose="02020603050405020304" charset="0"/>
                          <a:cs typeface="Times New Roman" panose="02020603050405020304" charset="0"/>
                        </a:rPr>
                        <a:t>0.2~0.3（与连接设备有关）</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6075">
                <a:tc>
                  <a:txBody>
                    <a:bodyPr/>
                    <a:lstStyle/>
                    <a:p>
                      <a:pPr indent="0" algn="ctr">
                        <a:buNone/>
                      </a:pPr>
                      <a:r>
                        <a:rPr lang="en-US" sz="2000" b="0">
                          <a:latin typeface="Times New Roman" panose="02020603050405020304" charset="0"/>
                          <a:cs typeface="Times New Roman" panose="02020603050405020304" charset="0"/>
                        </a:rPr>
                        <a:t>发射接收角度</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±120°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920">
                <a:tc>
                  <a:txBody>
                    <a:bodyPr/>
                    <a:lstStyle/>
                    <a:p>
                      <a:pPr indent="0" algn="ctr">
                        <a:buNone/>
                      </a:pPr>
                      <a:r>
                        <a:rPr lang="en-US" sz="2000" b="0">
                          <a:latin typeface="Times New Roman" panose="02020603050405020304" charset="0"/>
                          <a:cs typeface="Times New Roman" panose="02020603050405020304" charset="0"/>
                        </a:rPr>
                        <a:t>连接方式</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点对点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点对点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多点对多点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点对点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点对点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点对点</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5445">
                <a:tc>
                  <a:txBody>
                    <a:bodyPr/>
                    <a:lstStyle/>
                    <a:p>
                      <a:pPr indent="0" algn="ctr">
                        <a:buNone/>
                      </a:pPr>
                      <a:r>
                        <a:rPr lang="en-US" sz="2000" b="0">
                          <a:latin typeface="Times New Roman" panose="02020603050405020304" charset="0"/>
                          <a:cs typeface="Times New Roman" panose="02020603050405020304" charset="0"/>
                        </a:rPr>
                        <a:t>设备数/个</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10</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charset="0"/>
                          <a:cs typeface="Times New Roman" panose="02020603050405020304" charset="0"/>
                        </a:rPr>
                        <a:t>2</a:t>
                      </a:r>
                      <a:endParaRPr lang="en-US" altLang="en-US" sz="2000" b="0" dirty="0">
                        <a:latin typeface="Times New Roman" panose="02020603050405020304" charset="0"/>
                        <a:ea typeface="Times New Roman" panose="02020603050405020304" charset="0"/>
                        <a:cs typeface="Times New Roman" panose="02020603050405020304" charset="0"/>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 name="标题 1"/>
          <p:cNvSpPr>
            <a:spLocks noGrp="1"/>
          </p:cNvSpPr>
          <p:nvPr>
            <p:ph type="title"/>
          </p:nvPr>
        </p:nvSpPr>
        <p:spPr>
          <a:xfrm>
            <a:off x="357505" y="0"/>
            <a:ext cx="11337925" cy="1325880"/>
          </a:xfrm>
        </p:spPr>
        <p:txBody>
          <a:bodyP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en-US" sz="4400" b="1" u="sng" dirty="0" err="1">
                <a:solidFill>
                  <a:srgbClr val="0563C1"/>
                </a:solidFill>
                <a:uFillTx/>
                <a:latin typeface="Times New Roman" panose="02020603050405020304" charset="0"/>
                <a:ea typeface="宋体" panose="02010600030101010101" pitchFamily="2" charset="-122"/>
              </a:rPr>
              <a:t>3.5.5 红外通信技术</a:t>
            </a:r>
            <a:endParaRPr lang="zh-CN" altLang="en-US" sz="2800" b="1" dirty="0">
              <a:solidFill>
                <a:srgbClr val="0563C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147482485"/>
          <p:cNvGraphicFramePr>
            <a:graphicFrameLocks noChangeAspect="1"/>
          </p:cNvGraphicFramePr>
          <p:nvPr/>
        </p:nvGraphicFramePr>
        <p:xfrm>
          <a:off x="4020185" y="800735"/>
          <a:ext cx="6484620" cy="5256530"/>
        </p:xfrm>
        <a:graphic>
          <a:graphicData uri="http://schemas.openxmlformats.org/presentationml/2006/ole">
            <mc:AlternateContent xmlns:mc="http://schemas.openxmlformats.org/markup-compatibility/2006">
              <mc:Choice xmlns:v="urn:schemas-microsoft-com:vml" Requires="v">
                <p:oleObj spid="_x0000_s24775" name="" r:id="rId1" imgW="5591175" imgH="4533900" progId="Visio.Drawing.15">
                  <p:embed/>
                </p:oleObj>
              </mc:Choice>
              <mc:Fallback>
                <p:oleObj name="" r:id="rId1" imgW="5591175" imgH="4533900" progId="Visio.Drawing.15">
                  <p:embed/>
                  <p:pic>
                    <p:nvPicPr>
                      <p:cNvPr id="0" name="对象 -2147482485"/>
                      <p:cNvPicPr/>
                      <p:nvPr/>
                    </p:nvPicPr>
                    <p:blipFill>
                      <a:blip r:embed="rId2"/>
                      <a:stretch>
                        <a:fillRect/>
                      </a:stretch>
                    </p:blipFill>
                    <p:spPr>
                      <a:xfrm>
                        <a:off x="4020185" y="800735"/>
                        <a:ext cx="6484620" cy="5256530"/>
                      </a:xfrm>
                      <a:prstGeom prst="rect">
                        <a:avLst/>
                      </a:prstGeom>
                      <a:noFill/>
                      <a:ln w="9525">
                        <a:noFill/>
                        <a:miter/>
                      </a:ln>
                    </p:spPr>
                  </p:pic>
                </p:oleObj>
              </mc:Fallback>
            </mc:AlternateContent>
          </a:graphicData>
        </a:graphic>
      </p:graphicFrame>
      <p:sp>
        <p:nvSpPr>
          <p:cNvPr id="7" name="文本框 6"/>
          <p:cNvSpPr txBox="1"/>
          <p:nvPr/>
        </p:nvSpPr>
        <p:spPr>
          <a:xfrm>
            <a:off x="4946650" y="6167755"/>
            <a:ext cx="5080000" cy="368300"/>
          </a:xfrm>
          <a:prstGeom prst="rect">
            <a:avLst/>
          </a:prstGeom>
          <a:noFill/>
          <a:ln w="9525">
            <a:noFill/>
          </a:ln>
        </p:spPr>
        <p:txBody>
          <a:bodyPr>
            <a:spAutoFit/>
          </a:bodyPr>
          <a:lstStyle/>
          <a:p>
            <a:pPr indent="228600" algn="ctr"/>
            <a:r>
              <a:rPr lang="zh-CN" b="0">
                <a:ea typeface="宋体" panose="02010600030101010101" pitchFamily="2" charset="-122"/>
              </a:rPr>
              <a:t>图</a:t>
            </a:r>
            <a:r>
              <a:rPr lang="en-US" b="0">
                <a:latin typeface="Times New Roman" panose="02020603050405020304" charset="0"/>
                <a:ea typeface="宋体" panose="02010600030101010101" pitchFamily="2" charset="-122"/>
              </a:rPr>
              <a:t>3-5-16  IrDA</a:t>
            </a:r>
            <a:r>
              <a:rPr lang="zh-CN" b="0">
                <a:ea typeface="宋体" panose="02010600030101010101" pitchFamily="2" charset="-122"/>
              </a:rPr>
              <a:t>器件类型</a:t>
            </a:r>
            <a:endParaRPr lang="zh-CN" altLang="en-US" b="0">
              <a:ea typeface="宋体" panose="02010600030101010101" pitchFamily="2" charset="-122"/>
            </a:endParaRPr>
          </a:p>
        </p:txBody>
      </p:sp>
      <p:sp>
        <p:nvSpPr>
          <p:cNvPr id="2" name="标题 1"/>
          <p:cNvSpPr>
            <a:spLocks noGrp="1"/>
          </p:cNvSpPr>
          <p:nvPr>
            <p:ph type="title"/>
          </p:nvPr>
        </p:nvSpPr>
        <p:spPr>
          <a:xfrm>
            <a:off x="357505" y="0"/>
            <a:ext cx="11337925" cy="1325880"/>
          </a:xfrm>
        </p:spPr>
        <p:txBody>
          <a:bodyPr>
            <a:normAutofit/>
          </a:bodyPr>
          <a:p>
            <a:pPr marL="0" marR="0" lvl="0" indent="0" algn="l" defTabSz="914400" rtl="0" eaLnBrk="1" fontAlgn="auto" latinLnBrk="0" hangingPunct="1">
              <a:lnSpc>
                <a:spcPct val="90000"/>
              </a:lnSpc>
              <a:spcBef>
                <a:spcPct val="0"/>
              </a:spcBef>
              <a:spcAft>
                <a:spcPts val="0"/>
              </a:spcAft>
              <a:buClrTx/>
              <a:buSzTx/>
              <a:buFontTx/>
              <a:buNone/>
              <a:defRPr/>
            </a:pPr>
            <a:r>
              <a:rPr lang="en-US" sz="4400" b="1" u="sng" dirty="0" err="1">
                <a:solidFill>
                  <a:srgbClr val="0563C1"/>
                </a:solidFill>
                <a:uFillTx/>
                <a:latin typeface="Times New Roman" panose="02020603050405020304" charset="0"/>
                <a:ea typeface="宋体" panose="02010600030101010101" pitchFamily="2" charset="-122"/>
              </a:rPr>
              <a:t>3.5.5 红外通信技术</a:t>
            </a:r>
            <a:endParaRPr lang="zh-CN" altLang="en-US" sz="2800" b="1" dirty="0">
              <a:solidFill>
                <a:srgbClr val="0563C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9245" y="1531620"/>
            <a:ext cx="11598910" cy="4892675"/>
          </a:xfrm>
          <a:prstGeom prst="rect">
            <a:avLst/>
          </a:prstGeom>
          <a:noFill/>
          <a:ln w="9525">
            <a:noFill/>
          </a:ln>
        </p:spPr>
        <p:txBody>
          <a:bodyPr wrap="square">
            <a:spAutoFit/>
          </a:bodyPr>
          <a:lstStyle/>
          <a:p>
            <a:pPr indent="609600" algn="just" fontAlgn="auto">
              <a:buClrTx/>
              <a:buSzTx/>
              <a:buFontTx/>
              <a:extLst>
                <a:ext uri="{35155182-B16C-46BC-9424-99874614C6A1}">
                  <wpsdc:indentchars xmlns:wpsdc="http://www.wps.cn/officeDocument/2017/drawingmlCustomData" val="200" checksum="4158780845"/>
                </a:ext>
              </a:extLst>
            </a:pPr>
            <a:r>
              <a:rPr lang="en-US" sz="2400" b="1" dirty="0">
                <a:latin typeface="Times New Roman" panose="02020603050405020304" charset="0"/>
                <a:ea typeface="宋体" panose="02010600030101010101" pitchFamily="2" charset="-122"/>
                <a:cs typeface="Times New Roman" panose="02020603050405020304" charset="0"/>
              </a:rPr>
              <a:t>LORA是一种基于扩频技术的无线传输技术，是低功率广域网（LPWAN）通信技术中的一种，最早是由美国Semtech公司采用和推广的。LORA为用户提供了一种简单的能实现远距离、低功耗无线通信手段。目前，LORA主要在ISM频段运行，主要包括433MHz、868MHz、915 </a:t>
            </a:r>
            <a:r>
              <a:rPr lang="en-US" sz="2400" b="1" dirty="0" err="1">
                <a:latin typeface="Times New Roman" panose="02020603050405020304" charset="0"/>
                <a:ea typeface="宋体" panose="02010600030101010101" pitchFamily="2" charset="-122"/>
                <a:cs typeface="Times New Roman" panose="02020603050405020304" charset="0"/>
              </a:rPr>
              <a:t>MHz等</a:t>
            </a:r>
            <a:r>
              <a:rPr lang="en-US" sz="2400" b="1" dirty="0">
                <a:latin typeface="Times New Roman" panose="02020603050405020304" charset="0"/>
                <a:ea typeface="宋体" panose="02010600030101010101" pitchFamily="2" charset="-122"/>
                <a:cs typeface="Times New Roman" panose="02020603050405020304" charset="0"/>
              </a:rPr>
              <a:t>。 </a:t>
            </a:r>
            <a:endParaRPr lang="en-US" sz="2400" b="1" dirty="0">
              <a:latin typeface="Times New Roman" panose="02020603050405020304" charset="0"/>
              <a:ea typeface="宋体" panose="02010600030101010101" pitchFamily="2" charset="-122"/>
              <a:cs typeface="Times New Roman" panose="02020603050405020304" charset="0"/>
            </a:endParaRPr>
          </a:p>
          <a:p>
            <a:pPr indent="609600" algn="just" fontAlgn="auto">
              <a:buClrTx/>
              <a:buSzTx/>
              <a:buFontTx/>
              <a:extLst>
                <a:ext uri="{35155182-B16C-46BC-9424-99874614C6A1}">
                  <wpsdc:indentchars xmlns:wpsdc="http://www.wps.cn/officeDocument/2017/drawingmlCustomData" val="200" checksum="4158780845"/>
                </a:ext>
              </a:extLst>
            </a:pPr>
            <a:r>
              <a:rPr lang="en-US" sz="2400" b="1" dirty="0">
                <a:latin typeface="Times New Roman" panose="02020603050405020304" charset="0"/>
                <a:ea typeface="宋体" panose="02010600030101010101" pitchFamily="2" charset="-122"/>
                <a:cs typeface="Times New Roman" panose="02020603050405020304" charset="0"/>
              </a:rPr>
              <a:t>1. </a:t>
            </a:r>
            <a:r>
              <a:rPr lang="en-US" sz="2400" b="1" dirty="0" err="1">
                <a:latin typeface="Times New Roman" panose="02020603050405020304" charset="0"/>
                <a:ea typeface="宋体" panose="02010600030101010101" pitchFamily="2" charset="-122"/>
                <a:cs typeface="Times New Roman" panose="02020603050405020304" charset="0"/>
              </a:rPr>
              <a:t>LORA无线技术网络构成</a:t>
            </a:r>
            <a:endParaRPr lang="en-US" sz="2400" b="1" dirty="0">
              <a:latin typeface="Times New Roman" panose="02020603050405020304" charset="0"/>
              <a:ea typeface="宋体" panose="02010600030101010101" pitchFamily="2" charset="-122"/>
              <a:cs typeface="Times New Roman" panose="02020603050405020304" charset="0"/>
            </a:endParaRPr>
          </a:p>
          <a:p>
            <a:pPr indent="609600" algn="just" fontAlgn="auto">
              <a:buClrTx/>
              <a:buSzTx/>
              <a:buFontTx/>
              <a:extLst>
                <a:ext uri="{35155182-B16C-46BC-9424-99874614C6A1}">
                  <wpsdc:indentchars xmlns:wpsdc="http://www.wps.cn/officeDocument/2017/drawingmlCustomData" val="200" checksum="4158780845"/>
                </a:ext>
              </a:extLst>
            </a:pPr>
            <a:r>
              <a:rPr lang="en-US" sz="2400" b="1" dirty="0" err="1">
                <a:latin typeface="Times New Roman" panose="02020603050405020304" charset="0"/>
                <a:ea typeface="宋体" panose="02010600030101010101" pitchFamily="2" charset="-122"/>
                <a:cs typeface="Times New Roman" panose="02020603050405020304" charset="0"/>
              </a:rPr>
              <a:t>LORA网络主要由终端（可内置LORA模块</a:t>
            </a:r>
            <a:r>
              <a:rPr lang="en-US" sz="2400" b="1" dirty="0">
                <a:latin typeface="Times New Roman" panose="02020603050405020304" charset="0"/>
                <a:ea typeface="宋体" panose="02010600030101010101" pitchFamily="2" charset="-122"/>
                <a:cs typeface="Times New Roman" panose="02020603050405020304" charset="0"/>
              </a:rPr>
              <a:t>）、</a:t>
            </a:r>
            <a:r>
              <a:rPr lang="en-US" sz="2400" b="1" dirty="0" err="1">
                <a:latin typeface="Times New Roman" panose="02020603050405020304" charset="0"/>
                <a:ea typeface="宋体" panose="02010600030101010101" pitchFamily="2" charset="-122"/>
                <a:cs typeface="Times New Roman" panose="02020603050405020304" charset="0"/>
              </a:rPr>
              <a:t>网关（或称基站</a:t>
            </a:r>
            <a:r>
              <a:rPr lang="en-US" sz="2400" b="1" dirty="0">
                <a:latin typeface="Times New Roman" panose="02020603050405020304" charset="0"/>
                <a:ea typeface="宋体" panose="02010600030101010101" pitchFamily="2" charset="-122"/>
                <a:cs typeface="Times New Roman" panose="02020603050405020304" charset="0"/>
              </a:rPr>
              <a:t>）、Server和云服务4部分组成。应用数据可双向传输。</a:t>
            </a:r>
            <a:endParaRPr lang="en-US" sz="2400" b="1" dirty="0">
              <a:latin typeface="Times New Roman" panose="02020603050405020304" charset="0"/>
              <a:ea typeface="宋体" panose="02010600030101010101" pitchFamily="2" charset="-122"/>
              <a:cs typeface="Times New Roman" panose="02020603050405020304" charset="0"/>
            </a:endParaRPr>
          </a:p>
          <a:p>
            <a:pPr indent="609600" algn="just" fontAlgn="auto">
              <a:buClrTx/>
              <a:buSzTx/>
              <a:buFontTx/>
              <a:extLst>
                <a:ext uri="{35155182-B16C-46BC-9424-99874614C6A1}">
                  <wpsdc:indentchars xmlns:wpsdc="http://www.wps.cn/officeDocument/2017/drawingmlCustomData" val="200" checksum="4158780845"/>
                </a:ext>
              </a:extLst>
            </a:pPr>
            <a:r>
              <a:rPr lang="en-US" sz="2400" b="1" dirty="0">
                <a:latin typeface="Times New Roman" panose="02020603050405020304" charset="0"/>
                <a:ea typeface="宋体" panose="02010600030101010101" pitchFamily="2" charset="-122"/>
                <a:cs typeface="Times New Roman" panose="02020603050405020304" charset="0"/>
              </a:rPr>
              <a:t>2. </a:t>
            </a:r>
            <a:r>
              <a:rPr lang="en-US" sz="2400" b="1" dirty="0" err="1">
                <a:latin typeface="Times New Roman" panose="02020603050405020304" charset="0"/>
                <a:ea typeface="宋体" panose="02010600030101010101" pitchFamily="2" charset="-122"/>
                <a:cs typeface="Times New Roman" panose="02020603050405020304" charset="0"/>
              </a:rPr>
              <a:t>LORAWAN协议介绍</a:t>
            </a:r>
            <a:endParaRPr lang="en-US" sz="2400" b="1" dirty="0">
              <a:latin typeface="Times New Roman" panose="02020603050405020304" charset="0"/>
              <a:ea typeface="宋体" panose="02010600030101010101" pitchFamily="2" charset="-122"/>
              <a:cs typeface="Times New Roman" panose="02020603050405020304" charset="0"/>
            </a:endParaRPr>
          </a:p>
          <a:p>
            <a:pPr indent="609600" algn="just" fontAlgn="auto">
              <a:buClrTx/>
              <a:buSzTx/>
              <a:buFontTx/>
              <a:extLst>
                <a:ext uri="{35155182-B16C-46BC-9424-99874614C6A1}">
                  <wpsdc:indentchars xmlns:wpsdc="http://www.wps.cn/officeDocument/2017/drawingmlCustomData" val="200" checksum="4158780845"/>
                </a:ext>
              </a:extLst>
            </a:pPr>
            <a:r>
              <a:rPr lang="en-US" sz="2400" b="1" dirty="0" err="1">
                <a:latin typeface="Times New Roman" panose="02020603050405020304" charset="0"/>
                <a:ea typeface="宋体" panose="02010600030101010101" pitchFamily="2" charset="-122"/>
                <a:cs typeface="Times New Roman" panose="02020603050405020304" charset="0"/>
              </a:rPr>
              <a:t>LORAWAN是LORA联盟发布的一个基于MAC层协议的低功耗广域网通信协议</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a:p>
            <a:pPr indent="609600" algn="just" fontAlgn="auto">
              <a:buClrTx/>
              <a:buSzTx/>
              <a:buFontTx/>
              <a:extLst>
                <a:ext uri="{35155182-B16C-46BC-9424-99874614C6A1}">
                  <wpsdc:indentchars xmlns:wpsdc="http://www.wps.cn/officeDocument/2017/drawingmlCustomData" val="200" checksum="4158780845"/>
                </a:ext>
              </a:extLst>
            </a:pPr>
            <a:r>
              <a:rPr lang="en-US" sz="2400" b="1" dirty="0">
                <a:latin typeface="Times New Roman" panose="02020603050405020304" charset="0"/>
                <a:ea typeface="宋体" panose="02010600030101010101" pitchFamily="2" charset="-122"/>
                <a:cs typeface="Times New Roman" panose="02020603050405020304" charset="0"/>
              </a:rPr>
              <a:t>LORAWAN定义了网络的通信协议和系统架构，而LORA物理层能够使长距离通信链路成为可能。LORAWAN自下而上设计，为电池寿命、容量、距离和成本而优化了LPWAN（低功耗广域网）。</a:t>
            </a:r>
            <a:r>
              <a:rPr lang="en-US" sz="2400" b="1" dirty="0" err="1">
                <a:latin typeface="Times New Roman" panose="02020603050405020304" charset="0"/>
                <a:ea typeface="宋体" panose="02010600030101010101" pitchFamily="2" charset="-122"/>
                <a:cs typeface="Times New Roman" panose="02020603050405020304" charset="0"/>
              </a:rPr>
              <a:t>对于不同地区给出了一个LORAWAN规范概要，以及在LPWAN空间竞争的不同技术的高级比较</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p:txBody>
      </p:sp>
      <p:sp>
        <p:nvSpPr>
          <p:cNvPr id="9" name="标题 8"/>
          <p:cNvSpPr>
            <a:spLocks noGrp="1"/>
          </p:cNvSpPr>
          <p:nvPr>
            <p:ph type="title"/>
          </p:nvPr>
        </p:nvSpPr>
        <p:spPr>
          <a:xfrm>
            <a:off x="309245" y="0"/>
            <a:ext cx="11337925" cy="1325880"/>
          </a:xfrm>
        </p:spPr>
        <p:txBody>
          <a:bodyPr>
            <a:normAutofit/>
          </a:bodyPr>
          <a:lstStyle/>
          <a:p>
            <a:pPr>
              <a:buClrTx/>
              <a:buSzTx/>
            </a:pPr>
            <a:r>
              <a:rPr lang="en-US" sz="4400" b="1" u="sng" dirty="0" err="1">
                <a:solidFill>
                  <a:srgbClr val="0563C1"/>
                </a:solidFill>
                <a:uFillTx/>
                <a:latin typeface="Times New Roman" panose="02020603050405020304" charset="0"/>
                <a:ea typeface="宋体" panose="02010600030101010101" pitchFamily="2" charset="-122"/>
              </a:rPr>
              <a:t>3.5.6 LORA技术</a:t>
            </a:r>
            <a:endParaRPr lang="zh-CN" altLang="zh-CN" sz="2800" b="1" dirty="0">
              <a:solidFill>
                <a:srgbClr val="000000"/>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61315" y="1207770"/>
            <a:ext cx="11234420" cy="429895"/>
          </a:xfrm>
          <a:prstGeom prst="rect">
            <a:avLst/>
          </a:prstGeom>
          <a:noFill/>
          <a:ln w="9525">
            <a:noFill/>
          </a:ln>
        </p:spPr>
        <p:txBody>
          <a:bodyPr wrap="square">
            <a:spAutoFit/>
          </a:bodyPr>
          <a:lstStyle/>
          <a:p>
            <a:pPr indent="266700">
              <a:buClrTx/>
              <a:buSzTx/>
              <a:buFontTx/>
            </a:pPr>
            <a:r>
              <a:rPr lang="en-US" sz="2200" b="1" dirty="0">
                <a:ea typeface="宋体" panose="02010600030101010101" pitchFamily="2" charset="-122"/>
              </a:rPr>
              <a:t>  </a:t>
            </a:r>
            <a:endParaRPr lang="en-US" sz="2200" b="1" dirty="0">
              <a:latin typeface="Times New Roman" panose="02020603050405020304" charset="0"/>
              <a:ea typeface="宋体" panose="02010600030101010101" pitchFamily="2" charset="-122"/>
              <a:cs typeface="Times New Roman" panose="02020603050405020304" charset="0"/>
            </a:endParaRPr>
          </a:p>
        </p:txBody>
      </p:sp>
      <p:pic>
        <p:nvPicPr>
          <p:cNvPr id="406" name="图片 406" descr="IMG_256"/>
          <p:cNvPicPr>
            <a:picLocks noChangeAspect="1"/>
          </p:cNvPicPr>
          <p:nvPr/>
        </p:nvPicPr>
        <p:blipFill>
          <a:blip r:embed="rId1"/>
          <a:stretch>
            <a:fillRect/>
          </a:stretch>
        </p:blipFill>
        <p:spPr>
          <a:xfrm>
            <a:off x="5854065" y="1715135"/>
            <a:ext cx="6138545" cy="3428365"/>
          </a:xfrm>
          <a:prstGeom prst="rect">
            <a:avLst/>
          </a:prstGeom>
          <a:noFill/>
          <a:ln w="9525">
            <a:noFill/>
          </a:ln>
        </p:spPr>
      </p:pic>
      <p:sp>
        <p:nvSpPr>
          <p:cNvPr id="2" name="文本框 1"/>
          <p:cNvSpPr txBox="1"/>
          <p:nvPr/>
        </p:nvSpPr>
        <p:spPr>
          <a:xfrm>
            <a:off x="361315" y="1325880"/>
            <a:ext cx="5346065" cy="4892675"/>
          </a:xfrm>
          <a:prstGeom prst="rect">
            <a:avLst/>
          </a:prstGeom>
          <a:noFill/>
          <a:ln w="9525">
            <a:noFill/>
          </a:ln>
        </p:spPr>
        <p:txBody>
          <a:bodyPr wrap="square">
            <a:spAutoFit/>
          </a:bodyPr>
          <a:lstStyle/>
          <a:p>
            <a:pPr indent="304800" algn="just"/>
            <a:r>
              <a:rPr lang="en-US" sz="2200" b="1" dirty="0">
                <a:ea typeface="宋体" panose="02010600030101010101" pitchFamily="2" charset="-122"/>
              </a:rPr>
              <a:t> </a:t>
            </a: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a:latin typeface="Times New Roman" panose="02020603050405020304" charset="0"/>
                <a:ea typeface="宋体" panose="02010600030101010101" pitchFamily="2" charset="-122"/>
                <a:cs typeface="Times New Roman" panose="02020603050405020304" charset="0"/>
                <a:sym typeface="+mn-ea"/>
              </a:rPr>
              <a:t>3.LORAWAN网络拓扑</a:t>
            </a:r>
            <a:endParaRPr lang="en-US" sz="2400" b="1" dirty="0">
              <a:latin typeface="Times New Roman" panose="02020603050405020304" charset="0"/>
              <a:ea typeface="宋体" panose="02010600030101010101" pitchFamily="2" charset="-122"/>
              <a:cs typeface="Times New Roman" panose="02020603050405020304" charset="0"/>
              <a:sym typeface="+mn-ea"/>
            </a:endParaRPr>
          </a:p>
          <a:p>
            <a:pPr indent="304800" algn="just"/>
            <a:r>
              <a:rPr lang="en-US" sz="2400" b="1" dirty="0">
                <a:latin typeface="Times New Roman" panose="02020603050405020304" charset="0"/>
                <a:ea typeface="宋体" panose="02010600030101010101" pitchFamily="2" charset="-122"/>
                <a:cs typeface="Times New Roman" panose="02020603050405020304" charset="0"/>
                <a:sym typeface="+mn-ea"/>
              </a:rPr>
              <a:t>    </a:t>
            </a:r>
            <a:r>
              <a:rPr lang="en-US" sz="2400" b="1" dirty="0">
                <a:latin typeface="Times New Roman" panose="02020603050405020304" charset="0"/>
                <a:ea typeface="宋体" panose="02010600030101010101" pitchFamily="2" charset="-122"/>
                <a:cs typeface="Times New Roman" panose="02020603050405020304" charset="0"/>
              </a:rPr>
              <a:t>LORAWAN网络拓扑如图3-5-17所示。LORAWAN网络是一个典型的无线网格网络拓扑结构，在这个网络架构中，LORA网关负责数据汇总，连接终端设备和后端云端数据服务器。网关与服务器间TCP/IP网络进行连接。所有的节点与网关间均是双向通信，考虑到电池供电的场合，终端节点一般处于休眠状态，当有数据要发送时唤醒终端节点，然后进行数据发送</a:t>
            </a:r>
            <a:r>
              <a:rPr lang="zh-CN" altLang="en-US" sz="2400" b="1" dirty="0">
                <a:latin typeface="Times New Roman" panose="02020603050405020304" charset="0"/>
                <a:ea typeface="宋体" panose="02010600030101010101" pitchFamily="2" charset="-122"/>
                <a:cs typeface="Times New Roman" panose="02020603050405020304" charset="0"/>
              </a:rPr>
              <a:t>。</a:t>
            </a:r>
            <a:r>
              <a:rPr lang="en-US" sz="2400" b="1" dirty="0" err="1">
                <a:latin typeface="Times New Roman" panose="02020603050405020304" charset="0"/>
                <a:ea typeface="宋体" panose="02010600030101010101" pitchFamily="2" charset="-122"/>
                <a:cs typeface="Times New Roman" panose="02020603050405020304" charset="0"/>
              </a:rPr>
              <a:t>因此，使用LORA技术，能够以低发射功率获得更远的传输距离</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6383020" y="5427980"/>
            <a:ext cx="5080000" cy="368300"/>
          </a:xfrm>
          <a:prstGeom prst="rect">
            <a:avLst/>
          </a:prstGeom>
          <a:noFill/>
          <a:ln w="9525">
            <a:noFill/>
          </a:ln>
        </p:spPr>
        <p:txBody>
          <a:bodyPr>
            <a:spAutoFit/>
          </a:bodyPr>
          <a:lstStyle/>
          <a:p>
            <a:pPr indent="228600" algn="ctr"/>
            <a:r>
              <a:rPr lang="zh-CN" b="0">
                <a:ea typeface="宋体" panose="02010600030101010101" pitchFamily="2" charset="-122"/>
              </a:rPr>
              <a:t>图</a:t>
            </a:r>
            <a:r>
              <a:rPr lang="en-US" b="0">
                <a:latin typeface="Times New Roman" panose="02020603050405020304" charset="0"/>
                <a:ea typeface="宋体" panose="02010600030101010101" pitchFamily="2" charset="-122"/>
              </a:rPr>
              <a:t>3-5-17  LoRaWAN</a:t>
            </a:r>
            <a:r>
              <a:rPr lang="zh-CN" altLang="en-US" b="0">
                <a:latin typeface="Times New Roman" panose="02020603050405020304" charset="0"/>
                <a:ea typeface="宋体" panose="02010600030101010101" pitchFamily="2" charset="-122"/>
              </a:rPr>
              <a:t>网络拓扑结构</a:t>
            </a:r>
            <a:endParaRPr lang="zh-CN" altLang="en-US" b="0">
              <a:latin typeface="Times New Roman" panose="02020603050405020304" charset="0"/>
              <a:ea typeface="宋体" panose="02010600030101010101" pitchFamily="2" charset="-122"/>
            </a:endParaRPr>
          </a:p>
        </p:txBody>
      </p:sp>
      <p:sp>
        <p:nvSpPr>
          <p:cNvPr id="9" name="标题 8"/>
          <p:cNvSpPr>
            <a:spLocks noGrp="1"/>
          </p:cNvSpPr>
          <p:nvPr>
            <p:ph type="title"/>
          </p:nvPr>
        </p:nvSpPr>
        <p:spPr>
          <a:xfrm>
            <a:off x="309245" y="0"/>
            <a:ext cx="11337925" cy="1325880"/>
          </a:xfrm>
        </p:spPr>
        <p:txBody>
          <a:bodyPr>
            <a:normAutofit/>
          </a:bodyPr>
          <a:p>
            <a:pPr>
              <a:buClrTx/>
              <a:buSzTx/>
            </a:pPr>
            <a:r>
              <a:rPr lang="en-US" sz="4400" b="1" u="sng" dirty="0" err="1">
                <a:solidFill>
                  <a:srgbClr val="0563C1"/>
                </a:solidFill>
                <a:uFillTx/>
                <a:latin typeface="Times New Roman" panose="02020603050405020304" charset="0"/>
                <a:ea typeface="宋体" panose="02010600030101010101" pitchFamily="2" charset="-122"/>
              </a:rPr>
              <a:t>3.5.6 LORA技术</a:t>
            </a:r>
            <a:endParaRPr lang="zh-CN" altLang="zh-CN" sz="2800" b="1" dirty="0">
              <a:solidFill>
                <a:srgbClr val="000000"/>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17805" y="1351915"/>
            <a:ext cx="11755755" cy="4523105"/>
          </a:xfrm>
          <a:prstGeom prst="rect">
            <a:avLst/>
          </a:prstGeom>
          <a:noFill/>
          <a:ln w="9525">
            <a:noFill/>
          </a:ln>
        </p:spPr>
        <p:txBody>
          <a:bodyPr wrap="square">
            <a:spAutoFit/>
          </a:bodyPr>
          <a:lstStyle/>
          <a:p>
            <a:pPr indent="266700" algn="l">
              <a:lnSpc>
                <a:spcPct val="100000"/>
              </a:lnSpc>
              <a:buClrTx/>
              <a:buSzTx/>
              <a:buFontTx/>
            </a:pPr>
            <a:r>
              <a:rPr lang="en-US" sz="2200" b="1" dirty="0">
                <a:ea typeface="宋体" panose="02010600030101010101" pitchFamily="2" charset="-122"/>
              </a:rPr>
              <a:t>    </a:t>
            </a:r>
            <a:r>
              <a:rPr lang="en-US" sz="2400" b="1" dirty="0">
                <a:latin typeface="Times New Roman" panose="02020603050405020304" charset="0"/>
                <a:ea typeface="宋体" panose="02010600030101010101" pitchFamily="2" charset="-122"/>
                <a:cs typeface="Times New Roman" panose="02020603050405020304" charset="0"/>
              </a:rPr>
              <a:t>4.LORA特性</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传输距离：城镇可达2~5km，郊区可达15km。</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工作频率：ISM频段包括433MHz、868MHz、915MHz等。</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标准：IEEE</a:t>
            </a:r>
            <a:r>
              <a:rPr lang="en-US" sz="2400" b="1" dirty="0">
                <a:latin typeface="Times New Roman" panose="02020603050405020304" charset="0"/>
                <a:ea typeface="宋体" panose="02010600030101010101" pitchFamily="2" charset="-122"/>
                <a:cs typeface="Times New Roman" panose="02020603050405020304" charset="0"/>
              </a:rPr>
              <a:t> 802.15.4g。</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调制方式：基于扩频技术，线性调制扩频（CSS）的一个变种，具有前向纠错（FEC）能力，Semtech</a:t>
            </a: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公司私有专利技术</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容量：一个LORA网关可以连接上千上万个LORA节点</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电池寿命：长达</a:t>
            </a:r>
            <a:r>
              <a:rPr lang="en-US" sz="2400" b="1" dirty="0">
                <a:latin typeface="Times New Roman" panose="02020603050405020304" charset="0"/>
                <a:ea typeface="宋体" panose="02010600030101010101" pitchFamily="2" charset="-122"/>
                <a:cs typeface="Times New Roman" panose="02020603050405020304" charset="0"/>
              </a:rPr>
              <a:t> 10 年。</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安全：AES128 </a:t>
            </a:r>
            <a:r>
              <a:rPr lang="en-US" sz="2400" b="1" dirty="0" err="1">
                <a:latin typeface="Times New Roman" panose="02020603050405020304" charset="0"/>
                <a:ea typeface="宋体" panose="02010600030101010101" pitchFamily="2" charset="-122"/>
                <a:cs typeface="Times New Roman" panose="02020603050405020304" charset="0"/>
              </a:rPr>
              <a:t>加密</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传输速率：几百到几十kb</a:t>
            </a:r>
            <a:r>
              <a:rPr lang="en-US" sz="2400" b="1" dirty="0">
                <a:latin typeface="Times New Roman" panose="02020603050405020304" charset="0"/>
                <a:ea typeface="宋体" panose="02010600030101010101" pitchFamily="2" charset="-122"/>
                <a:cs typeface="Times New Roman" panose="02020603050405020304" charset="0"/>
              </a:rPr>
              <a:t>/</a:t>
            </a:r>
            <a:r>
              <a:rPr lang="en-US" sz="2400" b="1" dirty="0" err="1">
                <a:latin typeface="Times New Roman" panose="02020603050405020304" charset="0"/>
                <a:ea typeface="宋体" panose="02010600030101010101" pitchFamily="2" charset="-122"/>
                <a:cs typeface="Times New Roman" panose="02020603050405020304" charset="0"/>
              </a:rPr>
              <a:t>s，速率越低传输距离越长，这很像一个人挑东西，挑得多走不太远，挑得少可以走远一些</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lnSpc>
                <a:spcPct val="100000"/>
              </a:lnSpc>
              <a:buClrTx/>
              <a:buSzTx/>
              <a:buFontTx/>
            </a:pPr>
            <a:endParaRPr lang="en-US" sz="2400" b="1" dirty="0">
              <a:latin typeface="Times New Roman" panose="02020603050405020304" charset="0"/>
              <a:ea typeface="宋体" panose="02010600030101010101" pitchFamily="2" charset="-122"/>
              <a:cs typeface="Times New Roman" panose="02020603050405020304" charset="0"/>
            </a:endParaRPr>
          </a:p>
        </p:txBody>
      </p:sp>
      <p:sp>
        <p:nvSpPr>
          <p:cNvPr id="9" name="标题 8"/>
          <p:cNvSpPr>
            <a:spLocks noGrp="1"/>
          </p:cNvSpPr>
          <p:nvPr>
            <p:ph type="title"/>
          </p:nvPr>
        </p:nvSpPr>
        <p:spPr>
          <a:xfrm>
            <a:off x="309245" y="0"/>
            <a:ext cx="11337925" cy="1325880"/>
          </a:xfrm>
        </p:spPr>
        <p:txBody>
          <a:bodyPr>
            <a:normAutofit/>
          </a:bodyPr>
          <a:p>
            <a:pPr>
              <a:buClrTx/>
              <a:buSzTx/>
            </a:pPr>
            <a:r>
              <a:rPr lang="en-US" sz="4400" b="1" u="sng" dirty="0" err="1">
                <a:solidFill>
                  <a:srgbClr val="0563C1"/>
                </a:solidFill>
                <a:uFillTx/>
                <a:latin typeface="Times New Roman" panose="02020603050405020304" charset="0"/>
                <a:ea typeface="宋体" panose="02010600030101010101" pitchFamily="2" charset="-122"/>
              </a:rPr>
              <a:t>3.5.6 LORA技术</a:t>
            </a:r>
            <a:endParaRPr lang="zh-CN" altLang="zh-CN" sz="2800" b="1" dirty="0">
              <a:solidFill>
                <a:srgbClr val="000000"/>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9245" y="1325880"/>
            <a:ext cx="11755755" cy="4892675"/>
          </a:xfrm>
          <a:prstGeom prst="rect">
            <a:avLst/>
          </a:prstGeom>
          <a:noFill/>
          <a:ln w="9525">
            <a:noFill/>
          </a:ln>
        </p:spPr>
        <p:txBody>
          <a:bodyPr wrap="square">
            <a:spAutoFit/>
          </a:bodyPr>
          <a:lstStyle/>
          <a:p>
            <a:pPr indent="266700" algn="l">
              <a:buClrTx/>
              <a:buSzTx/>
              <a:buFontTx/>
            </a:pPr>
            <a:r>
              <a:rPr lang="en-US" sz="2200" dirty="0">
                <a:ea typeface="宋体" panose="02010600030101010101" pitchFamily="2" charset="-122"/>
              </a:rPr>
              <a:t>    </a:t>
            </a:r>
            <a:r>
              <a:rPr lang="en-US" sz="2400" b="1" dirty="0">
                <a:latin typeface="Times New Roman" panose="02020603050405020304" charset="0"/>
                <a:ea typeface="宋体" panose="02010600030101010101" pitchFamily="2" charset="-122"/>
                <a:cs typeface="Times New Roman" panose="02020603050405020304" charset="0"/>
              </a:rPr>
              <a:t>5.LORA关键参数</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buClrTx/>
              <a:buSzTx/>
              <a:buFontTx/>
            </a:pPr>
            <a:r>
              <a:rPr lang="en-US" sz="2400" b="1" dirty="0">
                <a:latin typeface="Times New Roman" panose="02020603050405020304" charset="0"/>
                <a:ea typeface="宋体" panose="02010600030101010101" pitchFamily="2" charset="-122"/>
                <a:cs typeface="Times New Roman" panose="02020603050405020304" charset="0"/>
              </a:rPr>
              <a:t>  （1）扩频因子（Spreading </a:t>
            </a:r>
            <a:r>
              <a:rPr lang="en-US" sz="2400" b="1" dirty="0" err="1">
                <a:latin typeface="Times New Roman" panose="02020603050405020304" charset="0"/>
                <a:ea typeface="宋体" panose="02010600030101010101" pitchFamily="2" charset="-122"/>
                <a:cs typeface="Times New Roman" panose="02020603050405020304" charset="0"/>
              </a:rPr>
              <a:t>Factor，SF</a:t>
            </a:r>
            <a:r>
              <a:rPr lang="en-US" sz="2400" b="1" dirty="0">
                <a:latin typeface="Times New Roman" panose="02020603050405020304" charset="0"/>
                <a:ea typeface="宋体" panose="02010600030101010101" pitchFamily="2" charset="-122"/>
                <a:cs typeface="Times New Roman" panose="02020603050405020304" charset="0"/>
              </a:rPr>
              <a:t>）。</a:t>
            </a:r>
            <a:r>
              <a:rPr lang="en-US" sz="2400" b="1" dirty="0" err="1">
                <a:latin typeface="Times New Roman" panose="02020603050405020304" charset="0"/>
                <a:ea typeface="宋体" panose="02010600030101010101" pitchFamily="2" charset="-122"/>
                <a:cs typeface="Times New Roman" panose="02020603050405020304" charset="0"/>
              </a:rPr>
              <a:t>LORA采用多个信息码片来代表有效负载信息的每个位，扩频信息的发送速度称为符号速率（Rs</a:t>
            </a:r>
            <a:r>
              <a:rPr lang="en-US" sz="2400" b="1" dirty="0">
                <a:latin typeface="Times New Roman" panose="02020603050405020304" charset="0"/>
                <a:ea typeface="宋体" panose="02010600030101010101" pitchFamily="2" charset="-122"/>
                <a:cs typeface="Times New Roman" panose="02020603050405020304" charset="0"/>
              </a:rPr>
              <a:t>），</a:t>
            </a:r>
            <a:r>
              <a:rPr lang="en-US" sz="2400" b="1" dirty="0" err="1">
                <a:latin typeface="Times New Roman" panose="02020603050405020304" charset="0"/>
                <a:ea typeface="宋体" panose="02010600030101010101" pitchFamily="2" charset="-122"/>
                <a:cs typeface="Times New Roman" panose="02020603050405020304" charset="0"/>
              </a:rPr>
              <a:t>而码片速率与标称的Rs比值即为扩频因子，表示了每个信息位发送的符号数量</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buClrTx/>
              <a:buSzTx/>
              <a:buFontTx/>
            </a:pPr>
            <a:r>
              <a:rPr lang="en-US" sz="2400" b="1" dirty="0">
                <a:latin typeface="Times New Roman" panose="02020603050405020304" charset="0"/>
                <a:ea typeface="宋体" panose="02010600030101010101" pitchFamily="2" charset="-122"/>
                <a:cs typeface="Times New Roman" panose="02020603050405020304" charset="0"/>
              </a:rPr>
              <a:t>  （2）编码率（Coding </a:t>
            </a:r>
            <a:r>
              <a:rPr lang="en-US" sz="2400" b="1" dirty="0" err="1">
                <a:latin typeface="Times New Roman" panose="02020603050405020304" charset="0"/>
                <a:ea typeface="宋体" panose="02010600030101010101" pitchFamily="2" charset="-122"/>
                <a:cs typeface="Times New Roman" panose="02020603050405020304" charset="0"/>
              </a:rPr>
              <a:t>Rate，CR</a:t>
            </a:r>
            <a:r>
              <a:rPr lang="en-US" sz="2400" b="1" dirty="0">
                <a:latin typeface="Times New Roman" panose="02020603050405020304" charset="0"/>
                <a:ea typeface="宋体" panose="02010600030101010101" pitchFamily="2" charset="-122"/>
                <a:cs typeface="Times New Roman" panose="02020603050405020304" charset="0"/>
              </a:rPr>
              <a:t>）。编码率（或信息率）是数据流中有用部分（非冗余）的比例。LORA采用循环纠错编码进行前向错误的检测与纠错。在存在干扰的情况下，前向纠错能有效提高链路的可靠性。由此，编码率（抗干扰性能）可以随着信道条件的变化而变化。</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buClrTx/>
              <a:buSzTx/>
              <a:buFontTx/>
            </a:pPr>
            <a:r>
              <a:rPr lang="en-US" sz="2400" b="1" dirty="0">
                <a:latin typeface="Times New Roman" panose="02020603050405020304" charset="0"/>
                <a:ea typeface="宋体" panose="02010600030101010101" pitchFamily="2" charset="-122"/>
                <a:cs typeface="Times New Roman" panose="02020603050405020304" charset="0"/>
              </a:rPr>
              <a:t>  （3）信号带宽（Bandwidth，BW）。信道带宽是限定允许通过该信道的信号下限频率和上限频率，可以理解为一个频率通带。例如一个信道允许的通带为1.5kHz~15kHz，则其带宽为13.5kHz。</a:t>
            </a:r>
            <a:endParaRPr lang="en-US" sz="2400" b="1" dirty="0">
              <a:latin typeface="Times New Roman" panose="02020603050405020304" charset="0"/>
              <a:ea typeface="宋体" panose="02010600030101010101" pitchFamily="2" charset="-122"/>
              <a:cs typeface="Times New Roman" panose="02020603050405020304" charset="0"/>
            </a:endParaRPr>
          </a:p>
          <a:p>
            <a:pPr indent="266700" algn="l">
              <a:buClrTx/>
              <a:buSzTx/>
              <a:buFontTx/>
            </a:pPr>
            <a:r>
              <a:rPr lang="en-US" sz="2400" b="1" dirty="0">
                <a:latin typeface="Times New Roman" panose="02020603050405020304" charset="0"/>
                <a:ea typeface="宋体" panose="02010600030101010101" pitchFamily="2" charset="-122"/>
                <a:cs typeface="Times New Roman" panose="02020603050405020304" charset="0"/>
              </a:rPr>
              <a:t>    </a:t>
            </a:r>
            <a:r>
              <a:rPr lang="en-US" sz="2400" b="1" dirty="0" err="1">
                <a:latin typeface="Times New Roman" panose="02020603050405020304" charset="0"/>
                <a:ea typeface="宋体" panose="02010600030101010101" pitchFamily="2" charset="-122"/>
                <a:cs typeface="Times New Roman" panose="02020603050405020304" charset="0"/>
              </a:rPr>
              <a:t>在LORA中，增加BW，可以提高有效数据速率以缩短传输时间，但是以牺牲部分接受灵敏度为代价</a:t>
            </a:r>
            <a:r>
              <a:rPr lang="en-US" sz="2400" b="1" dirty="0">
                <a:latin typeface="Times New Roman" panose="02020603050405020304" charset="0"/>
                <a:ea typeface="宋体" panose="02010600030101010101" pitchFamily="2" charset="-122"/>
                <a:cs typeface="Times New Roman" panose="02020603050405020304" charset="0"/>
              </a:rPr>
              <a:t>。</a:t>
            </a:r>
            <a:endParaRPr lang="en-US" sz="2400" b="1" dirty="0">
              <a:latin typeface="Times New Roman" panose="02020603050405020304" charset="0"/>
              <a:ea typeface="宋体" panose="02010600030101010101" pitchFamily="2" charset="-122"/>
              <a:cs typeface="Times New Roman" panose="02020603050405020304" charset="0"/>
            </a:endParaRPr>
          </a:p>
        </p:txBody>
      </p:sp>
      <p:sp>
        <p:nvSpPr>
          <p:cNvPr id="9" name="标题 8"/>
          <p:cNvSpPr>
            <a:spLocks noGrp="1"/>
          </p:cNvSpPr>
          <p:nvPr>
            <p:ph type="title"/>
          </p:nvPr>
        </p:nvSpPr>
        <p:spPr>
          <a:xfrm>
            <a:off x="309245" y="0"/>
            <a:ext cx="11337925" cy="1325880"/>
          </a:xfrm>
        </p:spPr>
        <p:txBody>
          <a:bodyPr>
            <a:normAutofit/>
          </a:bodyPr>
          <a:p>
            <a:pPr>
              <a:buClrTx/>
              <a:buSzTx/>
            </a:pPr>
            <a:r>
              <a:rPr lang="en-US" sz="4400" b="1" u="sng" dirty="0" err="1">
                <a:solidFill>
                  <a:srgbClr val="0563C1"/>
                </a:solidFill>
                <a:uFillTx/>
                <a:latin typeface="Times New Roman" panose="02020603050405020304" charset="0"/>
                <a:ea typeface="宋体" panose="02010600030101010101" pitchFamily="2" charset="-122"/>
              </a:rPr>
              <a:t>3.5.6 LORA技术</a:t>
            </a:r>
            <a:endParaRPr lang="zh-CN" altLang="zh-CN" sz="2800" b="1" dirty="0">
              <a:solidFill>
                <a:srgbClr val="000000"/>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2686050" y="121285"/>
            <a:ext cx="7310755" cy="1325880"/>
          </a:xfrm>
        </p:spPr>
        <p:txBody>
          <a:bodyPr/>
          <a:lstStyle/>
          <a:p>
            <a:r>
              <a:rPr lang="en-US" b="1" u="sng" dirty="0" err="1">
                <a:solidFill>
                  <a:srgbClr val="0563C1"/>
                </a:solidFill>
                <a:uFillTx/>
                <a:latin typeface="Times New Roman" panose="02020603050405020304" charset="0"/>
                <a:ea typeface="宋体" panose="02010600030101010101" pitchFamily="2" charset="-122"/>
                <a:sym typeface="+mn-ea"/>
              </a:rPr>
              <a:t>习题3</a:t>
            </a:r>
            <a:endParaRPr lang="en-US" b="1" u="sng" dirty="0" err="1">
              <a:solidFill>
                <a:srgbClr val="0563C1"/>
              </a:solidFill>
              <a:uFillTx/>
              <a:latin typeface="Times New Roman" panose="02020603050405020304" charset="0"/>
              <a:ea typeface="宋体" panose="02010600030101010101" pitchFamily="2" charset="-122"/>
              <a:sym typeface="+mn-ea"/>
            </a:endParaRPr>
          </a:p>
        </p:txBody>
      </p:sp>
      <p:sp>
        <p:nvSpPr>
          <p:cNvPr id="5" name="文本框 4"/>
          <p:cNvSpPr txBox="1"/>
          <p:nvPr/>
        </p:nvSpPr>
        <p:spPr>
          <a:xfrm>
            <a:off x="1842770" y="1318895"/>
            <a:ext cx="8506460" cy="4523105"/>
          </a:xfrm>
          <a:prstGeom prst="rect">
            <a:avLst/>
          </a:prstGeom>
          <a:noFill/>
        </p:spPr>
        <p:txBody>
          <a:bodyPr wrap="square">
            <a:spAutoFit/>
          </a:bodyPr>
          <a:lstStyle/>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简述物理层的特性。</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物理层设计需要考虑哪几个方面？</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无线信道的传播模型有哪些？</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简述信号调制和解调的含义，说明数字调制的方式有哪些。</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简述天线的作用，以及发送和接收的过程。</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分析</a:t>
            </a:r>
            <a:r>
              <a:rPr lang="en-US" altLang="zh-CN" sz="2400" b="1" dirty="0">
                <a:latin typeface="Times New Roman" panose="02020603050405020304" charset="0"/>
                <a:ea typeface="宋体" panose="02010600030101010101" pitchFamily="2" charset="-122"/>
                <a:cs typeface="Times New Roman" panose="02020603050405020304" charset="0"/>
              </a:rPr>
              <a:t>Wi-Fi</a:t>
            </a:r>
            <a:r>
              <a:rPr lang="zh-CN" altLang="zh-CN" sz="2400" b="1" dirty="0">
                <a:latin typeface="Times New Roman" panose="02020603050405020304" charset="0"/>
                <a:ea typeface="宋体" panose="02010600030101010101" pitchFamily="2" charset="-122"/>
                <a:cs typeface="Times New Roman" panose="02020603050405020304" charset="0"/>
              </a:rPr>
              <a:t>模块的技术特点、模块分类和工作方式。</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分析</a:t>
            </a:r>
            <a:r>
              <a:rPr lang="en-US" altLang="zh-CN" sz="2400" b="1" dirty="0">
                <a:latin typeface="Times New Roman" panose="02020603050405020304" charset="0"/>
                <a:ea typeface="宋体" panose="02010600030101010101" pitchFamily="2" charset="-122"/>
                <a:cs typeface="Times New Roman" panose="02020603050405020304" charset="0"/>
              </a:rPr>
              <a:t>ZigBee</a:t>
            </a:r>
            <a:r>
              <a:rPr lang="zh-CN" altLang="zh-CN" sz="2400" b="1" dirty="0">
                <a:latin typeface="Times New Roman" panose="02020603050405020304" charset="0"/>
                <a:ea typeface="宋体" panose="02010600030101010101" pitchFamily="2" charset="-122"/>
                <a:cs typeface="Times New Roman" panose="02020603050405020304" charset="0"/>
              </a:rPr>
              <a:t>网络中的设备类型及功能。</a:t>
            </a:r>
            <a:endParaRPr lang="zh-CN" altLang="zh-CN" sz="2400" b="1" dirty="0">
              <a:latin typeface="Times New Roman" panose="02020603050405020304" charset="0"/>
              <a:ea typeface="宋体" panose="02010600030101010101" pitchFamily="2" charset="-122"/>
              <a:cs typeface="Times New Roman" panose="02020603050405020304" charset="0"/>
            </a:endParaRPr>
          </a:p>
          <a:p>
            <a:pPr lvl="0" indent="266700">
              <a:lnSpc>
                <a:spcPct val="150000"/>
              </a:lnSpc>
              <a:buFontTx/>
              <a:buAutoNum type="arabicPeriod"/>
            </a:pPr>
            <a:r>
              <a:rPr lang="zh-CN" altLang="zh-CN" sz="2400" b="1" dirty="0">
                <a:latin typeface="Times New Roman" panose="02020603050405020304" charset="0"/>
                <a:ea typeface="宋体" panose="02010600030101010101" pitchFamily="2" charset="-122"/>
                <a:cs typeface="Times New Roman" panose="02020603050405020304" charset="0"/>
              </a:rPr>
              <a:t>阐述不同短距离通信技术的特点和应用领域。</a:t>
            </a:r>
            <a:endParaRPr lang="zh-CN" altLang="zh-CN" sz="2400" b="1"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p:cNvSpPr>
            <a:spLocks noGrp="1"/>
          </p:cNvSpPr>
          <p:nvPr>
            <p:custDataLst>
              <p:tags r:id="rId1"/>
            </p:custDataLst>
          </p:nvPr>
        </p:nvSpPr>
        <p:spPr>
          <a:xfrm>
            <a:off x="2921000" y="2829121"/>
            <a:ext cx="6350000" cy="1200150"/>
          </a:xfrm>
          <a:prstGeom prst="rect">
            <a:avLst/>
          </a:prstGeom>
        </p:spPr>
        <p:txBody>
          <a:bodyPr vert="horz" wrap="square" lIns="0" tIns="0" rIns="0" bIns="0" rtlCol="0" anchor="b" anchorCtr="0">
            <a:noAutofit/>
          </a:bodyPr>
          <a:lstStyle>
            <a:lvl1pPr marL="0" marR="0" algn="ctr" defTabSz="914400" rtl="0" eaLnBrk="1" fontAlgn="auto" latinLnBrk="0" hangingPunct="1">
              <a:lnSpc>
                <a:spcPct val="100000"/>
              </a:lnSpc>
              <a:spcBef>
                <a:spcPct val="0"/>
              </a:spcBef>
              <a:buClrTx/>
              <a:buSzTx/>
              <a:buFontTx/>
              <a:buNone/>
              <a:defRPr kumimoji="0" lang="zh-CN" altLang="en-US" sz="7000" b="1" i="0" u="none" strike="noStrike" kern="1200" cap="none" spc="1000" normalizeH="0" baseline="0" noProof="1" dirty="0">
                <a:solidFill>
                  <a:srgbClr val="000000">
                    <a:lumMod val="85000"/>
                    <a:lumOff val="15000"/>
                  </a:srgbClr>
                </a:solidFill>
                <a:uFillTx/>
                <a:latin typeface="Arial" panose="020B0604020202020204" pitchFamily="34" charset="0"/>
                <a:ea typeface="汉仪旗黑-85S" panose="00020600040101010101" pitchFamily="18" charset="-122"/>
                <a:cs typeface="+mn-ea"/>
              </a:defRPr>
            </a:lvl1pPr>
          </a:lstStyle>
          <a:p>
            <a:r>
              <a:rPr lang="zh-CN" altLang="en-US" sz="8000">
                <a:solidFill>
                  <a:srgbClr val="000000">
                    <a:lumMod val="85000"/>
                    <a:lumOff val="15000"/>
                  </a:srgbClr>
                </a:solidFill>
                <a:latin typeface="等线" panose="02010600030101010101" charset="-122"/>
                <a:ea typeface="等线" panose="02010600030101010101" charset="-122"/>
              </a:rPr>
              <a:t>THANKS</a:t>
            </a:r>
            <a:endParaRPr lang="zh-CN" altLang="en-US" sz="8000">
              <a:solidFill>
                <a:srgbClr val="000000">
                  <a:lumMod val="85000"/>
                  <a:lumOff val="15000"/>
                </a:srgbClr>
              </a:solidFill>
              <a:latin typeface="等线" panose="02010600030101010101" charset="-122"/>
              <a:ea typeface="等线" panose="02010600030101010101" charset="-122"/>
            </a:endParaRPr>
          </a:p>
        </p:txBody>
      </p:sp>
    </p:spTree>
  </p:cSld>
  <p:clrMapOvr>
    <a:masterClrMapping/>
  </p:clrMapOvr>
</p:sld>
</file>

<file path=ppt/tags/tag1.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TABLE_BEAUTIFY" val="smartTable{adc41fb6-5e17-43ab-83d8-b4dea2fc05d1}"/>
  <p:tag name="TABLE_ENDDRAG_ORIGIN_RECT" val="635*355"/>
  <p:tag name="TABLE_ENDDRAG_RECT" val="181*180*635*355"/>
</p:tagLst>
</file>

<file path=ppt/tags/tag3.xml><?xml version="1.0" encoding="utf-8"?>
<p:tagLst xmlns:p="http://schemas.openxmlformats.org/presentationml/2006/main">
  <p:tag name="KSO_WM_UNIT_TABLE_BEAUTIFY" val="smartTable{1c4a4671-3ffb-4b87-b5e2-0445ae284660}"/>
  <p:tag name="TABLE_ENDDRAG_ORIGIN_RECT" val="407*189"/>
  <p:tag name="TABLE_ENDDRAG_RECT" val="23*343*407*189"/>
</p:tagLst>
</file>

<file path=ppt/tags/tag4.xml><?xml version="1.0" encoding="utf-8"?>
<p:tagLst xmlns:p="http://schemas.openxmlformats.org/presentationml/2006/main">
  <p:tag name="KSO_WM_UNIT_TABLE_BEAUTIFY" val="smartTable{7836569c-a9b4-4203-a34a-88d05a719afc}"/>
  <p:tag name="TABLE_ENDDRAG_ORIGIN_RECT" val="883*474"/>
  <p:tag name="TABLE_ENDDRAG_RECT" val="36*59*883*474"/>
</p:tagLst>
</file>

<file path=ppt/tags/tag5.xml><?xml version="1.0" encoding="utf-8"?>
<p:tagLst xmlns:p="http://schemas.openxmlformats.org/presentationml/2006/main">
  <p:tag name="KSO_WM_UNIT_TABLE_BEAUTIFY" val="smartTable{42a08a60-1ac6-45c1-be57-1e0b545ff428}"/>
</p:tagLst>
</file>

<file path=ppt/tags/tag6.xml><?xml version="1.0" encoding="utf-8"?>
<p:tagLst xmlns:p="http://schemas.openxmlformats.org/presentationml/2006/main">
  <p:tag name="KSO_WM_UNIT_TABLE_BEAUTIFY" val="smartTable{d76d726b-7e01-4fb8-ad90-c07640928b3b}"/>
</p:tagLst>
</file>

<file path=ppt/tags/tag7.xml><?xml version="1.0" encoding="utf-8"?>
<p:tagLst xmlns:p="http://schemas.openxmlformats.org/presentationml/2006/main">
  <p:tag name="KSO_WM_UNIT_TABLE_BEAUTIFY" val="smartTable{15f693d1-258f-4103-9991-75dd30318a2f}"/>
  <p:tag name="TABLE_ENDDRAG_ORIGIN_RECT" val="864*282"/>
  <p:tag name="TABLE_ENDDRAG_RECT" val="21*321*864*282"/>
</p:tagLst>
</file>

<file path=ppt/tags/tag8.xml><?xml version="1.0" encoding="utf-8"?>
<p:tagLst xmlns:p="http://schemas.openxmlformats.org/presentationml/2006/main">
  <p:tag name="KSO_WM_UNIT_ISCONTENTSTITLE" val="0"/>
  <p:tag name="KSO_WM_UNIT_ISNUMDGMTITLE" val="0"/>
  <p:tag name="KSO_WM_UNIT_NOCLEAR" val="1"/>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193369_54*a*1"/>
  <p:tag name="KSO_WM_TEMPLATE_CATEGORY" val="custom"/>
  <p:tag name="KSO_WM_TEMPLATE_INDEX" val="20193369"/>
  <p:tag name="KSO_WM_UNIT_LAYERLEVEL" val="1"/>
  <p:tag name="KSO_WM_TAG_VERSION" val="1.0"/>
  <p:tag name="KSO_WM_BEAUTIFY_FLAG" val="#wm#"/>
  <p:tag name="KSO_WM_UNIT_PRESET_TEXT" val="THANKS"/>
  <p:tag name="KSO_WM_UNIT_DEFAULT_FONT" val="24;80;4"/>
  <p:tag name="KSO_WM_UNIT_BLOCK" val="0"/>
  <p:tag name="KSO_WM_UNIT_DEC_AREA_ID" val="29d931bbccae4e79a9c5d395ee684df6"/>
  <p:tag name="KSO_WM_CHIP_GROUPID" val="5ebdf5a90ac41c4a0a525507"/>
  <p:tag name="KSO_WM_CHIP_XID" val="5ebdf5a90ac41c4a0a525508"/>
  <p:tag name="KSO_WM_CHIP_FILLAREA_FILL_RULE" val="{&quot;fill_align&quot;:&quot;cm&quot;,&quot;fill_mode&quot;:&quot;adaptive&quot;,&quot;sacle_strategy&quot;:&quot;smart&quot;}"/>
  <p:tag name="KSO_WM_ASSEMBLE_CHIP_INDEX" val="c35d8afa0f0641e58b128f4a92c6b79a"/>
  <p:tag name="KSO_WM_UNIT_TEXT_FILL_FORE_SCHEMECOLOR_INDEX_BRIGHTNESS" val="0.15"/>
  <p:tag name="KSO_WM_UNIT_TEXT_FILL_FORE_SCHEMECOLOR_INDEX" val="13"/>
  <p:tag name="KSO_WM_UNIT_TEXT_FILL_TYPE" val="1"/>
</p:tagLst>
</file>

<file path=ppt/tags/tag9.xml><?xml version="1.0" encoding="utf-8"?>
<p:tagLst xmlns:p="http://schemas.openxmlformats.org/presentationml/2006/main">
  <p:tag name="KSO_WPP_MARK_KEY" val="2cdf8db2-2593-412e-a0d4-977ecbddd5df"/>
  <p:tag name="COMMONDATA" val="eyJoZGlkIjoiYmNlYWRiMTM4YmE0MDkyMzUwZTUwNGQyMmZmMjVh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40656</Words>
  <Application>WPS 演示</Application>
  <PresentationFormat>宽屏</PresentationFormat>
  <Paragraphs>1545</Paragraphs>
  <Slides>117</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87</vt:i4>
      </vt:variant>
      <vt:variant>
        <vt:lpstr>幻灯片标题</vt:lpstr>
      </vt:variant>
      <vt:variant>
        <vt:i4>117</vt:i4>
      </vt:variant>
    </vt:vector>
  </HeadingPairs>
  <TitlesOfParts>
    <vt:vector size="219" baseType="lpstr">
      <vt:lpstr>Arial</vt:lpstr>
      <vt:lpstr>宋体</vt:lpstr>
      <vt:lpstr>Wingdings</vt:lpstr>
      <vt:lpstr>汉仪中宋简</vt:lpstr>
      <vt:lpstr>黑体</vt:lpstr>
      <vt:lpstr>等线</vt:lpstr>
      <vt:lpstr>楷体</vt:lpstr>
      <vt:lpstr>微软雅黑</vt:lpstr>
      <vt:lpstr>Times New Roman</vt:lpstr>
      <vt:lpstr>Times New Roman</vt:lpstr>
      <vt:lpstr>Arial Unicode MS</vt:lpstr>
      <vt:lpstr>等线 Light</vt:lpstr>
      <vt:lpstr>Calibri</vt:lpstr>
      <vt:lpstr>汉仪旗黑-85S</vt:lpstr>
      <vt:lpstr>Office 主题​​</vt:lpstr>
      <vt:lpstr>Equation.DSMT4</vt:lpstr>
      <vt:lpstr>Equation.DSMT4</vt:lpstr>
      <vt:lpstr>Equation.DSMT4</vt:lpstr>
      <vt:lpstr>Equation.DSMT4</vt:lpstr>
      <vt:lpstr>Equation.DSMT4</vt:lpstr>
      <vt:lpstr>Equation.DSMT4</vt:lpstr>
      <vt:lpstr>Visio.Drawing.15</vt:lpstr>
      <vt:lpstr>Visio.Drawing.15</vt:lpstr>
      <vt:lpstr>Visio.Drawing.15</vt:lpstr>
      <vt:lpstr>Equation.DSMT4</vt:lpstr>
      <vt:lpstr>Equation.DSMT4</vt:lpstr>
      <vt:lpstr>Visio.Drawing.15</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Visio.Drawing.15</vt:lpstr>
      <vt:lpstr>Visio.Drawing.15</vt:lpstr>
      <vt:lpstr>Equation.DSMT4</vt:lpstr>
      <vt:lpstr>Equation.DSMT4</vt:lpstr>
      <vt:lpstr>Equation.DSMT4</vt:lpstr>
      <vt:lpstr>Visio.Drawing.15</vt:lpstr>
      <vt:lpstr>Equation.DSMT4</vt:lpstr>
      <vt:lpstr>Visio.Drawing.15</vt:lpstr>
      <vt:lpstr>Visio.Drawing.15</vt:lpstr>
      <vt:lpstr>Equation.DSMT4</vt:lpstr>
      <vt:lpstr>Visio.Drawing.15</vt:lpstr>
      <vt:lpstr>Visio.Drawing.15</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Visio.Drawing.15</vt:lpstr>
      <vt:lpstr>Equation.DSMT4</vt:lpstr>
      <vt:lpstr>Equation.DSMT4</vt:lpstr>
      <vt:lpstr>Equation.DSMT4</vt:lpstr>
      <vt:lpstr>Equation.DSMT4</vt:lpstr>
      <vt:lpstr>Visio.Drawing.15</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Visio.Drawing.15</vt:lpstr>
      <vt:lpstr>Equation.DSMT4</vt:lpstr>
      <vt:lpstr>Equation.DSMT4</vt:lpstr>
      <vt:lpstr>Equation.DSMT4</vt:lpstr>
      <vt:lpstr>Equation.DSMT4</vt:lpstr>
      <vt:lpstr>Visio.Drawing.15</vt:lpstr>
      <vt:lpstr>Visio.Drawing.15</vt:lpstr>
      <vt:lpstr>Visio.Drawing.15</vt:lpstr>
      <vt:lpstr>Visio.Drawing.15</vt:lpstr>
      <vt:lpstr>Visio.Drawing.15</vt:lpstr>
      <vt:lpstr>Equation.DSMT4</vt:lpstr>
      <vt:lpstr>无线传感器网络（微课视频版）</vt:lpstr>
      <vt:lpstr>第3章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无线电波与无线信道</vt:lpstr>
      <vt:lpstr>3.2  无线电波与无线信道</vt:lpstr>
      <vt:lpstr>3.2  无线电波与无线信道</vt:lpstr>
      <vt:lpstr>3.2  无线电波与无线信道</vt:lpstr>
      <vt:lpstr>3.2  无线电波与无线信道</vt:lpstr>
      <vt:lpstr>3.2.2  无线信道的传播模型</vt:lpstr>
      <vt:lpstr>PowerPoint 演示文稿</vt:lpstr>
      <vt:lpstr>PowerPoint 演示文稿</vt:lpstr>
      <vt:lpstr>PowerPoint 演示文稿</vt:lpstr>
      <vt:lpstr>3.2.2.2  多径信道</vt:lpstr>
      <vt:lpstr>3.2.2.2  多径信道</vt:lpstr>
      <vt:lpstr>3.2.2.3  加性噪声信道</vt:lpstr>
      <vt:lpstr>3.2.2.4  实际环境信道</vt:lpstr>
      <vt:lpstr>3.3  物理层主要技术</vt:lpstr>
      <vt:lpstr>3.3.1  信号调制与解调</vt:lpstr>
      <vt:lpstr>3.3.1.1  模拟调制</vt:lpstr>
      <vt:lpstr>3.3.1.1  模拟调制</vt:lpstr>
      <vt:lpstr>3.3.1.2  数字调制</vt:lpstr>
      <vt:lpstr>3.3.1.2  数字调制</vt:lpstr>
      <vt:lpstr>3.3.1.2  数字调制</vt:lpstr>
      <vt:lpstr>3.3.1.2  数字调制</vt:lpstr>
      <vt:lpstr>3.3.1.2  数字调制</vt:lpstr>
      <vt:lpstr>3.3.1.2  数字调制</vt:lpstr>
      <vt:lpstr>3.3.2  信道编码</vt:lpstr>
      <vt:lpstr>3.3.2  信道编码</vt:lpstr>
      <vt:lpstr>3.3.2  信道编码</vt:lpstr>
      <vt:lpstr>3.3.2.1  信道类型</vt:lpstr>
      <vt:lpstr>3.3.2.1  信道类型</vt:lpstr>
      <vt:lpstr>3.3.2.2  信道内的信息传输</vt:lpstr>
      <vt:lpstr>3.3.2.2  信道内的信息传输</vt:lpstr>
      <vt:lpstr>3.3.2.2  信道内的信息传输</vt:lpstr>
      <vt:lpstr>3.3.3  扩频通信</vt:lpstr>
      <vt:lpstr>3.3.3  扩频通信</vt:lpstr>
      <vt:lpstr>3.3.3  扩频通信</vt:lpstr>
      <vt:lpstr>3.4  天线</vt:lpstr>
      <vt:lpstr>3.4  天线</vt:lpstr>
      <vt:lpstr>3.4  天线</vt:lpstr>
      <vt:lpstr>PowerPoint 演示文稿</vt:lpstr>
      <vt:lpstr>3.4  天线</vt:lpstr>
      <vt:lpstr>3.5  短距离无线通信技术</vt:lpstr>
      <vt:lpstr>PowerPoint 演示文稿</vt:lpstr>
      <vt:lpstr>PowerPoint 演示文稿</vt:lpstr>
      <vt:lpstr>PowerPoint 演示文稿</vt:lpstr>
      <vt:lpstr>PowerPoint 演示文稿</vt:lpstr>
      <vt:lpstr>3.5.2  ZigBee技术</vt:lpstr>
      <vt:lpstr>3.5.2  ZigBee技术</vt:lpstr>
      <vt:lpstr>PowerPoint 演示文稿</vt:lpstr>
      <vt:lpstr>3.5.2.2  ZigBee的技术特点</vt:lpstr>
      <vt:lpstr>3.5.2.2  ZigBee的技术特点</vt:lpstr>
      <vt:lpstr>3.5.2.2  ZigBee的技术特点</vt:lpstr>
      <vt:lpstr>3.5.2.3  ZigBee的协议框架</vt:lpstr>
      <vt:lpstr>3.5.2.3  ZigBee的协议框架</vt:lpstr>
      <vt:lpstr> 3.5.2.4  ZigBee的组网方式</vt:lpstr>
      <vt:lpstr> 3.5.2.4  ZigBee的组网方式</vt:lpstr>
      <vt:lpstr> 3.5.2.4  ZigBee的组网方式</vt:lpstr>
      <vt:lpstr> 3.5.2.4  ZigBee的组网方式</vt:lpstr>
      <vt:lpstr> 3.5.2.4  ZigBee的组网方式</vt:lpstr>
      <vt:lpstr> 3.5.2.4  ZigBee的组网方式</vt:lpstr>
      <vt:lpstr> 3.5.2.4  ZigBee的组网方式</vt:lpstr>
      <vt:lpstr>3.5.2.5  模块参数</vt:lpstr>
      <vt:lpstr>PowerPoint 演示文稿</vt:lpstr>
      <vt:lpstr>3.5.3  Bluetooth技术</vt:lpstr>
      <vt:lpstr>PowerPoint 演示文稿</vt:lpstr>
      <vt:lpstr>PowerPoint 演示文稿</vt:lpstr>
      <vt:lpstr>3.5.3.2  Bluetooth 4.0技术</vt:lpstr>
      <vt:lpstr>PowerPoint 演示文稿</vt:lpstr>
      <vt:lpstr>3.5.3.2  Bluetooth 4.0技术</vt:lpstr>
      <vt:lpstr>3.5.3.2  Bluetooth 4.0技术</vt:lpstr>
      <vt:lpstr>3.5.3.2  Bluetooth 4.0技术</vt:lpstr>
      <vt:lpstr>3.5.3.2  Bluetooth 4.0技术</vt:lpstr>
      <vt:lpstr>3.5.3.2  Bluetooth 4.0技术</vt:lpstr>
      <vt:lpstr>3.5.3.2  Bluetooth 4.0技术</vt:lpstr>
      <vt:lpstr>3.5.3.2  Bluetooth 4.0技术</vt:lpstr>
      <vt:lpstr>3.5.3.3  Bluetooth模块</vt:lpstr>
      <vt:lpstr>3.5.3.3  Bluetooth模块</vt:lpstr>
      <vt:lpstr>PowerPoint 演示文稿</vt:lpstr>
      <vt:lpstr> 3.5.4 Wi-Fi技术</vt:lpstr>
      <vt:lpstr>3.5.4.1  Wi-Fi的基本概况</vt:lpstr>
      <vt:lpstr> 3.5.4.2  技术特点 </vt:lpstr>
      <vt:lpstr>3.5.4.3  工作方式 </vt:lpstr>
      <vt:lpstr>3.5.4.3  工作方式 </vt:lpstr>
      <vt:lpstr>3.5.4.3  工作方式 </vt:lpstr>
      <vt:lpstr> 3.5.4.4  Wi-Fi协议</vt:lpstr>
      <vt:lpstr> 3.5.4.4  Wi-Fi协议</vt:lpstr>
      <vt:lpstr> 3.5.4.4  Wi-Fi协议</vt:lpstr>
      <vt:lpstr> 3.5.4.4  Wi-Fi协议</vt:lpstr>
      <vt:lpstr> 3.5.4.4  Wi-Fi协议</vt:lpstr>
      <vt:lpstr>   3.5.4.4  Wi-Fi协议</vt:lpstr>
      <vt:lpstr>  3.5.4.4  Wi-Fi协议</vt:lpstr>
      <vt:lpstr>  3.5.4.4  Wi-Fi协议</vt:lpstr>
      <vt:lpstr>   3.5.4.4  Wi-Fi协议</vt:lpstr>
      <vt:lpstr>  3.5.4.4  Wi-Fi协议</vt:lpstr>
      <vt:lpstr>  3.5.4.4  Wi-Fi协议</vt:lpstr>
      <vt:lpstr>3.5.5 红外通信技术</vt:lpstr>
      <vt:lpstr>3.5.5 红外通信技术</vt:lpstr>
      <vt:lpstr>3.5.5 红外通信技术</vt:lpstr>
      <vt:lpstr>3.5.5 红外通信技术</vt:lpstr>
      <vt:lpstr>3.5.6 LORA技术</vt:lpstr>
      <vt:lpstr>3.5.6 LORA技术</vt:lpstr>
      <vt:lpstr>3.5.6 LORA技术</vt:lpstr>
      <vt:lpstr>3.5.6 LORA技术</vt:lpstr>
      <vt:lpstr>习题3</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BN</cp:lastModifiedBy>
  <cp:revision>430</cp:revision>
  <dcterms:created xsi:type="dcterms:W3CDTF">2016-05-24T01:15:00Z</dcterms:created>
  <dcterms:modified xsi:type="dcterms:W3CDTF">2023-07-14T00:16:03Z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72B74D0A0C5644C5A7053CAAC45C88F7</vt:lpwstr>
  </property>
  <property fmtid="{D5CDD505-2E9C-101B-9397-08002B2CF9AE}" pid="3" name="KSOProductBuildVer">
    <vt:lpwstr>2052-11.1.0.14309</vt:lpwstr>
  </property>
</Properties>
</file>