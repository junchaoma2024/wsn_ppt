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525" r:id="rId3"/>
    <p:sldId id="285" r:id="rId4"/>
    <p:sldId id="450" r:id="rId5"/>
    <p:sldId id="454" r:id="rId6"/>
    <p:sldId id="468" r:id="rId7"/>
    <p:sldId id="469" r:id="rId8"/>
    <p:sldId id="330" r:id="rId9"/>
    <p:sldId id="331" r:id="rId10"/>
    <p:sldId id="332" r:id="rId11"/>
    <p:sldId id="369" r:id="rId12"/>
    <p:sldId id="367" r:id="rId13"/>
    <p:sldId id="334" r:id="rId14"/>
    <p:sldId id="335" r:id="rId15"/>
    <p:sldId id="329" r:id="rId16"/>
    <p:sldId id="370" r:id="rId17"/>
    <p:sldId id="336" r:id="rId18"/>
    <p:sldId id="337" r:id="rId19"/>
    <p:sldId id="338" r:id="rId20"/>
    <p:sldId id="339" r:id="rId21"/>
    <p:sldId id="384" r:id="rId22"/>
    <p:sldId id="383" r:id="rId23"/>
    <p:sldId id="340" r:id="rId24"/>
    <p:sldId id="351" r:id="rId25"/>
    <p:sldId id="371" r:id="rId26"/>
    <p:sldId id="341" r:id="rId28"/>
    <p:sldId id="344" r:id="rId29"/>
    <p:sldId id="372" r:id="rId30"/>
    <p:sldId id="385" r:id="rId31"/>
    <p:sldId id="386" r:id="rId32"/>
    <p:sldId id="345" r:id="rId33"/>
    <p:sldId id="346" r:id="rId34"/>
    <p:sldId id="347" r:id="rId35"/>
    <p:sldId id="397" r:id="rId36"/>
    <p:sldId id="348" r:id="rId37"/>
    <p:sldId id="398" r:id="rId38"/>
    <p:sldId id="399" r:id="rId39"/>
    <p:sldId id="400" r:id="rId40"/>
    <p:sldId id="349" r:id="rId41"/>
    <p:sldId id="373" r:id="rId42"/>
    <p:sldId id="350" r:id="rId43"/>
    <p:sldId id="388" r:id="rId44"/>
    <p:sldId id="389" r:id="rId45"/>
    <p:sldId id="352" r:id="rId46"/>
    <p:sldId id="353" r:id="rId47"/>
    <p:sldId id="374" r:id="rId48"/>
    <p:sldId id="355" r:id="rId49"/>
    <p:sldId id="375" r:id="rId50"/>
    <p:sldId id="376" r:id="rId51"/>
    <p:sldId id="378" r:id="rId52"/>
    <p:sldId id="354" r:id="rId53"/>
    <p:sldId id="390" r:id="rId54"/>
    <p:sldId id="391" r:id="rId55"/>
    <p:sldId id="357" r:id="rId56"/>
    <p:sldId id="395" r:id="rId57"/>
    <p:sldId id="396" r:id="rId58"/>
    <p:sldId id="359" r:id="rId59"/>
    <p:sldId id="360" r:id="rId60"/>
    <p:sldId id="361" r:id="rId61"/>
    <p:sldId id="362" r:id="rId62"/>
    <p:sldId id="363" r:id="rId63"/>
    <p:sldId id="320" r:id="rId64"/>
  </p:sldIdLst>
  <p:sldSz cx="12192000" cy="6858000"/>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41D5"/>
    <a:srgbClr val="1552D1"/>
    <a:srgbClr val="F2F2F2"/>
    <a:srgbClr val="E6E6E6"/>
    <a:srgbClr val="316AAB"/>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78" autoAdjust="0"/>
    <p:restoredTop sz="93773" autoAdjust="0"/>
  </p:normalViewPr>
  <p:slideViewPr>
    <p:cSldViewPr snapToGrid="0">
      <p:cViewPr>
        <p:scale>
          <a:sx n="75" d="100"/>
          <a:sy n="75" d="100"/>
        </p:scale>
        <p:origin x="368" y="432"/>
      </p:cViewPr>
      <p:guideLst/>
    </p:cSldViewPr>
  </p:slideViewPr>
  <p:outlineViewPr>
    <p:cViewPr>
      <p:scale>
        <a:sx n="33" d="100"/>
        <a:sy n="33" d="100"/>
      </p:scale>
      <p:origin x="0" y="-143148"/>
    </p:cViewPr>
  </p:outlineViewPr>
  <p:notesTextViewPr>
    <p:cViewPr>
      <p:scale>
        <a:sx n="1" d="1"/>
        <a:sy n="1" d="1"/>
      </p:scale>
      <p:origin x="0" y="0"/>
    </p:cViewPr>
  </p:notesTextViewPr>
  <p:sorterViewPr>
    <p:cViewPr>
      <p:scale>
        <a:sx n="50" d="100"/>
        <a:sy n="50" d="100"/>
      </p:scale>
      <p:origin x="0" y="-424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gs" Target="tags/tag6.xml"/><Relationship Id="rId68" Type="http://schemas.openxmlformats.org/officeDocument/2006/relationships/commentAuthors" Target="commentAuthors.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755B6-0C3E-4F0C-BF6C-16E867B5A9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2432D-7D6E-451E-9D5A-7906F4008F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276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494327F-AE7B-4EB6-BC2B-A34889B3211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汉仪中宋简" panose="02010600000101010101" charset="-122"/>
                <a:ea typeface="汉仪中宋简" panose="02010600000101010101"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7" name="弧形 6"/>
          <p:cNvSpPr/>
          <p:nvPr userDrawn="1"/>
        </p:nvSpPr>
        <p:spPr>
          <a:xfrm>
            <a:off x="-342900" y="4635500"/>
            <a:ext cx="12534900" cy="4762500"/>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 name="弧形 7"/>
          <p:cNvSpPr/>
          <p:nvPr userDrawn="1"/>
        </p:nvSpPr>
        <p:spPr>
          <a:xfrm>
            <a:off x="3556000" y="4279900"/>
            <a:ext cx="6261100" cy="5118100"/>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 name="弧形 8"/>
          <p:cNvSpPr/>
          <p:nvPr userDrawn="1"/>
        </p:nvSpPr>
        <p:spPr>
          <a:xfrm>
            <a:off x="-723900" y="4457700"/>
            <a:ext cx="7645400" cy="5118100"/>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 name="弧形 9"/>
          <p:cNvSpPr/>
          <p:nvPr userDrawn="1"/>
        </p:nvSpPr>
        <p:spPr>
          <a:xfrm>
            <a:off x="609600" y="4279900"/>
            <a:ext cx="7950200" cy="5118100"/>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 name="弧形 10"/>
          <p:cNvSpPr/>
          <p:nvPr userDrawn="1"/>
        </p:nvSpPr>
        <p:spPr>
          <a:xfrm rot="20669223">
            <a:off x="4802771" y="4781083"/>
            <a:ext cx="7645400" cy="4627022"/>
          </a:xfrm>
          <a:prstGeom prst="arc">
            <a:avLst>
              <a:gd name="adj1" fmla="val 11936525"/>
              <a:gd name="adj2" fmla="val 21351808"/>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 name="弧形 11"/>
          <p:cNvSpPr/>
          <p:nvPr userDrawn="1"/>
        </p:nvSpPr>
        <p:spPr>
          <a:xfrm>
            <a:off x="2863850" y="4781083"/>
            <a:ext cx="7645400" cy="4627022"/>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 name="弧形 12"/>
          <p:cNvSpPr/>
          <p:nvPr userDrawn="1"/>
        </p:nvSpPr>
        <p:spPr>
          <a:xfrm>
            <a:off x="1530350" y="5003800"/>
            <a:ext cx="7645400" cy="4394200"/>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 name="弧形 13"/>
          <p:cNvSpPr/>
          <p:nvPr userDrawn="1"/>
        </p:nvSpPr>
        <p:spPr>
          <a:xfrm>
            <a:off x="2329369" y="5435600"/>
            <a:ext cx="4357181" cy="4224048"/>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5" name="弧形 14"/>
          <p:cNvSpPr/>
          <p:nvPr userDrawn="1"/>
        </p:nvSpPr>
        <p:spPr>
          <a:xfrm rot="814006">
            <a:off x="-400500" y="4962915"/>
            <a:ext cx="5030602" cy="4224048"/>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6" name="直接连接符 15"/>
          <p:cNvCxnSpPr/>
          <p:nvPr userDrawn="1"/>
        </p:nvCxnSpPr>
        <p:spPr>
          <a:xfrm>
            <a:off x="1162050" y="5003800"/>
            <a:ext cx="857250" cy="1854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181100" y="5003800"/>
            <a:ext cx="2952750" cy="1397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299531" y="5003800"/>
            <a:ext cx="5290304" cy="1473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5603882" y="5010755"/>
            <a:ext cx="2009768" cy="139004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V="1">
            <a:off x="2600709" y="4524678"/>
            <a:ext cx="3909876" cy="195232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flipH="1">
            <a:off x="4107972" y="4493233"/>
            <a:ext cx="1074026" cy="19456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7444474" y="4577081"/>
            <a:ext cx="2060574" cy="196689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7961228" y="5200650"/>
            <a:ext cx="160047" cy="12001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341109" y="5435600"/>
            <a:ext cx="253476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同心圆 31"/>
          <p:cNvSpPr/>
          <p:nvPr userDrawn="1"/>
        </p:nvSpPr>
        <p:spPr>
          <a:xfrm>
            <a:off x="10472156" y="5328228"/>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3" name="同心圆 32"/>
          <p:cNvSpPr/>
          <p:nvPr userDrawn="1"/>
        </p:nvSpPr>
        <p:spPr>
          <a:xfrm>
            <a:off x="1074231" y="48450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5" name="同心圆 34"/>
          <p:cNvSpPr/>
          <p:nvPr userDrawn="1"/>
        </p:nvSpPr>
        <p:spPr>
          <a:xfrm>
            <a:off x="3551852" y="60769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9" name="同心圆 38"/>
          <p:cNvSpPr/>
          <p:nvPr userDrawn="1"/>
        </p:nvSpPr>
        <p:spPr>
          <a:xfrm>
            <a:off x="9427767" y="6494285"/>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40" name="椭圆 39"/>
          <p:cNvSpPr/>
          <p:nvPr userDrawn="1"/>
        </p:nvSpPr>
        <p:spPr>
          <a:xfrm>
            <a:off x="11301745" y="678685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3" name="椭圆 42"/>
          <p:cNvSpPr/>
          <p:nvPr userDrawn="1"/>
        </p:nvSpPr>
        <p:spPr>
          <a:xfrm>
            <a:off x="4015364" y="6306255"/>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4" name="椭圆 43"/>
          <p:cNvSpPr/>
          <p:nvPr userDrawn="1"/>
        </p:nvSpPr>
        <p:spPr>
          <a:xfrm>
            <a:off x="4536712" y="529806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5" name="椭圆 44"/>
          <p:cNvSpPr/>
          <p:nvPr userDrawn="1"/>
        </p:nvSpPr>
        <p:spPr>
          <a:xfrm>
            <a:off x="4987961" y="4474082"/>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7" name="椭圆 46"/>
          <p:cNvSpPr/>
          <p:nvPr userDrawn="1"/>
        </p:nvSpPr>
        <p:spPr>
          <a:xfrm>
            <a:off x="7311685" y="4457700"/>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8" name="椭圆 47"/>
          <p:cNvSpPr/>
          <p:nvPr userDrawn="1"/>
        </p:nvSpPr>
        <p:spPr>
          <a:xfrm>
            <a:off x="6396327" y="441007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9" name="椭圆 48"/>
          <p:cNvSpPr/>
          <p:nvPr userDrawn="1"/>
        </p:nvSpPr>
        <p:spPr>
          <a:xfrm>
            <a:off x="3085919" y="4381601"/>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0" name="椭圆 49"/>
          <p:cNvSpPr/>
          <p:nvPr userDrawn="1"/>
        </p:nvSpPr>
        <p:spPr>
          <a:xfrm>
            <a:off x="3315074" y="526209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1" name="椭圆 50"/>
          <p:cNvSpPr/>
          <p:nvPr userDrawn="1"/>
        </p:nvSpPr>
        <p:spPr>
          <a:xfrm>
            <a:off x="3813606" y="562987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2" name="椭圆 51"/>
          <p:cNvSpPr/>
          <p:nvPr userDrawn="1"/>
        </p:nvSpPr>
        <p:spPr>
          <a:xfrm>
            <a:off x="7977379" y="558976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4" name="椭圆 53"/>
          <p:cNvSpPr/>
          <p:nvPr userDrawn="1"/>
        </p:nvSpPr>
        <p:spPr>
          <a:xfrm>
            <a:off x="8437465" y="464920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5" name="椭圆 54"/>
          <p:cNvSpPr/>
          <p:nvPr userDrawn="1"/>
        </p:nvSpPr>
        <p:spPr>
          <a:xfrm>
            <a:off x="6327587" y="547747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6" name="椭圆 55"/>
          <p:cNvSpPr/>
          <p:nvPr userDrawn="1"/>
        </p:nvSpPr>
        <p:spPr>
          <a:xfrm>
            <a:off x="6347789" y="6527596"/>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7" name="椭圆 56"/>
          <p:cNvSpPr/>
          <p:nvPr userDrawn="1"/>
        </p:nvSpPr>
        <p:spPr>
          <a:xfrm>
            <a:off x="5419168" y="6226223"/>
            <a:ext cx="168832" cy="16006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8" name="椭圆 57"/>
          <p:cNvSpPr/>
          <p:nvPr userDrawn="1"/>
        </p:nvSpPr>
        <p:spPr>
          <a:xfrm>
            <a:off x="2159550" y="5854699"/>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9" name="椭圆 58"/>
          <p:cNvSpPr/>
          <p:nvPr userDrawn="1"/>
        </p:nvSpPr>
        <p:spPr>
          <a:xfrm>
            <a:off x="217198" y="6405724"/>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0" name="椭圆 59"/>
          <p:cNvSpPr/>
          <p:nvPr userDrawn="1"/>
        </p:nvSpPr>
        <p:spPr>
          <a:xfrm>
            <a:off x="4575037" y="463292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1" name="椭圆 60"/>
          <p:cNvSpPr/>
          <p:nvPr userDrawn="1"/>
        </p:nvSpPr>
        <p:spPr>
          <a:xfrm>
            <a:off x="10274506" y="633618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2" name="椭圆 61"/>
          <p:cNvSpPr/>
          <p:nvPr userDrawn="1"/>
        </p:nvSpPr>
        <p:spPr>
          <a:xfrm>
            <a:off x="10816535" y="5338590"/>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3" name="椭圆 62"/>
          <p:cNvSpPr/>
          <p:nvPr userDrawn="1"/>
        </p:nvSpPr>
        <p:spPr>
          <a:xfrm>
            <a:off x="9925121" y="459352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4" name="同心圆 63"/>
          <p:cNvSpPr/>
          <p:nvPr userDrawn="1"/>
        </p:nvSpPr>
        <p:spPr>
          <a:xfrm>
            <a:off x="11276519" y="4926907"/>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7" name="同心圆 66"/>
          <p:cNvSpPr/>
          <p:nvPr userDrawn="1"/>
        </p:nvSpPr>
        <p:spPr>
          <a:xfrm>
            <a:off x="7910497" y="6361402"/>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8" name="椭圆 67"/>
          <p:cNvSpPr/>
          <p:nvPr userDrawn="1"/>
        </p:nvSpPr>
        <p:spPr>
          <a:xfrm>
            <a:off x="602169" y="6228939"/>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9" name="椭圆 68"/>
          <p:cNvSpPr/>
          <p:nvPr userDrawn="1"/>
        </p:nvSpPr>
        <p:spPr>
          <a:xfrm>
            <a:off x="1704597" y="6283732"/>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71" name="直接连接符 70"/>
          <p:cNvCxnSpPr>
            <a:stCxn id="32" idx="5"/>
          </p:cNvCxnSpPr>
          <p:nvPr userDrawn="1"/>
        </p:nvCxnSpPr>
        <p:spPr>
          <a:xfrm>
            <a:off x="10664742" y="5524101"/>
            <a:ext cx="705788" cy="13338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椭圆 71"/>
          <p:cNvSpPr/>
          <p:nvPr userDrawn="1"/>
        </p:nvSpPr>
        <p:spPr>
          <a:xfrm>
            <a:off x="8434046" y="6735585"/>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3" name="椭圆 72"/>
          <p:cNvSpPr/>
          <p:nvPr userDrawn="1"/>
        </p:nvSpPr>
        <p:spPr>
          <a:xfrm>
            <a:off x="4978649" y="6690468"/>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4" name="椭圆 73"/>
          <p:cNvSpPr/>
          <p:nvPr userDrawn="1"/>
        </p:nvSpPr>
        <p:spPr>
          <a:xfrm>
            <a:off x="2845352" y="6703346"/>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5" name="椭圆 74"/>
          <p:cNvSpPr/>
          <p:nvPr userDrawn="1"/>
        </p:nvSpPr>
        <p:spPr>
          <a:xfrm>
            <a:off x="11025222" y="61874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6" name="椭圆 75"/>
          <p:cNvSpPr/>
          <p:nvPr userDrawn="1"/>
        </p:nvSpPr>
        <p:spPr>
          <a:xfrm>
            <a:off x="7905379" y="44751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9" name="椭圆 78"/>
          <p:cNvSpPr/>
          <p:nvPr userDrawn="1"/>
        </p:nvSpPr>
        <p:spPr>
          <a:xfrm>
            <a:off x="9484750" y="503703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0" name="椭圆 79"/>
          <p:cNvSpPr/>
          <p:nvPr userDrawn="1"/>
        </p:nvSpPr>
        <p:spPr>
          <a:xfrm>
            <a:off x="4375615" y="503849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1" name="椭圆 80"/>
          <p:cNvSpPr/>
          <p:nvPr userDrawn="1"/>
        </p:nvSpPr>
        <p:spPr>
          <a:xfrm>
            <a:off x="2563250" y="564129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2" name="椭圆 81"/>
          <p:cNvSpPr/>
          <p:nvPr userDrawn="1"/>
        </p:nvSpPr>
        <p:spPr>
          <a:xfrm>
            <a:off x="5702540" y="43578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3" name="椭圆 82"/>
          <p:cNvSpPr/>
          <p:nvPr userDrawn="1"/>
        </p:nvSpPr>
        <p:spPr>
          <a:xfrm>
            <a:off x="5872891" y="58948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4" name="椭圆 83"/>
          <p:cNvSpPr/>
          <p:nvPr userDrawn="1"/>
        </p:nvSpPr>
        <p:spPr>
          <a:xfrm>
            <a:off x="397635" y="5390515"/>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5" name="椭圆 84"/>
          <p:cNvSpPr/>
          <p:nvPr userDrawn="1"/>
        </p:nvSpPr>
        <p:spPr>
          <a:xfrm>
            <a:off x="9776753" y="6809767"/>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6" name="椭圆 85"/>
          <p:cNvSpPr/>
          <p:nvPr userDrawn="1"/>
        </p:nvSpPr>
        <p:spPr>
          <a:xfrm>
            <a:off x="1909653" y="457708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7" name="椭圆 86"/>
          <p:cNvSpPr/>
          <p:nvPr userDrawn="1"/>
        </p:nvSpPr>
        <p:spPr>
          <a:xfrm>
            <a:off x="4631427" y="4256446"/>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1" name="弧形 90"/>
          <p:cNvSpPr/>
          <p:nvPr userDrawn="1"/>
        </p:nvSpPr>
        <p:spPr>
          <a:xfrm>
            <a:off x="1181100" y="5057065"/>
            <a:ext cx="9694773" cy="4762500"/>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4" name="同心圆 33"/>
          <p:cNvSpPr/>
          <p:nvPr userDrawn="1"/>
        </p:nvSpPr>
        <p:spPr>
          <a:xfrm>
            <a:off x="2489001" y="4914799"/>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6" name="同心圆 35"/>
          <p:cNvSpPr/>
          <p:nvPr userDrawn="1"/>
        </p:nvSpPr>
        <p:spPr>
          <a:xfrm>
            <a:off x="5380034" y="4926907"/>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7" name="同心圆 36"/>
          <p:cNvSpPr/>
          <p:nvPr userDrawn="1"/>
        </p:nvSpPr>
        <p:spPr>
          <a:xfrm>
            <a:off x="6858718" y="5086350"/>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8" name="同心圆 37"/>
          <p:cNvSpPr/>
          <p:nvPr userDrawn="1"/>
        </p:nvSpPr>
        <p:spPr>
          <a:xfrm>
            <a:off x="8152574" y="5322584"/>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41" name="椭圆 40"/>
          <p:cNvSpPr/>
          <p:nvPr userDrawn="1"/>
        </p:nvSpPr>
        <p:spPr>
          <a:xfrm>
            <a:off x="1136130" y="527979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2" name="椭圆 41"/>
          <p:cNvSpPr/>
          <p:nvPr userDrawn="1"/>
        </p:nvSpPr>
        <p:spPr>
          <a:xfrm>
            <a:off x="2490748" y="636387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6" name="椭圆 45"/>
          <p:cNvSpPr/>
          <p:nvPr userDrawn="1"/>
        </p:nvSpPr>
        <p:spPr>
          <a:xfrm>
            <a:off x="7549031" y="6329396"/>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3" name="椭圆 52"/>
          <p:cNvSpPr/>
          <p:nvPr userDrawn="1"/>
        </p:nvSpPr>
        <p:spPr>
          <a:xfrm>
            <a:off x="9207696" y="5338297"/>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6" name="同心圆 65"/>
          <p:cNvSpPr/>
          <p:nvPr userDrawn="1"/>
        </p:nvSpPr>
        <p:spPr>
          <a:xfrm>
            <a:off x="8064687" y="5027531"/>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10" name="弧形 9"/>
          <p:cNvSpPr/>
          <p:nvPr userDrawn="1"/>
        </p:nvSpPr>
        <p:spPr>
          <a:xfrm rot="10800000">
            <a:off x="5553840" y="-1648521"/>
            <a:ext cx="4248702" cy="3366642"/>
          </a:xfrm>
          <a:prstGeom prst="arc">
            <a:avLst>
              <a:gd name="adj1" fmla="val 1159520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 name="弧形 11"/>
          <p:cNvSpPr/>
          <p:nvPr userDrawn="1"/>
        </p:nvSpPr>
        <p:spPr>
          <a:xfrm rot="10800000">
            <a:off x="7518757" y="-1765476"/>
            <a:ext cx="5188070" cy="3366642"/>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 name="弧形 13"/>
          <p:cNvSpPr/>
          <p:nvPr userDrawn="1"/>
        </p:nvSpPr>
        <p:spPr>
          <a:xfrm rot="10800000">
            <a:off x="6407028" y="-1648521"/>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6" name="弧形 15"/>
          <p:cNvSpPr/>
          <p:nvPr userDrawn="1"/>
        </p:nvSpPr>
        <p:spPr>
          <a:xfrm rot="9869223">
            <a:off x="3768429" y="-1655168"/>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8" name="弧形 17"/>
          <p:cNvSpPr/>
          <p:nvPr userDrawn="1"/>
        </p:nvSpPr>
        <p:spPr>
          <a:xfrm rot="10800000">
            <a:off x="5084156" y="-1655168"/>
            <a:ext cx="5188070" cy="3043615"/>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9" name="弧形 18"/>
          <p:cNvSpPr/>
          <p:nvPr userDrawn="1"/>
        </p:nvSpPr>
        <p:spPr>
          <a:xfrm rot="10800000">
            <a:off x="5989052" y="-1648521"/>
            <a:ext cx="5188070" cy="2890467"/>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 name="弧形 19"/>
          <p:cNvSpPr/>
          <p:nvPr userDrawn="1"/>
        </p:nvSpPr>
        <p:spPr>
          <a:xfrm rot="10800000">
            <a:off x="7678191" y="-1820631"/>
            <a:ext cx="2956727" cy="2778543"/>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2" name="弧形 21"/>
          <p:cNvSpPr/>
          <p:nvPr userDrawn="1"/>
        </p:nvSpPr>
        <p:spPr>
          <a:xfrm rot="11614006">
            <a:off x="9073670" y="-1509703"/>
            <a:ext cx="3413702" cy="2778543"/>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3" name="直接连接符 22"/>
          <p:cNvCxnSpPr/>
          <p:nvPr userDrawn="1"/>
        </p:nvCxnSpPr>
        <p:spPr>
          <a:xfrm rot="10800000">
            <a:off x="10845327" y="22269"/>
            <a:ext cx="581719" cy="121967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rot="10800000">
            <a:off x="9410420" y="323011"/>
            <a:ext cx="2003698" cy="91893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rot="10800000" flipV="1">
            <a:off x="8422408" y="272888"/>
            <a:ext cx="3589932" cy="969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rot="10800000">
            <a:off x="7049073" y="323011"/>
            <a:ext cx="1363803" cy="9143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rot="10800000" flipV="1">
            <a:off x="7797598" y="272888"/>
            <a:ext cx="2653192" cy="128422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0800000" flipH="1">
            <a:off x="8699161" y="297949"/>
            <a:ext cx="728820" cy="12798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rot="10800000">
            <a:off x="5765594" y="228830"/>
            <a:ext cx="1398279" cy="12938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a:off x="6704605" y="323011"/>
            <a:ext cx="108606" cy="7894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同心圆 34"/>
          <p:cNvSpPr/>
          <p:nvPr userDrawn="1"/>
        </p:nvSpPr>
        <p:spPr>
          <a:xfrm rot="10800000">
            <a:off x="4956218" y="877591"/>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6" name="同心圆 35"/>
          <p:cNvSpPr/>
          <p:nvPr userDrawn="1"/>
        </p:nvSpPr>
        <p:spPr>
          <a:xfrm rot="10800000">
            <a:off x="11305659" y="1187645"/>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7" name="同心圆 36"/>
          <p:cNvSpPr/>
          <p:nvPr userDrawn="1"/>
        </p:nvSpPr>
        <p:spPr>
          <a:xfrm rot="10800000">
            <a:off x="9624377" y="377312"/>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8" name="同心圆 37"/>
          <p:cNvSpPr/>
          <p:nvPr userDrawn="1"/>
        </p:nvSpPr>
        <p:spPr>
          <a:xfrm rot="10800000">
            <a:off x="5637057" y="102793"/>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9" name="椭圆 38"/>
          <p:cNvSpPr/>
          <p:nvPr userDrawn="1"/>
        </p:nvSpPr>
        <p:spPr>
          <a:xfrm rot="10800000">
            <a:off x="4435908" y="-3117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0" name="椭圆 39"/>
          <p:cNvSpPr/>
          <p:nvPr userDrawn="1"/>
        </p:nvSpPr>
        <p:spPr>
          <a:xfrm rot="10800000">
            <a:off x="9313420" y="2144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1" name="椭圆 40"/>
          <p:cNvSpPr/>
          <p:nvPr userDrawn="1"/>
        </p:nvSpPr>
        <p:spPr>
          <a:xfrm rot="10800000">
            <a:off x="8959640" y="877591"/>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2" name="椭圆 41"/>
          <p:cNvSpPr/>
          <p:nvPr userDrawn="1"/>
        </p:nvSpPr>
        <p:spPr>
          <a:xfrm rot="10800000">
            <a:off x="8653428" y="1419598"/>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3" name="椭圆 42"/>
          <p:cNvSpPr/>
          <p:nvPr userDrawn="1"/>
        </p:nvSpPr>
        <p:spPr>
          <a:xfrm rot="10800000">
            <a:off x="7076579" y="1430374"/>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4" name="椭圆 43"/>
          <p:cNvSpPr/>
          <p:nvPr userDrawn="1"/>
        </p:nvSpPr>
        <p:spPr>
          <a:xfrm rot="10800000">
            <a:off x="7697729" y="146169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5" name="椭圆 44"/>
          <p:cNvSpPr/>
          <p:nvPr userDrawn="1"/>
        </p:nvSpPr>
        <p:spPr>
          <a:xfrm rot="10800000">
            <a:off x="10011062" y="15509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6" name="椭圆 45"/>
          <p:cNvSpPr/>
          <p:nvPr userDrawn="1"/>
        </p:nvSpPr>
        <p:spPr>
          <a:xfrm rot="10800000">
            <a:off x="9855560" y="971792"/>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7" name="椭圆 46"/>
          <p:cNvSpPr/>
          <p:nvPr userDrawn="1"/>
        </p:nvSpPr>
        <p:spPr>
          <a:xfrm rot="10800000">
            <a:off x="9517262" y="72986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8" name="椭圆 47"/>
          <p:cNvSpPr/>
          <p:nvPr userDrawn="1"/>
        </p:nvSpPr>
        <p:spPr>
          <a:xfrm rot="10800000">
            <a:off x="6691780" y="756256"/>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9" name="椭圆 48"/>
          <p:cNvSpPr/>
          <p:nvPr userDrawn="1"/>
        </p:nvSpPr>
        <p:spPr>
          <a:xfrm rot="10800000">
            <a:off x="6379571" y="137494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0" name="椭圆 49"/>
          <p:cNvSpPr/>
          <p:nvPr userDrawn="1"/>
        </p:nvSpPr>
        <p:spPr>
          <a:xfrm rot="10800000">
            <a:off x="7811307" y="830117"/>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1" name="椭圆 50"/>
          <p:cNvSpPr/>
          <p:nvPr userDrawn="1"/>
        </p:nvSpPr>
        <p:spPr>
          <a:xfrm rot="10800000">
            <a:off x="7797598" y="13935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2" name="椭圆 51"/>
          <p:cNvSpPr/>
          <p:nvPr userDrawn="1"/>
        </p:nvSpPr>
        <p:spPr>
          <a:xfrm rot="10800000">
            <a:off x="8423653" y="332558"/>
            <a:ext cx="114567" cy="1052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3" name="椭圆 52"/>
          <p:cNvSpPr/>
          <p:nvPr userDrawn="1"/>
        </p:nvSpPr>
        <p:spPr>
          <a:xfrm rot="10800000">
            <a:off x="10639684" y="58198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4" name="椭圆 53"/>
          <p:cNvSpPr/>
          <p:nvPr userDrawn="1"/>
        </p:nvSpPr>
        <p:spPr>
          <a:xfrm rot="10800000">
            <a:off x="11957739" y="21952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5" name="椭圆 54"/>
          <p:cNvSpPr/>
          <p:nvPr userDrawn="1"/>
        </p:nvSpPr>
        <p:spPr>
          <a:xfrm rot="10800000">
            <a:off x="9000565" y="138565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6" name="椭圆 55"/>
          <p:cNvSpPr/>
          <p:nvPr userDrawn="1"/>
        </p:nvSpPr>
        <p:spPr>
          <a:xfrm rot="10800000">
            <a:off x="5132979" y="26526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7" name="椭圆 56"/>
          <p:cNvSpPr/>
          <p:nvPr userDrawn="1"/>
        </p:nvSpPr>
        <p:spPr>
          <a:xfrm rot="10800000">
            <a:off x="4765165" y="921476"/>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8" name="椭圆 57"/>
          <p:cNvSpPr/>
          <p:nvPr userDrawn="1"/>
        </p:nvSpPr>
        <p:spPr>
          <a:xfrm rot="10800000">
            <a:off x="5370067" y="14115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9" name="同心圆 58"/>
          <p:cNvSpPr/>
          <p:nvPr userDrawn="1"/>
        </p:nvSpPr>
        <p:spPr>
          <a:xfrm rot="10800000">
            <a:off x="4435908" y="1158008"/>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0" name="同心圆 59"/>
          <p:cNvSpPr/>
          <p:nvPr userDrawn="1"/>
        </p:nvSpPr>
        <p:spPr>
          <a:xfrm rot="10800000">
            <a:off x="6720047" y="214410"/>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1" name="椭圆 60"/>
          <p:cNvSpPr/>
          <p:nvPr userDrawn="1"/>
        </p:nvSpPr>
        <p:spPr>
          <a:xfrm rot="10800000">
            <a:off x="11685613" y="297949"/>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2" name="椭圆 61"/>
          <p:cNvSpPr/>
          <p:nvPr userDrawn="1"/>
        </p:nvSpPr>
        <p:spPr>
          <a:xfrm rot="10800000">
            <a:off x="10937520" y="261906"/>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63" name="直接连接符 62"/>
          <p:cNvCxnSpPr>
            <a:stCxn id="35" idx="5"/>
          </p:cNvCxnSpPr>
          <p:nvPr userDrawn="1"/>
        </p:nvCxnSpPr>
        <p:spPr>
          <a:xfrm rot="10800000">
            <a:off x="4499702" y="22269"/>
            <a:ext cx="478939" cy="8774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userDrawn="1"/>
        </p:nvSpPr>
        <p:spPr>
          <a:xfrm rot="10800000">
            <a:off x="6314959" y="-68000"/>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5" name="椭圆 64"/>
          <p:cNvSpPr/>
          <p:nvPr userDrawn="1"/>
        </p:nvSpPr>
        <p:spPr>
          <a:xfrm rot="10800000">
            <a:off x="8659747" y="-38322"/>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6" name="椭圆 65"/>
          <p:cNvSpPr/>
          <p:nvPr userDrawn="1"/>
        </p:nvSpPr>
        <p:spPr>
          <a:xfrm rot="10800000">
            <a:off x="10107375" y="-46793"/>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7" name="椭圆 66"/>
          <p:cNvSpPr/>
          <p:nvPr userDrawn="1"/>
        </p:nvSpPr>
        <p:spPr>
          <a:xfrm rot="10800000">
            <a:off x="4685166" y="41595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8" name="椭圆 67"/>
          <p:cNvSpPr/>
          <p:nvPr userDrawn="1"/>
        </p:nvSpPr>
        <p:spPr>
          <a:xfrm rot="10800000">
            <a:off x="6802251" y="1542332"/>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9" name="椭圆 68"/>
          <p:cNvSpPr/>
          <p:nvPr userDrawn="1"/>
        </p:nvSpPr>
        <p:spPr>
          <a:xfrm rot="10800000">
            <a:off x="5730510" y="117272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0" name="椭圆 69"/>
          <p:cNvSpPr/>
          <p:nvPr userDrawn="1"/>
        </p:nvSpPr>
        <p:spPr>
          <a:xfrm rot="10800000">
            <a:off x="9197503" y="117176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1" name="椭圆 70"/>
          <p:cNvSpPr/>
          <p:nvPr userDrawn="1"/>
        </p:nvSpPr>
        <p:spPr>
          <a:xfrm rot="10800000">
            <a:off x="10427351" y="775249"/>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2" name="椭圆 71"/>
          <p:cNvSpPr/>
          <p:nvPr userDrawn="1"/>
        </p:nvSpPr>
        <p:spPr>
          <a:xfrm rot="10800000">
            <a:off x="8297069" y="1619491"/>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3" name="椭圆 72"/>
          <p:cNvSpPr/>
          <p:nvPr userDrawn="1"/>
        </p:nvSpPr>
        <p:spPr>
          <a:xfrm rot="10800000">
            <a:off x="8181471" y="60842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4" name="椭圆 73"/>
          <p:cNvSpPr/>
          <p:nvPr userDrawn="1"/>
        </p:nvSpPr>
        <p:spPr>
          <a:xfrm rot="10800000">
            <a:off x="11896909" y="94020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5" name="椭圆 74"/>
          <p:cNvSpPr/>
          <p:nvPr userDrawn="1"/>
        </p:nvSpPr>
        <p:spPr>
          <a:xfrm rot="10800000">
            <a:off x="5532361" y="6635"/>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6" name="椭圆 75"/>
          <p:cNvSpPr/>
          <p:nvPr userDrawn="1"/>
        </p:nvSpPr>
        <p:spPr>
          <a:xfrm rot="10800000">
            <a:off x="10870874" y="147527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7" name="椭圆 76"/>
          <p:cNvSpPr/>
          <p:nvPr userDrawn="1"/>
        </p:nvSpPr>
        <p:spPr>
          <a:xfrm rot="10800000">
            <a:off x="9023913" y="168618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8" name="弧形 77"/>
          <p:cNvSpPr/>
          <p:nvPr userDrawn="1"/>
        </p:nvSpPr>
        <p:spPr>
          <a:xfrm rot="10800000">
            <a:off x="4835370" y="-1925823"/>
            <a:ext cx="6578748" cy="3132732"/>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9" name="同心圆 78"/>
          <p:cNvSpPr/>
          <p:nvPr userDrawn="1"/>
        </p:nvSpPr>
        <p:spPr>
          <a:xfrm rot="10800000">
            <a:off x="10345614" y="1141765"/>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0" name="同心圆 79"/>
          <p:cNvSpPr/>
          <p:nvPr userDrawn="1"/>
        </p:nvSpPr>
        <p:spPr>
          <a:xfrm rot="10800000">
            <a:off x="8383797" y="113380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1" name="同心圆 80"/>
          <p:cNvSpPr/>
          <p:nvPr userDrawn="1"/>
        </p:nvSpPr>
        <p:spPr>
          <a:xfrm rot="10800000">
            <a:off x="7380381" y="102892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2" name="同心圆 81"/>
          <p:cNvSpPr/>
          <p:nvPr userDrawn="1"/>
        </p:nvSpPr>
        <p:spPr>
          <a:xfrm rot="10800000">
            <a:off x="6502387" y="873527"/>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3" name="椭圆 82"/>
          <p:cNvSpPr/>
          <p:nvPr userDrawn="1"/>
        </p:nvSpPr>
        <p:spPr>
          <a:xfrm rot="10800000">
            <a:off x="11267231" y="889604"/>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4" name="椭圆 83"/>
          <p:cNvSpPr/>
          <p:nvPr userDrawn="1"/>
        </p:nvSpPr>
        <p:spPr>
          <a:xfrm rot="10800000">
            <a:off x="10348004" y="1765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5" name="椭圆 84"/>
          <p:cNvSpPr/>
          <p:nvPr userDrawn="1"/>
        </p:nvSpPr>
        <p:spPr>
          <a:xfrm rot="10800000">
            <a:off x="6915519" y="19918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6" name="椭圆 85"/>
          <p:cNvSpPr/>
          <p:nvPr userDrawn="1"/>
        </p:nvSpPr>
        <p:spPr>
          <a:xfrm rot="10800000">
            <a:off x="5856902" y="921669"/>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7" name="同心圆 86"/>
          <p:cNvSpPr/>
          <p:nvPr userDrawn="1"/>
        </p:nvSpPr>
        <p:spPr>
          <a:xfrm rot="10800000">
            <a:off x="6589896" y="1075387"/>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8" name="弧形 87"/>
          <p:cNvSpPr/>
          <p:nvPr userDrawn="1"/>
        </p:nvSpPr>
        <p:spPr>
          <a:xfrm rot="10800000">
            <a:off x="3008051" y="-1685964"/>
            <a:ext cx="8506022" cy="3132732"/>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9" name="弧形 88"/>
          <p:cNvSpPr/>
          <p:nvPr userDrawn="1"/>
        </p:nvSpPr>
        <p:spPr>
          <a:xfrm rot="10800000">
            <a:off x="1997806" y="-1704415"/>
            <a:ext cx="8506022" cy="3495228"/>
          </a:xfrm>
          <a:prstGeom prst="arc">
            <a:avLst>
              <a:gd name="adj1" fmla="val 11204256"/>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0" name="弧形 89"/>
          <p:cNvSpPr/>
          <p:nvPr userDrawn="1"/>
        </p:nvSpPr>
        <p:spPr>
          <a:xfrm rot="9869223">
            <a:off x="453150" y="-1642239"/>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1" name="弧形 90"/>
          <p:cNvSpPr/>
          <p:nvPr userDrawn="1"/>
        </p:nvSpPr>
        <p:spPr>
          <a:xfrm rot="10800000">
            <a:off x="196057" y="-1705670"/>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2" name="弧形 91"/>
          <p:cNvSpPr/>
          <p:nvPr userDrawn="1"/>
        </p:nvSpPr>
        <p:spPr>
          <a:xfrm rot="10800000">
            <a:off x="1267293" y="-1648522"/>
            <a:ext cx="4927086" cy="3327946"/>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3" name="弧形 92"/>
          <p:cNvSpPr/>
          <p:nvPr userDrawn="1"/>
        </p:nvSpPr>
        <p:spPr>
          <a:xfrm rot="10800000">
            <a:off x="1617080" y="-1668393"/>
            <a:ext cx="7297959" cy="3090723"/>
          </a:xfrm>
          <a:prstGeom prst="arc">
            <a:avLst>
              <a:gd name="adj1" fmla="val 11165493"/>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4" name="弧形 93"/>
          <p:cNvSpPr/>
          <p:nvPr userDrawn="1"/>
        </p:nvSpPr>
        <p:spPr>
          <a:xfrm rot="10800000">
            <a:off x="606835" y="-1686844"/>
            <a:ext cx="7297959" cy="3448358"/>
          </a:xfrm>
          <a:prstGeom prst="arc">
            <a:avLst>
              <a:gd name="adj1" fmla="val 10981041"/>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5" name="弧形 94"/>
          <p:cNvSpPr/>
          <p:nvPr userDrawn="1"/>
        </p:nvSpPr>
        <p:spPr>
          <a:xfrm rot="10800000">
            <a:off x="2711185" y="-1626823"/>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96" name="直接连接符 95"/>
          <p:cNvCxnSpPr/>
          <p:nvPr userDrawn="1"/>
        </p:nvCxnSpPr>
        <p:spPr>
          <a:xfrm>
            <a:off x="460650" y="311134"/>
            <a:ext cx="1916869" cy="8508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endCxn id="112" idx="4"/>
          </p:cNvCxnSpPr>
          <p:nvPr userDrawn="1"/>
        </p:nvCxnSpPr>
        <p:spPr>
          <a:xfrm flipV="1">
            <a:off x="-16592" y="24995"/>
            <a:ext cx="1766656" cy="15147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a:off x="3331835" y="315370"/>
            <a:ext cx="1304703" cy="8466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userDrawn="1"/>
        </p:nvCxnSpPr>
        <p:spPr>
          <a:xfrm flipV="1">
            <a:off x="1382233" y="19316"/>
            <a:ext cx="2538216" cy="11890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a:off x="4526712" y="51233"/>
            <a:ext cx="1337685" cy="119797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userDrawn="1"/>
        </p:nvCxnSpPr>
        <p:spPr>
          <a:xfrm flipH="1">
            <a:off x="4862179" y="431029"/>
            <a:ext cx="103899" cy="7309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同心圆 101"/>
          <p:cNvSpPr/>
          <p:nvPr userDrawn="1"/>
        </p:nvSpPr>
        <p:spPr>
          <a:xfrm>
            <a:off x="6492225" y="508732"/>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3" name="同心圆 102"/>
          <p:cNvSpPr/>
          <p:nvPr userDrawn="1"/>
        </p:nvSpPr>
        <p:spPr>
          <a:xfrm>
            <a:off x="391272" y="214444"/>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4" name="同心圆 103"/>
          <p:cNvSpPr/>
          <p:nvPr userDrawn="1"/>
        </p:nvSpPr>
        <p:spPr>
          <a:xfrm>
            <a:off x="1999696" y="96475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5" name="同心圆 104"/>
          <p:cNvSpPr/>
          <p:nvPr userDrawn="1"/>
        </p:nvSpPr>
        <p:spPr>
          <a:xfrm>
            <a:off x="5814227" y="1218940"/>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6" name="椭圆 105"/>
          <p:cNvSpPr/>
          <p:nvPr userDrawn="1"/>
        </p:nvSpPr>
        <p:spPr>
          <a:xfrm>
            <a:off x="7030778" y="1397133"/>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7" name="椭圆 106"/>
          <p:cNvSpPr/>
          <p:nvPr userDrawn="1"/>
        </p:nvSpPr>
        <p:spPr>
          <a:xfrm>
            <a:off x="2300599" y="1104417"/>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8" name="椭圆 107"/>
          <p:cNvSpPr/>
          <p:nvPr userDrawn="1"/>
        </p:nvSpPr>
        <p:spPr>
          <a:xfrm>
            <a:off x="2639049" y="49035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9" name="椭圆 108"/>
          <p:cNvSpPr/>
          <p:nvPr userDrawn="1"/>
        </p:nvSpPr>
        <p:spPr>
          <a:xfrm>
            <a:off x="2931991" y="-11500"/>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0" name="椭圆 109"/>
          <p:cNvSpPr/>
          <p:nvPr userDrawn="1"/>
        </p:nvSpPr>
        <p:spPr>
          <a:xfrm>
            <a:off x="4440508" y="-2147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1" name="椭圆 110"/>
          <p:cNvSpPr/>
          <p:nvPr userDrawn="1"/>
        </p:nvSpPr>
        <p:spPr>
          <a:xfrm>
            <a:off x="3794933" y="-37984"/>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2" name="椭圆 111"/>
          <p:cNvSpPr/>
          <p:nvPr userDrawn="1"/>
        </p:nvSpPr>
        <p:spPr>
          <a:xfrm>
            <a:off x="1697222" y="-67827"/>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3" name="椭圆 112"/>
          <p:cNvSpPr/>
          <p:nvPr userDrawn="1"/>
        </p:nvSpPr>
        <p:spPr>
          <a:xfrm>
            <a:off x="1845985" y="46845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4" name="椭圆 113"/>
          <p:cNvSpPr/>
          <p:nvPr userDrawn="1"/>
        </p:nvSpPr>
        <p:spPr>
          <a:xfrm>
            <a:off x="2169622" y="69245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5" name="椭圆 114"/>
          <p:cNvSpPr/>
          <p:nvPr userDrawn="1"/>
        </p:nvSpPr>
        <p:spPr>
          <a:xfrm>
            <a:off x="4872663" y="66802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6" name="椭圆 115"/>
          <p:cNvSpPr/>
          <p:nvPr userDrawn="1"/>
        </p:nvSpPr>
        <p:spPr>
          <a:xfrm>
            <a:off x="5171342" y="95160"/>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7" name="椭圆 116"/>
          <p:cNvSpPr/>
          <p:nvPr userDrawn="1"/>
        </p:nvSpPr>
        <p:spPr>
          <a:xfrm>
            <a:off x="3801650" y="59963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8" name="椭圆 117"/>
          <p:cNvSpPr/>
          <p:nvPr userDrawn="1"/>
        </p:nvSpPr>
        <p:spPr>
          <a:xfrm>
            <a:off x="3814765" y="123922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9" name="椭圆 118"/>
          <p:cNvSpPr/>
          <p:nvPr userDrawn="1"/>
        </p:nvSpPr>
        <p:spPr>
          <a:xfrm>
            <a:off x="3211922" y="1055672"/>
            <a:ext cx="109602" cy="974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0" name="椭圆 119"/>
          <p:cNvSpPr/>
          <p:nvPr userDrawn="1"/>
        </p:nvSpPr>
        <p:spPr>
          <a:xfrm>
            <a:off x="1095841" y="829389"/>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1" name="椭圆 120"/>
          <p:cNvSpPr/>
          <p:nvPr userDrawn="1"/>
        </p:nvSpPr>
        <p:spPr>
          <a:xfrm>
            <a:off x="2663928" y="85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2" name="椭圆 121"/>
          <p:cNvSpPr/>
          <p:nvPr userDrawn="1"/>
        </p:nvSpPr>
        <p:spPr>
          <a:xfrm>
            <a:off x="6363914" y="112264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3" name="椭圆 122"/>
          <p:cNvSpPr/>
          <p:nvPr userDrawn="1"/>
        </p:nvSpPr>
        <p:spPr>
          <a:xfrm>
            <a:off x="6715789" y="515044"/>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4" name="椭圆 123"/>
          <p:cNvSpPr/>
          <p:nvPr userDrawn="1"/>
        </p:nvSpPr>
        <p:spPr>
          <a:xfrm>
            <a:off x="6137100" y="61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5" name="同心圆 124"/>
          <p:cNvSpPr/>
          <p:nvPr userDrawn="1"/>
        </p:nvSpPr>
        <p:spPr>
          <a:xfrm>
            <a:off x="7014402" y="264301"/>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26" name="同心圆 125"/>
          <p:cNvSpPr/>
          <p:nvPr userDrawn="1"/>
        </p:nvSpPr>
        <p:spPr>
          <a:xfrm>
            <a:off x="4829245" y="1138005"/>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27" name="椭圆 126"/>
          <p:cNvSpPr/>
          <p:nvPr userDrawn="1"/>
        </p:nvSpPr>
        <p:spPr>
          <a:xfrm>
            <a:off x="800494" y="1090699"/>
            <a:ext cx="116101" cy="1278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28" name="直接连接符 127"/>
          <p:cNvCxnSpPr>
            <a:stCxn id="102" idx="5"/>
          </p:cNvCxnSpPr>
          <p:nvPr userDrawn="1"/>
        </p:nvCxnSpPr>
        <p:spPr>
          <a:xfrm>
            <a:off x="6617248" y="628032"/>
            <a:ext cx="458184" cy="8124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9" name="椭圆 128"/>
          <p:cNvSpPr/>
          <p:nvPr userDrawn="1"/>
        </p:nvSpPr>
        <p:spPr>
          <a:xfrm>
            <a:off x="5169123" y="136590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0" name="椭圆 129"/>
          <p:cNvSpPr/>
          <p:nvPr userDrawn="1"/>
        </p:nvSpPr>
        <p:spPr>
          <a:xfrm>
            <a:off x="2925946" y="133842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1" name="椭圆 130"/>
          <p:cNvSpPr/>
          <p:nvPr userDrawn="1"/>
        </p:nvSpPr>
        <p:spPr>
          <a:xfrm>
            <a:off x="1541050" y="1346272"/>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2" name="椭圆 131"/>
          <p:cNvSpPr/>
          <p:nvPr userDrawn="1"/>
        </p:nvSpPr>
        <p:spPr>
          <a:xfrm>
            <a:off x="6851265" y="103208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3" name="椭圆 132"/>
          <p:cNvSpPr/>
          <p:nvPr userDrawn="1"/>
        </p:nvSpPr>
        <p:spPr>
          <a:xfrm>
            <a:off x="4825922" y="-108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4" name="椭圆 133"/>
          <p:cNvSpPr/>
          <p:nvPr userDrawn="1"/>
        </p:nvSpPr>
        <p:spPr>
          <a:xfrm>
            <a:off x="5851220" y="33137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5" name="椭圆 134"/>
          <p:cNvSpPr/>
          <p:nvPr userDrawn="1"/>
        </p:nvSpPr>
        <p:spPr>
          <a:xfrm>
            <a:off x="2534467" y="33226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6" name="椭圆 135"/>
          <p:cNvSpPr/>
          <p:nvPr userDrawn="1"/>
        </p:nvSpPr>
        <p:spPr>
          <a:xfrm>
            <a:off x="1357915" y="69940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7" name="椭圆 136"/>
          <p:cNvSpPr/>
          <p:nvPr userDrawn="1"/>
        </p:nvSpPr>
        <p:spPr>
          <a:xfrm>
            <a:off x="3395882" y="-8229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8" name="椭圆 137"/>
          <p:cNvSpPr/>
          <p:nvPr userDrawn="1"/>
        </p:nvSpPr>
        <p:spPr>
          <a:xfrm>
            <a:off x="3506470" y="85387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9" name="椭圆 138"/>
          <p:cNvSpPr/>
          <p:nvPr userDrawn="1"/>
        </p:nvSpPr>
        <p:spPr>
          <a:xfrm>
            <a:off x="-47961" y="54666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0" name="椭圆 139"/>
          <p:cNvSpPr/>
          <p:nvPr userDrawn="1"/>
        </p:nvSpPr>
        <p:spPr>
          <a:xfrm>
            <a:off x="6040782" y="1411090"/>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1" name="椭圆 140"/>
          <p:cNvSpPr/>
          <p:nvPr userDrawn="1"/>
        </p:nvSpPr>
        <p:spPr>
          <a:xfrm>
            <a:off x="933612" y="5123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2" name="椭圆 141"/>
          <p:cNvSpPr/>
          <p:nvPr userDrawn="1"/>
        </p:nvSpPr>
        <p:spPr>
          <a:xfrm>
            <a:off x="2700536" y="-1440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3" name="同心圆 142"/>
          <p:cNvSpPr/>
          <p:nvPr userDrawn="1"/>
        </p:nvSpPr>
        <p:spPr>
          <a:xfrm>
            <a:off x="1309714" y="256926"/>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44" name="同心圆 143"/>
          <p:cNvSpPr/>
          <p:nvPr userDrawn="1"/>
        </p:nvSpPr>
        <p:spPr>
          <a:xfrm>
            <a:off x="3186517" y="264301"/>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45" name="同心圆 144"/>
          <p:cNvSpPr/>
          <p:nvPr userDrawn="1"/>
        </p:nvSpPr>
        <p:spPr>
          <a:xfrm>
            <a:off x="4146772" y="411338"/>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46" name="同心圆 145"/>
          <p:cNvSpPr/>
          <p:nvPr userDrawn="1"/>
        </p:nvSpPr>
        <p:spPr>
          <a:xfrm>
            <a:off x="4986397" y="50529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47" name="椭圆 146"/>
          <p:cNvSpPr/>
          <p:nvPr userDrawn="1"/>
        </p:nvSpPr>
        <p:spPr>
          <a:xfrm>
            <a:off x="431456" y="479236"/>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8" name="椭圆 147"/>
          <p:cNvSpPr/>
          <p:nvPr userDrawn="1"/>
        </p:nvSpPr>
        <p:spPr>
          <a:xfrm>
            <a:off x="1310848" y="113950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9" name="椭圆 148"/>
          <p:cNvSpPr/>
          <p:nvPr userDrawn="1"/>
        </p:nvSpPr>
        <p:spPr>
          <a:xfrm>
            <a:off x="4594588" y="1118511"/>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50" name="椭圆 149"/>
          <p:cNvSpPr/>
          <p:nvPr userDrawn="1"/>
        </p:nvSpPr>
        <p:spPr>
          <a:xfrm>
            <a:off x="5671362" y="514865"/>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51" name="同心圆 150"/>
          <p:cNvSpPr/>
          <p:nvPr userDrawn="1"/>
        </p:nvSpPr>
        <p:spPr>
          <a:xfrm>
            <a:off x="4929342" y="325588"/>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grpSp>
        <p:nvGrpSpPr>
          <p:cNvPr id="152" name="组合 151"/>
          <p:cNvGrpSpPr/>
          <p:nvPr userDrawn="1"/>
        </p:nvGrpSpPr>
        <p:grpSpPr>
          <a:xfrm>
            <a:off x="0" y="5921828"/>
            <a:ext cx="12192000" cy="1024160"/>
            <a:chOff x="0" y="5921828"/>
            <a:chExt cx="12192000" cy="1024160"/>
          </a:xfrm>
        </p:grpSpPr>
        <p:sp>
          <p:nvSpPr>
            <p:cNvPr id="299" name="同心圆 298"/>
            <p:cNvSpPr/>
            <p:nvPr/>
          </p:nvSpPr>
          <p:spPr>
            <a:xfrm>
              <a:off x="7478496" y="6761391"/>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00" name="同心圆 299"/>
            <p:cNvSpPr/>
            <p:nvPr/>
          </p:nvSpPr>
          <p:spPr>
            <a:xfrm>
              <a:off x="502249" y="6382902"/>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05" name="椭圆 304"/>
            <p:cNvSpPr/>
            <p:nvPr/>
          </p:nvSpPr>
          <p:spPr>
            <a:xfrm>
              <a:off x="3072509" y="6737761"/>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06" name="椭圆 305"/>
            <p:cNvSpPr/>
            <p:nvPr/>
          </p:nvSpPr>
          <p:spPr>
            <a:xfrm>
              <a:off x="3407479" y="6092309"/>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07" name="椭圆 306"/>
            <p:cNvSpPr/>
            <p:nvPr/>
          </p:nvSpPr>
          <p:spPr>
            <a:xfrm>
              <a:off x="5132421" y="6079477"/>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08" name="椭圆 307"/>
            <p:cNvSpPr/>
            <p:nvPr/>
          </p:nvSpPr>
          <p:spPr>
            <a:xfrm>
              <a:off x="4452934" y="604217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09" name="椭圆 308"/>
            <p:cNvSpPr/>
            <p:nvPr/>
          </p:nvSpPr>
          <p:spPr>
            <a:xfrm>
              <a:off x="1995560" y="6019866"/>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10" name="椭圆 309"/>
            <p:cNvSpPr/>
            <p:nvPr/>
          </p:nvSpPr>
          <p:spPr>
            <a:xfrm>
              <a:off x="2165667" y="67095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13" name="椭圆 312"/>
            <p:cNvSpPr/>
            <p:nvPr/>
          </p:nvSpPr>
          <p:spPr>
            <a:xfrm>
              <a:off x="5968109" y="62294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19" name="椭圆 318"/>
            <p:cNvSpPr/>
            <p:nvPr/>
          </p:nvSpPr>
          <p:spPr>
            <a:xfrm>
              <a:off x="3100959" y="6216739"/>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21" name="椭圆 320"/>
            <p:cNvSpPr/>
            <p:nvPr/>
          </p:nvSpPr>
          <p:spPr>
            <a:xfrm>
              <a:off x="7734134" y="676950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22" name="椭圆 321"/>
            <p:cNvSpPr/>
            <p:nvPr/>
          </p:nvSpPr>
          <p:spPr>
            <a:xfrm>
              <a:off x="7072422" y="6185871"/>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23" name="同心圆 322"/>
            <p:cNvSpPr/>
            <p:nvPr/>
          </p:nvSpPr>
          <p:spPr>
            <a:xfrm>
              <a:off x="8075589" y="6447023"/>
              <a:ext cx="139571" cy="16019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32" name="椭圆 331"/>
            <p:cNvSpPr/>
            <p:nvPr/>
          </p:nvSpPr>
          <p:spPr>
            <a:xfrm>
              <a:off x="5573131" y="609313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33" name="椭圆 332"/>
            <p:cNvSpPr/>
            <p:nvPr/>
          </p:nvSpPr>
          <p:spPr>
            <a:xfrm>
              <a:off x="6745527" y="653328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34" name="椭圆 333"/>
            <p:cNvSpPr/>
            <p:nvPr/>
          </p:nvSpPr>
          <p:spPr>
            <a:xfrm>
              <a:off x="2952926" y="653443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36" name="椭圆 335"/>
            <p:cNvSpPr/>
            <p:nvPr/>
          </p:nvSpPr>
          <p:spPr>
            <a:xfrm>
              <a:off x="3937926" y="6001255"/>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38" name="椭圆 337"/>
            <p:cNvSpPr/>
            <p:nvPr/>
          </p:nvSpPr>
          <p:spPr>
            <a:xfrm>
              <a:off x="0" y="681018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40" name="椭圆 339"/>
            <p:cNvSpPr/>
            <p:nvPr/>
          </p:nvSpPr>
          <p:spPr>
            <a:xfrm>
              <a:off x="1122397" y="617299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41" name="椭圆 340"/>
            <p:cNvSpPr/>
            <p:nvPr/>
          </p:nvSpPr>
          <p:spPr>
            <a:xfrm>
              <a:off x="3142818" y="5921828"/>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43" name="同心圆 342"/>
            <p:cNvSpPr/>
            <p:nvPr/>
          </p:nvSpPr>
          <p:spPr>
            <a:xfrm>
              <a:off x="1552458" y="6437538"/>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44" name="同心圆 343"/>
            <p:cNvSpPr/>
            <p:nvPr/>
          </p:nvSpPr>
          <p:spPr>
            <a:xfrm>
              <a:off x="3698523" y="6447023"/>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45" name="同心圆 344"/>
            <p:cNvSpPr/>
            <p:nvPr/>
          </p:nvSpPr>
          <p:spPr>
            <a:xfrm>
              <a:off x="4796176" y="6571920"/>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46" name="同心圆 345"/>
            <p:cNvSpPr/>
            <p:nvPr/>
          </p:nvSpPr>
          <p:spPr>
            <a:xfrm>
              <a:off x="5756628" y="6756970"/>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47" name="椭圆 346"/>
            <p:cNvSpPr/>
            <p:nvPr/>
          </p:nvSpPr>
          <p:spPr>
            <a:xfrm>
              <a:off x="548197" y="672345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50" name="椭圆 349"/>
            <p:cNvSpPr/>
            <p:nvPr/>
          </p:nvSpPr>
          <p:spPr>
            <a:xfrm>
              <a:off x="6539864" y="676927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51" name="同心圆 350"/>
            <p:cNvSpPr/>
            <p:nvPr/>
          </p:nvSpPr>
          <p:spPr>
            <a:xfrm>
              <a:off x="5691388" y="6525844"/>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69" name="同心圆 368"/>
            <p:cNvSpPr/>
            <p:nvPr/>
          </p:nvSpPr>
          <p:spPr>
            <a:xfrm rot="10800000">
              <a:off x="10690775" y="6662332"/>
              <a:ext cx="189397" cy="1750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70" name="同心圆 369"/>
            <p:cNvSpPr/>
            <p:nvPr/>
          </p:nvSpPr>
          <p:spPr>
            <a:xfrm rot="10800000">
              <a:off x="6517997" y="6359634"/>
              <a:ext cx="189397" cy="175017"/>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71" name="椭圆 370"/>
            <p:cNvSpPr/>
            <p:nvPr/>
          </p:nvSpPr>
          <p:spPr>
            <a:xfrm rot="10800000">
              <a:off x="5260979" y="6211913"/>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72" name="椭圆 371"/>
            <p:cNvSpPr/>
            <p:nvPr/>
          </p:nvSpPr>
          <p:spPr>
            <a:xfrm rot="10800000">
              <a:off x="10365355" y="648271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83" name="椭圆 382"/>
            <p:cNvSpPr/>
            <p:nvPr/>
          </p:nvSpPr>
          <p:spPr>
            <a:xfrm rot="10800000">
              <a:off x="8779029" y="6399954"/>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84" name="椭圆 383"/>
            <p:cNvSpPr/>
            <p:nvPr/>
          </p:nvSpPr>
          <p:spPr>
            <a:xfrm rot="10800000">
              <a:off x="9434203" y="6612984"/>
              <a:ext cx="119895" cy="11609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87" name="椭圆 386"/>
            <p:cNvSpPr/>
            <p:nvPr/>
          </p:nvSpPr>
          <p:spPr>
            <a:xfrm rot="10800000">
              <a:off x="5990473" y="6538789"/>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91" name="同心圆 390"/>
            <p:cNvSpPr/>
            <p:nvPr/>
          </p:nvSpPr>
          <p:spPr>
            <a:xfrm rot="10800000">
              <a:off x="7651358" y="6482710"/>
              <a:ext cx="133523" cy="148324"/>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92" name="椭圆 391"/>
            <p:cNvSpPr/>
            <p:nvPr/>
          </p:nvSpPr>
          <p:spPr>
            <a:xfrm rot="10800000">
              <a:off x="12064995" y="6535080"/>
              <a:ext cx="127005" cy="1522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94" name="椭圆 393"/>
            <p:cNvSpPr/>
            <p:nvPr/>
          </p:nvSpPr>
          <p:spPr>
            <a:xfrm rot="10800000">
              <a:off x="7227429" y="6171312"/>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95" name="椭圆 394"/>
            <p:cNvSpPr/>
            <p:nvPr/>
          </p:nvSpPr>
          <p:spPr>
            <a:xfrm rot="10800000">
              <a:off x="9681277" y="6204037"/>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96" name="椭圆 395"/>
            <p:cNvSpPr/>
            <p:nvPr/>
          </p:nvSpPr>
          <p:spPr>
            <a:xfrm rot="10800000">
              <a:off x="11196238" y="6194696"/>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97" name="椭圆 396"/>
            <p:cNvSpPr/>
            <p:nvPr/>
          </p:nvSpPr>
          <p:spPr>
            <a:xfrm rot="10800000">
              <a:off x="5521830" y="6704945"/>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05" name="椭圆 404"/>
            <p:cNvSpPr/>
            <p:nvPr/>
          </p:nvSpPr>
          <p:spPr>
            <a:xfrm rot="10800000">
              <a:off x="6408430" y="6253607"/>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13" name="椭圆 412"/>
            <p:cNvSpPr/>
            <p:nvPr/>
          </p:nvSpPr>
          <p:spPr>
            <a:xfrm rot="10800000">
              <a:off x="11448059" y="644092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14" name="椭圆 413"/>
            <p:cNvSpPr/>
            <p:nvPr/>
          </p:nvSpPr>
          <p:spPr>
            <a:xfrm rot="10800000">
              <a:off x="7855923" y="6465925"/>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236" name="组合 235"/>
          <p:cNvGrpSpPr/>
          <p:nvPr userDrawn="1"/>
        </p:nvGrpSpPr>
        <p:grpSpPr>
          <a:xfrm>
            <a:off x="0" y="-187198"/>
            <a:ext cx="1307732" cy="1733935"/>
            <a:chOff x="0" y="-187198"/>
            <a:chExt cx="1307732" cy="1733935"/>
          </a:xfrm>
        </p:grpSpPr>
        <p:sp>
          <p:nvSpPr>
            <p:cNvPr id="22" name="同心圆 21"/>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3" name="椭圆 22"/>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10" name="直接连接符 109"/>
            <p:cNvCxnSpPr>
              <a:stCxn id="23"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4" name="椭圆 113"/>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15" name="直接连接符 114"/>
            <p:cNvCxnSpPr>
              <a:endCxn id="114"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3"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26" name="直接连接符 125"/>
            <p:cNvCxnSpPr>
              <a:stCxn id="113"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同心圆 128"/>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130" name="直接连接符 129"/>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34" name="直接连接符 133"/>
            <p:cNvCxnSpPr>
              <a:stCxn id="132"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40" name="直接连接符 139"/>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7" name="椭圆 206"/>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8" name="椭圆 207"/>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9" name="同心圆 208"/>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10" name="同心圆 209"/>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11" name="同心圆 210"/>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222" name="直接连接符 221"/>
            <p:cNvCxnSpPr>
              <a:stCxn id="209" idx="4"/>
              <a:endCxn id="208"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endCxn id="22"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endCxn id="209"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endCxn id="23"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1" name="弧形 40"/>
          <p:cNvSpPr/>
          <p:nvPr userDrawn="1"/>
        </p:nvSpPr>
        <p:spPr>
          <a:xfrm rot="558798">
            <a:off x="3672565" y="1011395"/>
            <a:ext cx="7590690" cy="5671237"/>
          </a:xfrm>
          <a:prstGeom prst="arc">
            <a:avLst>
              <a:gd name="adj1" fmla="val 14287010"/>
              <a:gd name="adj2" fmla="val 558308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 name="弧形 11"/>
          <p:cNvSpPr/>
          <p:nvPr userDrawn="1"/>
        </p:nvSpPr>
        <p:spPr>
          <a:xfrm rot="558798">
            <a:off x="3412680" y="1604745"/>
            <a:ext cx="7885748" cy="5260588"/>
          </a:xfrm>
          <a:prstGeom prst="arc">
            <a:avLst>
              <a:gd name="adj1" fmla="val 14287010"/>
              <a:gd name="adj2" fmla="val 287274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 name="弧形 7"/>
          <p:cNvSpPr/>
          <p:nvPr userDrawn="1"/>
        </p:nvSpPr>
        <p:spPr>
          <a:xfrm>
            <a:off x="3683000" y="810922"/>
            <a:ext cx="6426200" cy="7164677"/>
          </a:xfrm>
          <a:prstGeom prst="arc">
            <a:avLst>
              <a:gd name="adj1" fmla="val 16921666"/>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5" name="弧形 44"/>
          <p:cNvSpPr/>
          <p:nvPr userDrawn="1"/>
        </p:nvSpPr>
        <p:spPr>
          <a:xfrm>
            <a:off x="3326530" y="1362427"/>
            <a:ext cx="6998570" cy="5594309"/>
          </a:xfrm>
          <a:prstGeom prst="arc">
            <a:avLst>
              <a:gd name="adj1" fmla="val 16904781"/>
              <a:gd name="adj2" fmla="val 3894020"/>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9" name="弧形 98"/>
          <p:cNvSpPr/>
          <p:nvPr userDrawn="1"/>
        </p:nvSpPr>
        <p:spPr>
          <a:xfrm>
            <a:off x="4095365" y="644886"/>
            <a:ext cx="6251437" cy="5745214"/>
          </a:xfrm>
          <a:prstGeom prst="arc">
            <a:avLst>
              <a:gd name="adj1" fmla="val 16577328"/>
              <a:gd name="adj2" fmla="val 519569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9" name="弧形 8"/>
          <p:cNvSpPr/>
          <p:nvPr userDrawn="1"/>
        </p:nvSpPr>
        <p:spPr>
          <a:xfrm>
            <a:off x="4153770" y="1562411"/>
            <a:ext cx="6426200" cy="6007099"/>
          </a:xfrm>
          <a:prstGeom prst="arc">
            <a:avLst>
              <a:gd name="adj1" fmla="val 16921666"/>
              <a:gd name="adj2" fmla="val 2917494"/>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 name="弧形 9"/>
          <p:cNvSpPr/>
          <p:nvPr userDrawn="1"/>
        </p:nvSpPr>
        <p:spPr>
          <a:xfrm>
            <a:off x="3918385" y="836322"/>
            <a:ext cx="6426200" cy="7164677"/>
          </a:xfrm>
          <a:prstGeom prst="arc">
            <a:avLst>
              <a:gd name="adj1" fmla="val 18114793"/>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 name="弧形 10"/>
          <p:cNvSpPr/>
          <p:nvPr userDrawn="1"/>
        </p:nvSpPr>
        <p:spPr>
          <a:xfrm>
            <a:off x="4376455" y="1993900"/>
            <a:ext cx="6426200" cy="5004247"/>
          </a:xfrm>
          <a:prstGeom prst="arc">
            <a:avLst>
              <a:gd name="adj1" fmla="val 16098721"/>
              <a:gd name="adj2" fmla="val 356132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 name="弧形 12"/>
          <p:cNvSpPr/>
          <p:nvPr userDrawn="1"/>
        </p:nvSpPr>
        <p:spPr>
          <a:xfrm>
            <a:off x="4376455" y="1255679"/>
            <a:ext cx="6426200" cy="5908998"/>
          </a:xfrm>
          <a:prstGeom prst="arc">
            <a:avLst>
              <a:gd name="adj1" fmla="val 16577328"/>
              <a:gd name="adj2" fmla="val 258167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2" name="弧形 51"/>
          <p:cNvSpPr/>
          <p:nvPr userDrawn="1"/>
        </p:nvSpPr>
        <p:spPr>
          <a:xfrm>
            <a:off x="3869259" y="1729370"/>
            <a:ext cx="6055219" cy="4319100"/>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9" name="弧形 28"/>
          <p:cNvSpPr/>
          <p:nvPr userDrawn="1"/>
        </p:nvSpPr>
        <p:spPr>
          <a:xfrm>
            <a:off x="1206500" y="355881"/>
            <a:ext cx="10423323" cy="6362419"/>
          </a:xfrm>
          <a:prstGeom prst="arc">
            <a:avLst>
              <a:gd name="adj1" fmla="val 16064175"/>
              <a:gd name="adj2" fmla="val 495466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9" name="弧形 68"/>
          <p:cNvSpPr/>
          <p:nvPr userDrawn="1"/>
        </p:nvSpPr>
        <p:spPr>
          <a:xfrm>
            <a:off x="2374457" y="1030416"/>
            <a:ext cx="6426200" cy="5585898"/>
          </a:xfrm>
          <a:prstGeom prst="arc">
            <a:avLst>
              <a:gd name="adj1" fmla="val 16953004"/>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0" name="弧形 69"/>
          <p:cNvSpPr/>
          <p:nvPr userDrawn="1"/>
        </p:nvSpPr>
        <p:spPr>
          <a:xfrm>
            <a:off x="1893707" y="1944457"/>
            <a:ext cx="7008622" cy="4645627"/>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7" name="弧形 146"/>
          <p:cNvSpPr/>
          <p:nvPr userDrawn="1"/>
        </p:nvSpPr>
        <p:spPr>
          <a:xfrm rot="3143922">
            <a:off x="3372114" y="-313091"/>
            <a:ext cx="7581465" cy="8403771"/>
          </a:xfrm>
          <a:prstGeom prst="arc">
            <a:avLst>
              <a:gd name="adj1" fmla="val 1461411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nvGrpSpPr>
          <p:cNvPr id="235" name="组合 234"/>
          <p:cNvGrpSpPr/>
          <p:nvPr userDrawn="1"/>
        </p:nvGrpSpPr>
        <p:grpSpPr>
          <a:xfrm>
            <a:off x="2545440" y="-1106457"/>
            <a:ext cx="9580914" cy="8284758"/>
            <a:chOff x="2545440" y="-1106457"/>
            <a:chExt cx="9580914" cy="8284758"/>
          </a:xfrm>
        </p:grpSpPr>
        <p:sp>
          <p:nvSpPr>
            <p:cNvPr id="14" name="弧形 13"/>
            <p:cNvSpPr/>
            <p:nvPr/>
          </p:nvSpPr>
          <p:spPr>
            <a:xfrm>
              <a:off x="4908114" y="987936"/>
              <a:ext cx="6426200" cy="5492242"/>
            </a:xfrm>
            <a:prstGeom prst="arc">
              <a:avLst>
                <a:gd name="adj1" fmla="val 16577328"/>
                <a:gd name="adj2" fmla="val 669124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13" name="弧形 212"/>
            <p:cNvSpPr/>
            <p:nvPr/>
          </p:nvSpPr>
          <p:spPr>
            <a:xfrm rot="3529314">
              <a:off x="3663168" y="-974312"/>
              <a:ext cx="7996456" cy="8308770"/>
            </a:xfrm>
            <a:prstGeom prst="arc">
              <a:avLst>
                <a:gd name="adj1" fmla="val 15039599"/>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15" name="弧形 214"/>
            <p:cNvSpPr/>
            <p:nvPr/>
          </p:nvSpPr>
          <p:spPr>
            <a:xfrm rot="2317648">
              <a:off x="3184124" y="762409"/>
              <a:ext cx="6426200" cy="5585898"/>
            </a:xfrm>
            <a:prstGeom prst="arc">
              <a:avLst>
                <a:gd name="adj1" fmla="val 14395450"/>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nvGrpSpPr>
            <p:cNvPr id="233" name="组合 232"/>
            <p:cNvGrpSpPr/>
            <p:nvPr/>
          </p:nvGrpSpPr>
          <p:grpSpPr>
            <a:xfrm>
              <a:off x="2545440" y="-1106457"/>
              <a:ext cx="9580914" cy="8016380"/>
              <a:chOff x="2545440" y="-1106457"/>
              <a:chExt cx="9580914" cy="8016380"/>
            </a:xfrm>
          </p:grpSpPr>
          <p:sp>
            <p:nvSpPr>
              <p:cNvPr id="214" name="弧形 213"/>
              <p:cNvSpPr/>
              <p:nvPr/>
            </p:nvSpPr>
            <p:spPr>
              <a:xfrm rot="4850840">
                <a:off x="3337669" y="-1898686"/>
                <a:ext cx="7996456" cy="9580914"/>
              </a:xfrm>
              <a:prstGeom prst="arc">
                <a:avLst>
                  <a:gd name="adj1" fmla="val 1437122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nvGrpSpPr>
              <p:cNvPr id="232" name="组合 231"/>
              <p:cNvGrpSpPr/>
              <p:nvPr/>
            </p:nvGrpSpPr>
            <p:grpSpPr>
              <a:xfrm>
                <a:off x="5488329" y="129986"/>
                <a:ext cx="6213010" cy="6779937"/>
                <a:chOff x="5488329" y="129986"/>
                <a:chExt cx="6213010" cy="6779937"/>
              </a:xfrm>
            </p:grpSpPr>
            <p:cxnSp>
              <p:nvCxnSpPr>
                <p:cNvPr id="219" name="直接连接符 218"/>
                <p:cNvCxnSpPr>
                  <a:stCxn id="60" idx="3"/>
                  <a:endCxn id="216" idx="7"/>
                </p:cNvCxnSpPr>
                <p:nvPr/>
              </p:nvCxnSpPr>
              <p:spPr>
                <a:xfrm flipH="1">
                  <a:off x="6063315" y="3532442"/>
                  <a:ext cx="2167276" cy="28153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7581464" y="872296"/>
                  <a:ext cx="81680" cy="7966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56" name="直接连接符 55"/>
                <p:cNvCxnSpPr>
                  <a:stCxn id="30" idx="7"/>
                  <a:endCxn id="60" idx="3"/>
                </p:cNvCxnSpPr>
                <p:nvPr/>
              </p:nvCxnSpPr>
              <p:spPr>
                <a:xfrm flipV="1">
                  <a:off x="7114116" y="3532442"/>
                  <a:ext cx="1116475" cy="27548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5"/>
                  <a:endCxn id="60" idx="1"/>
                </p:cNvCxnSpPr>
                <p:nvPr/>
              </p:nvCxnSpPr>
              <p:spPr>
                <a:xfrm>
                  <a:off x="7388842" y="1462032"/>
                  <a:ext cx="841749" cy="19685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8327768" y="94111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8" name="椭圆 17"/>
                <p:cNvSpPr/>
                <p:nvPr/>
              </p:nvSpPr>
              <p:spPr>
                <a:xfrm>
                  <a:off x="8892918" y="138976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9" name="同心圆 18"/>
                <p:cNvSpPr/>
                <p:nvPr/>
              </p:nvSpPr>
              <p:spPr>
                <a:xfrm>
                  <a:off x="7812057" y="123027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7971023" y="1599782"/>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1" name="同心圆 20"/>
                <p:cNvSpPr/>
                <p:nvPr/>
              </p:nvSpPr>
              <p:spPr>
                <a:xfrm>
                  <a:off x="7445553" y="1947052"/>
                  <a:ext cx="82549" cy="91298"/>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7012884" y="6269637"/>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32" name="椭圆 31"/>
                <p:cNvSpPr/>
                <p:nvPr/>
              </p:nvSpPr>
              <p:spPr>
                <a:xfrm>
                  <a:off x="8933160" y="6751955"/>
                  <a:ext cx="54000" cy="54000"/>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5" name="直接连接符 24"/>
                <p:cNvCxnSpPr/>
                <p:nvPr/>
              </p:nvCxnSpPr>
              <p:spPr>
                <a:xfrm>
                  <a:off x="5529605" y="229178"/>
                  <a:ext cx="426694" cy="418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488329" y="181419"/>
                  <a:ext cx="57151" cy="6307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35" name="直接连接符 34"/>
                <p:cNvCxnSpPr>
                  <a:stCxn id="28" idx="7"/>
                  <a:endCxn id="36" idx="3"/>
                </p:cNvCxnSpPr>
                <p:nvPr/>
              </p:nvCxnSpPr>
              <p:spPr>
                <a:xfrm flipV="1">
                  <a:off x="5998231" y="375935"/>
                  <a:ext cx="247151" cy="2329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同心圆 35"/>
                <p:cNvSpPr/>
                <p:nvPr/>
              </p:nvSpPr>
              <p:spPr>
                <a:xfrm>
                  <a:off x="6236215" y="323293"/>
                  <a:ext cx="62599" cy="61674"/>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37" name="直接连接符 36"/>
                <p:cNvCxnSpPr/>
                <p:nvPr/>
              </p:nvCxnSpPr>
              <p:spPr>
                <a:xfrm>
                  <a:off x="5998231" y="668607"/>
                  <a:ext cx="593504" cy="193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896999" y="59127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2" name="椭圆 41"/>
                <p:cNvSpPr/>
                <p:nvPr/>
              </p:nvSpPr>
              <p:spPr>
                <a:xfrm>
                  <a:off x="6581308" y="836885"/>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4" name="同心圆 43"/>
                <p:cNvSpPr/>
                <p:nvPr/>
              </p:nvSpPr>
              <p:spPr>
                <a:xfrm>
                  <a:off x="6121806" y="1014382"/>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47" name="椭圆 46"/>
                <p:cNvSpPr/>
                <p:nvPr/>
              </p:nvSpPr>
              <p:spPr>
                <a:xfrm>
                  <a:off x="7287610" y="135921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49" name="直接连接符 48"/>
                <p:cNvCxnSpPr>
                  <a:stCxn id="28" idx="5"/>
                  <a:endCxn id="44" idx="0"/>
                </p:cNvCxnSpPr>
                <p:nvPr/>
              </p:nvCxnSpPr>
              <p:spPr>
                <a:xfrm>
                  <a:off x="5998231" y="694092"/>
                  <a:ext cx="175150" cy="3202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同心圆 50"/>
                <p:cNvSpPr/>
                <p:nvPr/>
              </p:nvSpPr>
              <p:spPr>
                <a:xfrm>
                  <a:off x="7954214" y="6769523"/>
                  <a:ext cx="139193" cy="140400"/>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53" name="椭圆 52"/>
                <p:cNvSpPr/>
                <p:nvPr/>
              </p:nvSpPr>
              <p:spPr>
                <a:xfrm>
                  <a:off x="7091234" y="1711609"/>
                  <a:ext cx="59301" cy="7041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4" name="椭圆 53"/>
                <p:cNvSpPr/>
                <p:nvPr/>
              </p:nvSpPr>
              <p:spPr>
                <a:xfrm>
                  <a:off x="8387068" y="5696403"/>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60" name="椭圆 59"/>
                <p:cNvSpPr/>
                <p:nvPr/>
              </p:nvSpPr>
              <p:spPr>
                <a:xfrm>
                  <a:off x="8209667" y="340953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1" name="椭圆 70"/>
                <p:cNvSpPr/>
                <p:nvPr/>
              </p:nvSpPr>
              <p:spPr>
                <a:xfrm>
                  <a:off x="8618095" y="2992948"/>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4" name="椭圆 73"/>
                <p:cNvSpPr/>
                <p:nvPr/>
              </p:nvSpPr>
              <p:spPr>
                <a:xfrm>
                  <a:off x="8668886" y="2091556"/>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7" name="椭圆 76"/>
                <p:cNvSpPr/>
                <p:nvPr/>
              </p:nvSpPr>
              <p:spPr>
                <a:xfrm>
                  <a:off x="9541264" y="249252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78" name="椭圆 77"/>
                <p:cNvSpPr/>
                <p:nvPr/>
              </p:nvSpPr>
              <p:spPr>
                <a:xfrm>
                  <a:off x="9725915" y="273207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1" name="椭圆 80"/>
                <p:cNvSpPr/>
                <p:nvPr/>
              </p:nvSpPr>
              <p:spPr>
                <a:xfrm>
                  <a:off x="9784641" y="243229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2" name="椭圆 81"/>
                <p:cNvSpPr/>
                <p:nvPr/>
              </p:nvSpPr>
              <p:spPr>
                <a:xfrm>
                  <a:off x="8892918" y="194314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3" name="椭圆 82"/>
                <p:cNvSpPr/>
                <p:nvPr/>
              </p:nvSpPr>
              <p:spPr>
                <a:xfrm>
                  <a:off x="9189788" y="2078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4" name="椭圆 83"/>
                <p:cNvSpPr/>
                <p:nvPr/>
              </p:nvSpPr>
              <p:spPr>
                <a:xfrm>
                  <a:off x="9975611" y="279542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5" name="椭圆 84"/>
                <p:cNvSpPr/>
                <p:nvPr/>
              </p:nvSpPr>
              <p:spPr>
                <a:xfrm>
                  <a:off x="11083598" y="4157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6" name="椭圆 85"/>
                <p:cNvSpPr/>
                <p:nvPr/>
              </p:nvSpPr>
              <p:spPr>
                <a:xfrm>
                  <a:off x="10723002" y="4303204"/>
                  <a:ext cx="153242" cy="14687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87" name="同心圆 86"/>
                <p:cNvSpPr/>
                <p:nvPr/>
              </p:nvSpPr>
              <p:spPr>
                <a:xfrm>
                  <a:off x="11098929" y="4830868"/>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8" name="同心圆 87"/>
                <p:cNvSpPr/>
                <p:nvPr/>
              </p:nvSpPr>
              <p:spPr>
                <a:xfrm>
                  <a:off x="10535225" y="309010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89" name="同心圆 88"/>
                <p:cNvSpPr/>
                <p:nvPr/>
              </p:nvSpPr>
              <p:spPr>
                <a:xfrm>
                  <a:off x="9543175" y="482427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90" name="同心圆 89"/>
                <p:cNvSpPr/>
                <p:nvPr/>
              </p:nvSpPr>
              <p:spPr>
                <a:xfrm>
                  <a:off x="10198096" y="3531834"/>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0" name="椭圆 99"/>
                <p:cNvSpPr/>
                <p:nvPr/>
              </p:nvSpPr>
              <p:spPr>
                <a:xfrm>
                  <a:off x="7388842" y="6332104"/>
                  <a:ext cx="97062" cy="117533"/>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1" name="同心圆 100"/>
                <p:cNvSpPr/>
                <p:nvPr/>
              </p:nvSpPr>
              <p:spPr>
                <a:xfrm>
                  <a:off x="6727330" y="625516"/>
                  <a:ext cx="104400" cy="102902"/>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2" name="椭圆 101"/>
                <p:cNvSpPr/>
                <p:nvPr/>
              </p:nvSpPr>
              <p:spPr>
                <a:xfrm>
                  <a:off x="10356722" y="230998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3" name="椭圆 102"/>
                <p:cNvSpPr/>
                <p:nvPr/>
              </p:nvSpPr>
              <p:spPr>
                <a:xfrm>
                  <a:off x="9940291" y="1447307"/>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4" name="同心圆 103"/>
                <p:cNvSpPr/>
                <p:nvPr/>
              </p:nvSpPr>
              <p:spPr>
                <a:xfrm>
                  <a:off x="9553540" y="1666276"/>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5" name="同心圆 104"/>
                <p:cNvSpPr/>
                <p:nvPr/>
              </p:nvSpPr>
              <p:spPr>
                <a:xfrm>
                  <a:off x="11201304" y="309848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08" name="椭圆 107"/>
                <p:cNvSpPr/>
                <p:nvPr/>
              </p:nvSpPr>
              <p:spPr>
                <a:xfrm>
                  <a:off x="10727128" y="519725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5" name="椭圆 204"/>
                <p:cNvSpPr/>
                <p:nvPr/>
              </p:nvSpPr>
              <p:spPr>
                <a:xfrm>
                  <a:off x="8891236" y="129986"/>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06" name="同心圆 205"/>
                <p:cNvSpPr/>
                <p:nvPr/>
              </p:nvSpPr>
              <p:spPr>
                <a:xfrm>
                  <a:off x="8458505" y="567595"/>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6753225" y="6563665"/>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16" name="椭圆 215"/>
                <p:cNvSpPr/>
                <p:nvPr/>
              </p:nvSpPr>
              <p:spPr>
                <a:xfrm>
                  <a:off x="5941364" y="632674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28" name="椭圆 227"/>
                <p:cNvSpPr/>
                <p:nvPr/>
              </p:nvSpPr>
              <p:spPr>
                <a:xfrm>
                  <a:off x="8721363" y="3606935"/>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29" name="同心圆 228"/>
                <p:cNvSpPr/>
                <p:nvPr/>
              </p:nvSpPr>
              <p:spPr>
                <a:xfrm>
                  <a:off x="9195330" y="2822191"/>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30" name="同心圆 229"/>
                <p:cNvSpPr/>
                <p:nvPr/>
              </p:nvSpPr>
              <p:spPr>
                <a:xfrm>
                  <a:off x="10618224" y="5858663"/>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42" name="椭圆 241"/>
                <p:cNvSpPr/>
                <p:nvPr/>
              </p:nvSpPr>
              <p:spPr>
                <a:xfrm>
                  <a:off x="7479559" y="597449"/>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6" name="椭圆 105"/>
                <p:cNvSpPr/>
                <p:nvPr/>
              </p:nvSpPr>
              <p:spPr>
                <a:xfrm>
                  <a:off x="11066277" y="2091556"/>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7" name="椭圆 106"/>
                <p:cNvSpPr/>
                <p:nvPr/>
              </p:nvSpPr>
              <p:spPr>
                <a:xfrm>
                  <a:off x="11548097" y="3741919"/>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grpSp>
      </p:grpSp>
      <p:sp>
        <p:nvSpPr>
          <p:cNvPr id="2" name="标题 1"/>
          <p:cNvSpPr>
            <a:spLocks noGrp="1"/>
          </p:cNvSpPr>
          <p:nvPr>
            <p:ph type="title"/>
          </p:nvPr>
        </p:nvSpPr>
        <p:spPr/>
        <p:txBody>
          <a:bodyPr/>
          <a:lstStyle>
            <a:lvl1pPr>
              <a:defRPr>
                <a:latin typeface="宋体" panose="02010600030101010101" pitchFamily="2" charset="-122"/>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10516235" cy="435165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40" name="同心圆 39"/>
          <p:cNvSpPr/>
          <p:nvPr userDrawn="1"/>
        </p:nvSpPr>
        <p:spPr>
          <a:xfrm>
            <a:off x="3203378" y="1068464"/>
            <a:ext cx="1023708" cy="1021839"/>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77" name="直接连接符 76"/>
          <p:cNvCxnSpPr>
            <a:stCxn id="76" idx="2"/>
            <a:endCxn id="69" idx="2"/>
          </p:cNvCxnSpPr>
          <p:nvPr userDrawn="1"/>
        </p:nvCxnSpPr>
        <p:spPr>
          <a:xfrm flipH="1">
            <a:off x="4953582" y="1068464"/>
            <a:ext cx="5531666" cy="50102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2"/>
            <a:endCxn id="11" idx="4"/>
          </p:cNvCxnSpPr>
          <p:nvPr userDrawn="1"/>
        </p:nvCxnSpPr>
        <p:spPr>
          <a:xfrm flipH="1" flipV="1">
            <a:off x="115950" y="289419"/>
            <a:ext cx="4837632" cy="578928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饼形 68"/>
          <p:cNvSpPr/>
          <p:nvPr userDrawn="1"/>
        </p:nvSpPr>
        <p:spPr>
          <a:xfrm rot="5400000">
            <a:off x="4148039" y="6107730"/>
            <a:ext cx="1611086" cy="1553029"/>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64" name="直接连接符 63"/>
          <p:cNvCxnSpPr>
            <a:stCxn id="14" idx="3"/>
            <a:endCxn id="30" idx="0"/>
          </p:cNvCxnSpPr>
          <p:nvPr userDrawn="1"/>
        </p:nvCxnSpPr>
        <p:spPr>
          <a:xfrm>
            <a:off x="521376" y="553761"/>
            <a:ext cx="122477" cy="22978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30" idx="7"/>
          </p:cNvCxnSpPr>
          <p:nvPr userDrawn="1"/>
        </p:nvCxnSpPr>
        <p:spPr>
          <a:xfrm flipH="1">
            <a:off x="706605" y="716813"/>
            <a:ext cx="6362403" cy="21590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2" idx="3"/>
          </p:cNvCxnSpPr>
          <p:nvPr userDrawn="1"/>
        </p:nvCxnSpPr>
        <p:spPr>
          <a:xfrm flipH="1" flipV="1">
            <a:off x="1120991" y="410248"/>
            <a:ext cx="9642602" cy="61474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2080112" y="4613014"/>
            <a:ext cx="446760" cy="3933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 name="同心圆 10"/>
          <p:cNvSpPr/>
          <p:nvPr userDrawn="1"/>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2" name="椭圆 11"/>
          <p:cNvSpPr/>
          <p:nvPr userDrawn="1"/>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3" name="直接连接符 12"/>
          <p:cNvCxnSpPr>
            <a:stCxn id="12" idx="5"/>
          </p:cNvCxnSpPr>
          <p:nvPr userDrawn="1"/>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5" name="椭圆 14"/>
          <p:cNvSpPr/>
          <p:nvPr userDrawn="1"/>
        </p:nvSpPr>
        <p:spPr>
          <a:xfrm>
            <a:off x="5275971" y="568643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6" name="直接连接符 15"/>
          <p:cNvCxnSpPr>
            <a:stCxn id="14" idx="5"/>
            <a:endCxn id="15" idx="0"/>
          </p:cNvCxnSpPr>
          <p:nvPr userDrawn="1"/>
        </p:nvCxnSpPr>
        <p:spPr>
          <a:xfrm>
            <a:off x="636540" y="553761"/>
            <a:ext cx="4720864" cy="513267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3"/>
          </p:cNvCxnSpPr>
          <p:nvPr userDrawn="1"/>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9" name="直接连接符 18"/>
          <p:cNvCxnSpPr>
            <a:stCxn id="14" idx="5"/>
          </p:cNvCxnSpPr>
          <p:nvPr userDrawn="1"/>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同心圆 19"/>
          <p:cNvSpPr/>
          <p:nvPr userDrawn="1"/>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21" name="直接连接符 20"/>
          <p:cNvCxnSpPr/>
          <p:nvPr userDrawn="1"/>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userDrawn="1"/>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3" name="直接连接符 22"/>
          <p:cNvCxnSpPr>
            <a:stCxn id="22" idx="3"/>
          </p:cNvCxnSpPr>
          <p:nvPr userDrawn="1"/>
        </p:nvCxnSpPr>
        <p:spPr>
          <a:xfrm flipH="1">
            <a:off x="7894" y="477151"/>
            <a:ext cx="1001400" cy="63961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11420247" y="3599824"/>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5" name="直接连接符 24"/>
          <p:cNvCxnSpPr>
            <a:endCxn id="26" idx="7"/>
          </p:cNvCxnSpPr>
          <p:nvPr userDrawn="1"/>
        </p:nvCxnSpPr>
        <p:spPr>
          <a:xfrm flipH="1">
            <a:off x="606774" y="461826"/>
            <a:ext cx="392086" cy="7775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505542" y="1221689"/>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7" name="椭圆 26"/>
          <p:cNvSpPr/>
          <p:nvPr userDrawn="1"/>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8" name="椭圆 27"/>
          <p:cNvSpPr/>
          <p:nvPr userDrawn="1"/>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9" name="同心圆 28"/>
          <p:cNvSpPr/>
          <p:nvPr userDrawn="1"/>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0" name="同心圆 29"/>
          <p:cNvSpPr/>
          <p:nvPr userDrawn="1"/>
        </p:nvSpPr>
        <p:spPr>
          <a:xfrm>
            <a:off x="555107" y="2851595"/>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31" name="同心圆 30"/>
          <p:cNvSpPr/>
          <p:nvPr userDrawn="1"/>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32" name="直接连接符 31"/>
          <p:cNvCxnSpPr>
            <a:stCxn id="29" idx="4"/>
            <a:endCxn id="28" idx="1"/>
          </p:cNvCxnSpPr>
          <p:nvPr userDrawn="1"/>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1" idx="6"/>
          </p:cNvCxnSpPr>
          <p:nvPr userDrawn="1"/>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p:cNvCxnSpPr>
          <p:nvPr userDrawn="1"/>
        </p:nvCxnSpPr>
        <p:spPr>
          <a:xfrm flipH="1" flipV="1">
            <a:off x="1062436" y="373933"/>
            <a:ext cx="10357811" cy="328612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5" idx="0"/>
            <a:endCxn id="29" idx="0"/>
          </p:cNvCxnSpPr>
          <p:nvPr userDrawn="1"/>
        </p:nvCxnSpPr>
        <p:spPr>
          <a:xfrm flipH="1" flipV="1">
            <a:off x="522318" y="136498"/>
            <a:ext cx="1781174" cy="447651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2" idx="1"/>
          </p:cNvCxnSpPr>
          <p:nvPr userDrawn="1"/>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椭圆 41"/>
          <p:cNvSpPr/>
          <p:nvPr userDrawn="1"/>
        </p:nvSpPr>
        <p:spPr>
          <a:xfrm>
            <a:off x="10746224" y="645491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43" name="直接连接符 42"/>
          <p:cNvCxnSpPr>
            <a:stCxn id="42" idx="5"/>
            <a:endCxn id="48" idx="5"/>
          </p:cNvCxnSpPr>
          <p:nvPr userDrawn="1"/>
        </p:nvCxnSpPr>
        <p:spPr>
          <a:xfrm flipH="1" flipV="1">
            <a:off x="7151834" y="716813"/>
            <a:ext cx="3695622" cy="58409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椭圆 47"/>
          <p:cNvSpPr/>
          <p:nvPr userDrawn="1"/>
        </p:nvSpPr>
        <p:spPr>
          <a:xfrm>
            <a:off x="7050602" y="61399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49" name="直接连接符 48"/>
          <p:cNvCxnSpPr>
            <a:stCxn id="48" idx="2"/>
            <a:endCxn id="29" idx="5"/>
          </p:cNvCxnSpPr>
          <p:nvPr userDrawn="1"/>
        </p:nvCxnSpPr>
        <p:spPr>
          <a:xfrm flipH="1" flipV="1">
            <a:off x="560502" y="228682"/>
            <a:ext cx="6490100" cy="44554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1"/>
            <a:endCxn id="18" idx="6"/>
          </p:cNvCxnSpPr>
          <p:nvPr userDrawn="1"/>
        </p:nvCxnSpPr>
        <p:spPr>
          <a:xfrm flipH="1" flipV="1">
            <a:off x="273827" y="1017586"/>
            <a:ext cx="249084" cy="2217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26" idx="6"/>
            <a:endCxn id="28" idx="3"/>
          </p:cNvCxnSpPr>
          <p:nvPr userDrawn="1"/>
        </p:nvCxnSpPr>
        <p:spPr>
          <a:xfrm flipV="1">
            <a:off x="624143" y="950851"/>
            <a:ext cx="572540" cy="33106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饼形 75"/>
          <p:cNvSpPr/>
          <p:nvPr userDrawn="1"/>
        </p:nvSpPr>
        <p:spPr>
          <a:xfrm rot="16200000" flipV="1">
            <a:off x="9411401" y="-989509"/>
            <a:ext cx="2147694" cy="1968252"/>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 name="标题 1"/>
          <p:cNvSpPr>
            <a:spLocks noGrp="1"/>
          </p:cNvSpPr>
          <p:nvPr>
            <p:ph type="title"/>
          </p:nvPr>
        </p:nvSpPr>
        <p:spPr>
          <a:xfrm>
            <a:off x="838835" y="374015"/>
            <a:ext cx="10515600" cy="1325563"/>
          </a:xfrm>
        </p:spPr>
        <p:txBody>
          <a:bodyPr/>
          <a:lstStyle>
            <a:lvl1pPr>
              <a:defRPr>
                <a:latin typeface="宋体" panose="02010600030101010101" pitchFamily="2" charset="-122"/>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10516235" cy="435165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宋体" panose="02010600030101010101" pitchFamily="2" charset="-122"/>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10516235" cy="435165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4" name="组合 3"/>
          <p:cNvGrpSpPr/>
          <p:nvPr userDrawn="1"/>
        </p:nvGrpSpPr>
        <p:grpSpPr>
          <a:xfrm>
            <a:off x="0" y="-187198"/>
            <a:ext cx="1307732" cy="1733935"/>
            <a:chOff x="0" y="-187198"/>
            <a:chExt cx="1307732" cy="1733935"/>
          </a:xfrm>
        </p:grpSpPr>
        <p:sp>
          <p:nvSpPr>
            <p:cNvPr id="8" name="同心圆 7"/>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9" name="椭圆 8"/>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0" name="直接连接符 9"/>
            <p:cNvCxnSpPr>
              <a:stCxn id="9"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 name="椭圆 11"/>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3" name="直接连接符 12"/>
            <p:cNvCxnSpPr>
              <a:endCxn id="12"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16" name="直接连接符 15"/>
            <p:cNvCxnSpPr>
              <a:stCxn id="11"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同心圆 16"/>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18" name="直接连接符 17"/>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0" name="直接连接符 19"/>
            <p:cNvCxnSpPr>
              <a:stCxn id="19"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cxnSp>
          <p:nvCxnSpPr>
            <p:cNvPr id="22" name="直接连接符 21"/>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4" name="椭圆 23"/>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5" name="椭圆 24"/>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26" name="同心圆 25"/>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7" name="同心圆 26"/>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28" name="同心圆 27"/>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cxnSp>
          <p:nvCxnSpPr>
            <p:cNvPr id="29" name="直接连接符 28"/>
            <p:cNvCxnSpPr>
              <a:stCxn id="26" idx="4"/>
              <a:endCxn id="25"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8"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6"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9"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饼形 63"/>
          <p:cNvSpPr/>
          <p:nvPr userDrawn="1"/>
        </p:nvSpPr>
        <p:spPr>
          <a:xfrm rot="10800000" flipH="1">
            <a:off x="10541157" y="5189537"/>
            <a:ext cx="3331829" cy="3336925"/>
          </a:xfrm>
          <a:prstGeom prst="pie">
            <a:avLst>
              <a:gd name="adj1" fmla="val 5387752"/>
              <a:gd name="adj2" fmla="val 10811571"/>
            </a:avLst>
          </a:prstGeom>
          <a:solidFill>
            <a:schemeClr val="tx2">
              <a:lumMod val="5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atin typeface="宋体" panose="02010600030101010101" pitchFamily="2" charset="-122"/>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10516235" cy="435165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65" name="直接连接符 64"/>
          <p:cNvCxnSpPr/>
          <p:nvPr userDrawn="1"/>
        </p:nvCxnSpPr>
        <p:spPr>
          <a:xfrm flipV="1">
            <a:off x="1" y="-10700"/>
            <a:ext cx="150147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userDrawn="1"/>
        </p:nvCxnSpPr>
        <p:spPr>
          <a:xfrm>
            <a:off x="2" y="348476"/>
            <a:ext cx="1403167"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userDrawn="1"/>
        </p:nvCxnSpPr>
        <p:spPr>
          <a:xfrm flipV="1">
            <a:off x="2" y="-10700"/>
            <a:ext cx="3628569"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2" y="506163"/>
            <a:ext cx="1850033"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userDrawn="1"/>
        </p:nvCxnSpPr>
        <p:spPr>
          <a:xfrm flipV="1">
            <a:off x="2" y="-6320"/>
            <a:ext cx="2323714"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flipV="1">
            <a:off x="1" y="414179"/>
            <a:ext cx="2466714"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userDrawn="1"/>
        </p:nvCxnSpPr>
        <p:spPr>
          <a:xfrm>
            <a:off x="0" y="212691"/>
            <a:ext cx="1689163"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2" y="-10700"/>
            <a:ext cx="1398696"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flipH="1" flipV="1">
            <a:off x="339621" y="-28220"/>
            <a:ext cx="71945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userDrawn="1"/>
        </p:nvCxnSpPr>
        <p:spPr>
          <a:xfrm flipH="1" flipV="1">
            <a:off x="625617" y="-6319"/>
            <a:ext cx="283202"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flipV="1">
            <a:off x="621146" y="-6319"/>
            <a:ext cx="25750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flipV="1">
            <a:off x="256386" y="-6320"/>
            <a:ext cx="910778"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椭圆 102"/>
          <p:cNvSpPr/>
          <p:nvPr userDrawn="1"/>
        </p:nvSpPr>
        <p:spPr>
          <a:xfrm>
            <a:off x="678648" y="5357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4" name="椭圆 103"/>
          <p:cNvSpPr/>
          <p:nvPr userDrawn="1"/>
        </p:nvSpPr>
        <p:spPr>
          <a:xfrm>
            <a:off x="197116" y="1202613"/>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5" name="椭圆 104"/>
          <p:cNvSpPr/>
          <p:nvPr userDrawn="1"/>
        </p:nvSpPr>
        <p:spPr>
          <a:xfrm>
            <a:off x="2405023" y="352859"/>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6" name="椭圆 105"/>
          <p:cNvSpPr/>
          <p:nvPr userDrawn="1"/>
        </p:nvSpPr>
        <p:spPr>
          <a:xfrm>
            <a:off x="1313549" y="7120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7" name="椭圆 106"/>
          <p:cNvSpPr/>
          <p:nvPr userDrawn="1"/>
        </p:nvSpPr>
        <p:spPr>
          <a:xfrm>
            <a:off x="1007623" y="1060791"/>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8" name="椭圆 107"/>
          <p:cNvSpPr/>
          <p:nvPr userDrawn="1"/>
        </p:nvSpPr>
        <p:spPr>
          <a:xfrm>
            <a:off x="222677" y="947976"/>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09" name="椭圆 108"/>
          <p:cNvSpPr/>
          <p:nvPr userDrawn="1"/>
        </p:nvSpPr>
        <p:spPr>
          <a:xfrm>
            <a:off x="85240" y="648442"/>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0" name="椭圆 109"/>
          <p:cNvSpPr/>
          <p:nvPr userDrawn="1"/>
        </p:nvSpPr>
        <p:spPr>
          <a:xfrm>
            <a:off x="440531" y="1480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1" name="椭圆 110"/>
          <p:cNvSpPr/>
          <p:nvPr userDrawn="1"/>
        </p:nvSpPr>
        <p:spPr>
          <a:xfrm>
            <a:off x="1141518" y="4552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2" name="椭圆 111"/>
          <p:cNvSpPr/>
          <p:nvPr userDrawn="1"/>
        </p:nvSpPr>
        <p:spPr>
          <a:xfrm>
            <a:off x="1186287" y="981950"/>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3" name="椭圆 112"/>
          <p:cNvSpPr/>
          <p:nvPr userDrawn="1"/>
        </p:nvSpPr>
        <p:spPr>
          <a:xfrm>
            <a:off x="1272797" y="142049"/>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14" name="同心圆 113"/>
          <p:cNvSpPr/>
          <p:nvPr userDrawn="1"/>
        </p:nvSpPr>
        <p:spPr>
          <a:xfrm>
            <a:off x="820552" y="1334020"/>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15" name="同心圆 114"/>
          <p:cNvSpPr/>
          <p:nvPr userDrawn="1"/>
        </p:nvSpPr>
        <p:spPr>
          <a:xfrm>
            <a:off x="1812696" y="579252"/>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16" name="同心圆 115"/>
          <p:cNvSpPr/>
          <p:nvPr userDrawn="1"/>
        </p:nvSpPr>
        <p:spPr>
          <a:xfrm>
            <a:off x="1354356" y="1143483"/>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17" name="同心圆 116"/>
          <p:cNvSpPr/>
          <p:nvPr userDrawn="1"/>
        </p:nvSpPr>
        <p:spPr>
          <a:xfrm>
            <a:off x="549996" y="116209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18" name="同心圆 117"/>
          <p:cNvSpPr/>
          <p:nvPr userDrawn="1"/>
        </p:nvSpPr>
        <p:spPr>
          <a:xfrm>
            <a:off x="352847" y="42731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19" name="同心圆 118"/>
          <p:cNvSpPr/>
          <p:nvPr userDrawn="1"/>
        </p:nvSpPr>
        <p:spPr>
          <a:xfrm>
            <a:off x="1992359" y="68145"/>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121" name="椭圆 120"/>
          <p:cNvSpPr/>
          <p:nvPr userDrawn="1"/>
        </p:nvSpPr>
        <p:spPr>
          <a:xfrm>
            <a:off x="1632705" y="1119388"/>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28" name="直接连接符 27"/>
          <p:cNvCxnSpPr/>
          <p:nvPr userDrawn="1"/>
        </p:nvCxnSpPr>
        <p:spPr>
          <a:xfrm flipH="1" flipV="1">
            <a:off x="10660490" y="17520"/>
            <a:ext cx="153150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H="1">
            <a:off x="10760766" y="376696"/>
            <a:ext cx="1431231"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flipH="1" flipV="1">
            <a:off x="8490855" y="-58446"/>
            <a:ext cx="3701141"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H="1">
            <a:off x="10304962" y="534383"/>
            <a:ext cx="1887035"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flipH="1" flipV="1">
            <a:off x="9821808" y="21900"/>
            <a:ext cx="2370189"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flipV="1">
            <a:off x="9675950" y="442399"/>
            <a:ext cx="2516048"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H="1">
            <a:off x="10469053" y="240911"/>
            <a:ext cx="1722946"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flipH="1">
            <a:off x="10765326" y="17520"/>
            <a:ext cx="1426670"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flipV="1">
            <a:off x="11111738" y="0"/>
            <a:ext cx="73384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flipV="1">
            <a:off x="11265003" y="21901"/>
            <a:ext cx="288867"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H="1" flipV="1">
            <a:off x="11295771" y="21901"/>
            <a:ext cx="26265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flipV="1">
            <a:off x="11001492" y="21900"/>
            <a:ext cx="928993"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userDrawn="1"/>
        </p:nvSpPr>
        <p:spPr>
          <a:xfrm flipH="1">
            <a:off x="11354422" y="5639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5" name="椭圆 44"/>
          <p:cNvSpPr/>
          <p:nvPr userDrawn="1"/>
        </p:nvSpPr>
        <p:spPr>
          <a:xfrm flipH="1">
            <a:off x="11845585" y="1230833"/>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6" name="椭圆 45"/>
          <p:cNvSpPr/>
          <p:nvPr userDrawn="1"/>
        </p:nvSpPr>
        <p:spPr>
          <a:xfrm flipH="1">
            <a:off x="9593520" y="381079"/>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8" name="椭圆 47"/>
          <p:cNvSpPr/>
          <p:nvPr userDrawn="1"/>
        </p:nvSpPr>
        <p:spPr>
          <a:xfrm flipH="1">
            <a:off x="10706824" y="7402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49" name="椭圆 48"/>
          <p:cNvSpPr/>
          <p:nvPr userDrawn="1"/>
        </p:nvSpPr>
        <p:spPr>
          <a:xfrm flipH="1">
            <a:off x="11106081" y="1089011"/>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0" name="椭圆 49"/>
          <p:cNvSpPr/>
          <p:nvPr userDrawn="1"/>
        </p:nvSpPr>
        <p:spPr>
          <a:xfrm flipH="1">
            <a:off x="11906726" y="976196"/>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2" name="椭圆 51"/>
          <p:cNvSpPr/>
          <p:nvPr userDrawn="1"/>
        </p:nvSpPr>
        <p:spPr>
          <a:xfrm flipH="1">
            <a:off x="12046912" y="676662"/>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3" name="椭圆 52"/>
          <p:cNvSpPr/>
          <p:nvPr userDrawn="1"/>
        </p:nvSpPr>
        <p:spPr>
          <a:xfrm flipH="1">
            <a:off x="11684515" y="1762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4" name="椭圆 53"/>
          <p:cNvSpPr/>
          <p:nvPr userDrawn="1"/>
        </p:nvSpPr>
        <p:spPr>
          <a:xfrm flipH="1">
            <a:off x="10969508" y="4834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5" name="椭圆 54"/>
          <p:cNvSpPr/>
          <p:nvPr userDrawn="1"/>
        </p:nvSpPr>
        <p:spPr>
          <a:xfrm flipH="1">
            <a:off x="10923844" y="1010170"/>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6" name="椭圆 55"/>
          <p:cNvSpPr/>
          <p:nvPr userDrawn="1"/>
        </p:nvSpPr>
        <p:spPr>
          <a:xfrm flipH="1">
            <a:off x="10835603" y="170269"/>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57" name="同心圆 56"/>
          <p:cNvSpPr/>
          <p:nvPr userDrawn="1"/>
        </p:nvSpPr>
        <p:spPr>
          <a:xfrm flipH="1">
            <a:off x="11109065" y="1362240"/>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58" name="同心圆 57"/>
          <p:cNvSpPr/>
          <p:nvPr userDrawn="1"/>
        </p:nvSpPr>
        <p:spPr>
          <a:xfrm flipH="1">
            <a:off x="10097079" y="607472"/>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59" name="同心圆 58"/>
          <p:cNvSpPr/>
          <p:nvPr userDrawn="1"/>
        </p:nvSpPr>
        <p:spPr>
          <a:xfrm flipH="1">
            <a:off x="10690671" y="1171703"/>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0" name="同心圆 59"/>
          <p:cNvSpPr/>
          <p:nvPr userDrawn="1"/>
        </p:nvSpPr>
        <p:spPr>
          <a:xfrm flipH="1">
            <a:off x="11511119" y="119031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1" name="同心圆 60"/>
          <p:cNvSpPr/>
          <p:nvPr userDrawn="1"/>
        </p:nvSpPr>
        <p:spPr>
          <a:xfrm flipH="1">
            <a:off x="11712210" y="45553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2" name="同心圆 61"/>
          <p:cNvSpPr/>
          <p:nvPr userDrawn="1"/>
        </p:nvSpPr>
        <p:spPr>
          <a:xfrm flipH="1">
            <a:off x="10039908" y="96365"/>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
        <p:nvSpPr>
          <p:cNvPr id="63" name="椭圆 62"/>
          <p:cNvSpPr/>
          <p:nvPr userDrawn="1"/>
        </p:nvSpPr>
        <p:spPr>
          <a:xfrm flipH="1">
            <a:off x="10381282" y="1147608"/>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40" name="曲线连接符 39"/>
          <p:cNvCxnSpPr/>
          <p:nvPr userDrawn="1"/>
        </p:nvCxnSpPr>
        <p:spPr>
          <a:xfrm flipV="1">
            <a:off x="-104130" y="381000"/>
            <a:ext cx="12296130" cy="60484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userDrawn="1"/>
        </p:nvCxnSpPr>
        <p:spPr>
          <a:xfrm flipV="1">
            <a:off x="-39365" y="927100"/>
            <a:ext cx="12231365" cy="4912834"/>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userDrawn="1"/>
        </p:nvCxnSpPr>
        <p:spPr>
          <a:xfrm flipV="1">
            <a:off x="-104130" y="1466334"/>
            <a:ext cx="12335495" cy="3720608"/>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userDrawn="1"/>
        </p:nvCxnSpPr>
        <p:spPr>
          <a:xfrm flipV="1">
            <a:off x="-104130" y="2016630"/>
            <a:ext cx="12249125" cy="2509381"/>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userDrawn="1"/>
        </p:nvCxnSpPr>
        <p:spPr>
          <a:xfrm flipV="1">
            <a:off x="-151135" y="2629929"/>
            <a:ext cx="12421865" cy="1331423"/>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userDrawn="1"/>
        </p:nvCxnSpPr>
        <p:spPr>
          <a:xfrm flipV="1">
            <a:off x="0" y="0"/>
            <a:ext cx="12192000" cy="68580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19" name="组合 18"/>
          <p:cNvGrpSpPr/>
          <p:nvPr userDrawn="1"/>
        </p:nvGrpSpPr>
        <p:grpSpPr>
          <a:xfrm>
            <a:off x="-12211664" y="-4006524"/>
            <a:ext cx="26155384" cy="22501629"/>
            <a:chOff x="-12211664" y="-3975409"/>
            <a:chExt cx="26155384" cy="22501629"/>
          </a:xfrm>
        </p:grpSpPr>
        <p:sp>
          <p:nvSpPr>
            <p:cNvPr id="10" name="弧形 9"/>
            <p:cNvSpPr/>
            <p:nvPr/>
          </p:nvSpPr>
          <p:spPr>
            <a:xfrm>
              <a:off x="-12211664" y="0"/>
              <a:ext cx="24403664" cy="13804490"/>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3" name="弧形 12"/>
            <p:cNvSpPr/>
            <p:nvPr/>
          </p:nvSpPr>
          <p:spPr>
            <a:xfrm rot="265175">
              <a:off x="-7079806" y="-872249"/>
              <a:ext cx="19293260" cy="13549928"/>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4" name="弧形 13"/>
            <p:cNvSpPr/>
            <p:nvPr/>
          </p:nvSpPr>
          <p:spPr>
            <a:xfrm rot="667039">
              <a:off x="-6949177" y="-239648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5" name="弧形 14"/>
            <p:cNvSpPr/>
            <p:nvPr/>
          </p:nvSpPr>
          <p:spPr>
            <a:xfrm rot="848162">
              <a:off x="-6949177" y="-397540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6" name="弧形 15"/>
            <p:cNvSpPr/>
            <p:nvPr/>
          </p:nvSpPr>
          <p:spPr>
            <a:xfrm rot="1054644">
              <a:off x="-5969282" y="1756851"/>
              <a:ext cx="19293260" cy="13549928"/>
            </a:xfrm>
            <a:prstGeom prst="arc">
              <a:avLst>
                <a:gd name="adj1" fmla="val 13454952"/>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7" name="弧形 16"/>
            <p:cNvSpPr/>
            <p:nvPr/>
          </p:nvSpPr>
          <p:spPr>
            <a:xfrm rot="21253924">
              <a:off x="-5349540" y="4976292"/>
              <a:ext cx="19293260" cy="13549928"/>
            </a:xfrm>
            <a:prstGeom prst="arc">
              <a:avLst>
                <a:gd name="adj1" fmla="val 14350323"/>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8" name="弧形 17"/>
            <p:cNvSpPr/>
            <p:nvPr/>
          </p:nvSpPr>
          <p:spPr>
            <a:xfrm rot="1083825">
              <a:off x="-5465221" y="3020774"/>
              <a:ext cx="19293260" cy="13549928"/>
            </a:xfrm>
            <a:prstGeom prst="arc">
              <a:avLst>
                <a:gd name="adj1" fmla="val 13225388"/>
                <a:gd name="adj2" fmla="val 19275869"/>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grpSp>
      <p:sp>
        <p:nvSpPr>
          <p:cNvPr id="20" name="饼形 19"/>
          <p:cNvSpPr/>
          <p:nvPr userDrawn="1"/>
        </p:nvSpPr>
        <p:spPr>
          <a:xfrm>
            <a:off x="10331560" y="5208741"/>
            <a:ext cx="3687097" cy="3298518"/>
          </a:xfrm>
          <a:prstGeom prst="pie">
            <a:avLst>
              <a:gd name="adj1" fmla="val 10807598"/>
              <a:gd name="adj2" fmla="val 16250147"/>
            </a:avLst>
          </a:prstGeom>
          <a:solidFill>
            <a:schemeClr val="tx2">
              <a:lumMod val="50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宋体" panose="02010600030101010101" pitchFamily="2" charset="-122"/>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B6BCB2B-05B8-410B-8A11-AEB50A980F3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990694-8966-4915-898A-318595EC17E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34"/>
          <p:cNvSpPr>
            <a:spLocks noGrp="1"/>
          </p:cNvSpPr>
          <p:nvPr>
            <p:ph type="dt" sz="half" idx="10"/>
          </p:nvPr>
        </p:nvSpPr>
        <p:spPr/>
        <p:txBody>
          <a:bodyPr/>
          <a:lstStyle>
            <a:lvl1pPr>
              <a:defRPr/>
            </a:lvl1pPr>
          </a:lstStyle>
          <a:p>
            <a:pPr>
              <a:defRPr/>
            </a:pPr>
            <a:endParaRPr lang="zh-CN" altLang="en-US"/>
          </a:p>
        </p:txBody>
      </p:sp>
      <p:sp>
        <p:nvSpPr>
          <p:cNvPr id="5" name="页脚占位符 1035"/>
          <p:cNvSpPr>
            <a:spLocks noGrp="1"/>
          </p:cNvSpPr>
          <p:nvPr>
            <p:ph type="ftr" sz="quarter" idx="11"/>
          </p:nvPr>
        </p:nvSpPr>
        <p:spPr/>
        <p:txBody>
          <a:bodyPr/>
          <a:lstStyle>
            <a:lvl1pPr>
              <a:defRPr/>
            </a:lvl1pPr>
          </a:lstStyle>
          <a:p>
            <a:pPr>
              <a:defRPr/>
            </a:pPr>
            <a:endParaRPr lang="zh-CN" altLang="en-US"/>
          </a:p>
        </p:txBody>
      </p:sp>
      <p:sp>
        <p:nvSpPr>
          <p:cNvPr id="6" name="灯片编号占位符 1036"/>
          <p:cNvSpPr>
            <a:spLocks noGrp="1"/>
          </p:cNvSpPr>
          <p:nvPr>
            <p:ph type="sldNum" sz="quarter" idx="12"/>
          </p:nvPr>
        </p:nvSpPr>
        <p:spPr/>
        <p:txBody>
          <a:bodyPr/>
          <a:lstStyle>
            <a:lvl1pPr>
              <a:defRPr/>
            </a:lvl1pPr>
          </a:lstStyle>
          <a:p>
            <a:pPr>
              <a:defRPr/>
            </a:pPr>
            <a:fld id="{0D713A33-BC76-4FC4-87D2-E400350D288B}"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宋体" panose="02010600030101010101" pitchFamily="2" charset="-122"/>
                <a:ea typeface="宋体" panose="02010600030101010101" pitchFamily="2" charset="-122"/>
              </a:defRPr>
            </a:lvl1pPr>
          </a:lstStyle>
          <a:p>
            <a:fld id="{001E5F3F-DE72-47CF-93F5-4A6B2262A426}"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宋体" panose="02010600030101010101" pitchFamily="2" charset="-122"/>
                <a:ea typeface="宋体" panose="02010600030101010101" pitchFamily="2"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宋体" panose="02010600030101010101" pitchFamily="2" charset="-122"/>
                <a:ea typeface="宋体" panose="02010600030101010101" pitchFamily="2" charset="-122"/>
              </a:defRPr>
            </a:lvl1pPr>
          </a:lstStyle>
          <a:p>
            <a:fld id="{4F66F381-4499-4D1C-B5DB-A965A1487270}"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宋体" panose="02010600030101010101" pitchFamily="2" charset="-122"/>
          <a:ea typeface="宋体" panose="0201060003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9" Type="http://schemas.openxmlformats.org/officeDocument/2006/relationships/slide" Target="slide55.xml"/><Relationship Id="rId8" Type="http://schemas.openxmlformats.org/officeDocument/2006/relationships/slide" Target="slide54.xml"/><Relationship Id="rId7" Type="http://schemas.openxmlformats.org/officeDocument/2006/relationships/slide" Target="slide42.xml"/><Relationship Id="rId6" Type="http://schemas.openxmlformats.org/officeDocument/2006/relationships/slide" Target="slide27.xml"/><Relationship Id="rId5" Type="http://schemas.openxmlformats.org/officeDocument/2006/relationships/slide" Target="slide20.xml"/><Relationship Id="rId4" Type="http://schemas.openxmlformats.org/officeDocument/2006/relationships/slide" Target="slide39.xml"/><Relationship Id="rId3" Type="http://schemas.openxmlformats.org/officeDocument/2006/relationships/slide" Target="slide21.xml"/><Relationship Id="rId2" Type="http://schemas.openxmlformats.org/officeDocument/2006/relationships/slide" Target="slide13.xml"/><Relationship Id="rId10" Type="http://schemas.openxmlformats.org/officeDocument/2006/relationships/slideLayout" Target="../slideLayouts/slideLayout3.xml"/><Relationship Id="rId1"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6.xml"/><Relationship Id="rId4" Type="http://schemas.openxmlformats.org/officeDocument/2006/relationships/image" Target="../media/image11.emf"/><Relationship Id="rId3" Type="http://schemas.openxmlformats.org/officeDocument/2006/relationships/oleObject" Target="../embeddings/oleObject2.bin"/><Relationship Id="rId2" Type="http://schemas.openxmlformats.org/officeDocument/2006/relationships/image" Target="../media/image10.e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12.emf"/><Relationship Id="rId1" Type="http://schemas.openxmlformats.org/officeDocument/2006/relationships/oleObject" Target="../embeddings/oleObject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13.emf"/><Relationship Id="rId1"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slide" Target="slide42.xml"/><Relationship Id="rId3" Type="http://schemas.openxmlformats.org/officeDocument/2006/relationships/slide" Target="slide53.xml"/><Relationship Id="rId2" Type="http://schemas.openxmlformats.org/officeDocument/2006/relationships/slide" Target="slide50.xml"/><Relationship Id="rId1"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15.emf"/><Relationship Id="rId1" Type="http://schemas.openxmlformats.org/officeDocument/2006/relationships/oleObject" Target="../embeddings/oleObject5.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6.xml"/><Relationship Id="rId6" Type="http://schemas.openxmlformats.org/officeDocument/2006/relationships/image" Target="../media/image18.emf"/><Relationship Id="rId5" Type="http://schemas.openxmlformats.org/officeDocument/2006/relationships/oleObject" Target="../embeddings/oleObject8.bin"/><Relationship Id="rId4" Type="http://schemas.openxmlformats.org/officeDocument/2006/relationships/image" Target="../media/image17.emf"/><Relationship Id="rId3" Type="http://schemas.openxmlformats.org/officeDocument/2006/relationships/oleObject" Target="../embeddings/oleObject7.bin"/><Relationship Id="rId2" Type="http://schemas.openxmlformats.org/officeDocument/2006/relationships/image" Target="../media/image16.emf"/><Relationship Id="rId1" Type="http://schemas.openxmlformats.org/officeDocument/2006/relationships/oleObject" Target="../embeddings/oleObject6.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6.xml"/><Relationship Id="rId6" Type="http://schemas.openxmlformats.org/officeDocument/2006/relationships/image" Target="../media/image21.emf"/><Relationship Id="rId5" Type="http://schemas.openxmlformats.org/officeDocument/2006/relationships/oleObject" Target="../embeddings/oleObject11.bin"/><Relationship Id="rId4" Type="http://schemas.openxmlformats.org/officeDocument/2006/relationships/image" Target="../media/image20.emf"/><Relationship Id="rId3" Type="http://schemas.openxmlformats.org/officeDocument/2006/relationships/oleObject" Target="../embeddings/oleObject10.bin"/><Relationship Id="rId2" Type="http://schemas.openxmlformats.org/officeDocument/2006/relationships/image" Target="../media/image19.emf"/><Relationship Id="rId1" Type="http://schemas.openxmlformats.org/officeDocument/2006/relationships/oleObject" Target="../embeddings/oleObject9.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047750" y="1078230"/>
            <a:ext cx="10704195" cy="1428750"/>
          </a:xfrm>
        </p:spPr>
        <p:txBody>
          <a:bodyPr>
            <a:noAutofit/>
          </a:bodyPr>
          <a:p>
            <a:r>
              <a:rPr lang="zh-CN" altLang="en-US" sz="6600" b="1">
                <a:solidFill>
                  <a:srgbClr val="0000FF"/>
                </a:solidFill>
                <a:latin typeface="等线" panose="02010600030101010101" charset="-122"/>
                <a:ea typeface="等线" panose="02010600030101010101" charset="-122"/>
              </a:rPr>
              <a:t>无线传感器网络（</a:t>
            </a:r>
            <a:r>
              <a:rPr lang="zh-CN" altLang="en-US" b="1">
                <a:solidFill>
                  <a:srgbClr val="0000FF"/>
                </a:solidFill>
                <a:latin typeface="等线" panose="02010600030101010101" charset="-122"/>
                <a:ea typeface="等线" panose="02010600030101010101" charset="-122"/>
              </a:rPr>
              <a:t>微课视频版）</a:t>
            </a:r>
            <a:endParaRPr lang="zh-CN" altLang="en-US" b="1">
              <a:solidFill>
                <a:srgbClr val="0000FF"/>
              </a:solidFill>
              <a:latin typeface="等线" panose="02010600030101010101" charset="-122"/>
              <a:ea typeface="等线" panose="02010600030101010101" charset="-122"/>
            </a:endParaRPr>
          </a:p>
        </p:txBody>
      </p:sp>
      <p:sp>
        <p:nvSpPr>
          <p:cNvPr id="3" name="副标题 2"/>
          <p:cNvSpPr>
            <a:spLocks noGrp="1"/>
          </p:cNvSpPr>
          <p:nvPr>
            <p:ph type="subTitle" idx="1"/>
          </p:nvPr>
        </p:nvSpPr>
        <p:spPr>
          <a:xfrm>
            <a:off x="2994025" y="3651885"/>
            <a:ext cx="6203315" cy="701675"/>
          </a:xfrm>
        </p:spPr>
        <p:txBody>
          <a:bodyPr/>
          <a:p>
            <a:r>
              <a:rPr lang="zh-CN" altLang="en-US" sz="3200" b="1">
                <a:solidFill>
                  <a:schemeClr val="accent2">
                    <a:lumMod val="75000"/>
                  </a:schemeClr>
                </a:solidFill>
                <a:latin typeface="黑体" panose="02010609060101010101" pitchFamily="49" charset="-122"/>
                <a:ea typeface="黑体" panose="02010609060101010101" pitchFamily="49" charset="-122"/>
              </a:rPr>
              <a:t>清华大学出版社</a:t>
            </a:r>
            <a:endParaRPr lang="zh-CN" altLang="en-US" sz="3200" b="1">
              <a:solidFill>
                <a:schemeClr val="accent2">
                  <a:lumMod val="75000"/>
                </a:schemeClr>
              </a:solidFill>
              <a:latin typeface="黑体" panose="02010609060101010101" pitchFamily="49" charset="-122"/>
              <a:ea typeface="黑体" panose="02010609060101010101" pitchFamily="49" charset="-122"/>
            </a:endParaRPr>
          </a:p>
        </p:txBody>
      </p:sp>
      <p:sp>
        <p:nvSpPr>
          <p:cNvPr id="4" name="文本框 3"/>
          <p:cNvSpPr txBox="1"/>
          <p:nvPr/>
        </p:nvSpPr>
        <p:spPr>
          <a:xfrm>
            <a:off x="3161030" y="2756535"/>
            <a:ext cx="7414260" cy="645160"/>
          </a:xfrm>
          <a:prstGeom prst="rect">
            <a:avLst/>
          </a:prstGeom>
          <a:noFill/>
        </p:spPr>
        <p:txBody>
          <a:bodyPr wrap="square" rtlCol="0">
            <a:spAutoFit/>
          </a:bodyPr>
          <a:p>
            <a:r>
              <a:rPr lang="zh-CN" altLang="en-US"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乔建华</a:t>
            </a:r>
            <a:r>
              <a:rPr lang="en-US" altLang="zh-CN"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 </a:t>
            </a:r>
            <a:r>
              <a:rPr lang="zh-CN" altLang="en-US"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田启川</a:t>
            </a:r>
            <a:r>
              <a:rPr lang="en-US" altLang="zh-CN"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 </a:t>
            </a:r>
            <a:r>
              <a:rPr lang="zh-CN" altLang="en-US"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谢维成</a:t>
            </a:r>
            <a:r>
              <a:rPr lang="en-US" altLang="zh-CN" sz="3600" b="1">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  </a:t>
            </a:r>
            <a:r>
              <a:rPr lang="zh-CN" altLang="en-US" sz="3600" b="1">
                <a:solidFill>
                  <a:schemeClr val="accent2">
                    <a:lumMod val="75000"/>
                  </a:schemeClr>
                </a:solidFill>
                <a:latin typeface="楷体" panose="02010609060101010101" charset="-122"/>
                <a:ea typeface="楷体" panose="02010609060101010101" charset="-122"/>
                <a:cs typeface="黑体" panose="02010609060101010101" pitchFamily="49" charset="-122"/>
              </a:rPr>
              <a:t>主编</a:t>
            </a:r>
            <a:endParaRPr lang="zh-CN" altLang="en-US" sz="3600" b="1">
              <a:solidFill>
                <a:schemeClr val="accent2">
                  <a:lumMod val="75000"/>
                </a:schemeClr>
              </a:solidFill>
              <a:latin typeface="楷体" panose="02010609060101010101" charset="-122"/>
              <a:ea typeface="楷体" panose="02010609060101010101" charset="-122"/>
              <a:cs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57395" y="1505585"/>
            <a:ext cx="3077210" cy="1297305"/>
          </a:xfrm>
        </p:spPr>
        <p:txBody>
          <a:bodyPr/>
          <a:lstStyle/>
          <a:p>
            <a:pPr algn="ctr"/>
            <a:r>
              <a:rPr lang="zh-CN" altLang="en-US" sz="5400" b="1">
                <a:solidFill>
                  <a:srgbClr val="0000FF"/>
                </a:solidFill>
                <a:latin typeface="黑体" panose="02010609060101010101" pitchFamily="49" charset="-122"/>
                <a:ea typeface="黑体" panose="02010609060101010101" pitchFamily="49" charset="-122"/>
              </a:rPr>
              <a:t>第4章</a:t>
            </a:r>
            <a:endParaRPr lang="zh-CN" altLang="en-US" sz="5400" b="1" dirty="0"/>
          </a:p>
        </p:txBody>
      </p:sp>
      <p:sp>
        <p:nvSpPr>
          <p:cNvPr id="4" name="文本框 3"/>
          <p:cNvSpPr txBox="1"/>
          <p:nvPr/>
        </p:nvSpPr>
        <p:spPr>
          <a:xfrm>
            <a:off x="1998345" y="3081655"/>
            <a:ext cx="8195310" cy="1106805"/>
          </a:xfrm>
          <a:prstGeom prst="rect">
            <a:avLst/>
          </a:prstGeom>
          <a:noFill/>
        </p:spPr>
        <p:txBody>
          <a:bodyPr wrap="square" rtlCol="0">
            <a:spAutoFit/>
          </a:bodyPr>
          <a:lstStyle/>
          <a:p>
            <a:pPr algn="ctr"/>
            <a:r>
              <a:rPr lang="zh-CN" altLang="en-US" sz="6600" b="1">
                <a:solidFill>
                  <a:srgbClr val="0000FF"/>
                </a:solidFill>
                <a:latin typeface="黑体" panose="02010609060101010101" pitchFamily="49" charset="-122"/>
                <a:ea typeface="黑体" panose="02010609060101010101" pitchFamily="49" charset="-122"/>
              </a:rPr>
              <a:t>数据链路层控制</a:t>
            </a:r>
            <a:endParaRPr lang="zh-CN" altLang="en-US" sz="6600" b="1"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29231" y="30469"/>
            <a:ext cx="6316274" cy="7054850"/>
          </a:xfrm>
          <a:prstGeom prst="rect">
            <a:avLst/>
          </a:prstGeom>
          <a:noFill/>
        </p:spPr>
        <p:txBody>
          <a:bodyPr wrap="square">
            <a:spAutoFit/>
          </a:bodyPr>
          <a:lstStyle/>
          <a:p>
            <a:pPr marL="34290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40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目录</a:t>
            </a:r>
            <a:endParaRPr kumimoji="0" lang="en-US" altLang="zh-CN" sz="40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342900" marR="0" lvl="0" indent="2667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en-US" altLang="zh-CN" sz="3200"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4.1 MAC</a:t>
            </a:r>
            <a:r>
              <a:rPr kumimoji="0" lang="zh-CN" altLang="en-US" sz="3200"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rPr>
              <a:t>协议</a:t>
            </a:r>
            <a:endParaRPr kumimoji="0" lang="en-US" altLang="zh-CN" sz="3200"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4.1.1 MAC</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概述</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4.1.2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基于竞争的</a:t>
            </a: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MAC</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1" action="ppaction://hlinksldjump"/>
              </a:rPr>
              <a:t>协议</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2" action="ppaction://hlinksldjump"/>
              </a:rPr>
              <a:t>4.1.3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2" action="ppaction://hlinksldjump"/>
              </a:rPr>
              <a:t>基于分配型的</a:t>
            </a: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2" action="ppaction://hlinksldjump"/>
              </a:rPr>
              <a:t>MAC</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2" action="ppaction://hlinksldjump"/>
              </a:rPr>
              <a:t>协议</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indent="266700" fontAlgn="base">
              <a:spcBef>
                <a:spcPct val="20000"/>
              </a:spcBef>
              <a:spcAft>
                <a:spcPct val="0"/>
              </a:spcAft>
              <a:buClr>
                <a:srgbClr val="3333CC"/>
              </a:buClr>
              <a:buSzPct val="60000"/>
              <a:buFont typeface="Wingdings" panose="05000000000000000000" pitchFamily="2" charset="2"/>
              <a:buChar char="n"/>
              <a:defRPr/>
            </a:pPr>
            <a:r>
              <a:rPr lang="en-US" altLang="zh-CN"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4.2 </a:t>
            </a:r>
            <a:r>
              <a:rPr lang="zh-CN" altLang="en-US"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拓扑控制</a:t>
            </a:r>
            <a:endParaRPr lang="en-US" altLang="zh-CN"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3" action="ppaction://hlinksldjump"/>
              </a:rPr>
              <a:t>4.2.1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3" action="ppaction://hlinksldjump"/>
              </a:rPr>
              <a:t>网络拓扑结构</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4.2.2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拓扑控制设计目标</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5" action="ppaction://hlinksldjump"/>
              </a:rPr>
              <a:t>4.2.3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5" action="ppaction://hlinksldjump"/>
              </a:rPr>
              <a:t>功率控制技术</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6" action="ppaction://hlinksldjump"/>
              </a:rPr>
              <a:t>4.2.4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6" action="ppaction://hlinksldjump"/>
              </a:rPr>
              <a:t>睡眠调度</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266700" fontAlgn="base">
              <a:lnSpc>
                <a:spcPct val="100000"/>
              </a:lnSpc>
              <a:spcBef>
                <a:spcPct val="20000"/>
              </a:spcBef>
              <a:spcAft>
                <a:spcPct val="0"/>
              </a:spcAft>
              <a:buClr>
                <a:srgbClr val="3333CC"/>
              </a:buClr>
              <a:buSzPct val="60000"/>
              <a:buFont typeface="Wingdings" panose="05000000000000000000" pitchFamily="2" charset="2"/>
              <a:buChar char="n"/>
              <a:defRPr/>
            </a:pPr>
            <a:r>
              <a:rPr lang="en-US" altLang="zh-CN"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4.3 </a:t>
            </a:r>
            <a:r>
              <a:rPr lang="zh-CN" altLang="en-US"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覆盖和连通</a:t>
            </a:r>
            <a:endParaRPr lang="en-US" altLang="zh-CN"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7" action="ppaction://hlinksldjump"/>
              </a:rPr>
              <a:t>4.3.1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7" action="ppaction://hlinksldjump"/>
              </a:rPr>
              <a:t>概述</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8" action="ppaction://hlinksldjump"/>
              </a:rPr>
              <a:t>4.3.2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8" action="ppaction://hlinksldjump"/>
              </a:rPr>
              <a:t>传感器节点感知模型</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9" action="ppaction://hlinksldjump"/>
              </a:rPr>
              <a:t>4.3.3</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9" action="ppaction://hlinksldjump"/>
              </a:rPr>
              <a:t> 覆盖的分类</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742950" marR="0" lvl="1" indent="26670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defRPr/>
            </a:pPr>
            <a:r>
              <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7" action="ppaction://hlinksldjump"/>
              </a:rPr>
              <a:t>4.3.4 </a:t>
            </a:r>
            <a:r>
              <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hlinkClick r:id="rId7" action="ppaction://hlinksldjump"/>
              </a:rPr>
              <a:t>覆盖算法</a:t>
            </a:r>
            <a:endParaRPr kumimoji="0" lang="en-US" altLang="zh-CN"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indent="266700" fontAlgn="base">
              <a:spcBef>
                <a:spcPct val="20000"/>
              </a:spcBef>
              <a:spcAft>
                <a:spcPct val="0"/>
              </a:spcAft>
              <a:buClr>
                <a:srgbClr val="3333CC"/>
              </a:buClr>
              <a:buSzPct val="60000"/>
              <a:buFont typeface="Wingdings" panose="05000000000000000000" pitchFamily="2" charset="2"/>
              <a:buChar char="n"/>
              <a:defRPr/>
            </a:pPr>
            <a:r>
              <a:rPr lang="zh-CN" altLang="en-US"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本章习题</a:t>
            </a:r>
            <a:endParaRPr lang="en-US" altLang="zh-CN" sz="3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2667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endParaRPr kumimoji="0" lang="zh-CN" altLang="en-US" b="1" i="0" u="none" strike="noStrike" kern="1200" cap="none" spc="0" normalizeH="0" baseline="0" noProof="0" dirty="0">
              <a:ln>
                <a:noFill/>
              </a:ln>
              <a:solidFill>
                <a:srgbClr val="33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b="1" i="0" u="sng" strike="noStrike" baseline="0">
                <a:solidFill>
                  <a:srgbClr val="1D41D5"/>
                </a:solidFill>
                <a:uFillTx/>
                <a:latin typeface="Times New Roman" panose="02020603050405020304" pitchFamily="18" charset="0"/>
              </a:rPr>
              <a:t>第4章  数</a:t>
            </a:r>
            <a:r>
              <a:rPr lang="en-US" b="1" u="sng">
                <a:solidFill>
                  <a:srgbClr val="1D41D5"/>
                </a:solidFill>
                <a:uFillTx/>
                <a:latin typeface="Times New Roman" panose="02020603050405020304" pitchFamily="18" charset="0"/>
              </a:rPr>
              <a:t>据链路层控制</a:t>
            </a:r>
            <a:endParaRPr lang="zh-CN" altLang="en-US" b="1" i="0" u="none" strike="noStrike" kern="2200" baseline="0" dirty="0"/>
          </a:p>
        </p:txBody>
      </p:sp>
      <p:sp>
        <p:nvSpPr>
          <p:cNvPr id="5" name="文本框 4"/>
          <p:cNvSpPr txBox="1"/>
          <p:nvPr/>
        </p:nvSpPr>
        <p:spPr>
          <a:xfrm>
            <a:off x="942183" y="1385582"/>
            <a:ext cx="10307634" cy="4438138"/>
          </a:xfrm>
          <a:prstGeom prst="rect">
            <a:avLst/>
          </a:prstGeom>
          <a:noFill/>
        </p:spPr>
        <p:txBody>
          <a:bodyPr wrap="square">
            <a:spAutoFit/>
          </a:bodyPr>
          <a:lstStyle/>
          <a:p>
            <a:pPr marL="34290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概述 </a:t>
            </a:r>
            <a:endParaRPr kumimoji="0" lang="en-US" altLang="zh-CN" sz="2800" b="1" i="0" u="none" strike="noStrike" kern="1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342900" marR="0" lvl="0" indent="2667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在通信网络中，通信的对等实体之间的数据传输通道称为数据链路</a:t>
            </a:r>
            <a:r>
              <a:rPr kumimoji="0" lang="zh-CN" altLang="en-US"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Data Link</a:t>
            </a: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），包含了物理链路和必要的传输控制规范。由于无线信道的特点，使得无线链路不像有线链路那样稳定，无线信道常常存在电磁干扰等诸多不稳定因素，使无线物理信道的通信质量难以保证。</a:t>
            </a:r>
            <a:endParaRPr kumimoji="0" lang="en-US"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342900" marR="0" lvl="0" indent="2667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数据链路协议</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最主要的功能</a:t>
            </a: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是通过该层协议的作用，在一条不太可靠的通信链路上实现可靠的数据传输。数据链路控制协议是在物理层上加上必要的规程来控制节点间的数据传输，实现数据块或数据帧的可靠传输。</a:t>
            </a:r>
            <a:endParaRPr kumimoji="0" lang="en-US"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342900" marR="0" lvl="0" indent="2667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数据链路层（</a:t>
            </a:r>
            <a:r>
              <a:rPr kumimoji="0" lang="en-US"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Data Link Layer</a:t>
            </a: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DLL</a:t>
            </a: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）控制协议主要包含</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介质访问控制层（</a:t>
            </a:r>
            <a:r>
              <a:rPr kumimoji="0" lang="en-US"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Media Access Control</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MAC</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）协议</a:t>
            </a:r>
            <a:r>
              <a:rPr kumimoji="0" lang="zh-CN" altLang="zh-CN" sz="2400" b="1" i="0" u="none" strike="noStrike" kern="1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和</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逻辑链路控制</a:t>
            </a:r>
            <a:r>
              <a:rPr kumimoji="0" lang="en-US"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(Logical Link Control</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LLC)</a:t>
            </a:r>
            <a:r>
              <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协议。</a:t>
            </a:r>
            <a:endParaRPr kumimoji="0" lang="zh-CN" altLang="zh-CN" sz="2400" b="1" i="0" u="none" strike="noStrike" kern="1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67100" y="224364"/>
            <a:ext cx="5461000" cy="938742"/>
          </a:xfrm>
        </p:spPr>
        <p:txBody>
          <a:bodyPr/>
          <a:lstStyle/>
          <a:p>
            <a:r>
              <a:rPr lang="en-US" b="1" u="sng">
                <a:solidFill>
                  <a:srgbClr val="1D41D5"/>
                </a:solidFill>
                <a:uFillTx/>
                <a:latin typeface="Times New Roman" panose="02020603050405020304" pitchFamily="18" charset="0"/>
              </a:rPr>
              <a:t>4.1 MAC协议</a:t>
            </a:r>
            <a:endParaRPr lang="en-US" altLang="en-US" b="1" u="sng" dirty="0">
              <a:solidFill>
                <a:srgbClr val="1D41D5"/>
              </a:solidFill>
              <a:uFillTx/>
              <a:latin typeface="Times New Roman" panose="02020603050405020304" pitchFamily="18" charset="0"/>
            </a:endParaRPr>
          </a:p>
        </p:txBody>
      </p:sp>
      <p:sp>
        <p:nvSpPr>
          <p:cNvPr id="9" name="文本占位符 5122"/>
          <p:cNvSpPr txBox="1">
            <a:spLocks noChangeArrowheads="1"/>
          </p:cNvSpPr>
          <p:nvPr/>
        </p:nvSpPr>
        <p:spPr bwMode="auto">
          <a:xfrm>
            <a:off x="1018117" y="1159931"/>
            <a:ext cx="1058121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4.</a:t>
            </a:r>
            <a:r>
              <a:rPr kumimoji="0" lang="en-US" altLang="zh-CN"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1.1 </a:t>
            </a: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rPr>
              <a:t>MAC概述</a:t>
            </a:r>
            <a:endPar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介质访问控制</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(Medium Access Control)</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简称</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MAC</a:t>
            </a:r>
            <a:r>
              <a:rPr kumimoji="0" lang="zh-CN" altLang="en-US"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根据</a:t>
            </a:r>
            <a:r>
              <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IEEE 802</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参考模型，如</a:t>
            </a:r>
            <a:r>
              <a:rPr kumimoji="0" lang="zh-CN" altLang="en-US"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下</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图所示，数据链路层被进一步分为逻辑链路控制子层（</a:t>
            </a:r>
            <a:r>
              <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LLC</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层）和介质访问控制子层（</a:t>
            </a:r>
            <a:r>
              <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层）。</a:t>
            </a:r>
            <a:r>
              <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层位于物理层之上，负责把物理层的</a:t>
            </a:r>
            <a:r>
              <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“0”“1”</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比特流</a:t>
            </a:r>
            <a:r>
              <a:rPr kumimoji="0" lang="zh-CN"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组建成帧</a:t>
            </a:r>
            <a:r>
              <a:rPr kumimoji="0" lang="zh-CN"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，并通过帧尾部的错误校验信息进行错误校验，提供对共享介质的访问方法。</a:t>
            </a:r>
            <a:endPar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4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p:txBody>
      </p:sp>
      <p:pic>
        <p:nvPicPr>
          <p:cNvPr id="10" name="图片 6"/>
          <p:cNvPicPr>
            <a:picLocks noChangeAspect="1" noChangeArrowheads="1"/>
          </p:cNvPicPr>
          <p:nvPr/>
        </p:nvPicPr>
        <p:blipFill>
          <a:blip r:embed="rId1">
            <a:extLst>
              <a:ext uri="{28A0092B-C50C-407E-A947-70E740481C1C}">
                <a14:useLocalDpi xmlns:a14="http://schemas.microsoft.com/office/drawing/2010/main" val="0"/>
              </a:ext>
            </a:extLst>
          </a:blip>
          <a:srcRect l="4929" t="13213" r="2174"/>
          <a:stretch>
            <a:fillRect/>
          </a:stretch>
        </p:blipFill>
        <p:spPr bwMode="auto">
          <a:xfrm>
            <a:off x="3994944" y="3674536"/>
            <a:ext cx="4405313"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对话气泡: 圆角矩形 10"/>
          <p:cNvSpPr/>
          <p:nvPr/>
        </p:nvSpPr>
        <p:spPr>
          <a:xfrm>
            <a:off x="929640" y="3531870"/>
            <a:ext cx="2437130" cy="944245"/>
          </a:xfrm>
          <a:prstGeom prst="wedgeRoundRectCallout">
            <a:avLst>
              <a:gd name="adj1" fmla="val 71572"/>
              <a:gd name="adj2" fmla="val 20309"/>
              <a:gd name="adj3" fmla="val 16667"/>
            </a:avLst>
          </a:prstGeom>
          <a:noFill/>
          <a:ln w="12700" cap="flat" cmpd="sng" algn="ctr">
            <a:solidFill>
              <a:srgbClr val="00E4A8">
                <a:shade val="50000"/>
              </a:srgbClr>
            </a:solid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0" cap="none" spc="0" normalizeH="0" baseline="0" noProof="0" dirty="0">
                <a:ln>
                  <a:noFill/>
                </a:ln>
                <a:solidFill>
                  <a:srgbClr val="FFFFFF"/>
                </a:solidFill>
                <a:effectLst/>
                <a:uLnTx/>
                <a:uFillTx/>
                <a:latin typeface="Tahoma" panose="020B0604030504040204"/>
                <a:ea typeface="宋体" panose="02010600030101010101" pitchFamily="2" charset="-122"/>
                <a:cs typeface="+mn-cs"/>
              </a:rPr>
              <a:t> </a:t>
            </a:r>
            <a:r>
              <a:rPr kumimoji="0" lang="zh-CN" altLang="en-US" sz="2000" b="1" i="0" u="none" strike="noStrike" kern="0" cap="none" spc="0" normalizeH="0" baseline="0" noProof="0" dirty="0">
                <a:ln>
                  <a:noFill/>
                </a:ln>
                <a:solidFill>
                  <a:srgbClr val="333333"/>
                </a:solidFill>
                <a:effectLst/>
                <a:uLnTx/>
                <a:uFillTx/>
                <a:latin typeface="Helvetica Neue"/>
                <a:ea typeface="宋体" panose="02010600030101010101" pitchFamily="2" charset="-122"/>
                <a:cs typeface="+mn-cs"/>
              </a:rPr>
              <a:t>开放式系统互联通信参考模型</a:t>
            </a:r>
            <a:endParaRPr kumimoji="0" lang="zh-CN" altLang="en-US" sz="2000" b="0" i="0" u="none" strike="noStrike" kern="0" cap="none" spc="0" normalizeH="0" baseline="0" noProof="0" dirty="0">
              <a:ln>
                <a:noFill/>
              </a:ln>
              <a:solidFill>
                <a:srgbClr val="FFFFFF"/>
              </a:solidFill>
              <a:effectLst/>
              <a:uLnTx/>
              <a:uFillTx/>
              <a:latin typeface="Tahoma" panose="020B0604030504040204"/>
              <a:ea typeface="宋体" panose="02010600030101010101" pitchFamily="2" charset="-122"/>
              <a:cs typeface="+mn-cs"/>
            </a:endParaRPr>
          </a:p>
        </p:txBody>
      </p:sp>
      <p:sp>
        <p:nvSpPr>
          <p:cNvPr id="12" name="对话气泡: 圆角矩形 11"/>
          <p:cNvSpPr/>
          <p:nvPr/>
        </p:nvSpPr>
        <p:spPr>
          <a:xfrm>
            <a:off x="8400415" y="3181350"/>
            <a:ext cx="2832100" cy="1076325"/>
          </a:xfrm>
          <a:prstGeom prst="wedgeRoundRectCallout">
            <a:avLst>
              <a:gd name="adj1" fmla="val -77044"/>
              <a:gd name="adj2" fmla="val 18053"/>
              <a:gd name="adj3" fmla="val 16667"/>
            </a:avLst>
          </a:prstGeom>
          <a:noFill/>
          <a:ln w="12700" cap="flat" cmpd="sng" algn="ctr">
            <a:solidFill>
              <a:srgbClr val="00E4A8">
                <a:shade val="50000"/>
              </a:srgbClr>
            </a:solid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0" cap="none" spc="0" normalizeH="0" baseline="0" noProof="0" dirty="0">
                <a:ln>
                  <a:noFill/>
                </a:ln>
                <a:solidFill>
                  <a:srgbClr val="333333"/>
                </a:solidFill>
                <a:effectLst/>
                <a:uLnTx/>
                <a:uFillTx/>
                <a:latin typeface="Helvetica Neue"/>
                <a:ea typeface="宋体" panose="02010600030101010101" pitchFamily="2" charset="-122"/>
                <a:cs typeface="+mn-cs"/>
              </a:rPr>
              <a:t>IEEE</a:t>
            </a:r>
            <a:r>
              <a:rPr kumimoji="0" lang="zh-CN" altLang="en-US" sz="2000" b="1" i="0" u="none" strike="noStrike" kern="0" cap="none" spc="0" normalizeH="0" baseline="0" noProof="0" dirty="0">
                <a:ln>
                  <a:noFill/>
                </a:ln>
                <a:solidFill>
                  <a:srgbClr val="333333"/>
                </a:solidFill>
                <a:effectLst/>
                <a:uLnTx/>
                <a:uFillTx/>
                <a:latin typeface="Helvetica Neue"/>
                <a:ea typeface="宋体" panose="02010600030101010101" pitchFamily="2" charset="-122"/>
                <a:cs typeface="+mn-cs"/>
              </a:rPr>
              <a:t>标准中关于局域网和城域网的一系列标准</a:t>
            </a:r>
            <a:endParaRPr kumimoji="0" lang="zh-CN" altLang="en-US" sz="2000" b="1" i="0" u="none" strike="noStrike" kern="0" cap="none" spc="0" normalizeH="0" baseline="0" noProof="0" dirty="0">
              <a:ln>
                <a:noFill/>
              </a:ln>
              <a:solidFill>
                <a:srgbClr val="FFFFFF"/>
              </a:solidFill>
              <a:effectLst/>
              <a:uLnTx/>
              <a:uFillTx/>
              <a:latin typeface="Tahoma" panose="020B0604030504040204"/>
              <a:ea typeface="宋体" panose="02010600030101010101" pitchFamily="2" charset="-122"/>
              <a:cs typeface="+mn-cs"/>
            </a:endParaRPr>
          </a:p>
        </p:txBody>
      </p:sp>
      <p:sp>
        <p:nvSpPr>
          <p:cNvPr id="13" name="文本框 12"/>
          <p:cNvSpPr txBox="1"/>
          <p:nvPr/>
        </p:nvSpPr>
        <p:spPr>
          <a:xfrm>
            <a:off x="4909185" y="6357620"/>
            <a:ext cx="3054350" cy="368300"/>
          </a:xfrm>
          <a:prstGeom prst="rect">
            <a:avLst/>
          </a:prstGeom>
          <a:noFill/>
        </p:spPr>
        <p:txBody>
          <a:bodyPr wrap="square">
            <a:spAutoFit/>
          </a:bodyPr>
          <a:lstStyle/>
          <a:p>
            <a:pPr eaLnBrk="0" fontAlgn="base" hangingPunct="0">
              <a:spcBef>
                <a:spcPct val="0"/>
              </a:spcBef>
              <a:spcAft>
                <a:spcPct val="0"/>
              </a:spcAft>
              <a:defRPr/>
            </a:pPr>
            <a:r>
              <a:rPr lang="zh-CN" altLang="en-US" b="1" dirty="0">
                <a:solidFill>
                  <a:srgbClr val="1C1C1C"/>
                </a:solidFill>
                <a:latin typeface="宋体" panose="02010600030101010101" pitchFamily="2" charset="-122"/>
                <a:ea typeface="宋体" panose="02010600030101010101" pitchFamily="2" charset="-122"/>
              </a:rPr>
              <a:t>图</a:t>
            </a:r>
            <a:r>
              <a:rPr lang="en-US" altLang="zh-CN" b="1" dirty="0">
                <a:solidFill>
                  <a:srgbClr val="1C1C1C"/>
                </a:solidFill>
                <a:latin typeface="宋体" panose="02010600030101010101" pitchFamily="2" charset="-122"/>
                <a:ea typeface="宋体" panose="02010600030101010101" pitchFamily="2" charset="-122"/>
              </a:rPr>
              <a:t>4-1-1 </a:t>
            </a:r>
            <a:r>
              <a:rPr lang="en-US" altLang="zh-CN" b="1" kern="100" dirty="0">
                <a:solidFill>
                  <a:srgbClr val="1C1C1C"/>
                </a:solidFill>
                <a:latin typeface="宋体" panose="02010600030101010101" pitchFamily="2" charset="-122"/>
                <a:ea typeface="宋体" panose="02010600030101010101" pitchFamily="2" charset="-122"/>
              </a:rPr>
              <a:t>IEEE 802</a:t>
            </a:r>
            <a:r>
              <a:rPr lang="zh-CN" altLang="zh-CN" b="1" kern="100" dirty="0">
                <a:solidFill>
                  <a:srgbClr val="1C1C1C"/>
                </a:solidFill>
                <a:latin typeface="宋体" panose="02010600030101010101" pitchFamily="2" charset="-122"/>
                <a:ea typeface="宋体" panose="02010600030101010101" pitchFamily="2" charset="-122"/>
                <a:cs typeface="Times New Roman" panose="02020603050405020304" pitchFamily="18" charset="0"/>
              </a:rPr>
              <a:t>参考模型</a:t>
            </a:r>
            <a:endParaRPr lang="zh-CN" altLang="en-US" b="1" dirty="0">
              <a:solidFill>
                <a:srgbClr val="1C1C1C"/>
              </a:solidFill>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122"/>
          <p:cNvSpPr txBox="1">
            <a:spLocks noChangeArrowheads="1"/>
          </p:cNvSpPr>
          <p:nvPr/>
        </p:nvSpPr>
        <p:spPr bwMode="auto">
          <a:xfrm>
            <a:off x="1024467" y="1320800"/>
            <a:ext cx="10286999"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   </a:t>
            </a: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层的主要功能是决定一个节点可以访问共享介质的时间，并解决可能发生在竞争节点之间的潜在冲突。此外，它还负责纠正物理层的通信错误以及执行其他功能，例如组帧、寻址和流量控制。</a:t>
            </a: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为了建立可靠稳定的无线传感器网络，在设计无线传感器网络的</a:t>
            </a: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层协议时需要着重考虑</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要</a:t>
            </a:r>
            <a:r>
              <a:rPr kumimoji="0" lang="zh-CN" altLang="en-US"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降低能耗</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，保持</a:t>
            </a:r>
            <a:r>
              <a:rPr kumimoji="0" lang="zh-CN" altLang="en-US"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实时性</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，拥有</a:t>
            </a:r>
            <a:r>
              <a:rPr kumimoji="0" lang="zh-CN" altLang="en-US"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自组织</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能力，采用</a:t>
            </a:r>
            <a:r>
              <a:rPr kumimoji="0" lang="zh-CN" altLang="en-US"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分布式</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算法，平衡</a:t>
            </a:r>
            <a:r>
              <a:rPr kumimoji="0" lang="zh-CN" altLang="en-US"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网络性能</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等方面。</a:t>
            </a: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   </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而在设计</a:t>
            </a: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协议</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时</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面临的</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主要问题有</a:t>
            </a: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空闲监听问题，冲突碰撞问题，控制开销问题，以及串扰问题。</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目前，无线网络</a:t>
            </a:r>
            <a:r>
              <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MAC</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协议的信道访问控制方式主要分为两类，一类是</a:t>
            </a:r>
            <a:r>
              <a:rPr kumimoji="0" lang="zh-CN" altLang="zh-CN"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基于竞争的信道访问控制</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，另一类是</a:t>
            </a:r>
            <a:r>
              <a:rPr kumimoji="0" lang="zh-CN" altLang="zh-CN" sz="20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基于分配的信道访问控制</a:t>
            </a:r>
            <a:r>
              <a:rPr kumimoji="0" lang="zh-CN"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rPr>
              <a:t>。</a:t>
            </a: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zh-CN" altLang="zh-CN" sz="18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457200" marR="0" lvl="1" indent="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None/>
              <a:defRPr/>
            </a:pPr>
            <a:endParaRPr kumimoji="0" lang="zh-CN" altLang="zh-CN" sz="16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zh-CN" altLang="en-US" sz="2000" b="1" i="0" u="none" strike="noStrike" kern="1200" cap="none" spc="0" normalizeH="0" baseline="0" noProof="0" dirty="0">
              <a:ln>
                <a:noFill/>
              </a:ln>
              <a:solidFill>
                <a:srgbClr val="1C1C1C"/>
              </a:solidFill>
              <a:effectLst/>
              <a:uLnTx/>
              <a:uFillTx/>
              <a:latin typeface="宋体" panose="02010600030101010101" pitchFamily="2" charset="-122"/>
              <a:ea typeface="宋体" panose="02010600030101010101" pitchFamily="2" charset="-122"/>
              <a:cs typeface="+mn-cs"/>
            </a:endParaRPr>
          </a:p>
        </p:txBody>
      </p:sp>
      <p:graphicFrame>
        <p:nvGraphicFramePr>
          <p:cNvPr id="5" name="表格 3"/>
          <p:cNvGraphicFramePr>
            <a:graphicFrameLocks noGrp="1"/>
          </p:cNvGraphicFramePr>
          <p:nvPr>
            <p:custDataLst>
              <p:tags r:id="rId1"/>
            </p:custDataLst>
          </p:nvPr>
        </p:nvGraphicFramePr>
        <p:xfrm>
          <a:off x="2266950" y="4053840"/>
          <a:ext cx="7619365" cy="2739390"/>
        </p:xfrm>
        <a:graphic>
          <a:graphicData uri="http://schemas.openxmlformats.org/drawingml/2006/table">
            <a:tbl>
              <a:tblPr firstRow="1" bandRow="1"/>
              <a:tblGrid>
                <a:gridCol w="1524000"/>
                <a:gridCol w="1254125"/>
                <a:gridCol w="1269365"/>
                <a:gridCol w="1825625"/>
                <a:gridCol w="1746250"/>
              </a:tblGrid>
              <a:tr h="456565">
                <a:tc>
                  <a:txBody>
                    <a:bodyPr/>
                    <a:lstStyle>
                      <a:lvl1pPr marL="0" algn="l" defTabSz="914400" rtl="0" eaLnBrk="1" latinLnBrk="0" hangingPunct="1">
                        <a:defRPr sz="1800" b="1" kern="1200">
                          <a:solidFill>
                            <a:schemeClr val="lt1"/>
                          </a:solidFill>
                          <a:latin typeface="Tahoma" panose="020B0604030504040204"/>
                          <a:ea typeface="宋体" panose="02010600030101010101" pitchFamily="2" charset="-122"/>
                        </a:defRPr>
                      </a:lvl1pPr>
                      <a:lvl2pPr marL="457200" algn="l" defTabSz="914400" rtl="0" eaLnBrk="1" latinLnBrk="0" hangingPunct="1">
                        <a:defRPr sz="1800" b="1" kern="1200">
                          <a:solidFill>
                            <a:schemeClr val="lt1"/>
                          </a:solidFill>
                          <a:latin typeface="Tahoma" panose="020B0604030504040204"/>
                          <a:ea typeface="宋体" panose="02010600030101010101" pitchFamily="2" charset="-122"/>
                        </a:defRPr>
                      </a:lvl2pPr>
                      <a:lvl3pPr marL="914400" algn="l" defTabSz="914400" rtl="0" eaLnBrk="1" latinLnBrk="0" hangingPunct="1">
                        <a:defRPr sz="1800" b="1" kern="1200">
                          <a:solidFill>
                            <a:schemeClr val="lt1"/>
                          </a:solidFill>
                          <a:latin typeface="Tahoma" panose="020B0604030504040204"/>
                          <a:ea typeface="宋体" panose="02010600030101010101" pitchFamily="2" charset="-122"/>
                        </a:defRPr>
                      </a:lvl3pPr>
                      <a:lvl4pPr marL="1371600" algn="l" defTabSz="914400" rtl="0" eaLnBrk="1" latinLnBrk="0" hangingPunct="1">
                        <a:defRPr sz="1800" b="1" kern="1200">
                          <a:solidFill>
                            <a:schemeClr val="lt1"/>
                          </a:solidFill>
                          <a:latin typeface="Tahoma" panose="020B0604030504040204"/>
                          <a:ea typeface="宋体" panose="02010600030101010101" pitchFamily="2" charset="-122"/>
                        </a:defRPr>
                      </a:lvl4pPr>
                      <a:lvl5pPr marL="1828800" algn="l" defTabSz="914400" rtl="0" eaLnBrk="1" latinLnBrk="0" hangingPunct="1">
                        <a:defRPr sz="1800" b="1" kern="1200">
                          <a:solidFill>
                            <a:schemeClr val="lt1"/>
                          </a:solidFill>
                          <a:latin typeface="Tahoma" panose="020B0604030504040204"/>
                          <a:ea typeface="宋体" panose="02010600030101010101" pitchFamily="2" charset="-122"/>
                        </a:defRPr>
                      </a:lvl5pPr>
                      <a:lvl6pPr marL="2286000" algn="l" defTabSz="914400" rtl="0" eaLnBrk="1" latinLnBrk="0" hangingPunct="1">
                        <a:defRPr sz="1800" b="1" kern="1200">
                          <a:solidFill>
                            <a:schemeClr val="lt1"/>
                          </a:solidFill>
                          <a:latin typeface="Tahoma" panose="020B0604030504040204"/>
                          <a:ea typeface="宋体" panose="02010600030101010101" pitchFamily="2" charset="-122"/>
                        </a:defRPr>
                      </a:lvl6pPr>
                      <a:lvl7pPr marL="2743200" algn="l" defTabSz="914400" rtl="0" eaLnBrk="1" latinLnBrk="0" hangingPunct="1">
                        <a:defRPr sz="1800" b="1" kern="1200">
                          <a:solidFill>
                            <a:schemeClr val="lt1"/>
                          </a:solidFill>
                          <a:latin typeface="Tahoma" panose="020B0604030504040204"/>
                          <a:ea typeface="宋体" panose="02010600030101010101" pitchFamily="2" charset="-122"/>
                        </a:defRPr>
                      </a:lvl7pPr>
                      <a:lvl8pPr marL="3200400" algn="l" defTabSz="914400" rtl="0" eaLnBrk="1" latinLnBrk="0" hangingPunct="1">
                        <a:defRPr sz="1800" b="1" kern="1200">
                          <a:solidFill>
                            <a:schemeClr val="lt1"/>
                          </a:solidFill>
                          <a:latin typeface="Tahoma" panose="020B0604030504040204"/>
                          <a:ea typeface="宋体" panose="02010600030101010101" pitchFamily="2" charset="-122"/>
                        </a:defRPr>
                      </a:lvl8pPr>
                      <a:lvl9pPr marL="3657600" algn="l" defTabSz="914400" rtl="0" eaLnBrk="1" latinLnBrk="0" hangingPunct="1">
                        <a:defRPr sz="1800" b="1" kern="1200">
                          <a:solidFill>
                            <a:schemeClr val="lt1"/>
                          </a:solidFill>
                          <a:latin typeface="Tahoma" panose="020B0604030504040204"/>
                          <a:ea typeface="宋体" panose="02010600030101010101" pitchFamily="2" charset="-122"/>
                        </a:defRPr>
                      </a:lvl9pPr>
                    </a:lstStyle>
                    <a:p>
                      <a:pPr algn="ctr"/>
                      <a:r>
                        <a:rPr lang="zh-CN" altLang="en-US" sz="1400" b="1" dirty="0">
                          <a:solidFill>
                            <a:schemeClr val="bg1"/>
                          </a:solidFill>
                        </a:rPr>
                        <a:t>协议方案</a:t>
                      </a:r>
                      <a:endParaRPr lang="zh-CN" altLang="en-US" sz="1400" b="1" dirty="0">
                        <a:solidFill>
                          <a:schemeClr val="bg1"/>
                        </a:solidFill>
                      </a:endParaRPr>
                    </a:p>
                  </a:txBody>
                  <a:tcPr marL="91442" marR="91442" marT="45733" marB="4573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914400" rtl="0" eaLnBrk="1" latinLnBrk="0" hangingPunct="1">
                        <a:defRPr sz="1800" b="1" kern="1200">
                          <a:solidFill>
                            <a:schemeClr val="lt1"/>
                          </a:solidFill>
                          <a:latin typeface="Tahoma" panose="020B0604030504040204"/>
                          <a:ea typeface="宋体" panose="02010600030101010101" pitchFamily="2" charset="-122"/>
                        </a:defRPr>
                      </a:lvl1pPr>
                      <a:lvl2pPr marL="457200" algn="l" defTabSz="914400" rtl="0" eaLnBrk="1" latinLnBrk="0" hangingPunct="1">
                        <a:defRPr sz="1800" b="1" kern="1200">
                          <a:solidFill>
                            <a:schemeClr val="lt1"/>
                          </a:solidFill>
                          <a:latin typeface="Tahoma" panose="020B0604030504040204"/>
                          <a:ea typeface="宋体" panose="02010600030101010101" pitchFamily="2" charset="-122"/>
                        </a:defRPr>
                      </a:lvl2pPr>
                      <a:lvl3pPr marL="914400" algn="l" defTabSz="914400" rtl="0" eaLnBrk="1" latinLnBrk="0" hangingPunct="1">
                        <a:defRPr sz="1800" b="1" kern="1200">
                          <a:solidFill>
                            <a:schemeClr val="lt1"/>
                          </a:solidFill>
                          <a:latin typeface="Tahoma" panose="020B0604030504040204"/>
                          <a:ea typeface="宋体" panose="02010600030101010101" pitchFamily="2" charset="-122"/>
                        </a:defRPr>
                      </a:lvl3pPr>
                      <a:lvl4pPr marL="1371600" algn="l" defTabSz="914400" rtl="0" eaLnBrk="1" latinLnBrk="0" hangingPunct="1">
                        <a:defRPr sz="1800" b="1" kern="1200">
                          <a:solidFill>
                            <a:schemeClr val="lt1"/>
                          </a:solidFill>
                          <a:latin typeface="Tahoma" panose="020B0604030504040204"/>
                          <a:ea typeface="宋体" panose="02010600030101010101" pitchFamily="2" charset="-122"/>
                        </a:defRPr>
                      </a:lvl4pPr>
                      <a:lvl5pPr marL="1828800" algn="l" defTabSz="914400" rtl="0" eaLnBrk="1" latinLnBrk="0" hangingPunct="1">
                        <a:defRPr sz="1800" b="1" kern="1200">
                          <a:solidFill>
                            <a:schemeClr val="lt1"/>
                          </a:solidFill>
                          <a:latin typeface="Tahoma" panose="020B0604030504040204"/>
                          <a:ea typeface="宋体" panose="02010600030101010101" pitchFamily="2" charset="-122"/>
                        </a:defRPr>
                      </a:lvl5pPr>
                      <a:lvl6pPr marL="2286000" algn="l" defTabSz="914400" rtl="0" eaLnBrk="1" latinLnBrk="0" hangingPunct="1">
                        <a:defRPr sz="1800" b="1" kern="1200">
                          <a:solidFill>
                            <a:schemeClr val="lt1"/>
                          </a:solidFill>
                          <a:latin typeface="Tahoma" panose="020B0604030504040204"/>
                          <a:ea typeface="宋体" panose="02010600030101010101" pitchFamily="2" charset="-122"/>
                        </a:defRPr>
                      </a:lvl6pPr>
                      <a:lvl7pPr marL="2743200" algn="l" defTabSz="914400" rtl="0" eaLnBrk="1" latinLnBrk="0" hangingPunct="1">
                        <a:defRPr sz="1800" b="1" kern="1200">
                          <a:solidFill>
                            <a:schemeClr val="lt1"/>
                          </a:solidFill>
                          <a:latin typeface="Tahoma" panose="020B0604030504040204"/>
                          <a:ea typeface="宋体" panose="02010600030101010101" pitchFamily="2" charset="-122"/>
                        </a:defRPr>
                      </a:lvl7pPr>
                      <a:lvl8pPr marL="3200400" algn="l" defTabSz="914400" rtl="0" eaLnBrk="1" latinLnBrk="0" hangingPunct="1">
                        <a:defRPr sz="1800" b="1" kern="1200">
                          <a:solidFill>
                            <a:schemeClr val="lt1"/>
                          </a:solidFill>
                          <a:latin typeface="Tahoma" panose="020B0604030504040204"/>
                          <a:ea typeface="宋体" panose="02010600030101010101" pitchFamily="2" charset="-122"/>
                        </a:defRPr>
                      </a:lvl8pPr>
                      <a:lvl9pPr marL="3657600" algn="l" defTabSz="914400" rtl="0" eaLnBrk="1" latinLnBrk="0" hangingPunct="1">
                        <a:defRPr sz="1800" b="1" kern="1200">
                          <a:solidFill>
                            <a:schemeClr val="lt1"/>
                          </a:solidFill>
                          <a:latin typeface="Tahoma" panose="020B0604030504040204"/>
                          <a:ea typeface="宋体" panose="02010600030101010101" pitchFamily="2" charset="-122"/>
                        </a:defRPr>
                      </a:lvl9pPr>
                    </a:lstStyle>
                    <a:p>
                      <a:pPr algn="ctr"/>
                      <a:r>
                        <a:rPr lang="zh-CN" altLang="en-US" sz="1400" b="1" dirty="0">
                          <a:solidFill>
                            <a:schemeClr val="bg1"/>
                          </a:solidFill>
                        </a:rPr>
                        <a:t>出现时间</a:t>
                      </a:r>
                      <a:endParaRPr lang="zh-CN" altLang="en-US" sz="1400" b="1" dirty="0">
                        <a:solidFill>
                          <a:schemeClr val="bg1"/>
                        </a:solidFill>
                      </a:endParaRPr>
                    </a:p>
                  </a:txBody>
                  <a:tcPr marL="91442" marR="91442" marT="45733" marB="4573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914400" rtl="0" eaLnBrk="1" latinLnBrk="0" hangingPunct="1">
                        <a:defRPr sz="1800" b="1" kern="1200">
                          <a:solidFill>
                            <a:schemeClr val="lt1"/>
                          </a:solidFill>
                          <a:latin typeface="Tahoma" panose="020B0604030504040204"/>
                          <a:ea typeface="宋体" panose="02010600030101010101" pitchFamily="2" charset="-122"/>
                        </a:defRPr>
                      </a:lvl1pPr>
                      <a:lvl2pPr marL="457200" algn="l" defTabSz="914400" rtl="0" eaLnBrk="1" latinLnBrk="0" hangingPunct="1">
                        <a:defRPr sz="1800" b="1" kern="1200">
                          <a:solidFill>
                            <a:schemeClr val="lt1"/>
                          </a:solidFill>
                          <a:latin typeface="Tahoma" panose="020B0604030504040204"/>
                          <a:ea typeface="宋体" panose="02010600030101010101" pitchFamily="2" charset="-122"/>
                        </a:defRPr>
                      </a:lvl2pPr>
                      <a:lvl3pPr marL="914400" algn="l" defTabSz="914400" rtl="0" eaLnBrk="1" latinLnBrk="0" hangingPunct="1">
                        <a:defRPr sz="1800" b="1" kern="1200">
                          <a:solidFill>
                            <a:schemeClr val="lt1"/>
                          </a:solidFill>
                          <a:latin typeface="Tahoma" panose="020B0604030504040204"/>
                          <a:ea typeface="宋体" panose="02010600030101010101" pitchFamily="2" charset="-122"/>
                        </a:defRPr>
                      </a:lvl3pPr>
                      <a:lvl4pPr marL="1371600" algn="l" defTabSz="914400" rtl="0" eaLnBrk="1" latinLnBrk="0" hangingPunct="1">
                        <a:defRPr sz="1800" b="1" kern="1200">
                          <a:solidFill>
                            <a:schemeClr val="lt1"/>
                          </a:solidFill>
                          <a:latin typeface="Tahoma" panose="020B0604030504040204"/>
                          <a:ea typeface="宋体" panose="02010600030101010101" pitchFamily="2" charset="-122"/>
                        </a:defRPr>
                      </a:lvl4pPr>
                      <a:lvl5pPr marL="1828800" algn="l" defTabSz="914400" rtl="0" eaLnBrk="1" latinLnBrk="0" hangingPunct="1">
                        <a:defRPr sz="1800" b="1" kern="1200">
                          <a:solidFill>
                            <a:schemeClr val="lt1"/>
                          </a:solidFill>
                          <a:latin typeface="Tahoma" panose="020B0604030504040204"/>
                          <a:ea typeface="宋体" panose="02010600030101010101" pitchFamily="2" charset="-122"/>
                        </a:defRPr>
                      </a:lvl5pPr>
                      <a:lvl6pPr marL="2286000" algn="l" defTabSz="914400" rtl="0" eaLnBrk="1" latinLnBrk="0" hangingPunct="1">
                        <a:defRPr sz="1800" b="1" kern="1200">
                          <a:solidFill>
                            <a:schemeClr val="lt1"/>
                          </a:solidFill>
                          <a:latin typeface="Tahoma" panose="020B0604030504040204"/>
                          <a:ea typeface="宋体" panose="02010600030101010101" pitchFamily="2" charset="-122"/>
                        </a:defRPr>
                      </a:lvl6pPr>
                      <a:lvl7pPr marL="2743200" algn="l" defTabSz="914400" rtl="0" eaLnBrk="1" latinLnBrk="0" hangingPunct="1">
                        <a:defRPr sz="1800" b="1" kern="1200">
                          <a:solidFill>
                            <a:schemeClr val="lt1"/>
                          </a:solidFill>
                          <a:latin typeface="Tahoma" panose="020B0604030504040204"/>
                          <a:ea typeface="宋体" panose="02010600030101010101" pitchFamily="2" charset="-122"/>
                        </a:defRPr>
                      </a:lvl7pPr>
                      <a:lvl8pPr marL="3200400" algn="l" defTabSz="914400" rtl="0" eaLnBrk="1" latinLnBrk="0" hangingPunct="1">
                        <a:defRPr sz="1800" b="1" kern="1200">
                          <a:solidFill>
                            <a:schemeClr val="lt1"/>
                          </a:solidFill>
                          <a:latin typeface="Tahoma" panose="020B0604030504040204"/>
                          <a:ea typeface="宋体" panose="02010600030101010101" pitchFamily="2" charset="-122"/>
                        </a:defRPr>
                      </a:lvl8pPr>
                      <a:lvl9pPr marL="3657600" algn="l" defTabSz="914400" rtl="0" eaLnBrk="1" latinLnBrk="0" hangingPunct="1">
                        <a:defRPr sz="1800" b="1" kern="1200">
                          <a:solidFill>
                            <a:schemeClr val="lt1"/>
                          </a:solidFill>
                          <a:latin typeface="Tahoma" panose="020B0604030504040204"/>
                          <a:ea typeface="宋体" panose="02010600030101010101" pitchFamily="2" charset="-122"/>
                        </a:defRPr>
                      </a:lvl9pPr>
                    </a:lstStyle>
                    <a:p>
                      <a:pPr algn="ctr"/>
                      <a:r>
                        <a:rPr lang="zh-CN" altLang="en-US" sz="1400" b="1" dirty="0">
                          <a:solidFill>
                            <a:schemeClr val="bg1"/>
                          </a:solidFill>
                        </a:rPr>
                        <a:t>类型</a:t>
                      </a:r>
                      <a:endParaRPr lang="zh-CN" altLang="en-US" sz="1400" b="1" dirty="0">
                        <a:solidFill>
                          <a:schemeClr val="bg1"/>
                        </a:solidFill>
                      </a:endParaRPr>
                    </a:p>
                  </a:txBody>
                  <a:tcPr marL="91442" marR="91442" marT="45733" marB="4573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914400" rtl="0" eaLnBrk="1" latinLnBrk="0" hangingPunct="1">
                        <a:defRPr sz="1800" b="1" kern="1200">
                          <a:solidFill>
                            <a:schemeClr val="lt1"/>
                          </a:solidFill>
                          <a:latin typeface="Tahoma" panose="020B0604030504040204"/>
                          <a:ea typeface="宋体" panose="02010600030101010101" pitchFamily="2" charset="-122"/>
                        </a:defRPr>
                      </a:lvl1pPr>
                      <a:lvl2pPr marL="457200" algn="l" defTabSz="914400" rtl="0" eaLnBrk="1" latinLnBrk="0" hangingPunct="1">
                        <a:defRPr sz="1800" b="1" kern="1200">
                          <a:solidFill>
                            <a:schemeClr val="lt1"/>
                          </a:solidFill>
                          <a:latin typeface="Tahoma" panose="020B0604030504040204"/>
                          <a:ea typeface="宋体" panose="02010600030101010101" pitchFamily="2" charset="-122"/>
                        </a:defRPr>
                      </a:lvl2pPr>
                      <a:lvl3pPr marL="914400" algn="l" defTabSz="914400" rtl="0" eaLnBrk="1" latinLnBrk="0" hangingPunct="1">
                        <a:defRPr sz="1800" b="1" kern="1200">
                          <a:solidFill>
                            <a:schemeClr val="lt1"/>
                          </a:solidFill>
                          <a:latin typeface="Tahoma" panose="020B0604030504040204"/>
                          <a:ea typeface="宋体" panose="02010600030101010101" pitchFamily="2" charset="-122"/>
                        </a:defRPr>
                      </a:lvl3pPr>
                      <a:lvl4pPr marL="1371600" algn="l" defTabSz="914400" rtl="0" eaLnBrk="1" latinLnBrk="0" hangingPunct="1">
                        <a:defRPr sz="1800" b="1" kern="1200">
                          <a:solidFill>
                            <a:schemeClr val="lt1"/>
                          </a:solidFill>
                          <a:latin typeface="Tahoma" panose="020B0604030504040204"/>
                          <a:ea typeface="宋体" panose="02010600030101010101" pitchFamily="2" charset="-122"/>
                        </a:defRPr>
                      </a:lvl4pPr>
                      <a:lvl5pPr marL="1828800" algn="l" defTabSz="914400" rtl="0" eaLnBrk="1" latinLnBrk="0" hangingPunct="1">
                        <a:defRPr sz="1800" b="1" kern="1200">
                          <a:solidFill>
                            <a:schemeClr val="lt1"/>
                          </a:solidFill>
                          <a:latin typeface="Tahoma" panose="020B0604030504040204"/>
                          <a:ea typeface="宋体" panose="02010600030101010101" pitchFamily="2" charset="-122"/>
                        </a:defRPr>
                      </a:lvl5pPr>
                      <a:lvl6pPr marL="2286000" algn="l" defTabSz="914400" rtl="0" eaLnBrk="1" latinLnBrk="0" hangingPunct="1">
                        <a:defRPr sz="1800" b="1" kern="1200">
                          <a:solidFill>
                            <a:schemeClr val="lt1"/>
                          </a:solidFill>
                          <a:latin typeface="Tahoma" panose="020B0604030504040204"/>
                          <a:ea typeface="宋体" panose="02010600030101010101" pitchFamily="2" charset="-122"/>
                        </a:defRPr>
                      </a:lvl6pPr>
                      <a:lvl7pPr marL="2743200" algn="l" defTabSz="914400" rtl="0" eaLnBrk="1" latinLnBrk="0" hangingPunct="1">
                        <a:defRPr sz="1800" b="1" kern="1200">
                          <a:solidFill>
                            <a:schemeClr val="lt1"/>
                          </a:solidFill>
                          <a:latin typeface="Tahoma" panose="020B0604030504040204"/>
                          <a:ea typeface="宋体" panose="02010600030101010101" pitchFamily="2" charset="-122"/>
                        </a:defRPr>
                      </a:lvl7pPr>
                      <a:lvl8pPr marL="3200400" algn="l" defTabSz="914400" rtl="0" eaLnBrk="1" latinLnBrk="0" hangingPunct="1">
                        <a:defRPr sz="1800" b="1" kern="1200">
                          <a:solidFill>
                            <a:schemeClr val="lt1"/>
                          </a:solidFill>
                          <a:latin typeface="Tahoma" panose="020B0604030504040204"/>
                          <a:ea typeface="宋体" panose="02010600030101010101" pitchFamily="2" charset="-122"/>
                        </a:defRPr>
                      </a:lvl8pPr>
                      <a:lvl9pPr marL="3657600" algn="l" defTabSz="914400" rtl="0" eaLnBrk="1" latinLnBrk="0" hangingPunct="1">
                        <a:defRPr sz="1800" b="1" kern="1200">
                          <a:solidFill>
                            <a:schemeClr val="lt1"/>
                          </a:solidFill>
                          <a:latin typeface="Tahoma" panose="020B0604030504040204"/>
                          <a:ea typeface="宋体" panose="02010600030101010101" pitchFamily="2" charset="-122"/>
                        </a:defRPr>
                      </a:lvl9pPr>
                    </a:lstStyle>
                    <a:p>
                      <a:pPr algn="ctr"/>
                      <a:r>
                        <a:rPr lang="zh-CN" altLang="en-US" sz="1400" b="1" dirty="0">
                          <a:solidFill>
                            <a:schemeClr val="bg1"/>
                          </a:solidFill>
                        </a:rPr>
                        <a:t>是否需要精确同步</a:t>
                      </a:r>
                      <a:endParaRPr lang="zh-CN" altLang="en-US" sz="1400" b="1" dirty="0">
                        <a:solidFill>
                          <a:schemeClr val="bg1"/>
                        </a:solidFill>
                      </a:endParaRPr>
                    </a:p>
                  </a:txBody>
                  <a:tcPr marL="91442" marR="91442" marT="45733" marB="4573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c>
                  <a:txBody>
                    <a:bodyPr/>
                    <a:lstStyle>
                      <a:lvl1pPr marL="0" algn="l" defTabSz="914400" rtl="0" eaLnBrk="1" latinLnBrk="0" hangingPunct="1">
                        <a:defRPr sz="1800" b="1" kern="1200">
                          <a:solidFill>
                            <a:schemeClr val="lt1"/>
                          </a:solidFill>
                          <a:latin typeface="Tahoma" panose="020B0604030504040204"/>
                          <a:ea typeface="宋体" panose="02010600030101010101" pitchFamily="2" charset="-122"/>
                        </a:defRPr>
                      </a:lvl1pPr>
                      <a:lvl2pPr marL="457200" algn="l" defTabSz="914400" rtl="0" eaLnBrk="1" latinLnBrk="0" hangingPunct="1">
                        <a:defRPr sz="1800" b="1" kern="1200">
                          <a:solidFill>
                            <a:schemeClr val="lt1"/>
                          </a:solidFill>
                          <a:latin typeface="Tahoma" panose="020B0604030504040204"/>
                          <a:ea typeface="宋体" panose="02010600030101010101" pitchFamily="2" charset="-122"/>
                        </a:defRPr>
                      </a:lvl2pPr>
                      <a:lvl3pPr marL="914400" algn="l" defTabSz="914400" rtl="0" eaLnBrk="1" latinLnBrk="0" hangingPunct="1">
                        <a:defRPr sz="1800" b="1" kern="1200">
                          <a:solidFill>
                            <a:schemeClr val="lt1"/>
                          </a:solidFill>
                          <a:latin typeface="Tahoma" panose="020B0604030504040204"/>
                          <a:ea typeface="宋体" panose="02010600030101010101" pitchFamily="2" charset="-122"/>
                        </a:defRPr>
                      </a:lvl3pPr>
                      <a:lvl4pPr marL="1371600" algn="l" defTabSz="914400" rtl="0" eaLnBrk="1" latinLnBrk="0" hangingPunct="1">
                        <a:defRPr sz="1800" b="1" kern="1200">
                          <a:solidFill>
                            <a:schemeClr val="lt1"/>
                          </a:solidFill>
                          <a:latin typeface="Tahoma" panose="020B0604030504040204"/>
                          <a:ea typeface="宋体" panose="02010600030101010101" pitchFamily="2" charset="-122"/>
                        </a:defRPr>
                      </a:lvl4pPr>
                      <a:lvl5pPr marL="1828800" algn="l" defTabSz="914400" rtl="0" eaLnBrk="1" latinLnBrk="0" hangingPunct="1">
                        <a:defRPr sz="1800" b="1" kern="1200">
                          <a:solidFill>
                            <a:schemeClr val="lt1"/>
                          </a:solidFill>
                          <a:latin typeface="Tahoma" panose="020B0604030504040204"/>
                          <a:ea typeface="宋体" panose="02010600030101010101" pitchFamily="2" charset="-122"/>
                        </a:defRPr>
                      </a:lvl5pPr>
                      <a:lvl6pPr marL="2286000" algn="l" defTabSz="914400" rtl="0" eaLnBrk="1" latinLnBrk="0" hangingPunct="1">
                        <a:defRPr sz="1800" b="1" kern="1200">
                          <a:solidFill>
                            <a:schemeClr val="lt1"/>
                          </a:solidFill>
                          <a:latin typeface="Tahoma" panose="020B0604030504040204"/>
                          <a:ea typeface="宋体" panose="02010600030101010101" pitchFamily="2" charset="-122"/>
                        </a:defRPr>
                      </a:lvl6pPr>
                      <a:lvl7pPr marL="2743200" algn="l" defTabSz="914400" rtl="0" eaLnBrk="1" latinLnBrk="0" hangingPunct="1">
                        <a:defRPr sz="1800" b="1" kern="1200">
                          <a:solidFill>
                            <a:schemeClr val="lt1"/>
                          </a:solidFill>
                          <a:latin typeface="Tahoma" panose="020B0604030504040204"/>
                          <a:ea typeface="宋体" panose="02010600030101010101" pitchFamily="2" charset="-122"/>
                        </a:defRPr>
                      </a:lvl7pPr>
                      <a:lvl8pPr marL="3200400" algn="l" defTabSz="914400" rtl="0" eaLnBrk="1" latinLnBrk="0" hangingPunct="1">
                        <a:defRPr sz="1800" b="1" kern="1200">
                          <a:solidFill>
                            <a:schemeClr val="lt1"/>
                          </a:solidFill>
                          <a:latin typeface="Tahoma" panose="020B0604030504040204"/>
                          <a:ea typeface="宋体" panose="02010600030101010101" pitchFamily="2" charset="-122"/>
                        </a:defRPr>
                      </a:lvl8pPr>
                      <a:lvl9pPr marL="3657600" algn="l" defTabSz="914400" rtl="0" eaLnBrk="1" latinLnBrk="0" hangingPunct="1">
                        <a:defRPr sz="1800" b="1" kern="1200">
                          <a:solidFill>
                            <a:schemeClr val="lt1"/>
                          </a:solidFill>
                          <a:latin typeface="Tahoma" panose="020B0604030504040204"/>
                          <a:ea typeface="宋体" panose="02010600030101010101" pitchFamily="2" charset="-122"/>
                        </a:defRPr>
                      </a:lvl9pPr>
                    </a:lstStyle>
                    <a:p>
                      <a:pPr algn="ctr"/>
                      <a:r>
                        <a:rPr lang="zh-CN" altLang="en-US" sz="1400" b="1" dirty="0">
                          <a:solidFill>
                            <a:schemeClr val="bg1"/>
                          </a:solidFill>
                        </a:rPr>
                        <a:t>基本机制</a:t>
                      </a:r>
                      <a:endParaRPr lang="zh-CN" altLang="en-US" sz="1400" b="1" dirty="0">
                        <a:solidFill>
                          <a:schemeClr val="bg1"/>
                        </a:solidFill>
                      </a:endParaRPr>
                    </a:p>
                  </a:txBody>
                  <a:tcPr marL="91442" marR="91442" marT="45733" marB="45733">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33399"/>
                    </a:solidFill>
                  </a:tcPr>
                </a:tc>
              </a:tr>
              <a:tr h="456565">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SMAC</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2002</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zh-CN" altLang="en-US" sz="1400" b="0" dirty="0">
                          <a:solidFill>
                            <a:schemeClr val="tx1"/>
                          </a:solidFill>
                        </a:rPr>
                        <a:t>竞争型</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zh-CN" altLang="en-US" sz="1400" b="0" dirty="0">
                          <a:solidFill>
                            <a:schemeClr val="tx1"/>
                          </a:solidFill>
                        </a:rPr>
                        <a:t>否</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CSMA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r>
              <a:tr h="456565">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400" b="0" dirty="0">
                          <a:solidFill>
                            <a:schemeClr val="tx1"/>
                          </a:solidFill>
                        </a:rPr>
                        <a:t>TMAC</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2003</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400" b="0" dirty="0">
                          <a:solidFill>
                            <a:schemeClr val="tx1"/>
                          </a:solidFill>
                        </a:rPr>
                        <a:t>竞争型</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400" b="0" dirty="0">
                          <a:solidFill>
                            <a:schemeClr val="tx1"/>
                          </a:solidFill>
                        </a:rPr>
                        <a:t>否</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CSMA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r>
              <a:tr h="456565">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SIFT</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2003</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400" b="0" dirty="0">
                          <a:solidFill>
                            <a:schemeClr val="tx1"/>
                          </a:solidFill>
                        </a:rPr>
                        <a:t>竞争型</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400" b="0" dirty="0">
                          <a:solidFill>
                            <a:schemeClr val="tx1"/>
                          </a:solidFill>
                        </a:rPr>
                        <a:t>否</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CSMA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r>
              <a:tr h="456565">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SMACS</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2000</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zh-CN" altLang="en-US" sz="1400" b="0" dirty="0">
                          <a:solidFill>
                            <a:schemeClr val="tx1"/>
                          </a:solidFill>
                        </a:rPr>
                        <a:t>分配型</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zh-CN" altLang="en-US" sz="1400" b="0" dirty="0">
                          <a:solidFill>
                            <a:schemeClr val="tx1"/>
                          </a:solidFill>
                        </a:rPr>
                        <a:t>是</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TDMA/FDMA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20000"/>
                      </a:srgbClr>
                    </a:solidFill>
                  </a:tcPr>
                </a:tc>
              </a:tr>
              <a:tr h="456565">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TRAMA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2003</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400" b="0" dirty="0">
                          <a:solidFill>
                            <a:schemeClr val="tx1"/>
                          </a:solidFill>
                        </a:rPr>
                        <a:t>分配型</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zh-CN" altLang="en-US" sz="1400" b="0" dirty="0">
                          <a:solidFill>
                            <a:schemeClr val="tx1"/>
                          </a:solidFill>
                        </a:rPr>
                        <a:t>是</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lvl1pPr marL="0" algn="l" defTabSz="914400" rtl="0" eaLnBrk="1" latinLnBrk="0" hangingPunct="1">
                        <a:defRPr sz="1800" kern="1200">
                          <a:solidFill>
                            <a:schemeClr val="dk1"/>
                          </a:solidFill>
                          <a:latin typeface="Tahoma" panose="020B0604030504040204"/>
                          <a:ea typeface="宋体" panose="02010600030101010101" pitchFamily="2" charset="-122"/>
                        </a:defRPr>
                      </a:lvl1pPr>
                      <a:lvl2pPr marL="457200" algn="l" defTabSz="914400" rtl="0" eaLnBrk="1" latinLnBrk="0" hangingPunct="1">
                        <a:defRPr sz="1800" kern="1200">
                          <a:solidFill>
                            <a:schemeClr val="dk1"/>
                          </a:solidFill>
                          <a:latin typeface="Tahoma" panose="020B0604030504040204"/>
                          <a:ea typeface="宋体" panose="02010600030101010101" pitchFamily="2" charset="-122"/>
                        </a:defRPr>
                      </a:lvl2pPr>
                      <a:lvl3pPr marL="914400" algn="l" defTabSz="914400" rtl="0" eaLnBrk="1" latinLnBrk="0" hangingPunct="1">
                        <a:defRPr sz="1800" kern="1200">
                          <a:solidFill>
                            <a:schemeClr val="dk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dk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dk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dk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dk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dk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dk1"/>
                          </a:solidFill>
                          <a:latin typeface="Tahoma" panose="020B0604030504040204"/>
                          <a:ea typeface="宋体" panose="02010600030101010101" pitchFamily="2" charset="-122"/>
                        </a:defRPr>
                      </a:lvl9pPr>
                    </a:lstStyle>
                    <a:p>
                      <a:pPr algn="ctr"/>
                      <a:r>
                        <a:rPr lang="en-US" altLang="zh-CN" sz="1400" b="0" dirty="0">
                          <a:solidFill>
                            <a:schemeClr val="tx1"/>
                          </a:solidFill>
                        </a:rPr>
                        <a:t>TDMA/CSMA</a:t>
                      </a:r>
                      <a:endParaRPr lang="zh-CN" altLang="en-US" sz="1400" b="0" dirty="0">
                        <a:solidFill>
                          <a:schemeClr val="tx1"/>
                        </a:solidFill>
                        <a:latin typeface="宋体" panose="02010600030101010101" pitchFamily="2" charset="-122"/>
                        <a:ea typeface="宋体" panose="02010600030101010101" pitchFamily="2" charset="-122"/>
                      </a:endParaRPr>
                    </a:p>
                  </a:txBody>
                  <a:tcPr marL="91442" marR="91442" marT="45733" marB="45733">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33399">
                        <a:tint val="40000"/>
                      </a:srgbClr>
                    </a:solidFill>
                  </a:tcPr>
                </a:tc>
              </a:tr>
            </a:tbl>
          </a:graphicData>
        </a:graphic>
      </p:graphicFrame>
      <p:sp>
        <p:nvSpPr>
          <p:cNvPr id="11" name="标题 1"/>
          <p:cNvSpPr>
            <a:spLocks noGrp="1"/>
          </p:cNvSpPr>
          <p:nvPr>
            <p:ph type="title"/>
          </p:nvPr>
        </p:nvSpPr>
        <p:spPr>
          <a:xfrm>
            <a:off x="3467100" y="224364"/>
            <a:ext cx="5461000" cy="938742"/>
          </a:xfrm>
        </p:spPr>
        <p:txBody>
          <a:bodyPr/>
          <a:lstStyle/>
          <a:p>
            <a:r>
              <a:rPr lang="en-US" b="1" u="sng">
                <a:solidFill>
                  <a:srgbClr val="1D41D5"/>
                </a:solidFill>
                <a:uFillTx/>
                <a:latin typeface="Times New Roman" panose="02020603050405020304" pitchFamily="18" charset="0"/>
              </a:rPr>
              <a:t>4.1 MAC协议</a:t>
            </a:r>
            <a:endParaRPr lang="en-US" b="1" u="sng">
              <a:solidFill>
                <a:srgbClr val="1D41D5"/>
              </a:solidFill>
              <a:uFillTx/>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4.1.2 基于竞争的MAC协议</a:t>
            </a:r>
            <a:endParaRPr lang="zh-CN" altLang="en-US" b="1" dirty="0"/>
          </a:p>
        </p:txBody>
      </p:sp>
      <p:sp>
        <p:nvSpPr>
          <p:cNvPr id="8195" name="文本占位符 5122"/>
          <p:cNvSpPr>
            <a:spLocks noGrp="1" noChangeArrowheads="1"/>
          </p:cNvSpPr>
          <p:nvPr>
            <p:ph sz="half" idx="1"/>
          </p:nvPr>
        </p:nvSpPr>
        <p:spPr>
          <a:xfrm>
            <a:off x="838200" y="1325880"/>
            <a:ext cx="10676255" cy="5384800"/>
          </a:xfrm>
        </p:spPr>
        <p:txBody>
          <a:bodyPr>
            <a:normAutofit fontScale="55000" lnSpcReduction="20000"/>
          </a:bodyPr>
          <a:lstStyle/>
          <a:p>
            <a:pPr marL="0" indent="0" fontAlgn="base">
              <a:lnSpc>
                <a:spcPct val="120000"/>
              </a:lnSpc>
              <a:spcBef>
                <a:spcPct val="20000"/>
              </a:spcBef>
              <a:spcAft>
                <a:spcPct val="0"/>
              </a:spcAft>
              <a:buClr>
                <a:srgbClr val="3333CC"/>
              </a:buClr>
              <a:buSzPct val="60000"/>
              <a:buNone/>
              <a:defRPr/>
            </a:pPr>
            <a:r>
              <a:rPr lang="zh-CN" altLang="en-US" sz="5100" b="1" dirty="0">
                <a:latin typeface="宋体" panose="02010600030101010101" pitchFamily="2" charset="-122"/>
                <a:ea typeface="宋体" panose="02010600030101010101" pitchFamily="2" charset="-122"/>
              </a:rPr>
              <a:t>4.</a:t>
            </a:r>
            <a:r>
              <a:rPr lang="en-US" altLang="zh-CN" sz="5100" b="1" dirty="0">
                <a:latin typeface="宋体" panose="02010600030101010101" pitchFamily="2" charset="-122"/>
                <a:ea typeface="宋体" panose="02010600030101010101" pitchFamily="2" charset="-122"/>
              </a:rPr>
              <a:t>1.2.1 ALOHA</a:t>
            </a:r>
            <a:r>
              <a:rPr lang="zh-CN" altLang="en-US" sz="5100" b="1" dirty="0">
                <a:latin typeface="宋体" panose="02010600030101010101" pitchFamily="2" charset="-122"/>
                <a:ea typeface="宋体" panose="02010600030101010101" pitchFamily="2" charset="-122"/>
              </a:rPr>
              <a:t>协议</a:t>
            </a:r>
            <a:endParaRPr lang="zh-CN" altLang="en-US" sz="5100" b="1" dirty="0">
              <a:latin typeface="宋体" panose="02010600030101010101" pitchFamily="2" charset="-122"/>
              <a:ea typeface="宋体" panose="02010600030101010101" pitchFamily="2" charset="-122"/>
            </a:endParaRPr>
          </a:p>
          <a:p>
            <a:pPr marL="0" indent="0" algn="just">
              <a:lnSpc>
                <a:spcPct val="120000"/>
              </a:lnSpc>
              <a:buNone/>
              <a:defRPr/>
            </a:pPr>
            <a:r>
              <a:rPr lang="en-US" altLang="zh-CN" sz="3800" b="1" dirty="0">
                <a:solidFill>
                  <a:schemeClr val="bg2"/>
                </a:solidFill>
              </a:rPr>
              <a:t>   </a:t>
            </a:r>
            <a:r>
              <a:rPr lang="en-US" altLang="zh-CN" sz="3800" b="1" dirty="0"/>
              <a:t>ALOHA</a:t>
            </a:r>
            <a:r>
              <a:rPr lang="zh-CN" altLang="zh-CN" sz="3800" b="1" dirty="0"/>
              <a:t>协议又称</a:t>
            </a:r>
            <a:r>
              <a:rPr lang="en-US" altLang="zh-CN" sz="3800" b="1" dirty="0"/>
              <a:t>ALOHA</a:t>
            </a:r>
            <a:r>
              <a:rPr lang="zh-CN" altLang="zh-CN" sz="3800" b="1" dirty="0"/>
              <a:t>技术、</a:t>
            </a:r>
            <a:r>
              <a:rPr lang="en-US" altLang="zh-CN" sz="3800" b="1" dirty="0"/>
              <a:t>ALOHA</a:t>
            </a:r>
            <a:r>
              <a:rPr lang="zh-CN" altLang="zh-CN" sz="3800" b="1" dirty="0"/>
              <a:t>网，是</a:t>
            </a:r>
            <a:r>
              <a:rPr lang="zh-CN" altLang="zh-CN" sz="3800" b="1" dirty="0">
                <a:solidFill>
                  <a:srgbClr val="C00000"/>
                </a:solidFill>
              </a:rPr>
              <a:t>世界上最早的无线电计算机通信网</a:t>
            </a:r>
            <a:r>
              <a:rPr lang="zh-CN" altLang="zh-CN" sz="3800" b="1" dirty="0"/>
              <a:t>。它是</a:t>
            </a:r>
            <a:r>
              <a:rPr lang="en-US" altLang="zh-CN" sz="3800" b="1" dirty="0"/>
              <a:t>1968</a:t>
            </a:r>
            <a:r>
              <a:rPr lang="zh-CN" altLang="zh-CN" sz="3800" b="1" dirty="0"/>
              <a:t>年美国夏威夷大学的一项研究计划的名字，由该校</a:t>
            </a:r>
            <a:r>
              <a:rPr lang="en-US" altLang="zh-CN" sz="3800" b="1" dirty="0"/>
              <a:t>Norman </a:t>
            </a:r>
            <a:r>
              <a:rPr lang="en-US" altLang="zh-CN" sz="3800" b="1" dirty="0" err="1"/>
              <a:t>Amramson</a:t>
            </a:r>
            <a:r>
              <a:rPr lang="zh-CN" altLang="zh-CN" sz="3800" b="1" dirty="0"/>
              <a:t>等人为他们的地面无线分组网设计的，也是最早最基本的无线数据通信协议。</a:t>
            </a:r>
            <a:r>
              <a:rPr lang="en-US" altLang="zh-CN" sz="3800" b="1" dirty="0"/>
              <a:t>ALOHA</a:t>
            </a:r>
            <a:r>
              <a:rPr lang="zh-CN" altLang="zh-CN" sz="3800" b="1" dirty="0"/>
              <a:t>协议是</a:t>
            </a:r>
            <a:r>
              <a:rPr lang="zh-CN" altLang="zh-CN" sz="3800" b="1" dirty="0">
                <a:solidFill>
                  <a:srgbClr val="C00000"/>
                </a:solidFill>
              </a:rPr>
              <a:t>随机访问</a:t>
            </a:r>
            <a:r>
              <a:rPr lang="zh-CN" altLang="zh-CN" sz="3800" b="1" dirty="0"/>
              <a:t>或者</a:t>
            </a:r>
            <a:r>
              <a:rPr lang="zh-CN" altLang="zh-CN" sz="3800" b="1" dirty="0">
                <a:solidFill>
                  <a:srgbClr val="C00000"/>
                </a:solidFill>
              </a:rPr>
              <a:t>竞争发送协议</a:t>
            </a:r>
            <a:r>
              <a:rPr lang="zh-CN" altLang="en-US" sz="3800" b="1" dirty="0">
                <a:solidFill>
                  <a:srgbClr val="C00000"/>
                </a:solidFill>
              </a:rPr>
              <a:t>。</a:t>
            </a:r>
            <a:r>
              <a:rPr lang="zh-CN" altLang="zh-CN" sz="3800" b="1" dirty="0">
                <a:solidFill>
                  <a:schemeClr val="bg2"/>
                </a:solidFill>
              </a:rPr>
              <a:t>。</a:t>
            </a:r>
            <a:endParaRPr lang="en-US" altLang="zh-CN" sz="3800" b="1" dirty="0">
              <a:solidFill>
                <a:schemeClr val="bg2"/>
              </a:solidFill>
            </a:endParaRPr>
          </a:p>
          <a:p>
            <a:pPr marL="0" indent="0" algn="just">
              <a:lnSpc>
                <a:spcPct val="120000"/>
              </a:lnSpc>
              <a:buNone/>
              <a:defRPr/>
            </a:pPr>
            <a:r>
              <a:rPr lang="en-US" altLang="zh-CN" sz="3800" b="1" dirty="0"/>
              <a:t>   ALOHA</a:t>
            </a:r>
            <a:r>
              <a:rPr lang="zh-CN" altLang="zh-CN" sz="3800" b="1" dirty="0"/>
              <a:t>协议的思想很简单，只要用户有数据要发送，就尽管让他们发送。当然，这样会产生冲哭从而造到帧的破坏。为了解决冲突，接收节点在收到数据后需要返回一个</a:t>
            </a:r>
            <a:r>
              <a:rPr lang="en-US" altLang="zh-CN" sz="3800" b="1" dirty="0"/>
              <a:t>ACK</a:t>
            </a:r>
            <a:r>
              <a:rPr lang="zh-CN" altLang="zh-CN" sz="3800" b="1" dirty="0"/>
              <a:t>作为确认。如果发送节点在指定时间内没有收到</a:t>
            </a:r>
            <a:r>
              <a:rPr lang="en-US" altLang="zh-CN" sz="3800" b="1" dirty="0"/>
              <a:t>ACK</a:t>
            </a:r>
            <a:r>
              <a:rPr lang="zh-CN" altLang="zh-CN" sz="3800" b="1" dirty="0"/>
              <a:t>，就随机等待一段时间后重发数据。</a:t>
            </a:r>
            <a:endParaRPr lang="zh-CN" altLang="zh-CN" sz="3800" b="1" dirty="0"/>
          </a:p>
          <a:p>
            <a:pPr marL="0" indent="0" algn="just">
              <a:lnSpc>
                <a:spcPct val="120000"/>
              </a:lnSpc>
              <a:buNone/>
              <a:defRPr/>
            </a:pPr>
            <a:r>
              <a:rPr lang="en-US" altLang="zh-CN" sz="3800" b="1" dirty="0"/>
              <a:t>   ALOHA</a:t>
            </a:r>
            <a:r>
              <a:rPr lang="zh-CN" altLang="zh-CN" sz="3800" b="1" dirty="0"/>
              <a:t>的</a:t>
            </a:r>
            <a:r>
              <a:rPr lang="zh-CN" altLang="zh-CN" sz="3800" b="1" dirty="0">
                <a:solidFill>
                  <a:srgbClr val="C00000"/>
                </a:solidFill>
              </a:rPr>
              <a:t>优点是实现非常简单</a:t>
            </a:r>
            <a:r>
              <a:rPr lang="zh-CN" altLang="zh-CN" sz="3800" b="1" dirty="0"/>
              <a:t>，由于在有数据发送时，节点并不首先进行侦听工作，因此</a:t>
            </a:r>
            <a:r>
              <a:rPr lang="en-US" altLang="zh-CN" sz="3800" b="1" dirty="0"/>
              <a:t>ALOHA</a:t>
            </a:r>
            <a:r>
              <a:rPr lang="zh-CN" altLang="zh-CN" sz="3800" b="1" dirty="0"/>
              <a:t>协议具有比较短的信道接入时延和传输时延，在网络低负载的情况下，该协议具有较好的实时性。但由于它没有对节点访问信道做任何控制，因此当网络中有大量节点需要发送数据时，节点间的数据冲突次数也随之增多，导致信道利用率降低，增加数据的传输延迟。理论上，</a:t>
            </a:r>
            <a:r>
              <a:rPr lang="en-US" altLang="zh-CN" sz="3800" b="1" dirty="0">
                <a:solidFill>
                  <a:srgbClr val="C00000"/>
                </a:solidFill>
              </a:rPr>
              <a:t>ALOHA</a:t>
            </a:r>
            <a:r>
              <a:rPr lang="zh-CN" altLang="zh-CN" sz="3800" b="1" dirty="0">
                <a:solidFill>
                  <a:srgbClr val="C00000"/>
                </a:solidFill>
              </a:rPr>
              <a:t>协议的信道利用率最高只有</a:t>
            </a:r>
            <a:r>
              <a:rPr lang="en-US" altLang="zh-CN" sz="3800" b="1" dirty="0">
                <a:solidFill>
                  <a:srgbClr val="C00000"/>
                </a:solidFill>
              </a:rPr>
              <a:t>18.4%</a:t>
            </a:r>
            <a:r>
              <a:rPr lang="zh-CN" altLang="zh-CN" sz="3800" b="1" dirty="0">
                <a:solidFill>
                  <a:srgbClr val="C00000"/>
                </a:solidFill>
              </a:rPr>
              <a:t>。</a:t>
            </a:r>
            <a:endParaRPr lang="zh-CN" altLang="zh-CN" sz="3800" b="1" dirty="0">
              <a:solidFill>
                <a:srgbClr val="C00000"/>
              </a:solidFill>
            </a:endParaRPr>
          </a:p>
          <a:p>
            <a:pPr marL="0" indent="0" algn="just">
              <a:buNone/>
              <a:defRPr/>
            </a:pPr>
            <a:endParaRPr lang="zh-CN" altLang="en-US" sz="1800" b="1" dirty="0">
              <a:solidFill>
                <a:schemeClr val="bg2"/>
              </a:solidFill>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5121"/>
          <p:cNvSpPr>
            <a:spLocks noGrp="1" noChangeArrowheads="1"/>
          </p:cNvSpPr>
          <p:nvPr>
            <p:ph type="title"/>
          </p:nvPr>
        </p:nvSpPr>
        <p:spPr>
          <a:xfrm>
            <a:off x="838200" y="0"/>
            <a:ext cx="10515600" cy="1325563"/>
          </a:xfrm>
        </p:spPr>
        <p:txBody>
          <a:bodyPr/>
          <a:lstStyle/>
          <a:p>
            <a:pPr eaLnBrk="1" hangingPunct="1">
              <a:defRPr/>
            </a:pPr>
            <a:r>
              <a:rPr lang="en-US" b="1" u="sng">
                <a:solidFill>
                  <a:srgbClr val="1D41D5"/>
                </a:solidFill>
                <a:uFillTx/>
                <a:latin typeface="Times New Roman" panose="02020603050405020304" pitchFamily="18" charset="0"/>
              </a:rPr>
              <a:t>4.1.2 基于竞争的MAC协议</a:t>
            </a:r>
            <a:endParaRPr lang="zh-CN" altLang="en-US" b="1" dirty="0"/>
          </a:p>
        </p:txBody>
      </p:sp>
      <p:sp>
        <p:nvSpPr>
          <p:cNvPr id="5122" name="文本占位符 5122"/>
          <p:cNvSpPr>
            <a:spLocks noGrp="1" noChangeArrowheads="1"/>
          </p:cNvSpPr>
          <p:nvPr>
            <p:ph sz="half" idx="1"/>
          </p:nvPr>
        </p:nvSpPr>
        <p:spPr>
          <a:xfrm>
            <a:off x="1032933" y="1293494"/>
            <a:ext cx="10516235" cy="5564506"/>
          </a:xfrm>
        </p:spPr>
        <p:txBody>
          <a:bodyPr>
            <a:normAutofit lnSpcReduction="10000"/>
          </a:bodyPr>
          <a:lstStyle/>
          <a:p>
            <a:pPr marL="0" indent="0" fontAlgn="base">
              <a:lnSpc>
                <a:spcPct val="100000"/>
              </a:lnSpc>
              <a:spcBef>
                <a:spcPct val="20000"/>
              </a:spcBef>
              <a:spcAft>
                <a:spcPct val="0"/>
              </a:spcAft>
              <a:buClr>
                <a:srgbClr val="3333CC"/>
              </a:buClr>
              <a:buSzPct val="60000"/>
              <a:buNone/>
              <a:defRPr/>
            </a:pPr>
            <a:r>
              <a:rPr lang="zh-CN" altLang="en-US" b="1" dirty="0">
                <a:latin typeface="宋体" panose="02010600030101010101" pitchFamily="2" charset="-122"/>
                <a:ea typeface="宋体" panose="02010600030101010101" pitchFamily="2" charset="-122"/>
              </a:rPr>
              <a:t>4.</a:t>
            </a:r>
            <a:r>
              <a:rPr lang="en-US" altLang="zh-CN" b="1" dirty="0">
                <a:latin typeface="宋体" panose="02010600030101010101" pitchFamily="2" charset="-122"/>
                <a:ea typeface="宋体" panose="02010600030101010101" pitchFamily="2" charset="-122"/>
              </a:rPr>
              <a:t>1.2.2 CSMA/CD</a:t>
            </a:r>
            <a:r>
              <a:rPr lang="zh-CN" altLang="en-US" b="1" dirty="0">
                <a:latin typeface="宋体" panose="02010600030101010101" pitchFamily="2" charset="-122"/>
                <a:ea typeface="宋体" panose="02010600030101010101" pitchFamily="2" charset="-122"/>
              </a:rPr>
              <a:t>协议</a:t>
            </a:r>
            <a:endParaRPr lang="zh-CN" altLang="en-US" b="1" dirty="0">
              <a:latin typeface="宋体" panose="02010600030101010101" pitchFamily="2" charset="-122"/>
              <a:ea typeface="宋体" panose="02010600030101010101" pitchFamily="2" charset="-122"/>
            </a:endParaRPr>
          </a:p>
          <a:p>
            <a:pPr marL="0" indent="0">
              <a:lnSpc>
                <a:spcPct val="100000"/>
              </a:lnSpc>
              <a:buNone/>
              <a:defRPr/>
            </a:pPr>
            <a:r>
              <a:rPr lang="en-US" altLang="zh-CN" sz="2000" b="1" dirty="0">
                <a:solidFill>
                  <a:schemeClr val="bg2"/>
                </a:solidFill>
              </a:rPr>
              <a:t>   </a:t>
            </a:r>
            <a:r>
              <a:rPr lang="en-US" altLang="zh-CN" sz="2400" b="1" dirty="0"/>
              <a:t>CSMA/CD(Carrier Sense Multiple Access/Collision Detection</a:t>
            </a:r>
            <a:r>
              <a:rPr lang="zh-CN" altLang="zh-CN" sz="2400" b="1" dirty="0"/>
              <a:t>，</a:t>
            </a:r>
            <a:r>
              <a:rPr lang="zh-CN" altLang="zh-CN" sz="2400" b="1" dirty="0">
                <a:solidFill>
                  <a:srgbClr val="C00000"/>
                </a:solidFill>
              </a:rPr>
              <a:t>带有冲突检测的载波侦听多路访问</a:t>
            </a:r>
            <a:r>
              <a:rPr lang="zh-CN" altLang="zh-CN" sz="2400" b="1" dirty="0"/>
              <a:t>）是</a:t>
            </a:r>
            <a:r>
              <a:rPr lang="en-US" altLang="zh-CN" sz="2400" b="1" dirty="0"/>
              <a:t>IEEE 802.3</a:t>
            </a:r>
            <a:r>
              <a:rPr lang="zh-CN" altLang="zh-CN" sz="2400" b="1" dirty="0"/>
              <a:t>使用的一种媒体访问控制方法</a:t>
            </a:r>
            <a:r>
              <a:rPr lang="zh-CN" altLang="en-US" sz="2400" b="1" dirty="0"/>
              <a:t>。</a:t>
            </a:r>
            <a:endParaRPr lang="en-US" altLang="zh-CN" sz="2400" b="1" dirty="0"/>
          </a:p>
          <a:p>
            <a:pPr marL="0" indent="0">
              <a:lnSpc>
                <a:spcPct val="100000"/>
              </a:lnSpc>
              <a:buNone/>
              <a:defRPr/>
            </a:pPr>
            <a:r>
              <a:rPr lang="en-US" altLang="zh-CN" sz="2400" b="1" dirty="0"/>
              <a:t>  </a:t>
            </a:r>
            <a:r>
              <a:rPr lang="zh-CN" altLang="zh-CN" sz="2400" b="1" dirty="0"/>
              <a:t>基本原理是：每个节点都共享网络传输信道，当节点需要发送数据时，首先侦听信道上是否有其他节点正在发送数据。如果空闲则发送，否则就等待；在发送出信息后，</a:t>
            </a:r>
            <a:r>
              <a:rPr lang="zh-CN" altLang="zh-CN" sz="2400" b="1" dirty="0">
                <a:solidFill>
                  <a:srgbClr val="C00000"/>
                </a:solidFill>
              </a:rPr>
              <a:t>对冲突进行检测</a:t>
            </a:r>
            <a:r>
              <a:rPr lang="zh-CN" altLang="zh-CN" sz="2400" b="1" dirty="0"/>
              <a:t>，当发现冲突时，则取消发送。</a:t>
            </a:r>
            <a:r>
              <a:rPr lang="zh-CN" altLang="zh-CN" sz="2400" b="1" dirty="0">
                <a:solidFill>
                  <a:schemeClr val="bg2"/>
                </a:solidFill>
              </a:rPr>
              <a:t>。</a:t>
            </a:r>
            <a:endParaRPr lang="en-US" altLang="zh-CN" sz="2400" b="1" dirty="0">
              <a:solidFill>
                <a:schemeClr val="bg2"/>
              </a:solidFill>
            </a:endParaRPr>
          </a:p>
          <a:p>
            <a:pPr marL="0" indent="0">
              <a:lnSpc>
                <a:spcPct val="100000"/>
              </a:lnSpc>
              <a:buNone/>
              <a:defRPr/>
            </a:pPr>
            <a:endParaRPr lang="zh-CN" altLang="zh-CN" sz="2400" b="1" dirty="0">
              <a:solidFill>
                <a:schemeClr val="bg2"/>
              </a:solidFill>
            </a:endParaRPr>
          </a:p>
          <a:p>
            <a:pPr marL="0" indent="0">
              <a:lnSpc>
                <a:spcPct val="100000"/>
              </a:lnSpc>
              <a:buNone/>
              <a:defRPr/>
            </a:pPr>
            <a:r>
              <a:rPr lang="en-US" altLang="zh-CN" sz="2400" b="1" dirty="0"/>
              <a:t>   CSMA/CD</a:t>
            </a:r>
            <a:r>
              <a:rPr lang="zh-CN" altLang="zh-CN" sz="2400" b="1" dirty="0"/>
              <a:t>是对传统</a:t>
            </a:r>
            <a:r>
              <a:rPr lang="en-US" altLang="zh-CN" sz="2400" b="1" dirty="0"/>
              <a:t>CSMA</a:t>
            </a:r>
            <a:r>
              <a:rPr lang="zh-CN" altLang="zh-CN" sz="2400" b="1" dirty="0"/>
              <a:t>算法的进一步完善， 因其</a:t>
            </a:r>
            <a:r>
              <a:rPr lang="zh-CN" altLang="zh-CN" sz="2400" b="1" dirty="0">
                <a:solidFill>
                  <a:srgbClr val="C00000"/>
                </a:solidFill>
              </a:rPr>
              <a:t>增加了冲突检测机制</a:t>
            </a:r>
            <a:r>
              <a:rPr lang="zh-CN" altLang="zh-CN" sz="2400" b="1" dirty="0"/>
              <a:t>，检测到冲突时停止无意义的数据发送，因此减少了信道带宽的浪费。通过“先听后发”的载波侦听机制，</a:t>
            </a:r>
            <a:r>
              <a:rPr lang="en-US" altLang="zh-CN" sz="2400" b="1" dirty="0"/>
              <a:t>CSMA</a:t>
            </a:r>
            <a:r>
              <a:rPr lang="zh-CN" altLang="zh-CN" sz="2400" b="1" dirty="0"/>
              <a:t>可以有效地降低网络中的冲突概率，在一定程度上提高了无线信道的利用率。</a:t>
            </a:r>
            <a:endParaRPr lang="en-US" altLang="zh-CN" sz="2400" b="1" dirty="0">
              <a:solidFill>
                <a:schemeClr val="bg2"/>
              </a:solidFill>
            </a:endParaRPr>
          </a:p>
          <a:p>
            <a:pPr marL="0" indent="0">
              <a:lnSpc>
                <a:spcPct val="100000"/>
              </a:lnSpc>
              <a:buNone/>
              <a:defRPr/>
            </a:pPr>
            <a:r>
              <a:rPr lang="zh-CN" altLang="en-US" sz="2400" b="1" dirty="0">
                <a:solidFill>
                  <a:schemeClr val="bg2"/>
                </a:solidFill>
              </a:rPr>
              <a:t>  </a:t>
            </a:r>
            <a:r>
              <a:rPr lang="en-US" altLang="zh-CN" sz="2400" b="1" dirty="0">
                <a:solidFill>
                  <a:schemeClr val="bg2"/>
                </a:solidFill>
              </a:rPr>
              <a:t> </a:t>
            </a:r>
            <a:r>
              <a:rPr lang="zh-CN" altLang="en-US" sz="2400" b="1" dirty="0"/>
              <a:t>虽然</a:t>
            </a:r>
            <a:r>
              <a:rPr lang="en-US" altLang="zh-CN" sz="2400" b="1" dirty="0"/>
              <a:t>CSMA/CD</a:t>
            </a:r>
            <a:r>
              <a:rPr lang="zh-CN" altLang="en-US" sz="2400" b="1" dirty="0"/>
              <a:t>协议已成功地应用于有线连接的局域网，但无线局域网不能简单地搬用</a:t>
            </a:r>
            <a:r>
              <a:rPr lang="en-US" altLang="zh-CN" sz="2400" b="1" dirty="0"/>
              <a:t>CSMA/CD</a:t>
            </a:r>
            <a:r>
              <a:rPr lang="zh-CN" altLang="en-US" sz="2400" b="1" dirty="0"/>
              <a:t>协议，而是以此为基础，制定出更适合无线网络共享信道的</a:t>
            </a:r>
            <a:r>
              <a:rPr lang="zh-CN" altLang="en-US" sz="2400" b="1" dirty="0">
                <a:solidFill>
                  <a:srgbClr val="C00000"/>
                </a:solidFill>
              </a:rPr>
              <a:t>载波监听多路访问</a:t>
            </a:r>
            <a:r>
              <a:rPr lang="en-US" altLang="zh-CN" sz="2400" b="1" dirty="0">
                <a:solidFill>
                  <a:srgbClr val="C00000"/>
                </a:solidFill>
              </a:rPr>
              <a:t>/</a:t>
            </a:r>
            <a:r>
              <a:rPr lang="zh-CN" altLang="en-US" sz="2400" b="1" dirty="0">
                <a:solidFill>
                  <a:srgbClr val="C00000"/>
                </a:solidFill>
              </a:rPr>
              <a:t>冲突避免</a:t>
            </a:r>
            <a:r>
              <a:rPr lang="en-US" altLang="zh-CN" sz="2400" b="1" dirty="0">
                <a:solidFill>
                  <a:srgbClr val="C00000"/>
                </a:solidFill>
              </a:rPr>
              <a:t>CSMA/CA</a:t>
            </a:r>
            <a:r>
              <a:rPr lang="zh-CN" altLang="en-US" sz="2400" b="1" dirty="0">
                <a:solidFill>
                  <a:srgbClr val="C00000"/>
                </a:solidFill>
              </a:rPr>
              <a:t>协议</a:t>
            </a:r>
            <a:r>
              <a:rPr lang="zh-CN" altLang="en-US" sz="2400" b="1" dirty="0">
                <a:solidFill>
                  <a:schemeClr val="bg2"/>
                </a:solidFill>
              </a:rPr>
              <a:t>。</a:t>
            </a:r>
            <a:endParaRPr lang="zh-CN" altLang="en-US" sz="2400" b="1" dirty="0">
              <a:solidFill>
                <a:schemeClr val="bg2"/>
              </a:solidFill>
            </a:endParaRPr>
          </a:p>
          <a:p>
            <a:pPr eaLnBrk="1" hangingPunct="1">
              <a:lnSpc>
                <a:spcPct val="180000"/>
              </a:lnSpc>
              <a:buFont typeface="Wingdings" panose="05000000000000000000" pitchFamily="2" charset="2"/>
              <a:buNone/>
              <a:defRPr/>
            </a:pPr>
            <a:endParaRPr lang="zh-CN" altLang="en-US" sz="2400" dirty="0"/>
          </a:p>
        </p:txBody>
      </p:sp>
      <p:sp>
        <p:nvSpPr>
          <p:cNvPr id="10244" name="文本框 5"/>
          <p:cNvSpPr txBox="1">
            <a:spLocks noChangeArrowheads="1"/>
          </p:cNvSpPr>
          <p:nvPr/>
        </p:nvSpPr>
        <p:spPr bwMode="auto">
          <a:xfrm>
            <a:off x="1244599" y="3615267"/>
            <a:ext cx="25044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dirty="0">
                <a:solidFill>
                  <a:srgbClr val="1D41D5"/>
                </a:solidFill>
              </a:rPr>
              <a:t> </a:t>
            </a:r>
            <a:r>
              <a:rPr lang="zh-CN" altLang="en-US" sz="2400" b="1" dirty="0">
                <a:solidFill>
                  <a:srgbClr val="1D41D5"/>
                </a:solidFill>
              </a:rPr>
              <a:t>如何进行检测</a:t>
            </a:r>
            <a:r>
              <a:rPr lang="en-US" altLang="zh-CN" sz="2400" b="1" dirty="0">
                <a:solidFill>
                  <a:srgbClr val="1D41D5"/>
                </a:solidFill>
              </a:rPr>
              <a:t> </a:t>
            </a:r>
            <a:r>
              <a:rPr lang="zh-CN" altLang="en-US" sz="2400" b="1" dirty="0">
                <a:solidFill>
                  <a:srgbClr val="1D41D5"/>
                </a:solidFill>
              </a:rPr>
              <a:t>？</a:t>
            </a:r>
            <a:endParaRPr lang="zh-CN" altLang="en-US" sz="2400" b="1" dirty="0">
              <a:solidFill>
                <a:srgbClr val="1D41D5"/>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5121"/>
          <p:cNvSpPr>
            <a:spLocks noGrp="1" noChangeArrowheads="1"/>
          </p:cNvSpPr>
          <p:nvPr>
            <p:ph type="title"/>
          </p:nvPr>
        </p:nvSpPr>
        <p:spPr>
          <a:xfrm>
            <a:off x="838835" y="0"/>
            <a:ext cx="10515600" cy="1325563"/>
          </a:xfrm>
        </p:spPr>
        <p:txBody>
          <a:bodyPr/>
          <a:lstStyle/>
          <a:p>
            <a:pPr eaLnBrk="1" hangingPunct="1">
              <a:defRPr/>
            </a:pPr>
            <a:r>
              <a:rPr lang="en-US" b="1" u="sng">
                <a:solidFill>
                  <a:srgbClr val="1D41D5"/>
                </a:solidFill>
                <a:uFillTx/>
                <a:latin typeface="Times New Roman" panose="02020603050405020304" pitchFamily="18" charset="0"/>
              </a:rPr>
              <a:t>4.1.2 基于竞争的MAC协议</a:t>
            </a:r>
            <a:endParaRPr lang="zh-CN" altLang="en-US" b="1" dirty="0"/>
          </a:p>
        </p:txBody>
      </p:sp>
      <p:sp>
        <p:nvSpPr>
          <p:cNvPr id="5122" name="文本占位符 5122"/>
          <p:cNvSpPr>
            <a:spLocks noGrp="1" noChangeArrowheads="1"/>
          </p:cNvSpPr>
          <p:nvPr>
            <p:ph sz="half" idx="1"/>
          </p:nvPr>
        </p:nvSpPr>
        <p:spPr>
          <a:xfrm>
            <a:off x="1016635" y="1325563"/>
            <a:ext cx="10633498" cy="4351655"/>
          </a:xfrm>
        </p:spPr>
        <p:txBody>
          <a:bodyPr/>
          <a:lstStyle/>
          <a:p>
            <a:pPr marL="0" indent="0" fontAlgn="base">
              <a:lnSpc>
                <a:spcPct val="100000"/>
              </a:lnSpc>
              <a:spcBef>
                <a:spcPct val="20000"/>
              </a:spcBef>
              <a:spcAft>
                <a:spcPct val="0"/>
              </a:spcAft>
              <a:buClr>
                <a:srgbClr val="3333CC"/>
              </a:buClr>
              <a:buSzPct val="60000"/>
              <a:buNone/>
              <a:defRPr/>
            </a:pPr>
            <a:r>
              <a:rPr lang="zh-CN" altLang="en-US" b="1" dirty="0">
                <a:latin typeface="宋体" panose="02010600030101010101" pitchFamily="2" charset="-122"/>
                <a:ea typeface="宋体" panose="02010600030101010101" pitchFamily="2" charset="-122"/>
              </a:rPr>
              <a:t>4.</a:t>
            </a:r>
            <a:r>
              <a:rPr lang="en-US" altLang="zh-CN" b="1" dirty="0">
                <a:latin typeface="宋体" panose="02010600030101010101" pitchFamily="2" charset="-122"/>
                <a:ea typeface="宋体" panose="02010600030101010101" pitchFamily="2" charset="-122"/>
              </a:rPr>
              <a:t>1.2.3 IEEE 802.11 MAC</a:t>
            </a:r>
            <a:r>
              <a:rPr lang="zh-CN" altLang="zh-CN" b="1" dirty="0">
                <a:latin typeface="宋体" panose="02010600030101010101" pitchFamily="2" charset="-122"/>
                <a:ea typeface="宋体" panose="02010600030101010101" pitchFamily="2" charset="-122"/>
              </a:rPr>
              <a:t>协议</a:t>
            </a:r>
            <a:endParaRPr lang="en-US" altLang="zh-CN" b="1" dirty="0">
              <a:latin typeface="宋体" panose="02010600030101010101" pitchFamily="2" charset="-122"/>
              <a:ea typeface="宋体" panose="02010600030101010101" pitchFamily="2" charset="-122"/>
            </a:endParaRPr>
          </a:p>
          <a:p>
            <a:pPr marL="0" indent="0">
              <a:lnSpc>
                <a:spcPct val="100000"/>
              </a:lnSpc>
              <a:buNone/>
              <a:defRPr/>
            </a:pPr>
            <a:r>
              <a:rPr lang="en-US" altLang="zh-CN" sz="2000" b="1" dirty="0">
                <a:solidFill>
                  <a:schemeClr val="bg2"/>
                </a:solidFill>
              </a:rPr>
              <a:t>   </a:t>
            </a:r>
            <a:r>
              <a:rPr lang="en-US" altLang="zh-CN" sz="2000" b="1" dirty="0"/>
              <a:t>IEEE 802.1IMAC</a:t>
            </a:r>
            <a:r>
              <a:rPr lang="zh-CN" altLang="zh-CN" sz="2000" b="1" dirty="0"/>
              <a:t>协议有</a:t>
            </a:r>
            <a:r>
              <a:rPr lang="zh-CN" altLang="zh-CN" sz="2000" b="1" dirty="0">
                <a:solidFill>
                  <a:srgbClr val="C00000"/>
                </a:solidFill>
              </a:rPr>
              <a:t>分布式协调</a:t>
            </a:r>
            <a:r>
              <a:rPr lang="zh-CN" altLang="zh-CN" sz="2000" b="1" dirty="0"/>
              <a:t>（</a:t>
            </a:r>
            <a:r>
              <a:rPr lang="en-US" altLang="zh-CN" sz="2000" b="1" dirty="0"/>
              <a:t>Distributed Coordination Function, DCF</a:t>
            </a:r>
            <a:r>
              <a:rPr lang="zh-CN" altLang="zh-CN" sz="2000" b="1" dirty="0"/>
              <a:t>）和</a:t>
            </a:r>
            <a:r>
              <a:rPr lang="zh-CN" altLang="zh-CN" sz="2000" b="1" dirty="0">
                <a:solidFill>
                  <a:srgbClr val="C00000"/>
                </a:solidFill>
              </a:rPr>
              <a:t>点协调</a:t>
            </a:r>
            <a:r>
              <a:rPr lang="zh-CN" altLang="zh-CN" sz="2000" b="1" dirty="0"/>
              <a:t>（</a:t>
            </a:r>
            <a:r>
              <a:rPr lang="en-US" altLang="zh-CN" sz="2000" b="1" dirty="0"/>
              <a:t>Point </a:t>
            </a:r>
            <a:r>
              <a:rPr lang="en-US" altLang="zh-CN" sz="2000" b="1" dirty="0" err="1"/>
              <a:t>Cordination</a:t>
            </a:r>
            <a:r>
              <a:rPr lang="en-US" altLang="zh-CN" sz="2000" b="1" dirty="0"/>
              <a:t> </a:t>
            </a:r>
            <a:r>
              <a:rPr lang="en-US" altLang="zh-CN" sz="2000" b="1" dirty="0" err="1"/>
              <a:t>Functio</a:t>
            </a:r>
            <a:r>
              <a:rPr lang="en-US" altLang="zh-CN" sz="2000" b="1" dirty="0"/>
              <a:t>, PCF</a:t>
            </a:r>
            <a:r>
              <a:rPr lang="zh-CN" altLang="zh-CN" sz="2000" b="1" dirty="0"/>
              <a:t>）两种访问控制方式，其中</a:t>
            </a:r>
            <a:r>
              <a:rPr lang="en-US" altLang="zh-CN" sz="2000" b="1" dirty="0"/>
              <a:t>DCF</a:t>
            </a:r>
            <a:r>
              <a:rPr lang="zh-CN" altLang="zh-CN" sz="2000" b="1" dirty="0"/>
              <a:t>方式是</a:t>
            </a:r>
            <a:r>
              <a:rPr lang="en-US" altLang="zh-CN" sz="2000" b="1" dirty="0"/>
              <a:t>IEEE 802.11MAC</a:t>
            </a:r>
            <a:r>
              <a:rPr lang="zh-CN" altLang="zh-CN" sz="2000" b="1" dirty="0"/>
              <a:t>协议的基本访问控制方式。</a:t>
            </a:r>
            <a:r>
              <a:rPr lang="en-US" altLang="zh-CN" sz="2000" b="1" dirty="0"/>
              <a:t>IEEE 802.11 MAC</a:t>
            </a:r>
            <a:r>
              <a:rPr lang="zh-CN" altLang="zh-CN" sz="2000" b="1" dirty="0"/>
              <a:t>协议规定了三种基本的帧间间隔（</a:t>
            </a:r>
            <a:r>
              <a:rPr lang="en-US" altLang="zh-CN" sz="2000" b="1" dirty="0"/>
              <a:t>Inter-Frame Spacing</a:t>
            </a:r>
            <a:r>
              <a:rPr lang="zh-CN" altLang="zh-CN" sz="2000" b="1" dirty="0"/>
              <a:t>，</a:t>
            </a:r>
            <a:r>
              <a:rPr lang="en-US" altLang="zh-CN" sz="2000" b="1" dirty="0"/>
              <a:t>IFS</a:t>
            </a:r>
            <a:r>
              <a:rPr lang="zh-CN" altLang="zh-CN" sz="2000" b="1" dirty="0"/>
              <a:t>），用来区分无线信道的优先级。</a:t>
            </a:r>
            <a:r>
              <a:rPr lang="zh-CN" altLang="zh-CN" sz="2000" b="1" dirty="0">
                <a:solidFill>
                  <a:srgbClr val="C00000"/>
                </a:solidFill>
              </a:rPr>
              <a:t>最短帧间间隔</a:t>
            </a:r>
            <a:r>
              <a:rPr lang="en-US" altLang="zh-CN" sz="2000" b="1" dirty="0">
                <a:solidFill>
                  <a:srgbClr val="C00000"/>
                </a:solidFill>
              </a:rPr>
              <a:t>SIFS</a:t>
            </a:r>
            <a:r>
              <a:rPr lang="zh-CN" altLang="en-US" sz="2000" b="1" dirty="0"/>
              <a:t>，</a:t>
            </a:r>
            <a:r>
              <a:rPr lang="en-US" altLang="zh-CN" sz="2000" b="1" dirty="0"/>
              <a:t>PCF</a:t>
            </a:r>
            <a:r>
              <a:rPr lang="zh-CN" altLang="zh-CN" sz="2000" b="1" dirty="0"/>
              <a:t>方式下节点使用的帧间间隔</a:t>
            </a:r>
            <a:r>
              <a:rPr lang="en-US" altLang="zh-CN" sz="2000" b="1" dirty="0">
                <a:solidFill>
                  <a:srgbClr val="C00000"/>
                </a:solidFill>
              </a:rPr>
              <a:t>PIFS</a:t>
            </a:r>
            <a:r>
              <a:rPr lang="zh-CN" altLang="en-US" sz="2000" b="1" dirty="0"/>
              <a:t>，以及</a:t>
            </a:r>
            <a:r>
              <a:rPr lang="en-US" altLang="zh-CN" sz="2000" b="1" dirty="0"/>
              <a:t>DCF</a:t>
            </a:r>
            <a:r>
              <a:rPr lang="zh-CN" altLang="zh-CN" sz="2000" b="1" dirty="0"/>
              <a:t>方式下节点使用的帧间间隔</a:t>
            </a:r>
            <a:r>
              <a:rPr lang="en-US" altLang="zh-CN" sz="2000" b="1" dirty="0">
                <a:solidFill>
                  <a:srgbClr val="C00000"/>
                </a:solidFill>
              </a:rPr>
              <a:t>DIFS</a:t>
            </a:r>
            <a:r>
              <a:rPr lang="zh-CN" altLang="en-US" sz="2000" b="1" dirty="0"/>
              <a:t>。</a:t>
            </a:r>
            <a:r>
              <a:rPr lang="zh-CN" altLang="zh-CN" sz="2000" b="1" dirty="0"/>
              <a:t>上述各帧间的间隔关系：</a:t>
            </a:r>
            <a:r>
              <a:rPr lang="en-US" altLang="zh-CN" sz="2000" b="1" dirty="0"/>
              <a:t>DIFS &gt; PIFS &gt; SIFS</a:t>
            </a:r>
            <a:r>
              <a:rPr lang="zh-CN" altLang="zh-CN" sz="2000" b="1" dirty="0"/>
              <a:t>。</a:t>
            </a:r>
            <a:endParaRPr lang="en-US" altLang="zh-CN" sz="2000" b="1" dirty="0"/>
          </a:p>
          <a:p>
            <a:pPr marL="0" indent="0">
              <a:buNone/>
              <a:defRPr/>
            </a:pPr>
            <a:endParaRPr lang="en-US" altLang="zh-CN" sz="2000" b="1" dirty="0">
              <a:solidFill>
                <a:schemeClr val="bg2"/>
              </a:solidFill>
            </a:endParaRPr>
          </a:p>
          <a:p>
            <a:pPr marL="0" indent="0">
              <a:buNone/>
              <a:defRPr/>
            </a:pPr>
            <a:endParaRPr lang="zh-CN" altLang="zh-CN" sz="2000" b="1" dirty="0">
              <a:solidFill>
                <a:schemeClr val="bg2"/>
              </a:solidFill>
            </a:endParaRPr>
          </a:p>
          <a:p>
            <a:pPr marL="0" indent="0">
              <a:buNone/>
              <a:defRPr/>
            </a:pPr>
            <a:endParaRPr lang="zh-CN" altLang="zh-CN" sz="2000" kern="100" dirty="0">
              <a:latin typeface="Times New Roman" panose="02020603050405020304" pitchFamily="18" charset="0"/>
            </a:endParaRPr>
          </a:p>
          <a:p>
            <a:pPr marL="0" indent="0">
              <a:buNone/>
              <a:defRPr/>
            </a:pPr>
            <a:endParaRPr lang="zh-CN" altLang="en-US" sz="2000" b="1" dirty="0">
              <a:solidFill>
                <a:schemeClr val="bg2"/>
              </a:solidFill>
            </a:endParaRPr>
          </a:p>
        </p:txBody>
      </p:sp>
      <p:pic>
        <p:nvPicPr>
          <p:cNvPr id="11267" name="Picture 4"/>
          <p:cNvPicPr>
            <a:picLocks noChangeAspect="1" noChangeArrowheads="1"/>
          </p:cNvPicPr>
          <p:nvPr/>
        </p:nvPicPr>
        <p:blipFill>
          <a:blip r:embed="rId1">
            <a:clrChange>
              <a:clrFrom>
                <a:srgbClr val="FEFEFE"/>
              </a:clrFrom>
              <a:clrTo>
                <a:srgbClr val="FEFEFE">
                  <a:alpha val="0"/>
                </a:srgbClr>
              </a:clrTo>
            </a:clrChange>
            <a:extLst>
              <a:ext uri="{28A0092B-C50C-407E-A947-70E740481C1C}">
                <a14:useLocalDpi xmlns:a14="http://schemas.microsoft.com/office/drawing/2010/main" val="0"/>
              </a:ext>
            </a:extLst>
          </a:blip>
          <a:srcRect b="13670"/>
          <a:stretch>
            <a:fillRect/>
          </a:stretch>
        </p:blipFill>
        <p:spPr bwMode="auto">
          <a:xfrm>
            <a:off x="2800350" y="3815715"/>
            <a:ext cx="6374130" cy="246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3803650" y="6283325"/>
            <a:ext cx="4367530" cy="398780"/>
          </a:xfrm>
          <a:prstGeom prst="rect">
            <a:avLst/>
          </a:prstGeom>
          <a:noFill/>
        </p:spPr>
        <p:txBody>
          <a:bodyPr wrap="square">
            <a:spAutoFit/>
          </a:bodyPr>
          <a:lstStyle/>
          <a:p>
            <a:pPr>
              <a:defRPr/>
            </a:pPr>
            <a:r>
              <a:rPr lang="zh-CN" altLang="en-US" sz="2000" b="1" dirty="0">
                <a:latin typeface="宋体" panose="02010600030101010101" pitchFamily="2" charset="-122"/>
                <a:ea typeface="宋体" panose="02010600030101010101" pitchFamily="2" charset="-122"/>
              </a:rPr>
              <a:t>图</a:t>
            </a:r>
            <a:r>
              <a:rPr lang="en-US" altLang="zh-CN" sz="2000" b="1" dirty="0">
                <a:latin typeface="宋体" panose="02010600030101010101" pitchFamily="2" charset="-122"/>
                <a:ea typeface="宋体" panose="02010600030101010101" pitchFamily="2" charset="-122"/>
              </a:rPr>
              <a:t>4-1-2 IEEE 802.11</a:t>
            </a:r>
            <a:r>
              <a:rPr lang="zh-CN" altLang="en-US" sz="2000" b="1" dirty="0">
                <a:latin typeface="宋体" panose="02010600030101010101" pitchFamily="2" charset="-122"/>
                <a:ea typeface="宋体" panose="02010600030101010101" pitchFamily="2" charset="-122"/>
              </a:rPr>
              <a:t>两种工作方式</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948902" y="1393296"/>
            <a:ext cx="10516235" cy="4351655"/>
          </a:xfrm>
        </p:spPr>
        <p:txBody>
          <a:bodyPr>
            <a:normAutofit fontScale="90000" lnSpcReduction="20000"/>
          </a:bodyPr>
          <a:lstStyle/>
          <a:p>
            <a:pPr marL="0" indent="0">
              <a:lnSpc>
                <a:spcPct val="100000"/>
              </a:lnSpc>
              <a:buNone/>
              <a:defRPr/>
            </a:pPr>
            <a:r>
              <a:rPr lang="en-US" altLang="zh-CN" sz="2000" b="1" dirty="0">
                <a:solidFill>
                  <a:schemeClr val="bg2"/>
                </a:solidFill>
              </a:rPr>
              <a:t>  </a:t>
            </a:r>
            <a:r>
              <a:rPr lang="zh-CN" altLang="zh-CN" sz="2400" b="1" dirty="0"/>
              <a:t>根据</a:t>
            </a:r>
            <a:r>
              <a:rPr lang="en-US" altLang="zh-CN" sz="2400" b="1" dirty="0"/>
              <a:t>CSMA/CD</a:t>
            </a:r>
            <a:r>
              <a:rPr lang="zh-CN" altLang="zh-CN" sz="2400" b="1" dirty="0"/>
              <a:t>协议，当一个节点要传输一个分组时，它首先侦听信道状态。如果信道空闲，而且经过一个帧间间隔</a:t>
            </a:r>
            <a:r>
              <a:rPr lang="en-US" altLang="zh-CN" sz="2400" b="1" dirty="0"/>
              <a:t>DIFS</a:t>
            </a:r>
            <a:r>
              <a:rPr lang="zh-CN" altLang="zh-CN" sz="2400" b="1" dirty="0"/>
              <a:t>后，信道仍然空闲，则立即开始发送信息。如果信道忙，则一直侦听信道直到信道的空闲时间超过</a:t>
            </a:r>
            <a:r>
              <a:rPr lang="en-US" altLang="zh-CN" sz="2400" b="1" dirty="0"/>
              <a:t>DIFS</a:t>
            </a:r>
            <a:r>
              <a:rPr lang="zh-CN" altLang="zh-CN" sz="2400" b="1" dirty="0"/>
              <a:t>。当信道最终空闲下来时，节点进一步使用</a:t>
            </a:r>
            <a:r>
              <a:rPr lang="zh-CN" altLang="zh-CN" sz="2400" b="1" dirty="0">
                <a:solidFill>
                  <a:srgbClr val="C00000"/>
                </a:solidFill>
              </a:rPr>
              <a:t>二进制退避算法</a:t>
            </a:r>
            <a:r>
              <a:rPr lang="zh-CN" altLang="zh-CN" sz="2400" b="1" dirty="0"/>
              <a:t>（</a:t>
            </a:r>
            <a:r>
              <a:rPr lang="en-US" altLang="zh-CN" sz="2400" b="1" dirty="0"/>
              <a:t>Binary Back off Algorithm</a:t>
            </a:r>
            <a:r>
              <a:rPr lang="zh-CN" altLang="zh-CN" sz="2400" b="1" dirty="0"/>
              <a:t>），进入退避状态来避免发生冲突。</a:t>
            </a:r>
            <a:endParaRPr lang="en-US" altLang="zh-CN" sz="2400" b="1" dirty="0"/>
          </a:p>
          <a:p>
            <a:pPr marL="0" indent="0">
              <a:lnSpc>
                <a:spcPct val="100000"/>
              </a:lnSpc>
              <a:buNone/>
              <a:defRPr/>
            </a:pPr>
            <a:r>
              <a:rPr lang="en-US" altLang="zh-CN" sz="2400" b="1" dirty="0"/>
              <a:t>  </a:t>
            </a:r>
            <a:r>
              <a:rPr lang="zh-CN" altLang="zh-CN" sz="2400" b="1" dirty="0"/>
              <a:t>随机退避时间按下面的公式计算：</a:t>
            </a:r>
            <a:endParaRPr lang="en-US" altLang="zh-CN" sz="2400" b="1" dirty="0"/>
          </a:p>
          <a:p>
            <a:pPr marL="0" indent="0">
              <a:lnSpc>
                <a:spcPct val="100000"/>
              </a:lnSpc>
              <a:buNone/>
              <a:defRPr/>
            </a:pPr>
            <a:r>
              <a:rPr lang="en-US" altLang="zh-CN" sz="2400" b="1" dirty="0">
                <a:solidFill>
                  <a:schemeClr val="bg2"/>
                </a:solidFill>
              </a:rPr>
              <a:t>                 </a:t>
            </a:r>
            <a:r>
              <a:rPr lang="zh-CN" altLang="zh-CN" sz="2400" b="1" dirty="0">
                <a:solidFill>
                  <a:srgbClr val="C00000"/>
                </a:solidFill>
              </a:rPr>
              <a:t>退避时间</a:t>
            </a:r>
            <a:r>
              <a:rPr lang="en-US" altLang="zh-CN" sz="2400" b="1" dirty="0">
                <a:solidFill>
                  <a:srgbClr val="C00000"/>
                </a:solidFill>
              </a:rPr>
              <a:t>=Random( )×</a:t>
            </a:r>
            <a:r>
              <a:rPr lang="en-US" altLang="zh-CN" sz="2400" b="1" dirty="0" err="1">
                <a:solidFill>
                  <a:srgbClr val="C00000"/>
                </a:solidFill>
              </a:rPr>
              <a:t>aSlottime</a:t>
            </a:r>
            <a:r>
              <a:rPr lang="zh-CN" altLang="en-US" sz="2400" b="1" dirty="0">
                <a:solidFill>
                  <a:srgbClr val="C00000"/>
                </a:solidFill>
              </a:rPr>
              <a:t>。</a:t>
            </a:r>
            <a:endParaRPr lang="en-US" altLang="zh-CN" sz="2400" b="1" dirty="0">
              <a:solidFill>
                <a:srgbClr val="C00000"/>
              </a:solidFill>
            </a:endParaRPr>
          </a:p>
          <a:p>
            <a:pPr marL="0" indent="0">
              <a:lnSpc>
                <a:spcPct val="100000"/>
              </a:lnSpc>
              <a:buNone/>
              <a:defRPr/>
            </a:pPr>
            <a:r>
              <a:rPr lang="zh-CN" altLang="en-US" sz="2400" dirty="0"/>
              <a:t> </a:t>
            </a:r>
            <a:r>
              <a:rPr lang="en-US" altLang="zh-CN" sz="2400" b="1" dirty="0"/>
              <a:t> Random()</a:t>
            </a:r>
            <a:r>
              <a:rPr lang="zh-CN" altLang="en-US" sz="2400" b="1" dirty="0"/>
              <a:t>是从离散型整数集合</a:t>
            </a:r>
            <a:r>
              <a:rPr lang="en-US" altLang="zh-CN" sz="2400" b="1" dirty="0"/>
              <a:t>[0</a:t>
            </a:r>
            <a:r>
              <a:rPr lang="zh-CN" altLang="en-US" sz="2400" b="1" dirty="0"/>
              <a:t>，</a:t>
            </a:r>
            <a:r>
              <a:rPr lang="en-US" altLang="zh-CN" sz="2400" b="1" dirty="0"/>
              <a:t>1</a:t>
            </a:r>
            <a:r>
              <a:rPr lang="zh-CN" altLang="en-US" sz="2400" b="1" dirty="0"/>
              <a:t>，</a:t>
            </a:r>
            <a:r>
              <a:rPr lang="en-US" altLang="zh-CN" sz="2400" b="1" dirty="0"/>
              <a:t>2</a:t>
            </a:r>
            <a:r>
              <a:rPr lang="zh-CN" altLang="en-US" sz="2400" b="1" dirty="0"/>
              <a:t>，</a:t>
            </a:r>
            <a:r>
              <a:rPr lang="en-US" altLang="zh-CN" sz="2400" b="1" dirty="0"/>
              <a:t>……</a:t>
            </a:r>
            <a:r>
              <a:rPr lang="zh-CN" altLang="en-US" sz="2400" b="1" dirty="0"/>
              <a:t>，</a:t>
            </a:r>
            <a:r>
              <a:rPr lang="en-US" altLang="zh-CN" sz="2400" b="1" dirty="0"/>
              <a:t>(2^k</a:t>
            </a:r>
            <a:r>
              <a:rPr lang="zh-CN" altLang="en-US" sz="2400" b="1" dirty="0"/>
              <a:t>－</a:t>
            </a:r>
            <a:r>
              <a:rPr lang="en-US" altLang="zh-CN" sz="2400" b="1" dirty="0"/>
              <a:t>1)]</a:t>
            </a:r>
            <a:r>
              <a:rPr lang="zh-CN" altLang="en-US" sz="2400" b="1" dirty="0"/>
              <a:t>中随机取出来的一个数字，</a:t>
            </a:r>
            <a:r>
              <a:rPr lang="en-US" altLang="zh-CN" sz="2400" b="1" dirty="0"/>
              <a:t>k</a:t>
            </a:r>
            <a:r>
              <a:rPr lang="zh-CN" altLang="en-US" sz="2400" b="1" dirty="0"/>
              <a:t>为重传次数。</a:t>
            </a:r>
            <a:r>
              <a:rPr lang="en-US" altLang="zh-CN" sz="2400" b="1" dirty="0" err="1"/>
              <a:t>aSlottime</a:t>
            </a:r>
            <a:r>
              <a:rPr lang="zh-CN" altLang="en-US" sz="2400" b="1" dirty="0"/>
              <a:t>是一个基本的退避时间，包括发射启动时间、媒体传播时延和检测信道的响应时间等。重传并不是无休止的进行，当重传</a:t>
            </a:r>
            <a:r>
              <a:rPr lang="en-US" altLang="zh-CN" sz="2400" b="1" dirty="0"/>
              <a:t>16</a:t>
            </a:r>
            <a:r>
              <a:rPr lang="zh-CN" altLang="en-US" sz="2400" b="1" dirty="0"/>
              <a:t>次不成功，就丢弃该帧，传输失败，报告给高层协议。</a:t>
            </a:r>
            <a:br>
              <a:rPr lang="zh-CN" altLang="en-US" sz="2400" b="1" dirty="0"/>
            </a:br>
            <a:endParaRPr lang="zh-CN" altLang="zh-CN" sz="2400" b="1" dirty="0">
              <a:solidFill>
                <a:srgbClr val="C00000"/>
              </a:solidFill>
            </a:endParaRPr>
          </a:p>
          <a:p>
            <a:pPr marL="0" indent="0">
              <a:lnSpc>
                <a:spcPct val="100000"/>
              </a:lnSpc>
              <a:buNone/>
              <a:defRPr/>
            </a:pPr>
            <a:r>
              <a:rPr lang="en-US" altLang="zh-CN" sz="2400" b="1" dirty="0">
                <a:solidFill>
                  <a:schemeClr val="bg2"/>
                </a:solidFill>
              </a:rPr>
              <a:t>  </a:t>
            </a:r>
            <a:r>
              <a:rPr lang="en-US" altLang="zh-CN" sz="2400" b="1" dirty="0"/>
              <a:t>IEEE 802.11MAC</a:t>
            </a:r>
            <a:r>
              <a:rPr lang="zh-CN" altLang="zh-CN" sz="2400" b="1" dirty="0"/>
              <a:t>协议中通过</a:t>
            </a:r>
            <a:r>
              <a:rPr lang="zh-CN" altLang="zh-CN" sz="2400" b="1" dirty="0">
                <a:solidFill>
                  <a:srgbClr val="C00000"/>
                </a:solidFill>
              </a:rPr>
              <a:t>立即主动确认机制</a:t>
            </a:r>
            <a:r>
              <a:rPr lang="zh-CN" altLang="zh-CN" sz="2400" b="1" dirty="0">
                <a:solidFill>
                  <a:schemeClr val="bg2"/>
                </a:solidFill>
              </a:rPr>
              <a:t>和</a:t>
            </a:r>
            <a:r>
              <a:rPr lang="zh-CN" altLang="zh-CN" sz="2400" b="1" dirty="0">
                <a:solidFill>
                  <a:srgbClr val="C00000"/>
                </a:solidFill>
              </a:rPr>
              <a:t>预留机制</a:t>
            </a:r>
            <a:r>
              <a:rPr lang="zh-CN" altLang="zh-CN" sz="2400" b="1" dirty="0"/>
              <a:t>来提高性能。</a:t>
            </a:r>
            <a:endParaRPr lang="zh-CN" altLang="zh-CN" sz="2400" b="1" dirty="0"/>
          </a:p>
          <a:p>
            <a:pPr marL="0" indent="0">
              <a:buNone/>
              <a:defRPr/>
            </a:pPr>
            <a:endParaRPr lang="zh-CN" altLang="zh-CN" sz="2000" b="1" dirty="0">
              <a:solidFill>
                <a:schemeClr val="bg2"/>
              </a:solidFill>
            </a:endParaRPr>
          </a:p>
          <a:p>
            <a:pPr marL="0" indent="0">
              <a:buNone/>
              <a:defRPr/>
            </a:pPr>
            <a:endParaRPr lang="zh-CN" altLang="zh-CN" sz="1800" kern="100" dirty="0">
              <a:latin typeface="Times New Roman" panose="02020603050405020304" pitchFamily="18" charset="0"/>
            </a:endParaRPr>
          </a:p>
          <a:p>
            <a:pPr marL="0" indent="0">
              <a:buNone/>
              <a:defRPr/>
            </a:pPr>
            <a:endParaRPr lang="zh-CN" altLang="en-US" sz="2000" b="1" dirty="0">
              <a:solidFill>
                <a:schemeClr val="bg2"/>
              </a:solidFill>
            </a:endParaRPr>
          </a:p>
        </p:txBody>
      </p:sp>
      <p:sp>
        <p:nvSpPr>
          <p:cNvPr id="6" name="标题 5121"/>
          <p:cNvSpPr txBox="1">
            <a:spLocks noChangeArrowheads="1"/>
          </p:cNvSpPr>
          <p:nvPr/>
        </p:nvSpPr>
        <p:spPr>
          <a:xfrm>
            <a:off x="838835" y="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pPr>
              <a:defRPr/>
            </a:pPr>
            <a:r>
              <a:rPr lang="en-US" b="1" u="sng">
                <a:solidFill>
                  <a:srgbClr val="1D41D5"/>
                </a:solidFill>
                <a:uFillTx/>
                <a:latin typeface="Times New Roman" panose="02020603050405020304" pitchFamily="18" charset="0"/>
              </a:rPr>
              <a:t>4.1.2 基于竞争的MAC协议</a:t>
            </a:r>
            <a:endParaRPr lang="zh-CN" altLang="en-US" b="1" dirty="0"/>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838835" y="1355726"/>
            <a:ext cx="10516235" cy="4351655"/>
          </a:xfrm>
        </p:spPr>
        <p:txBody>
          <a:bodyPr>
            <a:normAutofit lnSpcReduction="20000"/>
          </a:bodyPr>
          <a:lstStyle/>
          <a:p>
            <a:pPr marL="0" indent="0" fontAlgn="base">
              <a:lnSpc>
                <a:spcPct val="100000"/>
              </a:lnSpc>
              <a:spcBef>
                <a:spcPct val="20000"/>
              </a:spcBef>
              <a:spcAft>
                <a:spcPct val="0"/>
              </a:spcAft>
              <a:buClr>
                <a:srgbClr val="3333CC"/>
              </a:buClr>
              <a:buSzPct val="60000"/>
              <a:buNone/>
              <a:defRPr/>
            </a:pPr>
            <a:r>
              <a:rPr lang="zh-CN" altLang="en-US" b="1" dirty="0">
                <a:latin typeface="宋体" panose="02010600030101010101" pitchFamily="2" charset="-122"/>
                <a:ea typeface="宋体" panose="02010600030101010101" pitchFamily="2" charset="-122"/>
              </a:rPr>
              <a:t>4.</a:t>
            </a:r>
            <a:r>
              <a:rPr lang="en-US" altLang="zh-CN" b="1" dirty="0">
                <a:latin typeface="宋体" panose="02010600030101010101" pitchFamily="2" charset="-122"/>
                <a:ea typeface="宋体" panose="02010600030101010101" pitchFamily="2" charset="-122"/>
              </a:rPr>
              <a:t>1.2.4 S-MAC</a:t>
            </a:r>
            <a:r>
              <a:rPr lang="zh-CN" altLang="en-US" b="1" dirty="0">
                <a:latin typeface="宋体" panose="02010600030101010101" pitchFamily="2" charset="-122"/>
                <a:ea typeface="宋体" panose="02010600030101010101" pitchFamily="2" charset="-122"/>
              </a:rPr>
              <a:t>协议</a:t>
            </a:r>
            <a:endParaRPr lang="en-US" altLang="zh-CN" b="1" dirty="0">
              <a:latin typeface="宋体" panose="02010600030101010101" pitchFamily="2" charset="-122"/>
              <a:ea typeface="宋体" panose="02010600030101010101" pitchFamily="2" charset="-122"/>
            </a:endParaRPr>
          </a:p>
          <a:p>
            <a:pPr marL="0" indent="0">
              <a:lnSpc>
                <a:spcPct val="100000"/>
              </a:lnSpc>
              <a:buNone/>
              <a:defRPr/>
            </a:pPr>
            <a:r>
              <a:rPr lang="en-US" altLang="zh-CN" sz="2000" b="1" dirty="0">
                <a:solidFill>
                  <a:schemeClr val="bg2"/>
                </a:solidFill>
              </a:rPr>
              <a:t>  </a:t>
            </a:r>
            <a:r>
              <a:rPr lang="en-US" altLang="zh-CN" sz="2400" b="1" dirty="0">
                <a:solidFill>
                  <a:schemeClr val="bg2"/>
                </a:solidFill>
              </a:rPr>
              <a:t> </a:t>
            </a:r>
            <a:r>
              <a:rPr lang="en-US" altLang="zh-CN" sz="2400" b="1" kern="100" dirty="0">
                <a:solidFill>
                  <a:srgbClr val="000000"/>
                </a:solidFill>
              </a:rPr>
              <a:t>S-MAC (Sensor MAC)</a:t>
            </a:r>
            <a:r>
              <a:rPr lang="zh-CN" altLang="zh-CN" sz="2400" b="1" kern="100" dirty="0">
                <a:solidFill>
                  <a:srgbClr val="000000"/>
                </a:solidFill>
              </a:rPr>
              <a:t>协议是在</a:t>
            </a:r>
            <a:r>
              <a:rPr lang="en-US" altLang="zh-CN" sz="2400" b="1" kern="100" dirty="0">
                <a:solidFill>
                  <a:srgbClr val="000000"/>
                </a:solidFill>
              </a:rPr>
              <a:t>IEEE 802.11</a:t>
            </a:r>
            <a:r>
              <a:rPr lang="zh-CN" altLang="zh-CN" sz="2400" b="1" kern="100" dirty="0">
                <a:solidFill>
                  <a:srgbClr val="000000"/>
                </a:solidFill>
              </a:rPr>
              <a:t>协议的基础上，针对无线传感器网络的能量有效性而提出的专用于节能的</a:t>
            </a:r>
            <a:r>
              <a:rPr lang="en-US" altLang="zh-CN" sz="2400" b="1" kern="100" dirty="0">
                <a:solidFill>
                  <a:srgbClr val="000000"/>
                </a:solidFill>
              </a:rPr>
              <a:t>MAC</a:t>
            </a:r>
            <a:r>
              <a:rPr lang="zh-CN" altLang="zh-CN" sz="2400" b="1" kern="100" dirty="0">
                <a:solidFill>
                  <a:srgbClr val="000000"/>
                </a:solidFill>
              </a:rPr>
              <a:t>协议。</a:t>
            </a:r>
            <a:r>
              <a:rPr lang="en-US" altLang="zh-CN" sz="2400" b="1" kern="100" dirty="0">
                <a:solidFill>
                  <a:srgbClr val="000000"/>
                </a:solidFill>
              </a:rPr>
              <a:t>S-MAC</a:t>
            </a:r>
            <a:r>
              <a:rPr lang="zh-CN" altLang="zh-CN" sz="2400" b="1" kern="100" dirty="0">
                <a:solidFill>
                  <a:srgbClr val="000000"/>
                </a:solidFill>
              </a:rPr>
              <a:t>协议设计的主要目标是</a:t>
            </a:r>
            <a:r>
              <a:rPr lang="zh-CN" altLang="zh-CN" sz="2400" b="1" kern="100" dirty="0">
                <a:solidFill>
                  <a:srgbClr val="C00000"/>
                </a:solidFill>
              </a:rPr>
              <a:t>减少能量消耗，提供良好的可扩展性</a:t>
            </a:r>
            <a:r>
              <a:rPr lang="zh-CN" altLang="zh-CN" sz="2400" b="1" kern="100" dirty="0">
                <a:solidFill>
                  <a:srgbClr val="000000"/>
                </a:solidFill>
              </a:rPr>
              <a:t>。它针对无线传感器网络消耗能量的主要环节，采用了以下</a:t>
            </a:r>
            <a:r>
              <a:rPr lang="en-US" altLang="zh-CN" sz="2400" b="1" kern="100" dirty="0">
                <a:solidFill>
                  <a:srgbClr val="000000"/>
                </a:solidFill>
              </a:rPr>
              <a:t>3</a:t>
            </a:r>
            <a:r>
              <a:rPr lang="zh-CN" altLang="zh-CN" sz="2400" b="1" kern="100" dirty="0">
                <a:solidFill>
                  <a:srgbClr val="000000"/>
                </a:solidFill>
              </a:rPr>
              <a:t>方面的技术措施来减少能耗：</a:t>
            </a:r>
            <a:r>
              <a:rPr lang="en-US" altLang="zh-CN" sz="2400" b="1" kern="100" dirty="0">
                <a:solidFill>
                  <a:srgbClr val="C00000"/>
                </a:solidFill>
              </a:rPr>
              <a:t>1)</a:t>
            </a:r>
            <a:r>
              <a:rPr lang="zh-CN" altLang="zh-CN" sz="2400" b="1" kern="100" dirty="0">
                <a:solidFill>
                  <a:srgbClr val="C00000"/>
                </a:solidFill>
              </a:rPr>
              <a:t>周期性侦听和休眠</a:t>
            </a:r>
            <a:r>
              <a:rPr lang="zh-CN" altLang="en-US" sz="2400" b="1" kern="100" dirty="0">
                <a:solidFill>
                  <a:srgbClr val="C00000"/>
                </a:solidFill>
              </a:rPr>
              <a:t>，</a:t>
            </a:r>
            <a:r>
              <a:rPr lang="en-US" altLang="zh-CN" sz="2400" b="1" kern="100" dirty="0">
                <a:solidFill>
                  <a:srgbClr val="C00000"/>
                </a:solidFill>
              </a:rPr>
              <a:t>2)</a:t>
            </a:r>
            <a:r>
              <a:rPr lang="zh-CN" altLang="zh-CN" sz="2400" b="1" kern="100" dirty="0">
                <a:solidFill>
                  <a:srgbClr val="C00000"/>
                </a:solidFill>
              </a:rPr>
              <a:t>消息分割和突发传输</a:t>
            </a:r>
            <a:r>
              <a:rPr lang="zh-CN" altLang="en-US" sz="2400" b="1" kern="100" dirty="0">
                <a:solidFill>
                  <a:srgbClr val="C00000"/>
                </a:solidFill>
              </a:rPr>
              <a:t>，</a:t>
            </a:r>
            <a:r>
              <a:rPr lang="en-US" altLang="zh-CN" sz="2400" b="1" kern="100" dirty="0">
                <a:solidFill>
                  <a:srgbClr val="C00000"/>
                </a:solidFill>
              </a:rPr>
              <a:t>3)</a:t>
            </a:r>
            <a:r>
              <a:rPr lang="zh-CN" altLang="zh-CN" sz="2400" b="1" kern="100" dirty="0">
                <a:solidFill>
                  <a:srgbClr val="C00000"/>
                </a:solidFill>
              </a:rPr>
              <a:t>避免接收不必要消息</a:t>
            </a:r>
            <a:endParaRPr lang="en-US" altLang="zh-CN" sz="2400" b="1" kern="100" dirty="0">
              <a:solidFill>
                <a:srgbClr val="C00000"/>
              </a:solidFill>
            </a:endParaRPr>
          </a:p>
          <a:p>
            <a:pPr marL="0" indent="0">
              <a:lnSpc>
                <a:spcPct val="100000"/>
              </a:lnSpc>
              <a:buNone/>
              <a:defRPr/>
            </a:pPr>
            <a:r>
              <a:rPr lang="en-US" altLang="zh-CN" sz="2400" b="1" kern="100" dirty="0">
                <a:solidFill>
                  <a:srgbClr val="000000"/>
                </a:solidFill>
              </a:rPr>
              <a:t>   S-MAC</a:t>
            </a:r>
            <a:r>
              <a:rPr lang="zh-CN" altLang="zh-CN" sz="2400" b="1" kern="100" dirty="0">
                <a:solidFill>
                  <a:srgbClr val="000000"/>
                </a:solidFill>
              </a:rPr>
              <a:t>协议同</a:t>
            </a:r>
            <a:r>
              <a:rPr lang="en-US" altLang="zh-CN" sz="2400" b="1" kern="100" dirty="0">
                <a:solidFill>
                  <a:srgbClr val="000000"/>
                </a:solidFill>
              </a:rPr>
              <a:t>IEEE 802.11</a:t>
            </a:r>
            <a:r>
              <a:rPr lang="zh-CN" altLang="zh-CN" sz="2400" b="1" kern="100" dirty="0">
                <a:solidFill>
                  <a:srgbClr val="000000"/>
                </a:solidFill>
              </a:rPr>
              <a:t>相比，具有明显的节能效果，</a:t>
            </a:r>
            <a:r>
              <a:rPr lang="zh-CN" altLang="en-US" sz="2400" b="1" kern="100" dirty="0">
                <a:solidFill>
                  <a:srgbClr val="000000"/>
                </a:solidFill>
              </a:rPr>
              <a:t>但同时也具有一些缺点，</a:t>
            </a:r>
            <a:r>
              <a:rPr lang="zh-CN" altLang="zh-CN" sz="2400" b="1" kern="100" dirty="0">
                <a:solidFill>
                  <a:srgbClr val="000000"/>
                </a:solidFill>
              </a:rPr>
              <a:t>针对</a:t>
            </a:r>
            <a:r>
              <a:rPr lang="en-US" altLang="zh-CN" sz="2400" b="1" kern="100" dirty="0">
                <a:solidFill>
                  <a:srgbClr val="000000"/>
                </a:solidFill>
              </a:rPr>
              <a:t>S-MAC</a:t>
            </a:r>
            <a:r>
              <a:rPr lang="zh-CN" altLang="zh-CN" sz="2400" b="1" kern="100" dirty="0">
                <a:solidFill>
                  <a:srgbClr val="000000"/>
                </a:solidFill>
              </a:rPr>
              <a:t>协议的不足，其研究者又进一步提出了</a:t>
            </a:r>
            <a:r>
              <a:rPr lang="zh-CN" altLang="zh-CN" sz="2400" b="1" kern="100" dirty="0">
                <a:solidFill>
                  <a:srgbClr val="C00000"/>
                </a:solidFill>
              </a:rPr>
              <a:t>自适应睡眠的</a:t>
            </a:r>
            <a:r>
              <a:rPr lang="en-US" altLang="zh-CN" sz="2400" b="1" kern="100" dirty="0">
                <a:solidFill>
                  <a:srgbClr val="C00000"/>
                </a:solidFill>
              </a:rPr>
              <a:t>S-MAC</a:t>
            </a:r>
            <a:r>
              <a:rPr lang="zh-CN" altLang="zh-CN" sz="2400" b="1" kern="100" dirty="0">
                <a:solidFill>
                  <a:srgbClr val="C00000"/>
                </a:solidFill>
              </a:rPr>
              <a:t>协议</a:t>
            </a:r>
            <a:r>
              <a:rPr lang="zh-CN" altLang="zh-CN" sz="2400" b="1" kern="100" dirty="0">
                <a:solidFill>
                  <a:srgbClr val="000000"/>
                </a:solidFill>
              </a:rPr>
              <a:t>。自适应睡眠的</a:t>
            </a:r>
            <a:r>
              <a:rPr lang="en-US" altLang="zh-CN" sz="2400" b="1" kern="100" dirty="0">
                <a:solidFill>
                  <a:srgbClr val="000000"/>
                </a:solidFill>
              </a:rPr>
              <a:t>S-MAC</a:t>
            </a:r>
            <a:r>
              <a:rPr lang="zh-CN" altLang="zh-CN" sz="2400" b="1" kern="100" dirty="0">
                <a:solidFill>
                  <a:srgbClr val="000000"/>
                </a:solidFill>
              </a:rPr>
              <a:t>在性能上优于</a:t>
            </a:r>
            <a:r>
              <a:rPr lang="en-US" altLang="zh-CN" sz="2400" b="1" kern="100" dirty="0">
                <a:solidFill>
                  <a:srgbClr val="000000"/>
                </a:solidFill>
              </a:rPr>
              <a:t>S-MAC</a:t>
            </a:r>
            <a:r>
              <a:rPr lang="zh-CN" altLang="zh-CN" sz="2400" b="1" kern="100" dirty="0">
                <a:solidFill>
                  <a:srgbClr val="000000"/>
                </a:solidFill>
              </a:rPr>
              <a:t>，特别是在多跳网络中，可以大大减小数据传递的时延。</a:t>
            </a:r>
            <a:r>
              <a:rPr lang="en-US" altLang="zh-CN" sz="2400" b="1" kern="100" dirty="0">
                <a:solidFill>
                  <a:srgbClr val="000000"/>
                </a:solidFill>
              </a:rPr>
              <a:t>S-MAC</a:t>
            </a:r>
            <a:r>
              <a:rPr lang="zh-CN" altLang="zh-CN" sz="2400" b="1" kern="100" dirty="0">
                <a:solidFill>
                  <a:srgbClr val="000000"/>
                </a:solidFill>
              </a:rPr>
              <a:t>和自适应睡眼的</a:t>
            </a:r>
            <a:r>
              <a:rPr lang="en-US" altLang="zh-CN" sz="2400" b="1" kern="100" dirty="0">
                <a:solidFill>
                  <a:srgbClr val="000000"/>
                </a:solidFill>
              </a:rPr>
              <a:t>S-MAC</a:t>
            </a:r>
            <a:r>
              <a:rPr lang="zh-CN" altLang="zh-CN" sz="2400" b="1" kern="100" dirty="0">
                <a:solidFill>
                  <a:srgbClr val="000000"/>
                </a:solidFill>
              </a:rPr>
              <a:t>协议的可扩展性都较好，能适应网络拓扑结构的动态变化。其缺点是</a:t>
            </a:r>
            <a:r>
              <a:rPr lang="zh-CN" altLang="zh-CN" sz="2400" b="1" kern="100" dirty="0">
                <a:solidFill>
                  <a:srgbClr val="C00000"/>
                </a:solidFill>
              </a:rPr>
              <a:t>协议的实现较复杂，需要占用节点大量的存储空间，这对资源受限的传感器节点显得尤为突出。</a:t>
            </a:r>
            <a:endParaRPr lang="zh-CN" altLang="zh-CN" sz="2400" b="1" kern="100" dirty="0">
              <a:solidFill>
                <a:srgbClr val="C00000"/>
              </a:solidFill>
            </a:endParaRPr>
          </a:p>
          <a:p>
            <a:pPr marL="0" indent="0">
              <a:buNone/>
              <a:defRPr/>
            </a:pPr>
            <a:endParaRPr lang="zh-CN" altLang="zh-CN" sz="1800" b="1" kern="100" dirty="0">
              <a:solidFill>
                <a:srgbClr val="000000"/>
              </a:solidFill>
            </a:endParaRPr>
          </a:p>
          <a:p>
            <a:pPr marL="0" indent="0">
              <a:buNone/>
              <a:defRPr/>
            </a:pPr>
            <a:endParaRPr lang="zh-CN" altLang="zh-CN" sz="1800" b="1" kern="100" dirty="0">
              <a:solidFill>
                <a:srgbClr val="000000"/>
              </a:solidFill>
            </a:endParaRPr>
          </a:p>
          <a:p>
            <a:pPr marL="0" indent="0">
              <a:buNone/>
              <a:defRPr/>
            </a:pPr>
            <a:endParaRPr lang="zh-CN" altLang="zh-CN" sz="1800" b="1" dirty="0">
              <a:solidFill>
                <a:schemeClr val="bg2"/>
              </a:solidFill>
            </a:endParaRPr>
          </a:p>
          <a:p>
            <a:pPr marL="0" indent="0">
              <a:buNone/>
              <a:defRPr/>
            </a:pPr>
            <a:endParaRPr lang="zh-CN" altLang="en-US" sz="2000" b="1" dirty="0">
              <a:solidFill>
                <a:schemeClr val="bg2"/>
              </a:solidFill>
            </a:endParaRPr>
          </a:p>
        </p:txBody>
      </p:sp>
      <p:pic>
        <p:nvPicPr>
          <p:cNvPr id="13316" name="图片 1"/>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11450" y="5144770"/>
            <a:ext cx="6189345" cy="1259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4493260" y="6404610"/>
            <a:ext cx="3061335" cy="368300"/>
          </a:xfrm>
          <a:prstGeom prst="rect">
            <a:avLst/>
          </a:prstGeom>
          <a:noFill/>
        </p:spPr>
        <p:txBody>
          <a:bodyPr wrap="square">
            <a:spAutoFit/>
          </a:bodyPr>
          <a:lstStyle/>
          <a:p>
            <a:pPr eaLnBrk="1" hangingPunct="1">
              <a:buFont typeface="Wingdings" panose="05000000000000000000" pitchFamily="2" charset="2"/>
              <a:buNone/>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4-1-3 </a:t>
            </a:r>
            <a:r>
              <a:rPr lang="zh-CN" altLang="zh-CN" b="1" kern="100" dirty="0">
                <a:latin typeface="宋体" panose="02010600030101010101" pitchFamily="2" charset="-122"/>
                <a:ea typeface="宋体" panose="02010600030101010101" pitchFamily="2" charset="-122"/>
              </a:rPr>
              <a:t>周期性侦听和休眠</a:t>
            </a:r>
            <a:endParaRPr lang="zh-CN" altLang="zh-CN" b="1" kern="100" dirty="0">
              <a:latin typeface="Times New Roman" panose="02020603050405020304" pitchFamily="18" charset="0"/>
              <a:ea typeface="宋体" panose="02010600030101010101" pitchFamily="2" charset="-122"/>
            </a:endParaRPr>
          </a:p>
        </p:txBody>
      </p:sp>
      <p:sp>
        <p:nvSpPr>
          <p:cNvPr id="8" name="标题 5121"/>
          <p:cNvSpPr>
            <a:spLocks noGrp="1" noChangeArrowheads="1"/>
          </p:cNvSpPr>
          <p:nvPr>
            <p:ph type="title"/>
          </p:nvPr>
        </p:nvSpPr>
        <p:spPr>
          <a:xfrm>
            <a:off x="838835" y="0"/>
            <a:ext cx="10515600" cy="1325563"/>
          </a:xfrm>
        </p:spPr>
        <p:txBody>
          <a:bodyPr/>
          <a:lstStyle/>
          <a:p>
            <a:pPr eaLnBrk="1" hangingPunct="1">
              <a:defRPr/>
            </a:pPr>
            <a:r>
              <a:rPr lang="en-US" b="1" u="sng">
                <a:solidFill>
                  <a:srgbClr val="1D41D5"/>
                </a:solidFill>
                <a:uFillTx/>
                <a:latin typeface="Times New Roman" panose="02020603050405020304" pitchFamily="18" charset="0"/>
              </a:rPr>
              <a:t>4.1.2 基于竞争的MAC协议</a:t>
            </a:r>
            <a:endParaRPr lang="zh-CN" altLang="en-US" b="1"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83733" y="1325563"/>
            <a:ext cx="10516235" cy="4351655"/>
          </a:xfrm>
        </p:spPr>
        <p:txBody>
          <a:bodyPr/>
          <a:lstStyle/>
          <a:p>
            <a:pPr marL="0" indent="0" fontAlgn="base">
              <a:lnSpc>
                <a:spcPct val="100000"/>
              </a:lnSpc>
              <a:spcBef>
                <a:spcPct val="20000"/>
              </a:spcBef>
              <a:spcAft>
                <a:spcPct val="0"/>
              </a:spcAft>
              <a:buClr>
                <a:srgbClr val="3333CC"/>
              </a:buClr>
              <a:buSzPct val="60000"/>
              <a:buNone/>
              <a:defRPr/>
            </a:pPr>
            <a:r>
              <a:rPr lang="zh-CN" altLang="en-US" b="1" dirty="0">
                <a:latin typeface="宋体" panose="02010600030101010101" pitchFamily="2" charset="-122"/>
                <a:ea typeface="宋体" panose="02010600030101010101" pitchFamily="2" charset="-122"/>
              </a:rPr>
              <a:t>4.</a:t>
            </a:r>
            <a:r>
              <a:rPr lang="en-US" altLang="zh-CN" b="1" dirty="0">
                <a:latin typeface="宋体" panose="02010600030101010101" pitchFamily="2" charset="-122"/>
                <a:ea typeface="宋体" panose="02010600030101010101" pitchFamily="2" charset="-122"/>
              </a:rPr>
              <a:t>1.2.5 T-MAC</a:t>
            </a:r>
            <a:r>
              <a:rPr lang="zh-CN" altLang="en-US" b="1" dirty="0">
                <a:latin typeface="宋体" panose="02010600030101010101" pitchFamily="2" charset="-122"/>
                <a:ea typeface="宋体" panose="02010600030101010101" pitchFamily="2" charset="-122"/>
              </a:rPr>
              <a:t>协议</a:t>
            </a:r>
            <a:endParaRPr lang="en-US" altLang="zh-CN" b="1" dirty="0">
              <a:latin typeface="宋体" panose="02010600030101010101" pitchFamily="2" charset="-122"/>
              <a:ea typeface="宋体" panose="02010600030101010101" pitchFamily="2" charset="-122"/>
            </a:endParaRPr>
          </a:p>
          <a:p>
            <a:pPr marL="0" indent="0">
              <a:lnSpc>
                <a:spcPct val="100000"/>
              </a:lnSpc>
              <a:buNone/>
              <a:defRPr/>
            </a:pPr>
            <a:r>
              <a:rPr lang="en-US" altLang="zh-CN" sz="2000" b="1" dirty="0"/>
              <a:t>   T-MAC (Timeout MAC)</a:t>
            </a:r>
            <a:r>
              <a:rPr lang="zh-CN" altLang="zh-CN" sz="2000" b="1" dirty="0"/>
              <a:t>协议实际上是</a:t>
            </a:r>
            <a:r>
              <a:rPr lang="en-US" altLang="zh-CN" sz="2000" b="1" dirty="0">
                <a:solidFill>
                  <a:srgbClr val="C00000"/>
                </a:solidFill>
              </a:rPr>
              <a:t>S-MAC</a:t>
            </a:r>
            <a:r>
              <a:rPr lang="zh-CN" altLang="zh-CN" sz="2000" b="1" dirty="0">
                <a:solidFill>
                  <a:srgbClr val="C00000"/>
                </a:solidFill>
              </a:rPr>
              <a:t>协议的一种改进</a:t>
            </a:r>
            <a:r>
              <a:rPr lang="zh-CN" altLang="zh-CN" sz="2000" b="1" dirty="0"/>
              <a:t>。</a:t>
            </a:r>
            <a:r>
              <a:rPr lang="en-US" altLang="zh-CN" sz="2000" b="1" dirty="0"/>
              <a:t>S-MAC</a:t>
            </a:r>
            <a:r>
              <a:rPr lang="zh-CN" altLang="zh-CN" sz="2000" b="1" dirty="0"/>
              <a:t>协议的周期长度受限于适迟要求和缓存大小，而侦听时间主要依赖于消息速率。因此，为了保证消息的可靠传输，节点的周期活动时间必须适应最高的通信负载，从而造成网络负载较小时，节点空闲侦听时间的相对增加。该协议在保持周期侦听长度不变的情况下，根据通信流量动态调整节点活动时间，用突发方式发送消息，减少节闲侦听时间。其</a:t>
            </a:r>
            <a:r>
              <a:rPr lang="zh-CN" altLang="zh-CN" sz="2000" b="1" dirty="0">
                <a:solidFill>
                  <a:srgbClr val="C00000"/>
                </a:solidFill>
              </a:rPr>
              <a:t>主要特点是引入了一个</a:t>
            </a:r>
            <a:r>
              <a:rPr lang="en-US" altLang="zh-CN" sz="2000" b="1" dirty="0">
                <a:solidFill>
                  <a:srgbClr val="C00000"/>
                </a:solidFill>
              </a:rPr>
              <a:t>TA (Time Active)</a:t>
            </a:r>
            <a:r>
              <a:rPr lang="zh-CN" altLang="zh-CN" sz="2000" b="1" dirty="0">
                <a:solidFill>
                  <a:srgbClr val="C00000"/>
                </a:solidFill>
              </a:rPr>
              <a:t>时隙</a:t>
            </a:r>
            <a:r>
              <a:rPr lang="zh-CN" altLang="zh-CN" sz="2000" b="1" dirty="0"/>
              <a:t>。若</a:t>
            </a:r>
            <a:r>
              <a:rPr lang="en-US" altLang="zh-CN" sz="2000" b="1" dirty="0"/>
              <a:t>TA</a:t>
            </a:r>
            <a:r>
              <a:rPr lang="zh-CN" altLang="zh-CN" sz="2000" b="1" dirty="0"/>
              <a:t>时隙之间没有任何事件发生，则活动结束进入睡眠状态。</a:t>
            </a:r>
            <a:endParaRPr lang="zh-CN" altLang="zh-CN" sz="2000" b="1" dirty="0"/>
          </a:p>
          <a:p>
            <a:pPr eaLnBrk="1" hangingPunct="1">
              <a:lnSpc>
                <a:spcPct val="180000"/>
              </a:lnSpc>
              <a:buFont typeface="Wingdings" panose="05000000000000000000" pitchFamily="2" charset="2"/>
              <a:buNone/>
              <a:defRPr/>
            </a:pPr>
            <a:endParaRPr lang="zh-CN" altLang="en-US" sz="1800" dirty="0"/>
          </a:p>
        </p:txBody>
      </p:sp>
      <p:pic>
        <p:nvPicPr>
          <p:cNvPr id="14340" name="图片 1"/>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93695" y="3764915"/>
            <a:ext cx="5972810" cy="237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4560570" y="6263005"/>
            <a:ext cx="307022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4-1-4 T-MAC</a:t>
            </a:r>
            <a:r>
              <a:rPr lang="zh-CN" altLang="en-US" b="1" dirty="0">
                <a:latin typeface="宋体" panose="02010600030101010101" pitchFamily="2" charset="-122"/>
                <a:ea typeface="宋体" panose="02010600030101010101" pitchFamily="2" charset="-122"/>
              </a:rPr>
              <a:t>协议基本机制</a:t>
            </a:r>
            <a:endParaRPr lang="zh-CN" altLang="en-US" dirty="0">
              <a:latin typeface="宋体" panose="02010600030101010101" pitchFamily="2" charset="-122"/>
              <a:ea typeface="宋体" panose="02010600030101010101" pitchFamily="2" charset="-122"/>
            </a:endParaRPr>
          </a:p>
        </p:txBody>
      </p:sp>
      <p:sp>
        <p:nvSpPr>
          <p:cNvPr id="6" name="标题 5121"/>
          <p:cNvSpPr txBox="1">
            <a:spLocks noChangeArrowheads="1"/>
          </p:cNvSpPr>
          <p:nvPr/>
        </p:nvSpPr>
        <p:spPr>
          <a:xfrm>
            <a:off x="838835" y="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pPr>
              <a:defRPr/>
            </a:pPr>
            <a:r>
              <a:rPr lang="en-US" b="1" u="sng">
                <a:solidFill>
                  <a:srgbClr val="1D41D5"/>
                </a:solidFill>
                <a:uFillTx/>
                <a:latin typeface="Times New Roman" panose="02020603050405020304" pitchFamily="18" charset="0"/>
              </a:rPr>
              <a:t>4.1.2 基于竞争的MAC协议</a:t>
            </a:r>
            <a:endParaRPr lang="zh-CN" altLang="en-US" b="1"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946785" y="1579880"/>
            <a:ext cx="10516235" cy="5153660"/>
          </a:xfrm>
        </p:spPr>
        <p:txBody>
          <a:bodyPr>
            <a:normAutofit fontScale="90000"/>
          </a:bodyPr>
          <a:lstStyle/>
          <a:p>
            <a:pPr marL="0" indent="0">
              <a:buNone/>
              <a:defRPr/>
            </a:pPr>
            <a:r>
              <a:rPr lang="zh-CN" altLang="en-US" b="1" dirty="0">
                <a:solidFill>
                  <a:srgbClr val="FF0000"/>
                </a:solidFill>
                <a:uFillTx/>
              </a:rPr>
              <a:t>4.</a:t>
            </a:r>
            <a:r>
              <a:rPr lang="en-US" altLang="zh-CN" b="1" dirty="0">
                <a:solidFill>
                  <a:srgbClr val="FF0000"/>
                </a:solidFill>
                <a:uFillTx/>
              </a:rPr>
              <a:t>1.2.6 SIFT</a:t>
            </a:r>
            <a:r>
              <a:rPr lang="zh-CN" altLang="en-US" b="1" dirty="0">
                <a:solidFill>
                  <a:srgbClr val="FF0000"/>
                </a:solidFill>
                <a:uFillTx/>
              </a:rPr>
              <a:t>协议</a:t>
            </a:r>
            <a:endParaRPr lang="en-US" altLang="zh-CN" b="1" dirty="0">
              <a:solidFill>
                <a:srgbClr val="FF0000"/>
              </a:solidFill>
              <a:uFillTx/>
            </a:endParaRPr>
          </a:p>
          <a:p>
            <a:pPr marL="0" indent="0" algn="just" fontAlgn="auto">
              <a:lnSpc>
                <a:spcPct val="110000"/>
              </a:lnSpc>
              <a:spcBef>
                <a:spcPts val="600"/>
              </a:spcBef>
              <a:buNone/>
              <a:defRPr/>
            </a:pPr>
            <a:r>
              <a:rPr lang="en-US" altLang="zh-CN" sz="1800" b="1" kern="100" dirty="0">
                <a:solidFill>
                  <a:srgbClr val="000000"/>
                </a:solidFill>
              </a:rPr>
              <a:t>   </a:t>
            </a:r>
            <a:r>
              <a:rPr lang="en-US" altLang="zh-CN" sz="2400" b="1" kern="100" dirty="0">
                <a:solidFill>
                  <a:srgbClr val="000000"/>
                </a:solidFill>
              </a:rPr>
              <a:t>SIFT</a:t>
            </a:r>
            <a:r>
              <a:rPr lang="zh-CN" altLang="zh-CN" sz="2400" b="1" kern="100" dirty="0">
                <a:solidFill>
                  <a:srgbClr val="000000"/>
                </a:solidFill>
              </a:rPr>
              <a:t>协议的核心思想是采用</a:t>
            </a:r>
            <a:r>
              <a:rPr lang="en-US" altLang="zh-CN" sz="2400" b="1" kern="100" dirty="0">
                <a:solidFill>
                  <a:srgbClr val="000000"/>
                </a:solidFill>
              </a:rPr>
              <a:t>CW(</a:t>
            </a:r>
            <a:r>
              <a:rPr lang="zh-CN" altLang="zh-CN" sz="2400" b="1" kern="100" dirty="0">
                <a:solidFill>
                  <a:srgbClr val="000000"/>
                </a:solidFill>
              </a:rPr>
              <a:t>竞争窗口</a:t>
            </a:r>
            <a:r>
              <a:rPr lang="en-US" altLang="zh-CN" sz="2400" b="1" kern="100" dirty="0">
                <a:solidFill>
                  <a:srgbClr val="000000"/>
                </a:solidFill>
              </a:rPr>
              <a:t>)</a:t>
            </a:r>
            <a:r>
              <a:rPr lang="zh-CN" altLang="zh-CN" sz="2400" b="1" kern="100" dirty="0">
                <a:solidFill>
                  <a:srgbClr val="000000"/>
                </a:solidFill>
              </a:rPr>
              <a:t>值固定的窗口，节点不是从发送窗口选择发送时隙，而是在不同的时隙中选择发送数据的概率。因此，</a:t>
            </a:r>
            <a:r>
              <a:rPr lang="en-US" altLang="zh-CN" sz="2400" b="1" kern="100" dirty="0">
                <a:solidFill>
                  <a:srgbClr val="000000"/>
                </a:solidFill>
              </a:rPr>
              <a:t>SIFT</a:t>
            </a:r>
            <a:r>
              <a:rPr lang="zh-CN" altLang="zh-CN" sz="2400" b="1" kern="100" dirty="0">
                <a:solidFill>
                  <a:srgbClr val="000000"/>
                </a:solidFill>
              </a:rPr>
              <a:t>协议的关键在于如何在不同的时隙为节点选择合适的发送概率分布，使得检测到同一个事件的多个节点能够在竞争窗口前面的各个时隙内不断无冲突地发送消息。</a:t>
            </a:r>
            <a:endParaRPr lang="en-US" altLang="zh-CN" sz="2400" b="1" kern="100" dirty="0">
              <a:solidFill>
                <a:srgbClr val="000000"/>
              </a:solidFill>
            </a:endParaRPr>
          </a:p>
          <a:p>
            <a:pPr marL="0" indent="0" algn="just" fontAlgn="auto">
              <a:lnSpc>
                <a:spcPct val="110000"/>
              </a:lnSpc>
              <a:spcBef>
                <a:spcPts val="600"/>
              </a:spcBef>
              <a:buNone/>
              <a:defRPr/>
            </a:pPr>
            <a:r>
              <a:rPr lang="en-US" altLang="zh-CN" sz="2400" b="1" kern="100" dirty="0">
                <a:solidFill>
                  <a:srgbClr val="000000"/>
                </a:solidFill>
              </a:rPr>
              <a:t>   </a:t>
            </a:r>
            <a:r>
              <a:rPr lang="zh-CN" altLang="zh-CN" sz="2400" b="1" kern="100" dirty="0">
                <a:solidFill>
                  <a:srgbClr val="1552D1"/>
                </a:solidFill>
                <a:uFillTx/>
              </a:rPr>
              <a:t>如果节点有消息需要发送，则首先假设当前有</a:t>
            </a:r>
            <a:r>
              <a:rPr lang="en-US" altLang="zh-CN" sz="2400" b="1" kern="100" dirty="0">
                <a:solidFill>
                  <a:srgbClr val="1552D1"/>
                </a:solidFill>
                <a:uFillTx/>
              </a:rPr>
              <a:t>N</a:t>
            </a:r>
            <a:r>
              <a:rPr lang="zh-CN" altLang="zh-CN" sz="2400" b="1" kern="100" dirty="0">
                <a:solidFill>
                  <a:srgbClr val="1552D1"/>
                </a:solidFill>
                <a:uFillTx/>
              </a:rPr>
              <a:t>个节点与其竞争发送，如果在第一个时隙内节点本身不发送消息，也没有其他节点发送消息，节点就减少假设的竞争发送节点的数目，并相应地增加选择在第二个时隙发送数据的概率；如果节点没有选择第二个时隙，而且在第二个时隙上还没有其他节点发送消息，节点再减少假设的竞争发送节点数目，进一步增加选择第三个时隙发送数据的概率，依此类推。</a:t>
            </a:r>
            <a:endParaRPr lang="en-US" altLang="zh-CN" sz="2400" b="1" kern="100" dirty="0">
              <a:solidFill>
                <a:srgbClr val="000000"/>
              </a:solidFill>
            </a:endParaRPr>
          </a:p>
          <a:p>
            <a:pPr marL="0" indent="0" algn="just" fontAlgn="auto">
              <a:lnSpc>
                <a:spcPct val="110000"/>
              </a:lnSpc>
              <a:spcBef>
                <a:spcPts val="600"/>
              </a:spcBef>
              <a:buNone/>
              <a:defRPr/>
            </a:pPr>
            <a:r>
              <a:rPr lang="en-US" altLang="zh-CN" sz="2400" b="1" kern="100" dirty="0">
                <a:solidFill>
                  <a:srgbClr val="000000"/>
                </a:solidFill>
              </a:rPr>
              <a:t>   SIFT</a:t>
            </a:r>
            <a:r>
              <a:rPr lang="zh-CN" altLang="zh-CN" sz="2400" b="1" kern="100" dirty="0">
                <a:solidFill>
                  <a:srgbClr val="000000"/>
                </a:solidFill>
              </a:rPr>
              <a:t>协议是一个新颖而简单的不同于传统的基于窗口的</a:t>
            </a:r>
            <a:r>
              <a:rPr lang="en-US" altLang="zh-CN" sz="2400" b="1" kern="100" dirty="0">
                <a:solidFill>
                  <a:srgbClr val="000000"/>
                </a:solidFill>
              </a:rPr>
              <a:t>MAC</a:t>
            </a:r>
            <a:r>
              <a:rPr lang="zh-CN" altLang="zh-CN" sz="2400" b="1" kern="100" dirty="0">
                <a:solidFill>
                  <a:srgbClr val="000000"/>
                </a:solidFill>
              </a:rPr>
              <a:t>层协议，但对接收节点的空闲状态考虑较少，需要节点间保持时间同步，因此适于在无线传感器网络的局部区域内使用。</a:t>
            </a:r>
            <a:r>
              <a:rPr lang="en-US" altLang="zh-CN" sz="2400" b="1" kern="100" dirty="0">
                <a:solidFill>
                  <a:srgbClr val="C00000"/>
                </a:solidFill>
              </a:rPr>
              <a:t>SIFT</a:t>
            </a:r>
            <a:r>
              <a:rPr lang="zh-CN" altLang="zh-CN" sz="2400" b="1" kern="100" dirty="0">
                <a:solidFill>
                  <a:srgbClr val="C00000"/>
                </a:solidFill>
              </a:rPr>
              <a:t>协议比较适合在分簇网络中使用。</a:t>
            </a:r>
            <a:endParaRPr lang="zh-CN" altLang="zh-CN" sz="2400" b="1" kern="100" dirty="0">
              <a:solidFill>
                <a:srgbClr val="C00000"/>
              </a:solidFill>
            </a:endParaRPr>
          </a:p>
          <a:p>
            <a:pPr eaLnBrk="1" hangingPunct="1">
              <a:lnSpc>
                <a:spcPct val="180000"/>
              </a:lnSpc>
              <a:buFont typeface="Wingdings" panose="05000000000000000000" pitchFamily="2" charset="2"/>
              <a:buNone/>
              <a:defRPr/>
            </a:pPr>
            <a:endParaRPr lang="zh-CN" altLang="en-US" sz="2400" dirty="0"/>
          </a:p>
        </p:txBody>
      </p:sp>
      <p:sp>
        <p:nvSpPr>
          <p:cNvPr id="4" name="标题 5121"/>
          <p:cNvSpPr txBox="1">
            <a:spLocks noChangeArrowheads="1"/>
          </p:cNvSpPr>
          <p:nvPr/>
        </p:nvSpPr>
        <p:spPr>
          <a:xfrm>
            <a:off x="838835" y="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pPr>
              <a:defRPr/>
            </a:pPr>
            <a:r>
              <a:rPr lang="en-US" b="1" u="sng">
                <a:solidFill>
                  <a:srgbClr val="1D41D5"/>
                </a:solidFill>
                <a:uFillTx/>
                <a:latin typeface="Times New Roman" panose="02020603050405020304" pitchFamily="18" charset="0"/>
              </a:rPr>
              <a:t>4.1.2 基于竞争的MAC协议</a:t>
            </a:r>
            <a:endParaRPr lang="zh-CN" altLang="en-US" b="1"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939589" y="1443990"/>
            <a:ext cx="10516235" cy="4351655"/>
          </a:xfrm>
        </p:spPr>
        <p:txBody>
          <a:bodyPr>
            <a:normAutofit lnSpcReduction="20000"/>
          </a:bodyPr>
          <a:lstStyle/>
          <a:p>
            <a:pPr marL="0" indent="0">
              <a:buNone/>
              <a:defRPr/>
            </a:pPr>
            <a:r>
              <a:rPr lang="zh-CN" altLang="en-US" b="1" dirty="0"/>
              <a:t>4.</a:t>
            </a:r>
            <a:r>
              <a:rPr lang="en-US" altLang="zh-CN" b="1" dirty="0"/>
              <a:t>1.3 </a:t>
            </a:r>
            <a:r>
              <a:rPr lang="zh-CN" altLang="en-US" b="1" dirty="0"/>
              <a:t>基于分配型的</a:t>
            </a:r>
            <a:r>
              <a:rPr lang="en-US" altLang="zh-CN" b="1" dirty="0"/>
              <a:t>MAC</a:t>
            </a:r>
            <a:r>
              <a:rPr lang="zh-CN" altLang="en-US" b="1" dirty="0"/>
              <a:t>协议</a:t>
            </a:r>
            <a:endParaRPr lang="zh-CN" altLang="en-US" b="1" dirty="0"/>
          </a:p>
          <a:p>
            <a:pPr marL="0" indent="0" algn="just">
              <a:lnSpc>
                <a:spcPct val="100000"/>
              </a:lnSpc>
              <a:buNone/>
              <a:defRPr/>
            </a:pPr>
            <a:r>
              <a:rPr lang="en-US" altLang="zh-CN" sz="1800" kern="100" dirty="0">
                <a:latin typeface="Times New Roman" panose="02020603050405020304" pitchFamily="18" charset="0"/>
                <a:cs typeface="Times New Roman" panose="02020603050405020304" pitchFamily="18" charset="0"/>
              </a:rPr>
              <a:t>    </a:t>
            </a:r>
            <a:r>
              <a:rPr lang="zh-CN" altLang="zh-CN" sz="2400" b="1" kern="100" dirty="0">
                <a:latin typeface="Times New Roman" panose="02020603050405020304" pitchFamily="18" charset="0"/>
                <a:cs typeface="Times New Roman" panose="02020603050405020304" pitchFamily="18" charset="0"/>
              </a:rPr>
              <a:t>基于分配的信道访问控制将共享的信道资源按照某种策略无冲突地分配给网络中的各个节点，当节点需要发送数据时，在自身分配的信道资源内完成数据传输，节点之间互不干扰，因此</a:t>
            </a:r>
            <a:r>
              <a:rPr lang="zh-CN" altLang="zh-CN" sz="2400" b="1" kern="100" dirty="0">
                <a:solidFill>
                  <a:srgbClr val="C00000"/>
                </a:solidFill>
                <a:latin typeface="Times New Roman" panose="02020603050405020304" pitchFamily="18" charset="0"/>
                <a:cs typeface="Times New Roman" panose="02020603050405020304" pitchFamily="18" charset="0"/>
              </a:rPr>
              <a:t>没有冲突</a:t>
            </a:r>
            <a:r>
              <a:rPr lang="zh-CN" altLang="zh-CN" sz="2400" b="1" kern="100" dirty="0">
                <a:latin typeface="Times New Roman" panose="02020603050405020304" pitchFamily="18" charset="0"/>
                <a:cs typeface="Times New Roman" panose="02020603050405020304" pitchFamily="18" charset="0"/>
              </a:rPr>
              <a:t>。它面临的难点是如何以最小的代价为整个网络中的节点无冲突地分配信道资源。信道资源的分配方式包含两种，一种是</a:t>
            </a:r>
            <a:r>
              <a:rPr lang="zh-CN" altLang="zh-CN" sz="2400" b="1" kern="100" dirty="0">
                <a:solidFill>
                  <a:srgbClr val="C00000"/>
                </a:solidFill>
                <a:latin typeface="Times New Roman" panose="02020603050405020304" pitchFamily="18" charset="0"/>
                <a:cs typeface="Times New Roman" panose="02020603050405020304" pitchFamily="18" charset="0"/>
              </a:rPr>
              <a:t>固定的信道分配</a:t>
            </a:r>
            <a:r>
              <a:rPr lang="zh-CN" altLang="zh-CN" sz="2400" b="1" kern="100" dirty="0">
                <a:latin typeface="Times New Roman" panose="02020603050405020304" pitchFamily="18" charset="0"/>
                <a:cs typeface="Times New Roman" panose="02020603050405020304" pitchFamily="18" charset="0"/>
              </a:rPr>
              <a:t>，另一种是</a:t>
            </a:r>
            <a:r>
              <a:rPr lang="zh-CN" altLang="zh-CN" sz="2400" b="1" kern="100" dirty="0">
                <a:solidFill>
                  <a:srgbClr val="C00000"/>
                </a:solidFill>
                <a:latin typeface="Times New Roman" panose="02020603050405020304" pitchFamily="18" charset="0"/>
                <a:cs typeface="Times New Roman" panose="02020603050405020304" pitchFamily="18" charset="0"/>
              </a:rPr>
              <a:t>动态的信道分配</a:t>
            </a:r>
            <a:r>
              <a:rPr lang="zh-CN" altLang="zh-CN" sz="2400" b="1" kern="100" dirty="0">
                <a:solidFill>
                  <a:schemeClr val="bg2"/>
                </a:solidFill>
                <a:latin typeface="Times New Roman" panose="02020603050405020304" pitchFamily="18" charset="0"/>
                <a:cs typeface="Times New Roman" panose="02020603050405020304" pitchFamily="18" charset="0"/>
              </a:rPr>
              <a:t>。</a:t>
            </a:r>
            <a:endParaRPr lang="en-US" altLang="zh-CN" sz="2400" b="1" kern="100" dirty="0">
              <a:solidFill>
                <a:schemeClr val="bg2"/>
              </a:solidFill>
              <a:latin typeface="Times New Roman" panose="02020603050405020304" pitchFamily="18" charset="0"/>
              <a:cs typeface="Times New Roman" panose="02020603050405020304" pitchFamily="18" charset="0"/>
            </a:endParaRPr>
          </a:p>
          <a:p>
            <a:pPr marL="0" indent="0" algn="just">
              <a:lnSpc>
                <a:spcPct val="100000"/>
              </a:lnSpc>
              <a:buNone/>
              <a:defRPr/>
            </a:pPr>
            <a:endParaRPr lang="en-US" altLang="zh-CN" sz="2400" b="1" kern="100" dirty="0">
              <a:solidFill>
                <a:schemeClr val="bg2"/>
              </a:solidFill>
              <a:latin typeface="Times New Roman" panose="02020603050405020304" pitchFamily="18" charset="0"/>
              <a:cs typeface="Times New Roman" panose="02020603050405020304" pitchFamily="18" charset="0"/>
            </a:endParaRPr>
          </a:p>
          <a:p>
            <a:pPr marL="0" indent="0" algn="just">
              <a:lnSpc>
                <a:spcPct val="100000"/>
              </a:lnSpc>
              <a:buNone/>
              <a:defRPr/>
            </a:pPr>
            <a:r>
              <a:rPr lang="en-US" altLang="zh-CN" sz="2400" kern="100" dirty="0">
                <a:latin typeface="Times New Roman" panose="02020603050405020304" pitchFamily="18" charset="0"/>
                <a:cs typeface="Times New Roman" panose="02020603050405020304" pitchFamily="18" charset="0"/>
              </a:rPr>
              <a:t>   </a:t>
            </a:r>
            <a:r>
              <a:rPr lang="zh-CN" altLang="zh-CN" sz="2400" b="1" kern="100" dirty="0">
                <a:cs typeface="Times New Roman" panose="02020603050405020304" pitchFamily="18" charset="0"/>
              </a:rPr>
              <a:t>固定信道分配将共享的无线信道资源以</a:t>
            </a:r>
            <a:r>
              <a:rPr lang="zh-CN" altLang="zh-CN" sz="2400" b="1" kern="100" dirty="0">
                <a:solidFill>
                  <a:srgbClr val="C00000"/>
                </a:solidFill>
                <a:cs typeface="Times New Roman" panose="02020603050405020304" pitchFamily="18" charset="0"/>
              </a:rPr>
              <a:t>频分多址（</a:t>
            </a:r>
            <a:r>
              <a:rPr lang="en-US" altLang="zh-CN" sz="2400" b="1" kern="100" dirty="0">
                <a:solidFill>
                  <a:srgbClr val="C00000"/>
                </a:solidFill>
              </a:rPr>
              <a:t>frequency division multiple access</a:t>
            </a:r>
            <a:r>
              <a:rPr lang="zh-CN" altLang="zh-CN" sz="2400" b="1" kern="100" dirty="0">
                <a:solidFill>
                  <a:srgbClr val="C00000"/>
                </a:solidFill>
                <a:cs typeface="Times New Roman" panose="02020603050405020304" pitchFamily="18" charset="0"/>
              </a:rPr>
              <a:t>，</a:t>
            </a:r>
            <a:r>
              <a:rPr lang="en-US" altLang="zh-CN" sz="2400" b="1" kern="100" dirty="0">
                <a:solidFill>
                  <a:srgbClr val="C00000"/>
                </a:solidFill>
              </a:rPr>
              <a:t>FDMA</a:t>
            </a:r>
            <a:r>
              <a:rPr lang="zh-CN" altLang="zh-CN" sz="2400" b="1" kern="100" dirty="0">
                <a:solidFill>
                  <a:srgbClr val="C00000"/>
                </a:solidFill>
                <a:cs typeface="Times New Roman" panose="02020603050405020304" pitchFamily="18" charset="0"/>
              </a:rPr>
              <a:t>）、时分多址（</a:t>
            </a:r>
            <a:r>
              <a:rPr lang="en-US" altLang="zh-CN" sz="2400" b="1" kern="100" dirty="0">
                <a:solidFill>
                  <a:srgbClr val="C00000"/>
                </a:solidFill>
              </a:rPr>
              <a:t>time division multiple access</a:t>
            </a:r>
            <a:r>
              <a:rPr lang="zh-CN" altLang="zh-CN" sz="2400" b="1" kern="100" dirty="0">
                <a:solidFill>
                  <a:srgbClr val="C00000"/>
                </a:solidFill>
                <a:cs typeface="Times New Roman" panose="02020603050405020304" pitchFamily="18" charset="0"/>
              </a:rPr>
              <a:t>，</a:t>
            </a:r>
            <a:r>
              <a:rPr lang="en-US" altLang="zh-CN" sz="2400" b="1" kern="100" dirty="0">
                <a:solidFill>
                  <a:srgbClr val="C00000"/>
                </a:solidFill>
              </a:rPr>
              <a:t>TDMA</a:t>
            </a:r>
            <a:r>
              <a:rPr lang="zh-CN" altLang="zh-CN" sz="2400" b="1" kern="100" dirty="0">
                <a:solidFill>
                  <a:srgbClr val="C00000"/>
                </a:solidFill>
                <a:cs typeface="Times New Roman" panose="02020603050405020304" pitchFamily="18" charset="0"/>
              </a:rPr>
              <a:t>）或码分多址（</a:t>
            </a:r>
            <a:r>
              <a:rPr lang="en-US" altLang="zh-CN" sz="2400" b="1" kern="100" dirty="0">
                <a:solidFill>
                  <a:srgbClr val="C00000"/>
                </a:solidFill>
              </a:rPr>
              <a:t>code division </a:t>
            </a:r>
            <a:r>
              <a:rPr lang="en-US" altLang="zh-CN" sz="2400" b="1" kern="100" dirty="0" err="1">
                <a:solidFill>
                  <a:srgbClr val="C00000"/>
                </a:solidFill>
              </a:rPr>
              <a:t>multipl</a:t>
            </a:r>
            <a:r>
              <a:rPr lang="en-US" altLang="zh-CN" sz="2400" b="1" kern="100" dirty="0">
                <a:solidFill>
                  <a:srgbClr val="C00000"/>
                </a:solidFill>
              </a:rPr>
              <a:t> access</a:t>
            </a:r>
            <a:r>
              <a:rPr lang="zh-CN" altLang="zh-CN" sz="2400" b="1" kern="100" dirty="0">
                <a:solidFill>
                  <a:srgbClr val="C00000"/>
                </a:solidFill>
                <a:cs typeface="Times New Roman" panose="02020603050405020304" pitchFamily="18" charset="0"/>
              </a:rPr>
              <a:t>，</a:t>
            </a:r>
            <a:r>
              <a:rPr lang="en-US" altLang="zh-CN" sz="2400" b="1" kern="100" dirty="0">
                <a:solidFill>
                  <a:srgbClr val="C00000"/>
                </a:solidFill>
              </a:rPr>
              <a:t>CDMA</a:t>
            </a:r>
            <a:r>
              <a:rPr lang="zh-CN" altLang="zh-CN" sz="2400" b="1" kern="100" dirty="0">
                <a:solidFill>
                  <a:srgbClr val="C00000"/>
                </a:solidFill>
                <a:cs typeface="Times New Roman" panose="02020603050405020304" pitchFamily="18" charset="0"/>
              </a:rPr>
              <a:t>）</a:t>
            </a:r>
            <a:r>
              <a:rPr lang="zh-CN" altLang="zh-CN" sz="2400" b="1" kern="100" dirty="0">
                <a:cs typeface="Times New Roman" panose="02020603050405020304" pitchFamily="18" charset="0"/>
              </a:rPr>
              <a:t>等方式划分为若干个逻辑子信道，再将各个子信道分配给节点，所有节点在自己的逻辑子信道内发送数据，互不冲突。</a:t>
            </a:r>
            <a:endParaRPr lang="zh-CN" altLang="en-US" sz="2400" b="1" dirty="0"/>
          </a:p>
        </p:txBody>
      </p:sp>
      <p:sp>
        <p:nvSpPr>
          <p:cNvPr id="6" name="标题 1"/>
          <p:cNvSpPr txBox="1"/>
          <p:nvPr/>
        </p:nvSpPr>
        <p:spPr>
          <a:xfrm>
            <a:off x="3467735" y="234524"/>
            <a:ext cx="5461000" cy="9387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4.1 MAC协议</a:t>
            </a:r>
            <a:endParaRPr lang="zh-CN" altLang="en-US" b="1"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9867" y="1366307"/>
            <a:ext cx="10516235" cy="4351655"/>
          </a:xfrm>
        </p:spPr>
        <p:txBody>
          <a:bodyPr/>
          <a:lstStyle/>
          <a:p>
            <a:pPr marL="0" indent="0">
              <a:buNone/>
              <a:defRPr/>
            </a:pPr>
            <a:r>
              <a:rPr lang="zh-CN" altLang="en-US" b="1" dirty="0"/>
              <a:t>4.</a:t>
            </a:r>
            <a:r>
              <a:rPr lang="en-US" altLang="zh-CN" b="1" dirty="0"/>
              <a:t>1.3 </a:t>
            </a:r>
            <a:r>
              <a:rPr lang="zh-CN" altLang="en-US" b="1" dirty="0"/>
              <a:t>基于分配型的</a:t>
            </a:r>
            <a:r>
              <a:rPr lang="en-US" altLang="zh-CN" b="1" dirty="0"/>
              <a:t>MAC</a:t>
            </a:r>
            <a:r>
              <a:rPr lang="zh-CN" altLang="en-US" b="1" dirty="0"/>
              <a:t>协议</a:t>
            </a:r>
            <a:endParaRPr lang="zh-CN" altLang="en-US" b="1" dirty="0"/>
          </a:p>
          <a:p>
            <a:pPr marL="0" indent="0" algn="just">
              <a:buNone/>
              <a:defRPr/>
            </a:pPr>
            <a:r>
              <a:rPr lang="en-US" altLang="zh-CN" sz="1800" kern="100" dirty="0">
                <a:cs typeface="Times New Roman" panose="02020603050405020304" pitchFamily="18" charset="0"/>
              </a:rPr>
              <a:t>   </a:t>
            </a:r>
            <a:r>
              <a:rPr lang="en-US" altLang="zh-CN" sz="2400" kern="100" dirty="0">
                <a:cs typeface="Times New Roman" panose="02020603050405020304" pitchFamily="18" charset="0"/>
              </a:rPr>
              <a:t> </a:t>
            </a:r>
            <a:r>
              <a:rPr lang="zh-CN" altLang="zh-CN" sz="2400" b="1" kern="100" dirty="0">
                <a:cs typeface="Times New Roman" panose="02020603050405020304" pitchFamily="18" charset="0"/>
              </a:rPr>
              <a:t>动态信道分配采取</a:t>
            </a:r>
            <a:r>
              <a:rPr lang="zh-CN" altLang="zh-CN" sz="2400" b="1" kern="100" dirty="0">
                <a:solidFill>
                  <a:srgbClr val="C00000"/>
                </a:solidFill>
                <a:cs typeface="Times New Roman" panose="02020603050405020304" pitchFamily="18" charset="0"/>
              </a:rPr>
              <a:t>按需分配</a:t>
            </a:r>
            <a:r>
              <a:rPr lang="zh-CN" altLang="zh-CN" sz="2400" b="1" kern="100" dirty="0">
                <a:cs typeface="Times New Roman" panose="02020603050405020304" pitchFamily="18" charset="0"/>
              </a:rPr>
              <a:t>的策略，将信道资源动态地分配给需要发送数据的节点，尽可能提高信道的利用率。动态信道分配的难点是</a:t>
            </a:r>
            <a:r>
              <a:rPr lang="zh-CN" altLang="zh-CN" sz="2400" b="1" kern="100" dirty="0">
                <a:solidFill>
                  <a:srgbClr val="C00000"/>
                </a:solidFill>
                <a:cs typeface="Times New Roman" panose="02020603050405020304" pitchFamily="18" charset="0"/>
              </a:rPr>
              <a:t>需要网络建立某种控制机制</a:t>
            </a:r>
            <a:r>
              <a:rPr lang="zh-CN" altLang="zh-CN" sz="2400" b="1" kern="100" dirty="0">
                <a:cs typeface="Times New Roman" panose="02020603050405020304" pitchFamily="18" charset="0"/>
              </a:rPr>
              <a:t>，用于仲裁多个节点对共享信道的竞争访问。</a:t>
            </a:r>
            <a:r>
              <a:rPr lang="zh-CN" altLang="zh-CN" sz="2400" b="1" kern="100" dirty="0">
                <a:solidFill>
                  <a:srgbClr val="C00000"/>
                </a:solidFill>
                <a:cs typeface="Times New Roman" panose="02020603050405020304" pitchFamily="18" charset="0"/>
              </a:rPr>
              <a:t>轮询（</a:t>
            </a:r>
            <a:r>
              <a:rPr lang="en-US" altLang="zh-CN" sz="2400" b="1" kern="100" dirty="0">
                <a:solidFill>
                  <a:srgbClr val="C00000"/>
                </a:solidFill>
              </a:rPr>
              <a:t>polling</a:t>
            </a:r>
            <a:r>
              <a:rPr lang="zh-CN" altLang="zh-CN" sz="2400" b="1" kern="100" dirty="0">
                <a:solidFill>
                  <a:srgbClr val="C00000"/>
                </a:solidFill>
                <a:cs typeface="Times New Roman" panose="02020603050405020304" pitchFamily="18" charset="0"/>
              </a:rPr>
              <a:t>）和令牌环（</a:t>
            </a:r>
            <a:r>
              <a:rPr lang="en-US" altLang="zh-CN" sz="2400" b="1" kern="100" dirty="0">
                <a:solidFill>
                  <a:srgbClr val="C00000"/>
                </a:solidFill>
              </a:rPr>
              <a:t>token ring</a:t>
            </a:r>
            <a:r>
              <a:rPr lang="zh-CN" altLang="zh-CN" sz="2400" b="1" kern="100" dirty="0">
                <a:solidFill>
                  <a:srgbClr val="C00000"/>
                </a:solidFill>
                <a:cs typeface="Times New Roman" panose="02020603050405020304" pitchFamily="18" charset="0"/>
              </a:rPr>
              <a:t>）</a:t>
            </a:r>
            <a:r>
              <a:rPr lang="zh-CN" altLang="zh-CN" sz="2400" b="1" kern="100" dirty="0">
                <a:cs typeface="Times New Roman" panose="02020603050405020304" pitchFamily="18" charset="0"/>
              </a:rPr>
              <a:t>是两个典型的控制机制，前者是集中式的，后者是分布式的。</a:t>
            </a:r>
            <a:endParaRPr lang="zh-CN" altLang="en-US" sz="2400" b="1" dirty="0"/>
          </a:p>
        </p:txBody>
      </p:sp>
      <p:pic>
        <p:nvPicPr>
          <p:cNvPr id="17412"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139440" y="3298825"/>
            <a:ext cx="7178040"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4999355" y="6489700"/>
            <a:ext cx="3110230"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4-1-5 </a:t>
            </a:r>
            <a:r>
              <a:rPr lang="zh-CN" altLang="en-US" b="1" dirty="0">
                <a:latin typeface="宋体" panose="02010600030101010101" pitchFamily="2" charset="-122"/>
                <a:ea typeface="宋体" panose="02010600030101010101" pitchFamily="2" charset="-122"/>
              </a:rPr>
              <a:t>介质访问控制分类</a:t>
            </a:r>
            <a:endParaRPr lang="zh-CN" altLang="en-US" b="1" dirty="0">
              <a:latin typeface="宋体" panose="02010600030101010101" pitchFamily="2" charset="-122"/>
              <a:ea typeface="宋体" panose="02010600030101010101" pitchFamily="2" charset="-122"/>
            </a:endParaRPr>
          </a:p>
        </p:txBody>
      </p:sp>
      <p:sp>
        <p:nvSpPr>
          <p:cNvPr id="9" name="标题 1"/>
          <p:cNvSpPr txBox="1"/>
          <p:nvPr/>
        </p:nvSpPr>
        <p:spPr>
          <a:xfrm>
            <a:off x="3467100" y="224364"/>
            <a:ext cx="5461000" cy="9387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4.1 MAC协议</a:t>
            </a:r>
            <a:endParaRPr lang="zh-CN" altLang="en-US" b="1"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5121"/>
          <p:cNvSpPr>
            <a:spLocks noGrp="1" noChangeArrowheads="1"/>
          </p:cNvSpPr>
          <p:nvPr>
            <p:ph type="title"/>
          </p:nvPr>
        </p:nvSpPr>
        <p:spPr>
          <a:xfrm>
            <a:off x="838835" y="0"/>
            <a:ext cx="10515600" cy="1325563"/>
          </a:xfrm>
        </p:spPr>
        <p:txBody>
          <a:bodyPr>
            <a:normAutofit/>
          </a:bodyPr>
          <a:lstStyle/>
          <a:p>
            <a:pPr eaLnBrk="1" hangingPunct="1"/>
            <a:r>
              <a:rPr lang="en-US" b="1" u="sng">
                <a:solidFill>
                  <a:srgbClr val="1D41D5"/>
                </a:solidFill>
                <a:uFillTx/>
                <a:latin typeface="Times New Roman" panose="02020603050405020304" pitchFamily="18" charset="0"/>
              </a:rPr>
              <a:t>4.1.3 基于分配型的MAC协议</a:t>
            </a:r>
            <a:endParaRPr lang="zh-CN" altLang="en-US" b="1" dirty="0"/>
          </a:p>
        </p:txBody>
      </p:sp>
      <p:sp>
        <p:nvSpPr>
          <p:cNvPr id="5122" name="文本占位符 5122"/>
          <p:cNvSpPr>
            <a:spLocks noGrp="1" noChangeArrowheads="1"/>
          </p:cNvSpPr>
          <p:nvPr>
            <p:ph sz="half" idx="1"/>
          </p:nvPr>
        </p:nvSpPr>
        <p:spPr>
          <a:xfrm>
            <a:off x="1066800" y="1325880"/>
            <a:ext cx="10516235" cy="5407025"/>
          </a:xfrm>
        </p:spPr>
        <p:txBody>
          <a:bodyPr>
            <a:normAutofit fontScale="70000"/>
          </a:bodyPr>
          <a:lstStyle/>
          <a:p>
            <a:pPr marL="0" indent="0">
              <a:buNone/>
              <a:defRPr/>
            </a:pPr>
            <a:r>
              <a:rPr lang="zh-CN" altLang="en-US" b="1" dirty="0"/>
              <a:t>4.</a:t>
            </a:r>
            <a:r>
              <a:rPr lang="en-US" altLang="zh-CN" b="1" dirty="0"/>
              <a:t>1.3.1 </a:t>
            </a:r>
            <a:r>
              <a:rPr lang="zh-CN" altLang="en-US" b="1" dirty="0"/>
              <a:t>时分多址 </a:t>
            </a:r>
            <a:endParaRPr lang="en-US" altLang="zh-CN" b="1" dirty="0"/>
          </a:p>
          <a:p>
            <a:pPr marL="0" indent="0" fontAlgn="auto">
              <a:lnSpc>
                <a:spcPct val="120000"/>
              </a:lnSpc>
              <a:spcBef>
                <a:spcPts val="1200"/>
              </a:spcBef>
              <a:buNone/>
              <a:defRPr/>
            </a:pPr>
            <a:r>
              <a:rPr lang="en-US" altLang="zh-CN" sz="1800" kern="100" dirty="0">
                <a:latin typeface="Times New Roman" panose="02020603050405020304" pitchFamily="18" charset="0"/>
              </a:rPr>
              <a:t>   </a:t>
            </a:r>
            <a:r>
              <a:rPr lang="en-US" altLang="zh-CN" sz="2400" kern="100" dirty="0">
                <a:latin typeface="Times New Roman" panose="02020603050405020304" pitchFamily="18" charset="0"/>
              </a:rPr>
              <a:t> </a:t>
            </a:r>
            <a:r>
              <a:rPr lang="zh-CN" altLang="zh-CN" sz="3000" b="1" kern="100" dirty="0"/>
              <a:t>时分多址（</a:t>
            </a:r>
            <a:r>
              <a:rPr lang="en-US" altLang="zh-CN" sz="3000" b="1" kern="100" dirty="0"/>
              <a:t>Time Division Multiple Access, TDMA</a:t>
            </a:r>
            <a:r>
              <a:rPr lang="zh-CN" altLang="zh-CN" sz="3000" b="1" kern="100" dirty="0"/>
              <a:t>）是实现信道分配的简单成熟的机制，蓝牙网络采用了基于</a:t>
            </a:r>
            <a:r>
              <a:rPr lang="en-US" altLang="zh-CN" sz="3000" b="1" kern="100" dirty="0"/>
              <a:t>TDMA</a:t>
            </a:r>
            <a:r>
              <a:rPr lang="zh-CN" altLang="zh-CN" sz="3000" b="1" kern="100" dirty="0"/>
              <a:t>的</a:t>
            </a:r>
            <a:r>
              <a:rPr lang="en-US" altLang="zh-CN" sz="3000" b="1" kern="100" dirty="0"/>
              <a:t>MAC</a:t>
            </a:r>
            <a:r>
              <a:rPr lang="zh-CN" altLang="zh-CN" sz="3000" b="1" kern="100" dirty="0"/>
              <a:t>协议。在传感器网络中采用</a:t>
            </a:r>
            <a:r>
              <a:rPr lang="en-US" altLang="zh-CN" sz="3000" b="1" kern="100" dirty="0"/>
              <a:t>TDMA</a:t>
            </a:r>
            <a:r>
              <a:rPr lang="zh-CN" altLang="zh-CN" sz="3000" b="1" kern="100" dirty="0"/>
              <a:t>机制，就是为每个节点分配独立的用于数据发送或接收的时隙，而节点在其他空闲时隙内转入睡眠状态。</a:t>
            </a:r>
            <a:endParaRPr lang="en-US" altLang="zh-CN" sz="3000" b="1" kern="100" dirty="0"/>
          </a:p>
          <a:p>
            <a:pPr marL="0" indent="0" fontAlgn="auto">
              <a:lnSpc>
                <a:spcPct val="120000"/>
              </a:lnSpc>
              <a:spcBef>
                <a:spcPts val="1200"/>
              </a:spcBef>
              <a:buNone/>
              <a:defRPr/>
            </a:pPr>
            <a:r>
              <a:rPr lang="en-US" altLang="zh-CN" sz="3000" b="1" kern="100" dirty="0"/>
              <a:t>    TDMA</a:t>
            </a:r>
            <a:r>
              <a:rPr lang="zh-CN" altLang="zh-CN" sz="3000" b="1" kern="100" dirty="0"/>
              <a:t>没有竞争引起的碰撞重传，节点在不属于自己的时隙中可以进入睡眠状态来节省能量，但是，基于</a:t>
            </a:r>
            <a:r>
              <a:rPr lang="en-US" altLang="zh-CN" sz="3000" b="1" kern="100" dirty="0"/>
              <a:t>TDMA</a:t>
            </a:r>
            <a:r>
              <a:rPr lang="zh-CN" altLang="zh-CN" sz="3000" b="1" kern="100" dirty="0"/>
              <a:t>的</a:t>
            </a:r>
            <a:r>
              <a:rPr lang="en-US" altLang="zh-CN" sz="3000" b="1" kern="100" dirty="0"/>
              <a:t>MAC</a:t>
            </a:r>
            <a:r>
              <a:rPr lang="zh-CN" altLang="zh-CN" sz="3000" b="1" kern="100" dirty="0"/>
              <a:t>层协议另外一点就是基于</a:t>
            </a:r>
            <a:r>
              <a:rPr lang="en-US" altLang="zh-CN" sz="3000" b="1" kern="100" dirty="0"/>
              <a:t>TDMA</a:t>
            </a:r>
            <a:r>
              <a:rPr lang="zh-CN" altLang="zh-CN" sz="3000" b="1" kern="100" dirty="0"/>
              <a:t>的</a:t>
            </a:r>
            <a:r>
              <a:rPr lang="en-US" altLang="zh-CN" sz="3000" b="1" kern="100" dirty="0"/>
              <a:t>MAC</a:t>
            </a:r>
            <a:r>
              <a:rPr lang="zh-CN" altLang="zh-CN" sz="3000" b="1" kern="100" dirty="0"/>
              <a:t>层协议需要严格的时间同</a:t>
            </a:r>
            <a:r>
              <a:rPr lang="zh-CN" altLang="zh-CN" sz="3000" b="1" kern="100" dirty="0">
                <a:solidFill>
                  <a:srgbClr val="C00000"/>
                </a:solidFill>
              </a:rPr>
              <a:t>通常用在拓扑结构不变的网络，它不能很好地处理传感器节点移动和节点失效的情况</a:t>
            </a:r>
            <a:r>
              <a:rPr lang="zh-CN" altLang="zh-CN" sz="3000" b="1" kern="100" dirty="0"/>
              <a:t>。另外一点就是基于</a:t>
            </a:r>
            <a:r>
              <a:rPr lang="en-US" altLang="zh-CN" sz="3000" b="1" kern="100" dirty="0"/>
              <a:t>TDMA</a:t>
            </a:r>
            <a:r>
              <a:rPr lang="zh-CN" altLang="zh-CN" sz="3000" b="1" kern="100" dirty="0"/>
              <a:t>的</a:t>
            </a:r>
            <a:r>
              <a:rPr lang="en-US" altLang="zh-CN" sz="3000" b="1" kern="100" dirty="0"/>
              <a:t>MAC</a:t>
            </a:r>
            <a:r>
              <a:rPr lang="zh-CN" altLang="zh-CN" sz="3000" b="1" kern="100" dirty="0"/>
              <a:t>层协议需要严格的时间同步，为了避免这一点，人们利用</a:t>
            </a:r>
            <a:r>
              <a:rPr lang="en-US" altLang="zh-CN" sz="3000" b="1" kern="100" dirty="0"/>
              <a:t>FDMA</a:t>
            </a:r>
            <a:r>
              <a:rPr lang="zh-CN" altLang="zh-CN" sz="3000" b="1" kern="100" dirty="0"/>
              <a:t>或</a:t>
            </a:r>
            <a:r>
              <a:rPr lang="en-US" altLang="zh-CN" sz="3000" b="1" kern="100" dirty="0"/>
              <a:t>CDMA</a:t>
            </a:r>
            <a:r>
              <a:rPr lang="zh-CN" altLang="zh-CN" sz="3000" b="1" kern="100" dirty="0"/>
              <a:t>与</a:t>
            </a:r>
            <a:r>
              <a:rPr lang="en-US" altLang="zh-CN" sz="3000" b="1" kern="100" dirty="0"/>
              <a:t>TDMA</a:t>
            </a:r>
            <a:r>
              <a:rPr lang="zh-CN" altLang="zh-CN" sz="3000" b="1" kern="100" dirty="0"/>
              <a:t>结合的方法，为节点分配互不干扰的传输信道，避免数据冲突，从而降低时间同步的要求。其</a:t>
            </a:r>
            <a:r>
              <a:rPr lang="zh-CN" altLang="zh-CN" sz="3000" b="1" kern="100" dirty="0">
                <a:solidFill>
                  <a:srgbClr val="C00000"/>
                </a:solidFill>
              </a:rPr>
              <a:t>基本思想是为每一对相邻节点建立一个特有的频率用于数据传输，并保证各对节点使用的频率相互间没有干扰，从而避免数据碰撞。</a:t>
            </a:r>
            <a:endParaRPr lang="zh-CN" altLang="zh-CN" sz="2400" b="1" kern="100" dirty="0">
              <a:solidFill>
                <a:srgbClr val="C00000"/>
              </a:solidFill>
            </a:endParaRPr>
          </a:p>
          <a:p>
            <a:pPr eaLnBrk="1" hangingPunct="1">
              <a:lnSpc>
                <a:spcPct val="180000"/>
              </a:lnSpc>
              <a:buFont typeface="Wingdings" panose="05000000000000000000" pitchFamily="2" charset="2"/>
              <a:buNone/>
              <a:defRPr/>
            </a:pPr>
            <a:endParaRPr lang="zh-CN" altLang="en-US" sz="2400" dirty="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文本占位符 5122"/>
          <p:cNvSpPr>
            <a:spLocks noGrp="1" noChangeArrowheads="1"/>
          </p:cNvSpPr>
          <p:nvPr>
            <p:ph sz="half" idx="1"/>
          </p:nvPr>
        </p:nvSpPr>
        <p:spPr>
          <a:xfrm>
            <a:off x="973667" y="1325563"/>
            <a:ext cx="10516235" cy="5532437"/>
          </a:xfrm>
        </p:spPr>
        <p:txBody>
          <a:bodyPr>
            <a:normAutofit/>
          </a:bodyPr>
          <a:lstStyle/>
          <a:p>
            <a:pPr marL="0" indent="0">
              <a:buNone/>
            </a:pPr>
            <a:r>
              <a:rPr lang="zh-CN" altLang="en-US" b="1" dirty="0"/>
              <a:t>4.</a:t>
            </a:r>
            <a:r>
              <a:rPr lang="en-US" altLang="zh-CN" b="1" dirty="0"/>
              <a:t>1.3.2 </a:t>
            </a:r>
            <a:r>
              <a:rPr lang="zh-CN" altLang="zh-CN" b="1" dirty="0"/>
              <a:t>基于分簇网络的</a:t>
            </a:r>
            <a:r>
              <a:rPr lang="en-US" altLang="zh-CN" b="1" dirty="0"/>
              <a:t>MAC</a:t>
            </a:r>
            <a:r>
              <a:rPr lang="zh-CN" altLang="zh-CN" b="1" dirty="0"/>
              <a:t>层协议</a:t>
            </a:r>
            <a:endParaRPr lang="en-US" altLang="zh-CN" b="1" dirty="0"/>
          </a:p>
          <a:p>
            <a:pPr marL="0" indent="0">
              <a:lnSpc>
                <a:spcPct val="110000"/>
              </a:lnSpc>
              <a:spcBef>
                <a:spcPts val="0"/>
              </a:spcBef>
              <a:buNone/>
            </a:pPr>
            <a:r>
              <a:rPr lang="en-US" altLang="zh-CN" sz="2000" b="1" dirty="0">
                <a:solidFill>
                  <a:srgbClr val="000000"/>
                </a:solidFill>
              </a:rPr>
              <a:t>   </a:t>
            </a:r>
            <a:r>
              <a:rPr lang="zh-CN" altLang="zh-CN" sz="2000" b="1" dirty="0">
                <a:solidFill>
                  <a:srgbClr val="000000"/>
                </a:solidFill>
              </a:rPr>
              <a:t>该</a:t>
            </a:r>
            <a:r>
              <a:rPr lang="en-US" altLang="zh-CN" sz="2000" b="1" dirty="0">
                <a:solidFill>
                  <a:srgbClr val="000000"/>
                </a:solidFill>
              </a:rPr>
              <a:t>MAC</a:t>
            </a:r>
            <a:r>
              <a:rPr lang="zh-CN" altLang="zh-CN" sz="2000" b="1" dirty="0">
                <a:solidFill>
                  <a:srgbClr val="000000"/>
                </a:solidFill>
              </a:rPr>
              <a:t>层协议的网络是一种基于分簇结构的网络，在多个传感器节点形成的簇中有一个网关，网关收集和处理簇内节点发来的数据，然后发送到外部、同时负责为簇内节点分配时隙。该</a:t>
            </a:r>
            <a:r>
              <a:rPr lang="en-US" altLang="zh-CN" sz="2000" b="1" dirty="0">
                <a:solidFill>
                  <a:srgbClr val="000000"/>
                </a:solidFill>
              </a:rPr>
              <a:t>MAC</a:t>
            </a:r>
            <a:r>
              <a:rPr lang="zh-CN" altLang="zh-CN" sz="2000" b="1" dirty="0">
                <a:solidFill>
                  <a:srgbClr val="000000"/>
                </a:solidFill>
              </a:rPr>
              <a:t>层协议将节点划分为</a:t>
            </a:r>
            <a:r>
              <a:rPr lang="en-US" altLang="zh-CN" sz="2000" b="1" dirty="0">
                <a:solidFill>
                  <a:srgbClr val="000000"/>
                </a:solidFill>
              </a:rPr>
              <a:t>4</a:t>
            </a:r>
            <a:r>
              <a:rPr lang="zh-CN" altLang="zh-CN" sz="2000" b="1" dirty="0">
                <a:solidFill>
                  <a:srgbClr val="000000"/>
                </a:solidFill>
              </a:rPr>
              <a:t>种状态：感应、转发、感应并转发、非活动。节点在感应状态时，收集数据并向其相邻节点发送；在转发状态时，接收其他节点发送的数据再转发给下个节点；而处于感应并转发状态的节点则要完成上述两项功能；节点没有接收和发送数据时，就自动进入非活动状态。为了高效地使用网络</a:t>
            </a:r>
            <a:r>
              <a:rPr lang="en-US" altLang="zh-CN" sz="2000" b="1" dirty="0">
                <a:solidFill>
                  <a:srgbClr val="000000"/>
                </a:solidFill>
              </a:rPr>
              <a:t>,</a:t>
            </a:r>
            <a:r>
              <a:rPr lang="zh-CN" altLang="zh-CN" sz="2000" b="1" dirty="0">
                <a:solidFill>
                  <a:srgbClr val="000000"/>
                </a:solidFill>
              </a:rPr>
              <a:t>协议将时间帧分为</a:t>
            </a:r>
            <a:r>
              <a:rPr lang="en-US" altLang="zh-CN" sz="2000" b="1" dirty="0">
                <a:solidFill>
                  <a:srgbClr val="000000"/>
                </a:solidFill>
              </a:rPr>
              <a:t>4</a:t>
            </a:r>
            <a:r>
              <a:rPr lang="zh-CN" altLang="zh-CN" sz="2000" b="1" dirty="0">
                <a:solidFill>
                  <a:srgbClr val="000000"/>
                </a:solidFill>
              </a:rPr>
              <a:t>个阶段：</a:t>
            </a:r>
            <a:endParaRPr lang="en-US" altLang="zh-CN" sz="2000" b="1" dirty="0"/>
          </a:p>
          <a:p>
            <a:pPr marL="0" indent="0">
              <a:lnSpc>
                <a:spcPct val="110000"/>
              </a:lnSpc>
              <a:spcBef>
                <a:spcPts val="0"/>
              </a:spcBef>
              <a:buNone/>
            </a:pPr>
            <a:r>
              <a:rPr lang="zh-CN" altLang="zh-CN" sz="2000" b="1" dirty="0">
                <a:solidFill>
                  <a:srgbClr val="000000"/>
                </a:solidFill>
              </a:rPr>
              <a:t>（</a:t>
            </a:r>
            <a:r>
              <a:rPr lang="en-US" altLang="zh-CN" sz="2000" b="1" dirty="0">
                <a:solidFill>
                  <a:srgbClr val="000000"/>
                </a:solidFill>
              </a:rPr>
              <a:t>1</a:t>
            </a:r>
            <a:r>
              <a:rPr lang="zh-CN" altLang="zh-CN" sz="2000" b="1" dirty="0">
                <a:solidFill>
                  <a:srgbClr val="000000"/>
                </a:solidFill>
              </a:rPr>
              <a:t>）数据传输阶段：各节点在各自被分配的时隙内向网关发送数据；</a:t>
            </a:r>
            <a:endParaRPr lang="en-US" altLang="zh-CN" sz="2000" b="1" dirty="0"/>
          </a:p>
          <a:p>
            <a:pPr marL="0" indent="0">
              <a:lnSpc>
                <a:spcPct val="110000"/>
              </a:lnSpc>
              <a:spcBef>
                <a:spcPts val="0"/>
              </a:spcBef>
              <a:buNone/>
            </a:pPr>
            <a:r>
              <a:rPr lang="zh-CN" altLang="zh-CN" sz="2000" b="1" dirty="0">
                <a:solidFill>
                  <a:srgbClr val="000000"/>
                </a:solidFill>
              </a:rPr>
              <a:t>（</a:t>
            </a:r>
            <a:r>
              <a:rPr lang="en-US" altLang="zh-CN" sz="2000" b="1" dirty="0">
                <a:solidFill>
                  <a:srgbClr val="000000"/>
                </a:solidFill>
              </a:rPr>
              <a:t>2</a:t>
            </a:r>
            <a:r>
              <a:rPr lang="zh-CN" altLang="zh-CN" sz="2000" b="1" dirty="0">
                <a:solidFill>
                  <a:srgbClr val="000000"/>
                </a:solidFill>
              </a:rPr>
              <a:t>）刷新阶段：节点周期性地向网关报告其状态；</a:t>
            </a:r>
            <a:endParaRPr lang="en-US" altLang="zh-CN" sz="2000" b="1" dirty="0"/>
          </a:p>
          <a:p>
            <a:pPr marL="0" indent="0">
              <a:lnSpc>
                <a:spcPct val="110000"/>
              </a:lnSpc>
              <a:spcBef>
                <a:spcPts val="0"/>
              </a:spcBef>
              <a:buNone/>
            </a:pPr>
            <a:r>
              <a:rPr lang="zh-CN" altLang="zh-CN" sz="2000" b="1" dirty="0">
                <a:solidFill>
                  <a:srgbClr val="000000"/>
                </a:solidFill>
              </a:rPr>
              <a:t>（</a:t>
            </a:r>
            <a:r>
              <a:rPr lang="en-US" altLang="zh-CN" sz="2000" b="1" dirty="0">
                <a:solidFill>
                  <a:srgbClr val="000000"/>
                </a:solidFill>
              </a:rPr>
              <a:t>3</a:t>
            </a:r>
            <a:r>
              <a:rPr lang="zh-CN" altLang="zh-CN" sz="2000" b="1" dirty="0">
                <a:solidFill>
                  <a:srgbClr val="000000"/>
                </a:solidFill>
              </a:rPr>
              <a:t>）刷新引起的重组阶段：紧跟在一个刷新阶段之后，网关根据簇内节点的情况重新分配时隙；</a:t>
            </a:r>
            <a:endParaRPr lang="en-US" altLang="zh-CN" sz="2000" b="1" dirty="0"/>
          </a:p>
          <a:p>
            <a:pPr marL="0" indent="0">
              <a:lnSpc>
                <a:spcPct val="110000"/>
              </a:lnSpc>
              <a:spcBef>
                <a:spcPts val="0"/>
              </a:spcBef>
              <a:buNone/>
            </a:pPr>
            <a:r>
              <a:rPr lang="zh-CN" altLang="zh-CN" sz="2000" b="1" dirty="0">
                <a:solidFill>
                  <a:srgbClr val="000000"/>
                </a:solidFill>
              </a:rPr>
              <a:t>（</a:t>
            </a:r>
            <a:r>
              <a:rPr lang="en-US" altLang="zh-CN" sz="2000" b="1" dirty="0">
                <a:solidFill>
                  <a:srgbClr val="000000"/>
                </a:solidFill>
              </a:rPr>
              <a:t>4</a:t>
            </a:r>
            <a:r>
              <a:rPr lang="zh-CN" altLang="zh-CN" sz="2000" b="1" dirty="0">
                <a:solidFill>
                  <a:srgbClr val="000000"/>
                </a:solidFill>
              </a:rPr>
              <a:t>）事件触发的重组阶段：节点能量小于特定值、网络拓卦发生变化等都是需要重组的事件，若有以上事件触发，网关就重新分配时隙。</a:t>
            </a:r>
            <a:endParaRPr lang="en-US" altLang="zh-CN" sz="2000" b="1" dirty="0"/>
          </a:p>
          <a:p>
            <a:pPr marL="0" indent="0">
              <a:lnSpc>
                <a:spcPct val="110000"/>
              </a:lnSpc>
              <a:spcBef>
                <a:spcPts val="0"/>
              </a:spcBef>
              <a:buNone/>
            </a:pPr>
            <a:r>
              <a:rPr lang="en-US" altLang="zh-CN" sz="2000" b="1" dirty="0">
                <a:solidFill>
                  <a:srgbClr val="000000"/>
                </a:solidFill>
              </a:rPr>
              <a:t>   </a:t>
            </a:r>
            <a:r>
              <a:rPr lang="zh-CN" altLang="zh-CN" sz="2000" b="1" dirty="0">
                <a:solidFill>
                  <a:srgbClr val="000000"/>
                </a:solidFill>
              </a:rPr>
              <a:t>该</a:t>
            </a:r>
            <a:r>
              <a:rPr lang="en-US" altLang="zh-CN" sz="2000" b="1" dirty="0">
                <a:solidFill>
                  <a:srgbClr val="000000"/>
                </a:solidFill>
              </a:rPr>
              <a:t>MAC</a:t>
            </a:r>
            <a:r>
              <a:rPr lang="zh-CN" altLang="zh-CN" sz="2000" b="1" dirty="0">
                <a:solidFill>
                  <a:srgbClr val="000000"/>
                </a:solidFill>
              </a:rPr>
              <a:t>层协议能够减少空闲侦听，避免信道冲突，也考虑了可扩展性。但是区域内网关节点和传感器节点需要进行严格的时间同步，对网关节点的处理能力、能量和放置方式都有较高的要求。</a:t>
            </a:r>
            <a:endParaRPr lang="zh-CN" altLang="zh-CN" sz="2000" b="1" dirty="0"/>
          </a:p>
          <a:p>
            <a:pPr marL="0" indent="0" algn="just">
              <a:buNone/>
            </a:pPr>
            <a:endParaRPr lang="zh-CN" altLang="en-US" sz="1800" dirty="0"/>
          </a:p>
        </p:txBody>
      </p:sp>
      <p:sp>
        <p:nvSpPr>
          <p:cNvPr id="6" name="标题 5121"/>
          <p:cNvSpPr>
            <a:spLocks noGrp="1" noChangeArrowheads="1"/>
          </p:cNvSpPr>
          <p:nvPr>
            <p:ph type="title"/>
          </p:nvPr>
        </p:nvSpPr>
        <p:spPr>
          <a:xfrm>
            <a:off x="838835" y="0"/>
            <a:ext cx="10515600" cy="1325563"/>
          </a:xfrm>
        </p:spPr>
        <p:txBody>
          <a:bodyPr>
            <a:normAutofit/>
          </a:bodyPr>
          <a:lstStyle/>
          <a:p>
            <a:pPr eaLnBrk="1" hangingPunct="1"/>
            <a:r>
              <a:rPr lang="en-US" b="1" u="sng">
                <a:solidFill>
                  <a:srgbClr val="1D41D5"/>
                </a:solidFill>
                <a:uFillTx/>
                <a:latin typeface="Times New Roman" panose="02020603050405020304" pitchFamily="18" charset="0"/>
              </a:rPr>
              <a:t>4.1.3 基于分配型的MAC协议</a:t>
            </a:r>
            <a:endParaRPr lang="zh-CN" altLang="en-US" b="1"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982345" y="1325880"/>
            <a:ext cx="10795000" cy="5293360"/>
          </a:xfrm>
        </p:spPr>
        <p:txBody>
          <a:bodyPr>
            <a:normAutofit/>
          </a:bodyPr>
          <a:lstStyle/>
          <a:p>
            <a:pPr marL="0" indent="0">
              <a:buNone/>
              <a:defRPr/>
            </a:pPr>
            <a:r>
              <a:rPr lang="zh-CN" altLang="en-US" b="1" dirty="0"/>
              <a:t>4.</a:t>
            </a:r>
            <a:r>
              <a:rPr lang="en-US" altLang="zh-CN" b="1" dirty="0"/>
              <a:t>1.3.3 TRAMA</a:t>
            </a:r>
            <a:r>
              <a:rPr lang="zh-CN" altLang="en-US" b="1" dirty="0"/>
              <a:t>协议 </a:t>
            </a:r>
            <a:endParaRPr lang="zh-CN" altLang="en-US" b="1" dirty="0"/>
          </a:p>
          <a:p>
            <a:pPr marL="0" indent="0" algn="just">
              <a:lnSpc>
                <a:spcPct val="120000"/>
              </a:lnSpc>
              <a:spcBef>
                <a:spcPts val="0"/>
              </a:spcBef>
              <a:buNone/>
              <a:defRPr/>
            </a:pPr>
            <a:r>
              <a:rPr lang="en-US" altLang="zh-CN" sz="1800" b="1" kern="100" dirty="0">
                <a:cs typeface="Times New Roman" panose="02020603050405020304" pitchFamily="18" charset="0"/>
              </a:rPr>
              <a:t>   </a:t>
            </a:r>
            <a:r>
              <a:rPr lang="zh-CN" altLang="zh-CN" sz="2000" b="1" kern="100" dirty="0">
                <a:cs typeface="Times New Roman" panose="02020603050405020304" pitchFamily="18" charset="0"/>
              </a:rPr>
              <a:t>流量自适应介质访问</a:t>
            </a:r>
            <a:r>
              <a:rPr lang="en-US" altLang="zh-CN" sz="2000" b="1" kern="100" dirty="0"/>
              <a:t>(Traffic-Adaptive Medium Access, TRAMA)</a:t>
            </a:r>
            <a:r>
              <a:rPr lang="zh-CN" altLang="zh-CN" sz="2000" b="1" kern="100" dirty="0">
                <a:cs typeface="Times New Roman" panose="02020603050405020304" pitchFamily="18" charset="0"/>
              </a:rPr>
              <a:t>协议</a:t>
            </a:r>
            <a:r>
              <a:rPr lang="zh-CN" altLang="en-US" sz="2000" b="1" kern="100" dirty="0">
                <a:cs typeface="Times New Roman" panose="02020603050405020304" pitchFamily="18" charset="0"/>
              </a:rPr>
              <a:t>，</a:t>
            </a:r>
            <a:r>
              <a:rPr lang="zh-CN" altLang="en-US" sz="2000" b="1" dirty="0"/>
              <a:t>是一种能源高效、无收发冲突的无线传感器基于时隙的媒体访问控制层协议。其特别之处在于该算法根据各个节点的负载情况协商预约时隙，可以适应网络的流量。</a:t>
            </a:r>
            <a:endParaRPr lang="en-US" altLang="zh-CN" sz="2000" b="1" dirty="0"/>
          </a:p>
          <a:p>
            <a:pPr marL="0" indent="0" algn="just">
              <a:lnSpc>
                <a:spcPct val="120000"/>
              </a:lnSpc>
              <a:spcBef>
                <a:spcPts val="0"/>
              </a:spcBef>
              <a:buNone/>
              <a:defRPr/>
            </a:pPr>
            <a:r>
              <a:rPr lang="en-US" altLang="zh-CN" sz="2000" b="1" dirty="0"/>
              <a:t>   </a:t>
            </a:r>
            <a:r>
              <a:rPr lang="zh-CN" altLang="en-US" sz="2000" b="1" dirty="0"/>
              <a:t>协议基本思想：将时间划分为连续时隙，根据局部两跳内邻居节点信息，采用</a:t>
            </a:r>
            <a:r>
              <a:rPr lang="zh-CN" altLang="en-US" sz="2000" b="1" dirty="0">
                <a:solidFill>
                  <a:srgbClr val="C00000"/>
                </a:solidFill>
              </a:rPr>
              <a:t>分布式选举机制</a:t>
            </a:r>
            <a:r>
              <a:rPr lang="zh-CN" altLang="en-US" sz="2000" b="1" dirty="0"/>
              <a:t>确定每个时隙的无冲突发送者。</a:t>
            </a:r>
            <a:endParaRPr lang="en-US" altLang="zh-CN" sz="2000" b="1" dirty="0">
              <a:solidFill>
                <a:schemeClr val="bg2"/>
              </a:solidFill>
            </a:endParaRPr>
          </a:p>
          <a:p>
            <a:pPr marL="0" indent="0" algn="just">
              <a:lnSpc>
                <a:spcPct val="120000"/>
              </a:lnSpc>
              <a:buNone/>
              <a:defRPr/>
            </a:pPr>
            <a:endParaRPr lang="en-US" altLang="zh-CN" sz="2000" b="1" dirty="0"/>
          </a:p>
          <a:p>
            <a:pPr marL="0" indent="0" algn="just">
              <a:lnSpc>
                <a:spcPct val="120000"/>
              </a:lnSpc>
              <a:buNone/>
              <a:defRPr/>
            </a:pPr>
            <a:endParaRPr lang="en-US" altLang="zh-CN" sz="2000" b="1" dirty="0"/>
          </a:p>
          <a:p>
            <a:pPr marL="0" indent="0" algn="just">
              <a:lnSpc>
                <a:spcPct val="120000"/>
              </a:lnSpc>
              <a:buNone/>
              <a:defRPr/>
            </a:pPr>
            <a:endParaRPr lang="en-US" altLang="zh-CN" sz="2000" b="1" dirty="0"/>
          </a:p>
          <a:p>
            <a:pPr marL="0" indent="0" algn="just">
              <a:lnSpc>
                <a:spcPct val="120000"/>
              </a:lnSpc>
              <a:spcBef>
                <a:spcPts val="0"/>
              </a:spcBef>
              <a:buNone/>
              <a:defRPr/>
            </a:pPr>
            <a:r>
              <a:rPr lang="en-US" altLang="zh-CN" sz="2000" b="1" dirty="0"/>
              <a:t>   TRAMA</a:t>
            </a:r>
            <a:r>
              <a:rPr lang="zh-CN" altLang="zh-CN" sz="2000" b="1" dirty="0"/>
              <a:t>协议用两种技术来节能</a:t>
            </a:r>
            <a:r>
              <a:rPr lang="en-US" altLang="zh-CN" sz="2000" b="1" kern="100" dirty="0">
                <a:cs typeface="Times New Roman" panose="02020603050405020304" pitchFamily="18" charset="0"/>
              </a:rPr>
              <a:t>:</a:t>
            </a:r>
            <a:r>
              <a:rPr lang="zh-CN" altLang="zh-CN" sz="2000" b="1" kern="100" dirty="0">
                <a:solidFill>
                  <a:srgbClr val="C00000"/>
                </a:solidFill>
                <a:cs typeface="Times New Roman" panose="02020603050405020304" pitchFamily="18" charset="0"/>
              </a:rPr>
              <a:t>用基于流量的传输调度表来避免可能在接收者上发生的数据包冲突</a:t>
            </a:r>
            <a:r>
              <a:rPr lang="en-US" altLang="zh-CN" sz="2000" b="1" kern="100" dirty="0">
                <a:solidFill>
                  <a:schemeClr val="bg2"/>
                </a:solidFill>
                <a:cs typeface="Times New Roman" panose="02020603050405020304" pitchFamily="18" charset="0"/>
              </a:rPr>
              <a:t>;</a:t>
            </a:r>
            <a:r>
              <a:rPr lang="zh-CN" altLang="zh-CN" sz="2000" b="1" kern="100" dirty="0">
                <a:solidFill>
                  <a:srgbClr val="C00000"/>
                </a:solidFill>
                <a:cs typeface="Times New Roman" panose="02020603050405020304" pitchFamily="18" charset="0"/>
              </a:rPr>
              <a:t>使节点在无接收要求时进入低能耗模式</a:t>
            </a:r>
            <a:r>
              <a:rPr lang="zh-CN" altLang="zh-CN" sz="2000" b="1" kern="100" dirty="0">
                <a:solidFill>
                  <a:schemeClr val="bg2"/>
                </a:solidFill>
                <a:cs typeface="Times New Roman" panose="02020603050405020304" pitchFamily="18" charset="0"/>
              </a:rPr>
              <a:t>。</a:t>
            </a:r>
            <a:endParaRPr lang="zh-CN" altLang="zh-CN" sz="2000" b="1" kern="100" dirty="0">
              <a:cs typeface="Times New Roman" panose="02020603050405020304" pitchFamily="18" charset="0"/>
            </a:endParaRPr>
          </a:p>
          <a:p>
            <a:pPr marL="0" indent="0" algn="just">
              <a:lnSpc>
                <a:spcPct val="120000"/>
              </a:lnSpc>
              <a:spcBef>
                <a:spcPts val="0"/>
              </a:spcBef>
              <a:buNone/>
              <a:defRPr/>
            </a:pPr>
            <a:r>
              <a:rPr lang="en-US" altLang="zh-CN" sz="2000" b="1" dirty="0"/>
              <a:t>   </a:t>
            </a:r>
            <a:r>
              <a:rPr lang="zh-CN" altLang="en-US" sz="2000" b="1" dirty="0"/>
              <a:t>协议优缺点：优点是在冲突避免、延时、带宽利用率等方面都提供较好的性能，缺点是需要较大的存储空间来存储两跳邻居信息和分配信息，需要</a:t>
            </a:r>
            <a:r>
              <a:rPr lang="en-US" altLang="zh-CN" sz="2000" b="1" dirty="0"/>
              <a:t>AEA</a:t>
            </a:r>
            <a:r>
              <a:rPr lang="zh-CN" altLang="en-US" sz="2000" b="1" dirty="0"/>
              <a:t>算法，适合周期性监测应用。</a:t>
            </a:r>
            <a:endParaRPr lang="zh-CN" altLang="en-US" sz="2000" b="1" dirty="0"/>
          </a:p>
        </p:txBody>
      </p:sp>
      <p:pic>
        <p:nvPicPr>
          <p:cNvPr id="20484" name="图片 1"/>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9800" y="3356610"/>
            <a:ext cx="4889500" cy="138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4924425" y="4745990"/>
            <a:ext cx="296735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4-1-3-3 </a:t>
            </a:r>
            <a:r>
              <a:rPr lang="zh-CN" altLang="en-US" b="1" dirty="0">
                <a:latin typeface="宋体" panose="02010600030101010101" pitchFamily="2" charset="-122"/>
                <a:ea typeface="宋体" panose="02010600030101010101" pitchFamily="2" charset="-122"/>
              </a:rPr>
              <a:t>时隙分配</a:t>
            </a:r>
            <a:endParaRPr lang="zh-CN" altLang="en-US" dirty="0">
              <a:latin typeface="宋体" panose="02010600030101010101" pitchFamily="2" charset="-122"/>
              <a:ea typeface="宋体" panose="02010600030101010101" pitchFamily="2" charset="-122"/>
            </a:endParaRPr>
          </a:p>
        </p:txBody>
      </p:sp>
      <p:sp>
        <p:nvSpPr>
          <p:cNvPr id="7" name="标题 5121"/>
          <p:cNvSpPr txBox="1">
            <a:spLocks noChangeArrowheads="1"/>
          </p:cNvSpPr>
          <p:nvPr/>
        </p:nvSpPr>
        <p:spPr>
          <a:xfrm>
            <a:off x="838835" y="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4.1.3 基于分配型的MAC协议</a:t>
            </a:r>
            <a:endParaRPr lang="zh-CN" altLang="en-US" b="1"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9655" y="1325880"/>
            <a:ext cx="10516235" cy="5325745"/>
          </a:xfrm>
        </p:spPr>
        <p:txBody>
          <a:bodyPr>
            <a:normAutofit fontScale="70000"/>
          </a:bodyPr>
          <a:lstStyle/>
          <a:p>
            <a:pPr marL="0" indent="0">
              <a:buNone/>
              <a:defRPr/>
            </a:pPr>
            <a:r>
              <a:rPr lang="zh-CN" altLang="en-US" b="1" dirty="0"/>
              <a:t>4.</a:t>
            </a:r>
            <a:r>
              <a:rPr lang="en-US" altLang="zh-CN" b="1" dirty="0"/>
              <a:t>1.3.4 SMACS/EAR</a:t>
            </a:r>
            <a:r>
              <a:rPr lang="zh-CN" altLang="en-US" b="1" dirty="0"/>
              <a:t>协议 </a:t>
            </a:r>
            <a:endParaRPr lang="en-US" altLang="zh-CN" b="1" dirty="0"/>
          </a:p>
          <a:p>
            <a:pPr marL="0" indent="0" algn="just" fontAlgn="auto">
              <a:lnSpc>
                <a:spcPct val="120000"/>
              </a:lnSpc>
              <a:spcBef>
                <a:spcPts val="600"/>
              </a:spcBef>
              <a:buNone/>
              <a:defRPr/>
            </a:pPr>
            <a:r>
              <a:rPr lang="en-US" altLang="zh-CN" sz="1800" b="1" kern="100" dirty="0"/>
              <a:t>  </a:t>
            </a:r>
            <a:r>
              <a:rPr lang="en-US" altLang="zh-CN" sz="2000" b="1" kern="100" dirty="0"/>
              <a:t> </a:t>
            </a:r>
            <a:r>
              <a:rPr lang="en-US" altLang="zh-CN" sz="3000" b="1" kern="100" dirty="0"/>
              <a:t>SMACS/EAR </a:t>
            </a:r>
            <a:r>
              <a:rPr lang="zh-CN" altLang="zh-CN" sz="3000" b="1" kern="100" dirty="0">
                <a:cs typeface="Times New Roman" panose="02020603050405020304" pitchFamily="18" charset="0"/>
              </a:rPr>
              <a:t>（</a:t>
            </a:r>
            <a:r>
              <a:rPr lang="en-US" altLang="zh-CN" sz="3000" b="1" kern="100" dirty="0"/>
              <a:t>Self-organizing MAC for Sensor Network/Eavesdrop and Register</a:t>
            </a:r>
            <a:r>
              <a:rPr lang="zh-CN" altLang="zh-CN" sz="3000" b="1" kern="100" dirty="0">
                <a:cs typeface="Times New Roman" panose="02020603050405020304" pitchFamily="18" charset="0"/>
              </a:rPr>
              <a:t>，具有监听</a:t>
            </a:r>
            <a:r>
              <a:rPr lang="en-US" altLang="zh-CN" sz="3000" b="1" kern="100" dirty="0"/>
              <a:t>/</a:t>
            </a:r>
            <a:r>
              <a:rPr lang="zh-CN" altLang="zh-CN" sz="3000" b="1" kern="100" dirty="0">
                <a:cs typeface="Times New Roman" panose="02020603050405020304" pitchFamily="18" charset="0"/>
              </a:rPr>
              <a:t>注册能力的无线传感器网络自组织</a:t>
            </a:r>
            <a:r>
              <a:rPr lang="en-US" altLang="zh-CN" sz="3000" b="1" kern="100" dirty="0"/>
              <a:t>MAC</a:t>
            </a:r>
            <a:r>
              <a:rPr lang="zh-CN" altLang="zh-CN" sz="3000" b="1" kern="100" dirty="0">
                <a:cs typeface="Times New Roman" panose="02020603050405020304" pitchFamily="18" charset="0"/>
              </a:rPr>
              <a:t>协议</a:t>
            </a:r>
            <a:r>
              <a:rPr lang="en-US" altLang="zh-CN" sz="3000" b="1" kern="100" dirty="0"/>
              <a:t>)</a:t>
            </a:r>
            <a:r>
              <a:rPr lang="zh-CN" altLang="zh-CN" sz="3000" b="1" kern="100" dirty="0">
                <a:cs typeface="Times New Roman" panose="02020603050405020304" pitchFamily="18" charset="0"/>
              </a:rPr>
              <a:t>是结合</a:t>
            </a:r>
            <a:r>
              <a:rPr lang="en-US" altLang="zh-CN" sz="3000" b="1" kern="100" dirty="0"/>
              <a:t>TDMA</a:t>
            </a:r>
            <a:r>
              <a:rPr lang="zh-CN" altLang="zh-CN" sz="3000" b="1" kern="100" dirty="0">
                <a:cs typeface="Times New Roman" panose="02020603050405020304" pitchFamily="18" charset="0"/>
              </a:rPr>
              <a:t>和</a:t>
            </a:r>
            <a:r>
              <a:rPr lang="en-US" altLang="zh-CN" sz="3000" b="1" kern="100" dirty="0"/>
              <a:t>FDMA</a:t>
            </a:r>
            <a:r>
              <a:rPr lang="zh-CN" altLang="zh-CN" sz="3000" b="1" kern="100" dirty="0">
                <a:cs typeface="Times New Roman" panose="02020603050405020304" pitchFamily="18" charset="0"/>
              </a:rPr>
              <a:t>的基于固定信道分配的分布式</a:t>
            </a:r>
            <a:r>
              <a:rPr lang="en-US" altLang="zh-CN" sz="3000" b="1" kern="100" dirty="0"/>
              <a:t>MAC</a:t>
            </a:r>
            <a:r>
              <a:rPr lang="zh-CN" altLang="zh-CN" sz="3000" b="1" kern="100" dirty="0">
                <a:cs typeface="Times New Roman" panose="02020603050405020304" pitchFamily="18" charset="0"/>
              </a:rPr>
              <a:t>协议，用来建立一个对等的网络结构。</a:t>
            </a:r>
            <a:endParaRPr lang="en-US" altLang="zh-CN" sz="3000" b="1" kern="100" dirty="0">
              <a:cs typeface="Times New Roman" panose="02020603050405020304" pitchFamily="18" charset="0"/>
            </a:endParaRPr>
          </a:p>
          <a:p>
            <a:pPr marL="0" indent="0" algn="just" fontAlgn="auto">
              <a:lnSpc>
                <a:spcPct val="120000"/>
              </a:lnSpc>
              <a:spcBef>
                <a:spcPts val="600"/>
              </a:spcBef>
              <a:buNone/>
              <a:defRPr/>
            </a:pPr>
            <a:r>
              <a:rPr lang="en-US" altLang="zh-CN" sz="3000" b="1" kern="100" dirty="0"/>
              <a:t>   SMACS</a:t>
            </a:r>
            <a:r>
              <a:rPr lang="zh-CN" altLang="zh-CN" sz="3000" b="1" kern="100" dirty="0">
                <a:cs typeface="Times New Roman" panose="02020603050405020304" pitchFamily="18" charset="0"/>
              </a:rPr>
              <a:t>协议</a:t>
            </a:r>
            <a:r>
              <a:rPr lang="zh-CN" altLang="zh-CN" sz="3000" b="1" kern="100" dirty="0">
                <a:solidFill>
                  <a:srgbClr val="C00000"/>
                </a:solidFill>
                <a:cs typeface="Times New Roman" panose="02020603050405020304" pitchFamily="18" charset="0"/>
              </a:rPr>
              <a:t>主要用于静止的节点之间连接的建立</a:t>
            </a:r>
            <a:r>
              <a:rPr lang="zh-CN" altLang="zh-CN" sz="3000" b="1" kern="100" dirty="0">
                <a:cs typeface="Times New Roman" panose="02020603050405020304" pitchFamily="18" charset="0"/>
              </a:rPr>
              <a:t>，而对于静止节点与运动节点之间的通信，则需要通过</a:t>
            </a:r>
            <a:r>
              <a:rPr lang="en-US" altLang="zh-CN" sz="3000" b="1" kern="100" dirty="0"/>
              <a:t>EAR</a:t>
            </a:r>
            <a:r>
              <a:rPr lang="zh-CN" altLang="zh-CN" sz="3000" b="1" kern="100" dirty="0">
                <a:cs typeface="Times New Roman" panose="02020603050405020304" pitchFamily="18" charset="0"/>
              </a:rPr>
              <a:t>协议进行管理。</a:t>
            </a:r>
            <a:r>
              <a:rPr lang="zh-CN" altLang="zh-CN" sz="3000" b="1" kern="100" dirty="0"/>
              <a:t>基本思想是，</a:t>
            </a:r>
            <a:r>
              <a:rPr lang="zh-CN" altLang="zh-CN" sz="3000" b="1" kern="100" dirty="0">
                <a:solidFill>
                  <a:srgbClr val="C00000"/>
                </a:solidFill>
              </a:rPr>
              <a:t>为每一对邻居节点分配一个特有频率进行数据传输，不同节点对间的频率互不干扰，从而避免同时传输的数据之间产生碰撞。</a:t>
            </a:r>
            <a:endParaRPr lang="en-US" altLang="zh-CN" sz="3000" b="1" kern="100" dirty="0">
              <a:solidFill>
                <a:srgbClr val="C00000"/>
              </a:solidFill>
            </a:endParaRPr>
          </a:p>
          <a:p>
            <a:pPr marL="0" indent="0" algn="just" fontAlgn="auto">
              <a:lnSpc>
                <a:spcPct val="120000"/>
              </a:lnSpc>
              <a:spcBef>
                <a:spcPts val="600"/>
              </a:spcBef>
              <a:buNone/>
              <a:defRPr/>
            </a:pPr>
            <a:r>
              <a:rPr lang="en-US" altLang="zh-CN" sz="3000" b="1" kern="100" dirty="0">
                <a:solidFill>
                  <a:srgbClr val="C00000"/>
                </a:solidFill>
              </a:rPr>
              <a:t>   </a:t>
            </a:r>
            <a:r>
              <a:rPr lang="en-US" altLang="zh-CN" sz="3000" b="1" kern="100" dirty="0"/>
              <a:t>SMACS </a:t>
            </a:r>
            <a:r>
              <a:rPr lang="zh-CN" altLang="en-US" sz="3000" b="1" kern="100" dirty="0"/>
              <a:t>协议引入了超帧的概念，用一个固定参数</a:t>
            </a:r>
            <a:r>
              <a:rPr lang="en-US" altLang="zh-CN" sz="3000" b="1" kern="100" dirty="0"/>
              <a:t>Iframe</a:t>
            </a:r>
            <a:r>
              <a:rPr lang="zh-CN" altLang="en-US" sz="3000" b="1" kern="100" dirty="0"/>
              <a:t>表示。网络中所有节点的超帧都有相同的长度。节点在上电后先进行邻居发现，每发现一个邻居，这一对节点就形成一个双向信道，即一个通信链路。在两个节点的超帧中为该链路分配一对时隙用于双向通信。随着邻居的增加，超帧慢慢被填满。每对时隙都会选择一个随机的频点，减少邻近链路冲突的可能。这样全网很快就能在初始化后建立链路，这种不同步的时隙分配称为异步分配通信。</a:t>
            </a:r>
            <a:endParaRPr lang="zh-CN" altLang="en-US" sz="3000" dirty="0"/>
          </a:p>
        </p:txBody>
      </p:sp>
      <p:sp>
        <p:nvSpPr>
          <p:cNvPr id="4" name="标题 5121"/>
          <p:cNvSpPr txBox="1">
            <a:spLocks noChangeArrowheads="1"/>
          </p:cNvSpPr>
          <p:nvPr/>
        </p:nvSpPr>
        <p:spPr>
          <a:xfrm>
            <a:off x="838835" y="0"/>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4.1.3 基于分配型的MAC协议</a:t>
            </a:r>
            <a:endParaRPr lang="zh-CN" altLang="en-US" b="1" dirty="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图片 1"/>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65555" y="1793875"/>
            <a:ext cx="9660255" cy="438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4517390" y="6332220"/>
            <a:ext cx="296100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4-1-6 </a:t>
            </a:r>
            <a:r>
              <a:rPr lang="zh-CN" altLang="en-US" b="1" dirty="0">
                <a:latin typeface="宋体" panose="02010600030101010101" pitchFamily="2" charset="-122"/>
                <a:ea typeface="宋体" panose="02010600030101010101" pitchFamily="2" charset="-122"/>
              </a:rPr>
              <a:t>异步调度通信</a:t>
            </a:r>
            <a:endParaRPr lang="zh-CN" altLang="en-US" dirty="0">
              <a:latin typeface="宋体" panose="02010600030101010101" pitchFamily="2" charset="-122"/>
              <a:ea typeface="宋体" panose="02010600030101010101" pitchFamily="2" charset="-122"/>
            </a:endParaRPr>
          </a:p>
        </p:txBody>
      </p:sp>
      <p:sp>
        <p:nvSpPr>
          <p:cNvPr id="8" name="标题 5121"/>
          <p:cNvSpPr>
            <a:spLocks noGrp="1" noChangeArrowheads="1"/>
          </p:cNvSpPr>
          <p:nvPr>
            <p:ph type="title"/>
          </p:nvPr>
        </p:nvSpPr>
        <p:spPr>
          <a:xfrm>
            <a:off x="838835" y="0"/>
            <a:ext cx="10515600" cy="1325563"/>
          </a:xfrm>
        </p:spPr>
        <p:txBody>
          <a:bodyPr>
            <a:normAutofit/>
          </a:bodyPr>
          <a:lstStyle/>
          <a:p>
            <a:pPr eaLnBrk="1" hangingPunct="1"/>
            <a:r>
              <a:rPr lang="en-US" b="1" u="sng">
                <a:solidFill>
                  <a:srgbClr val="1D41D5"/>
                </a:solidFill>
                <a:uFillTx/>
                <a:latin typeface="Times New Roman" panose="02020603050405020304" pitchFamily="18" charset="0"/>
              </a:rPr>
              <a:t>4.1.3 基于分配型的MAC协议</a:t>
            </a:r>
            <a:endParaRPr lang="zh-CN" altLang="en-US" b="1"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 拓扑控制</a:t>
            </a:r>
            <a:endParaRPr lang="en-US" b="1" u="sng">
              <a:solidFill>
                <a:srgbClr val="1D41D5"/>
              </a:solidFill>
              <a:uFillTx/>
              <a:latin typeface="Times New Roman" panose="02020603050405020304" pitchFamily="18" charset="0"/>
            </a:endParaRPr>
          </a:p>
        </p:txBody>
      </p:sp>
      <p:sp>
        <p:nvSpPr>
          <p:cNvPr id="21507" name="文本占位符 5122"/>
          <p:cNvSpPr>
            <a:spLocks noGrp="1" noChangeArrowheads="1"/>
          </p:cNvSpPr>
          <p:nvPr>
            <p:ph sz="half" idx="1"/>
          </p:nvPr>
        </p:nvSpPr>
        <p:spPr>
          <a:xfrm>
            <a:off x="1083945" y="1325880"/>
            <a:ext cx="10515600" cy="5190490"/>
          </a:xfrm>
        </p:spPr>
        <p:txBody>
          <a:bodyPr>
            <a:normAutofit fontScale="70000"/>
          </a:bodyPr>
          <a:lstStyle/>
          <a:p>
            <a:pPr marL="0" indent="0">
              <a:buNone/>
              <a:defRPr/>
            </a:pPr>
            <a:r>
              <a:rPr lang="zh-CN" altLang="en-US" b="1" dirty="0"/>
              <a:t>概述</a:t>
            </a:r>
            <a:endParaRPr lang="en-US" altLang="zh-CN" b="1" dirty="0"/>
          </a:p>
          <a:p>
            <a:pPr marL="0" indent="0" algn="just" fontAlgn="auto">
              <a:lnSpc>
                <a:spcPct val="120000"/>
              </a:lnSpc>
              <a:spcBef>
                <a:spcPts val="600"/>
              </a:spcBef>
              <a:buNone/>
              <a:defRPr/>
            </a:pPr>
            <a:r>
              <a:rPr lang="zh-CN" altLang="en-US" sz="1800" b="1" kern="100" dirty="0"/>
              <a:t>   </a:t>
            </a:r>
            <a:r>
              <a:rPr lang="zh-CN" altLang="en-US" sz="3000" b="1" kern="100" dirty="0"/>
              <a:t>拓扑控制技术是无线传感器网络中的</a:t>
            </a:r>
            <a:r>
              <a:rPr lang="zh-CN" altLang="en-US" sz="3000" b="1" kern="100" dirty="0">
                <a:solidFill>
                  <a:srgbClr val="C00000"/>
                </a:solidFill>
              </a:rPr>
              <a:t>基本问题</a:t>
            </a:r>
            <a:r>
              <a:rPr lang="zh-CN" altLang="en-US" sz="3000" b="1" kern="100" dirty="0"/>
              <a:t>。动态变化的拓扑结构是无线传感器网络最大的特点之一，因此拓扑控制策略在无线传感器网络中有着重要的意义，它为路由协议、</a:t>
            </a:r>
            <a:r>
              <a:rPr lang="en-US" altLang="zh-CN" sz="3000" b="1" kern="100" dirty="0"/>
              <a:t>MAC</a:t>
            </a:r>
            <a:r>
              <a:rPr lang="zh-CN" altLang="en-US" sz="3000" b="1" kern="100" dirty="0"/>
              <a:t>协议、数据融合、时间同步和目标定位等奠定了基础。目前，在网络协议分层中没有明确的层次对应拓扑控制机制，但大多数的拓扑控制算法部署于介质访问控制层</a:t>
            </a:r>
            <a:r>
              <a:rPr lang="en-US" altLang="zh-CN" sz="3000" b="1" kern="100" dirty="0"/>
              <a:t>(MAC)</a:t>
            </a:r>
            <a:r>
              <a:rPr lang="zh-CN" altLang="en-US" sz="3000" b="1" kern="100" dirty="0"/>
              <a:t>和路由层</a:t>
            </a:r>
            <a:r>
              <a:rPr lang="en-US" altLang="zh-CN" sz="3000" b="1" kern="100" dirty="0"/>
              <a:t>(Routing)</a:t>
            </a:r>
            <a:r>
              <a:rPr lang="zh-CN" altLang="en-US" sz="3000" b="1" kern="100" dirty="0"/>
              <a:t>之间，它为路山层提供足够的路由更新信息</a:t>
            </a:r>
            <a:r>
              <a:rPr lang="en-US" altLang="zh-CN" sz="3000" b="1" kern="100" dirty="0"/>
              <a:t>;</a:t>
            </a:r>
            <a:r>
              <a:rPr lang="zh-CN" altLang="en-US" sz="3000" b="1" kern="100" dirty="0"/>
              <a:t>反之，路由表的变化也反作用于拓扑控制机制，</a:t>
            </a:r>
            <a:r>
              <a:rPr lang="en-US" altLang="zh-CN" sz="3000" b="1" kern="100" dirty="0"/>
              <a:t>MAC</a:t>
            </a:r>
            <a:r>
              <a:rPr lang="zh-CN" altLang="en-US" sz="3000" b="1" kern="100" dirty="0"/>
              <a:t>层可以给拓扑控制算法提供邻居发现等消息。</a:t>
            </a:r>
            <a:endParaRPr lang="en-US" altLang="zh-CN" sz="3000" b="1" kern="100" dirty="0"/>
          </a:p>
          <a:p>
            <a:pPr marL="0" indent="0" algn="just" fontAlgn="auto">
              <a:lnSpc>
                <a:spcPct val="120000"/>
              </a:lnSpc>
              <a:spcBef>
                <a:spcPts val="600"/>
              </a:spcBef>
              <a:buNone/>
              <a:defRPr/>
            </a:pPr>
            <a:r>
              <a:rPr lang="zh-CN" altLang="en-US" sz="3000" b="1" kern="100" dirty="0"/>
              <a:t>  </a:t>
            </a:r>
            <a:r>
              <a:rPr lang="zh-CN" altLang="en-US" sz="3000" b="1" kern="100" dirty="0">
                <a:solidFill>
                  <a:srgbClr val="1552D1"/>
                </a:solidFill>
              </a:rPr>
              <a:t>无线传感器网络的拓扑控制问题：</a:t>
            </a:r>
            <a:r>
              <a:rPr lang="zh-CN" altLang="en-US" sz="3000" b="1" kern="100" dirty="0"/>
              <a:t>在网络相关资源普遍受限的情况下，对于固定或具有移动特征的无线传感器网络通过控制传感器节点与无线通信链路纽成网络的拓扑属性来减少网络能量消耗与无线干扰，并有效改善整体网络的连通性、吞叶量与传播延时等性能指标。给定一个传感器网络，无线传感器网络拓扑控制也可以一般性地总结为</a:t>
            </a:r>
            <a:r>
              <a:rPr lang="en-US" altLang="zh-CN" sz="3000" b="1" kern="100" dirty="0"/>
              <a:t>:</a:t>
            </a:r>
            <a:r>
              <a:rPr lang="zh-CN" altLang="en-US" sz="3000" b="1" kern="100" dirty="0"/>
              <a:t>在全网协作式地进行各个传感器节点功率控制</a:t>
            </a:r>
            <a:r>
              <a:rPr lang="en-US" altLang="zh-CN" sz="3000" b="1" kern="100" dirty="0"/>
              <a:t>(</a:t>
            </a:r>
            <a:r>
              <a:rPr lang="zh-CN" altLang="en-US" sz="3000" b="1" kern="100" dirty="0"/>
              <a:t>传输半径调节</a:t>
            </a:r>
            <a:r>
              <a:rPr lang="en-US" altLang="zh-CN" sz="3000" b="1" kern="100" dirty="0"/>
              <a:t>)</a:t>
            </a:r>
            <a:r>
              <a:rPr lang="zh-CN" altLang="en-US" sz="3000" b="1" kern="100" dirty="0"/>
              <a:t>，从而达到网络能量消耗与无线干扰减少的目的。</a:t>
            </a:r>
            <a:endParaRPr lang="en-US" altLang="zh-CN" sz="3000" b="1" kern="100" dirty="0"/>
          </a:p>
          <a:p>
            <a:pPr lvl="2" eaLnBrk="1" hangingPunct="1">
              <a:defRPr/>
            </a:pPr>
            <a:endParaRPr lang="zh-CN" altLang="en-US" sz="3000" b="1" kern="100" dirty="0">
              <a:solidFill>
                <a:schemeClr val="bg2"/>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占位符 5122"/>
          <p:cNvSpPr>
            <a:spLocks noGrp="1" noChangeArrowheads="1"/>
          </p:cNvSpPr>
          <p:nvPr>
            <p:ph sz="half" idx="1"/>
          </p:nvPr>
        </p:nvSpPr>
        <p:spPr>
          <a:xfrm>
            <a:off x="320887" y="1457008"/>
            <a:ext cx="10516235" cy="4351655"/>
          </a:xfrm>
        </p:spPr>
        <p:txBody>
          <a:bodyPr/>
          <a:lstStyle/>
          <a:p>
            <a:pPr marL="457200" lvl="1" indent="0">
              <a:buNone/>
              <a:defRPr/>
            </a:pPr>
            <a:endParaRPr lang="en-US" altLang="zh-CN" sz="1800" b="1" kern="100" dirty="0">
              <a:solidFill>
                <a:schemeClr val="bg2"/>
              </a:solidFill>
            </a:endParaRPr>
          </a:p>
          <a:p>
            <a:pPr lvl="1" eaLnBrk="1" hangingPunct="1">
              <a:defRPr/>
            </a:pPr>
            <a:r>
              <a:rPr lang="zh-CN" altLang="en-US" sz="2000" b="1" kern="100" dirty="0"/>
              <a:t>网络拓扑结构</a:t>
            </a:r>
            <a:endParaRPr lang="en-US" altLang="zh-CN" sz="2000" b="1" kern="100" dirty="0"/>
          </a:p>
          <a:p>
            <a:pPr lvl="1" eaLnBrk="1" hangingPunct="1">
              <a:defRPr/>
            </a:pPr>
            <a:r>
              <a:rPr lang="zh-CN" altLang="en-US" sz="2000" b="1" kern="100" dirty="0"/>
              <a:t>拓扑控制设计目标</a:t>
            </a:r>
            <a:endParaRPr lang="en-US" altLang="zh-CN" sz="2000" b="1" kern="100" dirty="0"/>
          </a:p>
          <a:p>
            <a:pPr lvl="1" eaLnBrk="1" hangingPunct="1">
              <a:defRPr/>
            </a:pPr>
            <a:r>
              <a:rPr lang="zh-CN" altLang="en-US" sz="2000" b="1" kern="100" dirty="0"/>
              <a:t>功率控制技术</a:t>
            </a:r>
            <a:endParaRPr lang="en-US" altLang="zh-CN" sz="2000" b="1" kern="100" dirty="0"/>
          </a:p>
          <a:p>
            <a:pPr lvl="2" eaLnBrk="1" hangingPunct="1">
              <a:defRPr/>
            </a:pPr>
            <a:r>
              <a:rPr lang="zh-CN" altLang="en-US" b="1" kern="100" dirty="0"/>
              <a:t>基于临近图的功率控制</a:t>
            </a:r>
            <a:endParaRPr lang="en-US" altLang="zh-CN" b="1" kern="100" dirty="0"/>
          </a:p>
          <a:p>
            <a:pPr lvl="2" eaLnBrk="1" hangingPunct="1">
              <a:defRPr/>
            </a:pPr>
            <a:r>
              <a:rPr lang="zh-CN" altLang="en-US" b="1" kern="100" dirty="0"/>
              <a:t>基于节点度的功率控制</a:t>
            </a:r>
            <a:endParaRPr lang="en-US" altLang="zh-CN" b="1" kern="100" dirty="0"/>
          </a:p>
          <a:p>
            <a:pPr lvl="2" eaLnBrk="1" hangingPunct="1">
              <a:defRPr/>
            </a:pPr>
            <a:r>
              <a:rPr lang="zh-CN" altLang="en-US" b="1" kern="100" dirty="0"/>
              <a:t>基于方向的功率控制</a:t>
            </a:r>
            <a:endParaRPr lang="en-US" altLang="zh-CN" b="1" kern="100" dirty="0"/>
          </a:p>
          <a:p>
            <a:pPr lvl="2" eaLnBrk="1" hangingPunct="1">
              <a:defRPr/>
            </a:pPr>
            <a:r>
              <a:rPr lang="zh-CN" altLang="en-US" b="1" kern="100" dirty="0"/>
              <a:t>基于干扰的拓扑控制</a:t>
            </a:r>
            <a:endParaRPr lang="en-US" altLang="zh-CN" b="1" kern="100" dirty="0"/>
          </a:p>
          <a:p>
            <a:pPr lvl="1" eaLnBrk="1" hangingPunct="1">
              <a:defRPr/>
            </a:pPr>
            <a:r>
              <a:rPr lang="zh-CN" altLang="en-US" sz="2000" b="1" kern="100" dirty="0"/>
              <a:t>睡眠调度</a:t>
            </a:r>
            <a:endParaRPr lang="en-US" altLang="zh-CN" sz="2000" b="1" kern="100" dirty="0"/>
          </a:p>
          <a:p>
            <a:pPr lvl="2" eaLnBrk="1" hangingPunct="1">
              <a:defRPr/>
            </a:pPr>
            <a:r>
              <a:rPr lang="zh-CN" altLang="en-US" b="1" kern="100" dirty="0"/>
              <a:t>连通支配集算法</a:t>
            </a:r>
            <a:endParaRPr lang="en-US" altLang="zh-CN" b="1" kern="100" dirty="0"/>
          </a:p>
          <a:p>
            <a:pPr lvl="2" eaLnBrk="1" hangingPunct="1">
              <a:defRPr/>
            </a:pPr>
            <a:r>
              <a:rPr lang="en-US" altLang="zh-CN" b="1" kern="100" dirty="0"/>
              <a:t>ASCENT</a:t>
            </a:r>
            <a:r>
              <a:rPr lang="zh-CN" altLang="en-US" b="1" kern="100" dirty="0"/>
              <a:t>算法</a:t>
            </a:r>
            <a:endParaRPr lang="en-US" altLang="zh-CN" b="1" kern="100" dirty="0"/>
          </a:p>
          <a:p>
            <a:pPr lvl="2" eaLnBrk="1" hangingPunct="1">
              <a:defRPr/>
            </a:pPr>
            <a:r>
              <a:rPr lang="en-US" altLang="zh-CN" b="1" kern="100" dirty="0"/>
              <a:t>SPAN</a:t>
            </a:r>
            <a:r>
              <a:rPr lang="zh-CN" altLang="en-US" b="1" kern="100" dirty="0"/>
              <a:t>算法</a:t>
            </a:r>
            <a:endParaRPr lang="en-US" altLang="zh-CN" b="1" kern="100" dirty="0"/>
          </a:p>
          <a:p>
            <a:pPr lvl="2" eaLnBrk="1" hangingPunct="1">
              <a:defRPr/>
            </a:pPr>
            <a:endParaRPr lang="en-US" altLang="zh-CN" sz="1400" b="1" kern="100" dirty="0">
              <a:solidFill>
                <a:schemeClr val="bg2"/>
              </a:solidFill>
            </a:endParaRPr>
          </a:p>
          <a:p>
            <a:pPr lvl="2" eaLnBrk="1" hangingPunct="1">
              <a:defRPr/>
            </a:pPr>
            <a:endParaRPr lang="zh-CN" altLang="en-US" sz="1000" b="1" kern="100" dirty="0">
              <a:solidFill>
                <a:schemeClr val="bg2"/>
              </a:solidFill>
            </a:endParaRPr>
          </a:p>
        </p:txBody>
      </p:sp>
      <p:pic>
        <p:nvPicPr>
          <p:cNvPr id="24580" name="图片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40530" y="1227455"/>
            <a:ext cx="7796530" cy="528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8062595" y="6391910"/>
            <a:ext cx="2419350"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4-2-1 K-</a:t>
            </a:r>
            <a:r>
              <a:rPr lang="zh-CN" altLang="en-US" b="1" dirty="0">
                <a:latin typeface="宋体" panose="02010600030101010101" pitchFamily="2" charset="-122"/>
                <a:ea typeface="宋体" panose="02010600030101010101" pitchFamily="2" charset="-122"/>
              </a:rPr>
              <a:t>覆盖示例</a:t>
            </a:r>
            <a:endParaRPr lang="zh-CN" altLang="en-US" dirty="0">
              <a:latin typeface="宋体" panose="02010600030101010101" pitchFamily="2" charset="-122"/>
              <a:ea typeface="宋体" panose="02010600030101010101" pitchFamily="2" charset="-122"/>
            </a:endParaRPr>
          </a:p>
        </p:txBody>
      </p:sp>
      <p:sp>
        <p:nvSpPr>
          <p:cNvPr id="9" name="标题 5121"/>
          <p:cNvSpPr>
            <a:spLocks noGrp="1" noChangeArrowheads="1"/>
          </p:cNvSpPr>
          <p:nvPr>
            <p:ph type="title"/>
          </p:nvPr>
        </p:nvSpPr>
        <p:spPr>
          <a:xfrm>
            <a:off x="838200" y="0"/>
            <a:ext cx="10515600" cy="1325563"/>
          </a:xfrm>
        </p:spPr>
        <p:txBody>
          <a:bodyPr/>
          <a:lstStyle/>
          <a:p>
            <a:pPr algn="ctr" eaLnBrk="1" hangingPunct="1">
              <a:buClrTx/>
              <a:buSzTx/>
              <a:buFontTx/>
            </a:pPr>
            <a:r>
              <a:rPr lang="en-US" b="1" u="sng">
                <a:solidFill>
                  <a:srgbClr val="1D41D5"/>
                </a:solidFill>
                <a:uFillTx/>
                <a:latin typeface="Times New Roman" panose="02020603050405020304" pitchFamily="18" charset="0"/>
              </a:rPr>
              <a:t>4.2 拓扑控制</a:t>
            </a:r>
            <a:endParaRPr lang="en-US" b="1" u="sng">
              <a:solidFill>
                <a:srgbClr val="1D41D5"/>
              </a:solidFill>
              <a:uFillTx/>
              <a:latin typeface="Times New Roman" panose="0202060305040502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31185" y="3567430"/>
            <a:ext cx="6699250" cy="2861945"/>
          </a:xfrm>
          <a:prstGeom prst="rect">
            <a:avLst/>
          </a:prstGeom>
        </p:spPr>
      </p:pic>
      <p:sp>
        <p:nvSpPr>
          <p:cNvPr id="5122" name="文本占位符 5122"/>
          <p:cNvSpPr>
            <a:spLocks noGrp="1" noChangeArrowheads="1"/>
          </p:cNvSpPr>
          <p:nvPr>
            <p:ph sz="half" idx="1"/>
          </p:nvPr>
        </p:nvSpPr>
        <p:spPr>
          <a:xfrm>
            <a:off x="1066800" y="1325563"/>
            <a:ext cx="10516235" cy="4351655"/>
          </a:xfrm>
        </p:spPr>
        <p:txBody>
          <a:bodyPr/>
          <a:lstStyle/>
          <a:p>
            <a:pPr marL="0" indent="0">
              <a:buNone/>
              <a:defRPr/>
            </a:pPr>
            <a:r>
              <a:rPr lang="zh-CN" altLang="en-US" b="1" dirty="0"/>
              <a:t>4.</a:t>
            </a:r>
            <a:r>
              <a:rPr lang="en-US" altLang="zh-CN" b="1" dirty="0"/>
              <a:t>2.1 </a:t>
            </a:r>
            <a:r>
              <a:rPr lang="zh-CN" altLang="en-US" b="1" dirty="0"/>
              <a:t>网络拓扑结构</a:t>
            </a:r>
            <a:endParaRPr lang="en-US" altLang="zh-CN" b="1" dirty="0"/>
          </a:p>
          <a:p>
            <a:pPr marL="0" indent="0">
              <a:lnSpc>
                <a:spcPct val="100000"/>
              </a:lnSpc>
              <a:spcBef>
                <a:spcPts val="600"/>
              </a:spcBef>
              <a:buNone/>
              <a:defRPr/>
            </a:pPr>
            <a:r>
              <a:rPr lang="en-US" altLang="zh-CN" sz="1200" b="1" kern="100" dirty="0"/>
              <a:t>    </a:t>
            </a:r>
            <a:r>
              <a:rPr lang="zh-CN" altLang="zh-CN" sz="2000" b="1" kern="100" dirty="0">
                <a:latin typeface="Times New Roman" panose="02020603050405020304" pitchFamily="18" charset="0"/>
              </a:rPr>
              <a:t>计算机网络的拓扑结构是引用拓扑学中研究与大小、形状无关的点、线关系的方法，</a:t>
            </a:r>
            <a:r>
              <a:rPr lang="zh-CN" altLang="zh-CN" sz="2000" b="1" kern="100" dirty="0">
                <a:solidFill>
                  <a:srgbClr val="C00000"/>
                </a:solidFill>
                <a:latin typeface="Times New Roman" panose="02020603050405020304" pitchFamily="18" charset="0"/>
              </a:rPr>
              <a:t>把网络中的计算机和通信设备抽象为一个点，把传输介质抽象为一条线，由点和线组成的几何图形就是计算机网络的拓扑结构</a:t>
            </a:r>
            <a:r>
              <a:rPr lang="zh-CN" altLang="zh-CN" sz="2000" b="1" kern="100" dirty="0">
                <a:latin typeface="Times New Roman" panose="02020603050405020304" pitchFamily="18" charset="0"/>
              </a:rPr>
              <a:t>。</a:t>
            </a:r>
            <a:r>
              <a:rPr lang="zh-CN" altLang="zh-CN" sz="2000" b="1" kern="100" dirty="0">
                <a:latin typeface="Times New Roman" panose="02020603050405020304" pitchFamily="18" charset="0"/>
                <a:cs typeface="Times New Roman" panose="02020603050405020304" pitchFamily="18" charset="0"/>
              </a:rPr>
              <a:t>在无线传感器网络中，节点的部署可能很密集，如果节点采用比较大的发射功率进行数据的收发，会带来很多问题。</a:t>
            </a:r>
            <a:endParaRPr lang="en-US" altLang="zh-CN" sz="2000" b="1" kern="100" dirty="0">
              <a:latin typeface="Times New Roman" panose="02020603050405020304" pitchFamily="18" charset="0"/>
              <a:cs typeface="Times New Roman" panose="02020603050405020304" pitchFamily="18" charset="0"/>
            </a:endParaRPr>
          </a:p>
          <a:p>
            <a:pPr marL="0" indent="0">
              <a:lnSpc>
                <a:spcPct val="100000"/>
              </a:lnSpc>
              <a:spcBef>
                <a:spcPts val="600"/>
              </a:spcBef>
              <a:buNone/>
              <a:defRPr/>
            </a:pPr>
            <a:r>
              <a:rPr lang="en-US" altLang="zh-CN" sz="2000" b="1" kern="100" dirty="0">
                <a:latin typeface="Times New Roman" panose="02020603050405020304" pitchFamily="18" charset="0"/>
                <a:cs typeface="Times New Roman" panose="02020603050405020304" pitchFamily="18" charset="0"/>
              </a:rPr>
              <a:t>    </a:t>
            </a:r>
            <a:r>
              <a:rPr lang="zh-CN" altLang="zh-CN" sz="2000" b="1" kern="100" dirty="0">
                <a:latin typeface="Times New Roman" panose="02020603050405020304" pitchFamily="18" charset="0"/>
                <a:cs typeface="Times New Roman" panose="02020603050405020304" pitchFamily="18" charset="0"/>
              </a:rPr>
              <a:t>典型的计算机网络拓扑结构有总线型结构、树型结构、网状结构、环型结构、星型结构等，如</a:t>
            </a:r>
            <a:r>
              <a:rPr lang="zh-CN" altLang="en-US" sz="2000" b="1" kern="100" dirty="0">
                <a:latin typeface="Times New Roman" panose="02020603050405020304" pitchFamily="18" charset="0"/>
                <a:cs typeface="Times New Roman" panose="02020603050405020304" pitchFamily="18" charset="0"/>
              </a:rPr>
              <a:t>下</a:t>
            </a:r>
            <a:r>
              <a:rPr lang="zh-CN" altLang="zh-CN" sz="2000" b="1" kern="100" dirty="0">
                <a:latin typeface="Times New Roman" panose="02020603050405020304" pitchFamily="18" charset="0"/>
                <a:cs typeface="Times New Roman" panose="02020603050405020304" pitchFamily="18" charset="0"/>
              </a:rPr>
              <a:t>图所示。</a:t>
            </a:r>
            <a:endParaRPr lang="zh-CN" altLang="zh-CN" sz="2000" b="1"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sp>
        <p:nvSpPr>
          <p:cNvPr id="5" name="文本框 4"/>
          <p:cNvSpPr txBox="1"/>
          <p:nvPr/>
        </p:nvSpPr>
        <p:spPr>
          <a:xfrm>
            <a:off x="4953000" y="6429375"/>
            <a:ext cx="305625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4-2-2 K-</a:t>
            </a:r>
            <a:r>
              <a:rPr lang="zh-CN" altLang="en-US" b="1" dirty="0">
                <a:latin typeface="宋体" panose="02010600030101010101" pitchFamily="2" charset="-122"/>
                <a:ea typeface="宋体" panose="02010600030101010101" pitchFamily="2" charset="-122"/>
              </a:rPr>
              <a:t>网络拓扑结构</a:t>
            </a:r>
            <a:endParaRPr lang="zh-CN" altLang="en-US" dirty="0">
              <a:latin typeface="宋体" panose="02010600030101010101" pitchFamily="2" charset="-122"/>
              <a:ea typeface="宋体" panose="02010600030101010101" pitchFamily="2" charset="-122"/>
            </a:endParaRPr>
          </a:p>
        </p:txBody>
      </p:sp>
      <p:sp>
        <p:nvSpPr>
          <p:cNvPr id="8"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 拓扑控制</a:t>
            </a:r>
            <a:endParaRPr lang="zh-CN" altLang="en-US" b="1" dirty="0"/>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1400" y="1325880"/>
            <a:ext cx="10516235" cy="5532120"/>
          </a:xfrm>
        </p:spPr>
        <p:txBody>
          <a:bodyPr>
            <a:noAutofit/>
          </a:bodyPr>
          <a:lstStyle/>
          <a:p>
            <a:pPr marL="0" indent="0" algn="just">
              <a:lnSpc>
                <a:spcPct val="100000"/>
              </a:lnSpc>
              <a:spcBef>
                <a:spcPts val="600"/>
              </a:spcBef>
              <a:buNone/>
              <a:defRPr/>
            </a:pPr>
            <a:r>
              <a:rPr lang="en-US" altLang="zh-CN" sz="2300" kern="100" dirty="0">
                <a:latin typeface="Times New Roman" panose="02020603050405020304" pitchFamily="18" charset="0"/>
                <a:cs typeface="Times New Roman" panose="02020603050405020304" pitchFamily="18" charset="0"/>
              </a:rPr>
              <a:t>     </a:t>
            </a:r>
            <a:r>
              <a:rPr lang="zh-CN" altLang="zh-CN" sz="2300" b="1" kern="100" dirty="0">
                <a:latin typeface="Times New Roman" panose="02020603050405020304" pitchFamily="18" charset="0"/>
                <a:cs typeface="Times New Roman" panose="02020603050405020304" pitchFamily="18" charset="0"/>
              </a:rPr>
              <a:t>传感器网络主要有两种拓扑结构：</a:t>
            </a:r>
            <a:r>
              <a:rPr lang="zh-CN" altLang="zh-CN" sz="2300" b="1" kern="100" dirty="0">
                <a:solidFill>
                  <a:srgbClr val="C00000"/>
                </a:solidFill>
                <a:latin typeface="Times New Roman" panose="02020603050405020304" pitchFamily="18" charset="0"/>
                <a:cs typeface="Times New Roman" panose="02020603050405020304" pitchFamily="18" charset="0"/>
              </a:rPr>
              <a:t>扁平结构</a:t>
            </a:r>
            <a:r>
              <a:rPr lang="zh-CN" altLang="zh-CN" sz="2300" b="1" kern="100" dirty="0">
                <a:latin typeface="Times New Roman" panose="02020603050405020304" pitchFamily="18" charset="0"/>
                <a:cs typeface="Times New Roman" panose="02020603050405020304" pitchFamily="18" charset="0"/>
              </a:rPr>
              <a:t>和</a:t>
            </a:r>
            <a:r>
              <a:rPr lang="zh-CN" altLang="zh-CN" sz="2300" b="1" kern="100" dirty="0">
                <a:solidFill>
                  <a:srgbClr val="C00000"/>
                </a:solidFill>
                <a:latin typeface="Times New Roman" panose="02020603050405020304" pitchFamily="18" charset="0"/>
                <a:cs typeface="Times New Roman" panose="02020603050405020304" pitchFamily="18" charset="0"/>
              </a:rPr>
              <a:t>分层结构</a:t>
            </a:r>
            <a:r>
              <a:rPr lang="zh-CN" altLang="en-US" sz="2300" b="1" kern="100" dirty="0">
                <a:solidFill>
                  <a:schemeClr val="bg2"/>
                </a:solidFill>
                <a:latin typeface="Times New Roman" panose="02020603050405020304" pitchFamily="18" charset="0"/>
                <a:cs typeface="Times New Roman" panose="02020603050405020304" pitchFamily="18" charset="0"/>
              </a:rPr>
              <a:t>。</a:t>
            </a:r>
            <a:endParaRPr lang="en-US" altLang="zh-CN" sz="2300" b="1" kern="100" dirty="0">
              <a:solidFill>
                <a:schemeClr val="bg2"/>
              </a:solidFill>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r>
              <a:rPr lang="en-US" altLang="zh-CN" sz="2300" b="1" kern="100" dirty="0">
                <a:solidFill>
                  <a:schemeClr val="bg2"/>
                </a:solidFill>
                <a:latin typeface="Times New Roman" panose="02020603050405020304" pitchFamily="18" charset="0"/>
                <a:cs typeface="Times New Roman" panose="02020603050405020304" pitchFamily="18" charset="0"/>
              </a:rPr>
              <a:t>     </a:t>
            </a:r>
            <a:r>
              <a:rPr lang="zh-CN" altLang="zh-CN" sz="2300" b="1" kern="100" dirty="0">
                <a:latin typeface="Times New Roman" panose="02020603050405020304" pitchFamily="18" charset="0"/>
                <a:cs typeface="Times New Roman" panose="02020603050405020304" pitchFamily="18" charset="0"/>
              </a:rPr>
              <a:t>扁平结构</a:t>
            </a:r>
            <a:r>
              <a:rPr lang="zh-CN" altLang="en-US" sz="2300" b="1" kern="100" dirty="0">
                <a:latin typeface="Times New Roman" panose="02020603050405020304" pitchFamily="18" charset="0"/>
                <a:cs typeface="Times New Roman" panose="02020603050405020304" pitchFamily="18" charset="0"/>
              </a:rPr>
              <a:t>：</a:t>
            </a:r>
            <a:r>
              <a:rPr lang="zh-CN" altLang="zh-CN" sz="2300" b="1" kern="100" dirty="0">
                <a:latin typeface="Times New Roman" panose="02020603050405020304" pitchFamily="18" charset="0"/>
                <a:cs typeface="Times New Roman" panose="02020603050405020304" pitchFamily="18" charset="0"/>
              </a:rPr>
              <a:t>所有</a:t>
            </a:r>
            <a:r>
              <a:rPr lang="zh-CN" altLang="zh-CN" sz="2300" b="1" kern="100" dirty="0">
                <a:solidFill>
                  <a:srgbClr val="C00000"/>
                </a:solidFill>
                <a:latin typeface="Times New Roman" panose="02020603050405020304" pitchFamily="18" charset="0"/>
                <a:cs typeface="Times New Roman" panose="02020603050405020304" pitchFamily="18" charset="0"/>
              </a:rPr>
              <a:t>节点的地位平等</a:t>
            </a:r>
            <a:r>
              <a:rPr lang="zh-CN" altLang="zh-CN" sz="2300" b="1" kern="100" dirty="0">
                <a:latin typeface="Times New Roman" panose="02020603050405020304" pitchFamily="18" charset="0"/>
                <a:cs typeface="Times New Roman" panose="02020603050405020304" pitchFamily="18" charset="0"/>
              </a:rPr>
              <a:t>，源节点和目的节点之间往往</a:t>
            </a:r>
            <a:r>
              <a:rPr lang="zh-CN" altLang="zh-CN" sz="2300" b="1" kern="100" dirty="0">
                <a:solidFill>
                  <a:srgbClr val="C00000"/>
                </a:solidFill>
                <a:latin typeface="Times New Roman" panose="02020603050405020304" pitchFamily="18" charset="0"/>
                <a:cs typeface="Times New Roman" panose="02020603050405020304" pitchFamily="18" charset="0"/>
              </a:rPr>
              <a:t>存在多条路径</a:t>
            </a:r>
            <a:r>
              <a:rPr lang="zh-CN" altLang="zh-CN" sz="2300" b="1" kern="100" dirty="0">
                <a:solidFill>
                  <a:schemeClr val="bg2"/>
                </a:solidFill>
                <a:latin typeface="Times New Roman" panose="02020603050405020304" pitchFamily="18" charset="0"/>
                <a:cs typeface="Times New Roman" panose="02020603050405020304" pitchFamily="18" charset="0"/>
              </a:rPr>
              <a:t>，</a:t>
            </a:r>
            <a:r>
              <a:rPr lang="zh-CN" altLang="zh-CN" sz="2300" b="1" kern="100" dirty="0">
                <a:solidFill>
                  <a:srgbClr val="C00000"/>
                </a:solidFill>
                <a:latin typeface="Times New Roman" panose="02020603050405020304" pitchFamily="18" charset="0"/>
                <a:cs typeface="Times New Roman" panose="02020603050405020304" pitchFamily="18" charset="0"/>
              </a:rPr>
              <a:t>网络负荷由这些路径共同承担</a:t>
            </a:r>
            <a:r>
              <a:rPr lang="zh-CN" altLang="zh-CN" sz="2300" b="1" kern="100" dirty="0">
                <a:latin typeface="Times New Roman" panose="02020603050405020304" pitchFamily="18" charset="0"/>
                <a:cs typeface="Times New Roman" panose="02020603050405020304" pitchFamily="18" charset="0"/>
              </a:rPr>
              <a:t>，一般情况下不存在瓶颈，网络比较健壮。但是，在节点特别多的情况下，扁平型的网络结构在节点组织、路由建立、管理与控制的报文方面会占用很大的带宽。这影响网络传输速率的同时，也使得网络节点能耗比较高。在严重情况下，甚至会造成网络瘫痪。</a:t>
            </a:r>
            <a:endParaRPr lang="en-US" altLang="zh-CN" sz="2300" b="1" kern="100" dirty="0">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r>
              <a:rPr lang="en-US" altLang="zh-CN" sz="2300" b="1" kern="100" dirty="0">
                <a:latin typeface="Times New Roman" panose="02020603050405020304" pitchFamily="18" charset="0"/>
              </a:rPr>
              <a:t>     </a:t>
            </a:r>
            <a:r>
              <a:rPr lang="zh-CN" altLang="zh-CN" sz="2300" b="1" kern="100" dirty="0">
                <a:latin typeface="Times New Roman" panose="02020603050405020304" pitchFamily="18" charset="0"/>
              </a:rPr>
              <a:t>在分层结构中</a:t>
            </a:r>
            <a:r>
              <a:rPr lang="en-US" altLang="zh-CN" sz="2300" b="1" kern="100" dirty="0">
                <a:solidFill>
                  <a:schemeClr val="bg2"/>
                </a:solidFill>
                <a:latin typeface="Times New Roman" panose="02020603050405020304" pitchFamily="18" charset="0"/>
              </a:rPr>
              <a:t>,</a:t>
            </a:r>
            <a:r>
              <a:rPr lang="zh-CN" altLang="zh-CN" sz="2300" b="1" kern="100" dirty="0">
                <a:solidFill>
                  <a:srgbClr val="C00000"/>
                </a:solidFill>
                <a:latin typeface="Times New Roman" panose="02020603050405020304" pitchFamily="18" charset="0"/>
              </a:rPr>
              <a:t>网络被划分为多个簇</a:t>
            </a:r>
            <a:r>
              <a:rPr lang="zh-CN" altLang="zh-CN" sz="2300" b="1" kern="100" dirty="0">
                <a:latin typeface="Times New Roman" panose="02020603050405020304" pitchFamily="18" charset="0"/>
              </a:rPr>
              <a:t>，每个簇由一个</a:t>
            </a:r>
            <a:r>
              <a:rPr lang="zh-CN" altLang="zh-CN" sz="2300" b="1" kern="100" dirty="0">
                <a:solidFill>
                  <a:srgbClr val="C00000"/>
                </a:solidFill>
                <a:latin typeface="Times New Roman" panose="02020603050405020304" pitchFamily="18" charset="0"/>
              </a:rPr>
              <a:t>簇头</a:t>
            </a:r>
            <a:r>
              <a:rPr lang="zh-CN" altLang="zh-CN" sz="2300" b="1" kern="100" dirty="0">
                <a:latin typeface="Times New Roman" panose="02020603050405020304" pitchFamily="18" charset="0"/>
              </a:rPr>
              <a:t>和多个</a:t>
            </a:r>
            <a:r>
              <a:rPr lang="zh-CN" altLang="zh-CN" sz="2300" b="1" kern="100" dirty="0">
                <a:solidFill>
                  <a:srgbClr val="C00000"/>
                </a:solidFill>
                <a:latin typeface="Times New Roman" panose="02020603050405020304" pitchFamily="18" charset="0"/>
              </a:rPr>
              <a:t>簇成员</a:t>
            </a:r>
            <a:r>
              <a:rPr lang="zh-CN" altLang="zh-CN" sz="2300" b="1" kern="100" dirty="0">
                <a:latin typeface="Times New Roman" panose="02020603050405020304" pitchFamily="18" charset="0"/>
              </a:rPr>
              <a:t>组成。</a:t>
            </a:r>
            <a:r>
              <a:rPr lang="zh-CN" altLang="zh-CN" sz="2300" b="1" kern="100" dirty="0">
                <a:solidFill>
                  <a:srgbClr val="C00000"/>
                </a:solidFill>
                <a:latin typeface="Times New Roman" panose="02020603050405020304" pitchFamily="18" charset="0"/>
              </a:rPr>
              <a:t>簇头负责簇间信息传输，簇成员只负责数据的采集</a:t>
            </a:r>
            <a:r>
              <a:rPr lang="zh-CN" altLang="zh-CN" sz="2300" b="1" kern="100" dirty="0">
                <a:latin typeface="Times New Roman" panose="02020603050405020304" pitchFamily="18" charset="0"/>
              </a:rPr>
              <a:t>。传感器节点的无线通信模块在空闲状态时的能量消耗与在收发状态下相当，所以，在节点空闲时，关闭通信模块，能够大幅度降低无线通信的能量消耗，从而降低节点能耗，延长网络生命周期。</a:t>
            </a:r>
            <a:endParaRPr lang="en-US" altLang="zh-CN" sz="2300" b="1" kern="100" dirty="0">
              <a:latin typeface="Times New Roman" panose="02020603050405020304" pitchFamily="18" charset="0"/>
            </a:endParaRPr>
          </a:p>
          <a:p>
            <a:pPr marL="0" indent="0" algn="just">
              <a:lnSpc>
                <a:spcPct val="100000"/>
              </a:lnSpc>
              <a:spcBef>
                <a:spcPts val="600"/>
              </a:spcBef>
              <a:buNone/>
              <a:defRPr/>
            </a:pPr>
            <a:endParaRPr lang="zh-CN" altLang="zh-CN" sz="2300" b="1" kern="100" dirty="0">
              <a:solidFill>
                <a:schemeClr val="bg2"/>
              </a:solidFill>
              <a:latin typeface="Times New Roman" panose="02020603050405020304" pitchFamily="18" charset="0"/>
            </a:endParaRPr>
          </a:p>
          <a:p>
            <a:pPr marL="0" indent="0" algn="just">
              <a:lnSpc>
                <a:spcPct val="100000"/>
              </a:lnSpc>
              <a:spcBef>
                <a:spcPts val="600"/>
              </a:spcBef>
              <a:buNone/>
              <a:defRPr/>
            </a:pPr>
            <a:r>
              <a:rPr lang="en-US" altLang="zh-CN" sz="2300" kern="100" dirty="0">
                <a:latin typeface="Times New Roman" panose="02020603050405020304" pitchFamily="18" charset="0"/>
              </a:rPr>
              <a:t>     </a:t>
            </a:r>
            <a:r>
              <a:rPr lang="zh-CN" altLang="zh-CN" sz="2300" b="1" kern="100" dirty="0">
                <a:latin typeface="Times New Roman" panose="02020603050405020304" pitchFamily="18" charset="0"/>
              </a:rPr>
              <a:t>影响传感器网络拓扑结构的因素主要有</a:t>
            </a:r>
            <a:r>
              <a:rPr lang="zh-CN" altLang="zh-CN" sz="2300" b="1" kern="100" dirty="0">
                <a:solidFill>
                  <a:srgbClr val="C00000"/>
                </a:solidFill>
                <a:latin typeface="Times New Roman" panose="02020603050405020304" pitchFamily="18" charset="0"/>
              </a:rPr>
              <a:t>位置</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确定性部署或随机部署，静止或移动</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a:t>
            </a:r>
            <a:r>
              <a:rPr lang="zh-CN" altLang="zh-CN" sz="2300" b="1" kern="100" dirty="0">
                <a:solidFill>
                  <a:srgbClr val="C00000"/>
                </a:solidFill>
                <a:latin typeface="Times New Roman" panose="02020603050405020304" pitchFamily="18" charset="0"/>
              </a:rPr>
              <a:t>功率</a:t>
            </a:r>
            <a:r>
              <a:rPr lang="zh-CN" altLang="zh-CN" sz="2300" b="1" kern="100" dirty="0">
                <a:solidFill>
                  <a:schemeClr val="bg2"/>
                </a:solidFill>
                <a:latin typeface="Times New Roman" panose="02020603050405020304" pitchFamily="18" charset="0"/>
              </a:rPr>
              <a:t>、</a:t>
            </a:r>
            <a:r>
              <a:rPr lang="zh-CN" altLang="zh-CN" sz="2300" b="1" kern="100" dirty="0">
                <a:solidFill>
                  <a:srgbClr val="C00000"/>
                </a:solidFill>
                <a:latin typeface="Times New Roman" panose="02020603050405020304" pitchFamily="18" charset="0"/>
              </a:rPr>
              <a:t>架构</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有无基础设施</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a:t>
            </a:r>
            <a:r>
              <a:rPr lang="zh-CN" altLang="zh-CN" sz="2300" b="1" kern="100" dirty="0">
                <a:solidFill>
                  <a:srgbClr val="C00000"/>
                </a:solidFill>
                <a:latin typeface="Times New Roman" panose="02020603050405020304" pitchFamily="18" charset="0"/>
              </a:rPr>
              <a:t>环境</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地形</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建筑物，干扰物</a:t>
            </a:r>
            <a:r>
              <a:rPr lang="en-US" altLang="zh-CN" sz="2300" b="1" kern="100" dirty="0">
                <a:latin typeface="Times New Roman" panose="02020603050405020304" pitchFamily="18" charset="0"/>
              </a:rPr>
              <a:t>)</a:t>
            </a:r>
            <a:r>
              <a:rPr lang="zh-CN" altLang="zh-CN" sz="2300" b="1" kern="100" dirty="0">
                <a:latin typeface="Times New Roman" panose="02020603050405020304" pitchFamily="18" charset="0"/>
              </a:rPr>
              <a:t>。</a:t>
            </a:r>
            <a:endParaRPr lang="zh-CN" altLang="zh-CN" sz="2300" b="1" kern="100" dirty="0">
              <a:latin typeface="Times New Roman" panose="02020603050405020304" pitchFamily="18" charset="0"/>
            </a:endParaRPr>
          </a:p>
          <a:p>
            <a:pPr marL="0" indent="0" algn="just">
              <a:lnSpc>
                <a:spcPct val="100000"/>
              </a:lnSpc>
              <a:spcBef>
                <a:spcPts val="600"/>
              </a:spcBef>
              <a:buNone/>
              <a:defRPr/>
            </a:pPr>
            <a:endParaRPr lang="zh-CN" altLang="zh-CN" sz="2000" b="1" kern="100" dirty="0">
              <a:latin typeface="Times New Roman" panose="02020603050405020304" pitchFamily="18" charset="0"/>
            </a:endParaRPr>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 拓扑控制</a:t>
            </a:r>
            <a:endParaRPr lang="zh-CN" altLang="en-US" b="1"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1400" y="1325563"/>
            <a:ext cx="10516235" cy="5405437"/>
          </a:xfrm>
        </p:spPr>
        <p:txBody>
          <a:bodyPr>
            <a:normAutofit/>
          </a:bodyPr>
          <a:lstStyle/>
          <a:p>
            <a:pPr marL="0" indent="0">
              <a:buNone/>
              <a:defRPr/>
            </a:pPr>
            <a:r>
              <a:rPr lang="zh-CN" altLang="en-US" b="1" dirty="0"/>
              <a:t>4.</a:t>
            </a:r>
            <a:r>
              <a:rPr lang="en-US" altLang="zh-CN" b="1" dirty="0"/>
              <a:t>2.2 </a:t>
            </a:r>
            <a:r>
              <a:rPr lang="zh-CN" altLang="en-US" b="1" dirty="0"/>
              <a:t>拓扑控制设计目标</a:t>
            </a:r>
            <a:endParaRPr lang="zh-CN" altLang="en-US" b="1" dirty="0"/>
          </a:p>
          <a:p>
            <a:pPr marL="0" indent="0" algn="just">
              <a:buNone/>
              <a:defRPr/>
            </a:pPr>
            <a:r>
              <a:rPr lang="en-US" altLang="zh-CN" sz="2000" kern="100" dirty="0">
                <a:latin typeface="Times New Roman" panose="02020603050405020304" pitchFamily="18" charset="0"/>
                <a:cs typeface="Times New Roman" panose="02020603050405020304" pitchFamily="18" charset="0"/>
              </a:rPr>
              <a:t>    </a:t>
            </a:r>
            <a:r>
              <a:rPr lang="zh-CN" altLang="zh-CN" sz="2000" b="1" kern="100" dirty="0">
                <a:cs typeface="Times New Roman" panose="02020603050405020304" pitchFamily="18" charset="0"/>
              </a:rPr>
              <a:t>拓扑控制研究的问题是：在保证一定的网络连通质量和覆盖质量的前提下，一般以延长网络的生命期为主要目标，通过功率控制和簇头节点选择，剔除节点之间不必要的通信链路，兼顾通信干扰、网络延迟、负载均衡、简单性、可靠性、可扩展性等其他性能，形成一个数据转发的优化网络拓扑结构。</a:t>
            </a:r>
            <a:endParaRPr lang="en-US" altLang="zh-CN" sz="2000" b="1" kern="100" dirty="0">
              <a:cs typeface="Times New Roman" panose="02020603050405020304" pitchFamily="18" charset="0"/>
            </a:endParaRPr>
          </a:p>
          <a:p>
            <a:pPr marL="0" indent="0" algn="just">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拓扑控制中一般要考虑的设计目标</a:t>
            </a:r>
            <a:r>
              <a:rPr lang="zh-CN" altLang="en-US" sz="2000" b="1" kern="100" dirty="0">
                <a:cs typeface="Times New Roman" panose="02020603050405020304" pitchFamily="18" charset="0"/>
              </a:rPr>
              <a:t>只要有：</a:t>
            </a:r>
            <a:endParaRPr lang="en-US" altLang="zh-CN" sz="2000" b="1" kern="100" dirty="0">
              <a:cs typeface="Times New Roman" panose="02020603050405020304" pitchFamily="18" charset="0"/>
            </a:endParaRPr>
          </a:p>
          <a:p>
            <a:pPr marL="0" indent="0">
              <a:spcBef>
                <a:spcPct val="0"/>
              </a:spcBef>
              <a:buNone/>
              <a:defRPr/>
            </a:pPr>
            <a:endParaRPr lang="en-US" altLang="zh-CN" sz="2000" b="1" dirty="0"/>
          </a:p>
          <a:p>
            <a:pPr marL="0" indent="0">
              <a:spcBef>
                <a:spcPct val="0"/>
              </a:spcBef>
              <a:buNone/>
              <a:defRPr/>
            </a:pPr>
            <a:endParaRPr lang="en-US" altLang="zh-CN" sz="2000" b="1" dirty="0"/>
          </a:p>
          <a:p>
            <a:pPr marL="0" indent="0">
              <a:spcBef>
                <a:spcPct val="0"/>
              </a:spcBef>
              <a:buNone/>
              <a:defRPr/>
            </a:pPr>
            <a:endParaRPr lang="en-US" altLang="zh-CN" sz="2000" b="1" dirty="0"/>
          </a:p>
          <a:p>
            <a:pPr marL="0" indent="0">
              <a:spcBef>
                <a:spcPct val="0"/>
              </a:spcBef>
              <a:buNone/>
              <a:defRPr/>
            </a:pPr>
            <a:endParaRPr lang="en-US" altLang="zh-CN" sz="2000" b="1" dirty="0"/>
          </a:p>
          <a:p>
            <a:pPr marL="0" indent="0">
              <a:spcBef>
                <a:spcPct val="0"/>
              </a:spcBef>
              <a:buNone/>
              <a:defRPr/>
            </a:pPr>
            <a:endParaRPr lang="en-US" altLang="zh-CN" sz="2000" b="1" dirty="0"/>
          </a:p>
          <a:p>
            <a:pPr marL="0" indent="0">
              <a:spcBef>
                <a:spcPct val="0"/>
              </a:spcBef>
              <a:buNone/>
              <a:defRPr/>
            </a:pPr>
            <a:endParaRPr lang="en-US" altLang="zh-CN" sz="2000" b="1" dirty="0"/>
          </a:p>
          <a:p>
            <a:pPr marL="0" indent="0">
              <a:spcBef>
                <a:spcPct val="0"/>
              </a:spcBef>
              <a:buNone/>
              <a:defRPr/>
            </a:pPr>
            <a:endParaRPr lang="zh-CN" altLang="zh-CN" sz="2000" b="1" dirty="0"/>
          </a:p>
          <a:p>
            <a:pPr marL="0" indent="0" algn="just">
              <a:buNone/>
              <a:defRPr/>
            </a:pPr>
            <a:r>
              <a:rPr lang="en-US" altLang="zh-CN" sz="2000" b="1" kern="100" dirty="0"/>
              <a:t>    </a:t>
            </a:r>
            <a:r>
              <a:rPr lang="zh-CN" altLang="zh-CN" sz="2000" b="1" kern="100" dirty="0"/>
              <a:t>在无线传感器网络中，拓扑控制的目的在于实现网络的连通</a:t>
            </a:r>
            <a:r>
              <a:rPr lang="en-US" altLang="zh-CN" sz="2000" b="1" kern="100" dirty="0"/>
              <a:t>(</a:t>
            </a:r>
            <a:r>
              <a:rPr lang="zh-CN" altLang="zh-CN" sz="2000" b="1" kern="100" dirty="0"/>
              <a:t>实时连通或者机会连通</a:t>
            </a:r>
            <a:r>
              <a:rPr lang="en-US" altLang="zh-CN" sz="2000" b="1" kern="100" dirty="0"/>
              <a:t>)</a:t>
            </a:r>
            <a:r>
              <a:rPr lang="zh-CN" altLang="zh-CN" sz="2000" b="1" kern="100" dirty="0"/>
              <a:t>，同时保证信息高效、可靠地传输。目前，主要的拓扑控制技术分为时间控制、空间控制和逻辑控制</a:t>
            </a:r>
            <a:r>
              <a:rPr lang="en-US" altLang="zh-CN" sz="2000" b="1" kern="100" dirty="0"/>
              <a:t>3</a:t>
            </a:r>
            <a:r>
              <a:rPr lang="zh-CN" altLang="zh-CN" sz="2000" b="1" kern="100" dirty="0"/>
              <a:t>种</a:t>
            </a:r>
            <a:r>
              <a:rPr lang="zh-CN" altLang="en-US" sz="2000" b="1" kern="100" dirty="0"/>
              <a:t>。</a:t>
            </a:r>
            <a:endParaRPr lang="zh-CN" altLang="zh-CN" sz="2000" b="1" kern="100" dirty="0"/>
          </a:p>
          <a:p>
            <a:pPr marL="0" indent="0" algn="just">
              <a:buNone/>
              <a:defRPr/>
            </a:pPr>
            <a:endParaRPr lang="zh-CN" altLang="en-US" sz="1800" dirty="0"/>
          </a:p>
        </p:txBody>
      </p:sp>
      <p:graphicFrame>
        <p:nvGraphicFramePr>
          <p:cNvPr id="13" name="表格 13"/>
          <p:cNvGraphicFramePr>
            <a:graphicFrameLocks noGrp="1"/>
          </p:cNvGraphicFramePr>
          <p:nvPr>
            <p:custDataLst>
              <p:tags r:id="rId1"/>
            </p:custDataLst>
          </p:nvPr>
        </p:nvGraphicFramePr>
        <p:xfrm>
          <a:off x="3048000" y="3429000"/>
          <a:ext cx="6096000" cy="1849439"/>
        </p:xfrm>
        <a:graphic>
          <a:graphicData uri="http://schemas.openxmlformats.org/drawingml/2006/table">
            <a:tbl>
              <a:tblPr firstRow="1" bandRow="1">
                <a:tableStyleId>{5C22544A-7EE6-4342-B048-85BDC9FD1C3A}</a:tableStyleId>
              </a:tblPr>
              <a:tblGrid>
                <a:gridCol w="3048000"/>
                <a:gridCol w="3048000"/>
              </a:tblGrid>
              <a:tr h="365823">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1</a:t>
                      </a:r>
                      <a:r>
                        <a:rPr lang="zh-CN" altLang="en-US" sz="1800" b="1" dirty="0">
                          <a:solidFill>
                            <a:schemeClr val="tx1"/>
                          </a:solidFill>
                          <a:latin typeface="宋体" panose="02010600030101010101" pitchFamily="2" charset="-122"/>
                          <a:ea typeface="宋体" panose="02010600030101010101" pitchFamily="2" charset="-122"/>
                        </a:rPr>
                        <a:t>）覆盖</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dirty="0">
                          <a:solidFill>
                            <a:schemeClr val="tx1"/>
                          </a:solidFill>
                          <a:latin typeface="宋体" panose="02010600030101010101" pitchFamily="2" charset="-122"/>
                          <a:ea typeface="宋体" panose="02010600030101010101" pitchFamily="2" charset="-122"/>
                        </a:rPr>
                        <a:t>2</a:t>
                      </a:r>
                      <a:r>
                        <a:rPr lang="zh-CN" altLang="zh-CN" sz="1800" b="1" dirty="0">
                          <a:solidFill>
                            <a:schemeClr val="tx1"/>
                          </a:solidFill>
                          <a:latin typeface="宋体" panose="02010600030101010101" pitchFamily="2" charset="-122"/>
                          <a:ea typeface="宋体" panose="02010600030101010101" pitchFamily="2" charset="-122"/>
                        </a:rPr>
                        <a:t>）连通</a:t>
                      </a:r>
                      <a:endParaRPr lang="en-US" altLang="zh-CN"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904">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dirty="0">
                          <a:solidFill>
                            <a:schemeClr val="tx1"/>
                          </a:solidFill>
                          <a:latin typeface="宋体" panose="02010600030101010101" pitchFamily="2" charset="-122"/>
                          <a:ea typeface="宋体" panose="02010600030101010101" pitchFamily="2" charset="-122"/>
                        </a:rPr>
                        <a:t>3</a:t>
                      </a:r>
                      <a:r>
                        <a:rPr lang="zh-CN" altLang="zh-CN" sz="1800" b="1" dirty="0">
                          <a:solidFill>
                            <a:schemeClr val="tx1"/>
                          </a:solidFill>
                          <a:latin typeface="宋体" panose="02010600030101010101" pitchFamily="2" charset="-122"/>
                          <a:ea typeface="宋体" panose="02010600030101010101" pitchFamily="2" charset="-122"/>
                        </a:rPr>
                        <a:t>）网络生命期</a:t>
                      </a:r>
                      <a:endParaRPr lang="zh-CN" altLang="zh-CN"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dirty="0">
                          <a:solidFill>
                            <a:schemeClr val="tx1"/>
                          </a:solidFill>
                          <a:latin typeface="宋体" panose="02010600030101010101" pitchFamily="2" charset="-122"/>
                          <a:ea typeface="宋体" panose="02010600030101010101" pitchFamily="2" charset="-122"/>
                        </a:rPr>
                        <a:t>4</a:t>
                      </a:r>
                      <a:r>
                        <a:rPr lang="zh-CN" altLang="zh-CN" sz="1800" b="1" dirty="0">
                          <a:solidFill>
                            <a:schemeClr val="tx1"/>
                          </a:solidFill>
                          <a:latin typeface="宋体" panose="02010600030101010101" pitchFamily="2" charset="-122"/>
                          <a:ea typeface="宋体" panose="02010600030101010101" pitchFamily="2" charset="-122"/>
                        </a:rPr>
                        <a:t>）吞吐能力</a:t>
                      </a:r>
                      <a:endParaRPr lang="en-US" altLang="zh-CN"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904">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5</a:t>
                      </a:r>
                      <a:r>
                        <a:rPr lang="zh-CN" altLang="zh-CN" sz="1800" b="1" dirty="0">
                          <a:solidFill>
                            <a:schemeClr val="tx1"/>
                          </a:solidFill>
                          <a:latin typeface="宋体" panose="02010600030101010101" pitchFamily="2" charset="-122"/>
                          <a:ea typeface="宋体" panose="02010600030101010101" pitchFamily="2" charset="-122"/>
                        </a:rPr>
                        <a:t>）干扰和竞争</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6</a:t>
                      </a:r>
                      <a:r>
                        <a:rPr lang="zh-CN" altLang="zh-CN" sz="1800" b="1" dirty="0">
                          <a:solidFill>
                            <a:schemeClr val="tx1"/>
                          </a:solidFill>
                          <a:latin typeface="宋体" panose="02010600030101010101" pitchFamily="2" charset="-122"/>
                          <a:ea typeface="宋体" panose="02010600030101010101" pitchFamily="2" charset="-122"/>
                        </a:rPr>
                        <a:t>）网络延迟</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904">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7</a:t>
                      </a:r>
                      <a:r>
                        <a:rPr lang="zh-CN" altLang="zh-CN" sz="1800" b="1" dirty="0">
                          <a:solidFill>
                            <a:schemeClr val="tx1"/>
                          </a:solidFill>
                          <a:latin typeface="宋体" panose="02010600030101010101" pitchFamily="2" charset="-122"/>
                          <a:ea typeface="宋体" panose="02010600030101010101" pitchFamily="2" charset="-122"/>
                        </a:rPr>
                        <a:t>）鲁棒性</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8</a:t>
                      </a:r>
                      <a:r>
                        <a:rPr lang="zh-CN" altLang="zh-CN" sz="1800" b="1" dirty="0">
                          <a:solidFill>
                            <a:schemeClr val="tx1"/>
                          </a:solidFill>
                          <a:latin typeface="宋体" panose="02010600030101010101" pitchFamily="2" charset="-122"/>
                          <a:ea typeface="宋体" panose="02010600030101010101" pitchFamily="2" charset="-122"/>
                        </a:rPr>
                        <a:t>）可扩展性</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904">
                <a:tc>
                  <a:txBody>
                    <a:bodyPr/>
                    <a:lstStyle/>
                    <a:p>
                      <a:pPr algn="l"/>
                      <a:r>
                        <a:rPr lang="en-US" altLang="zh-CN" sz="1800" b="1" dirty="0">
                          <a:solidFill>
                            <a:schemeClr val="tx1"/>
                          </a:solidFill>
                          <a:latin typeface="宋体" panose="02010600030101010101" pitchFamily="2" charset="-122"/>
                          <a:ea typeface="宋体" panose="02010600030101010101" pitchFamily="2" charset="-122"/>
                        </a:rPr>
                        <a:t>9</a:t>
                      </a:r>
                      <a:r>
                        <a:rPr lang="zh-CN" altLang="zh-CN" sz="1800" b="1" dirty="0">
                          <a:solidFill>
                            <a:schemeClr val="tx1"/>
                          </a:solidFill>
                          <a:latin typeface="宋体" panose="02010600030101010101" pitchFamily="2" charset="-122"/>
                          <a:ea typeface="宋体" panose="02010600030101010101" pitchFamily="2" charset="-122"/>
                        </a:rPr>
                        <a:t>）拓扑性质</a:t>
                      </a:r>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800" b="1" dirty="0">
                        <a:solidFill>
                          <a:schemeClr val="tx1"/>
                        </a:solidFill>
                        <a:latin typeface="宋体" panose="02010600030101010101" pitchFamily="2" charset="-122"/>
                        <a:ea typeface="宋体" panose="02010600030101010101" pitchFamily="2" charset="-122"/>
                      </a:endParaRPr>
                    </a:p>
                  </a:txBody>
                  <a:tcPr marT="45728" marB="45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 拓扑控制</a:t>
            </a:r>
            <a:endParaRPr lang="zh-CN" altLang="en-US" b="1"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
        <p:nvSpPr>
          <p:cNvPr id="5122" name="文本占位符 5122"/>
          <p:cNvSpPr>
            <a:spLocks noGrp="1" noChangeArrowheads="1"/>
          </p:cNvSpPr>
          <p:nvPr>
            <p:ph sz="half" idx="1"/>
          </p:nvPr>
        </p:nvSpPr>
        <p:spPr>
          <a:xfrm>
            <a:off x="1049866" y="1325563"/>
            <a:ext cx="10516235" cy="5075237"/>
          </a:xfrm>
        </p:spPr>
        <p:txBody>
          <a:bodyPr>
            <a:normAutofit/>
          </a:bodyPr>
          <a:lstStyle/>
          <a:p>
            <a:pPr marL="0" indent="0">
              <a:buNone/>
              <a:defRPr/>
            </a:pPr>
            <a:r>
              <a:rPr lang="zh-CN" altLang="en-US" b="1" dirty="0"/>
              <a:t>4.</a:t>
            </a:r>
            <a:r>
              <a:rPr lang="en-US" altLang="zh-CN" b="1" dirty="0"/>
              <a:t>2.3.1 </a:t>
            </a:r>
            <a:r>
              <a:rPr lang="zh-CN" altLang="zh-CN" b="1" dirty="0"/>
              <a:t>基于</a:t>
            </a:r>
            <a:r>
              <a:rPr lang="zh-CN" altLang="en-US" b="1" dirty="0"/>
              <a:t>邻近图</a:t>
            </a:r>
            <a:r>
              <a:rPr lang="zh-CN" altLang="zh-CN" b="1" dirty="0"/>
              <a:t>的功率控制</a:t>
            </a:r>
            <a:endParaRPr lang="en-US" altLang="zh-CN" b="1" dirty="0"/>
          </a:p>
          <a:p>
            <a:pPr marL="0" indent="0">
              <a:lnSpc>
                <a:spcPct val="100000"/>
              </a:lnSpc>
              <a:spcBef>
                <a:spcPts val="600"/>
              </a:spcBef>
              <a:buNone/>
              <a:defRPr/>
            </a:pPr>
            <a:r>
              <a:rPr lang="en-US" altLang="zh-CN" sz="1800" b="1" kern="100" dirty="0"/>
              <a:t>   </a:t>
            </a:r>
            <a:r>
              <a:rPr lang="zh-CN" altLang="zh-CN" sz="2000" b="1" kern="100" dirty="0"/>
              <a:t>基于邻近图的功率控制的基本思想如下：</a:t>
            </a:r>
            <a:endParaRPr lang="en-US" altLang="zh-CN" sz="2000" b="1" kern="100" dirty="0"/>
          </a:p>
          <a:p>
            <a:pPr marL="0" indent="0">
              <a:lnSpc>
                <a:spcPct val="100000"/>
              </a:lnSpc>
              <a:spcBef>
                <a:spcPts val="600"/>
              </a:spcBef>
              <a:buNone/>
              <a:defRPr/>
            </a:pPr>
            <a:r>
              <a:rPr lang="en-US" altLang="zh-CN" sz="2000" b="1" kern="100" dirty="0">
                <a:solidFill>
                  <a:srgbClr val="C00000"/>
                </a:solidFill>
              </a:rPr>
              <a:t>   </a:t>
            </a:r>
            <a:r>
              <a:rPr lang="zh-CN" altLang="zh-CN" sz="2000" b="1" kern="100" dirty="0">
                <a:solidFill>
                  <a:srgbClr val="C00000"/>
                </a:solidFill>
              </a:rPr>
              <a:t>设所有节点都使用最大发射功率发射时形成的拓扑图是</a:t>
            </a:r>
            <a:r>
              <a:rPr lang="en-US" altLang="zh-CN" sz="2000" b="1" kern="100" dirty="0">
                <a:solidFill>
                  <a:srgbClr val="C00000"/>
                </a:solidFill>
              </a:rPr>
              <a:t>G</a:t>
            </a:r>
            <a:r>
              <a:rPr lang="zh-CN" altLang="zh-CN" sz="2000" b="1" kern="100" dirty="0">
                <a:solidFill>
                  <a:srgbClr val="C00000"/>
                </a:solidFill>
              </a:rPr>
              <a:t>，按照一定的邻居判别条件求出该图的临近图</a:t>
            </a:r>
            <a:r>
              <a:rPr lang="en-US" altLang="zh-CN" sz="2000" b="1" kern="100" dirty="0">
                <a:solidFill>
                  <a:srgbClr val="C00000"/>
                </a:solidFill>
              </a:rPr>
              <a:t>G'</a:t>
            </a:r>
            <a:r>
              <a:rPr lang="zh-CN" altLang="zh-CN" sz="2000" b="1" kern="100" dirty="0">
                <a:solidFill>
                  <a:srgbClr val="C00000"/>
                </a:solidFill>
              </a:rPr>
              <a:t>，每个节点以自己所邻接的最远节点来确定发射功率</a:t>
            </a:r>
            <a:r>
              <a:rPr lang="zh-CN" altLang="zh-CN" sz="2000" b="1" kern="100" dirty="0"/>
              <a:t>，这是一种解决功率分配问题的近似解法。考虑到传感器网络中两个节点形成的边是有向的，为了避免形成单向边，一般在运用基于临近图的算法形成网络拓扑之后，还需要进行节点之间的增删，以使最后得到的网络拓扑是双向连通的。</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在已有的传感器网络拓扑算法中，</a:t>
            </a:r>
            <a:r>
              <a:rPr lang="en-US" altLang="zh-CN" sz="2000" b="1" kern="100" dirty="0"/>
              <a:t>LMST</a:t>
            </a:r>
            <a:r>
              <a:rPr lang="zh-CN" altLang="zh-CN" sz="2000" b="1" kern="100" dirty="0"/>
              <a:t>（</a:t>
            </a:r>
            <a:r>
              <a:rPr lang="en-US" altLang="zh-CN" sz="2000" b="1" kern="100" dirty="0"/>
              <a:t>Local Minimum Spanning Tree</a:t>
            </a:r>
            <a:r>
              <a:rPr lang="zh-CN" altLang="zh-CN" sz="2000" b="1" kern="100" dirty="0"/>
              <a:t>）是最典型的基于临近图的算法。其</a:t>
            </a:r>
            <a:r>
              <a:rPr lang="zh-CN" altLang="en-US" sz="2000" b="1" kern="100" dirty="0"/>
              <a:t>主要有如下四个步骤：</a:t>
            </a:r>
            <a:endParaRPr lang="en-US" altLang="zh-CN" sz="2000" b="1" kern="100" dirty="0"/>
          </a:p>
          <a:p>
            <a:pPr marL="800100" lvl="2" indent="0">
              <a:lnSpc>
                <a:spcPct val="100000"/>
              </a:lnSpc>
              <a:spcBef>
                <a:spcPts val="600"/>
              </a:spcBef>
              <a:buNone/>
              <a:defRPr/>
            </a:pPr>
            <a:r>
              <a:rPr lang="en-US" altLang="zh-CN" b="1" kern="100" dirty="0"/>
              <a:t>1</a:t>
            </a:r>
            <a:r>
              <a:rPr lang="zh-CN" altLang="zh-CN" b="1" kern="100" dirty="0">
                <a:cs typeface="Times New Roman" panose="02020603050405020304" pitchFamily="18" charset="0"/>
              </a:rPr>
              <a:t>）信息交互阶段</a:t>
            </a:r>
            <a:endParaRPr lang="en-US" altLang="zh-CN" b="1" kern="100" dirty="0">
              <a:cs typeface="Times New Roman" panose="02020603050405020304" pitchFamily="18" charset="0"/>
            </a:endParaRPr>
          </a:p>
          <a:p>
            <a:pPr marL="800100" lvl="2" indent="0">
              <a:lnSpc>
                <a:spcPct val="100000"/>
              </a:lnSpc>
              <a:spcBef>
                <a:spcPts val="600"/>
              </a:spcBef>
              <a:buNone/>
              <a:defRPr/>
            </a:pPr>
            <a:r>
              <a:rPr lang="en-US" altLang="zh-CN" b="1" kern="100" dirty="0"/>
              <a:t>2</a:t>
            </a:r>
            <a:r>
              <a:rPr lang="zh-CN" altLang="zh-CN" b="1" kern="100" dirty="0">
                <a:cs typeface="Times New Roman" panose="02020603050405020304" pitchFamily="18" charset="0"/>
              </a:rPr>
              <a:t>）拓扑构建阶段</a:t>
            </a:r>
            <a:endParaRPr lang="en-US" altLang="zh-CN" b="1" kern="100" dirty="0">
              <a:cs typeface="Times New Roman" panose="02020603050405020304" pitchFamily="18" charset="0"/>
            </a:endParaRPr>
          </a:p>
          <a:p>
            <a:pPr marL="800100" lvl="2" indent="0">
              <a:lnSpc>
                <a:spcPct val="100000"/>
              </a:lnSpc>
              <a:spcBef>
                <a:spcPts val="600"/>
              </a:spcBef>
              <a:buNone/>
              <a:defRPr/>
            </a:pPr>
            <a:r>
              <a:rPr lang="en-US" altLang="zh-CN" b="1" kern="100" dirty="0"/>
              <a:t>3</a:t>
            </a:r>
            <a:r>
              <a:rPr lang="zh-CN" altLang="zh-CN" b="1" kern="100" dirty="0">
                <a:cs typeface="Times New Roman" panose="02020603050405020304" pitchFamily="18" charset="0"/>
              </a:rPr>
              <a:t>）传输功率确定阶段</a:t>
            </a:r>
            <a:endParaRPr lang="en-US" altLang="zh-CN" b="1" kern="100" dirty="0">
              <a:cs typeface="Times New Roman" panose="02020603050405020304" pitchFamily="18" charset="0"/>
            </a:endParaRPr>
          </a:p>
          <a:p>
            <a:pPr marL="800100" lvl="2" indent="0">
              <a:lnSpc>
                <a:spcPct val="100000"/>
              </a:lnSpc>
              <a:spcBef>
                <a:spcPts val="600"/>
              </a:spcBef>
              <a:buNone/>
              <a:defRPr/>
            </a:pPr>
            <a:r>
              <a:rPr lang="en-US" altLang="zh-CN" b="1" kern="100" dirty="0">
                <a:cs typeface="宋体" panose="02010600030101010101" pitchFamily="2" charset="-122"/>
              </a:rPr>
              <a:t>4</a:t>
            </a:r>
            <a:r>
              <a:rPr lang="zh-CN" altLang="zh-CN" b="1" kern="100" dirty="0">
                <a:cs typeface="宋体" panose="02010600030101010101" pitchFamily="2" charset="-122"/>
              </a:rPr>
              <a:t>）</a:t>
            </a:r>
            <a:r>
              <a:rPr lang="zh-CN" altLang="zh-CN" b="1" kern="100" dirty="0">
                <a:cs typeface="Times New Roman" panose="02020603050405020304" pitchFamily="18" charset="0"/>
              </a:rPr>
              <a:t>双向化处理阶段</a:t>
            </a:r>
            <a:endParaRPr lang="en-US" altLang="zh-CN" b="1" kern="100" dirty="0">
              <a:cs typeface="Times New Roman" panose="02020603050405020304" pitchFamily="18" charset="0"/>
            </a:endParaRPr>
          </a:p>
          <a:p>
            <a:pPr marL="0" indent="0">
              <a:buNone/>
              <a:defRPr/>
            </a:pPr>
            <a:endParaRPr lang="zh-CN" altLang="zh-CN" sz="1800" b="1" kern="100" dirty="0">
              <a:solidFill>
                <a:schemeClr val="bg2"/>
              </a:solidFill>
            </a:endParaRPr>
          </a:p>
          <a:p>
            <a:pPr marL="0" indent="0">
              <a:buNone/>
              <a:defRPr/>
            </a:pPr>
            <a:endParaRPr lang="zh-CN" altLang="zh-CN" sz="18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838200" y="1569085"/>
            <a:ext cx="10789920" cy="4709795"/>
          </a:xfrm>
        </p:spPr>
        <p:txBody>
          <a:bodyPr/>
          <a:lstStyle/>
          <a:p>
            <a:pPr marL="0" indent="0">
              <a:buNone/>
              <a:defRPr/>
            </a:pPr>
            <a:r>
              <a:rPr lang="zh-CN" altLang="en-US" b="1" dirty="0"/>
              <a:t>4.</a:t>
            </a:r>
            <a:r>
              <a:rPr lang="en-US" altLang="zh-CN" b="1" dirty="0"/>
              <a:t>2.3.2 </a:t>
            </a:r>
            <a:r>
              <a:rPr lang="zh-CN" altLang="zh-CN" b="1" dirty="0"/>
              <a:t>基于节点度的功率控制</a:t>
            </a:r>
            <a:endParaRPr lang="zh-CN" altLang="en-US" b="1" dirty="0"/>
          </a:p>
          <a:p>
            <a:pPr marL="0" indent="0">
              <a:lnSpc>
                <a:spcPct val="100000"/>
              </a:lnSpc>
              <a:spcBef>
                <a:spcPts val="600"/>
              </a:spcBef>
              <a:buNone/>
              <a:defRPr/>
            </a:pPr>
            <a:r>
              <a:rPr lang="en-US" altLang="zh-CN" sz="1800" b="1" kern="100" dirty="0">
                <a:solidFill>
                  <a:schemeClr val="bg2"/>
                </a:solidFill>
              </a:rPr>
              <a:t>   </a:t>
            </a:r>
            <a:r>
              <a:rPr lang="zh-CN" altLang="zh-CN" sz="2000" b="1" kern="100" dirty="0"/>
              <a:t>算法的核心思想是</a:t>
            </a:r>
            <a:r>
              <a:rPr lang="zh-CN" altLang="zh-CN" sz="2000" b="1" kern="100" dirty="0">
                <a:solidFill>
                  <a:srgbClr val="C00000"/>
                </a:solidFill>
              </a:rPr>
              <a:t>给定节点度的上限和下限需求，动态调整节点的发射功率，使得节点的度数落在上限和下限之间</a:t>
            </a:r>
            <a:r>
              <a:rPr lang="zh-CN" altLang="zh-CN" sz="2000" b="1" kern="100" dirty="0"/>
              <a:t>。算法利用局部信息来调整相邻节点间的连通性，从而保证整个网络的连通性，同时保证节点间的链路具有一定的冗余性和可扩展性。</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本地平均算法（</a:t>
            </a:r>
            <a:r>
              <a:rPr lang="en-US" altLang="zh-CN" sz="2000" b="1" kern="100" dirty="0"/>
              <a:t>Local Mean Algorithm, LMA</a:t>
            </a:r>
            <a:r>
              <a:rPr lang="zh-CN" altLang="zh-CN" sz="2000" b="1" kern="100" dirty="0"/>
              <a:t>）和本地邻居平均算法（</a:t>
            </a:r>
            <a:r>
              <a:rPr lang="en-US" altLang="zh-CN" sz="2000" b="1" kern="100" dirty="0"/>
              <a:t>Local Mean of Neighbors Algorithm, LMN</a:t>
            </a:r>
            <a:r>
              <a:rPr lang="zh-CN" altLang="zh-CN" sz="2000" b="1" kern="100" dirty="0"/>
              <a:t>）是两种周则性动态调整节点发射功率的算法，它们之间的区别在于</a:t>
            </a:r>
            <a:r>
              <a:rPr lang="zh-CN" altLang="zh-CN" sz="2000" b="1" kern="100" dirty="0">
                <a:solidFill>
                  <a:srgbClr val="C00000"/>
                </a:solidFill>
              </a:rPr>
              <a:t>计算节点度的策略不同</a:t>
            </a:r>
            <a:r>
              <a:rPr lang="zh-CN" altLang="zh-CN" sz="2000" b="1" kern="100" dirty="0">
                <a:solidFill>
                  <a:schemeClr val="bg2"/>
                </a:solidFill>
              </a:rPr>
              <a:t>。</a:t>
            </a:r>
            <a:endParaRPr lang="en-US" altLang="zh-CN" sz="2000" b="1" kern="100" dirty="0">
              <a:solidFill>
                <a:schemeClr val="bg2"/>
              </a:solidFill>
            </a:endParaRPr>
          </a:p>
          <a:p>
            <a:pPr marL="0" indent="0">
              <a:lnSpc>
                <a:spcPct val="100000"/>
              </a:lnSpc>
              <a:spcBef>
                <a:spcPts val="600"/>
              </a:spcBef>
              <a:buNone/>
              <a:defRPr/>
            </a:pPr>
            <a:r>
              <a:rPr lang="en-US" altLang="zh-CN" sz="2000" b="1" kern="100" dirty="0"/>
              <a:t>1</a:t>
            </a:r>
            <a:r>
              <a:rPr lang="zh-CN" altLang="zh-CN" sz="2000" b="1" kern="100" dirty="0"/>
              <a:t>）</a:t>
            </a:r>
            <a:r>
              <a:rPr lang="en-US" altLang="zh-CN" sz="2000" b="1" kern="100" dirty="0"/>
              <a:t>LMA</a:t>
            </a:r>
            <a:r>
              <a:rPr lang="zh-CN" altLang="en-US" sz="2000" b="1" kern="100" dirty="0"/>
              <a:t>具体步骤</a:t>
            </a:r>
            <a:endParaRPr lang="zh-CN" altLang="zh-CN" sz="2000" b="1" kern="100" dirty="0"/>
          </a:p>
          <a:p>
            <a:pPr indent="0">
              <a:lnSpc>
                <a:spcPct val="100000"/>
              </a:lnSpc>
              <a:spcBef>
                <a:spcPts val="600"/>
              </a:spcBef>
              <a:buNone/>
              <a:defRPr/>
            </a:pPr>
            <a:r>
              <a:rPr lang="zh-CN" altLang="zh-CN" sz="2000" b="1" kern="100" dirty="0"/>
              <a:t>①每个节点初始具有系统的发射功率</a:t>
            </a:r>
            <a:r>
              <a:rPr lang="en-US" altLang="zh-CN" sz="2000" b="1" kern="100" dirty="0"/>
              <a:t>PT</a:t>
            </a:r>
            <a:r>
              <a:rPr lang="zh-CN" altLang="zh-CN" sz="2000" b="1" kern="100" dirty="0"/>
              <a:t>，每个节点定期广播一个包含有自己</a:t>
            </a:r>
            <a:r>
              <a:rPr lang="en-US" altLang="zh-CN" sz="2000" b="1" kern="100" dirty="0"/>
              <a:t>ID</a:t>
            </a:r>
            <a:r>
              <a:rPr lang="zh-CN" altLang="zh-CN" sz="2000" b="1" kern="100" dirty="0"/>
              <a:t>的</a:t>
            </a:r>
            <a:r>
              <a:rPr lang="en-US" altLang="zh-CN" sz="2000" b="1" kern="100" dirty="0" err="1"/>
              <a:t>LifeMsg</a:t>
            </a:r>
            <a:r>
              <a:rPr lang="zh-CN" altLang="zh-CN" sz="2000" b="1" kern="100" dirty="0"/>
              <a:t>消息；</a:t>
            </a:r>
            <a:endParaRPr lang="zh-CN" altLang="zh-CN" sz="2000" b="1" kern="100" dirty="0"/>
          </a:p>
          <a:p>
            <a:pPr indent="0">
              <a:lnSpc>
                <a:spcPct val="100000"/>
              </a:lnSpc>
              <a:spcBef>
                <a:spcPts val="600"/>
              </a:spcBef>
              <a:buNone/>
              <a:defRPr/>
            </a:pPr>
            <a:r>
              <a:rPr lang="zh-CN" altLang="zh-CN" sz="2000" b="1" kern="100" dirty="0"/>
              <a:t>②如果节点收到</a:t>
            </a:r>
            <a:r>
              <a:rPr lang="en-US" altLang="zh-CN" sz="2000" b="1" kern="100" dirty="0" err="1"/>
              <a:t>LifeMsg</a:t>
            </a:r>
            <a:r>
              <a:rPr lang="zh-CN" altLang="zh-CN" sz="2000" b="1" kern="100" dirty="0"/>
              <a:t>消息，则发送一个</a:t>
            </a:r>
            <a:r>
              <a:rPr lang="en-US" altLang="zh-CN" sz="2000" b="1" kern="100" dirty="0" err="1"/>
              <a:t>LifeAckMsg</a:t>
            </a:r>
            <a:r>
              <a:rPr lang="zh-CN" altLang="zh-CN" sz="2000" b="1" kern="100" dirty="0"/>
              <a:t>消息，该消息包含所应答的</a:t>
            </a:r>
            <a:r>
              <a:rPr lang="en-US" altLang="zh-CN" sz="2000" b="1" kern="100" dirty="0" err="1"/>
              <a:t>LifeMsg</a:t>
            </a:r>
            <a:r>
              <a:rPr lang="zh-CN" altLang="zh-CN" sz="2000" b="1" kern="100" dirty="0"/>
              <a:t>消息中的节点</a:t>
            </a:r>
            <a:r>
              <a:rPr lang="en-US" altLang="zh-CN" sz="2000" b="1" kern="100" dirty="0"/>
              <a:t>ID</a:t>
            </a:r>
            <a:r>
              <a:rPr lang="zh-CN" altLang="zh-CN" sz="2000" b="1" kern="100" dirty="0"/>
              <a:t>；</a:t>
            </a:r>
            <a:endParaRPr lang="zh-CN" altLang="zh-CN" sz="2000" b="1" kern="100" dirty="0"/>
          </a:p>
          <a:p>
            <a:pPr indent="0">
              <a:lnSpc>
                <a:spcPct val="100000"/>
              </a:lnSpc>
              <a:spcBef>
                <a:spcPts val="600"/>
              </a:spcBef>
              <a:buNone/>
              <a:defRPr/>
            </a:pPr>
            <a:r>
              <a:rPr lang="zh-CN" altLang="zh-CN" sz="2000" b="1" kern="100" dirty="0"/>
              <a:t>③每个节点再次发送</a:t>
            </a:r>
            <a:r>
              <a:rPr lang="en-US" altLang="zh-CN" sz="2000" b="1" kern="100" dirty="0" err="1"/>
              <a:t>LifeMsg</a:t>
            </a:r>
            <a:r>
              <a:rPr lang="zh-CN" altLang="zh-CN" sz="2000" b="1" kern="100" dirty="0"/>
              <a:t>时，首先检查已经收到的</a:t>
            </a:r>
            <a:r>
              <a:rPr lang="en-US" altLang="zh-CN" sz="2000" b="1" kern="100" dirty="0" err="1"/>
              <a:t>LifeAckMsg</a:t>
            </a:r>
            <a:r>
              <a:rPr lang="zh-CN" altLang="zh-CN" sz="2000" b="1" kern="100" dirty="0"/>
              <a:t>消息，利用这些消息统计自己的邻居节点数</a:t>
            </a:r>
            <a:r>
              <a:rPr lang="en-US" altLang="zh-CN" sz="2000" b="1" kern="100" dirty="0" err="1"/>
              <a:t>NodeResp</a:t>
            </a:r>
            <a:r>
              <a:rPr lang="zh-CN" altLang="zh-CN" sz="2000" b="1" kern="100" dirty="0"/>
              <a:t>；</a:t>
            </a:r>
            <a:endParaRPr lang="zh-CN" altLang="en-US" sz="18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342265" y="1599565"/>
            <a:ext cx="11548745" cy="1461770"/>
          </a:xfrm>
        </p:spPr>
        <p:txBody>
          <a:bodyPr>
            <a:noAutofit/>
          </a:bodyPr>
          <a:lstStyle/>
          <a:p>
            <a:pPr indent="0" algn="just">
              <a:buNone/>
              <a:defRPr/>
            </a:pPr>
            <a:r>
              <a:rPr lang="en-US" altLang="zh-CN" sz="2400" b="1" kern="100" dirty="0"/>
              <a:t>   </a:t>
            </a:r>
            <a:r>
              <a:rPr lang="zh-CN" altLang="zh-CN" sz="2400" b="1" kern="100" dirty="0"/>
              <a:t>④如果</a:t>
            </a:r>
            <a:r>
              <a:rPr lang="en-US" altLang="zh-CN" sz="2400" b="1" kern="100" dirty="0" err="1"/>
              <a:t>NodeResp</a:t>
            </a:r>
            <a:r>
              <a:rPr lang="zh-CN" altLang="zh-CN" sz="2400" b="1" kern="100" dirty="0"/>
              <a:t>小于邻居数下限</a:t>
            </a:r>
            <a:r>
              <a:rPr lang="en-US" altLang="zh-CN" sz="2400" b="1" kern="100" dirty="0" err="1"/>
              <a:t>NodeMinTresh</a:t>
            </a:r>
            <a:r>
              <a:rPr lang="zh-CN" altLang="zh-CN" sz="2400" b="1" kern="100" dirty="0"/>
              <a:t>，则节点在这轮发送中增大发射功率，但是发射功率不能超过初始发射功率的</a:t>
            </a:r>
            <a:r>
              <a:rPr lang="en-US" altLang="zh-CN" sz="2400" b="1" kern="100" dirty="0" err="1"/>
              <a:t>Bmax</a:t>
            </a:r>
            <a:r>
              <a:rPr lang="zh-CN" altLang="zh-CN" sz="2400" b="1" kern="100" dirty="0"/>
              <a:t>倍，如式</a:t>
            </a:r>
            <a:r>
              <a:rPr lang="en-US" altLang="zh-CN" sz="2400" b="1" kern="100" dirty="0"/>
              <a:t>(4-2-3)</a:t>
            </a:r>
            <a:r>
              <a:rPr lang="zh-CN" altLang="zh-CN" sz="2400" b="1" kern="100" dirty="0"/>
              <a:t>所示；如果</a:t>
            </a:r>
            <a:r>
              <a:rPr lang="en-US" altLang="zh-CN" sz="2400" b="1" kern="100" dirty="0" err="1"/>
              <a:t>NodeResp</a:t>
            </a:r>
            <a:r>
              <a:rPr lang="zh-CN" altLang="zh-CN" sz="2400" b="1" kern="100" dirty="0"/>
              <a:t>大于或者等于邻居数下限</a:t>
            </a:r>
            <a:r>
              <a:rPr lang="en-US" altLang="zh-CN" sz="2400" b="1" kern="100" dirty="0" err="1"/>
              <a:t>NodeMaxTresh</a:t>
            </a:r>
            <a:r>
              <a:rPr lang="zh-CN" altLang="zh-CN" sz="2400" b="1" kern="100" dirty="0"/>
              <a:t>，则节点在这轮发送中减小发射功率，如式</a:t>
            </a:r>
            <a:r>
              <a:rPr lang="en-US" altLang="zh-CN" sz="2400" b="1" kern="100" dirty="0"/>
              <a:t>(4-2-4)</a:t>
            </a:r>
            <a:r>
              <a:rPr lang="zh-CN" altLang="zh-CN" sz="2400" b="1" kern="100" dirty="0"/>
              <a:t>所示，其中</a:t>
            </a:r>
            <a:r>
              <a:rPr lang="en-US" altLang="zh-CN" sz="2400" b="1" kern="100" dirty="0" err="1"/>
              <a:t>Bmax</a:t>
            </a:r>
            <a:r>
              <a:rPr lang="zh-CN" altLang="zh-CN" sz="2400" b="1" kern="100" dirty="0"/>
              <a:t>、</a:t>
            </a:r>
            <a:r>
              <a:rPr lang="en-US" altLang="zh-CN" sz="2400" b="1" kern="100" dirty="0" err="1"/>
              <a:t>Bmin</a:t>
            </a:r>
            <a:r>
              <a:rPr lang="zh-CN" altLang="zh-CN" sz="2400" b="1" kern="100" dirty="0"/>
              <a:t>、</a:t>
            </a:r>
            <a:r>
              <a:rPr lang="en-US" altLang="zh-CN" sz="2400" b="1" kern="100" dirty="0" err="1"/>
              <a:t>Ainc</a:t>
            </a:r>
            <a:r>
              <a:rPr lang="zh-CN" altLang="zh-CN" sz="2400" b="1" kern="100" dirty="0"/>
              <a:t>、</a:t>
            </a:r>
            <a:r>
              <a:rPr lang="en-US" altLang="zh-CN" sz="2400" b="1" kern="100" dirty="0" err="1"/>
              <a:t>Adec</a:t>
            </a:r>
            <a:r>
              <a:rPr lang="zh-CN" altLang="zh-CN" sz="2400" b="1" kern="100" dirty="0"/>
              <a:t>是</a:t>
            </a:r>
            <a:r>
              <a:rPr lang="en-US" altLang="zh-CN" sz="2400" b="1" kern="100" dirty="0"/>
              <a:t>4</a:t>
            </a:r>
            <a:r>
              <a:rPr lang="zh-CN" altLang="zh-CN" sz="2400" b="1" kern="100" dirty="0"/>
              <a:t>个功率调节参数</a:t>
            </a:r>
            <a:r>
              <a:rPr lang="zh-CN" altLang="en-US" sz="2400" b="1" kern="100" dirty="0"/>
              <a:t>。</a:t>
            </a:r>
            <a:endParaRPr lang="zh-CN" altLang="en-US" sz="2400" b="1" kern="100" dirty="0"/>
          </a:p>
        </p:txBody>
      </p:sp>
      <p:graphicFrame>
        <p:nvGraphicFramePr>
          <p:cNvPr id="31748" name="对象 2"/>
          <p:cNvGraphicFramePr>
            <a:graphicFrameLocks noChangeAspect="1"/>
          </p:cNvGraphicFramePr>
          <p:nvPr/>
        </p:nvGraphicFramePr>
        <p:xfrm>
          <a:off x="1214120" y="3235325"/>
          <a:ext cx="8808720" cy="523240"/>
        </p:xfrm>
        <a:graphic>
          <a:graphicData uri="http://schemas.openxmlformats.org/presentationml/2006/ole">
            <mc:AlternateContent xmlns:mc="http://schemas.openxmlformats.org/markup-compatibility/2006">
              <mc:Choice xmlns:v="urn:schemas-microsoft-com:vml" Requires="v">
                <p:oleObj spid="_x0000_s19588" name="Equation" r:id="rId1" imgW="3849370" imgH="229870" progId="Equation.DSMT4">
                  <p:embed/>
                </p:oleObj>
              </mc:Choice>
              <mc:Fallback>
                <p:oleObj name="Equation" r:id="rId1" imgW="3849370" imgH="229870" progId="Equation.DSMT4">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120" y="3235325"/>
                        <a:ext cx="8808720" cy="523240"/>
                      </a:xfrm>
                      <a:prstGeom prst="rect">
                        <a:avLst/>
                      </a:prstGeom>
                      <a:noFill/>
                      <a:ln>
                        <a:noFill/>
                      </a:ln>
                    </p:spPr>
                  </p:pic>
                </p:oleObj>
              </mc:Fallback>
            </mc:AlternateContent>
          </a:graphicData>
        </a:graphic>
      </p:graphicFrame>
      <p:graphicFrame>
        <p:nvGraphicFramePr>
          <p:cNvPr id="31749" name="对象 3"/>
          <p:cNvGraphicFramePr>
            <a:graphicFrameLocks noChangeAspect="1"/>
          </p:cNvGraphicFramePr>
          <p:nvPr/>
        </p:nvGraphicFramePr>
        <p:xfrm>
          <a:off x="1214120" y="4043680"/>
          <a:ext cx="8870315" cy="487045"/>
        </p:xfrm>
        <a:graphic>
          <a:graphicData uri="http://schemas.openxmlformats.org/presentationml/2006/ole">
            <mc:AlternateContent xmlns:mc="http://schemas.openxmlformats.org/markup-compatibility/2006">
              <mc:Choice xmlns:v="urn:schemas-microsoft-com:vml" Requires="v">
                <p:oleObj spid="_x0000_s19589" name="Equation" r:id="rId3" imgW="4163695" imgH="229870" progId="Equation.DSMT4">
                  <p:embed/>
                </p:oleObj>
              </mc:Choice>
              <mc:Fallback>
                <p:oleObj name="Equation" r:id="rId3" imgW="4163695" imgH="22987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120" y="4043680"/>
                        <a:ext cx="8870315" cy="487045"/>
                      </a:xfrm>
                      <a:prstGeom prst="rect">
                        <a:avLst/>
                      </a:prstGeom>
                      <a:noFill/>
                      <a:ln>
                        <a:noFill/>
                      </a:ln>
                    </p:spPr>
                  </p:pic>
                </p:oleObj>
              </mc:Fallback>
            </mc:AlternateContent>
          </a:graphicData>
        </a:graphic>
      </p:graphicFrame>
      <p:sp>
        <p:nvSpPr>
          <p:cNvPr id="8" name="文本框 7"/>
          <p:cNvSpPr txBox="1"/>
          <p:nvPr/>
        </p:nvSpPr>
        <p:spPr>
          <a:xfrm>
            <a:off x="10363412" y="3390369"/>
            <a:ext cx="990600" cy="307975"/>
          </a:xfrm>
          <a:prstGeom prst="rect">
            <a:avLst/>
          </a:prstGeom>
          <a:noFill/>
        </p:spPr>
        <p:txBody>
          <a:bodyPr>
            <a:spAutoFit/>
          </a:bodyPr>
          <a:lstStyle/>
          <a:p>
            <a:pPr>
              <a:defRPr/>
            </a:pPr>
            <a:r>
              <a:rPr lang="zh-CN" altLang="zh-CN" sz="1400" b="1" kern="100" dirty="0">
                <a:latin typeface="宋体" panose="02010600030101010101" pitchFamily="2" charset="-122"/>
                <a:ea typeface="宋体" panose="02010600030101010101" pitchFamily="2" charset="-122"/>
              </a:rPr>
              <a:t>式</a:t>
            </a:r>
            <a:r>
              <a:rPr lang="en-US" altLang="zh-CN" sz="1400" b="1" kern="100" dirty="0">
                <a:latin typeface="宋体" panose="02010600030101010101" pitchFamily="2" charset="-122"/>
                <a:ea typeface="宋体" panose="02010600030101010101" pitchFamily="2" charset="-122"/>
              </a:rPr>
              <a:t>(4-2-3)</a:t>
            </a:r>
            <a:endParaRPr lang="zh-CN" altLang="en-US" sz="1400" dirty="0">
              <a:latin typeface="宋体" panose="02010600030101010101" pitchFamily="2" charset="-122"/>
              <a:ea typeface="宋体" panose="02010600030101010101" pitchFamily="2" charset="-122"/>
            </a:endParaRPr>
          </a:p>
        </p:txBody>
      </p:sp>
      <p:sp>
        <p:nvSpPr>
          <p:cNvPr id="9" name="文本框 8"/>
          <p:cNvSpPr txBox="1"/>
          <p:nvPr/>
        </p:nvSpPr>
        <p:spPr>
          <a:xfrm>
            <a:off x="10232602" y="4092363"/>
            <a:ext cx="990600" cy="307975"/>
          </a:xfrm>
          <a:prstGeom prst="rect">
            <a:avLst/>
          </a:prstGeom>
          <a:noFill/>
        </p:spPr>
        <p:txBody>
          <a:bodyPr>
            <a:spAutoFit/>
          </a:bodyPr>
          <a:lstStyle/>
          <a:p>
            <a:pPr>
              <a:defRPr/>
            </a:pPr>
            <a:r>
              <a:rPr lang="zh-CN" altLang="zh-CN" sz="1400" b="1" kern="100" dirty="0">
                <a:latin typeface="宋体" panose="02010600030101010101" pitchFamily="2" charset="-122"/>
                <a:ea typeface="宋体" panose="02010600030101010101" pitchFamily="2" charset="-122"/>
              </a:rPr>
              <a:t>式</a:t>
            </a:r>
            <a:r>
              <a:rPr lang="en-US" altLang="zh-CN" sz="1400" b="1" kern="100" dirty="0">
                <a:latin typeface="宋体" panose="02010600030101010101" pitchFamily="2" charset="-122"/>
                <a:ea typeface="宋体" panose="02010600030101010101" pitchFamily="2" charset="-122"/>
              </a:rPr>
              <a:t>(4-2-4)</a:t>
            </a:r>
            <a:endParaRPr lang="zh-CN" altLang="en-US" sz="1400" dirty="0">
              <a:latin typeface="宋体" panose="02010600030101010101" pitchFamily="2" charset="-122"/>
              <a:ea typeface="宋体" panose="02010600030101010101" pitchFamily="2" charset="-122"/>
            </a:endParaRPr>
          </a:p>
        </p:txBody>
      </p:sp>
      <p:sp>
        <p:nvSpPr>
          <p:cNvPr id="12" name="文本框 11"/>
          <p:cNvSpPr txBox="1"/>
          <p:nvPr/>
        </p:nvSpPr>
        <p:spPr>
          <a:xfrm>
            <a:off x="605155" y="4739640"/>
            <a:ext cx="11143615" cy="1568450"/>
          </a:xfrm>
          <a:prstGeom prst="rect">
            <a:avLst/>
          </a:prstGeom>
          <a:noFill/>
        </p:spPr>
        <p:txBody>
          <a:bodyPr wrap="square">
            <a:spAutoFit/>
          </a:bodyPr>
          <a:lstStyle/>
          <a:p>
            <a:pPr algn="just">
              <a:defRPr/>
            </a:pPr>
            <a:r>
              <a:rPr lang="en-US" altLang="zh-CN" sz="2400" b="1" kern="100" dirty="0">
                <a:latin typeface="宋体" panose="02010600030101010101" pitchFamily="2" charset="-122"/>
                <a:ea typeface="宋体" panose="02010600030101010101" pitchFamily="2" charset="-122"/>
              </a:rPr>
              <a:t>  LMN</a:t>
            </a:r>
            <a:r>
              <a:rPr lang="zh-CN" altLang="zh-CN" sz="2400" b="1" kern="100" dirty="0">
                <a:latin typeface="宋体" panose="02010600030101010101" pitchFamily="2" charset="-122"/>
                <a:ea typeface="宋体" panose="02010600030101010101" pitchFamily="2" charset="-122"/>
              </a:rPr>
              <a:t>与</a:t>
            </a:r>
            <a:r>
              <a:rPr lang="en-US" altLang="zh-CN" sz="2400" b="1" kern="100" dirty="0">
                <a:latin typeface="宋体" panose="02010600030101010101" pitchFamily="2" charset="-122"/>
                <a:ea typeface="宋体" panose="02010600030101010101" pitchFamily="2" charset="-122"/>
              </a:rPr>
              <a:t>LMA</a:t>
            </a:r>
            <a:r>
              <a:rPr lang="zh-CN" altLang="zh-CN" sz="2400" b="1" kern="100" dirty="0">
                <a:latin typeface="宋体" panose="02010600030101010101" pitchFamily="2" charset="-122"/>
                <a:ea typeface="宋体" panose="02010600030101010101" pitchFamily="2" charset="-122"/>
              </a:rPr>
              <a:t>类似，其区别在于邻居节点的数目</a:t>
            </a:r>
            <a:r>
              <a:rPr lang="en-US" altLang="zh-CN" sz="2400" b="1" kern="100" dirty="0" err="1">
                <a:latin typeface="宋体" panose="02010600030101010101" pitchFamily="2" charset="-122"/>
                <a:ea typeface="宋体" panose="02010600030101010101" pitchFamily="2" charset="-122"/>
              </a:rPr>
              <a:t>NodeResp</a:t>
            </a:r>
            <a:r>
              <a:rPr lang="zh-CN" altLang="zh-CN" sz="2400" b="1" kern="100" dirty="0">
                <a:latin typeface="宋体" panose="02010600030101010101" pitchFamily="2" charset="-122"/>
                <a:ea typeface="宋体" panose="02010600030101010101" pitchFamily="2" charset="-122"/>
              </a:rPr>
              <a:t>的计算方法不同，在</a:t>
            </a:r>
            <a:r>
              <a:rPr lang="en-US" altLang="zh-CN" sz="2400" b="1" kern="100" dirty="0">
                <a:latin typeface="宋体" panose="02010600030101010101" pitchFamily="2" charset="-122"/>
                <a:ea typeface="宋体" panose="02010600030101010101" pitchFamily="2" charset="-122"/>
              </a:rPr>
              <a:t>LMN</a:t>
            </a:r>
            <a:r>
              <a:rPr lang="zh-CN" altLang="zh-CN" sz="2400" b="1" kern="100" dirty="0">
                <a:latin typeface="宋体" panose="02010600030101010101" pitchFamily="2" charset="-122"/>
                <a:ea typeface="宋体" panose="02010600030101010101" pitchFamily="2" charset="-122"/>
              </a:rPr>
              <a:t>算法中，每个节点发送</a:t>
            </a:r>
            <a:r>
              <a:rPr lang="en-US" altLang="zh-CN" sz="2400" b="1" kern="100" dirty="0" err="1">
                <a:latin typeface="宋体" panose="02010600030101010101" pitchFamily="2" charset="-122"/>
                <a:ea typeface="宋体" panose="02010600030101010101" pitchFamily="2" charset="-122"/>
              </a:rPr>
              <a:t>LifeAckMsg</a:t>
            </a:r>
            <a:r>
              <a:rPr lang="zh-CN" altLang="zh-CN" sz="2400" b="1" kern="100" dirty="0">
                <a:latin typeface="宋体" panose="02010600030101010101" pitchFamily="2" charset="-122"/>
                <a:ea typeface="宋体" panose="02010600030101010101" pitchFamily="2" charset="-122"/>
              </a:rPr>
              <a:t>消息时，将自己的邻居节点数目包含在</a:t>
            </a:r>
            <a:r>
              <a:rPr lang="en-US" altLang="zh-CN" sz="2400" b="1" kern="100" dirty="0" err="1">
                <a:latin typeface="宋体" panose="02010600030101010101" pitchFamily="2" charset="-122"/>
                <a:ea typeface="宋体" panose="02010600030101010101" pitchFamily="2" charset="-122"/>
              </a:rPr>
              <a:t>LifeAckMsg</a:t>
            </a:r>
            <a:r>
              <a:rPr lang="zh-CN" altLang="zh-CN" sz="2400" b="1" kern="100" dirty="0">
                <a:latin typeface="宋体" panose="02010600030101010101" pitchFamily="2" charset="-122"/>
                <a:ea typeface="宋体" panose="02010600030101010101" pitchFamily="2" charset="-122"/>
              </a:rPr>
              <a:t>消息中，发送</a:t>
            </a:r>
            <a:r>
              <a:rPr lang="en-US" altLang="zh-CN" sz="2400" b="1" kern="100" dirty="0" err="1">
                <a:latin typeface="宋体" panose="02010600030101010101" pitchFamily="2" charset="-122"/>
                <a:ea typeface="宋体" panose="02010600030101010101" pitchFamily="2" charset="-122"/>
              </a:rPr>
              <a:t>LifeMsg</a:t>
            </a:r>
            <a:r>
              <a:rPr lang="en-US" altLang="zh-CN" sz="2400" b="1" kern="100" dirty="0">
                <a:latin typeface="宋体" panose="02010600030101010101" pitchFamily="2" charset="-122"/>
                <a:ea typeface="宋体" panose="02010600030101010101" pitchFamily="2" charset="-122"/>
              </a:rPr>
              <a:t> </a:t>
            </a:r>
            <a:r>
              <a:rPr lang="zh-CN" altLang="zh-CN" sz="2400" b="1" kern="100" dirty="0">
                <a:latin typeface="宋体" panose="02010600030101010101" pitchFamily="2" charset="-122"/>
                <a:ea typeface="宋体" panose="02010600030101010101" pitchFamily="2" charset="-122"/>
              </a:rPr>
              <a:t>消息的节点在收集完所有的</a:t>
            </a:r>
            <a:r>
              <a:rPr lang="en-US" altLang="zh-CN" sz="2400" b="1" kern="100" dirty="0" err="1">
                <a:latin typeface="宋体" panose="02010600030101010101" pitchFamily="2" charset="-122"/>
                <a:ea typeface="宋体" panose="02010600030101010101" pitchFamily="2" charset="-122"/>
              </a:rPr>
              <a:t>LifeAckMsg</a:t>
            </a:r>
            <a:r>
              <a:rPr lang="zh-CN" altLang="zh-CN" sz="2400" b="1" kern="100" dirty="0">
                <a:latin typeface="宋体" panose="02010600030101010101" pitchFamily="2" charset="-122"/>
                <a:ea typeface="宋体" panose="02010600030101010101" pitchFamily="2" charset="-122"/>
              </a:rPr>
              <a:t>消息后，将所有邻居的邻居节点数求平均值并作为自己的邻居节点数。</a:t>
            </a:r>
            <a:endParaRPr lang="zh-CN" altLang="zh-CN" sz="2400" b="1" kern="100" dirty="0">
              <a:latin typeface="宋体" panose="02010600030101010101" pitchFamily="2" charset="-122"/>
              <a:ea typeface="宋体" panose="02010600030101010101" pitchFamily="2" charset="-122"/>
            </a:endParaRPr>
          </a:p>
        </p:txBody>
      </p:sp>
      <p:sp>
        <p:nvSpPr>
          <p:cNvPr id="11"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100667" y="1325563"/>
            <a:ext cx="10516235" cy="4351655"/>
          </a:xfrm>
        </p:spPr>
        <p:txBody>
          <a:bodyPr/>
          <a:lstStyle/>
          <a:p>
            <a:pPr marL="0" indent="0" algn="just" fontAlgn="auto">
              <a:lnSpc>
                <a:spcPct val="120000"/>
              </a:lnSpc>
              <a:buNone/>
              <a:defRPr/>
            </a:pPr>
            <a:r>
              <a:rPr lang="en-US" altLang="zh-CN" sz="2400" b="1" kern="100" dirty="0">
                <a:solidFill>
                  <a:schemeClr val="bg2"/>
                </a:solidFill>
              </a:rPr>
              <a:t>  </a:t>
            </a:r>
            <a:r>
              <a:rPr lang="zh-CN" altLang="zh-CN" sz="2400" b="1" kern="100" dirty="0"/>
              <a:t>和其他基于节点度数的算法一样，</a:t>
            </a:r>
            <a:r>
              <a:rPr lang="en-US" altLang="zh-CN" sz="2400" b="1" kern="100" dirty="0"/>
              <a:t>LMA</a:t>
            </a:r>
            <a:r>
              <a:rPr lang="zh-CN" altLang="zh-CN" sz="2400" b="1" kern="100" dirty="0"/>
              <a:t>、</a:t>
            </a:r>
            <a:r>
              <a:rPr lang="en-US" altLang="zh-CN" sz="2400" b="1" kern="100" dirty="0"/>
              <a:t>LMN</a:t>
            </a:r>
            <a:r>
              <a:rPr lang="zh-CN" altLang="zh-CN" sz="2400" b="1" kern="100" dirty="0"/>
              <a:t>缺少严格的理论支持，这两种算法的收敛性和网络的连通性都是可以保证的，通过少量的局部信息即可达到一定程度的优化效果。</a:t>
            </a:r>
            <a:r>
              <a:rPr lang="en-US" altLang="zh-CN" sz="2400" b="1" kern="100" dirty="0">
                <a:solidFill>
                  <a:srgbClr val="C00000"/>
                </a:solidFill>
              </a:rPr>
              <a:t>LMA</a:t>
            </a:r>
            <a:r>
              <a:rPr lang="zh-CN" altLang="zh-CN" sz="2400" b="1" kern="100" dirty="0">
                <a:solidFill>
                  <a:srgbClr val="C00000"/>
                </a:solidFill>
              </a:rPr>
              <a:t>和</a:t>
            </a:r>
            <a:r>
              <a:rPr lang="en-US" altLang="zh-CN" sz="2400" b="1" kern="100" dirty="0">
                <a:solidFill>
                  <a:srgbClr val="C00000"/>
                </a:solidFill>
              </a:rPr>
              <a:t>LMN</a:t>
            </a:r>
            <a:r>
              <a:rPr lang="zh-CN" altLang="zh-CN" sz="2400" b="1" kern="100" dirty="0">
                <a:solidFill>
                  <a:srgbClr val="C00000"/>
                </a:solidFill>
              </a:rPr>
              <a:t>对于传感器节点的要求不高，无需严格的时间同步，但是这两种算法还存在一些不完善的地方</a:t>
            </a:r>
            <a:r>
              <a:rPr lang="zh-CN" altLang="zh-CN" sz="2400" b="1" kern="100" dirty="0"/>
              <a:t>，如对邻居节点的判断标准、邻居信息强弱的加权等有待于进一步改善。</a:t>
            </a:r>
            <a:endParaRPr lang="zh-CN" altLang="en-US" sz="24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83734" y="1325563"/>
            <a:ext cx="10516235" cy="5278437"/>
          </a:xfrm>
        </p:spPr>
        <p:txBody>
          <a:bodyPr>
            <a:normAutofit/>
          </a:bodyPr>
          <a:lstStyle/>
          <a:p>
            <a:pPr marL="0" indent="0">
              <a:buNone/>
              <a:defRPr/>
            </a:pPr>
            <a:r>
              <a:rPr lang="zh-CN" altLang="en-US" b="1" dirty="0"/>
              <a:t>4.</a:t>
            </a:r>
            <a:r>
              <a:rPr lang="en-US" altLang="zh-CN" b="1" dirty="0"/>
              <a:t>2.3.3 </a:t>
            </a:r>
            <a:r>
              <a:rPr lang="zh-CN" altLang="zh-CN" b="1" dirty="0"/>
              <a:t>基于方向的功率控制</a:t>
            </a:r>
            <a:endParaRPr lang="en-US" altLang="zh-CN" b="1" dirty="0"/>
          </a:p>
          <a:p>
            <a:pPr marL="0" indent="0">
              <a:lnSpc>
                <a:spcPct val="100000"/>
              </a:lnSpc>
              <a:spcBef>
                <a:spcPts val="600"/>
              </a:spcBef>
              <a:buNone/>
              <a:defRPr/>
            </a:pPr>
            <a:r>
              <a:rPr lang="en-US" altLang="zh-CN" sz="1800" b="1" kern="100" dirty="0">
                <a:solidFill>
                  <a:schemeClr val="bg2"/>
                </a:solidFill>
              </a:rPr>
              <a:t>   </a:t>
            </a:r>
            <a:r>
              <a:rPr lang="zh-CN" altLang="zh-CN" sz="2000" b="1" kern="100" dirty="0"/>
              <a:t>在基于方向的功率控制中，一般假设节点不知道自身和其他节点的具体位置</a:t>
            </a:r>
            <a:r>
              <a:rPr lang="en-US" altLang="zh-CN" sz="2000" b="1" kern="100" dirty="0"/>
              <a:t>,</a:t>
            </a:r>
            <a:r>
              <a:rPr lang="zh-CN" altLang="zh-CN" sz="2000" b="1" kern="100" dirty="0"/>
              <a:t>但能估测到邻居节点的相对方向。这种策略的实现要保证发射功率的选择能在给定角度的、以节点为顶点的任意锥形区域内至少有一个邻居。基于方向的功率控制算法需要可靠的方向信息，因而需要很好地解决到达角度问题，节点需要配备多个定向天线，因而对传感器节点提出了较高的要求。代表性的是</a:t>
            </a:r>
            <a:r>
              <a:rPr lang="en-US" altLang="zh-CN" sz="2000" b="1" kern="100" dirty="0"/>
              <a:t>CBTC</a:t>
            </a:r>
            <a:r>
              <a:rPr lang="zh-CN" altLang="zh-CN" sz="2000" b="1" kern="100" dirty="0"/>
              <a:t>算法。</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在</a:t>
            </a:r>
            <a:r>
              <a:rPr lang="en-US" altLang="zh-CN" sz="2000" b="1" kern="100" dirty="0"/>
              <a:t>CBTC</a:t>
            </a:r>
            <a:r>
              <a:rPr lang="zh-CN" altLang="zh-CN" sz="2000" b="1" kern="100" dirty="0"/>
              <a:t>算法中传感器节点的发射功率被分为离散的功率等级，根据接收到的数据包方向信息，调整节点的功率等级，以一个最优的发射功率确保在节点的每个锥角</a:t>
            </a:r>
            <a:r>
              <a:rPr lang="en-US" altLang="zh-CN" sz="2000" b="1" kern="100" dirty="0"/>
              <a:t>α</a:t>
            </a:r>
            <a:r>
              <a:rPr lang="zh-CN" altLang="zh-CN" sz="2000" b="1" kern="100" dirty="0"/>
              <a:t>内至少有一个邻居节点。</a:t>
            </a:r>
            <a:r>
              <a:rPr lang="en-US" altLang="zh-CN" sz="2000" b="1" kern="100" dirty="0"/>
              <a:t>CBTC</a:t>
            </a:r>
            <a:r>
              <a:rPr lang="zh-CN" altLang="zh-CN" sz="2000" b="1" kern="100" dirty="0"/>
              <a:t>算法的具体执行可分以下三步。</a:t>
            </a:r>
            <a:r>
              <a:rPr lang="en-US" altLang="zh-CN" sz="2000" b="1" kern="100" dirty="0"/>
              <a:t>  </a:t>
            </a:r>
            <a:endParaRPr lang="en-US" altLang="zh-CN" sz="2000" b="1" kern="100" dirty="0"/>
          </a:p>
          <a:p>
            <a:pPr marL="0" indent="0">
              <a:lnSpc>
                <a:spcPct val="100000"/>
              </a:lnSpc>
              <a:spcBef>
                <a:spcPts val="600"/>
              </a:spcBef>
              <a:buNone/>
              <a:defRPr/>
            </a:pPr>
            <a:r>
              <a:rPr lang="zh-CN" altLang="zh-CN" sz="2000" b="1" kern="100" dirty="0"/>
              <a:t>（</a:t>
            </a:r>
            <a:r>
              <a:rPr lang="en-US" altLang="zh-CN" sz="2000" b="1" kern="100" dirty="0"/>
              <a:t>1</a:t>
            </a:r>
            <a:r>
              <a:rPr lang="zh-CN" altLang="zh-CN" sz="2000" b="1" kern="100" dirty="0"/>
              <a:t>）网络初始化阶段，节点以低功率发送</a:t>
            </a:r>
            <a:r>
              <a:rPr lang="en-US" altLang="zh-CN" sz="2000" b="1" kern="100" dirty="0"/>
              <a:t>HELLO</a:t>
            </a:r>
            <a:r>
              <a:rPr lang="zh-CN" altLang="zh-CN" sz="2000" b="1" kern="100" dirty="0"/>
              <a:t>消息，并收集其他传感器节点的回复消息；</a:t>
            </a:r>
            <a:endParaRPr lang="en-US" altLang="zh-CN" sz="2000" b="1" kern="100" dirty="0"/>
          </a:p>
          <a:p>
            <a:pPr marL="0" indent="0">
              <a:lnSpc>
                <a:spcPct val="100000"/>
              </a:lnSpc>
              <a:spcBef>
                <a:spcPts val="600"/>
              </a:spcBef>
              <a:buNone/>
              <a:defRPr/>
            </a:pPr>
            <a:r>
              <a:rPr lang="zh-CN" altLang="zh-CN" sz="2000" b="1" kern="100" dirty="0"/>
              <a:t>（</a:t>
            </a:r>
            <a:r>
              <a:rPr lang="en-US" altLang="zh-CN" sz="2000" b="1" kern="100" dirty="0"/>
              <a:t>2</a:t>
            </a:r>
            <a:r>
              <a:rPr lang="zh-CN" altLang="zh-CN" sz="2000" b="1" kern="100" dirty="0"/>
              <a:t>）节点根据收到的回复消息，确定邻居节点，判断在所有锥角</a:t>
            </a:r>
            <a:r>
              <a:rPr lang="en-US" altLang="zh-CN" sz="2000" b="1" kern="100" dirty="0"/>
              <a:t>α</a:t>
            </a:r>
            <a:r>
              <a:rPr lang="zh-CN" altLang="zh-CN" sz="2000" b="1" kern="100" dirty="0"/>
              <a:t>内是否存在至少一个邻居节点，若存在则结束，若不存在则增大发射功率直至条件满足，即所有锥角</a:t>
            </a:r>
            <a:r>
              <a:rPr lang="en-US" altLang="zh-CN" sz="2000" b="1" kern="100" dirty="0"/>
              <a:t>α</a:t>
            </a:r>
            <a:r>
              <a:rPr lang="zh-CN" altLang="zh-CN" sz="2000" b="1" kern="100" dirty="0"/>
              <a:t>内至少存在一个邻居节点；</a:t>
            </a:r>
            <a:endParaRPr lang="en-US" altLang="zh-CN" sz="2000" b="1" kern="100" dirty="0"/>
          </a:p>
          <a:p>
            <a:pPr marL="0" indent="0">
              <a:lnSpc>
                <a:spcPct val="100000"/>
              </a:lnSpc>
              <a:spcBef>
                <a:spcPts val="600"/>
              </a:spcBef>
              <a:buNone/>
              <a:defRPr/>
            </a:pPr>
            <a:r>
              <a:rPr lang="zh-CN" altLang="en-US" sz="2000" b="1" kern="100" dirty="0"/>
              <a:t>（</a:t>
            </a:r>
            <a:r>
              <a:rPr lang="en-US" altLang="zh-CN" sz="2000" b="1" kern="100" dirty="0"/>
              <a:t>3</a:t>
            </a:r>
            <a:r>
              <a:rPr lang="zh-CN" altLang="zh-CN" sz="2000" b="1" kern="100" dirty="0"/>
              <a:t>）移除网络中的冗余链接，确保网络拓扑的对称性。</a:t>
            </a:r>
            <a:endParaRPr lang="zh-CN" altLang="zh-CN" sz="2000" b="1" kern="100" dirty="0"/>
          </a:p>
          <a:p>
            <a:pPr eaLnBrk="1" hangingPunct="1">
              <a:lnSpc>
                <a:spcPct val="180000"/>
              </a:lnSpc>
              <a:buFont typeface="Wingdings" panose="05000000000000000000" pitchFamily="2" charset="2"/>
              <a:buNone/>
              <a:defRPr/>
            </a:pPr>
            <a:endParaRPr lang="zh-CN" altLang="en-US" sz="18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75268" y="1325563"/>
            <a:ext cx="10422466" cy="4351655"/>
          </a:xfrm>
        </p:spPr>
        <p:txBody>
          <a:bodyPr/>
          <a:lstStyle/>
          <a:p>
            <a:pPr marL="0" indent="0">
              <a:buNone/>
              <a:defRPr/>
            </a:pPr>
            <a:r>
              <a:rPr lang="zh-CN" altLang="en-US" b="1" dirty="0"/>
              <a:t>4.</a:t>
            </a:r>
            <a:r>
              <a:rPr lang="en-US" altLang="zh-CN" b="1" dirty="0"/>
              <a:t>2.3.4 </a:t>
            </a:r>
            <a:r>
              <a:rPr lang="zh-CN" altLang="zh-CN" b="1" dirty="0"/>
              <a:t>基于干扰的拓扑控制</a:t>
            </a:r>
            <a:endParaRPr lang="en-US" altLang="zh-CN" b="1" dirty="0"/>
          </a:p>
          <a:p>
            <a:pPr marL="0" indent="0">
              <a:lnSpc>
                <a:spcPct val="100000"/>
              </a:lnSpc>
              <a:spcBef>
                <a:spcPts val="600"/>
              </a:spcBef>
              <a:buNone/>
              <a:defRPr/>
            </a:pPr>
            <a:r>
              <a:rPr lang="en-US" altLang="zh-CN" sz="1800" b="1" kern="100" dirty="0">
                <a:solidFill>
                  <a:schemeClr val="bg2"/>
                </a:solidFill>
              </a:rPr>
              <a:t>   </a:t>
            </a:r>
            <a:r>
              <a:rPr lang="zh-CN" altLang="zh-CN" sz="2000" b="1" kern="100" dirty="0"/>
              <a:t>为了研究干扰对拓扑的影响，</a:t>
            </a:r>
            <a:r>
              <a:rPr lang="en-US" altLang="zh-CN" sz="2000" b="1" kern="100" dirty="0" err="1"/>
              <a:t>Burhart</a:t>
            </a:r>
            <a:r>
              <a:rPr lang="zh-CN" altLang="zh-CN" sz="2000" b="1" kern="100" dirty="0"/>
              <a:t>提出关于干扰的定义，并建立了链路干扰模型。链路干扰模型中，节点的所有邻居都会对该节点产生干扰。并定义链路的干扰度为两端正在通信的节点的覆盖范围内的所有邻居节点数目。链路干扰模型能很好地描述能直接通信节点对之间的干扰情况，只能反映网络的局部状况，或者说反映网络最差干扰情况的链路。针对数据转发的端到端投递特征，基于链路干扰模型可定义对应的路径干扰模型。路径的干扰度为组成此路径上所有链路的干扰度之和。网络干扰度定义为平均路径干扰度。</a:t>
            </a:r>
            <a:endParaRPr lang="en-US" altLang="zh-CN" sz="2000" b="1" kern="100" dirty="0"/>
          </a:p>
          <a:p>
            <a:pPr marL="0" indent="0">
              <a:lnSpc>
                <a:spcPct val="100000"/>
              </a:lnSpc>
              <a:spcBef>
                <a:spcPts val="600"/>
              </a:spcBef>
              <a:buNone/>
              <a:defRPr/>
            </a:pP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基于链路干扰模型，</a:t>
            </a:r>
            <a:r>
              <a:rPr lang="en-US" altLang="zh-CN" sz="2000" b="1" kern="100" dirty="0"/>
              <a:t>Burkhart</a:t>
            </a:r>
            <a:r>
              <a:rPr lang="zh-CN" altLang="zh-CN" sz="2000" b="1" kern="100" dirty="0"/>
              <a:t>提出了链路干扰最小的干扰优化拓扑控制算法</a:t>
            </a:r>
            <a:r>
              <a:rPr lang="en-US" altLang="zh-CN" sz="2000" b="1" kern="100" dirty="0"/>
              <a:t>LIFE</a:t>
            </a:r>
            <a:r>
              <a:rPr lang="zh-CN" altLang="zh-CN" sz="2000" b="1" kern="100" dirty="0"/>
              <a:t>（</a:t>
            </a:r>
            <a:r>
              <a:rPr lang="en-US" altLang="zh-CN" sz="2000" b="1" kern="100" dirty="0"/>
              <a:t>Low Interference Forest Establisher</a:t>
            </a:r>
            <a:r>
              <a:rPr lang="zh-CN" altLang="zh-CN" sz="2000" b="1" kern="100" dirty="0"/>
              <a:t>）。基于路径干扰模型，</a:t>
            </a:r>
            <a:r>
              <a:rPr lang="en-US" altLang="zh-CN" sz="2000" b="1" kern="100" dirty="0" err="1"/>
              <a:t>Johanssonn</a:t>
            </a:r>
            <a:r>
              <a:rPr lang="zh-CN" altLang="zh-CN" sz="2000" b="1" kern="100" dirty="0"/>
              <a:t>提出了路径干扰最小的干扰优化拓扑控制算法</a:t>
            </a:r>
            <a:r>
              <a:rPr lang="en-US" altLang="zh-CN" sz="2000" b="1" kern="100" dirty="0"/>
              <a:t>API</a:t>
            </a:r>
            <a:r>
              <a:rPr lang="zh-CN" altLang="zh-CN" sz="2000" b="1" kern="100" dirty="0"/>
              <a:t>（</a:t>
            </a:r>
            <a:r>
              <a:rPr lang="en-US" altLang="zh-CN" sz="2000" b="1" kern="100" dirty="0"/>
              <a:t>Average Path Interference</a:t>
            </a:r>
            <a:r>
              <a:rPr lang="zh-CN" altLang="zh-CN" sz="2000" b="1" kern="100" dirty="0"/>
              <a:t>）。</a:t>
            </a:r>
            <a:endParaRPr lang="zh-CN" altLang="zh-CN" sz="2000" b="1" kern="100" dirty="0"/>
          </a:p>
          <a:p>
            <a:pPr eaLnBrk="1" hangingPunct="1">
              <a:lnSpc>
                <a:spcPct val="180000"/>
              </a:lnSpc>
              <a:buFont typeface="Wingdings" panose="05000000000000000000" pitchFamily="2" charset="2"/>
              <a:buNone/>
              <a:defRPr/>
            </a:pPr>
            <a:endParaRPr lang="zh-CN" altLang="en-US" sz="18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4.2.3 功率控制技术</a:t>
            </a:r>
            <a:endParaRPr lang="zh-CN" altLang="en-US" b="1"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75267" y="1325563"/>
            <a:ext cx="10516235" cy="4351655"/>
          </a:xfrm>
        </p:spPr>
        <p:txBody>
          <a:bodyPr/>
          <a:lstStyle/>
          <a:p>
            <a:pPr marL="0" indent="0">
              <a:buNone/>
              <a:defRPr/>
            </a:pPr>
            <a:r>
              <a:rPr lang="zh-CN" altLang="en-US" b="1" dirty="0"/>
              <a:t>4.</a:t>
            </a:r>
            <a:r>
              <a:rPr lang="en-US" altLang="zh-CN" b="1" dirty="0"/>
              <a:t>2.4 </a:t>
            </a:r>
            <a:r>
              <a:rPr lang="zh-CN" altLang="en-US" b="1" dirty="0"/>
              <a:t>睡眠调度</a:t>
            </a:r>
            <a:endParaRPr lang="en-US" altLang="zh-CN" b="1" dirty="0"/>
          </a:p>
          <a:p>
            <a:pPr marL="0" indent="0">
              <a:lnSpc>
                <a:spcPct val="100000"/>
              </a:lnSpc>
              <a:buNone/>
              <a:defRPr/>
            </a:pPr>
            <a:r>
              <a:rPr lang="en-US" altLang="zh-CN" sz="1800" b="1" kern="100" dirty="0">
                <a:solidFill>
                  <a:schemeClr val="bg2"/>
                </a:solidFill>
              </a:rPr>
              <a:t>   </a:t>
            </a:r>
            <a:r>
              <a:rPr lang="zh-CN" altLang="zh-CN" sz="2000" b="1" kern="100" dirty="0"/>
              <a:t>在传感器网络中，</a:t>
            </a:r>
            <a:r>
              <a:rPr lang="zh-CN" altLang="zh-CN" sz="2000" b="1" kern="100" dirty="0">
                <a:solidFill>
                  <a:srgbClr val="C00000"/>
                </a:solidFill>
              </a:rPr>
              <a:t>节点处于睡眠状态时的能量消耗最低</a:t>
            </a:r>
            <a:r>
              <a:rPr lang="zh-CN" altLang="zh-CN" sz="2000" b="1" kern="100" dirty="0">
                <a:solidFill>
                  <a:schemeClr val="bg2"/>
                </a:solidFill>
              </a:rPr>
              <a:t>，</a:t>
            </a:r>
            <a:r>
              <a:rPr lang="zh-CN" altLang="zh-CN" sz="2000" b="1" kern="100" dirty="0">
                <a:solidFill>
                  <a:srgbClr val="C00000"/>
                </a:solidFill>
              </a:rPr>
              <a:t>空闲状态和收发状态时基本相当</a:t>
            </a:r>
            <a:r>
              <a:rPr lang="zh-CN" altLang="zh-CN" sz="2000" b="1" kern="100" dirty="0"/>
              <a:t>。因此，在保证网络连通性需求的前提下，除了降低节点的发射功率以外，让更多的节点睡眠是延长传感器网络生存时间的有效手段。对于睡眠调度的拓扑控制，</a:t>
            </a:r>
            <a:r>
              <a:rPr lang="zh-CN" altLang="zh-CN" sz="2000" b="1" kern="100" dirty="0">
                <a:solidFill>
                  <a:srgbClr val="C00000"/>
                </a:solidFill>
              </a:rPr>
              <a:t>所面临的问题是在网络中选择最少的节点保持活跃状态，形成数据转发的连通的骨干网络，这个问题本质上等价于求解传感器网络的最小连通支配集。</a:t>
            </a:r>
            <a:r>
              <a:rPr lang="zh-CN" altLang="zh-CN" sz="2000" b="1" kern="100" dirty="0"/>
              <a:t>最小连通支配集问题被证明是一个</a:t>
            </a:r>
            <a:r>
              <a:rPr lang="en-US" altLang="zh-CN" sz="2000" b="1" kern="100" dirty="0"/>
              <a:t>NP</a:t>
            </a:r>
            <a:r>
              <a:rPr lang="zh-CN" altLang="zh-CN" sz="2000" b="1" kern="100" dirty="0"/>
              <a:t>难问题，因此目前提出的睡眠调度控制算法主要是在网络中求解近似最优的连通支配集，或者利用一些启发机制建立满足应用需求的数据传输通道。 </a:t>
            </a:r>
            <a:endParaRPr lang="zh-CN" altLang="zh-CN" sz="2000" b="1" kern="100" dirty="0"/>
          </a:p>
          <a:p>
            <a:pPr eaLnBrk="1" hangingPunct="1">
              <a:lnSpc>
                <a:spcPct val="180000"/>
              </a:lnSpc>
              <a:buFont typeface="Wingdings" panose="05000000000000000000" pitchFamily="2" charset="2"/>
              <a:buNone/>
              <a:defRPr/>
            </a:pPr>
            <a:endParaRPr lang="zh-CN" altLang="en-US" sz="1800" dirty="0"/>
          </a:p>
        </p:txBody>
      </p:sp>
      <p:sp>
        <p:nvSpPr>
          <p:cNvPr id="7"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 拓扑控制</a:t>
            </a:r>
            <a:endParaRPr lang="zh-CN" altLang="en-US" b="1" dirty="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
        <p:nvSpPr>
          <p:cNvPr id="5122" name="文本占位符 5122"/>
          <p:cNvSpPr>
            <a:spLocks noGrp="1" noChangeArrowheads="1"/>
          </p:cNvSpPr>
          <p:nvPr>
            <p:ph sz="half" idx="1"/>
          </p:nvPr>
        </p:nvSpPr>
        <p:spPr>
          <a:xfrm>
            <a:off x="1083734" y="1325563"/>
            <a:ext cx="10516235" cy="5083704"/>
          </a:xfrm>
        </p:spPr>
        <p:txBody>
          <a:bodyPr>
            <a:normAutofit/>
          </a:bodyPr>
          <a:lstStyle/>
          <a:p>
            <a:pPr marL="0" indent="0">
              <a:buNone/>
              <a:defRPr/>
            </a:pPr>
            <a:r>
              <a:rPr lang="zh-CN" altLang="en-US" b="1" dirty="0"/>
              <a:t>4.</a:t>
            </a:r>
            <a:r>
              <a:rPr lang="en-US" altLang="zh-CN" b="1" dirty="0"/>
              <a:t>2.4.1 </a:t>
            </a:r>
            <a:r>
              <a:rPr lang="zh-CN" altLang="zh-CN" b="1" dirty="0"/>
              <a:t>连通支配集算法</a:t>
            </a:r>
            <a:endParaRPr lang="en-US" altLang="zh-CN" b="1" dirty="0"/>
          </a:p>
          <a:p>
            <a:pPr marL="0" indent="0">
              <a:lnSpc>
                <a:spcPct val="100000"/>
              </a:lnSpc>
              <a:buNone/>
              <a:defRPr/>
            </a:pPr>
            <a:r>
              <a:rPr lang="en-US" altLang="zh-CN" sz="2000" b="1" kern="100" dirty="0"/>
              <a:t>   </a:t>
            </a:r>
            <a:r>
              <a:rPr lang="zh-CN" altLang="zh-CN" sz="2000" b="1" kern="100" dirty="0"/>
              <a:t>连通支配集算法主要分为</a:t>
            </a:r>
            <a:r>
              <a:rPr lang="en-US" altLang="zh-CN" sz="2000" b="1" kern="100" dirty="0"/>
              <a:t>2</a:t>
            </a:r>
            <a:r>
              <a:rPr lang="zh-CN" altLang="zh-CN" sz="2000" b="1" kern="100" dirty="0"/>
              <a:t>类：第一类算法首先</a:t>
            </a:r>
            <a:r>
              <a:rPr lang="zh-CN" altLang="zh-CN" sz="2000" b="1" kern="100" dirty="0">
                <a:solidFill>
                  <a:srgbClr val="C00000"/>
                </a:solidFill>
              </a:rPr>
              <a:t>在第一个阶段构建一个最大独立集（</a:t>
            </a:r>
            <a:r>
              <a:rPr lang="en-US" altLang="zh-CN" sz="2000" b="1" kern="100" dirty="0">
                <a:solidFill>
                  <a:srgbClr val="C00000"/>
                </a:solidFill>
              </a:rPr>
              <a:t>maximum independent set</a:t>
            </a:r>
            <a:r>
              <a:rPr lang="zh-CN" altLang="zh-CN" sz="2000" b="1" kern="100" dirty="0">
                <a:solidFill>
                  <a:srgbClr val="C00000"/>
                </a:solidFill>
              </a:rPr>
              <a:t>，</a:t>
            </a:r>
            <a:r>
              <a:rPr lang="en-US" altLang="zh-CN" sz="2000" b="1" kern="100" dirty="0">
                <a:solidFill>
                  <a:srgbClr val="C00000"/>
                </a:solidFill>
              </a:rPr>
              <a:t>MIS</a:t>
            </a:r>
            <a:r>
              <a:rPr lang="zh-CN" altLang="zh-CN" sz="2000" b="1" kern="100" dirty="0">
                <a:solidFill>
                  <a:srgbClr val="C00000"/>
                </a:solidFill>
              </a:rPr>
              <a:t>），然后在第二个阶段选出一些连接节点，将这个最大独立集连成一个连通支配集</a:t>
            </a:r>
            <a:r>
              <a:rPr lang="zh-CN" altLang="zh-CN" sz="2000" b="1" kern="100" dirty="0"/>
              <a:t>，这类算法的代表是</a:t>
            </a:r>
            <a:r>
              <a:rPr lang="en-US" altLang="zh-CN" sz="2000" b="1" kern="100" dirty="0"/>
              <a:t>EECDS</a:t>
            </a:r>
            <a:r>
              <a:rPr lang="zh-CN" altLang="zh-CN" sz="2000" b="1" kern="100" dirty="0"/>
              <a:t>（</a:t>
            </a:r>
            <a:r>
              <a:rPr lang="en-US" altLang="zh-CN" sz="2000" b="1" kern="100" dirty="0"/>
              <a:t>Energy Efficient Connected Dominating Set</a:t>
            </a:r>
            <a:r>
              <a:rPr lang="zh-CN" altLang="zh-CN" sz="2000" b="1" kern="100" dirty="0"/>
              <a:t>）算法；第二类算法首先</a:t>
            </a:r>
            <a:r>
              <a:rPr lang="zh-CN" altLang="zh-CN" sz="2000" b="1" kern="100" dirty="0">
                <a:solidFill>
                  <a:srgbClr val="C00000"/>
                </a:solidFill>
              </a:rPr>
              <a:t>在第一个阶段生成一棵未经优化的连通支配集树，然后在第二个阶段使用修剪规则剪掉冗余的叶子节点</a:t>
            </a:r>
            <a:r>
              <a:rPr lang="zh-CN" altLang="zh-CN" sz="2000" b="1" kern="100" dirty="0">
                <a:solidFill>
                  <a:schemeClr val="bg2"/>
                </a:solidFill>
              </a:rPr>
              <a:t>，</a:t>
            </a:r>
            <a:r>
              <a:rPr lang="zh-CN" altLang="zh-CN" sz="2000" b="1" kern="100" dirty="0"/>
              <a:t>这类算法的代表是</a:t>
            </a:r>
            <a:r>
              <a:rPr lang="en-US" altLang="zh-CN" sz="2000" b="1" kern="100" dirty="0"/>
              <a:t>CDS-Rule-K</a:t>
            </a:r>
            <a:r>
              <a:rPr lang="zh-CN" altLang="zh-CN" sz="2000" b="1" kern="100" dirty="0"/>
              <a:t>（</a:t>
            </a:r>
            <a:r>
              <a:rPr lang="en-US" altLang="zh-CN" sz="2000" b="1" kern="100" dirty="0"/>
              <a:t>Connected Dominating Set under Rule K</a:t>
            </a:r>
            <a:r>
              <a:rPr lang="zh-CN" altLang="en-US" sz="2000" b="1" kern="100" dirty="0"/>
              <a:t>）</a:t>
            </a:r>
            <a:r>
              <a:rPr lang="zh-CN" altLang="zh-CN" sz="2000" b="1" kern="100" dirty="0"/>
              <a:t>算法。</a:t>
            </a:r>
            <a:endParaRPr lang="en-US" altLang="zh-CN" sz="2000" b="1" kern="100" dirty="0"/>
          </a:p>
          <a:p>
            <a:pPr eaLnBrk="1" hangingPunct="1">
              <a:lnSpc>
                <a:spcPct val="100000"/>
              </a:lnSpc>
              <a:defRPr/>
            </a:pPr>
            <a:r>
              <a:rPr lang="en-US" altLang="zh-CN" sz="2000" b="1" kern="100" dirty="0"/>
              <a:t>1</a:t>
            </a:r>
            <a:r>
              <a:rPr lang="zh-CN" altLang="zh-CN" sz="2000" b="1" kern="100" dirty="0"/>
              <a:t>）</a:t>
            </a:r>
            <a:r>
              <a:rPr lang="en-US" altLang="zh-CN" sz="2000" b="1" kern="100" dirty="0"/>
              <a:t>EECDS</a:t>
            </a:r>
            <a:r>
              <a:rPr lang="zh-CN" altLang="zh-CN" sz="2000" b="1" kern="100" dirty="0"/>
              <a:t>算法</a:t>
            </a:r>
            <a:endParaRPr lang="en-US" altLang="zh-CN" sz="2000" b="1" kern="100" dirty="0"/>
          </a:p>
          <a:p>
            <a:pPr lvl="1" eaLnBrk="1" hangingPunct="1">
              <a:lnSpc>
                <a:spcPct val="100000"/>
              </a:lnSpc>
              <a:defRPr/>
            </a:pPr>
            <a:r>
              <a:rPr lang="zh-CN" altLang="zh-CN" sz="2000" b="1" kern="100" dirty="0"/>
              <a:t>第一阶段</a:t>
            </a:r>
            <a:r>
              <a:rPr lang="en-US" altLang="zh-CN" sz="2000" b="1" kern="100" dirty="0"/>
              <a:t>EECDS</a:t>
            </a:r>
            <a:r>
              <a:rPr lang="zh-CN" altLang="zh-CN" sz="2000" b="1" kern="100" dirty="0"/>
              <a:t>算法利用着色的方法来构建</a:t>
            </a:r>
            <a:r>
              <a:rPr lang="en-US" altLang="zh-CN" sz="2000" b="1" kern="100" dirty="0"/>
              <a:t>MIS</a:t>
            </a:r>
            <a:r>
              <a:rPr lang="zh-CN" altLang="zh-CN" sz="2000" b="1" kern="100" dirty="0"/>
              <a:t>。初始时，所有节点都被标记为</a:t>
            </a:r>
            <a:r>
              <a:rPr lang="en-US" altLang="zh-CN" sz="2000" b="1" kern="100" dirty="0"/>
              <a:t>White</a:t>
            </a:r>
            <a:r>
              <a:rPr lang="zh-CN" altLang="zh-CN" sz="2000" b="1" kern="100" dirty="0"/>
              <a:t>，选择一个初始节点</a:t>
            </a:r>
            <a:r>
              <a:rPr lang="en-US" altLang="zh-CN" sz="2000" b="1" kern="100" dirty="0"/>
              <a:t>s</a:t>
            </a:r>
            <a:r>
              <a:rPr lang="zh-CN" altLang="zh-CN" sz="2000" b="1" kern="100" dirty="0"/>
              <a:t>作为</a:t>
            </a:r>
            <a:r>
              <a:rPr lang="en-US" altLang="zh-CN" sz="2000" b="1" kern="100" dirty="0"/>
              <a:t>MIS</a:t>
            </a:r>
            <a:r>
              <a:rPr lang="zh-CN" altLang="zh-CN" sz="2000" b="1" kern="100" dirty="0"/>
              <a:t>的一部分（成为支配节点），同时</a:t>
            </a:r>
            <a:r>
              <a:rPr lang="en-US" altLang="zh-CN" sz="2000" b="1" kern="100" dirty="0"/>
              <a:t>s</a:t>
            </a:r>
            <a:r>
              <a:rPr lang="zh-CN" altLang="zh-CN" sz="2000" b="1" kern="100" dirty="0"/>
              <a:t>标记自身为</a:t>
            </a:r>
            <a:r>
              <a:rPr lang="en-US" altLang="zh-CN" sz="2000" b="1" kern="100" dirty="0"/>
              <a:t>Black</a:t>
            </a:r>
            <a:r>
              <a:rPr lang="zh-CN" altLang="zh-CN" sz="2000" b="1" kern="100" dirty="0"/>
              <a:t>，然后节点</a:t>
            </a:r>
            <a:r>
              <a:rPr lang="en-US" altLang="zh-CN" sz="2000" b="1" kern="100" dirty="0"/>
              <a:t>s</a:t>
            </a:r>
            <a:r>
              <a:rPr lang="zh-CN" altLang="zh-CN" sz="2000" b="1" kern="100" dirty="0"/>
              <a:t>广播</a:t>
            </a:r>
            <a:r>
              <a:rPr lang="en-US" altLang="zh-CN" sz="2000" b="1" kern="100" dirty="0"/>
              <a:t>Black</a:t>
            </a:r>
            <a:r>
              <a:rPr lang="zh-CN" altLang="zh-CN" sz="2000" b="1" kern="100" dirty="0"/>
              <a:t>消息通知邻居节点它是</a:t>
            </a:r>
            <a:r>
              <a:rPr lang="en-US" altLang="zh-CN" sz="2000" b="1" kern="100" dirty="0"/>
              <a:t>MIS</a:t>
            </a:r>
            <a:r>
              <a:rPr lang="zh-CN" altLang="zh-CN" sz="2000" b="1" kern="100" dirty="0"/>
              <a:t>的一部分。当状态为</a:t>
            </a:r>
            <a:r>
              <a:rPr lang="en-US" altLang="zh-CN" sz="2000" b="1" kern="100" dirty="0"/>
              <a:t>White</a:t>
            </a:r>
            <a:r>
              <a:rPr lang="zh-CN" altLang="zh-CN" sz="2000" b="1" kern="100" dirty="0"/>
              <a:t>的邻居节点接收到</a:t>
            </a:r>
            <a:r>
              <a:rPr lang="en-US" altLang="zh-CN" sz="2000" b="1" kern="100" dirty="0"/>
              <a:t>Black</a:t>
            </a:r>
            <a:r>
              <a:rPr lang="zh-CN" altLang="zh-CN" sz="2000" b="1" kern="100" dirty="0"/>
              <a:t>消息后将自身状态改为</a:t>
            </a:r>
            <a:r>
              <a:rPr lang="en-US" altLang="zh-CN" sz="2000" b="1" kern="100" dirty="0"/>
              <a:t>Gray</a:t>
            </a:r>
            <a:r>
              <a:rPr lang="zh-CN" altLang="zh-CN" sz="2000" b="1" kern="100" dirty="0"/>
              <a:t>（成为被覆盖节点），然后广播</a:t>
            </a:r>
            <a:r>
              <a:rPr lang="en-US" altLang="zh-CN" sz="2000" b="1" kern="100" dirty="0"/>
              <a:t>Gray</a:t>
            </a:r>
            <a:r>
              <a:rPr lang="zh-CN" altLang="zh-CN" sz="2000" b="1" kern="100" dirty="0"/>
              <a:t>消息，接收到</a:t>
            </a:r>
            <a:r>
              <a:rPr lang="en-US" altLang="zh-CN" sz="2000" b="1" kern="100" dirty="0"/>
              <a:t>Gray</a:t>
            </a:r>
            <a:r>
              <a:rPr lang="zh-CN" altLang="zh-CN" sz="2000" b="1" kern="100" dirty="0"/>
              <a:t>消息的</a:t>
            </a:r>
            <a:r>
              <a:rPr lang="en-US" altLang="zh-CN" sz="2000" b="1" kern="100" dirty="0"/>
              <a:t>White</a:t>
            </a:r>
            <a:r>
              <a:rPr lang="zh-CN" altLang="zh-CN" sz="2000" b="1" kern="100" dirty="0"/>
              <a:t>节点（即距离初始节点两跳并且状态为</a:t>
            </a:r>
            <a:r>
              <a:rPr lang="en-US" altLang="zh-CN" sz="2000" b="1" kern="100" dirty="0"/>
              <a:t>White</a:t>
            </a:r>
            <a:r>
              <a:rPr lang="zh-CN" altLang="zh-CN" sz="2000" b="1" kern="100" dirty="0"/>
              <a:t>的节点）</a:t>
            </a:r>
            <a:r>
              <a:rPr lang="zh-CN" altLang="zh-CN" sz="2000" b="1" kern="100" dirty="0">
                <a:solidFill>
                  <a:srgbClr val="C00000"/>
                </a:solidFill>
              </a:rPr>
              <a:t>开始竞争</a:t>
            </a:r>
            <a:r>
              <a:rPr lang="zh-CN" altLang="zh-CN" sz="2000" b="1" kern="100" dirty="0"/>
              <a:t>成为支配节点（</a:t>
            </a:r>
            <a:r>
              <a:rPr lang="en-US" altLang="zh-CN" sz="2000" b="1" kern="100" dirty="0"/>
              <a:t>Black</a:t>
            </a:r>
            <a:r>
              <a:rPr lang="zh-CN" altLang="zh-CN" sz="2000" b="1" kern="100" dirty="0"/>
              <a:t>节点）。</a:t>
            </a:r>
            <a:endParaRPr lang="zh-CN" altLang="zh-CN" sz="2000" b="1" kern="100" dirty="0"/>
          </a:p>
          <a:p>
            <a:pPr lvl="1" eaLnBrk="1" hangingPunct="1">
              <a:defRPr/>
            </a:pPr>
            <a:endParaRPr lang="zh-CN" altLang="zh-CN" sz="1800" b="1" kern="100" dirty="0"/>
          </a:p>
          <a:p>
            <a:pPr marL="0" indent="0">
              <a:buNone/>
              <a:defRPr/>
            </a:pPr>
            <a:endParaRPr lang="zh-CN" altLang="zh-CN" sz="1800" b="1" kern="100" dirty="0">
              <a:solidFill>
                <a:schemeClr val="bg2"/>
              </a:solidFill>
            </a:endParaRPr>
          </a:p>
          <a:p>
            <a:pPr eaLnBrk="1" hangingPunct="1">
              <a:lnSpc>
                <a:spcPct val="180000"/>
              </a:lnSpc>
              <a:buFont typeface="Wingdings" panose="05000000000000000000" pitchFamily="2" charset="2"/>
              <a:buNone/>
              <a:defRPr/>
            </a:pPr>
            <a:endParaRPr lang="zh-CN" altLang="zh-CN" sz="18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1400" y="1325563"/>
            <a:ext cx="10516235" cy="5159904"/>
          </a:xfrm>
        </p:spPr>
        <p:txBody>
          <a:bodyPr>
            <a:normAutofit/>
          </a:bodyPr>
          <a:lstStyle/>
          <a:p>
            <a:pPr lvl="1" eaLnBrk="1" hangingPunct="1">
              <a:lnSpc>
                <a:spcPct val="100000"/>
              </a:lnSpc>
              <a:spcBef>
                <a:spcPts val="600"/>
              </a:spcBef>
              <a:defRPr/>
            </a:pPr>
            <a:r>
              <a:rPr lang="zh-CN" altLang="zh-CN" sz="2000" b="1" kern="100" dirty="0"/>
              <a:t>在第二阶段，主要是利用那些可互联簇头节点的被覆盖节点（非</a:t>
            </a:r>
            <a:r>
              <a:rPr lang="en-US" altLang="zh-CN" sz="2000" b="1" kern="100" dirty="0"/>
              <a:t>MIS</a:t>
            </a:r>
            <a:r>
              <a:rPr lang="zh-CN" altLang="zh-CN" sz="2000" b="1" kern="100" dirty="0"/>
              <a:t>节点）去构建连通支配集，这些节点称为连接节点。</a:t>
            </a:r>
            <a:r>
              <a:rPr lang="en-US" altLang="zh-CN" sz="2000" b="1" kern="100" dirty="0"/>
              <a:t>MIS</a:t>
            </a:r>
            <a:r>
              <a:rPr lang="zh-CN" altLang="zh-CN" sz="2000" b="1" kern="100" dirty="0"/>
              <a:t>节点通过贪婪算法选中连接节点，该过程使用了</a:t>
            </a:r>
            <a:r>
              <a:rPr lang="en-US" altLang="zh-CN" sz="2000" b="1" kern="100" dirty="0"/>
              <a:t>3</a:t>
            </a:r>
            <a:r>
              <a:rPr lang="zh-CN" altLang="zh-CN" sz="2000" b="1" kern="100" dirty="0"/>
              <a:t>个消息：首先，一个已经成为了连通支配集一部分的非</a:t>
            </a:r>
            <a:r>
              <a:rPr lang="en-US" altLang="zh-CN" sz="2000" b="1" kern="100" dirty="0"/>
              <a:t>MIS</a:t>
            </a:r>
            <a:r>
              <a:rPr lang="zh-CN" altLang="zh-CN" sz="2000" b="1" kern="100" dirty="0"/>
              <a:t>节点发送一个</a:t>
            </a:r>
            <a:r>
              <a:rPr lang="en-US" altLang="zh-CN" sz="2000" b="1" kern="100" dirty="0"/>
              <a:t>Blue</a:t>
            </a:r>
            <a:r>
              <a:rPr lang="zh-CN" altLang="zh-CN" sz="2000" b="1" kern="100" dirty="0"/>
              <a:t>消息通知它的邻居；然后，</a:t>
            </a:r>
            <a:r>
              <a:rPr lang="en-US" altLang="zh-CN" sz="2000" b="1" kern="100" dirty="0"/>
              <a:t>MIS</a:t>
            </a:r>
            <a:r>
              <a:rPr lang="zh-CN" altLang="zh-CN" sz="2000" b="1" kern="100" dirty="0"/>
              <a:t>节点发送</a:t>
            </a:r>
            <a:r>
              <a:rPr lang="en-US" altLang="zh-CN" sz="2000" b="1" kern="100" dirty="0"/>
              <a:t>Invite</a:t>
            </a:r>
            <a:r>
              <a:rPr lang="zh-CN" altLang="zh-CN" sz="2000" b="1" kern="100" dirty="0"/>
              <a:t>消息给非</a:t>
            </a:r>
            <a:r>
              <a:rPr lang="en-US" altLang="zh-CN" sz="2000" b="1" kern="100" dirty="0"/>
              <a:t>MIS</a:t>
            </a:r>
            <a:r>
              <a:rPr lang="zh-CN" altLang="zh-CN" sz="2000" b="1" kern="100" dirty="0"/>
              <a:t>节点，去邀请它们成为连接节点；收到</a:t>
            </a:r>
            <a:r>
              <a:rPr lang="en-US" altLang="zh-CN" sz="2000" b="1" kern="100" dirty="0"/>
              <a:t>Invite</a:t>
            </a:r>
            <a:r>
              <a:rPr lang="zh-CN" altLang="zh-CN" sz="2000" b="1" kern="100" dirty="0"/>
              <a:t>消息的非</a:t>
            </a:r>
            <a:r>
              <a:rPr lang="en-US" altLang="zh-CN" sz="2000" b="1" kern="100" dirty="0"/>
              <a:t>MIS</a:t>
            </a:r>
            <a:r>
              <a:rPr lang="zh-CN" altLang="zh-CN" sz="2000" b="1" kern="100" dirty="0"/>
              <a:t>节点，计算自身的权值然后返回</a:t>
            </a:r>
            <a:r>
              <a:rPr lang="en-US" altLang="zh-CN" sz="2000" b="1" kern="100" dirty="0"/>
              <a:t>Update</a:t>
            </a:r>
            <a:r>
              <a:rPr lang="zh-CN" altLang="zh-CN" sz="2000" b="1" kern="100" dirty="0"/>
              <a:t>消息，拥有最高权值的非</a:t>
            </a:r>
            <a:r>
              <a:rPr lang="en-US" altLang="zh-CN" sz="2000" b="1" kern="100" dirty="0"/>
              <a:t>MIS</a:t>
            </a:r>
            <a:r>
              <a:rPr lang="zh-CN" altLang="zh-CN" sz="2000" b="1" kern="100" dirty="0"/>
              <a:t>节点将成为连接节点。最终，所有的</a:t>
            </a:r>
            <a:r>
              <a:rPr lang="en-US" altLang="zh-CN" sz="2000" b="1" kern="100" dirty="0"/>
              <a:t>Black</a:t>
            </a:r>
            <a:r>
              <a:rPr lang="zh-CN" altLang="zh-CN" sz="2000" b="1" kern="100" dirty="0"/>
              <a:t>节点和连接节点构成连通支配集。</a:t>
            </a:r>
            <a:endParaRPr lang="en-US" altLang="zh-CN" sz="2000" b="1" kern="100" dirty="0"/>
          </a:p>
          <a:p>
            <a:pPr lvl="1" eaLnBrk="1" hangingPunct="1">
              <a:lnSpc>
                <a:spcPct val="100000"/>
              </a:lnSpc>
              <a:spcBef>
                <a:spcPts val="600"/>
              </a:spcBef>
              <a:defRPr/>
            </a:pPr>
            <a:endParaRPr lang="en-US" altLang="zh-CN" sz="2000" b="1" kern="100" dirty="0"/>
          </a:p>
          <a:p>
            <a:pPr marL="0" indent="0">
              <a:lnSpc>
                <a:spcPct val="100000"/>
              </a:lnSpc>
              <a:spcBef>
                <a:spcPts val="600"/>
              </a:spcBef>
              <a:buNone/>
              <a:defRPr/>
            </a:pPr>
            <a:r>
              <a:rPr lang="en-US" altLang="zh-CN" sz="2000" b="1" kern="100" dirty="0"/>
              <a:t>   EECDS</a:t>
            </a:r>
            <a:r>
              <a:rPr lang="zh-CN" altLang="zh-CN" sz="2000" b="1" kern="100" dirty="0"/>
              <a:t>算法的</a:t>
            </a:r>
            <a:r>
              <a:rPr lang="zh-CN" altLang="zh-CN" sz="2000" b="1" kern="100" dirty="0">
                <a:solidFill>
                  <a:srgbClr val="C00000"/>
                </a:solidFill>
              </a:rPr>
              <a:t>主要缺点是它的消息复杂度</a:t>
            </a:r>
            <a:r>
              <a:rPr lang="zh-CN" altLang="zh-CN" sz="2000" b="1" kern="100" dirty="0">
                <a:solidFill>
                  <a:schemeClr val="bg2"/>
                </a:solidFill>
              </a:rPr>
              <a:t>。</a:t>
            </a:r>
            <a:r>
              <a:rPr lang="zh-CN" altLang="zh-CN" sz="2000" b="1" kern="100" dirty="0"/>
              <a:t>在算法的两个阶段，包括独立集和最后生成树形成的过程都使用了竞争机制，即每个阶段都需要去确定最好的候选者。从消息开销的角度来讲，</a:t>
            </a:r>
            <a:r>
              <a:rPr lang="zh-CN" altLang="zh-CN" sz="2000" b="1" kern="100" dirty="0">
                <a:solidFill>
                  <a:srgbClr val="C00000"/>
                </a:solidFill>
              </a:rPr>
              <a:t>竞争过程的代价是非常大的</a:t>
            </a:r>
            <a:r>
              <a:rPr lang="zh-CN" altLang="zh-CN" sz="2000" b="1" kern="100" dirty="0"/>
              <a:t>，因为要得到自身的权值，每个节点都要去询问它的邻居的状态。</a:t>
            </a:r>
            <a:r>
              <a:rPr lang="zh-CN" altLang="zh-CN" sz="2000" b="1" kern="100" dirty="0">
                <a:solidFill>
                  <a:srgbClr val="C00000"/>
                </a:solidFill>
              </a:rPr>
              <a:t>由于网络拥塞和碰撞，在密集型网络中算法效率尤其低效</a:t>
            </a:r>
            <a:r>
              <a:rPr lang="zh-CN" altLang="zh-CN" sz="2000" b="1" kern="100" dirty="0">
                <a:solidFill>
                  <a:schemeClr val="bg2"/>
                </a:solidFill>
              </a:rPr>
              <a:t>。</a:t>
            </a:r>
            <a:endParaRPr lang="zh-CN" altLang="zh-CN" sz="2000" b="1" kern="100" dirty="0">
              <a:solidFill>
                <a:schemeClr val="bg2"/>
              </a:solidFill>
            </a:endParaRPr>
          </a:p>
          <a:p>
            <a:pPr marL="0" indent="0">
              <a:lnSpc>
                <a:spcPct val="100000"/>
              </a:lnSpc>
              <a:spcBef>
                <a:spcPts val="600"/>
              </a:spcBef>
              <a:buNone/>
              <a:defRPr/>
            </a:pPr>
            <a:r>
              <a:rPr lang="en-US" altLang="zh-CN" sz="2000" b="1" kern="100" dirty="0"/>
              <a:t>   </a:t>
            </a:r>
            <a:r>
              <a:rPr lang="zh-CN" altLang="zh-CN" sz="2000" b="1" kern="100" dirty="0"/>
              <a:t>在</a:t>
            </a:r>
            <a:r>
              <a:rPr lang="en-US" altLang="zh-CN" sz="2000" b="1" kern="100" dirty="0"/>
              <a:t>EECDS</a:t>
            </a:r>
            <a:r>
              <a:rPr lang="zh-CN" altLang="zh-CN" sz="2000" b="1" kern="100" dirty="0"/>
              <a:t>中，那些收集邻居信息的簇头节点容易较快耗尽能量。</a:t>
            </a:r>
            <a:r>
              <a:rPr lang="en-US" altLang="zh-CN" sz="2000" b="1" kern="100" dirty="0"/>
              <a:t>EECDS</a:t>
            </a:r>
            <a:r>
              <a:rPr lang="zh-CN" altLang="zh-CN" sz="2000" b="1" kern="100" dirty="0"/>
              <a:t>算法在各个阶段，每个节点都只发送一类信息，所以它的信息复杂度为</a:t>
            </a:r>
            <a:r>
              <a:rPr lang="en-US" altLang="zh-CN" sz="2000" b="1" kern="100" dirty="0"/>
              <a:t>O(n)</a:t>
            </a:r>
            <a:r>
              <a:rPr lang="zh-CN" altLang="zh-CN" sz="2000" b="1" kern="100" dirty="0"/>
              <a:t>；在构建</a:t>
            </a:r>
            <a:r>
              <a:rPr lang="en-US" altLang="zh-CN" sz="2000" b="1" kern="100" dirty="0"/>
              <a:t>MIS</a:t>
            </a:r>
            <a:r>
              <a:rPr lang="zh-CN" altLang="zh-CN" sz="2000" b="1" kern="100" dirty="0"/>
              <a:t>时，其过程最复杂的，它的时间复杂度最差情况下也为</a:t>
            </a:r>
            <a:r>
              <a:rPr lang="en-US" altLang="zh-CN" sz="2000" b="1" kern="100" dirty="0"/>
              <a:t>O(n)</a:t>
            </a:r>
            <a:r>
              <a:rPr lang="zh-CN" altLang="zh-CN" sz="2000" b="1" kern="100" dirty="0"/>
              <a:t>。</a:t>
            </a:r>
            <a:endParaRPr lang="en-US" sz="4400" b="1" u="sng">
              <a:solidFill>
                <a:srgbClr val="1D41D5"/>
              </a:solidFill>
              <a:uFillTx/>
              <a:latin typeface="Times New Roman" panose="02020603050405020304" pitchFamily="18" charset="0"/>
              <a:cs typeface="+mj-cs"/>
            </a:endParaRPr>
          </a:p>
          <a:p>
            <a:pPr marL="0" indent="0">
              <a:buNone/>
              <a:defRPr/>
            </a:pPr>
            <a:endParaRPr lang="zh-CN" altLang="zh-CN" sz="2000" b="1" kern="100" dirty="0">
              <a:solidFill>
                <a:schemeClr val="bg2"/>
              </a:solidFill>
            </a:endParaRPr>
          </a:p>
          <a:p>
            <a:pPr eaLnBrk="1" hangingPunct="1">
              <a:lnSpc>
                <a:spcPct val="180000"/>
              </a:lnSpc>
              <a:buFont typeface="Wingdings" panose="05000000000000000000" pitchFamily="2" charset="2"/>
              <a:buNone/>
              <a:defRPr/>
            </a:pPr>
            <a:endParaRPr lang="zh-CN" altLang="zh-CN" sz="20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20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16000" y="1325563"/>
            <a:ext cx="10516235" cy="5261504"/>
          </a:xfrm>
        </p:spPr>
        <p:txBody>
          <a:bodyPr>
            <a:normAutofit/>
          </a:bodyPr>
          <a:lstStyle/>
          <a:p>
            <a:pPr marL="0" indent="0">
              <a:lnSpc>
                <a:spcPct val="100000"/>
              </a:lnSpc>
              <a:spcBef>
                <a:spcPts val="600"/>
              </a:spcBef>
              <a:buNone/>
              <a:defRPr/>
            </a:pPr>
            <a:r>
              <a:rPr lang="en-US" altLang="zh-CN" sz="2000" b="1" kern="100" dirty="0"/>
              <a:t>2</a:t>
            </a:r>
            <a:r>
              <a:rPr lang="zh-CN" altLang="en-US" sz="2000" b="1" kern="100" dirty="0"/>
              <a:t>）</a:t>
            </a:r>
            <a:r>
              <a:rPr lang="en-US" altLang="zh-CN" sz="2000" b="1" kern="100" dirty="0"/>
              <a:t>CDS-Rule-K</a:t>
            </a:r>
            <a:r>
              <a:rPr lang="zh-CN" altLang="zh-CN" sz="2000" b="1" kern="100" dirty="0">
                <a:cs typeface="Times New Roman" panose="02020603050405020304" pitchFamily="18" charset="0"/>
              </a:rPr>
              <a:t>算法</a:t>
            </a:r>
            <a:endParaRPr lang="en-US" altLang="zh-CN" sz="2000" b="1" kern="100" dirty="0">
              <a:cs typeface="Times New Roman" panose="02020603050405020304" pitchFamily="18" charset="0"/>
            </a:endParaRPr>
          </a:p>
          <a:p>
            <a:pPr marL="0" indent="0">
              <a:lnSpc>
                <a:spcPct val="100000"/>
              </a:lnSpc>
              <a:spcBef>
                <a:spcPts val="600"/>
              </a:spcBef>
              <a:buNone/>
              <a:defRPr/>
            </a:pPr>
            <a:r>
              <a:rPr lang="en-US" altLang="zh-CN" sz="2000" b="1" kern="100" dirty="0"/>
              <a:t>   CDS-Rule-K</a:t>
            </a:r>
            <a:r>
              <a:rPr lang="zh-CN" altLang="zh-CN" sz="2000" b="1" kern="100" dirty="0"/>
              <a:t>算法利用了剪枝规则和标记算法。该算法的思想是以一个超大节点集作为框架，在此基础上通过一定的规则对它进行修剪，去除非必要的节点，从而完成最小化的目标。该算法分为两个阶段。</a:t>
            </a:r>
            <a:endParaRPr lang="en-US" altLang="zh-CN" sz="2000" b="1" kern="100" dirty="0"/>
          </a:p>
          <a:p>
            <a:pPr marL="0" indent="0">
              <a:lnSpc>
                <a:spcPct val="100000"/>
              </a:lnSpc>
              <a:spcBef>
                <a:spcPts val="600"/>
              </a:spcBef>
              <a:buNone/>
              <a:defRPr/>
            </a:pPr>
            <a:r>
              <a:rPr lang="zh-CN" altLang="zh-CN" sz="2000" b="1" kern="100" dirty="0"/>
              <a:t>在第一阶段创建一个初始</a:t>
            </a:r>
            <a:r>
              <a:rPr lang="en-US" altLang="zh-CN" sz="2000" b="1" kern="100" dirty="0"/>
              <a:t>CDS</a:t>
            </a:r>
            <a:r>
              <a:rPr lang="zh-CN" altLang="zh-CN" sz="2000" b="1" kern="100" dirty="0"/>
              <a:t>树，其中使用了以下标记（</a:t>
            </a:r>
            <a:r>
              <a:rPr lang="en-US" altLang="zh-CN" sz="2000" b="1" kern="100" dirty="0"/>
              <a:t>mark</a:t>
            </a:r>
            <a:r>
              <a:rPr lang="zh-CN" altLang="zh-CN" sz="2000" b="1" kern="100" dirty="0"/>
              <a:t>）过程：</a:t>
            </a:r>
            <a:endParaRPr lang="en-US" altLang="zh-CN" sz="2000" b="1" kern="100" dirty="0"/>
          </a:p>
          <a:p>
            <a:pPr marL="0" indent="0">
              <a:lnSpc>
                <a:spcPct val="100000"/>
              </a:lnSpc>
              <a:spcBef>
                <a:spcPts val="600"/>
              </a:spcBef>
              <a:buNone/>
              <a:defRPr/>
            </a:pPr>
            <a:endParaRPr lang="en-US" altLang="zh-CN" sz="2000" b="1" kern="100" dirty="0"/>
          </a:p>
          <a:p>
            <a:pPr marL="0" indent="0">
              <a:lnSpc>
                <a:spcPct val="100000"/>
              </a:lnSpc>
              <a:spcBef>
                <a:spcPts val="600"/>
              </a:spcBef>
              <a:buNone/>
              <a:defRPr/>
            </a:pP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式中，</a:t>
            </a:r>
            <a:r>
              <a:rPr lang="en-US" altLang="zh-CN" sz="2000" b="1" i="1" kern="100" dirty="0"/>
              <a:t>N</a:t>
            </a:r>
            <a:r>
              <a:rPr lang="en-US" altLang="zh-CN" sz="2000" b="1" kern="100" dirty="0"/>
              <a:t>(</a:t>
            </a:r>
            <a:r>
              <a:rPr lang="en-US" altLang="zh-CN" sz="2000" b="1" i="1" kern="100" dirty="0"/>
              <a:t>v</a:t>
            </a:r>
            <a:r>
              <a:rPr lang="en-US" altLang="zh-CN" sz="2000" b="1" kern="100" dirty="0"/>
              <a:t>)</a:t>
            </a:r>
            <a:r>
              <a:rPr lang="zh-CN" altLang="zh-CN" sz="2000" b="1" kern="100" dirty="0"/>
              <a:t>是</a:t>
            </a:r>
            <a:r>
              <a:rPr lang="en-US" altLang="zh-CN" sz="2000" b="1" i="1" kern="100" dirty="0"/>
              <a:t>v</a:t>
            </a:r>
            <a:r>
              <a:rPr lang="zh-CN" altLang="zh-CN" sz="2000" b="1" kern="100" dirty="0"/>
              <a:t>的邻居节点集合；</a:t>
            </a:r>
            <a:r>
              <a:rPr lang="en-US" altLang="zh-CN" sz="2000" b="1" i="1" kern="100" dirty="0"/>
              <a:t>E</a:t>
            </a:r>
            <a:r>
              <a:rPr lang="zh-CN" altLang="zh-CN" sz="2000" b="1" kern="100" dirty="0"/>
              <a:t>是网络所有链路的集合。式（</a:t>
            </a:r>
            <a:r>
              <a:rPr lang="en-US" altLang="zh-CN" sz="2000" b="1" kern="100" dirty="0"/>
              <a:t>4-2-5</a:t>
            </a:r>
            <a:r>
              <a:rPr lang="zh-CN" altLang="zh-CN" sz="2000" b="1" kern="100" dirty="0"/>
              <a:t>）的含义是：如果节点</a:t>
            </a:r>
            <a:r>
              <a:rPr lang="en-US" altLang="zh-CN" sz="2000" b="1" i="1" kern="100" dirty="0"/>
              <a:t>v</a:t>
            </a:r>
            <a:r>
              <a:rPr lang="zh-CN" altLang="zh-CN" sz="2000" b="1" kern="100" dirty="0"/>
              <a:t>存在两个彼此未连通的邻居节点，那么节点</a:t>
            </a:r>
            <a:r>
              <a:rPr lang="en-US" altLang="zh-CN" sz="2000" b="1" i="1" kern="100" dirty="0"/>
              <a:t>v</a:t>
            </a:r>
            <a:r>
              <a:rPr lang="zh-CN" altLang="zh-CN" sz="2000" b="1" kern="100" dirty="0"/>
              <a:t>将被包括在初始集合中。具体的算法过程为：相邻节点之间交换</a:t>
            </a:r>
            <a:r>
              <a:rPr lang="en-US" altLang="zh-CN" sz="2000" b="1" kern="100" dirty="0"/>
              <a:t>HELLO</a:t>
            </a:r>
            <a:r>
              <a:rPr lang="zh-CN" altLang="zh-CN" sz="2000" b="1" kern="100" dirty="0"/>
              <a:t>信息，提供自己的邻居节点列表；一个节点收到相邻节点的邻居节点列表后，与自己的邻居节点列表进行对比，如果自身邻居节点列表中有节点不在所收到邻居节点列表中，则该节点标记自身，并被包括在初始集合中。</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在第二阶段，如果一个节点确信它的邻居节点都被更高优先级的节点覆盖到了，那么它将取消自己的标记（剪除非必要节点），该过程可选用下面三条规则。</a:t>
            </a:r>
            <a:endParaRPr lang="zh-CN" altLang="zh-CN" sz="2000" b="1" kern="100" dirty="0"/>
          </a:p>
          <a:p>
            <a:pPr lvl="1" eaLnBrk="1" hangingPunct="1">
              <a:spcBef>
                <a:spcPts val="600"/>
              </a:spcBef>
              <a:defRPr/>
            </a:pPr>
            <a:endParaRPr lang="zh-CN" altLang="zh-CN" sz="1800" b="1" kern="100" dirty="0"/>
          </a:p>
        </p:txBody>
      </p:sp>
      <p:graphicFrame>
        <p:nvGraphicFramePr>
          <p:cNvPr id="38916" name="对象 4"/>
          <p:cNvGraphicFramePr>
            <a:graphicFrameLocks noChangeAspect="1"/>
          </p:cNvGraphicFramePr>
          <p:nvPr/>
        </p:nvGraphicFramePr>
        <p:xfrm>
          <a:off x="3124200" y="3250406"/>
          <a:ext cx="4267200" cy="357188"/>
        </p:xfrm>
        <a:graphic>
          <a:graphicData uri="http://schemas.openxmlformats.org/presentationml/2006/ole">
            <mc:AlternateContent xmlns:mc="http://schemas.openxmlformats.org/markup-compatibility/2006">
              <mc:Choice xmlns:v="urn:schemas-microsoft-com:vml" Requires="v">
                <p:oleObj spid="_x0000_s20547" name="Equation" r:id="rId1" imgW="2392680" imgH="201295" progId="Equation.DSMT4">
                  <p:embed/>
                </p:oleObj>
              </mc:Choice>
              <mc:Fallback>
                <p:oleObj name="Equation" r:id="rId1" imgW="2392680" imgH="201295" progId="Equation.DSMT4">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250406"/>
                        <a:ext cx="42672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p:cNvSpPr txBox="1"/>
          <p:nvPr/>
        </p:nvSpPr>
        <p:spPr>
          <a:xfrm>
            <a:off x="8966517" y="3275806"/>
            <a:ext cx="990600" cy="306388"/>
          </a:xfrm>
          <a:prstGeom prst="rect">
            <a:avLst/>
          </a:prstGeom>
          <a:noFill/>
        </p:spPr>
        <p:txBody>
          <a:bodyPr>
            <a:spAutoFit/>
          </a:bodyPr>
          <a:lstStyle/>
          <a:p>
            <a:pPr>
              <a:defRPr/>
            </a:pPr>
            <a:r>
              <a:rPr lang="zh-CN" altLang="zh-CN" sz="1400" b="1" kern="100" dirty="0">
                <a:latin typeface="宋体" panose="02010600030101010101" pitchFamily="2" charset="-122"/>
                <a:ea typeface="宋体" panose="02010600030101010101" pitchFamily="2" charset="-122"/>
              </a:rPr>
              <a:t>式</a:t>
            </a:r>
            <a:r>
              <a:rPr lang="en-US" altLang="zh-CN" sz="1400" b="1" kern="100" dirty="0">
                <a:latin typeface="宋体" panose="02010600030101010101" pitchFamily="2" charset="-122"/>
                <a:ea typeface="宋体" panose="02010600030101010101" pitchFamily="2" charset="-122"/>
              </a:rPr>
              <a:t>(4-2-5)</a:t>
            </a:r>
            <a:endParaRPr lang="zh-CN" altLang="en-US" sz="1400" dirty="0">
              <a:latin typeface="宋体" panose="02010600030101010101" pitchFamily="2" charset="-122"/>
              <a:ea typeface="宋体" panose="02010600030101010101" pitchFamily="2" charset="-122"/>
            </a:endParaRPr>
          </a:p>
        </p:txBody>
      </p:sp>
      <p:sp>
        <p:nvSpPr>
          <p:cNvPr id="63" name="标题 5121"/>
          <p:cNvSpPr>
            <a:spLocks noGrp="1" noChangeArrowheads="1"/>
          </p:cNvSpPr>
          <p:nvPr>
            <p:ph type="title"/>
          </p:nvPr>
        </p:nvSpPr>
        <p:spPr>
          <a:xfrm>
            <a:off x="838200" y="0"/>
            <a:ext cx="10515600" cy="1325563"/>
          </a:xfrm>
        </p:spPr>
        <p:txBody>
          <a:bodyPr/>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53899" y="1352332"/>
            <a:ext cx="10516235" cy="4351655"/>
          </a:xfrm>
        </p:spPr>
        <p:txBody>
          <a:bodyPr/>
          <a:lstStyle/>
          <a:p>
            <a:pPr marL="0" indent="0">
              <a:lnSpc>
                <a:spcPct val="100000"/>
              </a:lnSpc>
              <a:spcBef>
                <a:spcPts val="600"/>
              </a:spcBef>
              <a:buNone/>
              <a:defRPr/>
            </a:pPr>
            <a:r>
              <a:rPr lang="en-US" altLang="zh-CN" sz="1800" b="1" kern="100" dirty="0"/>
              <a:t>   </a:t>
            </a:r>
            <a:r>
              <a:rPr lang="zh-CN" altLang="zh-CN" sz="2000" b="1" kern="100" dirty="0"/>
              <a:t>规则</a:t>
            </a:r>
            <a:r>
              <a:rPr lang="en-US" altLang="zh-CN" sz="2000" b="1" kern="100" dirty="0"/>
              <a:t>1</a:t>
            </a:r>
            <a:r>
              <a:rPr lang="zh-CN" altLang="zh-CN" sz="2000" b="1" kern="100" dirty="0"/>
              <a:t>：对于标记节点，如果它所有的邻居节点都被具有更高优先级的已标记节点所盖，那么它将取消自身的标记。如图</a:t>
            </a:r>
            <a:r>
              <a:rPr lang="en-US" altLang="zh-CN" sz="2000" b="1" kern="100" dirty="0"/>
              <a:t>4-2-3</a:t>
            </a:r>
            <a:r>
              <a:rPr lang="zh-CN" altLang="zh-CN" sz="2000" b="1" kern="100" dirty="0"/>
              <a:t>（</a:t>
            </a:r>
            <a:r>
              <a:rPr lang="en-US" altLang="zh-CN" sz="2000" b="1" kern="100" dirty="0"/>
              <a:t>a</a:t>
            </a:r>
            <a:r>
              <a:rPr lang="zh-CN" altLang="zh-CN" sz="2000" b="1" kern="100" dirty="0"/>
              <a:t>）中，标记节点</a:t>
            </a:r>
            <a:r>
              <a:rPr lang="en-US" altLang="zh-CN" sz="2000" b="1" kern="100" dirty="0"/>
              <a:t>u</a:t>
            </a:r>
            <a:r>
              <a:rPr lang="zh-CN" altLang="zh-CN" sz="2000" b="1" kern="100" dirty="0"/>
              <a:t>覆盖了节点</a:t>
            </a:r>
            <a:r>
              <a:rPr lang="en-US" altLang="zh-CN" sz="2000" b="1" kern="100" dirty="0"/>
              <a:t>v</a:t>
            </a:r>
            <a:r>
              <a:rPr lang="zh-CN" altLang="zh-CN" sz="2000" b="1" kern="100" dirty="0"/>
              <a:t>的所有邻居节点，且</a:t>
            </a:r>
            <a:r>
              <a:rPr lang="en-US" altLang="zh-CN" sz="2000" b="1" kern="100" dirty="0"/>
              <a:t>u</a:t>
            </a:r>
            <a:r>
              <a:rPr lang="zh-CN" altLang="zh-CN" sz="2000" b="1" kern="100" dirty="0"/>
              <a:t>比</a:t>
            </a:r>
            <a:r>
              <a:rPr lang="en-US" altLang="zh-CN" sz="2000" b="1" kern="100" dirty="0"/>
              <a:t>v</a:t>
            </a:r>
            <a:r>
              <a:rPr lang="zh-CN" altLang="zh-CN" sz="2000" b="1" kern="100" dirty="0"/>
              <a:t>有更高的优先级，则可取消</a:t>
            </a:r>
            <a:r>
              <a:rPr lang="en-US" altLang="zh-CN" sz="2000" b="1" kern="100" dirty="0"/>
              <a:t>v</a:t>
            </a:r>
            <a:r>
              <a:rPr lang="zh-CN" altLang="zh-CN" sz="2000" b="1" kern="100" dirty="0"/>
              <a:t>的标记。</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规则</a:t>
            </a:r>
            <a:r>
              <a:rPr lang="en-US" altLang="zh-CN" sz="2000" b="1" kern="100" dirty="0"/>
              <a:t>2</a:t>
            </a:r>
            <a:r>
              <a:rPr lang="zh-CN" altLang="zh-CN" sz="2000" b="1" kern="100" dirty="0"/>
              <a:t>：对于标记节点，如果它的邻居节点被两个其他直接相连的已标记邻居节点所覆盖，那么它将取消自身的标记。如图</a:t>
            </a:r>
            <a:r>
              <a:rPr lang="en-US" altLang="zh-CN" sz="2000" b="1" kern="100" dirty="0"/>
              <a:t>4-2-3</a:t>
            </a:r>
            <a:r>
              <a:rPr lang="zh-CN" altLang="zh-CN" sz="2000" b="1" kern="100" dirty="0"/>
              <a:t>（</a:t>
            </a:r>
            <a:r>
              <a:rPr lang="en-US" altLang="zh-CN" sz="2000" b="1" kern="100" dirty="0"/>
              <a:t>b</a:t>
            </a:r>
            <a:r>
              <a:rPr lang="zh-CN" altLang="zh-CN" sz="2000" b="1" kern="100" dirty="0"/>
              <a:t>）中，标记节点</a:t>
            </a:r>
            <a:r>
              <a:rPr lang="en-US" altLang="zh-CN" sz="2000" b="1" kern="100" dirty="0"/>
              <a:t>v</a:t>
            </a:r>
            <a:r>
              <a:rPr lang="zh-CN" altLang="zh-CN" sz="2000" b="1" kern="100" dirty="0"/>
              <a:t>的邻居节点都被直接相连的目标记邻居节点</a:t>
            </a:r>
            <a:r>
              <a:rPr lang="en-US" altLang="zh-CN" sz="2000" b="1" kern="100" dirty="0"/>
              <a:t>u</a:t>
            </a:r>
            <a:r>
              <a:rPr lang="zh-CN" altLang="zh-CN" sz="2000" b="1" kern="100" dirty="0"/>
              <a:t>和</a:t>
            </a:r>
            <a:r>
              <a:rPr lang="en-US" altLang="zh-CN" sz="2000" b="1" kern="100" dirty="0"/>
              <a:t>w</a:t>
            </a:r>
            <a:r>
              <a:rPr lang="zh-CN" altLang="zh-CN" sz="2000" b="1" kern="100" dirty="0"/>
              <a:t>所覆盖，且</a:t>
            </a:r>
            <a:r>
              <a:rPr lang="en-US" altLang="zh-CN" sz="2000" b="1" kern="100" dirty="0"/>
              <a:t>v</a:t>
            </a:r>
            <a:r>
              <a:rPr lang="zh-CN" altLang="zh-CN" sz="2000" b="1" kern="100" dirty="0"/>
              <a:t>的优先级不高于</a:t>
            </a:r>
            <a:r>
              <a:rPr lang="en-US" altLang="zh-CN" sz="2000" b="1" kern="100" dirty="0"/>
              <a:t>u</a:t>
            </a:r>
            <a:r>
              <a:rPr lang="zh-CN" altLang="zh-CN" sz="2000" b="1" kern="100" dirty="0"/>
              <a:t>和</a:t>
            </a:r>
            <a:r>
              <a:rPr lang="en-US" altLang="zh-CN" sz="2000" b="1" kern="100" dirty="0"/>
              <a:t>w</a:t>
            </a:r>
            <a:r>
              <a:rPr lang="zh-CN" altLang="zh-CN" sz="2000" b="1" kern="100" dirty="0"/>
              <a:t>的优先级，则可取消可</a:t>
            </a:r>
            <a:r>
              <a:rPr lang="en-US" altLang="zh-CN" sz="2000" b="1" kern="100" dirty="0"/>
              <a:t>v</a:t>
            </a:r>
            <a:r>
              <a:rPr lang="zh-CN" altLang="zh-CN" sz="2000" b="1" kern="100" dirty="0"/>
              <a:t>的标记。</a:t>
            </a:r>
            <a:endParaRPr lang="en-US" altLang="zh-CN" sz="2000" b="1" kern="100" dirty="0"/>
          </a:p>
          <a:p>
            <a:pPr marL="0" indent="0">
              <a:lnSpc>
                <a:spcPct val="100000"/>
              </a:lnSpc>
              <a:spcBef>
                <a:spcPts val="600"/>
              </a:spcBef>
              <a:buNone/>
              <a:defRPr/>
            </a:pPr>
            <a:r>
              <a:rPr lang="en-US" altLang="zh-CN" sz="2000" b="1" kern="100" dirty="0"/>
              <a:t>   </a:t>
            </a:r>
            <a:r>
              <a:rPr lang="zh-CN" altLang="zh-CN" sz="2000" b="1" kern="100" dirty="0"/>
              <a:t>规则</a:t>
            </a:r>
            <a:r>
              <a:rPr lang="en-US" altLang="zh-CN" sz="2000" b="1" kern="100" dirty="0"/>
              <a:t>k</a:t>
            </a:r>
            <a:r>
              <a:rPr lang="zh-CN" altLang="zh-CN" sz="2000" b="1" kern="100" dirty="0"/>
              <a:t>：对于</a:t>
            </a:r>
            <a:r>
              <a:rPr lang="en-US" altLang="zh-CN" sz="2000" b="1" kern="100" dirty="0"/>
              <a:t>k</a:t>
            </a:r>
            <a:r>
              <a:rPr lang="zh-CN" altLang="zh-CN" sz="2000" b="1" kern="100" dirty="0"/>
              <a:t>个连通的标记节点</a:t>
            </a:r>
            <a:r>
              <a:rPr lang="en-US" altLang="zh-CN" sz="2000" b="1" kern="100" dirty="0"/>
              <a:t>{v1</a:t>
            </a:r>
            <a:r>
              <a:rPr lang="zh-CN" altLang="zh-CN" sz="2000" b="1" kern="100" dirty="0"/>
              <a:t>，</a:t>
            </a:r>
            <a:r>
              <a:rPr lang="en-US" altLang="zh-CN" sz="2000" b="1" kern="100" dirty="0"/>
              <a:t>v2,</a:t>
            </a:r>
            <a:r>
              <a:rPr lang="zh-CN" altLang="zh-CN" sz="2000" b="1" kern="100" dirty="0"/>
              <a:t>…，</a:t>
            </a:r>
            <a:r>
              <a:rPr lang="en-US" altLang="zh-CN" sz="2000" b="1" kern="100" dirty="0" err="1"/>
              <a:t>vk</a:t>
            </a:r>
            <a:r>
              <a:rPr lang="en-US" altLang="zh-CN" sz="2000" b="1" kern="100" dirty="0"/>
              <a:t>}</a:t>
            </a:r>
            <a:r>
              <a:rPr lang="zh-CN" altLang="zh-CN" sz="2000" b="1" kern="100" dirty="0"/>
              <a:t>，如果节点</a:t>
            </a:r>
            <a:r>
              <a:rPr lang="en-US" altLang="zh-CN" sz="2000" b="1" kern="100" dirty="0"/>
              <a:t>vi</a:t>
            </a:r>
            <a:r>
              <a:rPr lang="zh-CN" altLang="zh-CN" sz="2000" b="1" kern="100" dirty="0"/>
              <a:t>具有最低优先级，</a:t>
            </a:r>
            <a:r>
              <a:rPr lang="en-US" altLang="zh-CN" sz="2000" b="1" kern="100" dirty="0"/>
              <a:t>vi</a:t>
            </a:r>
            <a:r>
              <a:rPr lang="zh-CN" altLang="zh-CN" sz="2000" b="1" kern="100" dirty="0"/>
              <a:t>的每个邻居节点都被</a:t>
            </a:r>
            <a:r>
              <a:rPr lang="en-US" altLang="zh-CN" sz="2000" b="1" kern="100" dirty="0"/>
              <a:t>{v1,v2,…,vi-1,vi+1,</a:t>
            </a:r>
            <a:r>
              <a:rPr lang="zh-CN" altLang="zh-CN" sz="2000" b="1" kern="100" dirty="0"/>
              <a:t>…，</a:t>
            </a:r>
            <a:r>
              <a:rPr lang="en-US" altLang="zh-CN" sz="2000" b="1" kern="100" dirty="0" err="1"/>
              <a:t>vk</a:t>
            </a:r>
            <a:r>
              <a:rPr lang="en-US" altLang="zh-CN" sz="2000" b="1" kern="100" dirty="0"/>
              <a:t>}</a:t>
            </a:r>
            <a:r>
              <a:rPr lang="zh-CN" altLang="zh-CN" sz="2000" b="1" kern="100" dirty="0"/>
              <a:t>中的基一个节点所覆盖，则可取消</a:t>
            </a:r>
            <a:r>
              <a:rPr lang="en-US" altLang="zh-CN" sz="2000" b="1" kern="100" dirty="0"/>
              <a:t>vi</a:t>
            </a:r>
            <a:r>
              <a:rPr lang="zh-CN" altLang="zh-CN" sz="2000" b="1" kern="100" dirty="0"/>
              <a:t>的所记。如图 </a:t>
            </a:r>
            <a:r>
              <a:rPr lang="en-US" altLang="zh-CN" sz="2000" b="1" kern="100" dirty="0"/>
              <a:t>4-2-3</a:t>
            </a:r>
            <a:r>
              <a:rPr lang="zh-CN" altLang="zh-CN" sz="2000" b="1" kern="100" dirty="0"/>
              <a:t>（</a:t>
            </a:r>
            <a:r>
              <a:rPr lang="en-US" altLang="zh-CN" sz="2000" b="1" kern="100" dirty="0"/>
              <a:t>c</a:t>
            </a:r>
            <a:r>
              <a:rPr lang="zh-CN" altLang="zh-CN" sz="2000" b="1" kern="100" dirty="0"/>
              <a:t>）所示。</a:t>
            </a:r>
            <a:endParaRPr lang="zh-CN" altLang="zh-CN" sz="2000" b="1" kern="100" dirty="0"/>
          </a:p>
          <a:p>
            <a:pPr lvl="1" eaLnBrk="1" hangingPunct="1">
              <a:defRPr/>
            </a:pPr>
            <a:endParaRPr lang="zh-CN" altLang="zh-CN" sz="1800" b="1" kern="100" dirty="0"/>
          </a:p>
          <a:p>
            <a:pPr marL="0" indent="0">
              <a:buNone/>
              <a:defRPr/>
            </a:pPr>
            <a:endParaRPr lang="zh-CN" altLang="zh-CN" sz="1800" b="1" kern="100" dirty="0"/>
          </a:p>
          <a:p>
            <a:pPr eaLnBrk="1" hangingPunct="1">
              <a:lnSpc>
                <a:spcPct val="180000"/>
              </a:lnSpc>
              <a:buFont typeface="Wingdings" panose="05000000000000000000" pitchFamily="2" charset="2"/>
              <a:buNone/>
              <a:defRPr/>
            </a:pPr>
            <a:endParaRPr lang="zh-CN" altLang="zh-CN" sz="18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grpSp>
        <p:nvGrpSpPr>
          <p:cNvPr id="39940" name="组合 7"/>
          <p:cNvGrpSpPr/>
          <p:nvPr/>
        </p:nvGrpSpPr>
        <p:grpSpPr bwMode="auto">
          <a:xfrm>
            <a:off x="2653030" y="4312920"/>
            <a:ext cx="6712585" cy="2121535"/>
            <a:chOff x="1326" y="2511"/>
            <a:chExt cx="17213" cy="5181"/>
          </a:xfrm>
        </p:grpSpPr>
        <p:sp>
          <p:nvSpPr>
            <p:cNvPr id="9" name="椭圆 8"/>
            <p:cNvSpPr/>
            <p:nvPr/>
          </p:nvSpPr>
          <p:spPr>
            <a:xfrm>
              <a:off x="1350"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0" name="椭圆 9"/>
            <p:cNvSpPr/>
            <p:nvPr/>
          </p:nvSpPr>
          <p:spPr>
            <a:xfrm>
              <a:off x="3115"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1" name="椭圆 10"/>
            <p:cNvSpPr/>
            <p:nvPr/>
          </p:nvSpPr>
          <p:spPr>
            <a:xfrm>
              <a:off x="1350"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2" name="椭圆 11"/>
            <p:cNvSpPr/>
            <p:nvPr/>
          </p:nvSpPr>
          <p:spPr>
            <a:xfrm>
              <a:off x="4879"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3" name="椭圆 12"/>
            <p:cNvSpPr/>
            <p:nvPr/>
          </p:nvSpPr>
          <p:spPr>
            <a:xfrm>
              <a:off x="1452" y="5352"/>
              <a:ext cx="393"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4" name="椭圆 13"/>
            <p:cNvSpPr/>
            <p:nvPr/>
          </p:nvSpPr>
          <p:spPr>
            <a:xfrm>
              <a:off x="3115"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5" name="椭圆 14"/>
            <p:cNvSpPr/>
            <p:nvPr/>
          </p:nvSpPr>
          <p:spPr>
            <a:xfrm>
              <a:off x="3216" y="5352"/>
              <a:ext cx="397"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6" name="椭圆 15"/>
            <p:cNvSpPr/>
            <p:nvPr/>
          </p:nvSpPr>
          <p:spPr>
            <a:xfrm>
              <a:off x="12955"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7" name="椭圆 16"/>
            <p:cNvSpPr/>
            <p:nvPr/>
          </p:nvSpPr>
          <p:spPr>
            <a:xfrm>
              <a:off x="16489"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8" name="椭圆 17"/>
            <p:cNvSpPr/>
            <p:nvPr/>
          </p:nvSpPr>
          <p:spPr>
            <a:xfrm>
              <a:off x="14724"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9" name="椭圆 18"/>
            <p:cNvSpPr/>
            <p:nvPr/>
          </p:nvSpPr>
          <p:spPr>
            <a:xfrm>
              <a:off x="14826" y="5352"/>
              <a:ext cx="397"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0" name="椭圆 19"/>
            <p:cNvSpPr/>
            <p:nvPr/>
          </p:nvSpPr>
          <p:spPr>
            <a:xfrm>
              <a:off x="13803"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1" name="椭圆 20"/>
            <p:cNvSpPr/>
            <p:nvPr/>
          </p:nvSpPr>
          <p:spPr>
            <a:xfrm>
              <a:off x="13905" y="3511"/>
              <a:ext cx="397" cy="41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2" name="椭圆 21"/>
            <p:cNvSpPr/>
            <p:nvPr/>
          </p:nvSpPr>
          <p:spPr>
            <a:xfrm>
              <a:off x="15572"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3" name="椭圆 22"/>
            <p:cNvSpPr/>
            <p:nvPr/>
          </p:nvSpPr>
          <p:spPr>
            <a:xfrm>
              <a:off x="15674" y="3511"/>
              <a:ext cx="397" cy="41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4" name="椭圆 23"/>
            <p:cNvSpPr/>
            <p:nvPr/>
          </p:nvSpPr>
          <p:spPr>
            <a:xfrm>
              <a:off x="17938"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5" name="椭圆 24"/>
            <p:cNvSpPr/>
            <p:nvPr/>
          </p:nvSpPr>
          <p:spPr>
            <a:xfrm>
              <a:off x="17337"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6" name="椭圆 25"/>
            <p:cNvSpPr/>
            <p:nvPr/>
          </p:nvSpPr>
          <p:spPr>
            <a:xfrm>
              <a:off x="17439" y="3511"/>
              <a:ext cx="397" cy="41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27" name="直接连接符 26"/>
            <p:cNvCxnSpPr/>
            <p:nvPr/>
          </p:nvCxnSpPr>
          <p:spPr>
            <a:xfrm>
              <a:off x="1651" y="4030"/>
              <a:ext cx="0" cy="1322"/>
            </a:xfrm>
            <a:prstGeom prst="line">
              <a:avLst/>
            </a:prstGeom>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flipH="1">
              <a:off x="1845" y="5554"/>
              <a:ext cx="1372" cy="0"/>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3415" y="4030"/>
              <a:ext cx="0" cy="1322"/>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a:off x="1859" y="3940"/>
              <a:ext cx="1415" cy="1471"/>
            </a:xfrm>
            <a:prstGeom prst="line">
              <a:avLst/>
            </a:prstGeom>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flipH="1">
              <a:off x="1791" y="3940"/>
              <a:ext cx="1411" cy="1471"/>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flipH="1">
              <a:off x="3556" y="3940"/>
              <a:ext cx="1411" cy="1471"/>
            </a:xfrm>
            <a:prstGeom prst="line">
              <a:avLst/>
            </a:prstGeom>
          </p:spPr>
          <p:style>
            <a:lnRef idx="1">
              <a:schemeClr val="dk1"/>
            </a:lnRef>
            <a:fillRef idx="0">
              <a:schemeClr val="dk1"/>
            </a:fillRef>
            <a:effectRef idx="0">
              <a:schemeClr val="dk1"/>
            </a:effectRef>
            <a:fontRef idx="minor">
              <a:schemeClr val="tx1"/>
            </a:fontRef>
          </p:style>
        </p:cxnSp>
        <p:sp>
          <p:nvSpPr>
            <p:cNvPr id="33" name="椭圆 32"/>
            <p:cNvSpPr/>
            <p:nvPr/>
          </p:nvSpPr>
          <p:spPr>
            <a:xfrm>
              <a:off x="6944"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4" name="椭圆 33"/>
            <p:cNvSpPr/>
            <p:nvPr/>
          </p:nvSpPr>
          <p:spPr>
            <a:xfrm>
              <a:off x="8713"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5" name="椭圆 34"/>
            <p:cNvSpPr/>
            <p:nvPr/>
          </p:nvSpPr>
          <p:spPr>
            <a:xfrm>
              <a:off x="6944"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6" name="椭圆 35"/>
            <p:cNvSpPr/>
            <p:nvPr/>
          </p:nvSpPr>
          <p:spPr>
            <a:xfrm>
              <a:off x="10478" y="339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7" name="椭圆 36"/>
            <p:cNvSpPr/>
            <p:nvPr/>
          </p:nvSpPr>
          <p:spPr>
            <a:xfrm>
              <a:off x="7046" y="5352"/>
              <a:ext cx="397"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8" name="椭圆 37"/>
            <p:cNvSpPr/>
            <p:nvPr/>
          </p:nvSpPr>
          <p:spPr>
            <a:xfrm>
              <a:off x="8713"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9" name="椭圆 38"/>
            <p:cNvSpPr/>
            <p:nvPr/>
          </p:nvSpPr>
          <p:spPr>
            <a:xfrm>
              <a:off x="8815" y="5352"/>
              <a:ext cx="397"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40" name="直接连接符 39"/>
            <p:cNvCxnSpPr/>
            <p:nvPr/>
          </p:nvCxnSpPr>
          <p:spPr>
            <a:xfrm>
              <a:off x="7245" y="4030"/>
              <a:ext cx="0" cy="1322"/>
            </a:xfrm>
            <a:prstGeom prst="line">
              <a:avLst/>
            </a:prstGeom>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flipH="1">
              <a:off x="7443" y="5554"/>
              <a:ext cx="1372" cy="0"/>
            </a:xfrm>
            <a:prstGeom prst="line">
              <a:avLst/>
            </a:prstGeom>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a:xfrm>
              <a:off x="9014" y="4030"/>
              <a:ext cx="0" cy="1322"/>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p:nvPr/>
          </p:nvCxnSpPr>
          <p:spPr>
            <a:xfrm>
              <a:off x="7458" y="3940"/>
              <a:ext cx="1415" cy="1471"/>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7385" y="3940"/>
              <a:ext cx="1415" cy="1471"/>
            </a:xfrm>
            <a:prstGeom prst="line">
              <a:avLst/>
            </a:prstGeom>
          </p:spPr>
          <p:style>
            <a:lnRef idx="1">
              <a:schemeClr val="dk1"/>
            </a:lnRef>
            <a:fillRef idx="0">
              <a:schemeClr val="dk1"/>
            </a:fillRef>
            <a:effectRef idx="0">
              <a:schemeClr val="dk1"/>
            </a:effectRef>
            <a:fontRef idx="minor">
              <a:schemeClr val="tx1"/>
            </a:fontRef>
          </p:style>
        </p:cxnSp>
        <p:cxnSp>
          <p:nvCxnSpPr>
            <p:cNvPr id="45" name="直接连接符 44"/>
            <p:cNvCxnSpPr/>
            <p:nvPr/>
          </p:nvCxnSpPr>
          <p:spPr>
            <a:xfrm flipH="1">
              <a:off x="9154" y="3940"/>
              <a:ext cx="1411" cy="1471"/>
            </a:xfrm>
            <a:prstGeom prst="line">
              <a:avLst/>
            </a:prstGeom>
          </p:spPr>
          <p:style>
            <a:lnRef idx="1">
              <a:schemeClr val="dk1"/>
            </a:lnRef>
            <a:fillRef idx="0">
              <a:schemeClr val="dk1"/>
            </a:fillRef>
            <a:effectRef idx="0">
              <a:schemeClr val="dk1"/>
            </a:effectRef>
            <a:fontRef idx="minor">
              <a:schemeClr val="tx1"/>
            </a:fontRef>
          </p:style>
        </p:cxnSp>
        <p:sp>
          <p:nvSpPr>
            <p:cNvPr id="46" name="椭圆 45"/>
            <p:cNvSpPr/>
            <p:nvPr/>
          </p:nvSpPr>
          <p:spPr>
            <a:xfrm>
              <a:off x="10478" y="5238"/>
              <a:ext cx="601" cy="6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7" name="椭圆 46"/>
            <p:cNvSpPr/>
            <p:nvPr/>
          </p:nvSpPr>
          <p:spPr>
            <a:xfrm>
              <a:off x="10580" y="5352"/>
              <a:ext cx="397" cy="40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48" name="曲线连接符 84"/>
            <p:cNvCxnSpPr/>
            <p:nvPr/>
          </p:nvCxnSpPr>
          <p:spPr>
            <a:xfrm rot="5400000" flipV="1">
              <a:off x="9016" y="4103"/>
              <a:ext cx="0" cy="3534"/>
            </a:xfrm>
            <a:prstGeom prst="curvedConnector3">
              <a:avLst>
                <a:gd name="adj1" fmla="val 75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9213" y="5554"/>
              <a:ext cx="1367" cy="0"/>
            </a:xfrm>
            <a:prstGeom prst="line">
              <a:avLst/>
            </a:prstGeom>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flipH="1">
              <a:off x="13260" y="3863"/>
              <a:ext cx="703" cy="1376"/>
            </a:xfrm>
            <a:prstGeom prst="line">
              <a:avLst/>
            </a:prstGeom>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a:off x="14244" y="3863"/>
              <a:ext cx="780" cy="1489"/>
            </a:xfrm>
            <a:prstGeom prst="line">
              <a:avLst/>
            </a:prstGeom>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a:xfrm flipH="1">
              <a:off x="13556" y="5554"/>
              <a:ext cx="1270" cy="0"/>
            </a:xfrm>
            <a:prstGeom prst="line">
              <a:avLst/>
            </a:prstGeom>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flipH="1">
              <a:off x="14302" y="3714"/>
              <a:ext cx="1372" cy="0"/>
            </a:xfrm>
            <a:prstGeom prst="line">
              <a:avLst/>
            </a:prstGeom>
          </p:spPr>
          <p:style>
            <a:lnRef idx="1">
              <a:schemeClr val="dk1"/>
            </a:lnRef>
            <a:fillRef idx="0">
              <a:schemeClr val="dk1"/>
            </a:fillRef>
            <a:effectRef idx="0">
              <a:schemeClr val="dk1"/>
            </a:effectRef>
            <a:fontRef idx="minor">
              <a:schemeClr val="tx1"/>
            </a:fontRef>
          </p:style>
        </p:cxnSp>
        <p:cxnSp>
          <p:nvCxnSpPr>
            <p:cNvPr id="54" name="直接连接符 53"/>
            <p:cNvCxnSpPr/>
            <p:nvPr/>
          </p:nvCxnSpPr>
          <p:spPr>
            <a:xfrm flipH="1" flipV="1">
              <a:off x="15228" y="5542"/>
              <a:ext cx="1260" cy="12"/>
            </a:xfrm>
            <a:prstGeom prst="line">
              <a:avLst/>
            </a:prstGeom>
          </p:spPr>
          <p:style>
            <a:lnRef idx="1">
              <a:schemeClr val="dk1"/>
            </a:lnRef>
            <a:fillRef idx="0">
              <a:schemeClr val="dk1"/>
            </a:fillRef>
            <a:effectRef idx="0">
              <a:schemeClr val="dk1"/>
            </a:effectRef>
            <a:fontRef idx="minor">
              <a:schemeClr val="tx1"/>
            </a:fontRef>
          </p:style>
        </p:cxnSp>
        <p:cxnSp>
          <p:nvCxnSpPr>
            <p:cNvPr id="55" name="曲线连接符 91"/>
            <p:cNvCxnSpPr/>
            <p:nvPr/>
          </p:nvCxnSpPr>
          <p:spPr>
            <a:xfrm rot="5400000" flipV="1">
              <a:off x="16556" y="4306"/>
              <a:ext cx="77" cy="2860"/>
            </a:xfrm>
            <a:prstGeom prst="curvedConnector3">
              <a:avLst>
                <a:gd name="adj1" fmla="val 70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17851" y="3940"/>
              <a:ext cx="175" cy="1394"/>
            </a:xfrm>
            <a:prstGeom prst="line">
              <a:avLst/>
            </a:prstGeom>
          </p:spPr>
          <p:style>
            <a:lnRef idx="1">
              <a:schemeClr val="dk1"/>
            </a:lnRef>
            <a:fillRef idx="0">
              <a:schemeClr val="dk1"/>
            </a:fillRef>
            <a:effectRef idx="0">
              <a:schemeClr val="dk1"/>
            </a:effectRef>
            <a:fontRef idx="minor">
              <a:schemeClr val="tx1"/>
            </a:fontRef>
          </p:style>
        </p:cxnSp>
        <p:sp>
          <p:nvSpPr>
            <p:cNvPr id="57" name="任意多边形 93"/>
            <p:cNvSpPr/>
            <p:nvPr/>
          </p:nvSpPr>
          <p:spPr>
            <a:xfrm>
              <a:off x="16067" y="3672"/>
              <a:ext cx="1372" cy="262"/>
            </a:xfrm>
            <a:custGeom>
              <a:avLst/>
              <a:gdLst>
                <a:gd name="connisteX0" fmla="*/ 0 w 672465"/>
                <a:gd name="connsiteY0" fmla="*/ 30050 h 187021"/>
                <a:gd name="connisteX1" fmla="*/ 60325 w 672465"/>
                <a:gd name="connsiteY1" fmla="*/ 100535 h 187021"/>
                <a:gd name="connisteX2" fmla="*/ 110490 w 672465"/>
                <a:gd name="connsiteY2" fmla="*/ 171020 h 187021"/>
                <a:gd name="connisteX3" fmla="*/ 180340 w 672465"/>
                <a:gd name="connsiteY3" fmla="*/ 180545 h 187021"/>
                <a:gd name="connisteX4" fmla="*/ 250825 w 672465"/>
                <a:gd name="connsiteY4" fmla="*/ 110695 h 187021"/>
                <a:gd name="connisteX5" fmla="*/ 281305 w 672465"/>
                <a:gd name="connsiteY5" fmla="*/ 40210 h 187021"/>
                <a:gd name="connisteX6" fmla="*/ 351155 w 672465"/>
                <a:gd name="connsiteY6" fmla="*/ 205 h 187021"/>
                <a:gd name="connisteX7" fmla="*/ 421640 w 672465"/>
                <a:gd name="connsiteY7" fmla="*/ 30050 h 187021"/>
                <a:gd name="connisteX8" fmla="*/ 461645 w 672465"/>
                <a:gd name="connsiteY8" fmla="*/ 100535 h 187021"/>
                <a:gd name="connisteX9" fmla="*/ 532130 w 672465"/>
                <a:gd name="connsiteY9" fmla="*/ 120220 h 187021"/>
                <a:gd name="connisteX10" fmla="*/ 602615 w 672465"/>
                <a:gd name="connsiteY10" fmla="*/ 80215 h 187021"/>
                <a:gd name="connisteX11" fmla="*/ 672465 w 672465"/>
                <a:gd name="connsiteY11" fmla="*/ 40210 h 1870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Lst>
              <a:rect l="l" t="t" r="r" b="b"/>
              <a:pathLst>
                <a:path w="672465" h="187022">
                  <a:moveTo>
                    <a:pt x="0" y="30051"/>
                  </a:moveTo>
                  <a:cubicBezTo>
                    <a:pt x="10795" y="42751"/>
                    <a:pt x="38100" y="72596"/>
                    <a:pt x="60325" y="100536"/>
                  </a:cubicBezTo>
                  <a:cubicBezTo>
                    <a:pt x="82550" y="128476"/>
                    <a:pt x="86360" y="155146"/>
                    <a:pt x="110490" y="171021"/>
                  </a:cubicBezTo>
                  <a:cubicBezTo>
                    <a:pt x="134620" y="186896"/>
                    <a:pt x="152400" y="192611"/>
                    <a:pt x="180340" y="180546"/>
                  </a:cubicBezTo>
                  <a:cubicBezTo>
                    <a:pt x="208280" y="168481"/>
                    <a:pt x="230505" y="138636"/>
                    <a:pt x="250825" y="110696"/>
                  </a:cubicBezTo>
                  <a:cubicBezTo>
                    <a:pt x="271145" y="82756"/>
                    <a:pt x="260985" y="62436"/>
                    <a:pt x="281305" y="40211"/>
                  </a:cubicBezTo>
                  <a:cubicBezTo>
                    <a:pt x="301625" y="17986"/>
                    <a:pt x="323215" y="2111"/>
                    <a:pt x="351155" y="206"/>
                  </a:cubicBezTo>
                  <a:cubicBezTo>
                    <a:pt x="379095" y="-1699"/>
                    <a:pt x="399415" y="9731"/>
                    <a:pt x="421640" y="30051"/>
                  </a:cubicBezTo>
                  <a:cubicBezTo>
                    <a:pt x="443865" y="50371"/>
                    <a:pt x="439420" y="82756"/>
                    <a:pt x="461645" y="100536"/>
                  </a:cubicBezTo>
                  <a:cubicBezTo>
                    <a:pt x="483870" y="118316"/>
                    <a:pt x="504190" y="124031"/>
                    <a:pt x="532130" y="120221"/>
                  </a:cubicBezTo>
                  <a:cubicBezTo>
                    <a:pt x="560070" y="116411"/>
                    <a:pt x="574675" y="96091"/>
                    <a:pt x="602615" y="80216"/>
                  </a:cubicBezTo>
                  <a:cubicBezTo>
                    <a:pt x="630555" y="64341"/>
                    <a:pt x="659765" y="47196"/>
                    <a:pt x="672465" y="4021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8" name="文本框 94"/>
            <p:cNvSpPr txBox="1"/>
            <p:nvPr/>
          </p:nvSpPr>
          <p:spPr>
            <a:xfrm>
              <a:off x="1326" y="5697"/>
              <a:ext cx="3039" cy="1221"/>
            </a:xfrm>
            <a:prstGeom prst="rect">
              <a:avLst/>
            </a:prstGeom>
            <a:noFill/>
          </p:spPr>
          <p:txBody>
            <a:bodyPr/>
            <a:lstStyle/>
            <a:p>
              <a:pPr>
                <a:defRPr/>
              </a:pPr>
              <a:r>
                <a:rPr lang="en-US" sz="1050" dirty="0">
                  <a:solidFill>
                    <a:srgbClr val="000000"/>
                  </a:solidFill>
                  <a:latin typeface="Times New Roman" panose="02020603050405020304" pitchFamily="18" charset="0"/>
                </a:rPr>
                <a:t>v        u</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u</a:t>
              </a:r>
              <a:endParaRPr lang="zh-CN" altLang="en-US" sz="1200" dirty="0">
                <a:latin typeface="Times New Roman" panose="02020603050405020304" pitchFamily="18" charset="0"/>
                <a:ea typeface="宋体" panose="02010600030101010101" pitchFamily="2" charset="-122"/>
              </a:endParaRPr>
            </a:p>
          </p:txBody>
        </p:sp>
        <p:sp>
          <p:nvSpPr>
            <p:cNvPr id="59" name="文本框 95"/>
            <p:cNvSpPr txBox="1"/>
            <p:nvPr/>
          </p:nvSpPr>
          <p:spPr>
            <a:xfrm>
              <a:off x="6614" y="5477"/>
              <a:ext cx="994" cy="1394"/>
            </a:xfrm>
            <a:prstGeom prst="rect">
              <a:avLst/>
            </a:prstGeom>
            <a:noFill/>
          </p:spPr>
          <p:txBody>
            <a:bodyPr/>
            <a:lstStyle/>
            <a:p>
              <a:pPr>
                <a:defRPr/>
              </a:pPr>
              <a:r>
                <a:rPr lang="en-US" sz="1050" dirty="0">
                  <a:solidFill>
                    <a:srgbClr val="000000"/>
                  </a:solidFill>
                  <a:latin typeface="Times New Roman" panose="02020603050405020304" pitchFamily="18" charset="0"/>
                </a:rPr>
                <a:t>u</a:t>
              </a:r>
              <a:r>
                <a:rPr lang="en-US" dirty="0">
                  <a:solidFill>
                    <a:srgbClr val="000000"/>
                  </a:solidFill>
                  <a:latin typeface="Times New Roman" panose="02020603050405020304" pitchFamily="18" charset="0"/>
                </a:rPr>
                <a:t>                                  w </a:t>
              </a:r>
              <a:endParaRPr lang="zh-CN" altLang="en-US" sz="1200" dirty="0">
                <a:latin typeface="Times New Roman" panose="02020603050405020304" pitchFamily="18" charset="0"/>
                <a:ea typeface="宋体" panose="02010600030101010101" pitchFamily="2" charset="-122"/>
              </a:endParaRPr>
            </a:p>
          </p:txBody>
        </p:sp>
        <p:sp>
          <p:nvSpPr>
            <p:cNvPr id="60" name="文本框 96"/>
            <p:cNvSpPr txBox="1"/>
            <p:nvPr/>
          </p:nvSpPr>
          <p:spPr>
            <a:xfrm>
              <a:off x="8631" y="5560"/>
              <a:ext cx="3257" cy="1078"/>
            </a:xfrm>
            <a:prstGeom prst="rect">
              <a:avLst/>
            </a:prstGeom>
            <a:noFill/>
          </p:spPr>
          <p:txBody>
            <a:bodyPr/>
            <a:lstStyle/>
            <a:p>
              <a:pPr>
                <a:defRPr/>
              </a:pPr>
              <a:r>
                <a:rPr lang="en-US" sz="1050" dirty="0">
                  <a:solidFill>
                    <a:srgbClr val="000000"/>
                  </a:solidFill>
                  <a:latin typeface="Times New Roman" panose="02020603050405020304" pitchFamily="18" charset="0"/>
                </a:rPr>
                <a:t>v         w </a:t>
              </a:r>
              <a:r>
                <a:rPr lang="en-US" dirty="0">
                  <a:solidFill>
                    <a:srgbClr val="000000"/>
                  </a:solidFill>
                  <a:latin typeface="Times New Roman" panose="02020603050405020304" pitchFamily="18" charset="0"/>
                </a:rPr>
                <a:t>           </a:t>
              </a:r>
              <a:endParaRPr lang="zh-CN" altLang="en-US" sz="1200" dirty="0">
                <a:latin typeface="Times New Roman" panose="02020603050405020304" pitchFamily="18" charset="0"/>
                <a:ea typeface="宋体" panose="02010600030101010101" pitchFamily="2" charset="-122"/>
              </a:endParaRPr>
            </a:p>
          </p:txBody>
        </p:sp>
        <p:sp>
          <p:nvSpPr>
            <p:cNvPr id="61" name="文本框 97"/>
            <p:cNvSpPr txBox="1"/>
            <p:nvPr/>
          </p:nvSpPr>
          <p:spPr>
            <a:xfrm>
              <a:off x="13726" y="2511"/>
              <a:ext cx="4576" cy="1394"/>
            </a:xfrm>
            <a:prstGeom prst="rect">
              <a:avLst/>
            </a:prstGeom>
            <a:noFill/>
          </p:spPr>
          <p:txBody>
            <a:bodyPr/>
            <a:lstStyle/>
            <a:p>
              <a:pPr>
                <a:defRPr/>
              </a:pPr>
              <a:r>
                <a:rPr lang="en-US" sz="1050" dirty="0">
                  <a:solidFill>
                    <a:srgbClr val="000000"/>
                  </a:solidFill>
                  <a:latin typeface="Times New Roman" panose="02020603050405020304" pitchFamily="18" charset="0"/>
                </a:rPr>
                <a:t>v</a:t>
              </a:r>
              <a:r>
                <a:rPr lang="en-US" sz="1050" baseline="-25000" dirty="0">
                  <a:solidFill>
                    <a:srgbClr val="000000"/>
                  </a:solidFill>
                  <a:latin typeface="Times New Roman" panose="02020603050405020304" pitchFamily="18" charset="0"/>
                </a:rPr>
                <a:t>1</a:t>
              </a:r>
              <a:r>
                <a:rPr lang="en-US" sz="1050" dirty="0">
                  <a:solidFill>
                    <a:srgbClr val="000000"/>
                  </a:solidFill>
                  <a:latin typeface="Times New Roman" panose="02020603050405020304" pitchFamily="18" charset="0"/>
                </a:rPr>
                <a:t>       v</a:t>
              </a:r>
              <a:r>
                <a:rPr lang="en-US" sz="1050" baseline="-25000" dirty="0">
                  <a:solidFill>
                    <a:srgbClr val="000000"/>
                  </a:solidFill>
                  <a:latin typeface="Times New Roman" panose="02020603050405020304" pitchFamily="18" charset="0"/>
                </a:rPr>
                <a:t>2</a:t>
              </a:r>
              <a:r>
                <a:rPr lang="en-US" sz="1050" dirty="0">
                  <a:solidFill>
                    <a:srgbClr val="000000"/>
                  </a:solidFill>
                  <a:latin typeface="Times New Roman" panose="02020603050405020304" pitchFamily="18" charset="0"/>
                </a:rPr>
                <a:t>      v</a:t>
              </a:r>
              <a:r>
                <a:rPr lang="en-US" sz="1050" baseline="-25000" dirty="0">
                  <a:solidFill>
                    <a:srgbClr val="000000"/>
                  </a:solidFill>
                  <a:latin typeface="Times New Roman" panose="02020603050405020304" pitchFamily="18" charset="0"/>
                </a:rPr>
                <a:t>3</a:t>
              </a:r>
              <a:r>
                <a:rPr lang="en-US" sz="1050" dirty="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            v</a:t>
              </a:r>
              <a:r>
                <a:rPr lang="en-US" baseline="-25000" dirty="0">
                  <a:solidFill>
                    <a:srgbClr val="000000"/>
                  </a:solidFill>
                  <a:latin typeface="Times New Roman" panose="02020603050405020304" pitchFamily="18" charset="0"/>
                </a:rPr>
                <a:t>2 </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v</a:t>
              </a:r>
              <a:r>
                <a:rPr lang="en-US" baseline="-25000" dirty="0" err="1">
                  <a:solidFill>
                    <a:srgbClr val="000000"/>
                  </a:solidFill>
                  <a:latin typeface="Times New Roman" panose="02020603050405020304" pitchFamily="18" charset="0"/>
                </a:rPr>
                <a:t>k</a:t>
              </a:r>
              <a:endParaRPr lang="zh-CN" altLang="en-US" sz="1200" dirty="0">
                <a:latin typeface="Times New Roman" panose="02020603050405020304" pitchFamily="18" charset="0"/>
                <a:ea typeface="宋体" panose="02010600030101010101" pitchFamily="2" charset="-122"/>
              </a:endParaRPr>
            </a:p>
          </p:txBody>
        </p:sp>
        <p:sp>
          <p:nvSpPr>
            <p:cNvPr id="62" name="文本框 98"/>
            <p:cNvSpPr txBox="1"/>
            <p:nvPr/>
          </p:nvSpPr>
          <p:spPr>
            <a:xfrm>
              <a:off x="14244" y="5614"/>
              <a:ext cx="1328" cy="1257"/>
            </a:xfrm>
            <a:prstGeom prst="rect">
              <a:avLst/>
            </a:prstGeom>
            <a:noFill/>
          </p:spPr>
          <p:txBody>
            <a:bodyPr/>
            <a:lstStyle/>
            <a:p>
              <a:pPr>
                <a:defRPr/>
              </a:pPr>
              <a:r>
                <a:rPr lang="zh-CN" altLang="en-US" dirty="0">
                  <a:solidFill>
                    <a:srgbClr val="000000"/>
                  </a:solidFill>
                  <a:latin typeface="Times New Roman" panose="02020603050405020304" pitchFamily="18" charset="0"/>
                  <a:ea typeface="宋体" panose="02010600030101010101" pitchFamily="2" charset="-122"/>
                </a:rPr>
                <a:t> </a:t>
              </a:r>
              <a:r>
                <a:rPr lang="en-US" sz="1050" dirty="0">
                  <a:solidFill>
                    <a:srgbClr val="000000"/>
                  </a:solidFill>
                  <a:latin typeface="Times New Roman" panose="02020603050405020304" pitchFamily="18" charset="0"/>
                </a:rPr>
                <a:t>v</a:t>
              </a:r>
              <a:r>
                <a:rPr lang="en-US" sz="1050" baseline="-25000" dirty="0">
                  <a:solidFill>
                    <a:srgbClr val="000000"/>
                  </a:solidFill>
                  <a:latin typeface="Times New Roman" panose="02020603050405020304" pitchFamily="18" charset="0"/>
                </a:rPr>
                <a:t>i</a:t>
              </a:r>
              <a:endParaRPr lang="zh-CN" altLang="en-US" sz="1200" dirty="0">
                <a:latin typeface="Times New Roman" panose="02020603050405020304" pitchFamily="18" charset="0"/>
                <a:ea typeface="宋体" panose="02010600030101010101" pitchFamily="2" charset="-122"/>
              </a:endParaRPr>
            </a:p>
          </p:txBody>
        </p:sp>
        <p:sp>
          <p:nvSpPr>
            <p:cNvPr id="39996" name="文本框 99"/>
            <p:cNvSpPr txBox="1">
              <a:spLocks noChangeArrowheads="1"/>
            </p:cNvSpPr>
            <p:nvPr/>
          </p:nvSpPr>
          <p:spPr bwMode="auto">
            <a:xfrm>
              <a:off x="1349" y="6611"/>
              <a:ext cx="17190" cy="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900">
                  <a:solidFill>
                    <a:srgbClr val="000000"/>
                  </a:solidFill>
                  <a:latin typeface="Times New Roman" panose="02020603050405020304" pitchFamily="18" charset="0"/>
                </a:rPr>
                <a:t>(a) </a:t>
              </a:r>
              <a:r>
                <a:rPr lang="zh-CN" altLang="zh-CN" sz="900">
                  <a:solidFill>
                    <a:srgbClr val="000000"/>
                  </a:solidFill>
                  <a:latin typeface="Times New Roman" panose="02020603050405020304" pitchFamily="18" charset="0"/>
                </a:rPr>
                <a:t>规则</a:t>
              </a:r>
              <a:r>
                <a:rPr lang="en-US" altLang="zh-CN" sz="900">
                  <a:solidFill>
                    <a:srgbClr val="000000"/>
                  </a:solidFill>
                  <a:latin typeface="Times New Roman" panose="02020603050405020304" pitchFamily="18" charset="0"/>
                </a:rPr>
                <a:t>1</a:t>
              </a:r>
              <a:r>
                <a:rPr lang="en-US" altLang="zh-CN" sz="900">
                  <a:solidFill>
                    <a:srgbClr val="000000"/>
                  </a:solidFill>
                  <a:latin typeface="宋体" panose="02010600030101010101" pitchFamily="2" charset="-122"/>
                </a:rPr>
                <a:t>                         </a:t>
              </a:r>
              <a:r>
                <a:rPr lang="en-US" altLang="zh-CN" sz="900">
                  <a:solidFill>
                    <a:srgbClr val="000000"/>
                  </a:solidFill>
                  <a:latin typeface="Times New Roman" panose="02020603050405020304" pitchFamily="18" charset="0"/>
                </a:rPr>
                <a:t>(b) </a:t>
              </a:r>
              <a:r>
                <a:rPr lang="zh-CN" altLang="zh-CN" sz="900">
                  <a:solidFill>
                    <a:srgbClr val="000000"/>
                  </a:solidFill>
                  <a:latin typeface="Times New Roman" panose="02020603050405020304" pitchFamily="18" charset="0"/>
                </a:rPr>
                <a:t>规则</a:t>
              </a:r>
              <a:r>
                <a:rPr lang="en-US" altLang="zh-CN" sz="900">
                  <a:solidFill>
                    <a:srgbClr val="000000"/>
                  </a:solidFill>
                  <a:latin typeface="Times New Roman" panose="02020603050405020304" pitchFamily="18" charset="0"/>
                </a:rPr>
                <a:t>2</a:t>
              </a:r>
              <a:r>
                <a:rPr lang="en-US" altLang="zh-CN" sz="900">
                  <a:solidFill>
                    <a:srgbClr val="000000"/>
                  </a:solidFill>
                  <a:latin typeface="宋体" panose="02010600030101010101" pitchFamily="2" charset="-122"/>
                </a:rPr>
                <a:t> </a:t>
              </a:r>
              <a:r>
                <a:rPr lang="en-US" altLang="zh-CN" sz="1800">
                  <a:solidFill>
                    <a:srgbClr val="000000"/>
                  </a:solidFill>
                  <a:latin typeface="宋体" panose="02010600030101010101" pitchFamily="2" charset="-122"/>
                </a:rPr>
                <a:t>                </a:t>
              </a:r>
              <a:r>
                <a:rPr lang="en-US" altLang="zh-CN" sz="900">
                  <a:solidFill>
                    <a:srgbClr val="000000"/>
                  </a:solidFill>
                  <a:latin typeface="宋体" panose="02010600030101010101" pitchFamily="2" charset="-122"/>
                </a:rPr>
                <a:t> </a:t>
              </a:r>
              <a:r>
                <a:rPr lang="en-US" altLang="zh-CN" sz="900">
                  <a:solidFill>
                    <a:srgbClr val="000000"/>
                  </a:solidFill>
                  <a:latin typeface="Times New Roman" panose="02020603050405020304" pitchFamily="18" charset="0"/>
                </a:rPr>
                <a:t>(c) </a:t>
              </a:r>
              <a:r>
                <a:rPr lang="zh-CN" altLang="zh-CN" sz="900">
                  <a:solidFill>
                    <a:srgbClr val="000000"/>
                  </a:solidFill>
                  <a:latin typeface="Times New Roman" panose="02020603050405020304" pitchFamily="18" charset="0"/>
                </a:rPr>
                <a:t>规则</a:t>
              </a:r>
              <a:r>
                <a:rPr lang="en-US" altLang="zh-CN" sz="900">
                  <a:solidFill>
                    <a:srgbClr val="000000"/>
                  </a:solidFill>
                  <a:latin typeface="Times New Roman" panose="02020603050405020304" pitchFamily="18" charset="0"/>
                </a:rPr>
                <a:t>k</a:t>
              </a:r>
              <a:endParaRPr lang="zh-CN" altLang="zh-CN" sz="1200">
                <a:latin typeface="Times New Roman" panose="02020603050405020304" pitchFamily="18" charset="0"/>
              </a:endParaRPr>
            </a:p>
          </p:txBody>
        </p:sp>
      </p:grpSp>
      <p:sp>
        <p:nvSpPr>
          <p:cNvPr id="64" name="文本框 63"/>
          <p:cNvSpPr txBox="1"/>
          <p:nvPr/>
        </p:nvSpPr>
        <p:spPr>
          <a:xfrm>
            <a:off x="4420870" y="6370320"/>
            <a:ext cx="4165600"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4-2-3 CDS-Rule-K</a:t>
            </a:r>
            <a:r>
              <a:rPr lang="zh-CN" altLang="zh-CN" b="1" dirty="0">
                <a:latin typeface="宋体" panose="02010600030101010101" pitchFamily="2" charset="-122"/>
                <a:ea typeface="宋体" panose="02010600030101010101" pitchFamily="2" charset="-122"/>
              </a:rPr>
              <a:t>剪枝算法示例图</a:t>
            </a:r>
            <a:endParaRPr lang="zh-CN" altLang="en-US" b="1" dirty="0">
              <a:latin typeface="宋体" panose="02010600030101010101" pitchFamily="2" charset="-122"/>
              <a:ea typeface="宋体" panose="02010600030101010101" pitchFamily="2" charset="-122"/>
            </a:endParaRPr>
          </a:p>
        </p:txBody>
      </p:sp>
      <p:sp>
        <p:nvSpPr>
          <p:cNvPr id="63"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54947" y="1731328"/>
            <a:ext cx="10516235" cy="4351655"/>
          </a:xfrm>
        </p:spPr>
        <p:txBody>
          <a:bodyPr>
            <a:normAutofit lnSpcReduction="10000"/>
          </a:bodyPr>
          <a:lstStyle/>
          <a:p>
            <a:pPr marL="0" indent="0" fontAlgn="auto">
              <a:lnSpc>
                <a:spcPct val="120000"/>
              </a:lnSpc>
              <a:spcBef>
                <a:spcPts val="1200"/>
              </a:spcBef>
              <a:buNone/>
              <a:defRPr/>
            </a:pPr>
            <a:r>
              <a:rPr lang="en-US" altLang="zh-CN" sz="1800" b="1" kern="100" dirty="0"/>
              <a:t>   </a:t>
            </a:r>
            <a:r>
              <a:rPr lang="zh-CN" altLang="zh-CN" sz="2400" b="1" kern="100" dirty="0"/>
              <a:t>最初的树经过修剪后移除了所有冗余节点，这些冗余节点被拥有更高优先级的其他节点所覆盖。这里，节点的优先级可以是基于节点的任何属性，如剩余能量、节点在树中的层次、节点</a:t>
            </a:r>
            <a:r>
              <a:rPr lang="en-US" altLang="zh-CN" sz="2400" b="1" kern="100" dirty="0"/>
              <a:t>ID</a:t>
            </a:r>
            <a:r>
              <a:rPr lang="zh-CN" altLang="zh-CN" sz="2400" b="1" kern="100" dirty="0"/>
              <a:t>。规则</a:t>
            </a:r>
            <a:r>
              <a:rPr lang="en-US" altLang="zh-CN" sz="2400" b="1" kern="100" dirty="0"/>
              <a:t>k</a:t>
            </a:r>
            <a:r>
              <a:rPr lang="zh-CN" altLang="zh-CN" sz="2400" b="1" kern="100" dirty="0"/>
              <a:t>是对规则</a:t>
            </a:r>
            <a:r>
              <a:rPr lang="en-US" altLang="zh-CN" sz="2400" b="1" kern="100" dirty="0"/>
              <a:t>1</a:t>
            </a:r>
            <a:r>
              <a:rPr lang="zh-CN" altLang="zh-CN" sz="2400" b="1" kern="100" dirty="0"/>
              <a:t>和规则</a:t>
            </a:r>
            <a:r>
              <a:rPr lang="en-US" altLang="zh-CN" sz="2400" b="1" kern="100" dirty="0"/>
              <a:t>2</a:t>
            </a:r>
            <a:r>
              <a:rPr lang="zh-CN" altLang="zh-CN" sz="2400" b="1" kern="100" dirty="0"/>
              <a:t>的一般化，放宽了对标记主机的数量限制，可构造一个更精简的连通支配集。</a:t>
            </a:r>
            <a:r>
              <a:rPr lang="en-US" altLang="zh-CN" sz="2400" b="1" kern="100" dirty="0"/>
              <a:t>k</a:t>
            </a:r>
            <a:r>
              <a:rPr lang="zh-CN" altLang="zh-CN" sz="2400" b="1" kern="100" dirty="0"/>
              <a:t>可以是任意值。</a:t>
            </a:r>
            <a:endParaRPr lang="en-US" altLang="zh-CN" sz="2400" b="1" kern="100" dirty="0"/>
          </a:p>
          <a:p>
            <a:pPr marL="0" indent="0" fontAlgn="auto">
              <a:lnSpc>
                <a:spcPct val="120000"/>
              </a:lnSpc>
              <a:spcBef>
                <a:spcPts val="1200"/>
              </a:spcBef>
              <a:buNone/>
              <a:defRPr/>
            </a:pPr>
            <a:r>
              <a:rPr lang="en-US" altLang="zh-CN" sz="2400" b="1" kern="100" dirty="0"/>
              <a:t>   </a:t>
            </a:r>
            <a:r>
              <a:rPr lang="zh-CN" altLang="zh-CN" sz="2400" b="1" kern="100" dirty="0"/>
              <a:t>与</a:t>
            </a:r>
            <a:r>
              <a:rPr lang="en-US" altLang="zh-CN" sz="2400" b="1" kern="100" dirty="0"/>
              <a:t>EECDS</a:t>
            </a:r>
            <a:r>
              <a:rPr lang="zh-CN" altLang="zh-CN" sz="2400" b="1" kern="100" dirty="0"/>
              <a:t>算法类似，</a:t>
            </a:r>
            <a:r>
              <a:rPr lang="en-US" altLang="zh-CN" sz="2400" b="1" kern="100" dirty="0"/>
              <a:t>CDS-Rule-K</a:t>
            </a:r>
            <a:r>
              <a:rPr lang="zh-CN" altLang="zh-CN" sz="2400" b="1" kern="100" dirty="0"/>
              <a:t>机制在节点间询问和标记取消通知过程是信息开销的主要来源。在询问过程中，每个节点都会发送一个基于自身层次的询问信息，并且接收一个回应信息。而在标记取消通知过程中，当一个节点打算取消自身的标记的时候，它必定会通知它的每个邻居节点。因此，</a:t>
            </a:r>
            <a:r>
              <a:rPr lang="en-US" altLang="zh-CN" sz="2400" b="1" kern="100" dirty="0"/>
              <a:t>CDS-Rule-K </a:t>
            </a:r>
            <a:r>
              <a:rPr lang="zh-CN" altLang="zh-CN" sz="2400" b="1" kern="100" dirty="0"/>
              <a:t>算法拥有</a:t>
            </a:r>
            <a:r>
              <a:rPr lang="en-US" altLang="zh-CN" sz="2400" b="1" kern="100" dirty="0"/>
              <a:t> O(n2)</a:t>
            </a:r>
            <a:r>
              <a:rPr lang="zh-CN" altLang="zh-CN" sz="2400" b="1" kern="100" dirty="0"/>
              <a:t>的信息复杂度，</a:t>
            </a:r>
            <a:r>
              <a:rPr lang="en-US" altLang="zh-CN" sz="2400" b="1" kern="100" dirty="0"/>
              <a:t>O(n²)</a:t>
            </a:r>
            <a:r>
              <a:rPr lang="zh-CN" altLang="zh-CN" sz="2400" b="1" kern="100" dirty="0"/>
              <a:t>的计算复杂度。</a:t>
            </a:r>
            <a:endParaRPr lang="zh-CN" altLang="zh-CN" sz="2400" b="1" kern="100" dirty="0"/>
          </a:p>
          <a:p>
            <a:pPr lvl="1" eaLnBrk="1" hangingPunct="1">
              <a:lnSpc>
                <a:spcPct val="100000"/>
              </a:lnSpc>
              <a:spcBef>
                <a:spcPts val="600"/>
              </a:spcBef>
              <a:defRPr/>
            </a:pPr>
            <a:endParaRPr lang="zh-CN" altLang="zh-CN" sz="2000" b="1" kern="100" dirty="0">
              <a:solidFill>
                <a:schemeClr val="bg2"/>
              </a:solidFill>
            </a:endParaRPr>
          </a:p>
          <a:p>
            <a:pPr marL="0" indent="0">
              <a:lnSpc>
                <a:spcPct val="100000"/>
              </a:lnSpc>
              <a:spcBef>
                <a:spcPts val="600"/>
              </a:spcBef>
              <a:buNone/>
              <a:defRPr/>
            </a:pPr>
            <a:endParaRPr lang="zh-CN" altLang="zh-CN" sz="2000" b="1" kern="100" dirty="0">
              <a:solidFill>
                <a:schemeClr val="bg2"/>
              </a:solidFill>
            </a:endParaRPr>
          </a:p>
          <a:p>
            <a:pPr eaLnBrk="1" hangingPunct="1">
              <a:lnSpc>
                <a:spcPct val="180000"/>
              </a:lnSpc>
              <a:buFont typeface="Wingdings" panose="05000000000000000000" pitchFamily="2" charset="2"/>
              <a:buNone/>
              <a:defRPr/>
            </a:pPr>
            <a:endParaRPr lang="zh-CN" altLang="zh-CN" sz="18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61694" y="1339788"/>
            <a:ext cx="10516235" cy="4351655"/>
          </a:xfrm>
        </p:spPr>
        <p:txBody>
          <a:bodyPr/>
          <a:lstStyle/>
          <a:p>
            <a:pPr marL="0" indent="0">
              <a:buNone/>
              <a:defRPr/>
            </a:pPr>
            <a:r>
              <a:rPr lang="zh-CN" altLang="en-US" b="1" dirty="0"/>
              <a:t>4.</a:t>
            </a:r>
            <a:r>
              <a:rPr lang="en-US" altLang="zh-CN" b="1" dirty="0"/>
              <a:t>2.4.2 ASCENT</a:t>
            </a:r>
            <a:r>
              <a:rPr lang="zh-CN" altLang="zh-CN" b="1" dirty="0"/>
              <a:t>算法</a:t>
            </a:r>
            <a:endParaRPr lang="en-US" altLang="zh-CN" b="1" dirty="0"/>
          </a:p>
          <a:p>
            <a:pPr marL="0" indent="0">
              <a:lnSpc>
                <a:spcPct val="100000"/>
              </a:lnSpc>
              <a:spcBef>
                <a:spcPts val="600"/>
              </a:spcBef>
              <a:buNone/>
              <a:defRPr/>
            </a:pPr>
            <a:r>
              <a:rPr lang="en-US" altLang="zh-CN" sz="1800" b="1" kern="100" dirty="0">
                <a:solidFill>
                  <a:schemeClr val="bg2"/>
                </a:solidFill>
              </a:rPr>
              <a:t>   </a:t>
            </a:r>
            <a:r>
              <a:rPr lang="en-US" altLang="zh-CN" sz="2000" b="1" kern="100" dirty="0"/>
              <a:t>ASCENT</a:t>
            </a:r>
            <a:r>
              <a:rPr lang="zh-CN" altLang="zh-CN" sz="2000" b="1" kern="100" dirty="0"/>
              <a:t>（</a:t>
            </a:r>
            <a:r>
              <a:rPr lang="en-US" altLang="zh-CN" sz="2000" b="1" kern="100" dirty="0"/>
              <a:t>Adaptive Self-Configuring </a:t>
            </a:r>
            <a:r>
              <a:rPr lang="en-US" altLang="zh-CN" sz="2000" b="1" kern="100" dirty="0" err="1"/>
              <a:t>sEnsor</a:t>
            </a:r>
            <a:r>
              <a:rPr lang="en-US" altLang="zh-CN" sz="2000" b="1" kern="100" dirty="0"/>
              <a:t> </a:t>
            </a:r>
            <a:r>
              <a:rPr lang="en-US" altLang="zh-CN" sz="2000" b="1" kern="100" dirty="0" err="1"/>
              <a:t>NetworksTopologies</a:t>
            </a:r>
            <a:r>
              <a:rPr lang="zh-CN" altLang="zh-CN" sz="2000" b="1" kern="100" dirty="0"/>
              <a:t>）算法采用自适应的睡眠调度机制，其重点在于均衡网络中骨干节点的数量，并保证数据通路的畅通。节点接收数据时若发现丢包严重就向数据源方向的邻居节点发出求助消息；当节点探测到周围的通信节点丢包率很高或者接收到邻居节点发出的求助消息时，它醒来后主动成为活跃节点，加入骨干网络，帮助邻居节点转发数据包。</a:t>
            </a:r>
            <a:endParaRPr lang="en-US" altLang="zh-CN" sz="2000" b="1" kern="100" dirty="0"/>
          </a:p>
          <a:p>
            <a:pPr marL="0" indent="0">
              <a:lnSpc>
                <a:spcPct val="100000"/>
              </a:lnSpc>
              <a:spcBef>
                <a:spcPts val="600"/>
              </a:spcBef>
              <a:buNone/>
              <a:defRPr/>
            </a:pPr>
            <a:r>
              <a:rPr lang="en-US" altLang="zh-CN" sz="2000" b="1" kern="100" dirty="0"/>
              <a:t>   ASCENT</a:t>
            </a:r>
            <a:r>
              <a:rPr lang="zh-CN" altLang="zh-CN" sz="2000" b="1" kern="100" dirty="0"/>
              <a:t>算法包括三个阶段：触发阶段、建立阶段和稳定阶段。触发阶段，如</a:t>
            </a:r>
            <a:r>
              <a:rPr lang="zh-CN" altLang="en-US" sz="2000" b="1" kern="100" dirty="0"/>
              <a:t>下图</a:t>
            </a:r>
            <a:r>
              <a:rPr lang="zh-CN" altLang="zh-CN" sz="2000" b="1" kern="100" dirty="0"/>
              <a:t>所示</a:t>
            </a:r>
            <a:r>
              <a:rPr lang="zh-CN" altLang="en-US" sz="2000" b="1" kern="100" dirty="0"/>
              <a:t>：</a:t>
            </a:r>
            <a:endParaRPr lang="en-US" altLang="zh-CN" sz="2000" b="1" kern="100" dirty="0"/>
          </a:p>
          <a:p>
            <a:pPr marL="0" indent="0">
              <a:lnSpc>
                <a:spcPct val="100000"/>
              </a:lnSpc>
              <a:spcBef>
                <a:spcPts val="600"/>
              </a:spcBef>
              <a:buNone/>
              <a:defRPr/>
            </a:pPr>
            <a:endParaRPr lang="zh-CN" altLang="zh-CN" sz="2000" b="1" kern="100" dirty="0"/>
          </a:p>
          <a:p>
            <a:pPr eaLnBrk="1" hangingPunct="1">
              <a:lnSpc>
                <a:spcPct val="180000"/>
              </a:lnSpc>
              <a:buFont typeface="Wingdings" panose="05000000000000000000" pitchFamily="2" charset="2"/>
              <a:buNone/>
              <a:defRPr/>
            </a:pPr>
            <a:endParaRPr lang="zh-CN" altLang="en-US" sz="1800" dirty="0"/>
          </a:p>
        </p:txBody>
      </p:sp>
      <p:grpSp>
        <p:nvGrpSpPr>
          <p:cNvPr id="41988" name="组合 6"/>
          <p:cNvGrpSpPr/>
          <p:nvPr/>
        </p:nvGrpSpPr>
        <p:grpSpPr bwMode="auto">
          <a:xfrm>
            <a:off x="2895601" y="4267201"/>
            <a:ext cx="5876925" cy="1616075"/>
            <a:chOff x="540" y="2277"/>
            <a:chExt cx="18021" cy="5082"/>
          </a:xfrm>
        </p:grpSpPr>
        <p:sp>
          <p:nvSpPr>
            <p:cNvPr id="8" name="椭圆 7"/>
            <p:cNvSpPr/>
            <p:nvPr/>
          </p:nvSpPr>
          <p:spPr>
            <a:xfrm>
              <a:off x="2166" y="3760"/>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9" name="椭圆 8"/>
            <p:cNvSpPr/>
            <p:nvPr/>
          </p:nvSpPr>
          <p:spPr>
            <a:xfrm>
              <a:off x="5155" y="4623"/>
              <a:ext cx="394"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0" name="椭圆 9"/>
            <p:cNvSpPr/>
            <p:nvPr/>
          </p:nvSpPr>
          <p:spPr>
            <a:xfrm>
              <a:off x="1032" y="4623"/>
              <a:ext cx="394"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1" name="椭圆 10"/>
            <p:cNvSpPr/>
            <p:nvPr/>
          </p:nvSpPr>
          <p:spPr>
            <a:xfrm>
              <a:off x="3251" y="3335"/>
              <a:ext cx="394"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2" name="椭圆 11"/>
            <p:cNvSpPr/>
            <p:nvPr/>
          </p:nvSpPr>
          <p:spPr>
            <a:xfrm>
              <a:off x="4050" y="3580"/>
              <a:ext cx="394"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3" name="椭圆 12"/>
            <p:cNvSpPr/>
            <p:nvPr/>
          </p:nvSpPr>
          <p:spPr>
            <a:xfrm>
              <a:off x="4444" y="5362"/>
              <a:ext cx="394"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4" name="椭圆 13"/>
            <p:cNvSpPr/>
            <p:nvPr/>
          </p:nvSpPr>
          <p:spPr>
            <a:xfrm>
              <a:off x="2166" y="5412"/>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5" name="椭圆 14"/>
            <p:cNvSpPr/>
            <p:nvPr/>
          </p:nvSpPr>
          <p:spPr>
            <a:xfrm>
              <a:off x="3251" y="5632"/>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6" name="椭圆 15"/>
            <p:cNvSpPr/>
            <p:nvPr/>
          </p:nvSpPr>
          <p:spPr>
            <a:xfrm>
              <a:off x="2760" y="4703"/>
              <a:ext cx="394"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7" name="椭圆 16"/>
            <p:cNvSpPr/>
            <p:nvPr/>
          </p:nvSpPr>
          <p:spPr>
            <a:xfrm>
              <a:off x="7827" y="3425"/>
              <a:ext cx="399"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8" name="椭圆 17"/>
            <p:cNvSpPr/>
            <p:nvPr/>
          </p:nvSpPr>
          <p:spPr>
            <a:xfrm>
              <a:off x="11556" y="4603"/>
              <a:ext cx="394"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9" name="椭圆 18"/>
            <p:cNvSpPr/>
            <p:nvPr/>
          </p:nvSpPr>
          <p:spPr>
            <a:xfrm>
              <a:off x="7433" y="4603"/>
              <a:ext cx="394"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0" name="椭圆 19"/>
            <p:cNvSpPr/>
            <p:nvPr/>
          </p:nvSpPr>
          <p:spPr>
            <a:xfrm>
              <a:off x="11006" y="3151"/>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1" name="椭圆 20"/>
            <p:cNvSpPr/>
            <p:nvPr/>
          </p:nvSpPr>
          <p:spPr>
            <a:xfrm>
              <a:off x="10607" y="5172"/>
              <a:ext cx="399"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2" name="椭圆 21"/>
            <p:cNvSpPr/>
            <p:nvPr/>
          </p:nvSpPr>
          <p:spPr>
            <a:xfrm>
              <a:off x="8567" y="5397"/>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3" name="椭圆 22"/>
            <p:cNvSpPr/>
            <p:nvPr/>
          </p:nvSpPr>
          <p:spPr>
            <a:xfrm>
              <a:off x="9653" y="5617"/>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4" name="椭圆 23"/>
            <p:cNvSpPr/>
            <p:nvPr/>
          </p:nvSpPr>
          <p:spPr>
            <a:xfrm>
              <a:off x="8767" y="4274"/>
              <a:ext cx="394"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25" name="直接连接符 24"/>
            <p:cNvCxnSpPr/>
            <p:nvPr/>
          </p:nvCxnSpPr>
          <p:spPr>
            <a:xfrm>
              <a:off x="1426" y="4818"/>
              <a:ext cx="3729" cy="0"/>
            </a:xfrm>
            <a:prstGeom prst="line">
              <a:avLst/>
            </a:prstGeom>
            <a:ln w="12700">
              <a:solidFill>
                <a:schemeClr val="tx1"/>
              </a:solidFill>
              <a:prstDash val="dash"/>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4493" y="3211"/>
              <a:ext cx="862" cy="1413"/>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flipV="1">
              <a:off x="3797" y="4064"/>
              <a:ext cx="1417" cy="619"/>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a:off x="3826" y="4983"/>
              <a:ext cx="1387" cy="409"/>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4537" y="5048"/>
              <a:ext cx="818" cy="1163"/>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2012" name="文本框 40"/>
            <p:cNvSpPr txBox="1">
              <a:spLocks noChangeArrowheads="1"/>
            </p:cNvSpPr>
            <p:nvPr/>
          </p:nvSpPr>
          <p:spPr bwMode="auto">
            <a:xfrm>
              <a:off x="1370" y="6195"/>
              <a:ext cx="17191" cy="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900">
                  <a:solidFill>
                    <a:srgbClr val="000000"/>
                  </a:solidFill>
                  <a:latin typeface="Times New Roman" panose="02020603050405020304" pitchFamily="18" charset="0"/>
                </a:rPr>
                <a:t>(a) </a:t>
              </a:r>
              <a:r>
                <a:rPr lang="zh-CN" altLang="zh-CN" sz="900">
                  <a:solidFill>
                    <a:srgbClr val="000000"/>
                  </a:solidFill>
                  <a:latin typeface="Times New Roman" panose="02020603050405020304" pitchFamily="18" charset="0"/>
                </a:rPr>
                <a:t>触发阶段</a:t>
              </a:r>
              <a:r>
                <a:rPr lang="en-US" altLang="zh-CN" sz="900">
                  <a:solidFill>
                    <a:srgbClr val="000000"/>
                  </a:solidFill>
                  <a:latin typeface="宋体" panose="02010600030101010101" pitchFamily="2" charset="-122"/>
                </a:rPr>
                <a:t>                            </a:t>
              </a:r>
              <a:r>
                <a:rPr lang="en-US" altLang="zh-CN" sz="900">
                  <a:solidFill>
                    <a:srgbClr val="000000"/>
                  </a:solidFill>
                  <a:latin typeface="Times New Roman" panose="02020603050405020304" pitchFamily="18" charset="0"/>
                </a:rPr>
                <a:t>(b) </a:t>
              </a:r>
              <a:r>
                <a:rPr lang="zh-CN" altLang="zh-CN" sz="900">
                  <a:solidFill>
                    <a:srgbClr val="000000"/>
                  </a:solidFill>
                  <a:latin typeface="Times New Roman" panose="02020603050405020304" pitchFamily="18" charset="0"/>
                </a:rPr>
                <a:t>建立阶段</a:t>
              </a:r>
              <a:r>
                <a:rPr lang="en-US" altLang="zh-CN" sz="900">
                  <a:solidFill>
                    <a:srgbClr val="000000"/>
                  </a:solidFill>
                  <a:latin typeface="宋体" panose="02010600030101010101" pitchFamily="2" charset="-122"/>
                </a:rPr>
                <a:t>                          </a:t>
              </a:r>
              <a:r>
                <a:rPr lang="en-US" altLang="zh-CN" sz="900">
                  <a:solidFill>
                    <a:srgbClr val="000000"/>
                  </a:solidFill>
                  <a:latin typeface="Times New Roman" panose="02020603050405020304" pitchFamily="18" charset="0"/>
                </a:rPr>
                <a:t>(c) </a:t>
              </a:r>
              <a:r>
                <a:rPr lang="zh-CN" altLang="zh-CN" sz="900">
                  <a:solidFill>
                    <a:srgbClr val="000000"/>
                  </a:solidFill>
                  <a:latin typeface="Times New Roman" panose="02020603050405020304" pitchFamily="18" charset="0"/>
                </a:rPr>
                <a:t>稳定阶段</a:t>
              </a:r>
              <a:endParaRPr lang="zh-CN" altLang="zh-CN" sz="1200">
                <a:latin typeface="Times New Roman" panose="02020603050405020304" pitchFamily="18" charset="0"/>
              </a:endParaRPr>
            </a:p>
          </p:txBody>
        </p:sp>
        <p:sp>
          <p:nvSpPr>
            <p:cNvPr id="42013" name="文本框 41"/>
            <p:cNvSpPr txBox="1">
              <a:spLocks noChangeArrowheads="1"/>
            </p:cNvSpPr>
            <p:nvPr/>
          </p:nvSpPr>
          <p:spPr bwMode="auto">
            <a:xfrm>
              <a:off x="540" y="4905"/>
              <a:ext cx="5889"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数据源</a:t>
              </a:r>
              <a:r>
                <a:rPr lang="en-US" altLang="zh-CN" sz="900">
                  <a:solidFill>
                    <a:srgbClr val="000000"/>
                  </a:solidFill>
                  <a:latin typeface="Times New Roman" panose="02020603050405020304" pitchFamily="18" charset="0"/>
                </a:rPr>
                <a:t>                   sink</a:t>
              </a:r>
              <a:endParaRPr lang="zh-CN" altLang="zh-CN" sz="1200">
                <a:latin typeface="Times New Roman" panose="02020603050405020304" pitchFamily="18" charset="0"/>
              </a:endParaRPr>
            </a:p>
          </p:txBody>
        </p:sp>
        <p:sp>
          <p:nvSpPr>
            <p:cNvPr id="42014" name="文本框 42"/>
            <p:cNvSpPr txBox="1">
              <a:spLocks noChangeArrowheads="1"/>
            </p:cNvSpPr>
            <p:nvPr/>
          </p:nvSpPr>
          <p:spPr bwMode="auto">
            <a:xfrm>
              <a:off x="6964" y="4935"/>
              <a:ext cx="588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数据源</a:t>
              </a:r>
              <a:r>
                <a:rPr lang="en-US" altLang="zh-CN" sz="900">
                  <a:solidFill>
                    <a:srgbClr val="000000"/>
                  </a:solidFill>
                  <a:latin typeface="Times New Roman" panose="02020603050405020304" pitchFamily="18" charset="0"/>
                </a:rPr>
                <a:t>                  sink</a:t>
              </a:r>
              <a:endParaRPr lang="zh-CN" altLang="zh-CN" sz="1200">
                <a:latin typeface="Times New Roman" panose="02020603050405020304" pitchFamily="18" charset="0"/>
              </a:endParaRPr>
            </a:p>
          </p:txBody>
        </p:sp>
        <p:sp>
          <p:nvSpPr>
            <p:cNvPr id="42015" name="文本框 43"/>
            <p:cNvSpPr txBox="1">
              <a:spLocks noChangeArrowheads="1"/>
            </p:cNvSpPr>
            <p:nvPr/>
          </p:nvSpPr>
          <p:spPr bwMode="auto">
            <a:xfrm>
              <a:off x="2195" y="2277"/>
              <a:ext cx="2676" cy="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发送求助消息</a:t>
              </a:r>
              <a:r>
                <a:rPr lang="en-US" altLang="zh-CN" sz="1800">
                  <a:solidFill>
                    <a:srgbClr val="000000"/>
                  </a:solidFill>
                  <a:latin typeface="宋体" panose="02010600030101010101" pitchFamily="2" charset="-122"/>
                </a:rPr>
                <a:t>              </a:t>
              </a:r>
              <a:endParaRPr lang="zh-CN" altLang="zh-CN" sz="1200">
                <a:latin typeface="Times New Roman" panose="02020603050405020304" pitchFamily="18" charset="0"/>
              </a:endParaRPr>
            </a:p>
          </p:txBody>
        </p:sp>
        <p:sp>
          <p:nvSpPr>
            <p:cNvPr id="42016" name="文本框 44"/>
            <p:cNvSpPr txBox="1">
              <a:spLocks noChangeArrowheads="1"/>
            </p:cNvSpPr>
            <p:nvPr/>
          </p:nvSpPr>
          <p:spPr bwMode="auto">
            <a:xfrm>
              <a:off x="7901" y="2287"/>
              <a:ext cx="3546" cy="1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发送邻居通告消息</a:t>
              </a:r>
              <a:endParaRPr lang="zh-CN" altLang="zh-CN" sz="1200">
                <a:latin typeface="Times New Roman" panose="02020603050405020304" pitchFamily="18" charset="0"/>
              </a:endParaRPr>
            </a:p>
          </p:txBody>
        </p:sp>
        <p:sp>
          <p:nvSpPr>
            <p:cNvPr id="35" name="椭圆 34"/>
            <p:cNvSpPr/>
            <p:nvPr/>
          </p:nvSpPr>
          <p:spPr>
            <a:xfrm>
              <a:off x="9400" y="3211"/>
              <a:ext cx="399"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36" name="直接箭头连接符 35"/>
            <p:cNvCxnSpPr/>
            <p:nvPr/>
          </p:nvCxnSpPr>
          <p:spPr>
            <a:xfrm flipH="1">
              <a:off x="8178" y="3425"/>
              <a:ext cx="1222" cy="1073"/>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9599" y="3635"/>
              <a:ext cx="34" cy="1068"/>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9799" y="3425"/>
              <a:ext cx="1241" cy="1118"/>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14550" y="3760"/>
              <a:ext cx="399"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0" name="椭圆 39"/>
            <p:cNvSpPr/>
            <p:nvPr/>
          </p:nvSpPr>
          <p:spPr>
            <a:xfrm>
              <a:off x="17539" y="4623"/>
              <a:ext cx="399"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1" name="椭圆 40"/>
            <p:cNvSpPr/>
            <p:nvPr/>
          </p:nvSpPr>
          <p:spPr>
            <a:xfrm>
              <a:off x="13416" y="4623"/>
              <a:ext cx="399"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2" name="椭圆 41"/>
            <p:cNvSpPr/>
            <p:nvPr/>
          </p:nvSpPr>
          <p:spPr>
            <a:xfrm>
              <a:off x="15635" y="3335"/>
              <a:ext cx="394"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3" name="椭圆 42"/>
            <p:cNvSpPr/>
            <p:nvPr/>
          </p:nvSpPr>
          <p:spPr>
            <a:xfrm>
              <a:off x="16828" y="3565"/>
              <a:ext cx="399"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4" name="椭圆 43"/>
            <p:cNvSpPr/>
            <p:nvPr/>
          </p:nvSpPr>
          <p:spPr>
            <a:xfrm>
              <a:off x="16828" y="5362"/>
              <a:ext cx="399"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5" name="椭圆 44"/>
            <p:cNvSpPr/>
            <p:nvPr/>
          </p:nvSpPr>
          <p:spPr>
            <a:xfrm>
              <a:off x="14550" y="5412"/>
              <a:ext cx="399"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6" name="椭圆 45"/>
            <p:cNvSpPr/>
            <p:nvPr/>
          </p:nvSpPr>
          <p:spPr>
            <a:xfrm>
              <a:off x="15635" y="5632"/>
              <a:ext cx="394"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7" name="椭圆 46"/>
            <p:cNvSpPr/>
            <p:nvPr/>
          </p:nvSpPr>
          <p:spPr>
            <a:xfrm>
              <a:off x="15119" y="4623"/>
              <a:ext cx="394"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48" name="直接箭头连接符 47"/>
            <p:cNvCxnSpPr/>
            <p:nvPr/>
          </p:nvCxnSpPr>
          <p:spPr>
            <a:xfrm>
              <a:off x="16161" y="3610"/>
              <a:ext cx="1300" cy="904"/>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16224" y="5147"/>
              <a:ext cx="1280" cy="724"/>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2032" name="文本框 104"/>
            <p:cNvSpPr txBox="1">
              <a:spLocks noChangeArrowheads="1"/>
            </p:cNvSpPr>
            <p:nvPr/>
          </p:nvSpPr>
          <p:spPr bwMode="auto">
            <a:xfrm>
              <a:off x="14688" y="2469"/>
              <a:ext cx="2674" cy="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发送数据</a:t>
              </a:r>
              <a:r>
                <a:rPr lang="en-US" altLang="zh-CN" sz="1800">
                  <a:solidFill>
                    <a:srgbClr val="000000"/>
                  </a:solidFill>
                  <a:latin typeface="宋体" panose="02010600030101010101" pitchFamily="2" charset="-122"/>
                </a:rPr>
                <a:t>              </a:t>
              </a:r>
              <a:endParaRPr lang="zh-CN" altLang="zh-CN" sz="1200">
                <a:latin typeface="Times New Roman" panose="02020603050405020304" pitchFamily="18" charset="0"/>
              </a:endParaRPr>
            </a:p>
          </p:txBody>
        </p:sp>
        <p:cxnSp>
          <p:nvCxnSpPr>
            <p:cNvPr id="51" name="直接箭头连接符 50"/>
            <p:cNvCxnSpPr/>
            <p:nvPr/>
          </p:nvCxnSpPr>
          <p:spPr>
            <a:xfrm flipV="1">
              <a:off x="13756" y="3565"/>
              <a:ext cx="1757" cy="1118"/>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13815" y="4833"/>
              <a:ext cx="1134" cy="0"/>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2035" name="文本框 107"/>
            <p:cNvSpPr txBox="1">
              <a:spLocks noChangeArrowheads="1"/>
            </p:cNvSpPr>
            <p:nvPr/>
          </p:nvSpPr>
          <p:spPr bwMode="auto">
            <a:xfrm>
              <a:off x="12637" y="4959"/>
              <a:ext cx="5889" cy="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zh-CN" sz="900">
                  <a:solidFill>
                    <a:srgbClr val="000000"/>
                  </a:solidFill>
                  <a:latin typeface="Times New Roman" panose="02020603050405020304" pitchFamily="18" charset="0"/>
                </a:rPr>
                <a:t>数据源</a:t>
              </a:r>
              <a:r>
                <a:rPr lang="en-US" altLang="zh-CN" sz="900">
                  <a:solidFill>
                    <a:srgbClr val="000000"/>
                  </a:solidFill>
                  <a:latin typeface="Times New Roman" panose="02020603050405020304" pitchFamily="18" charset="0"/>
                </a:rPr>
                <a:t>                     sink</a:t>
              </a:r>
              <a:endParaRPr lang="zh-CN" altLang="zh-CN" sz="1200">
                <a:latin typeface="Times New Roman" panose="02020603050405020304" pitchFamily="18" charset="0"/>
              </a:endParaRPr>
            </a:p>
          </p:txBody>
        </p:sp>
        <p:cxnSp>
          <p:nvCxnSpPr>
            <p:cNvPr id="54" name="直接箭头连接符 53"/>
            <p:cNvCxnSpPr/>
            <p:nvPr/>
          </p:nvCxnSpPr>
          <p:spPr>
            <a:xfrm>
              <a:off x="13761" y="4973"/>
              <a:ext cx="1767" cy="569"/>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15738" y="4863"/>
              <a:ext cx="1626" cy="0"/>
            </a:xfrm>
            <a:prstGeom prst="straightConnector1">
              <a:avLst/>
            </a:prstGeom>
            <a:ln w="1270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sp>
        <p:nvSpPr>
          <p:cNvPr id="53" name="文本框 52"/>
          <p:cNvSpPr txBox="1"/>
          <p:nvPr/>
        </p:nvSpPr>
        <p:spPr>
          <a:xfrm>
            <a:off x="4419600" y="6038851"/>
            <a:ext cx="2971800" cy="276225"/>
          </a:xfrm>
          <a:prstGeom prst="rect">
            <a:avLst/>
          </a:prstGeom>
          <a:noFill/>
        </p:spPr>
        <p:txBody>
          <a:bodyPr>
            <a:spAutoFit/>
          </a:bodyPr>
          <a:lstStyle/>
          <a:p>
            <a:pPr>
              <a:defRPr/>
            </a:pPr>
            <a:r>
              <a:rPr lang="zh-CN" altLang="en-US" sz="1200" b="1" dirty="0">
                <a:latin typeface="宋体" panose="02010600030101010101" pitchFamily="2" charset="-122"/>
                <a:ea typeface="宋体" panose="02010600030101010101" pitchFamily="2" charset="-122"/>
              </a:rPr>
              <a:t>图</a:t>
            </a:r>
            <a:r>
              <a:rPr lang="en-US" altLang="zh-CN" sz="1200" b="1" dirty="0">
                <a:latin typeface="宋体" panose="02010600030101010101" pitchFamily="2" charset="-122"/>
                <a:ea typeface="宋体" panose="02010600030101010101" pitchFamily="2" charset="-122"/>
              </a:rPr>
              <a:t>4-2-4 ASCENT</a:t>
            </a:r>
            <a:r>
              <a:rPr lang="zh-CN" altLang="zh-CN" sz="1200" b="1" dirty="0">
                <a:latin typeface="宋体" panose="02010600030101010101" pitchFamily="2" charset="-122"/>
                <a:ea typeface="宋体" panose="02010600030101010101" pitchFamily="2" charset="-122"/>
              </a:rPr>
              <a:t>算法运行的三个阶段</a:t>
            </a:r>
            <a:endParaRPr lang="zh-CN" altLang="en-US" sz="1200" b="1" dirty="0">
              <a:latin typeface="宋体" panose="02010600030101010101" pitchFamily="2" charset="-122"/>
              <a:ea typeface="宋体" panose="02010600030101010101" pitchFamily="2" charset="-122"/>
            </a:endParaRPr>
          </a:p>
        </p:txBody>
      </p:sp>
      <p:sp>
        <p:nvSpPr>
          <p:cNvPr id="5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41400" y="1349697"/>
            <a:ext cx="10516235" cy="4351655"/>
          </a:xfrm>
        </p:spPr>
        <p:txBody>
          <a:bodyPr>
            <a:normAutofit/>
          </a:bodyPr>
          <a:lstStyle/>
          <a:p>
            <a:pPr indent="0" algn="just">
              <a:lnSpc>
                <a:spcPct val="100000"/>
              </a:lnSpc>
              <a:spcBef>
                <a:spcPts val="600"/>
              </a:spcBef>
              <a:buNone/>
              <a:defRPr/>
            </a:pPr>
            <a:r>
              <a:rPr lang="zh-CN" altLang="zh-CN" sz="2000" b="1" kern="100" dirty="0"/>
              <a:t>在</a:t>
            </a:r>
            <a:r>
              <a:rPr lang="en-US" altLang="zh-CN" sz="2000" b="1" kern="100" dirty="0"/>
              <a:t> ASCENT</a:t>
            </a:r>
            <a:r>
              <a:rPr lang="zh-CN" altLang="zh-CN" sz="2000" b="1" kern="100" dirty="0"/>
              <a:t>算法中，节点可以处于四种状态：</a:t>
            </a:r>
            <a:endParaRPr lang="zh-CN" altLang="zh-CN" sz="2000" b="1" kern="100" dirty="0"/>
          </a:p>
          <a:p>
            <a:pPr indent="0" algn="just">
              <a:lnSpc>
                <a:spcPct val="100000"/>
              </a:lnSpc>
              <a:spcBef>
                <a:spcPts val="600"/>
              </a:spcBef>
              <a:buNone/>
              <a:defRPr/>
            </a:pPr>
            <a:r>
              <a:rPr lang="zh-CN" altLang="zh-CN" sz="2000" b="1" kern="100" dirty="0"/>
              <a:t>（</a:t>
            </a:r>
            <a:r>
              <a:rPr lang="en-US" altLang="zh-CN" sz="2000" b="1" kern="100" dirty="0"/>
              <a:t>1</a:t>
            </a:r>
            <a:r>
              <a:rPr lang="zh-CN" altLang="zh-CN" sz="2000" b="1" kern="100" dirty="0"/>
              <a:t>）睡眠状态，节点关闭通信模块，能量消耗最小；</a:t>
            </a:r>
            <a:endParaRPr lang="zh-CN" altLang="zh-CN" sz="2000" b="1" kern="100" dirty="0"/>
          </a:p>
          <a:p>
            <a:pPr indent="0" algn="just">
              <a:lnSpc>
                <a:spcPct val="100000"/>
              </a:lnSpc>
              <a:spcBef>
                <a:spcPts val="600"/>
              </a:spcBef>
              <a:buNone/>
              <a:defRPr/>
            </a:pPr>
            <a:r>
              <a:rPr lang="zh-CN" altLang="zh-CN" sz="2000" b="1" kern="100" dirty="0"/>
              <a:t>（</a:t>
            </a:r>
            <a:r>
              <a:rPr lang="en-US" altLang="zh-CN" sz="2000" b="1" kern="100" dirty="0"/>
              <a:t>2</a:t>
            </a:r>
            <a:r>
              <a:rPr lang="zh-CN" altLang="zh-CN" sz="2000" b="1" kern="100" dirty="0"/>
              <a:t>）侦听状态，节点只对网络信息进行侦听，不参与数据包转发；</a:t>
            </a:r>
            <a:endParaRPr lang="zh-CN" altLang="zh-CN" sz="2000" b="1" kern="100" dirty="0"/>
          </a:p>
          <a:p>
            <a:pPr indent="0" algn="just">
              <a:lnSpc>
                <a:spcPct val="100000"/>
              </a:lnSpc>
              <a:spcBef>
                <a:spcPts val="600"/>
              </a:spcBef>
              <a:buNone/>
              <a:defRPr/>
            </a:pPr>
            <a:r>
              <a:rPr lang="zh-CN" altLang="en-US" sz="2000" b="1" kern="100" dirty="0"/>
              <a:t>（</a:t>
            </a:r>
            <a:r>
              <a:rPr lang="en-US" altLang="zh-CN" sz="2000" b="1" kern="100" dirty="0"/>
              <a:t>3</a:t>
            </a:r>
            <a:r>
              <a:rPr lang="zh-CN" altLang="zh-CN" sz="2000" b="1" kern="100" dirty="0"/>
              <a:t>）测试状态，是一个暂态，节点尝试参与数据包转发，并进行一定的运算判断自己是否需要变为活跃状态；</a:t>
            </a:r>
            <a:endParaRPr lang="zh-CN" altLang="zh-CN" sz="2000" b="1" kern="100" dirty="0"/>
          </a:p>
          <a:p>
            <a:pPr indent="0" algn="just">
              <a:lnSpc>
                <a:spcPct val="100000"/>
              </a:lnSpc>
              <a:spcBef>
                <a:spcPts val="600"/>
              </a:spcBef>
              <a:buNone/>
              <a:defRPr/>
            </a:pPr>
            <a:r>
              <a:rPr lang="zh-CN" altLang="zh-CN" sz="2000" b="1" kern="100" dirty="0"/>
              <a:t>（</a:t>
            </a:r>
            <a:r>
              <a:rPr lang="en-US" altLang="zh-CN" sz="2000" b="1" kern="100" dirty="0"/>
              <a:t>4</a:t>
            </a:r>
            <a:r>
              <a:rPr lang="zh-CN" altLang="zh-CN" sz="2000" b="1" kern="100" dirty="0"/>
              <a:t>）活跃状态，节点负责数据包转发，能量消耗最大。节点在这四种状态之间的转换关系如图</a:t>
            </a:r>
            <a:r>
              <a:rPr lang="en-US" altLang="zh-CN" sz="2000" b="1" kern="100" dirty="0"/>
              <a:t>4-2-4</a:t>
            </a:r>
            <a:r>
              <a:rPr lang="zh-CN" altLang="zh-CN" sz="2000" b="1" kern="100" dirty="0"/>
              <a:t>所示，其中</a:t>
            </a:r>
            <a:r>
              <a:rPr lang="en-US" altLang="zh-CN" sz="2000" b="1" kern="100" dirty="0"/>
              <a:t>neighbors</a:t>
            </a:r>
            <a:r>
              <a:rPr lang="zh-CN" altLang="zh-CN" sz="2000" b="1" kern="100" dirty="0"/>
              <a:t>表示节点的邻居数，</a:t>
            </a:r>
            <a:r>
              <a:rPr lang="en-US" altLang="zh-CN" sz="2000" b="1" kern="100" dirty="0"/>
              <a:t>NT</a:t>
            </a:r>
            <a:r>
              <a:rPr lang="zh-CN" altLang="zh-CN" sz="2000" b="1" kern="100" dirty="0"/>
              <a:t>表示邻居数门限，</a:t>
            </a:r>
            <a:r>
              <a:rPr lang="en-US" altLang="zh-CN" sz="2000" b="1" kern="100" dirty="0"/>
              <a:t>loss</a:t>
            </a:r>
            <a:r>
              <a:rPr lang="zh-CN" altLang="zh-CN" sz="2000" b="1" kern="100" dirty="0"/>
              <a:t>表示信道丢包率，</a:t>
            </a:r>
            <a:r>
              <a:rPr lang="en-US" altLang="zh-CN" sz="2000" b="1" kern="100" dirty="0"/>
              <a:t>LT</a:t>
            </a:r>
            <a:r>
              <a:rPr lang="zh-CN" altLang="zh-CN" sz="2000" b="1" kern="100" dirty="0"/>
              <a:t>表示丢包率门限，</a:t>
            </a:r>
            <a:r>
              <a:rPr lang="en-US" altLang="zh-CN" sz="2000" b="1" kern="100" dirty="0"/>
              <a:t>help</a:t>
            </a:r>
            <a:r>
              <a:rPr lang="zh-CN" altLang="zh-CN" sz="2000" b="1" kern="100" dirty="0"/>
              <a:t>表示求助消息，</a:t>
            </a:r>
            <a:r>
              <a:rPr lang="en-US" altLang="zh-CN" sz="2000" b="1" kern="100" dirty="0"/>
              <a:t>Ts</a:t>
            </a:r>
            <a:r>
              <a:rPr lang="zh-CN" altLang="zh-CN" sz="2000" b="1" kern="100" dirty="0"/>
              <a:t>、</a:t>
            </a:r>
            <a:r>
              <a:rPr lang="en-US" altLang="zh-CN" sz="2000" b="1" kern="100" dirty="0" err="1"/>
              <a:t>Tp</a:t>
            </a:r>
            <a:r>
              <a:rPr lang="zh-CN" altLang="zh-CN" sz="2000" b="1" kern="100" dirty="0"/>
              <a:t>、</a:t>
            </a:r>
            <a:r>
              <a:rPr lang="en-US" altLang="zh-CN" sz="2000" b="1" kern="100" dirty="0"/>
              <a:t>Tt</a:t>
            </a:r>
            <a:r>
              <a:rPr lang="zh-CN" altLang="zh-CN" sz="2000" b="1" kern="100" dirty="0"/>
              <a:t>分别是睡眠状态、侦听状态和测试状态的定时器。</a:t>
            </a:r>
            <a:endParaRPr lang="zh-CN" altLang="zh-CN" sz="2000" b="1" kern="100" dirty="0"/>
          </a:p>
          <a:p>
            <a:pPr indent="0">
              <a:lnSpc>
                <a:spcPct val="100000"/>
              </a:lnSpc>
              <a:buNone/>
              <a:defRPr/>
            </a:pPr>
            <a:endParaRPr lang="en-US" altLang="zh-CN" sz="1400" b="1" dirty="0">
              <a:cs typeface="Times New Roman" panose="02020603050405020304" pitchFamily="18" charset="0"/>
            </a:endParaRPr>
          </a:p>
        </p:txBody>
      </p:sp>
      <p:grpSp>
        <p:nvGrpSpPr>
          <p:cNvPr id="43012" name="组合 90"/>
          <p:cNvGrpSpPr/>
          <p:nvPr/>
        </p:nvGrpSpPr>
        <p:grpSpPr bwMode="auto">
          <a:xfrm>
            <a:off x="3666067" y="4532700"/>
            <a:ext cx="3938588" cy="1760538"/>
            <a:chOff x="4465" y="1583986"/>
            <a:chExt cx="6203" cy="2772"/>
          </a:xfrm>
        </p:grpSpPr>
        <p:sp>
          <p:nvSpPr>
            <p:cNvPr id="92" name="文本框 1175"/>
            <p:cNvSpPr txBox="1"/>
            <p:nvPr/>
          </p:nvSpPr>
          <p:spPr>
            <a:xfrm>
              <a:off x="5880" y="1584171"/>
              <a:ext cx="1140" cy="51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tIns="72000"/>
            <a:lstStyle/>
            <a:p>
              <a:pPr algn="ctr">
                <a:defRPr/>
              </a:pPr>
              <a:r>
                <a:rPr lang="zh-CN" altLang="en-US" sz="1050" kern="100" dirty="0">
                  <a:latin typeface="Times New Roman" panose="02020603050405020304" pitchFamily="18" charset="0"/>
                  <a:ea typeface="宋体" panose="02010600030101010101" pitchFamily="2" charset="-122"/>
                </a:rPr>
                <a:t>测试</a:t>
              </a:r>
              <a:endParaRPr lang="zh-CN" altLang="en-US" sz="1050" kern="100" dirty="0">
                <a:latin typeface="Times New Roman" panose="02020603050405020304" pitchFamily="18" charset="0"/>
                <a:ea typeface="宋体" panose="02010600030101010101" pitchFamily="2" charset="-122"/>
              </a:endParaRPr>
            </a:p>
          </p:txBody>
        </p:sp>
        <p:sp>
          <p:nvSpPr>
            <p:cNvPr id="93" name="文本框 1176"/>
            <p:cNvSpPr txBox="1"/>
            <p:nvPr/>
          </p:nvSpPr>
          <p:spPr>
            <a:xfrm>
              <a:off x="5893" y="1585946"/>
              <a:ext cx="1140" cy="517"/>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tIns="72000"/>
            <a:lstStyle/>
            <a:p>
              <a:pPr algn="ctr">
                <a:defRPr/>
              </a:pPr>
              <a:r>
                <a:rPr lang="zh-CN" altLang="en-US" sz="1050" kern="100" dirty="0">
                  <a:latin typeface="Times New Roman" panose="02020603050405020304" pitchFamily="18" charset="0"/>
                  <a:ea typeface="宋体" panose="02010600030101010101" pitchFamily="2" charset="-122"/>
                </a:rPr>
                <a:t>侦听</a:t>
              </a:r>
              <a:endParaRPr lang="zh-CN" altLang="en-US" sz="1050" kern="100" dirty="0">
                <a:latin typeface="Times New Roman" panose="02020603050405020304" pitchFamily="18" charset="0"/>
                <a:ea typeface="宋体" panose="02010600030101010101" pitchFamily="2" charset="-122"/>
              </a:endParaRPr>
            </a:p>
          </p:txBody>
        </p:sp>
        <p:sp>
          <p:nvSpPr>
            <p:cNvPr id="94" name="文本框 1177"/>
            <p:cNvSpPr txBox="1"/>
            <p:nvPr/>
          </p:nvSpPr>
          <p:spPr>
            <a:xfrm>
              <a:off x="9528" y="1585933"/>
              <a:ext cx="1140" cy="517"/>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tIns="72000"/>
            <a:lstStyle/>
            <a:p>
              <a:pPr algn="ctr">
                <a:defRPr/>
              </a:pPr>
              <a:r>
                <a:rPr lang="zh-CN" altLang="en-US" sz="1050" kern="100" dirty="0">
                  <a:latin typeface="Times New Roman" panose="02020603050405020304" pitchFamily="18" charset="0"/>
                  <a:ea typeface="宋体" panose="02010600030101010101" pitchFamily="2" charset="-122"/>
                </a:rPr>
                <a:t>睡眠</a:t>
              </a:r>
              <a:endParaRPr lang="zh-CN" altLang="en-US" sz="1050" kern="100" dirty="0">
                <a:latin typeface="Times New Roman" panose="02020603050405020304" pitchFamily="18" charset="0"/>
                <a:ea typeface="宋体" panose="02010600030101010101" pitchFamily="2" charset="-122"/>
              </a:endParaRPr>
            </a:p>
          </p:txBody>
        </p:sp>
        <p:sp>
          <p:nvSpPr>
            <p:cNvPr id="95" name="文本框 1178"/>
            <p:cNvSpPr txBox="1"/>
            <p:nvPr/>
          </p:nvSpPr>
          <p:spPr>
            <a:xfrm>
              <a:off x="9515" y="1584181"/>
              <a:ext cx="1140" cy="517"/>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tIns="72000"/>
            <a:lstStyle/>
            <a:p>
              <a:pPr algn="ctr">
                <a:defRPr/>
              </a:pPr>
              <a:r>
                <a:rPr lang="zh-CN" altLang="en-US" sz="1050" kern="100" dirty="0">
                  <a:latin typeface="Times New Roman" panose="02020603050405020304" pitchFamily="18" charset="0"/>
                  <a:ea typeface="宋体" panose="02010600030101010101" pitchFamily="2" charset="-122"/>
                </a:rPr>
                <a:t>活跃</a:t>
              </a:r>
              <a:endParaRPr lang="zh-CN" altLang="en-US" sz="1050" kern="100" dirty="0">
                <a:latin typeface="Times New Roman" panose="02020603050405020304" pitchFamily="18" charset="0"/>
                <a:ea typeface="宋体" panose="02010600030101010101" pitchFamily="2" charset="-122"/>
              </a:endParaRPr>
            </a:p>
          </p:txBody>
        </p:sp>
        <p:cxnSp>
          <p:nvCxnSpPr>
            <p:cNvPr id="96" name="直接箭头连接符 95"/>
            <p:cNvCxnSpPr>
              <a:stCxn id="92" idx="3"/>
              <a:endCxn id="95" idx="1"/>
            </p:cNvCxnSpPr>
            <p:nvPr/>
          </p:nvCxnSpPr>
          <p:spPr>
            <a:xfrm>
              <a:off x="7020" y="1584428"/>
              <a:ext cx="2495" cy="12"/>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97" name="文本框 1180"/>
            <p:cNvSpPr txBox="1"/>
            <p:nvPr/>
          </p:nvSpPr>
          <p:spPr>
            <a:xfrm>
              <a:off x="7703" y="1583986"/>
              <a:ext cx="1285" cy="575"/>
            </a:xfrm>
            <a:prstGeom prst="rect">
              <a:avLst/>
            </a:prstGeom>
            <a:solidFill>
              <a:schemeClr val="lt1">
                <a:alpha val="0"/>
              </a:schemeClr>
            </a:solid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i="1" kern="100" dirty="0">
                  <a:latin typeface="Times New Roman" panose="02020603050405020304" pitchFamily="18" charset="0"/>
                </a:rPr>
                <a:t>T</a:t>
              </a:r>
              <a:r>
                <a:rPr lang="en-US" sz="1050" i="1" kern="100" baseline="-25000" dirty="0">
                  <a:latin typeface="Times New Roman" panose="02020603050405020304" pitchFamily="18" charset="0"/>
                </a:rPr>
                <a:t>t</a:t>
              </a:r>
              <a:r>
                <a:rPr lang="zh-CN" altLang="en-US" sz="1050" kern="100" dirty="0">
                  <a:latin typeface="Times New Roman" panose="02020603050405020304" pitchFamily="18" charset="0"/>
                  <a:ea typeface="宋体" panose="02010600030101010101" pitchFamily="2" charset="-122"/>
                </a:rPr>
                <a:t>时间后</a:t>
              </a:r>
              <a:endParaRPr lang="zh-CN" altLang="en-US" sz="1050" kern="100" dirty="0">
                <a:latin typeface="Times New Roman" panose="02020603050405020304" pitchFamily="18" charset="0"/>
                <a:ea typeface="宋体" panose="02010600030101010101" pitchFamily="2" charset="-122"/>
              </a:endParaRPr>
            </a:p>
          </p:txBody>
        </p:sp>
        <p:cxnSp>
          <p:nvCxnSpPr>
            <p:cNvPr id="98" name="直接箭头连接符 97"/>
            <p:cNvCxnSpPr/>
            <p:nvPr/>
          </p:nvCxnSpPr>
          <p:spPr>
            <a:xfrm>
              <a:off x="6540" y="1584693"/>
              <a:ext cx="0" cy="1250"/>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flipV="1">
              <a:off x="6395" y="1584681"/>
              <a:ext cx="13" cy="1262"/>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0" name="文本框 1183"/>
            <p:cNvSpPr txBox="1"/>
            <p:nvPr/>
          </p:nvSpPr>
          <p:spPr>
            <a:xfrm>
              <a:off x="6505" y="1584741"/>
              <a:ext cx="1703" cy="1092"/>
            </a:xfrm>
            <a:prstGeom prst="rect">
              <a:avLst/>
            </a:prstGeom>
            <a:solidFill>
              <a:schemeClr val="lt1">
                <a:alpha val="0"/>
              </a:schemeClr>
            </a:solid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kern="100" dirty="0">
                  <a:latin typeface="Times New Roman" panose="02020603050405020304" pitchFamily="18" charset="0"/>
                </a:rPr>
                <a:t>neighbors&gt;NT</a:t>
              </a:r>
              <a:endParaRPr lang="zh-CN" altLang="en-US" sz="1050" kern="100" dirty="0">
                <a:latin typeface="Times New Roman" panose="02020603050405020304" pitchFamily="18" charset="0"/>
                <a:ea typeface="宋体" panose="02010600030101010101" pitchFamily="2" charset="-122"/>
              </a:endParaRPr>
            </a:p>
            <a:p>
              <a:pPr algn="just">
                <a:defRPr/>
              </a:pPr>
              <a:r>
                <a:rPr lang="zh-CN" altLang="en-US" sz="1050" kern="100" dirty="0">
                  <a:latin typeface="Times New Roman" panose="02020603050405020304" pitchFamily="18" charset="0"/>
                  <a:ea typeface="宋体" panose="02010600030101010101" pitchFamily="2" charset="-122"/>
                </a:rPr>
                <a:t>或者</a:t>
              </a:r>
              <a:endParaRPr lang="zh-CN" altLang="en-US" sz="1050" kern="100" dirty="0">
                <a:latin typeface="Times New Roman" panose="02020603050405020304" pitchFamily="18" charset="0"/>
                <a:ea typeface="宋体" panose="02010600030101010101" pitchFamily="2" charset="-122"/>
              </a:endParaRPr>
            </a:p>
            <a:p>
              <a:pPr algn="just">
                <a:defRPr/>
              </a:pPr>
              <a:r>
                <a:rPr lang="en-US" sz="1050" kern="100" dirty="0">
                  <a:latin typeface="Times New Roman" panose="02020603050405020304" pitchFamily="18" charset="0"/>
                </a:rPr>
                <a:t>loss&gt;loss</a:t>
              </a:r>
              <a:r>
                <a:rPr lang="en-US" sz="1050" kern="100" baseline="-25000" dirty="0">
                  <a:latin typeface="Times New Roman" panose="02020603050405020304" pitchFamily="18" charset="0"/>
                </a:rPr>
                <a:t>0</a:t>
              </a:r>
              <a:endParaRPr lang="zh-CN" altLang="en-US" sz="1050" kern="100" dirty="0">
                <a:latin typeface="Times New Roman" panose="02020603050405020304" pitchFamily="18" charset="0"/>
                <a:ea typeface="宋体" panose="02010600030101010101" pitchFamily="2" charset="-122"/>
              </a:endParaRPr>
            </a:p>
          </p:txBody>
        </p:sp>
        <p:sp>
          <p:nvSpPr>
            <p:cNvPr id="101" name="文本框 1184"/>
            <p:cNvSpPr txBox="1"/>
            <p:nvPr/>
          </p:nvSpPr>
          <p:spPr>
            <a:xfrm>
              <a:off x="4465" y="1584741"/>
              <a:ext cx="2028" cy="1117"/>
            </a:xfrm>
            <a:prstGeom prst="rect">
              <a:avLst/>
            </a:prstGeom>
            <a:solidFill>
              <a:schemeClr val="lt1">
                <a:alpha val="0"/>
              </a:schemeClr>
            </a:solid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kern="100" dirty="0">
                  <a:latin typeface="Times New Roman" panose="02020603050405020304" pitchFamily="18" charset="0"/>
                </a:rPr>
                <a:t>neighbors&lt;NT</a:t>
              </a:r>
              <a:r>
                <a:rPr lang="zh-CN" altLang="en-US" sz="1050" kern="100" dirty="0">
                  <a:latin typeface="Times New Roman" panose="02020603050405020304" pitchFamily="18" charset="0"/>
                  <a:ea typeface="宋体" panose="02010600030101010101" pitchFamily="2" charset="-122"/>
                </a:rPr>
                <a:t>并且</a:t>
              </a:r>
              <a:endParaRPr lang="zh-CN" altLang="en-US" sz="1050" kern="100" dirty="0">
                <a:latin typeface="Times New Roman" panose="02020603050405020304" pitchFamily="18" charset="0"/>
                <a:ea typeface="宋体" panose="02010600030101010101" pitchFamily="2" charset="-122"/>
              </a:endParaRPr>
            </a:p>
            <a:p>
              <a:pPr algn="just">
                <a:defRPr/>
              </a:pPr>
              <a:r>
                <a:rPr lang="en-US" sz="1050" kern="100" dirty="0">
                  <a:latin typeface="Times New Roman" panose="02020603050405020304" pitchFamily="18" charset="0"/>
                </a:rPr>
                <a:t>loss&gt;LT</a:t>
              </a:r>
              <a:r>
                <a:rPr lang="zh-CN" altLang="en-US" sz="1050" kern="100" dirty="0">
                  <a:latin typeface="Times New Roman" panose="02020603050405020304" pitchFamily="18" charset="0"/>
                  <a:ea typeface="宋体" panose="02010600030101010101" pitchFamily="2" charset="-122"/>
                </a:rPr>
                <a:t>；</a:t>
              </a:r>
              <a:endParaRPr lang="zh-CN" altLang="en-US" sz="1050" kern="100" dirty="0">
                <a:latin typeface="Times New Roman" panose="02020603050405020304" pitchFamily="18" charset="0"/>
                <a:ea typeface="宋体" panose="02010600030101010101" pitchFamily="2" charset="-122"/>
              </a:endParaRPr>
            </a:p>
            <a:p>
              <a:pPr algn="just">
                <a:defRPr/>
              </a:pPr>
              <a:r>
                <a:rPr lang="en-US" sz="1050" kern="100" dirty="0">
                  <a:latin typeface="Times New Roman" panose="02020603050405020304" pitchFamily="18" charset="0"/>
                </a:rPr>
                <a:t>loss&lt;LT</a:t>
              </a:r>
              <a:r>
                <a:rPr lang="zh-CN" altLang="en-US" sz="1050" kern="100" dirty="0">
                  <a:latin typeface="Times New Roman" panose="02020603050405020304" pitchFamily="18" charset="0"/>
                  <a:ea typeface="宋体" panose="02010600030101010101" pitchFamily="2" charset="-122"/>
                </a:rPr>
                <a:t>且</a:t>
              </a:r>
              <a:r>
                <a:rPr lang="en-US" sz="1050" kern="100" dirty="0">
                  <a:latin typeface="Times New Roman" panose="02020603050405020304" pitchFamily="18" charset="0"/>
                </a:rPr>
                <a:t>help</a:t>
              </a:r>
              <a:endParaRPr lang="zh-CN" altLang="en-US" sz="1050" kern="100" dirty="0">
                <a:latin typeface="Times New Roman" panose="02020603050405020304" pitchFamily="18" charset="0"/>
                <a:ea typeface="宋体" panose="02010600030101010101" pitchFamily="2" charset="-122"/>
              </a:endParaRPr>
            </a:p>
          </p:txBody>
        </p:sp>
        <p:sp>
          <p:nvSpPr>
            <p:cNvPr id="102" name="文本框 1185"/>
            <p:cNvSpPr txBox="1"/>
            <p:nvPr/>
          </p:nvSpPr>
          <p:spPr>
            <a:xfrm>
              <a:off x="7703" y="1585703"/>
              <a:ext cx="1285" cy="442"/>
            </a:xfrm>
            <a:prstGeom prst="rect">
              <a:avLst/>
            </a:prstGeom>
            <a:solidFill>
              <a:schemeClr val="lt1">
                <a:alpha val="0"/>
              </a:schemeClr>
            </a:solid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i="1" kern="100" dirty="0" err="1">
                  <a:latin typeface="Times New Roman" panose="02020603050405020304" pitchFamily="18" charset="0"/>
                </a:rPr>
                <a:t>T</a:t>
              </a:r>
              <a:r>
                <a:rPr lang="en-US" sz="1050" i="1" kern="100" baseline="-25000" dirty="0" err="1">
                  <a:latin typeface="Times New Roman" panose="02020603050405020304" pitchFamily="18" charset="0"/>
                </a:rPr>
                <a:t>p</a:t>
              </a:r>
              <a:r>
                <a:rPr lang="zh-CN" altLang="en-US" sz="1050" kern="100" dirty="0">
                  <a:latin typeface="Times New Roman" panose="02020603050405020304" pitchFamily="18" charset="0"/>
                  <a:ea typeface="宋体" panose="02010600030101010101" pitchFamily="2" charset="-122"/>
                </a:rPr>
                <a:t>时间后</a:t>
              </a:r>
              <a:endParaRPr lang="zh-CN" altLang="en-US" sz="1050" kern="100" dirty="0">
                <a:latin typeface="Times New Roman" panose="02020603050405020304" pitchFamily="18" charset="0"/>
                <a:ea typeface="宋体" panose="02010600030101010101" pitchFamily="2" charset="-122"/>
              </a:endParaRPr>
            </a:p>
          </p:txBody>
        </p:sp>
        <p:sp>
          <p:nvSpPr>
            <p:cNvPr id="103" name="文本框 1186"/>
            <p:cNvSpPr txBox="1"/>
            <p:nvPr/>
          </p:nvSpPr>
          <p:spPr>
            <a:xfrm>
              <a:off x="7715" y="1586183"/>
              <a:ext cx="1285" cy="575"/>
            </a:xfrm>
            <a:prstGeom prst="rect">
              <a:avLst/>
            </a:prstGeom>
            <a:solidFill>
              <a:schemeClr val="lt1">
                <a:alpha val="0"/>
              </a:schemeClr>
            </a:solid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i="1" kern="100" dirty="0">
                  <a:latin typeface="Times New Roman" panose="02020603050405020304" pitchFamily="18" charset="0"/>
                </a:rPr>
                <a:t>T</a:t>
              </a:r>
              <a:r>
                <a:rPr lang="en-US" sz="1050" i="1" kern="100" baseline="-25000" dirty="0">
                  <a:latin typeface="Times New Roman" panose="02020603050405020304" pitchFamily="18" charset="0"/>
                </a:rPr>
                <a:t>s</a:t>
              </a:r>
              <a:r>
                <a:rPr lang="zh-CN" altLang="en-US" sz="1050" kern="100" dirty="0">
                  <a:latin typeface="Times New Roman" panose="02020603050405020304" pitchFamily="18" charset="0"/>
                  <a:ea typeface="宋体" panose="02010600030101010101" pitchFamily="2" charset="-122"/>
                </a:rPr>
                <a:t>时间后</a:t>
              </a:r>
              <a:endParaRPr lang="zh-CN" altLang="en-US" sz="1050" kern="100" dirty="0">
                <a:latin typeface="Times New Roman" panose="02020603050405020304" pitchFamily="18" charset="0"/>
                <a:ea typeface="宋体" panose="02010600030101010101" pitchFamily="2" charset="-122"/>
              </a:endParaRPr>
            </a:p>
          </p:txBody>
        </p:sp>
        <p:cxnSp>
          <p:nvCxnSpPr>
            <p:cNvPr id="104" name="直接箭头连接符 103"/>
            <p:cNvCxnSpPr/>
            <p:nvPr/>
          </p:nvCxnSpPr>
          <p:spPr>
            <a:xfrm>
              <a:off x="7045" y="1586133"/>
              <a:ext cx="2483" cy="0"/>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flipH="1" flipV="1">
              <a:off x="7033" y="1586253"/>
              <a:ext cx="2508" cy="12"/>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19" name="文本框 18"/>
          <p:cNvSpPr txBox="1"/>
          <p:nvPr/>
        </p:nvSpPr>
        <p:spPr>
          <a:xfrm>
            <a:off x="4658059" y="6366431"/>
            <a:ext cx="2844800" cy="276999"/>
          </a:xfrm>
          <a:prstGeom prst="rect">
            <a:avLst/>
          </a:prstGeom>
          <a:noFill/>
        </p:spPr>
        <p:txBody>
          <a:bodyPr>
            <a:spAutoFit/>
          </a:bodyPr>
          <a:lstStyle/>
          <a:p>
            <a:pPr>
              <a:defRPr/>
            </a:pPr>
            <a:r>
              <a:rPr lang="zh-CN" altLang="en-US" sz="1200" b="1" dirty="0">
                <a:latin typeface="宋体" panose="02010600030101010101" pitchFamily="2" charset="-122"/>
                <a:ea typeface="宋体" panose="02010600030101010101" pitchFamily="2" charset="-122"/>
              </a:rPr>
              <a:t>图</a:t>
            </a:r>
            <a:r>
              <a:rPr lang="en-US" altLang="zh-CN" sz="1200" b="1" dirty="0">
                <a:latin typeface="宋体" panose="02010600030101010101" pitchFamily="2" charset="-122"/>
                <a:ea typeface="宋体" panose="02010600030101010101" pitchFamily="2" charset="-122"/>
              </a:rPr>
              <a:t>4-2-5 ASCENT</a:t>
            </a:r>
            <a:r>
              <a:rPr lang="zh-CN" altLang="zh-CN" sz="1200" b="1" dirty="0">
                <a:latin typeface="宋体" panose="02010600030101010101" pitchFamily="2" charset="-122"/>
                <a:ea typeface="宋体" panose="02010600030101010101" pitchFamily="2" charset="-122"/>
              </a:rPr>
              <a:t>算法的节点状态转移图</a:t>
            </a:r>
            <a:endParaRPr lang="zh-CN" altLang="en-US" sz="1200" b="1" dirty="0">
              <a:latin typeface="宋体" panose="02010600030101010101" pitchFamily="2" charset="-122"/>
              <a:ea typeface="宋体" panose="02010600030101010101" pitchFamily="2" charset="-122"/>
            </a:endParaRPr>
          </a:p>
        </p:txBody>
      </p:sp>
      <p:sp>
        <p:nvSpPr>
          <p:cNvPr id="22"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78399" y="1337945"/>
            <a:ext cx="10516235" cy="4351655"/>
          </a:xfrm>
        </p:spPr>
        <p:txBody>
          <a:bodyPr/>
          <a:lstStyle/>
          <a:p>
            <a:pPr marL="0" indent="0">
              <a:buNone/>
              <a:defRPr/>
            </a:pPr>
            <a:r>
              <a:rPr lang="zh-CN" altLang="en-US" b="1" dirty="0"/>
              <a:t>4.</a:t>
            </a:r>
            <a:r>
              <a:rPr lang="en-US" altLang="zh-CN" b="1" dirty="0"/>
              <a:t>2.4.3 SPAN </a:t>
            </a:r>
            <a:r>
              <a:rPr lang="zh-CN" altLang="zh-CN" b="1" dirty="0"/>
              <a:t>算法</a:t>
            </a:r>
            <a:endParaRPr lang="zh-CN" altLang="en-US" b="1" dirty="0"/>
          </a:p>
          <a:p>
            <a:pPr marL="0" indent="0" algn="just">
              <a:buNone/>
              <a:defRPr/>
            </a:pPr>
            <a:r>
              <a:rPr lang="en-US" altLang="zh-CN" sz="1800" b="1" kern="100" dirty="0">
                <a:solidFill>
                  <a:schemeClr val="bg2"/>
                </a:solidFill>
              </a:rPr>
              <a:t>   </a:t>
            </a:r>
            <a:r>
              <a:rPr lang="zh-CN" altLang="zh-CN" sz="2000" b="1" kern="100" dirty="0"/>
              <a:t>为了延长网络的生存时间，拓扑控制算法通常是优化活跃节点的数量，用最少的活跃节点构建骨干网络，但这种方式可能会影响原有网络的通信容量</a:t>
            </a:r>
            <a:r>
              <a:rPr lang="zh-CN" altLang="zh-CN" sz="1800" b="1" kern="100" dirty="0">
                <a:solidFill>
                  <a:schemeClr val="bg2"/>
                </a:solidFill>
              </a:rPr>
              <a:t>。</a:t>
            </a:r>
            <a:endParaRPr lang="zh-CN" altLang="en-US" sz="1800" b="1" kern="100" dirty="0">
              <a:solidFill>
                <a:schemeClr val="bg2"/>
              </a:solidFill>
            </a:endParaRPr>
          </a:p>
        </p:txBody>
      </p:sp>
      <p:grpSp>
        <p:nvGrpSpPr>
          <p:cNvPr id="44036" name="组合 6"/>
          <p:cNvGrpSpPr/>
          <p:nvPr/>
        </p:nvGrpSpPr>
        <p:grpSpPr bwMode="auto">
          <a:xfrm>
            <a:off x="4359275" y="2471420"/>
            <a:ext cx="3872865" cy="1912620"/>
            <a:chOff x="6373" y="2292"/>
            <a:chExt cx="5010" cy="4745"/>
          </a:xfrm>
        </p:grpSpPr>
        <p:sp>
          <p:nvSpPr>
            <p:cNvPr id="8" name="六边形 7"/>
            <p:cNvSpPr/>
            <p:nvPr/>
          </p:nvSpPr>
          <p:spPr>
            <a:xfrm>
              <a:off x="7509" y="3965"/>
              <a:ext cx="2718" cy="1897"/>
            </a:xfrm>
            <a:prstGeom prst="hexag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9" name="椭圆 8"/>
            <p:cNvSpPr/>
            <p:nvPr/>
          </p:nvSpPr>
          <p:spPr>
            <a:xfrm>
              <a:off x="7844" y="3805"/>
              <a:ext cx="398" cy="4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rgbClr val="000000"/>
                  </a:solidFill>
                  <a:latin typeface="Times New Roman" panose="02020603050405020304" pitchFamily="18" charset="0"/>
                </a:rPr>
                <a:t>C</a:t>
              </a:r>
              <a:endParaRPr lang="zh-CN" altLang="en-US" sz="1050" dirty="0">
                <a:latin typeface="Times New Roman" panose="02020603050405020304" pitchFamily="18" charset="0"/>
                <a:ea typeface="宋体" panose="02010600030101010101" pitchFamily="2" charset="-122"/>
              </a:endParaRPr>
            </a:p>
          </p:txBody>
        </p:sp>
        <p:sp>
          <p:nvSpPr>
            <p:cNvPr id="10" name="椭圆 9"/>
            <p:cNvSpPr/>
            <p:nvPr/>
          </p:nvSpPr>
          <p:spPr>
            <a:xfrm>
              <a:off x="7407" y="4687"/>
              <a:ext cx="398" cy="4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rgbClr val="000000"/>
                  </a:solidFill>
                  <a:latin typeface="Times New Roman" panose="02020603050405020304" pitchFamily="18" charset="0"/>
                </a:rPr>
                <a:t>E</a:t>
              </a:r>
              <a:endParaRPr lang="zh-CN" altLang="en-US" sz="1200" dirty="0">
                <a:latin typeface="Times New Roman" panose="02020603050405020304" pitchFamily="18" charset="0"/>
                <a:ea typeface="宋体" panose="02010600030101010101" pitchFamily="2" charset="-122"/>
              </a:endParaRPr>
            </a:p>
          </p:txBody>
        </p:sp>
        <p:sp>
          <p:nvSpPr>
            <p:cNvPr id="11" name="椭圆 10"/>
            <p:cNvSpPr/>
            <p:nvPr/>
          </p:nvSpPr>
          <p:spPr>
            <a:xfrm>
              <a:off x="9575" y="3805"/>
              <a:ext cx="395" cy="426"/>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2" name="椭圆 11"/>
            <p:cNvSpPr/>
            <p:nvPr/>
          </p:nvSpPr>
          <p:spPr>
            <a:xfrm>
              <a:off x="10068" y="4687"/>
              <a:ext cx="395" cy="426"/>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3" name="椭圆 12"/>
            <p:cNvSpPr/>
            <p:nvPr/>
          </p:nvSpPr>
          <p:spPr>
            <a:xfrm>
              <a:off x="9575" y="5611"/>
              <a:ext cx="395" cy="43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4" name="椭圆 13"/>
            <p:cNvSpPr/>
            <p:nvPr/>
          </p:nvSpPr>
          <p:spPr>
            <a:xfrm>
              <a:off x="7844" y="5611"/>
              <a:ext cx="398" cy="43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15" name="直接连接符 14"/>
            <p:cNvCxnSpPr/>
            <p:nvPr/>
          </p:nvCxnSpPr>
          <p:spPr>
            <a:xfrm flipH="1">
              <a:off x="6911" y="3478"/>
              <a:ext cx="570" cy="1152"/>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6911" y="4607"/>
              <a:ext cx="522" cy="1251"/>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flipH="1">
              <a:off x="6500" y="5862"/>
              <a:ext cx="910" cy="589"/>
            </a:xfrm>
            <a:prstGeom prst="line">
              <a:avLst/>
            </a:prstGeom>
            <a:ln>
              <a:headEnd type="none"/>
              <a:tailEnd type="triangle" w="med" len="med"/>
            </a:ln>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flipH="1">
              <a:off x="6768" y="5976"/>
              <a:ext cx="1136" cy="745"/>
            </a:xfrm>
            <a:prstGeom prst="line">
              <a:avLst/>
            </a:prstGeom>
          </p:spPr>
          <p:style>
            <a:lnRef idx="1">
              <a:schemeClr val="dk1"/>
            </a:lnRef>
            <a:fillRef idx="0">
              <a:schemeClr val="dk1"/>
            </a:fillRef>
            <a:effectRef idx="0">
              <a:schemeClr val="dk1"/>
            </a:effectRef>
            <a:fontRef idx="minor">
              <a:schemeClr val="tx1"/>
            </a:fontRef>
          </p:style>
        </p:cxnSp>
        <p:sp>
          <p:nvSpPr>
            <p:cNvPr id="19" name="椭圆 18"/>
            <p:cNvSpPr/>
            <p:nvPr/>
          </p:nvSpPr>
          <p:spPr>
            <a:xfrm>
              <a:off x="6373" y="6611"/>
              <a:ext cx="395" cy="4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rgbClr val="000000"/>
                  </a:solidFill>
                  <a:latin typeface="Times New Roman" panose="02020603050405020304" pitchFamily="18" charset="0"/>
                </a:rPr>
                <a:t>D</a:t>
              </a:r>
              <a:endParaRPr lang="zh-CN" altLang="en-US" sz="1200" dirty="0">
                <a:latin typeface="Times New Roman" panose="02020603050405020304" pitchFamily="18" charset="0"/>
                <a:ea typeface="宋体" panose="02010600030101010101" pitchFamily="2" charset="-122"/>
              </a:endParaRPr>
            </a:p>
          </p:txBody>
        </p:sp>
        <p:cxnSp>
          <p:nvCxnSpPr>
            <p:cNvPr id="20" name="直接连接符 19"/>
            <p:cNvCxnSpPr/>
            <p:nvPr/>
          </p:nvCxnSpPr>
          <p:spPr>
            <a:xfrm>
              <a:off x="8557" y="4315"/>
              <a:ext cx="805" cy="0"/>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a:off x="9359" y="4319"/>
              <a:ext cx="369" cy="643"/>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flipH="1">
              <a:off x="9419" y="4950"/>
              <a:ext cx="309" cy="502"/>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a:off x="9056" y="5452"/>
              <a:ext cx="363" cy="0"/>
            </a:xfrm>
            <a:prstGeom prst="line">
              <a:avLst/>
            </a:prstGeom>
          </p:spPr>
          <p:style>
            <a:lnRef idx="1">
              <a:schemeClr val="dk1"/>
            </a:lnRef>
            <a:fillRef idx="0">
              <a:schemeClr val="dk1"/>
            </a:fillRef>
            <a:effectRef idx="0">
              <a:schemeClr val="dk1"/>
            </a:effectRef>
            <a:fontRef idx="minor">
              <a:schemeClr val="tx1"/>
            </a:fontRef>
          </p:style>
        </p:cxnSp>
        <p:cxnSp>
          <p:nvCxnSpPr>
            <p:cNvPr id="24" name="直接箭头连接符 23"/>
            <p:cNvCxnSpPr/>
            <p:nvPr/>
          </p:nvCxnSpPr>
          <p:spPr>
            <a:xfrm flipH="1">
              <a:off x="7656" y="5452"/>
              <a:ext cx="1407" cy="116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7608" y="4170"/>
              <a:ext cx="296" cy="517"/>
            </a:xfrm>
            <a:prstGeom prst="line">
              <a:avLst/>
            </a:prstGeom>
            <a:ln w="19050">
              <a:solidFill>
                <a:schemeClr val="bg2"/>
              </a:solidFill>
              <a:prstDash val="dash"/>
            </a:ln>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flipV="1">
              <a:off x="9772" y="2292"/>
              <a:ext cx="767" cy="1513"/>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flipH="1">
              <a:off x="10234" y="2665"/>
              <a:ext cx="586" cy="1217"/>
            </a:xfrm>
            <a:prstGeom prst="line">
              <a:avLst/>
            </a:prstGeom>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a:off x="10256" y="3877"/>
              <a:ext cx="751" cy="1373"/>
            </a:xfrm>
            <a:prstGeom prst="line">
              <a:avLst/>
            </a:prstGeom>
            <a:ln>
              <a:headEnd type="none"/>
              <a:tailEnd type="triangle" w="med" len="med"/>
            </a:ln>
          </p:spPr>
          <p:style>
            <a:lnRef idx="1">
              <a:schemeClr val="dk1"/>
            </a:lnRef>
            <a:fillRef idx="0">
              <a:schemeClr val="dk1"/>
            </a:fillRef>
            <a:effectRef idx="0">
              <a:schemeClr val="dk1"/>
            </a:effectRef>
            <a:fontRef idx="minor">
              <a:schemeClr val="tx1"/>
            </a:fontRef>
          </p:style>
        </p:cxnSp>
        <p:sp>
          <p:nvSpPr>
            <p:cNvPr id="29" name="椭圆 28"/>
            <p:cNvSpPr/>
            <p:nvPr/>
          </p:nvSpPr>
          <p:spPr>
            <a:xfrm>
              <a:off x="10820" y="5611"/>
              <a:ext cx="395" cy="4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rgbClr val="000000"/>
                  </a:solidFill>
                  <a:latin typeface="Times New Roman" panose="02020603050405020304" pitchFamily="18" charset="0"/>
                </a:rPr>
                <a:t>B</a:t>
              </a:r>
              <a:endParaRPr lang="zh-CN" altLang="en-US" sz="1050" dirty="0">
                <a:latin typeface="Times New Roman" panose="02020603050405020304" pitchFamily="18" charset="0"/>
                <a:ea typeface="宋体" panose="02010600030101010101" pitchFamily="2" charset="-122"/>
              </a:endParaRPr>
            </a:p>
          </p:txBody>
        </p:sp>
        <p:sp>
          <p:nvSpPr>
            <p:cNvPr id="44062" name="文本框 28"/>
            <p:cNvSpPr txBox="1">
              <a:spLocks noChangeArrowheads="1"/>
            </p:cNvSpPr>
            <p:nvPr/>
          </p:nvSpPr>
          <p:spPr bwMode="auto">
            <a:xfrm>
              <a:off x="10461" y="3589"/>
              <a:ext cx="92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solidFill>
                    <a:srgbClr val="000000"/>
                  </a:solidFill>
                  <a:latin typeface="Times New Roman" panose="02020603050405020304" pitchFamily="18" charset="0"/>
                </a:rPr>
                <a:t>1</a:t>
              </a:r>
              <a:endParaRPr lang="zh-CN" altLang="zh-CN" sz="1200">
                <a:latin typeface="Times New Roman" panose="02020603050405020304" pitchFamily="18" charset="0"/>
              </a:endParaRPr>
            </a:p>
          </p:txBody>
        </p:sp>
        <p:sp>
          <p:nvSpPr>
            <p:cNvPr id="44063" name="文本框 29"/>
            <p:cNvSpPr txBox="1">
              <a:spLocks noChangeArrowheads="1"/>
            </p:cNvSpPr>
            <p:nvPr/>
          </p:nvSpPr>
          <p:spPr bwMode="auto">
            <a:xfrm>
              <a:off x="9049" y="4595"/>
              <a:ext cx="92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solidFill>
                    <a:srgbClr val="000000"/>
                  </a:solidFill>
                  <a:latin typeface="Times New Roman" panose="02020603050405020304" pitchFamily="18" charset="0"/>
                </a:rPr>
                <a:t>2</a:t>
              </a:r>
              <a:endParaRPr lang="zh-CN" altLang="zh-CN" sz="1200">
                <a:latin typeface="Times New Roman" panose="02020603050405020304" pitchFamily="18" charset="0"/>
              </a:endParaRPr>
            </a:p>
          </p:txBody>
        </p:sp>
        <p:sp>
          <p:nvSpPr>
            <p:cNvPr id="44064" name="文本框 30"/>
            <p:cNvSpPr txBox="1">
              <a:spLocks noChangeArrowheads="1"/>
            </p:cNvSpPr>
            <p:nvPr/>
          </p:nvSpPr>
          <p:spPr bwMode="auto">
            <a:xfrm>
              <a:off x="6587" y="5449"/>
              <a:ext cx="92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solidFill>
                    <a:srgbClr val="000000"/>
                  </a:solidFill>
                  <a:latin typeface="Times New Roman" panose="02020603050405020304" pitchFamily="18" charset="0"/>
                </a:rPr>
                <a:t>3</a:t>
              </a:r>
              <a:endParaRPr lang="zh-CN" altLang="zh-CN" sz="1200">
                <a:latin typeface="Times New Roman" panose="02020603050405020304" pitchFamily="18" charset="0"/>
              </a:endParaRPr>
            </a:p>
          </p:txBody>
        </p:sp>
      </p:grpSp>
      <p:sp>
        <p:nvSpPr>
          <p:cNvPr id="30" name="文本框 29"/>
          <p:cNvSpPr txBox="1"/>
          <p:nvPr/>
        </p:nvSpPr>
        <p:spPr>
          <a:xfrm>
            <a:off x="4480560" y="4452620"/>
            <a:ext cx="3910965" cy="368300"/>
          </a:xfrm>
          <a:prstGeom prst="rect">
            <a:avLst/>
          </a:prstGeom>
          <a:noFill/>
        </p:spPr>
        <p:txBody>
          <a:bodyPr wrap="square">
            <a:spAutoFit/>
          </a:bodyPr>
          <a:lstStyle/>
          <a:p>
            <a:pPr>
              <a:defRPr/>
            </a:pPr>
            <a:r>
              <a:rPr lang="zh-CN" altLang="zh-CN"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4-2-6  </a:t>
            </a:r>
            <a:r>
              <a:rPr lang="zh-CN" altLang="zh-CN" b="1" dirty="0">
                <a:latin typeface="宋体" panose="02010600030101010101" pitchFamily="2" charset="-122"/>
                <a:ea typeface="宋体" panose="02010600030101010101" pitchFamily="2" charset="-122"/>
              </a:rPr>
              <a:t>骨干网对通信容量的影响</a:t>
            </a:r>
            <a:endParaRPr lang="zh-CN" altLang="zh-CN" b="1" dirty="0">
              <a:latin typeface="宋体" panose="02010600030101010101" pitchFamily="2" charset="-122"/>
              <a:ea typeface="宋体" panose="02010600030101010101" pitchFamily="2" charset="-122"/>
            </a:endParaRPr>
          </a:p>
        </p:txBody>
      </p:sp>
      <p:sp>
        <p:nvSpPr>
          <p:cNvPr id="32" name="椭圆 31"/>
          <p:cNvSpPr/>
          <p:nvPr/>
        </p:nvSpPr>
        <p:spPr bwMode="auto">
          <a:xfrm>
            <a:off x="6383149" y="2528589"/>
            <a:ext cx="201613" cy="2079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solidFill>
                  <a:srgbClr val="000000"/>
                </a:solidFill>
                <a:latin typeface="Times New Roman" panose="02020603050405020304" pitchFamily="18" charset="0"/>
                <a:ea typeface="宋体" panose="02010600030101010101" pitchFamily="2" charset="-122"/>
              </a:rPr>
              <a:t>A</a:t>
            </a:r>
            <a:endParaRPr lang="zh-CN" altLang="en-US" sz="1200" dirty="0">
              <a:latin typeface="Times New Roman" panose="02020603050405020304" pitchFamily="18" charset="0"/>
              <a:ea typeface="宋体" panose="02010600030101010101" pitchFamily="2" charset="-122"/>
            </a:endParaRPr>
          </a:p>
        </p:txBody>
      </p:sp>
      <p:sp>
        <p:nvSpPr>
          <p:cNvPr id="35" name="文本框 34"/>
          <p:cNvSpPr txBox="1"/>
          <p:nvPr/>
        </p:nvSpPr>
        <p:spPr>
          <a:xfrm>
            <a:off x="1078398" y="4812438"/>
            <a:ext cx="10516235" cy="1631216"/>
          </a:xfrm>
          <a:prstGeom prst="rect">
            <a:avLst/>
          </a:prstGeom>
          <a:noFill/>
        </p:spPr>
        <p:txBody>
          <a:bodyPr wrap="square">
            <a:spAutoFit/>
          </a:bodyPr>
          <a:lstStyle/>
          <a:p>
            <a:pPr algn="just">
              <a:defRPr/>
            </a:pPr>
            <a:r>
              <a:rPr lang="en-US" altLang="zh-CN" b="1" kern="100" dirty="0">
                <a:solidFill>
                  <a:schemeClr val="bg2"/>
                </a:solidFill>
                <a:latin typeface="宋体" panose="02010600030101010101" pitchFamily="2" charset="-122"/>
                <a:ea typeface="宋体" panose="02010600030101010101" pitchFamily="2" charset="-122"/>
              </a:rPr>
              <a:t>   </a:t>
            </a:r>
            <a:r>
              <a:rPr lang="en-US" altLang="zh-CN" sz="2000" b="1" kern="100" dirty="0">
                <a:latin typeface="宋体" panose="02010600030101010101" pitchFamily="2" charset="-122"/>
                <a:ea typeface="宋体" panose="02010600030101010101" pitchFamily="2" charset="-122"/>
              </a:rPr>
              <a:t>SPAN</a:t>
            </a:r>
            <a:r>
              <a:rPr lang="zh-CN" altLang="zh-CN" sz="2000" b="1" kern="100" dirty="0">
                <a:latin typeface="宋体" panose="02010600030101010101" pitchFamily="2" charset="-122"/>
                <a:ea typeface="宋体" panose="02010600030101010101" pitchFamily="2" charset="-122"/>
              </a:rPr>
              <a:t>算法是一个</a:t>
            </a:r>
            <a:r>
              <a:rPr lang="zh-CN" altLang="zh-CN" sz="2000" b="1" kern="100" dirty="0">
                <a:solidFill>
                  <a:srgbClr val="C00000"/>
                </a:solidFill>
                <a:latin typeface="宋体" panose="02010600030101010101" pitchFamily="2" charset="-122"/>
                <a:ea typeface="宋体" panose="02010600030101010101" pitchFamily="2" charset="-122"/>
              </a:rPr>
              <a:t>考虑了骨干网络通信能力的拓扑控制算法</a:t>
            </a:r>
            <a:r>
              <a:rPr lang="zh-CN" altLang="zh-CN" sz="2000" b="1" kern="100" dirty="0">
                <a:latin typeface="宋体" panose="02010600030101010101" pitchFamily="2" charset="-122"/>
                <a:ea typeface="宋体" panose="02010600030101010101" pitchFamily="2" charset="-122"/>
              </a:rPr>
              <a:t>，它的目的是</a:t>
            </a:r>
            <a:r>
              <a:rPr lang="zh-CN" altLang="zh-CN" sz="2000" b="1" kern="100" dirty="0">
                <a:solidFill>
                  <a:srgbClr val="C00000"/>
                </a:solidFill>
                <a:latin typeface="宋体" panose="02010600030101010101" pitchFamily="2" charset="-122"/>
                <a:ea typeface="宋体" panose="02010600030101010101" pitchFamily="2" charset="-122"/>
              </a:rPr>
              <a:t>使骨干网的数据转发能力尽可能接近原有网络的通信容量</a:t>
            </a:r>
            <a:r>
              <a:rPr lang="zh-CN" altLang="zh-CN" sz="2000" b="1" kern="100" dirty="0">
                <a:latin typeface="宋体" panose="02010600030101010101" pitchFamily="2" charset="-122"/>
                <a:ea typeface="宋体" panose="02010600030101010101" pitchFamily="2" charset="-122"/>
              </a:rPr>
              <a:t>。</a:t>
            </a:r>
            <a:r>
              <a:rPr lang="en-US" altLang="zh-CN" sz="2000" b="1" kern="100" dirty="0">
                <a:latin typeface="宋体" panose="02010600030101010101" pitchFamily="2" charset="-122"/>
                <a:ea typeface="宋体" panose="02010600030101010101" pitchFamily="2" charset="-122"/>
              </a:rPr>
              <a:t>SPAN</a:t>
            </a:r>
            <a:r>
              <a:rPr lang="zh-CN" altLang="zh-CN" sz="2000" b="1" kern="100" dirty="0">
                <a:latin typeface="宋体" panose="02010600030101010101" pitchFamily="2" charset="-122"/>
                <a:ea typeface="宋体" panose="02010600030101010101" pitchFamily="2" charset="-122"/>
              </a:rPr>
              <a:t>的基本思想是</a:t>
            </a:r>
            <a:r>
              <a:rPr lang="zh-CN" altLang="zh-CN" sz="2000" b="1" kern="100" dirty="0">
                <a:solidFill>
                  <a:srgbClr val="C00000"/>
                </a:solidFill>
                <a:latin typeface="宋体" panose="02010600030101010101" pitchFamily="2" charset="-122"/>
                <a:ea typeface="宋体" panose="02010600030101010101" pitchFamily="2" charset="-122"/>
              </a:rPr>
              <a:t>节点采用分布式的睡眠调度方法，根据自己的剩余能量和在网络中的效用，决定进入活跃状态或者睡眠状态。</a:t>
            </a:r>
            <a:r>
              <a:rPr lang="zh-CN" altLang="zh-CN" sz="2000" b="1" kern="100" dirty="0">
                <a:latin typeface="宋体" panose="02010600030101010101" pitchFamily="2" charset="-122"/>
                <a:ea typeface="宋体" panose="02010600030101010101" pitchFamily="2" charset="-122"/>
              </a:rPr>
              <a:t>处于活跃状态的骨干节点根据一定的规则，周期性地判断自己是否应该退出，返回睡眠状态：处于睡眠状态的节点周期性地醒来，根据一定的规则判断自己是否应该进入活跃状态，成为骨干节点。</a:t>
            </a:r>
            <a:endParaRPr lang="zh-CN" altLang="zh-CN" sz="2000" b="1" kern="100" dirty="0">
              <a:latin typeface="宋体" panose="02010600030101010101" pitchFamily="2" charset="-122"/>
              <a:ea typeface="宋体" panose="02010600030101010101" pitchFamily="2" charset="-122"/>
            </a:endParaRPr>
          </a:p>
        </p:txBody>
      </p:sp>
      <p:sp>
        <p:nvSpPr>
          <p:cNvPr id="3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66800" y="1325563"/>
            <a:ext cx="10516235" cy="5100637"/>
          </a:xfrm>
        </p:spPr>
        <p:txBody>
          <a:bodyPr>
            <a:normAutofit/>
          </a:bodyPr>
          <a:lstStyle/>
          <a:p>
            <a:pPr marL="0" indent="0" algn="just">
              <a:lnSpc>
                <a:spcPct val="100000"/>
              </a:lnSpc>
              <a:buNone/>
              <a:defRPr/>
            </a:pPr>
            <a:r>
              <a:rPr lang="en-US" altLang="zh-CN" sz="2000" b="1" kern="100" dirty="0"/>
              <a:t>   </a:t>
            </a:r>
            <a:r>
              <a:rPr lang="zh-CN" altLang="zh-CN" sz="2000" b="1" kern="100" dirty="0"/>
              <a:t>节点</a:t>
            </a:r>
            <a:r>
              <a:rPr lang="zh-CN" altLang="zh-CN" sz="2000" b="1" kern="100" dirty="0">
                <a:solidFill>
                  <a:srgbClr val="C00000"/>
                </a:solidFill>
              </a:rPr>
              <a:t>加入骨干网络的规则</a:t>
            </a:r>
            <a:r>
              <a:rPr lang="zh-CN" altLang="zh-CN" sz="2000" b="1" kern="100" dirty="0"/>
              <a:t>是：有任意两个邻居节点不能直接通信，并且也不能通过一个或者两个骨干节点进行间接通信。邻居节点不能通信的情况可能会被多个节点同时发现，使得这些节点都进入活跃状态，造成骨干节点的冗余。为了避免这种情况，</a:t>
            </a:r>
            <a:r>
              <a:rPr lang="en-US" altLang="zh-CN" sz="2000" b="1" kern="100" dirty="0"/>
              <a:t>SPAN</a:t>
            </a:r>
            <a:r>
              <a:rPr lang="zh-CN" altLang="zh-CN" sz="2000" b="1" kern="100" dirty="0"/>
              <a:t>采用</a:t>
            </a:r>
            <a:r>
              <a:rPr lang="zh-CN" altLang="zh-CN" sz="2000" b="1" kern="100" dirty="0">
                <a:solidFill>
                  <a:srgbClr val="C00000"/>
                </a:solidFill>
              </a:rPr>
              <a:t>退避机制</a:t>
            </a:r>
            <a:r>
              <a:rPr lang="zh-CN" altLang="zh-CN" sz="2000" b="1" kern="100" dirty="0"/>
              <a:t>，节点在成为骨干节点之前，首先要等待一个延迟时间。如果在延迟时间内，节点收到其他节点发送的成为骨干节点的通告消息，就重新判断自己是否满足加入骨干网络的规则；否则，节点加入骨干网络，并向邻居节点广播一个通告消息。</a:t>
            </a:r>
            <a:r>
              <a:rPr lang="en-US" altLang="zh-CN" sz="2000" b="1" kern="100" dirty="0"/>
              <a:t>SPAN</a:t>
            </a:r>
            <a:r>
              <a:rPr lang="zh-CN" altLang="zh-CN" sz="2000" b="1" kern="100" dirty="0"/>
              <a:t>在计算延迟时间时，考虑节点的剩余能量和对网络的效用两个因素，计算公式如下：</a:t>
            </a:r>
            <a:endParaRPr lang="zh-CN" altLang="zh-CN" sz="2000" b="1" kern="100" dirty="0"/>
          </a:p>
          <a:p>
            <a:pPr marL="0" indent="0">
              <a:lnSpc>
                <a:spcPct val="100000"/>
              </a:lnSpc>
              <a:buNone/>
              <a:defRPr/>
            </a:pPr>
            <a:endParaRPr lang="en-US" altLang="zh-CN" sz="2000" kern="100" dirty="0">
              <a:latin typeface="Times New Roman" panose="02020603050405020304" pitchFamily="18" charset="0"/>
            </a:endParaRPr>
          </a:p>
          <a:p>
            <a:pPr marL="0" indent="0">
              <a:lnSpc>
                <a:spcPct val="100000"/>
              </a:lnSpc>
              <a:buNone/>
              <a:defRPr/>
            </a:pPr>
            <a:endParaRPr lang="en-US" altLang="zh-CN" sz="2000" kern="100" dirty="0">
              <a:latin typeface="Times New Roman" panose="02020603050405020304" pitchFamily="18" charset="0"/>
            </a:endParaRPr>
          </a:p>
          <a:p>
            <a:pPr marL="0" indent="0" algn="just">
              <a:lnSpc>
                <a:spcPct val="100000"/>
              </a:lnSpc>
              <a:buNone/>
              <a:defRPr/>
            </a:pPr>
            <a:r>
              <a:rPr lang="en-US" altLang="zh-CN" sz="2000" b="1" kern="100" dirty="0"/>
              <a:t>   </a:t>
            </a:r>
            <a:r>
              <a:rPr lang="zh-CN" altLang="zh-CN" sz="2000" b="1" kern="100" dirty="0"/>
              <a:t>式中，</a:t>
            </a:r>
            <a:r>
              <a:rPr lang="en-US" altLang="zh-CN" sz="2000" b="1" kern="100" dirty="0"/>
              <a:t>Er</a:t>
            </a:r>
            <a:r>
              <a:rPr lang="zh-CN" altLang="zh-CN" sz="2000" b="1" kern="100" dirty="0"/>
              <a:t>是节点的剩余能量；</a:t>
            </a:r>
            <a:r>
              <a:rPr lang="en-US" altLang="zh-CN" sz="2000" b="1" kern="100" dirty="0" err="1"/>
              <a:t>Em</a:t>
            </a:r>
            <a:r>
              <a:rPr lang="zh-CN" altLang="zh-CN" sz="2000" b="1" kern="100" dirty="0"/>
              <a:t>是节点的最大能量；</a:t>
            </a:r>
            <a:r>
              <a:rPr lang="en-US" altLang="zh-CN" sz="2000" b="1" kern="100" dirty="0"/>
              <a:t>Ui</a:t>
            </a:r>
            <a:r>
              <a:rPr lang="zh-CN" altLang="zh-CN" sz="2000" b="1" kern="100" dirty="0"/>
              <a:t>用于评估节点</a:t>
            </a:r>
            <a:r>
              <a:rPr lang="en-US" altLang="zh-CN" sz="2000" b="1" kern="100" dirty="0" err="1"/>
              <a:t>i</a:t>
            </a:r>
            <a:r>
              <a:rPr lang="zh-CN" altLang="zh-CN" sz="2000" b="1" kern="100" dirty="0"/>
              <a:t>在成为骨干节点后对网络的效用；</a:t>
            </a:r>
            <a:r>
              <a:rPr lang="en-US" altLang="zh-CN" sz="2000" b="1" kern="100" dirty="0"/>
              <a:t>R</a:t>
            </a:r>
            <a:r>
              <a:rPr lang="zh-CN" altLang="zh-CN" sz="2000" b="1" kern="100" dirty="0"/>
              <a:t>是一个</a:t>
            </a:r>
            <a:r>
              <a:rPr lang="en-US" altLang="zh-CN" sz="2000" b="1" kern="100" dirty="0"/>
              <a:t>0</a:t>
            </a:r>
            <a:r>
              <a:rPr lang="zh-CN" altLang="zh-CN" sz="2000" b="1" kern="100" dirty="0"/>
              <a:t>～</a:t>
            </a:r>
            <a:r>
              <a:rPr lang="en-US" altLang="zh-CN" sz="2000" b="1" kern="100" dirty="0"/>
              <a:t>1</a:t>
            </a:r>
            <a:r>
              <a:rPr lang="zh-CN" altLang="zh-CN" sz="2000" b="1" kern="100" dirty="0"/>
              <a:t>之间的随机数；</a:t>
            </a:r>
            <a:r>
              <a:rPr lang="en-US" altLang="zh-CN" sz="2000" b="1" kern="100" dirty="0"/>
              <a:t>Ni</a:t>
            </a:r>
            <a:r>
              <a:rPr lang="zh-CN" altLang="zh-CN" sz="2000" b="1" kern="100" dirty="0"/>
              <a:t>是节点</a:t>
            </a:r>
            <a:r>
              <a:rPr lang="en-US" altLang="zh-CN" sz="2000" b="1" kern="100" dirty="0" err="1"/>
              <a:t>i</a:t>
            </a:r>
            <a:r>
              <a:rPr lang="zh-CN" altLang="zh-CN" sz="2000" b="1" kern="100" dirty="0"/>
              <a:t>的邻居节点数目；</a:t>
            </a:r>
            <a:r>
              <a:rPr lang="en-US" altLang="zh-CN" sz="2000" b="1" kern="100" dirty="0"/>
              <a:t>T</a:t>
            </a:r>
            <a:r>
              <a:rPr lang="zh-CN" altLang="zh-CN" sz="2000" b="1" kern="100" dirty="0"/>
              <a:t>是数据包在无线信道上传输的往返延迟；</a:t>
            </a:r>
            <a:r>
              <a:rPr lang="en-US" altLang="zh-CN" sz="2000" b="1" kern="100" dirty="0"/>
              <a:t>Ci</a:t>
            </a:r>
            <a:r>
              <a:rPr lang="zh-CN" altLang="zh-CN" sz="2000" b="1" kern="100" dirty="0"/>
              <a:t>是节点加入骨干网后新增加的连通的邻居节点对的数目。由延迟时间的计算公式可知，剩余能量越多，或者在加入骨干网后能使更多邻居节点连通的节点，具有更高的优先级成为骨干网节点。</a:t>
            </a:r>
            <a:endParaRPr lang="zh-CN" altLang="zh-CN" sz="2000" b="1" kern="100" dirty="0"/>
          </a:p>
          <a:p>
            <a:pPr marL="0" indent="0">
              <a:lnSpc>
                <a:spcPct val="100000"/>
              </a:lnSpc>
              <a:buNone/>
              <a:defRPr/>
            </a:pPr>
            <a:endParaRPr lang="en-US" altLang="zh-CN" sz="2000" b="1" kern="100" dirty="0"/>
          </a:p>
          <a:p>
            <a:pPr marL="0" indent="0">
              <a:buNone/>
              <a:defRPr/>
            </a:pPr>
            <a:endParaRPr lang="zh-CN" altLang="en-US" sz="1800" b="1" kern="100" dirty="0">
              <a:solidFill>
                <a:schemeClr val="bg2"/>
              </a:solidFill>
            </a:endParaRPr>
          </a:p>
        </p:txBody>
      </p:sp>
      <p:graphicFrame>
        <p:nvGraphicFramePr>
          <p:cNvPr id="45060" name="对象 2"/>
          <p:cNvGraphicFramePr>
            <a:graphicFrameLocks noChangeAspect="1"/>
          </p:cNvGraphicFramePr>
          <p:nvPr/>
        </p:nvGraphicFramePr>
        <p:xfrm>
          <a:off x="1936750" y="3526790"/>
          <a:ext cx="6409055" cy="856615"/>
        </p:xfrm>
        <a:graphic>
          <a:graphicData uri="http://schemas.openxmlformats.org/presentationml/2006/ole">
            <mc:AlternateContent xmlns:mc="http://schemas.openxmlformats.org/markup-compatibility/2006">
              <mc:Choice xmlns:v="urn:schemas-microsoft-com:vml" Requires="v">
                <p:oleObj spid="_x0000_s21571" name="Equation" r:id="rId1" imgW="3277870" imgH="458470" progId="Equation.DSMT4">
                  <p:embed/>
                </p:oleObj>
              </mc:Choice>
              <mc:Fallback>
                <p:oleObj name="Equation" r:id="rId1" imgW="3277870" imgH="458470" progId="Equation.DSMT4">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50" y="3526790"/>
                        <a:ext cx="6409055" cy="856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文本框 35"/>
          <p:cNvSpPr txBox="1"/>
          <p:nvPr/>
        </p:nvSpPr>
        <p:spPr>
          <a:xfrm>
            <a:off x="8960485" y="3771265"/>
            <a:ext cx="1659255"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(4-2-6)</a:t>
            </a:r>
            <a:endParaRPr lang="zh-CN" altLang="en-US" dirty="0">
              <a:latin typeface="宋体" panose="02010600030101010101" pitchFamily="2" charset="-122"/>
              <a:ea typeface="宋体" panose="02010600030101010101" pitchFamily="2" charset="-122"/>
            </a:endParaRPr>
          </a:p>
        </p:txBody>
      </p:sp>
      <p:sp>
        <p:nvSpPr>
          <p:cNvPr id="8"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131994" y="1556703"/>
            <a:ext cx="10516235" cy="4351655"/>
          </a:xfrm>
        </p:spPr>
        <p:txBody>
          <a:bodyPr/>
          <a:lstStyle/>
          <a:p>
            <a:pPr marL="0" indent="0" algn="just">
              <a:lnSpc>
                <a:spcPct val="100000"/>
              </a:lnSpc>
              <a:buNone/>
              <a:defRPr/>
            </a:pPr>
            <a:r>
              <a:rPr lang="en-US" altLang="zh-CN" sz="2000" b="1" kern="100" dirty="0">
                <a:solidFill>
                  <a:schemeClr val="bg2"/>
                </a:solidFill>
              </a:rPr>
              <a:t>   </a:t>
            </a:r>
            <a:r>
              <a:rPr lang="zh-CN" altLang="zh-CN" sz="2400" b="1" kern="100" dirty="0"/>
              <a:t>节点</a:t>
            </a:r>
            <a:r>
              <a:rPr lang="zh-CN" altLang="zh-CN" sz="2400" b="1" kern="100" dirty="0">
                <a:solidFill>
                  <a:srgbClr val="C00000"/>
                </a:solidFill>
              </a:rPr>
              <a:t>退出骨干网络的规则</a:t>
            </a:r>
            <a:r>
              <a:rPr lang="zh-CN" altLang="zh-CN" sz="2400" b="1" kern="100" dirty="0"/>
              <a:t>是：任意两个邻居节点之间能够直接通信或者通过其他节点间接通信。为了使网络中节点的能量消耗更加均衡，骨干节点在工作一段时间之后，如果发现它的任意两个邻居节点都可以通过其他的邻居节点通信，即使这些邻居节点当前还不是骨干网节点，它也应该退出。同时，为了避免网络的连通性遭到临时性的破坏，骨干节点在退出之前仍然需要保持一段时间的活跃状态，直到确认有新的邻居节点加入骨干网络</a:t>
            </a:r>
            <a:r>
              <a:rPr lang="en-US" altLang="zh-CN" sz="2400" b="1" kern="100" dirty="0"/>
              <a:t>.</a:t>
            </a:r>
            <a:endParaRPr lang="en-US" altLang="zh-CN" sz="2400" b="1" kern="100" dirty="0"/>
          </a:p>
          <a:p>
            <a:pPr marL="0" indent="0" algn="just">
              <a:lnSpc>
                <a:spcPct val="100000"/>
              </a:lnSpc>
              <a:buNone/>
              <a:defRPr/>
            </a:pPr>
            <a:r>
              <a:rPr lang="en-US" altLang="zh-CN" sz="2400" b="1" kern="100" dirty="0"/>
              <a:t>   SPAN</a:t>
            </a:r>
            <a:r>
              <a:rPr lang="zh-CN" altLang="zh-CN" sz="2400" b="1" kern="100" dirty="0"/>
              <a:t>是</a:t>
            </a:r>
            <a:r>
              <a:rPr lang="zh-CN" altLang="zh-CN" sz="2400" b="1" kern="100" dirty="0">
                <a:solidFill>
                  <a:srgbClr val="C00000"/>
                </a:solidFill>
              </a:rPr>
              <a:t>一个分布式的睡眠调度算法</a:t>
            </a:r>
            <a:r>
              <a:rPr lang="zh-CN" altLang="zh-CN" sz="2400" b="1" kern="100" dirty="0"/>
              <a:t>，节点根据局部范围的连通信息，独立地决定自己的状态；</a:t>
            </a:r>
            <a:r>
              <a:rPr lang="zh-CN" altLang="zh-CN" sz="2400" b="1" kern="100" dirty="0">
                <a:solidFill>
                  <a:srgbClr val="C00000"/>
                </a:solidFill>
              </a:rPr>
              <a:t>建立的骨干网络能保证始终连通，并且具有较高的通信容量；通过轮换骨干节点，均衡能量消耗，可以有效地延长网络生存时间</a:t>
            </a:r>
            <a:r>
              <a:rPr lang="zh-CN" altLang="zh-CN" sz="2400" b="1" kern="100" dirty="0"/>
              <a:t>。仅从骨干网络的活跃节点数量来看，</a:t>
            </a:r>
            <a:r>
              <a:rPr lang="en-US" altLang="zh-CN" sz="2400" b="1" kern="100" dirty="0"/>
              <a:t>SPAN</a:t>
            </a:r>
            <a:r>
              <a:rPr lang="zh-CN" altLang="zh-CN" sz="2400" b="1" kern="100" dirty="0"/>
              <a:t>算法不是最优的，它增加了一部分节点用于获得更高的通信容量。</a:t>
            </a:r>
            <a:endParaRPr lang="zh-CN" altLang="zh-CN" sz="2400" b="1" kern="100" dirty="0"/>
          </a:p>
          <a:p>
            <a:pPr marL="0" indent="0">
              <a:buNone/>
              <a:defRPr/>
            </a:pPr>
            <a:endParaRPr lang="zh-CN" altLang="en-US" sz="2400" b="1" kern="100" dirty="0">
              <a:solidFill>
                <a:schemeClr val="bg2"/>
              </a:solidFill>
            </a:endParaRPr>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4.2.4 睡眠调度</a:t>
            </a:r>
            <a:endParaRPr lang="zh-CN" altLang="en-US" b="1"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5121"/>
          <p:cNvSpPr>
            <a:spLocks noGrp="1" noChangeArrowheads="1"/>
          </p:cNvSpPr>
          <p:nvPr>
            <p:ph type="title"/>
          </p:nvPr>
        </p:nvSpPr>
        <p:spPr>
          <a:xfrm>
            <a:off x="838835" y="0"/>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
        <p:nvSpPr>
          <p:cNvPr id="35843" name="文本占位符 5122"/>
          <p:cNvSpPr>
            <a:spLocks noGrp="1" noChangeArrowheads="1"/>
          </p:cNvSpPr>
          <p:nvPr>
            <p:ph sz="half" idx="1"/>
          </p:nvPr>
        </p:nvSpPr>
        <p:spPr>
          <a:xfrm>
            <a:off x="1066800" y="1325563"/>
            <a:ext cx="10516235" cy="5142970"/>
          </a:xfrm>
        </p:spPr>
        <p:txBody>
          <a:bodyPr>
            <a:normAutofit/>
          </a:bodyPr>
          <a:lstStyle/>
          <a:p>
            <a:pPr marL="0" indent="0">
              <a:buNone/>
              <a:defRPr/>
            </a:pPr>
            <a:r>
              <a:rPr lang="zh-CN" altLang="en-US" b="1" dirty="0"/>
              <a:t>主要内容</a:t>
            </a:r>
            <a:endParaRPr lang="en-US" altLang="zh-CN" b="1" dirty="0"/>
          </a:p>
          <a:p>
            <a:pPr marL="0" indent="0">
              <a:buNone/>
              <a:defRPr/>
            </a:pPr>
            <a:r>
              <a:rPr lang="zh-CN" altLang="en-US" sz="2000" b="1" kern="100" dirty="0"/>
              <a:t>   所谓覆盖就是指</a:t>
            </a:r>
            <a:r>
              <a:rPr lang="zh-CN" altLang="zh-CN" sz="2000" b="1" kern="100" dirty="0"/>
              <a:t>传感器网络对监测区域的感知功能</a:t>
            </a:r>
            <a:r>
              <a:rPr lang="zh-CN" altLang="en-US" sz="2000" b="1" kern="100" dirty="0"/>
              <a:t>，连通就是指</a:t>
            </a:r>
            <a:r>
              <a:rPr lang="zh-CN" altLang="zh-CN" sz="2000" b="1" kern="100" dirty="0"/>
              <a:t>传感器网络的传输功能，网络的连通状况决定感知信息能否成功传输到用户。</a:t>
            </a:r>
            <a:endParaRPr lang="en-US" altLang="zh-CN" sz="2000" b="1" kern="100" dirty="0"/>
          </a:p>
          <a:p>
            <a:pPr indent="266700">
              <a:defRPr/>
            </a:pPr>
            <a:r>
              <a:rPr lang="en-US" altLang="zh-CN" sz="2000" b="1" dirty="0">
                <a:solidFill>
                  <a:srgbClr val="0563C1"/>
                </a:solidFill>
                <a:hlinkClick r:id="rId1" action="ppaction://hlinksldjump"/>
              </a:rPr>
              <a:t>4.3.1 </a:t>
            </a:r>
            <a:r>
              <a:rPr lang="zh-CN" altLang="en-US" sz="2000" b="1" dirty="0">
                <a:solidFill>
                  <a:srgbClr val="0070C0"/>
                </a:solidFill>
                <a:hlinkClick r:id="rId1" action="ppaction://hlinksldjump"/>
              </a:rPr>
              <a:t>概述</a:t>
            </a:r>
            <a:endParaRPr lang="en-US" altLang="zh-CN" sz="2000" b="1" dirty="0">
              <a:solidFill>
                <a:srgbClr val="0070C0"/>
              </a:solidFill>
            </a:endParaRPr>
          </a:p>
          <a:p>
            <a:pPr lvl="1" indent="266700">
              <a:defRPr/>
            </a:pPr>
            <a:r>
              <a:rPr lang="zh-CN" altLang="en-US" sz="2000" b="1" dirty="0"/>
              <a:t>基本概念</a:t>
            </a:r>
            <a:endParaRPr lang="en-US" altLang="zh-CN" sz="2000" b="1" dirty="0"/>
          </a:p>
          <a:p>
            <a:pPr lvl="1" indent="266700">
              <a:defRPr/>
            </a:pPr>
            <a:r>
              <a:rPr lang="zh-CN" altLang="en-US" sz="2000" b="1" dirty="0"/>
              <a:t>基本术语</a:t>
            </a:r>
            <a:endParaRPr lang="en-US" altLang="zh-CN" sz="2000" b="1" dirty="0"/>
          </a:p>
          <a:p>
            <a:pPr lvl="1" indent="266700">
              <a:defRPr/>
            </a:pPr>
            <a:r>
              <a:rPr lang="zh-CN" altLang="en-US" sz="2000" b="1" dirty="0"/>
              <a:t>覆盖的评价标准</a:t>
            </a:r>
            <a:endParaRPr lang="en-US" altLang="zh-CN" sz="2000" b="1" dirty="0"/>
          </a:p>
          <a:p>
            <a:pPr indent="266700">
              <a:defRPr/>
            </a:pPr>
            <a:r>
              <a:rPr lang="en-US" altLang="zh-CN" sz="2000" b="1" dirty="0">
                <a:solidFill>
                  <a:srgbClr val="0070C0"/>
                </a:solidFill>
                <a:hlinkClick r:id="rId2" action="ppaction://hlinksldjump"/>
              </a:rPr>
              <a:t>4.3.2 </a:t>
            </a:r>
            <a:r>
              <a:rPr lang="zh-CN" altLang="en-US" sz="2000" b="1" dirty="0">
                <a:solidFill>
                  <a:srgbClr val="0070C0"/>
                </a:solidFill>
                <a:hlinkClick r:id="rId2" action="ppaction://hlinksldjump"/>
              </a:rPr>
              <a:t>传感器节点感知模型</a:t>
            </a:r>
            <a:endParaRPr lang="en-US" altLang="zh-CN" sz="2000" b="1" dirty="0">
              <a:solidFill>
                <a:srgbClr val="0070C0"/>
              </a:solidFill>
            </a:endParaRPr>
          </a:p>
          <a:p>
            <a:pPr indent="266700">
              <a:defRPr/>
            </a:pPr>
            <a:r>
              <a:rPr lang="en-US" altLang="zh-CN" sz="2000" b="1" dirty="0">
                <a:solidFill>
                  <a:srgbClr val="0070C0"/>
                </a:solidFill>
                <a:hlinkClick r:id="rId3" action="ppaction://hlinksldjump"/>
              </a:rPr>
              <a:t>4.3.3</a:t>
            </a:r>
            <a:r>
              <a:rPr lang="zh-CN" altLang="en-US" sz="2000" b="1" dirty="0">
                <a:solidFill>
                  <a:srgbClr val="0070C0"/>
                </a:solidFill>
                <a:hlinkClick r:id="rId3" action="ppaction://hlinksldjump"/>
              </a:rPr>
              <a:t> 覆盖的分类</a:t>
            </a:r>
            <a:endParaRPr lang="en-US" altLang="zh-CN" sz="2000" b="1" dirty="0">
              <a:solidFill>
                <a:srgbClr val="0070C0"/>
              </a:solidFill>
            </a:endParaRPr>
          </a:p>
          <a:p>
            <a:pPr indent="266700">
              <a:defRPr/>
            </a:pPr>
            <a:r>
              <a:rPr lang="en-US" altLang="zh-CN" sz="2000" b="1" dirty="0">
                <a:solidFill>
                  <a:srgbClr val="0070C0"/>
                </a:solidFill>
                <a:hlinkClick r:id="rId4" action="ppaction://hlinksldjump"/>
              </a:rPr>
              <a:t>4.3.4 </a:t>
            </a:r>
            <a:r>
              <a:rPr lang="zh-CN" altLang="en-US" sz="2000" b="1" dirty="0">
                <a:solidFill>
                  <a:srgbClr val="0070C0"/>
                </a:solidFill>
                <a:hlinkClick r:id="rId4" action="ppaction://hlinksldjump"/>
              </a:rPr>
              <a:t>覆盖算法</a:t>
            </a:r>
            <a:endParaRPr lang="en-US" altLang="zh-CN" sz="2000" b="1" dirty="0">
              <a:solidFill>
                <a:srgbClr val="0070C0"/>
              </a:solidFill>
            </a:endParaRPr>
          </a:p>
          <a:p>
            <a:pPr lvl="1" indent="266700">
              <a:defRPr/>
            </a:pPr>
            <a:r>
              <a:rPr lang="zh-CN" altLang="zh-CN" sz="2000" b="1" kern="100" dirty="0">
                <a:latin typeface="Times New Roman" panose="02020603050405020304" pitchFamily="18" charset="0"/>
                <a:cs typeface="Times New Roman" panose="02020603050405020304" pitchFamily="18" charset="0"/>
              </a:rPr>
              <a:t>基于冗余节点判断的覆盖控制算</a:t>
            </a:r>
            <a:r>
              <a:rPr lang="zh-CN" altLang="en-US" sz="2000" b="1" kern="100" dirty="0">
                <a:latin typeface="Times New Roman" panose="02020603050405020304" pitchFamily="18" charset="0"/>
                <a:cs typeface="Times New Roman" panose="02020603050405020304" pitchFamily="18" charset="0"/>
              </a:rPr>
              <a:t>法</a:t>
            </a:r>
            <a:endParaRPr lang="en-US" altLang="zh-CN" sz="2000" b="1" kern="100" dirty="0">
              <a:latin typeface="Times New Roman" panose="02020603050405020304" pitchFamily="18" charset="0"/>
              <a:cs typeface="Times New Roman" panose="02020603050405020304" pitchFamily="18" charset="0"/>
            </a:endParaRPr>
          </a:p>
          <a:p>
            <a:pPr lvl="1" indent="266700">
              <a:defRPr/>
            </a:pPr>
            <a:r>
              <a:rPr lang="zh-CN" altLang="zh-CN" sz="2000" b="1" kern="100" dirty="0">
                <a:latin typeface="Times New Roman" panose="02020603050405020304" pitchFamily="18" charset="0"/>
                <a:cs typeface="Times New Roman" panose="02020603050405020304" pitchFamily="18" charset="0"/>
              </a:rPr>
              <a:t>基于不交叉优势集的覆盖算法</a:t>
            </a:r>
            <a:endParaRPr lang="en-US" altLang="zh-CN" sz="2000" b="1" kern="100" dirty="0">
              <a:latin typeface="Times New Roman" panose="02020603050405020304" pitchFamily="18" charset="0"/>
              <a:cs typeface="Times New Roman" panose="02020603050405020304" pitchFamily="18" charset="0"/>
            </a:endParaRPr>
          </a:p>
          <a:p>
            <a:pPr lvl="1" indent="266700">
              <a:defRPr/>
            </a:pPr>
            <a:r>
              <a:rPr lang="zh-CN" altLang="zh-CN" sz="2000" b="1" kern="100" dirty="0">
                <a:latin typeface="Times New Roman" panose="02020603050405020304" pitchFamily="18" charset="0"/>
                <a:cs typeface="Times New Roman" panose="02020603050405020304" pitchFamily="18" charset="0"/>
              </a:rPr>
              <a:t>基于多重</a:t>
            </a:r>
            <a:r>
              <a:rPr lang="en-US" altLang="zh-CN" sz="2000" b="1" kern="100" dirty="0">
                <a:latin typeface="Times New Roman" panose="02020603050405020304" pitchFamily="18" charset="0"/>
              </a:rPr>
              <a:t>k</a:t>
            </a:r>
            <a:r>
              <a:rPr lang="zh-CN" altLang="zh-CN" sz="2000" b="1" kern="100" dirty="0">
                <a:latin typeface="Times New Roman" panose="02020603050405020304" pitchFamily="18" charset="0"/>
                <a:cs typeface="Times New Roman" panose="02020603050405020304" pitchFamily="18" charset="0"/>
              </a:rPr>
              <a:t>覆盖算法</a:t>
            </a:r>
            <a:r>
              <a:rPr lang="zh-CN" altLang="zh-CN" sz="2000" kern="100" dirty="0">
                <a:ea typeface="微软雅黑" panose="020B0503020204020204" charset="-122"/>
              </a:rPr>
              <a:t> </a:t>
            </a:r>
            <a:endParaRPr lang="en-US" altLang="zh-CN" sz="2000" b="1" kern="100" dirty="0">
              <a:latin typeface="Times New Roman" panose="02020603050405020304" pitchFamily="18" charset="0"/>
              <a:cs typeface="Times New Roman" panose="02020603050405020304" pitchFamily="18" charset="0"/>
            </a:endParaRPr>
          </a:p>
          <a:p>
            <a:pPr lvl="1" indent="266700">
              <a:defRPr/>
            </a:pPr>
            <a:r>
              <a:rPr lang="zh-CN" altLang="zh-CN" sz="2000" b="1" kern="100" dirty="0">
                <a:latin typeface="Times New Roman" panose="02020603050405020304" pitchFamily="18" charset="0"/>
                <a:cs typeface="Times New Roman" panose="02020603050405020304" pitchFamily="18" charset="0"/>
              </a:rPr>
              <a:t>基于采样点覆盖算法</a:t>
            </a:r>
            <a:endParaRPr lang="en-US" altLang="zh-CN" sz="2000" dirty="0"/>
          </a:p>
          <a:p>
            <a:pPr marL="0" indent="0">
              <a:buNone/>
              <a:defRPr/>
            </a:pPr>
            <a:endParaRPr lang="zh-CN" altLang="en-US" sz="1800" dirty="0"/>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5121"/>
          <p:cNvSpPr>
            <a:spLocks noGrp="1" noChangeArrowheads="1"/>
          </p:cNvSpPr>
          <p:nvPr>
            <p:ph type="title"/>
          </p:nvPr>
        </p:nvSpPr>
        <p:spPr>
          <a:xfrm>
            <a:off x="838835" y="17938"/>
            <a:ext cx="10515600" cy="1325563"/>
          </a:xfrm>
        </p:spPr>
        <p:txBody>
          <a:bodyPr/>
          <a:lstStyle/>
          <a:p>
            <a:pPr eaLnBrk="1" hangingPunct="1"/>
            <a:r>
              <a:rPr lang="en-US" b="1" u="sng">
                <a:solidFill>
                  <a:srgbClr val="1D41D5"/>
                </a:solidFill>
                <a:uFillTx/>
                <a:latin typeface="Times New Roman" panose="02020603050405020304" pitchFamily="18" charset="0"/>
              </a:rPr>
              <a:t>4.3.1 概述</a:t>
            </a:r>
            <a:endParaRPr lang="zh-CN" altLang="en-US" b="1" dirty="0"/>
          </a:p>
        </p:txBody>
      </p:sp>
      <p:sp>
        <p:nvSpPr>
          <p:cNvPr id="5122" name="文本占位符 5122"/>
          <p:cNvSpPr>
            <a:spLocks noGrp="1" noChangeArrowheads="1"/>
          </p:cNvSpPr>
          <p:nvPr>
            <p:ph sz="half" idx="1"/>
          </p:nvPr>
        </p:nvSpPr>
        <p:spPr>
          <a:xfrm>
            <a:off x="553720" y="1701165"/>
            <a:ext cx="11461750" cy="4937760"/>
          </a:xfrm>
        </p:spPr>
        <p:txBody>
          <a:bodyPr>
            <a:normAutofit lnSpcReduction="20000"/>
          </a:bodyPr>
          <a:lstStyle/>
          <a:p>
            <a:pPr marL="0" indent="0">
              <a:buNone/>
              <a:defRPr/>
            </a:pPr>
            <a:r>
              <a:rPr lang="zh-CN" altLang="en-US" b="1" dirty="0"/>
              <a:t>4.</a:t>
            </a:r>
            <a:r>
              <a:rPr lang="en-US" altLang="zh-CN" b="1" dirty="0"/>
              <a:t>3.1.1 </a:t>
            </a:r>
            <a:r>
              <a:rPr lang="zh-CN" altLang="en-US" b="1" dirty="0"/>
              <a:t>基本概念</a:t>
            </a:r>
            <a:endParaRPr lang="en-US" altLang="zh-CN" b="1" dirty="0"/>
          </a:p>
          <a:p>
            <a:pPr marL="0" indent="0">
              <a:lnSpc>
                <a:spcPct val="100000"/>
              </a:lnSpc>
              <a:spcBef>
                <a:spcPts val="600"/>
              </a:spcBef>
              <a:buNone/>
              <a:defRPr/>
            </a:pPr>
            <a:r>
              <a:rPr lang="en-US" altLang="zh-CN" sz="2400" b="1" kern="100" dirty="0">
                <a:latin typeface="Times New Roman" panose="02020603050405020304" pitchFamily="18" charset="0"/>
              </a:rPr>
              <a:t>1</a:t>
            </a:r>
            <a:r>
              <a:rPr lang="zh-CN" altLang="zh-CN" sz="2400" b="1" kern="100" dirty="0">
                <a:latin typeface="Times New Roman" panose="02020603050405020304" pitchFamily="18" charset="0"/>
              </a:rPr>
              <a:t>）部署</a:t>
            </a:r>
            <a:endParaRPr lang="en-US" altLang="zh-CN" sz="2400" b="1" kern="100" dirty="0">
              <a:latin typeface="Times New Roman" panose="02020603050405020304" pitchFamily="18" charset="0"/>
            </a:endParaRPr>
          </a:p>
          <a:p>
            <a:pPr marL="0" indent="0">
              <a:lnSpc>
                <a:spcPct val="100000"/>
              </a:lnSpc>
              <a:spcBef>
                <a:spcPts val="600"/>
              </a:spcBef>
              <a:buNone/>
              <a:defRPr/>
            </a:pPr>
            <a:r>
              <a:rPr lang="en-US" altLang="zh-CN" sz="2400" b="1" kern="100" dirty="0">
                <a:solidFill>
                  <a:srgbClr val="C00000"/>
                </a:solidFill>
                <a:latin typeface="Times New Roman" panose="02020603050405020304" pitchFamily="18" charset="0"/>
                <a:cs typeface="Times New Roman" panose="02020603050405020304" pitchFamily="18" charset="0"/>
              </a:rPr>
              <a:t>    </a:t>
            </a:r>
            <a:r>
              <a:rPr lang="zh-CN" altLang="zh-CN" sz="2400" b="1" kern="100" dirty="0">
                <a:solidFill>
                  <a:srgbClr val="C00000"/>
                </a:solidFill>
                <a:latin typeface="Times New Roman" panose="02020603050405020304" pitchFamily="18" charset="0"/>
                <a:cs typeface="Times New Roman" panose="02020603050405020304" pitchFamily="18" charset="0"/>
              </a:rPr>
              <a:t>确定性部署</a:t>
            </a:r>
            <a:r>
              <a:rPr lang="zh-CN" altLang="en-US" sz="2400" b="1" kern="100" dirty="0">
                <a:solidFill>
                  <a:srgbClr val="C00000"/>
                </a:solidFill>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rPr>
              <a:t>在传感器网络规模较小、人易于到达的部署环境，可以采用人工方式将节点</a:t>
            </a:r>
            <a:r>
              <a:rPr lang="zh-CN" altLang="zh-CN" sz="2400" b="1" kern="100" dirty="0">
                <a:solidFill>
                  <a:srgbClr val="C00000"/>
                </a:solidFill>
                <a:latin typeface="Times New Roman" panose="02020603050405020304" pitchFamily="18" charset="0"/>
                <a:cs typeface="Times New Roman" panose="02020603050405020304" pitchFamily="18" charset="0"/>
              </a:rPr>
              <a:t>部署在监测区域中确定的位置上</a:t>
            </a:r>
            <a:r>
              <a:rPr lang="zh-CN" altLang="en-US" sz="2400" b="1" kern="100" dirty="0">
                <a:solidFill>
                  <a:srgbClr val="C00000"/>
                </a:solidFill>
                <a:latin typeface="Times New Roman" panose="02020603050405020304" pitchFamily="18" charset="0"/>
                <a:cs typeface="Times New Roman" panose="02020603050405020304" pitchFamily="18" charset="0"/>
              </a:rPr>
              <a:t>。</a:t>
            </a:r>
            <a:endParaRPr lang="en-US" altLang="zh-CN" sz="2400" b="1" kern="100" dirty="0">
              <a:solidFill>
                <a:srgbClr val="C00000"/>
              </a:solidFill>
              <a:latin typeface="Times New Roman" panose="02020603050405020304" pitchFamily="18" charset="0"/>
              <a:cs typeface="Times New Roman" panose="02020603050405020304" pitchFamily="18" charset="0"/>
            </a:endParaRPr>
          </a:p>
          <a:p>
            <a:pPr marL="0" indent="0">
              <a:lnSpc>
                <a:spcPct val="100000"/>
              </a:lnSpc>
              <a:spcBef>
                <a:spcPts val="600"/>
              </a:spcBef>
              <a:buNone/>
              <a:defRPr/>
            </a:pPr>
            <a:r>
              <a:rPr lang="zh-CN" altLang="zh-CN" sz="2400" b="1" kern="100" dirty="0">
                <a:solidFill>
                  <a:srgbClr val="C00000"/>
                </a:solidFill>
                <a:latin typeface="Times New Roman" panose="02020603050405020304" pitchFamily="18" charset="0"/>
                <a:cs typeface="Times New Roman" panose="02020603050405020304" pitchFamily="18" charset="0"/>
              </a:rPr>
              <a:t>随机部署</a:t>
            </a:r>
            <a:r>
              <a:rPr lang="zh-CN" altLang="en-US" sz="2400" b="1" kern="100" dirty="0">
                <a:solidFill>
                  <a:srgbClr val="C00000"/>
                </a:solidFill>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rPr>
              <a:t>在大规模的传感器网络应用，或人难以到达、危险的环境，如战场、核泄漏和地质灾害区域等，通过飞机撒播等方式将节点随机部署在监测区域中</a:t>
            </a:r>
            <a:r>
              <a:rPr lang="zh-CN" altLang="en-US" sz="2400" b="1" kern="100" dirty="0">
                <a:latin typeface="Times New Roman" panose="02020603050405020304" pitchFamily="18" charset="0"/>
              </a:rPr>
              <a:t>。</a:t>
            </a:r>
            <a:endParaRPr lang="en-US" altLang="zh-CN" sz="2400" b="1" kern="100" dirty="0">
              <a:latin typeface="Times New Roman" panose="02020603050405020304" pitchFamily="18" charset="0"/>
            </a:endParaRPr>
          </a:p>
          <a:p>
            <a:pPr marL="0" indent="0">
              <a:lnSpc>
                <a:spcPct val="100000"/>
              </a:lnSpc>
              <a:spcBef>
                <a:spcPts val="600"/>
              </a:spcBef>
              <a:buNone/>
              <a:defRPr/>
            </a:pPr>
            <a:r>
              <a:rPr lang="en-US" altLang="zh-CN" sz="2400" b="1" kern="100" dirty="0">
                <a:latin typeface="Times New Roman" panose="02020603050405020304" pitchFamily="18" charset="0"/>
              </a:rPr>
              <a:t>2</a:t>
            </a:r>
            <a:r>
              <a:rPr lang="zh-CN" altLang="zh-CN" sz="2400" b="1" kern="100" dirty="0">
                <a:latin typeface="Times New Roman" panose="02020603050405020304" pitchFamily="18" charset="0"/>
              </a:rPr>
              <a:t>）覆盖</a:t>
            </a:r>
            <a:endParaRPr lang="en-US" altLang="zh-CN" sz="2400" b="1" kern="100" dirty="0">
              <a:latin typeface="Times New Roman" panose="02020603050405020304" pitchFamily="18" charset="0"/>
            </a:endParaRPr>
          </a:p>
          <a:p>
            <a:pPr marL="0" indent="0">
              <a:lnSpc>
                <a:spcPct val="100000"/>
              </a:lnSpc>
              <a:spcBef>
                <a:spcPts val="600"/>
              </a:spcBef>
              <a:buNone/>
              <a:defRPr/>
            </a:pPr>
            <a:r>
              <a:rPr lang="en-US" altLang="zh-CN" sz="2400" b="1" kern="100" dirty="0">
                <a:latin typeface="Times New Roman" panose="02020603050405020304" pitchFamily="18" charset="0"/>
                <a:cs typeface="Times New Roman" panose="02020603050405020304" pitchFamily="18" charset="0"/>
              </a:rPr>
              <a:t>    </a:t>
            </a:r>
            <a:r>
              <a:rPr lang="zh-CN" altLang="en-US" sz="2400" b="1" kern="100" dirty="0">
                <a:latin typeface="Times New Roman" panose="02020603050405020304" pitchFamily="18" charset="0"/>
                <a:cs typeface="Times New Roman" panose="02020603050405020304" pitchFamily="18" charset="0"/>
              </a:rPr>
              <a:t>对于</a:t>
            </a:r>
            <a:r>
              <a:rPr lang="zh-CN" altLang="zh-CN" sz="2400" b="1" kern="100" dirty="0">
                <a:latin typeface="Times New Roman" panose="02020603050405020304" pitchFamily="18" charset="0"/>
                <a:cs typeface="Times New Roman" panose="02020603050405020304" pitchFamily="18" charset="0"/>
              </a:rPr>
              <a:t>采用确定性部署方式覆盖问题主要是考虑</a:t>
            </a:r>
            <a:r>
              <a:rPr lang="zh-CN" altLang="en-US" sz="2400" b="1" kern="100" dirty="0">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cs typeface="Times New Roman" panose="02020603050405020304" pitchFamily="18" charset="0"/>
              </a:rPr>
              <a:t>如何优化节点在监测区域中的部署位置，用尽可能少的节点来达到应用的覆盖要求，降低网络的构建成本。</a:t>
            </a:r>
            <a:endParaRPr lang="en-US" altLang="zh-CN" sz="2400" b="1" kern="100" dirty="0">
              <a:latin typeface="Times New Roman" panose="02020603050405020304" pitchFamily="18" charset="0"/>
              <a:cs typeface="Times New Roman" panose="02020603050405020304" pitchFamily="18" charset="0"/>
            </a:endParaRPr>
          </a:p>
          <a:p>
            <a:pPr marL="0" indent="0">
              <a:lnSpc>
                <a:spcPct val="100000"/>
              </a:lnSpc>
              <a:spcBef>
                <a:spcPts val="600"/>
              </a:spcBef>
              <a:buNone/>
              <a:defRPr/>
            </a:pPr>
            <a:r>
              <a:rPr lang="zh-CN" altLang="en-US" sz="2400" b="1" kern="100" dirty="0">
                <a:latin typeface="Times New Roman" panose="02020603050405020304" pitchFamily="18" charset="0"/>
                <a:cs typeface="Times New Roman" panose="02020603050405020304" pitchFamily="18" charset="0"/>
              </a:rPr>
              <a:t>对于采用</a:t>
            </a:r>
            <a:r>
              <a:rPr lang="zh-CN" altLang="zh-CN" sz="2400" b="1" kern="100" dirty="0">
                <a:latin typeface="Times New Roman" panose="02020603050405020304" pitchFamily="18" charset="0"/>
                <a:cs typeface="Times New Roman" panose="02020603050405020304" pitchFamily="18" charset="0"/>
              </a:rPr>
              <a:t>随机部署方式覆盖</a:t>
            </a:r>
            <a:r>
              <a:rPr lang="zh-CN" altLang="zh-CN" sz="2400" b="1" kern="100" dirty="0">
                <a:solidFill>
                  <a:srgbClr val="C00000"/>
                </a:solidFill>
                <a:latin typeface="Times New Roman" panose="02020603050405020304" pitchFamily="18" charset="0"/>
                <a:cs typeface="Times New Roman" panose="02020603050405020304" pitchFamily="18" charset="0"/>
              </a:rPr>
              <a:t>问题</a:t>
            </a:r>
            <a:r>
              <a:rPr lang="zh-CN" altLang="zh-CN" sz="2400" b="1" kern="100" dirty="0">
                <a:latin typeface="Times New Roman" panose="02020603050405020304" pitchFamily="18" charset="0"/>
                <a:cs typeface="Times New Roman" panose="02020603050405020304" pitchFamily="18" charset="0"/>
              </a:rPr>
              <a:t>侧重于考虑</a:t>
            </a:r>
            <a:r>
              <a:rPr lang="zh-CN" altLang="en-US" sz="2400" b="1" kern="100" dirty="0">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cs typeface="Times New Roman" panose="02020603050405020304" pitchFamily="18" charset="0"/>
              </a:rPr>
              <a:t>如何在保证网络覆盖质量的前提下，合理地调度网络中的节点交替性地工作和睡眠，延长网络的生存周期。</a:t>
            </a:r>
            <a:endParaRPr lang="zh-CN" altLang="zh-CN" sz="2400" b="1" kern="100" dirty="0">
              <a:latin typeface="Times New Roman" panose="02020603050405020304" pitchFamily="18" charset="0"/>
            </a:endParaRPr>
          </a:p>
          <a:p>
            <a:pPr marL="0" indent="0">
              <a:lnSpc>
                <a:spcPct val="100000"/>
              </a:lnSpc>
              <a:spcBef>
                <a:spcPts val="600"/>
              </a:spcBef>
              <a:buNone/>
              <a:defRPr/>
            </a:pPr>
            <a:r>
              <a:rPr lang="en-US" altLang="zh-CN" sz="2400" b="1" kern="100" dirty="0">
                <a:latin typeface="Times New Roman" panose="02020603050405020304" pitchFamily="18" charset="0"/>
              </a:rPr>
              <a:t>3</a:t>
            </a:r>
            <a:r>
              <a:rPr lang="zh-CN" altLang="zh-CN" sz="2400" b="1" kern="100" dirty="0">
                <a:latin typeface="Times New Roman" panose="02020603050405020304" pitchFamily="18" charset="0"/>
              </a:rPr>
              <a:t>）连通</a:t>
            </a:r>
            <a:endParaRPr lang="zh-CN" altLang="zh-CN" sz="2400" b="1" kern="100" dirty="0">
              <a:latin typeface="Times New Roman" panose="02020603050405020304" pitchFamily="18" charset="0"/>
            </a:endParaRPr>
          </a:p>
          <a:p>
            <a:pPr marL="0" indent="0">
              <a:lnSpc>
                <a:spcPct val="100000"/>
              </a:lnSpc>
              <a:spcBef>
                <a:spcPts val="600"/>
              </a:spcBef>
              <a:buNone/>
              <a:defRPr/>
            </a:pPr>
            <a:r>
              <a:rPr lang="en-US" altLang="zh-CN" sz="2400" b="1" kern="100" dirty="0">
                <a:solidFill>
                  <a:srgbClr val="C00000"/>
                </a:solidFill>
                <a:latin typeface="Times New Roman" panose="02020603050405020304" pitchFamily="18" charset="0"/>
                <a:cs typeface="Times New Roman" panose="02020603050405020304" pitchFamily="18" charset="0"/>
              </a:rPr>
              <a:t>    </a:t>
            </a:r>
            <a:r>
              <a:rPr lang="zh-CN" altLang="zh-CN" sz="2400" b="1" kern="100" dirty="0">
                <a:solidFill>
                  <a:srgbClr val="C00000"/>
                </a:solidFill>
                <a:latin typeface="Times New Roman" panose="02020603050405020304" pitchFamily="18" charset="0"/>
                <a:cs typeface="Times New Roman" panose="02020603050405020304" pitchFamily="18" charset="0"/>
              </a:rPr>
              <a:t>感知和传输是传感器网络的两个基本功能</a:t>
            </a:r>
            <a:r>
              <a:rPr lang="zh-CN" altLang="zh-CN" sz="2400" b="1" kern="100" dirty="0">
                <a:latin typeface="Times New Roman" panose="02020603050405020304" pitchFamily="18" charset="0"/>
                <a:cs typeface="Times New Roman" panose="02020603050405020304" pitchFamily="18" charset="0"/>
              </a:rPr>
              <a:t>。网络</a:t>
            </a:r>
            <a:r>
              <a:rPr lang="zh-CN" altLang="zh-CN" sz="2400" b="1" kern="100" dirty="0">
                <a:solidFill>
                  <a:srgbClr val="C00000"/>
                </a:solidFill>
                <a:latin typeface="Times New Roman" panose="02020603050405020304" pitchFamily="18" charset="0"/>
                <a:cs typeface="Times New Roman" panose="02020603050405020304" pitchFamily="18" charset="0"/>
              </a:rPr>
              <a:t>覆盖实现</a:t>
            </a:r>
            <a:r>
              <a:rPr lang="zh-CN" altLang="zh-CN" sz="2400" b="1" kern="100" dirty="0">
                <a:latin typeface="Times New Roman" panose="02020603050405020304" pitchFamily="18" charset="0"/>
                <a:cs typeface="Times New Roman" panose="02020603050405020304" pitchFamily="18" charset="0"/>
              </a:rPr>
              <a:t>传感器网络对监测区域的</a:t>
            </a:r>
            <a:r>
              <a:rPr lang="zh-CN" altLang="zh-CN" sz="2400" b="1" kern="100" dirty="0">
                <a:solidFill>
                  <a:srgbClr val="C00000"/>
                </a:solidFill>
                <a:latin typeface="Times New Roman" panose="02020603050405020304" pitchFamily="18" charset="0"/>
                <a:cs typeface="Times New Roman" panose="02020603050405020304" pitchFamily="18" charset="0"/>
              </a:rPr>
              <a:t>感知功能</a:t>
            </a:r>
            <a:r>
              <a:rPr lang="zh-CN" altLang="en-US" sz="2400" b="1" kern="100" dirty="0">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cs typeface="Times New Roman" panose="02020603050405020304" pitchFamily="18" charset="0"/>
              </a:rPr>
              <a:t>网络</a:t>
            </a:r>
            <a:r>
              <a:rPr lang="zh-CN" altLang="zh-CN" sz="2400" b="1" kern="100" dirty="0">
                <a:solidFill>
                  <a:srgbClr val="C00000"/>
                </a:solidFill>
                <a:latin typeface="Times New Roman" panose="02020603050405020304" pitchFamily="18" charset="0"/>
                <a:cs typeface="Times New Roman" panose="02020603050405020304" pitchFamily="18" charset="0"/>
              </a:rPr>
              <a:t>连通实现</a:t>
            </a:r>
            <a:r>
              <a:rPr lang="zh-CN" altLang="zh-CN" sz="2400" b="1" kern="100" dirty="0">
                <a:latin typeface="Times New Roman" panose="02020603050405020304" pitchFamily="18" charset="0"/>
                <a:cs typeface="Times New Roman" panose="02020603050405020304" pitchFamily="18" charset="0"/>
              </a:rPr>
              <a:t>传感器网络的</a:t>
            </a:r>
            <a:r>
              <a:rPr lang="zh-CN" altLang="zh-CN" sz="2400" b="1" kern="100" dirty="0">
                <a:solidFill>
                  <a:srgbClr val="C00000"/>
                </a:solidFill>
                <a:latin typeface="Times New Roman" panose="02020603050405020304" pitchFamily="18" charset="0"/>
                <a:cs typeface="Times New Roman" panose="02020603050405020304" pitchFamily="18" charset="0"/>
              </a:rPr>
              <a:t>传输功能。</a:t>
            </a:r>
            <a:endParaRPr lang="zh-CN" altLang="en-US" sz="2400"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23408" y="1678146"/>
            <a:ext cx="10516235" cy="4351655"/>
          </a:xfrm>
        </p:spPr>
        <p:txBody>
          <a:bodyPr/>
          <a:lstStyle/>
          <a:p>
            <a:pPr marL="0" indent="0" algn="just">
              <a:lnSpc>
                <a:spcPct val="100000"/>
              </a:lnSpc>
              <a:spcBef>
                <a:spcPts val="600"/>
              </a:spcBef>
              <a:buNone/>
              <a:defRPr/>
            </a:pPr>
            <a:r>
              <a:rPr lang="en-US" altLang="zh-CN" sz="2400" b="1" kern="100" dirty="0">
                <a:latin typeface="Times New Roman" panose="02020603050405020304" pitchFamily="18" charset="0"/>
                <a:cs typeface="Times New Roman" panose="02020603050405020304" pitchFamily="18" charset="0"/>
              </a:rPr>
              <a:t>    </a:t>
            </a:r>
            <a:r>
              <a:rPr lang="zh-CN" altLang="zh-CN" sz="2400" b="1" kern="100" dirty="0">
                <a:latin typeface="Times New Roman" panose="02020603050405020304" pitchFamily="18" charset="0"/>
                <a:cs typeface="Times New Roman" panose="02020603050405020304" pitchFamily="18" charset="0"/>
              </a:rPr>
              <a:t>网络覆盖依赖于节点的</a:t>
            </a:r>
            <a:r>
              <a:rPr lang="zh-CN" altLang="zh-CN" sz="2400" b="1" kern="100" dirty="0">
                <a:solidFill>
                  <a:srgbClr val="C00000"/>
                </a:solidFill>
                <a:latin typeface="Times New Roman" panose="02020603050405020304" pitchFamily="18" charset="0"/>
                <a:cs typeface="Times New Roman" panose="02020603050405020304" pitchFamily="18" charset="0"/>
              </a:rPr>
              <a:t>感知范围</a:t>
            </a:r>
            <a:r>
              <a:rPr lang="zh-CN" altLang="en-US" sz="2400" b="1" kern="100" dirty="0">
                <a:solidFill>
                  <a:srgbClr val="C00000"/>
                </a:solidFill>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cs typeface="Times New Roman" panose="02020603050405020304" pitchFamily="18" charset="0"/>
              </a:rPr>
              <a:t>通常不可以调节</a:t>
            </a:r>
            <a:r>
              <a:rPr lang="zh-CN" altLang="en-US" sz="2400" b="1" kern="100" dirty="0">
                <a:latin typeface="Times New Roman" panose="02020603050405020304" pitchFamily="18" charset="0"/>
                <a:cs typeface="Times New Roman" panose="02020603050405020304" pitchFamily="18" charset="0"/>
              </a:rPr>
              <a:t>。</a:t>
            </a:r>
            <a:endParaRPr lang="en-US" altLang="zh-CN" sz="2400" b="1" kern="100" dirty="0">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r>
              <a:rPr lang="en-US" altLang="zh-CN" sz="2400" b="1" kern="100" dirty="0">
                <a:latin typeface="Times New Roman" panose="02020603050405020304" pitchFamily="18" charset="0"/>
                <a:cs typeface="Times New Roman" panose="02020603050405020304" pitchFamily="18" charset="0"/>
              </a:rPr>
              <a:t>    </a:t>
            </a:r>
            <a:r>
              <a:rPr lang="zh-CN" altLang="zh-CN" sz="2400" b="1" kern="100" dirty="0">
                <a:latin typeface="Times New Roman" panose="02020603050405020304" pitchFamily="18" charset="0"/>
                <a:cs typeface="Times New Roman" panose="02020603050405020304" pitchFamily="18" charset="0"/>
              </a:rPr>
              <a:t>网络连通依赖于节点的</a:t>
            </a:r>
            <a:r>
              <a:rPr lang="zh-CN" altLang="zh-CN" sz="2400" b="1" kern="100" dirty="0">
                <a:solidFill>
                  <a:srgbClr val="C00000"/>
                </a:solidFill>
                <a:latin typeface="Times New Roman" panose="02020603050405020304" pitchFamily="18" charset="0"/>
                <a:cs typeface="Times New Roman" panose="02020603050405020304" pitchFamily="18" charset="0"/>
              </a:rPr>
              <a:t>通信范围</a:t>
            </a:r>
            <a:r>
              <a:rPr lang="zh-CN" altLang="en-US" sz="2400" b="1" kern="100" dirty="0">
                <a:solidFill>
                  <a:srgbClr val="C00000"/>
                </a:solidFill>
                <a:latin typeface="Times New Roman" panose="02020603050405020304" pitchFamily="18" charset="0"/>
                <a:cs typeface="Times New Roman" panose="02020603050405020304" pitchFamily="18" charset="0"/>
              </a:rPr>
              <a:t>，</a:t>
            </a:r>
            <a:r>
              <a:rPr lang="zh-CN" altLang="zh-CN" sz="2400" b="1" kern="100" dirty="0">
                <a:latin typeface="Times New Roman" panose="02020603050405020304" pitchFamily="18" charset="0"/>
                <a:cs typeface="Times New Roman" panose="02020603050405020304" pitchFamily="18" charset="0"/>
              </a:rPr>
              <a:t>节点的通信范围可以</a:t>
            </a:r>
            <a:r>
              <a:rPr lang="zh-CN" altLang="zh-CN" sz="2400" b="1" kern="100" dirty="0">
                <a:solidFill>
                  <a:srgbClr val="C00000"/>
                </a:solidFill>
                <a:latin typeface="Times New Roman" panose="02020603050405020304" pitchFamily="18" charset="0"/>
                <a:cs typeface="Times New Roman" panose="02020603050405020304" pitchFamily="18" charset="0"/>
              </a:rPr>
              <a:t>通过调节射频天线的发射功率进行控制</a:t>
            </a:r>
            <a:r>
              <a:rPr lang="zh-CN" altLang="en-US" sz="2400" b="1" kern="100" dirty="0">
                <a:solidFill>
                  <a:srgbClr val="C00000"/>
                </a:solidFill>
                <a:latin typeface="Times New Roman" panose="02020603050405020304" pitchFamily="18" charset="0"/>
                <a:cs typeface="Times New Roman" panose="02020603050405020304" pitchFamily="18" charset="0"/>
              </a:rPr>
              <a:t>。</a:t>
            </a:r>
            <a:endParaRPr lang="en-US" altLang="zh-CN" sz="2400" b="1" kern="100" dirty="0">
              <a:solidFill>
                <a:srgbClr val="C00000"/>
              </a:solidFill>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endParaRPr lang="en-US" altLang="zh-CN" sz="2400" kern="100"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r>
              <a:rPr lang="zh-CN" altLang="zh-CN" sz="2400" b="1" kern="100" dirty="0">
                <a:solidFill>
                  <a:srgbClr val="C00000"/>
                </a:solidFill>
                <a:latin typeface="Times New Roman" panose="02020603050405020304" pitchFamily="18" charset="0"/>
                <a:cs typeface="Times New Roman" panose="02020603050405020304" pitchFamily="18" charset="0"/>
              </a:rPr>
              <a:t>覆盖与连通之间的关系：</a:t>
            </a:r>
            <a:endParaRPr lang="en-US" altLang="zh-CN" sz="2400" b="1" kern="100" dirty="0">
              <a:solidFill>
                <a:srgbClr val="C00000"/>
              </a:solidFill>
              <a:latin typeface="Times New Roman" panose="02020603050405020304" pitchFamily="18" charset="0"/>
              <a:cs typeface="Times New Roman" panose="02020603050405020304" pitchFamily="18" charset="0"/>
            </a:endParaRPr>
          </a:p>
          <a:p>
            <a:pPr marL="0" indent="0" algn="just">
              <a:lnSpc>
                <a:spcPct val="100000"/>
              </a:lnSpc>
              <a:spcBef>
                <a:spcPts val="600"/>
              </a:spcBef>
              <a:buNone/>
              <a:defRPr/>
            </a:pPr>
            <a:r>
              <a:rPr lang="en-US" altLang="zh-CN" sz="2400" b="1" kern="100" dirty="0">
                <a:solidFill>
                  <a:srgbClr val="C00000"/>
                </a:solidFill>
                <a:latin typeface="Times New Roman" panose="02020603050405020304" pitchFamily="18" charset="0"/>
              </a:rPr>
              <a:t>    </a:t>
            </a:r>
            <a:r>
              <a:rPr lang="zh-CN" altLang="zh-CN" sz="2400" b="1" kern="100" dirty="0">
                <a:solidFill>
                  <a:srgbClr val="C00000"/>
                </a:solidFill>
                <a:latin typeface="Times New Roman" panose="02020603050405020304" pitchFamily="18" charset="0"/>
              </a:rPr>
              <a:t>假设传感器节点的感知范围和通信范围是一个单位圆区域，感知半径和通信半径分别为</a:t>
            </a:r>
            <a:r>
              <a:rPr lang="en-US" altLang="zh-CN" sz="2400" b="1" i="1" kern="100" dirty="0">
                <a:solidFill>
                  <a:srgbClr val="C00000"/>
                </a:solidFill>
                <a:latin typeface="Times New Roman" panose="02020603050405020304" pitchFamily="18" charset="0"/>
              </a:rPr>
              <a:t>R</a:t>
            </a:r>
            <a:r>
              <a:rPr lang="en-US" altLang="zh-CN" sz="2400" b="1" i="1" kern="100" baseline="-25000" dirty="0">
                <a:solidFill>
                  <a:srgbClr val="C00000"/>
                </a:solidFill>
                <a:latin typeface="Times New Roman" panose="02020603050405020304" pitchFamily="18" charset="0"/>
              </a:rPr>
              <a:t>s</a:t>
            </a:r>
            <a:r>
              <a:rPr lang="zh-CN" altLang="zh-CN" sz="2400" b="1" kern="100" dirty="0">
                <a:solidFill>
                  <a:srgbClr val="C00000"/>
                </a:solidFill>
                <a:latin typeface="Times New Roman" panose="02020603050405020304" pitchFamily="18" charset="0"/>
              </a:rPr>
              <a:t>和</a:t>
            </a:r>
            <a:r>
              <a:rPr lang="en-US" altLang="zh-CN" sz="2400" b="1" i="1" kern="100" dirty="0" err="1">
                <a:solidFill>
                  <a:srgbClr val="C00000"/>
                </a:solidFill>
                <a:latin typeface="Times New Roman" panose="02020603050405020304" pitchFamily="18" charset="0"/>
              </a:rPr>
              <a:t>R</a:t>
            </a:r>
            <a:r>
              <a:rPr lang="en-US" altLang="zh-CN" sz="2400" b="1" i="1" kern="100" baseline="-25000" dirty="0" err="1">
                <a:solidFill>
                  <a:srgbClr val="C00000"/>
                </a:solidFill>
                <a:latin typeface="Times New Roman" panose="02020603050405020304" pitchFamily="18" charset="0"/>
              </a:rPr>
              <a:t>c</a:t>
            </a:r>
            <a:r>
              <a:rPr lang="zh-CN" altLang="zh-CN" sz="2400" b="1" kern="100" dirty="0">
                <a:solidFill>
                  <a:srgbClr val="C00000"/>
                </a:solidFill>
                <a:latin typeface="Times New Roman" panose="02020603050405020304" pitchFamily="18" charset="0"/>
              </a:rPr>
              <a:t>。如果监测区域连续，并且节点的通信半径与感知半径满足关系</a:t>
            </a:r>
            <a:r>
              <a:rPr lang="en-US" altLang="zh-CN" sz="2400" b="1" i="1" kern="100" dirty="0">
                <a:solidFill>
                  <a:srgbClr val="C00000"/>
                </a:solidFill>
                <a:latin typeface="Times New Roman" panose="02020603050405020304" pitchFamily="18" charset="0"/>
              </a:rPr>
              <a:t>R</a:t>
            </a:r>
            <a:r>
              <a:rPr lang="en-US" altLang="zh-CN" sz="2400" b="1" i="1" kern="100" baseline="-25000" dirty="0">
                <a:solidFill>
                  <a:srgbClr val="C00000"/>
                </a:solidFill>
                <a:latin typeface="Times New Roman" panose="02020603050405020304" pitchFamily="18" charset="0"/>
              </a:rPr>
              <a:t>c</a:t>
            </a:r>
            <a:r>
              <a:rPr lang="en-US" altLang="zh-CN" sz="2400" b="1" kern="100" dirty="0">
                <a:solidFill>
                  <a:srgbClr val="C00000"/>
                </a:solidFill>
                <a:latin typeface="Times New Roman" panose="02020603050405020304" pitchFamily="18" charset="0"/>
              </a:rPr>
              <a:t>≥2</a:t>
            </a:r>
            <a:r>
              <a:rPr lang="en-US" altLang="zh-CN" sz="2400" b="1" i="1" kern="100" dirty="0">
                <a:solidFill>
                  <a:srgbClr val="C00000"/>
                </a:solidFill>
                <a:latin typeface="Times New Roman" panose="02020603050405020304" pitchFamily="18" charset="0"/>
              </a:rPr>
              <a:t>R</a:t>
            </a:r>
            <a:r>
              <a:rPr lang="en-US" altLang="zh-CN" sz="2400" b="1" i="1" kern="100" baseline="-25000" dirty="0">
                <a:solidFill>
                  <a:srgbClr val="C00000"/>
                </a:solidFill>
                <a:latin typeface="Times New Roman" panose="02020603050405020304" pitchFamily="18" charset="0"/>
              </a:rPr>
              <a:t>s</a:t>
            </a:r>
            <a:r>
              <a:rPr lang="zh-CN" altLang="zh-CN" sz="2400" b="1" kern="100" dirty="0">
                <a:solidFill>
                  <a:srgbClr val="C00000"/>
                </a:solidFill>
                <a:latin typeface="Times New Roman" panose="02020603050405020304" pitchFamily="18" charset="0"/>
              </a:rPr>
              <a:t>，那么对监测区域的全覆盖，即监测区域内的任意一点都被覆盖，就能保证网络连通。 </a:t>
            </a:r>
            <a:endParaRPr lang="zh-CN" altLang="zh-CN" sz="2400" b="1" kern="100" dirty="0">
              <a:solidFill>
                <a:srgbClr val="C00000"/>
              </a:solidFill>
              <a:latin typeface="Times New Roman" panose="02020603050405020304" pitchFamily="18" charset="0"/>
            </a:endParaRPr>
          </a:p>
          <a:p>
            <a:pPr marL="0" indent="0" algn="just">
              <a:buNone/>
              <a:defRPr/>
            </a:pPr>
            <a:endParaRPr lang="zh-CN" altLang="en-US" sz="2400" dirty="0"/>
          </a:p>
          <a:p>
            <a:pPr marL="0" indent="0" algn="just" eaLnBrk="1" hangingPunct="1">
              <a:lnSpc>
                <a:spcPct val="180000"/>
              </a:lnSpc>
              <a:buFont typeface="Wingdings" panose="05000000000000000000" pitchFamily="2" charset="2"/>
              <a:buNone/>
              <a:defRPr/>
            </a:pPr>
            <a:endParaRPr lang="zh-CN" altLang="en-US" sz="2400" dirty="0"/>
          </a:p>
        </p:txBody>
      </p:sp>
      <p:sp>
        <p:nvSpPr>
          <p:cNvPr id="6" name="标题 5121"/>
          <p:cNvSpPr>
            <a:spLocks noGrp="1" noChangeArrowheads="1"/>
          </p:cNvSpPr>
          <p:nvPr>
            <p:ph type="title"/>
          </p:nvPr>
        </p:nvSpPr>
        <p:spPr>
          <a:xfrm>
            <a:off x="838835" y="17938"/>
            <a:ext cx="10515600" cy="1325563"/>
          </a:xfrm>
        </p:spPr>
        <p:txBody>
          <a:bodyPr/>
          <a:lstStyle/>
          <a:p>
            <a:pPr eaLnBrk="1" hangingPunct="1"/>
            <a:r>
              <a:rPr lang="en-US" b="1" u="sng">
                <a:solidFill>
                  <a:srgbClr val="1D41D5"/>
                </a:solidFill>
                <a:uFillTx/>
                <a:latin typeface="Times New Roman" panose="02020603050405020304" pitchFamily="18" charset="0"/>
              </a:rPr>
              <a:t>4.3.1 概述</a:t>
            </a:r>
            <a:endParaRPr lang="zh-CN" altLang="en-US" b="1"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66801" y="1323869"/>
            <a:ext cx="10516235" cy="4351655"/>
          </a:xfrm>
        </p:spPr>
        <p:txBody>
          <a:bodyPr/>
          <a:lstStyle/>
          <a:p>
            <a:pPr marL="0" indent="0">
              <a:buNone/>
              <a:defRPr/>
            </a:pPr>
            <a:r>
              <a:rPr lang="zh-CN" altLang="en-US" b="1" dirty="0"/>
              <a:t>4.</a:t>
            </a:r>
            <a:r>
              <a:rPr lang="en-US" altLang="zh-CN" b="1" dirty="0"/>
              <a:t>3.1.2 </a:t>
            </a:r>
            <a:r>
              <a:rPr lang="zh-CN" altLang="en-US" b="1" dirty="0"/>
              <a:t>基本术语</a:t>
            </a:r>
            <a:endParaRPr lang="zh-CN" altLang="en-US" b="1" dirty="0"/>
          </a:p>
        </p:txBody>
      </p:sp>
      <p:graphicFrame>
        <p:nvGraphicFramePr>
          <p:cNvPr id="12" name="表格 12"/>
          <p:cNvGraphicFramePr>
            <a:graphicFrameLocks noGrp="1"/>
          </p:cNvGraphicFramePr>
          <p:nvPr>
            <p:custDataLst>
              <p:tags r:id="rId1"/>
            </p:custDataLst>
          </p:nvPr>
        </p:nvGraphicFramePr>
        <p:xfrm>
          <a:off x="2870835" y="1851025"/>
          <a:ext cx="5915660" cy="2143760"/>
        </p:xfrm>
        <a:graphic>
          <a:graphicData uri="http://schemas.openxmlformats.org/drawingml/2006/table">
            <a:tbl>
              <a:tblPr firstRow="1" bandRow="1">
                <a:tableStyleId>{5C22544A-7EE6-4342-B048-85BDC9FD1C3A}</a:tableStyleId>
              </a:tblPr>
              <a:tblGrid>
                <a:gridCol w="2957830"/>
                <a:gridCol w="2957830"/>
              </a:tblGrid>
              <a:tr h="535940">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监测对象</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覆盖率</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35940">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全覆盖</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覆盖度</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35940">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覆盖</a:t>
                      </a:r>
                      <a:endPar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检测概率</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35940">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连通</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连通</a:t>
                      </a:r>
                      <a:endPar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7" name="文本占位符 5122"/>
          <p:cNvSpPr txBox="1">
            <a:spLocks noChangeArrowheads="1"/>
          </p:cNvSpPr>
          <p:nvPr/>
        </p:nvSpPr>
        <p:spPr bwMode="auto">
          <a:xfrm>
            <a:off x="838835" y="3920068"/>
            <a:ext cx="10515600" cy="26844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eaLnBrk="1" hangingPunct="1">
              <a:buNone/>
              <a:defRPr/>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）监测对象：</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传感器网络监测的物理实体，可以是固定或移动的目标、孤立或连续的区域</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defRPr/>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）覆盖率：</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传感器网络对监测对象的覆盖比例。</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）全覆盖：</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所有监测对象都被传感器网络覆盖，即覆盖率为</a:t>
            </a:r>
            <a:r>
              <a:rPr lang="en-US" altLang="zh-CN" sz="2400" b="1" kern="100" dirty="0">
                <a:latin typeface="Times New Roman" panose="02020603050405020304" pitchFamily="18" charset="0"/>
                <a:ea typeface="宋体" panose="02010600030101010101" pitchFamily="2" charset="-122"/>
              </a:rPr>
              <a:t>100%</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rPr>
              <a:t>覆盖度：传感器网络对监测对象的覆盖重数，等价于同时覆盖监测对象的传感器节点个数。</a:t>
            </a:r>
            <a:endParaRPr lang="zh-CN" altLang="en-US" sz="2400" b="1" kern="100" dirty="0">
              <a:latin typeface="Times New Roman" panose="02020603050405020304" pitchFamily="18" charset="0"/>
              <a:ea typeface="宋体" panose="02010600030101010101" pitchFamily="2" charset="-122"/>
            </a:endParaRPr>
          </a:p>
        </p:txBody>
      </p:sp>
      <p:sp>
        <p:nvSpPr>
          <p:cNvPr id="8" name="标题 5121"/>
          <p:cNvSpPr>
            <a:spLocks noGrp="1" noChangeArrowheads="1"/>
          </p:cNvSpPr>
          <p:nvPr>
            <p:ph type="title"/>
          </p:nvPr>
        </p:nvSpPr>
        <p:spPr>
          <a:xfrm>
            <a:off x="838835" y="17938"/>
            <a:ext cx="10515600" cy="1325563"/>
          </a:xfrm>
        </p:spPr>
        <p:txBody>
          <a:bodyPr/>
          <a:lstStyle/>
          <a:p>
            <a:pPr eaLnBrk="1" hangingPunct="1"/>
            <a:r>
              <a:rPr lang="en-US" b="1" u="sng">
                <a:solidFill>
                  <a:srgbClr val="1D41D5"/>
                </a:solidFill>
                <a:uFillTx/>
                <a:latin typeface="Times New Roman" panose="02020603050405020304" pitchFamily="18" charset="0"/>
              </a:rPr>
              <a:t>4.3.1 概述</a:t>
            </a:r>
            <a:endParaRPr lang="zh-CN" altLang="en-US" b="1" dirty="0"/>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5122"/>
          <p:cNvSpPr txBox="1">
            <a:spLocks noChangeArrowheads="1"/>
          </p:cNvSpPr>
          <p:nvPr/>
        </p:nvSpPr>
        <p:spPr bwMode="auto">
          <a:xfrm>
            <a:off x="1157605" y="1376680"/>
            <a:ext cx="10848340" cy="268478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eaLnBrk="1" hangingPunct="1">
              <a:spcBef>
                <a:spcPts val="600"/>
              </a:spcBef>
              <a:buNone/>
              <a:defRPr/>
            </a:pPr>
            <a:r>
              <a:rPr lang="en-US" altLang="zh-CN" sz="2200" b="1" kern="100" dirty="0">
                <a:latin typeface="Times New Roman" panose="02020603050405020304" pitchFamily="18" charset="0"/>
                <a:ea typeface="宋体" panose="02010600030101010101" pitchFamily="2" charset="-122"/>
              </a:rPr>
              <a:t>5</a:t>
            </a:r>
            <a:r>
              <a:rPr lang="zh-CN" altLang="en-US" sz="2200" b="1" kern="100" dirty="0">
                <a:latin typeface="Times New Roman" panose="02020603050405020304" pitchFamily="18" charset="0"/>
                <a:ea typeface="宋体" panose="02010600030101010101" pitchFamily="2" charset="-122"/>
              </a:rPr>
              <a:t>）</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覆盖：监测对象至少被</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个传感器节点同时覆盖，等价于网络的覆盖度为</a:t>
            </a:r>
            <a:r>
              <a:rPr lang="en-US" altLang="zh-CN" sz="2200" b="1" kern="100" dirty="0">
                <a:latin typeface="Times New Roman" panose="02020603050405020304" pitchFamily="18" charset="0"/>
                <a:ea typeface="宋体" panose="02010600030101010101" pitchFamily="2" charset="-122"/>
              </a:rPr>
              <a:t>k</a:t>
            </a:r>
            <a:r>
              <a:rPr lang="zh-CN" altLang="en-US" sz="2200" b="1" kern="100" dirty="0">
                <a:latin typeface="Times New Roman" panose="02020603050405020304" pitchFamily="18" charset="0"/>
                <a:ea typeface="宋体" panose="02010600030101010101" pitchFamily="2" charset="-122"/>
              </a:rPr>
              <a:t>，如下图所示</a:t>
            </a:r>
            <a:r>
              <a:rPr lang="zh-CN" altLang="en-US" sz="2200"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600"/>
              </a:spcBef>
              <a:buNone/>
              <a:defRPr/>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latin typeface="Times New Roman" panose="02020603050405020304" pitchFamily="18" charset="0"/>
                <a:ea typeface="宋体" panose="02010600030101010101" pitchFamily="2" charset="-122"/>
              </a:rPr>
              <a:t>检测概率：传感器节点或网络成功检测到监测区域中的目标信息或发生事件的概率。</a:t>
            </a:r>
            <a:endParaRPr lang="zh-CN" altLang="zh-CN" sz="2200" b="1" kern="100" dirty="0">
              <a:latin typeface="Times New Roman" panose="02020603050405020304" pitchFamily="18" charset="0"/>
              <a:ea typeface="宋体" panose="02010600030101010101" pitchFamily="2" charset="-122"/>
            </a:endParaRPr>
          </a:p>
          <a:p>
            <a:pPr marL="0" indent="0" eaLnBrk="1" hangingPunct="1">
              <a:spcBef>
                <a:spcPts val="600"/>
              </a:spcBef>
              <a:buNone/>
              <a:defRPr/>
            </a:pPr>
            <a:r>
              <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22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latin typeface="Times New Roman" panose="02020603050405020304" pitchFamily="18" charset="0"/>
                <a:ea typeface="宋体" panose="02010600030101010101" pitchFamily="2" charset="-122"/>
              </a:rPr>
              <a:t>连通：网络中的任意两个工作节点之间都至少存在一条通信路径。</a:t>
            </a:r>
            <a:endParaRPr lang="en-US" altLang="zh-CN" sz="22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600"/>
              </a:spcBef>
              <a:buNone/>
              <a:defRPr/>
            </a:pPr>
            <a:r>
              <a:rPr lang="en-US" altLang="zh-CN" sz="2200" b="1" kern="100" dirty="0">
                <a:latin typeface="Times New Roman" panose="02020603050405020304" pitchFamily="18" charset="0"/>
                <a:ea typeface="宋体" panose="02010600030101010101" pitchFamily="2" charset="-122"/>
              </a:rPr>
              <a:t>8</a:t>
            </a:r>
            <a:r>
              <a:rPr lang="zh-CN" altLang="en-US" sz="2200" b="1" kern="100" dirty="0">
                <a:latin typeface="Times New Roman" panose="02020603050405020304" pitchFamily="18" charset="0"/>
                <a:ea typeface="宋体" panose="02010600030101010101" pitchFamily="2" charset="-122"/>
              </a:rPr>
              <a:t>）</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连通：网络中任意的两个工作节点之间都至少存在</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条独立的通信路径</a:t>
            </a:r>
            <a:r>
              <a:rPr lang="zh-CN" altLang="en-US" sz="2200" b="1" kern="100" dirty="0">
                <a:latin typeface="Times New Roman" panose="02020603050405020304" pitchFamily="18" charset="0"/>
                <a:ea typeface="宋体" panose="02010600030101010101" pitchFamily="2" charset="-122"/>
                <a:cs typeface="Times New Roman" panose="02020603050405020304" pitchFamily="18" charset="0"/>
              </a:rPr>
              <a:t>，如下图所示，</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连通网络的特点是去掉</a:t>
            </a:r>
            <a:r>
              <a:rPr lang="en-US" altLang="zh-CN" sz="2200" b="1" kern="100" dirty="0">
                <a:latin typeface="Times New Roman" panose="02020603050405020304" pitchFamily="18" charset="0"/>
                <a:ea typeface="宋体" panose="02010600030101010101" pitchFamily="2" charset="-122"/>
              </a:rPr>
              <a:t>k-1</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个节点仍然连通，但去掉</a:t>
            </a:r>
            <a:r>
              <a:rPr lang="en-US" altLang="zh-CN" sz="2200" b="1" kern="100" dirty="0">
                <a:latin typeface="Times New Roman" panose="02020603050405020304" pitchFamily="18" charset="0"/>
                <a:ea typeface="宋体" panose="02010600030101010101" pitchFamily="2" charset="-122"/>
              </a:rPr>
              <a:t>k</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个节点就可能不连通。</a:t>
            </a:r>
            <a:endParaRPr lang="zh-CN" altLang="en-US" sz="2200" b="1" dirty="0">
              <a:latin typeface="宋体" panose="02010600030101010101" pitchFamily="2" charset="-122"/>
              <a:ea typeface="宋体" panose="02010600030101010101" pitchFamily="2" charset="-122"/>
            </a:endParaRPr>
          </a:p>
        </p:txBody>
      </p:sp>
      <p:pic>
        <p:nvPicPr>
          <p:cNvPr id="51204" name="图片 1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8095" y="3733165"/>
            <a:ext cx="2572385" cy="254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5" name="组合 13"/>
          <p:cNvGrpSpPr/>
          <p:nvPr/>
        </p:nvGrpSpPr>
        <p:grpSpPr bwMode="auto">
          <a:xfrm>
            <a:off x="6728460" y="3617595"/>
            <a:ext cx="3261360" cy="2586355"/>
            <a:chOff x="9444" y="1636473"/>
            <a:chExt cx="3373" cy="2592"/>
          </a:xfrm>
        </p:grpSpPr>
        <p:grpSp>
          <p:nvGrpSpPr>
            <p:cNvPr id="51208" name="组合 14"/>
            <p:cNvGrpSpPr/>
            <p:nvPr/>
          </p:nvGrpSpPr>
          <p:grpSpPr bwMode="auto">
            <a:xfrm>
              <a:off x="9444" y="1636473"/>
              <a:ext cx="3337" cy="1188"/>
              <a:chOff x="9444" y="1636473"/>
              <a:chExt cx="3337" cy="1188"/>
            </a:xfrm>
          </p:grpSpPr>
          <p:sp>
            <p:nvSpPr>
              <p:cNvPr id="27" name="椭圆 26"/>
              <p:cNvSpPr/>
              <p:nvPr/>
            </p:nvSpPr>
            <p:spPr>
              <a:xfrm>
                <a:off x="10357" y="1636473"/>
                <a:ext cx="240" cy="252"/>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8" name="椭圆 27"/>
              <p:cNvSpPr/>
              <p:nvPr/>
            </p:nvSpPr>
            <p:spPr>
              <a:xfrm>
                <a:off x="10392" y="1637408"/>
                <a:ext cx="240" cy="252"/>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9" name="椭圆 28"/>
              <p:cNvSpPr/>
              <p:nvPr/>
            </p:nvSpPr>
            <p:spPr>
              <a:xfrm>
                <a:off x="11257" y="1637000"/>
                <a:ext cx="240" cy="250"/>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0" name="椭圆 29"/>
              <p:cNvSpPr/>
              <p:nvPr/>
            </p:nvSpPr>
            <p:spPr>
              <a:xfrm>
                <a:off x="9444" y="1636978"/>
                <a:ext cx="240" cy="250"/>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31" name="直接连接符 30"/>
              <p:cNvCxnSpPr/>
              <p:nvPr/>
            </p:nvCxnSpPr>
            <p:spPr>
              <a:xfrm flipH="1">
                <a:off x="9649" y="1636653"/>
                <a:ext cx="720" cy="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30" idx="5"/>
              </p:cNvCxnSpPr>
              <p:nvPr/>
            </p:nvCxnSpPr>
            <p:spPr>
              <a:xfrm>
                <a:off x="9649" y="1637190"/>
                <a:ext cx="768" cy="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10609" y="1637198"/>
                <a:ext cx="673" cy="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1204"/>
              <p:cNvSpPr txBox="1"/>
              <p:nvPr/>
            </p:nvSpPr>
            <p:spPr>
              <a:xfrm>
                <a:off x="11702" y="1636868"/>
                <a:ext cx="1080" cy="577"/>
              </a:xfrm>
              <a:prstGeom prst="rect">
                <a:avLst/>
              </a:prstGeom>
              <a:no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kern="100" dirty="0">
                    <a:latin typeface="Times New Roman" panose="02020603050405020304" pitchFamily="18" charset="0"/>
                  </a:rPr>
                  <a:t>1</a:t>
                </a:r>
                <a:r>
                  <a:rPr lang="zh-CN" altLang="en-US" sz="1050" kern="100" dirty="0">
                    <a:latin typeface="Times New Roman" panose="02020603050405020304" pitchFamily="18" charset="0"/>
                    <a:ea typeface="宋体" panose="02010600030101010101" pitchFamily="2" charset="-122"/>
                  </a:rPr>
                  <a:t>连通</a:t>
                </a:r>
                <a:endParaRPr lang="zh-CN" altLang="en-US" sz="1050" kern="100" dirty="0">
                  <a:latin typeface="Times New Roman" panose="02020603050405020304" pitchFamily="18" charset="0"/>
                  <a:ea typeface="宋体" panose="02010600030101010101" pitchFamily="2" charset="-122"/>
                </a:endParaRPr>
              </a:p>
            </p:txBody>
          </p:sp>
        </p:grpSp>
        <p:grpSp>
          <p:nvGrpSpPr>
            <p:cNvPr id="51209" name="组合 15"/>
            <p:cNvGrpSpPr/>
            <p:nvPr/>
          </p:nvGrpSpPr>
          <p:grpSpPr bwMode="auto">
            <a:xfrm>
              <a:off x="9480" y="1637877"/>
              <a:ext cx="3337" cy="1188"/>
              <a:chOff x="9444" y="1636473"/>
              <a:chExt cx="3337" cy="1188"/>
            </a:xfrm>
          </p:grpSpPr>
          <p:sp>
            <p:nvSpPr>
              <p:cNvPr id="19" name="椭圆 18"/>
              <p:cNvSpPr/>
              <p:nvPr/>
            </p:nvSpPr>
            <p:spPr>
              <a:xfrm>
                <a:off x="10356" y="1636474"/>
                <a:ext cx="240" cy="252"/>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0" name="椭圆 19"/>
              <p:cNvSpPr/>
              <p:nvPr/>
            </p:nvSpPr>
            <p:spPr>
              <a:xfrm>
                <a:off x="10391" y="1637409"/>
                <a:ext cx="240" cy="252"/>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1" name="椭圆 20"/>
              <p:cNvSpPr/>
              <p:nvPr/>
            </p:nvSpPr>
            <p:spPr>
              <a:xfrm>
                <a:off x="11256" y="1637001"/>
                <a:ext cx="240" cy="252"/>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2" name="椭圆 21"/>
              <p:cNvSpPr/>
              <p:nvPr/>
            </p:nvSpPr>
            <p:spPr>
              <a:xfrm>
                <a:off x="9443" y="1636979"/>
                <a:ext cx="240" cy="250"/>
              </a:xfrm>
              <a:prstGeom prst="ellipse">
                <a:avLst/>
              </a:prstGeom>
              <a:solidFill>
                <a:schemeClr val="bg2"/>
              </a:solidFill>
              <a:ln w="635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cxnSp>
            <p:nvCxnSpPr>
              <p:cNvPr id="23" name="直接连接符 22"/>
              <p:cNvCxnSpPr/>
              <p:nvPr/>
            </p:nvCxnSpPr>
            <p:spPr>
              <a:xfrm flipH="1">
                <a:off x="9648" y="1636654"/>
                <a:ext cx="720" cy="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30" idx="5"/>
              </p:cNvCxnSpPr>
              <p:nvPr/>
            </p:nvCxnSpPr>
            <p:spPr>
              <a:xfrm>
                <a:off x="9648" y="1637191"/>
                <a:ext cx="768" cy="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0608" y="1637199"/>
                <a:ext cx="673" cy="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1204"/>
              <p:cNvSpPr txBox="1"/>
              <p:nvPr/>
            </p:nvSpPr>
            <p:spPr>
              <a:xfrm>
                <a:off x="11701" y="1636869"/>
                <a:ext cx="1080" cy="577"/>
              </a:xfrm>
              <a:prstGeom prst="rect">
                <a:avLst/>
              </a:prstGeom>
              <a:noFill/>
              <a:ln w="6350">
                <a:noFill/>
              </a:ln>
            </p:spPr>
            <p:style>
              <a:lnRef idx="0">
                <a:schemeClr val="accent1"/>
              </a:lnRef>
              <a:fillRef idx="0">
                <a:schemeClr val="accent1"/>
              </a:fillRef>
              <a:effectRef idx="0">
                <a:schemeClr val="accent1"/>
              </a:effectRef>
              <a:fontRef idx="minor">
                <a:schemeClr val="dk1"/>
              </a:fontRef>
            </p:style>
            <p:txBody>
              <a:bodyPr/>
              <a:lstStyle/>
              <a:p>
                <a:pPr algn="just">
                  <a:defRPr/>
                </a:pPr>
                <a:r>
                  <a:rPr lang="en-US" sz="1050" kern="100" dirty="0">
                    <a:latin typeface="Times New Roman" panose="02020603050405020304" pitchFamily="18" charset="0"/>
                  </a:rPr>
                  <a:t>2</a:t>
                </a:r>
                <a:r>
                  <a:rPr lang="zh-CN" altLang="en-US" sz="1050" kern="100" dirty="0">
                    <a:latin typeface="Times New Roman" panose="02020603050405020304" pitchFamily="18" charset="0"/>
                    <a:ea typeface="宋体" panose="02010600030101010101" pitchFamily="2" charset="-122"/>
                  </a:rPr>
                  <a:t>连通</a:t>
                </a:r>
                <a:endParaRPr lang="zh-CN" altLang="en-US" sz="1050" kern="100" dirty="0">
                  <a:latin typeface="Times New Roman" panose="02020603050405020304" pitchFamily="18" charset="0"/>
                  <a:ea typeface="宋体" panose="02010600030101010101" pitchFamily="2" charset="-122"/>
                </a:endParaRPr>
              </a:p>
            </p:txBody>
          </p:sp>
        </p:grpSp>
        <p:cxnSp>
          <p:nvCxnSpPr>
            <p:cNvPr id="18" name="直接连接符 17"/>
            <p:cNvCxnSpPr/>
            <p:nvPr/>
          </p:nvCxnSpPr>
          <p:spPr>
            <a:xfrm>
              <a:off x="10632" y="1638058"/>
              <a:ext cx="695" cy="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文本框 34"/>
          <p:cNvSpPr txBox="1"/>
          <p:nvPr/>
        </p:nvSpPr>
        <p:spPr>
          <a:xfrm>
            <a:off x="2907030" y="6386195"/>
            <a:ext cx="239204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4-3-1 K-</a:t>
            </a:r>
            <a:r>
              <a:rPr lang="zh-CN" altLang="en-US" b="1" dirty="0">
                <a:latin typeface="宋体" panose="02010600030101010101" pitchFamily="2" charset="-122"/>
                <a:ea typeface="宋体" panose="02010600030101010101" pitchFamily="2" charset="-122"/>
              </a:rPr>
              <a:t>覆盖示例</a:t>
            </a:r>
            <a:endParaRPr lang="zh-CN" altLang="en-US" dirty="0">
              <a:latin typeface="宋体" panose="02010600030101010101" pitchFamily="2" charset="-122"/>
              <a:ea typeface="宋体" panose="02010600030101010101" pitchFamily="2" charset="-122"/>
            </a:endParaRPr>
          </a:p>
        </p:txBody>
      </p:sp>
      <p:sp>
        <p:nvSpPr>
          <p:cNvPr id="37" name="文本框 36"/>
          <p:cNvSpPr txBox="1"/>
          <p:nvPr/>
        </p:nvSpPr>
        <p:spPr>
          <a:xfrm>
            <a:off x="7102475" y="6386195"/>
            <a:ext cx="2633980"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4-3-2 K-</a:t>
            </a:r>
            <a:r>
              <a:rPr lang="zh-CN" altLang="en-US" b="1" dirty="0">
                <a:latin typeface="宋体" panose="02010600030101010101" pitchFamily="2" charset="-122"/>
                <a:ea typeface="宋体" panose="02010600030101010101" pitchFamily="2" charset="-122"/>
              </a:rPr>
              <a:t>连通示例</a:t>
            </a:r>
            <a:endParaRPr lang="zh-CN" altLang="en-US" dirty="0">
              <a:latin typeface="宋体" panose="02010600030101010101" pitchFamily="2" charset="-122"/>
              <a:ea typeface="宋体" panose="02010600030101010101" pitchFamily="2" charset="-122"/>
            </a:endParaRPr>
          </a:p>
        </p:txBody>
      </p:sp>
      <p:sp>
        <p:nvSpPr>
          <p:cNvPr id="36" name="标题 5121"/>
          <p:cNvSpPr>
            <a:spLocks noGrp="1" noChangeArrowheads="1"/>
          </p:cNvSpPr>
          <p:nvPr>
            <p:ph type="title"/>
          </p:nvPr>
        </p:nvSpPr>
        <p:spPr>
          <a:xfrm>
            <a:off x="838835" y="17938"/>
            <a:ext cx="10515600" cy="1325563"/>
          </a:xfrm>
        </p:spPr>
        <p:txBody>
          <a:bodyPr/>
          <a:lstStyle/>
          <a:p>
            <a:pPr eaLnBrk="1" hangingPunct="1"/>
            <a:r>
              <a:rPr lang="en-US" b="1" u="sng">
                <a:solidFill>
                  <a:srgbClr val="1D41D5"/>
                </a:solidFill>
                <a:uFillTx/>
                <a:latin typeface="Times New Roman" panose="02020603050405020304" pitchFamily="18" charset="0"/>
              </a:rPr>
              <a:t>4.3.1 概述</a:t>
            </a:r>
            <a:endParaRPr lang="zh-CN" altLang="en-US" b="1" dirty="0"/>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134533" y="1343501"/>
            <a:ext cx="10516235" cy="4351655"/>
          </a:xfrm>
        </p:spPr>
        <p:txBody>
          <a:bodyPr/>
          <a:lstStyle/>
          <a:p>
            <a:pPr marL="0" indent="0">
              <a:buNone/>
              <a:defRPr/>
            </a:pPr>
            <a:r>
              <a:rPr lang="zh-CN" altLang="en-US" b="1" dirty="0"/>
              <a:t>4.</a:t>
            </a:r>
            <a:r>
              <a:rPr lang="en-US" altLang="zh-CN" b="1" dirty="0"/>
              <a:t>3.1.3 </a:t>
            </a:r>
            <a:r>
              <a:rPr lang="zh-CN" altLang="en-US" b="1" dirty="0"/>
              <a:t>覆盖的评价标准</a:t>
            </a:r>
            <a:endParaRPr lang="zh-CN" altLang="en-US" b="1" dirty="0"/>
          </a:p>
        </p:txBody>
      </p:sp>
      <p:graphicFrame>
        <p:nvGraphicFramePr>
          <p:cNvPr id="12" name="表格 12"/>
          <p:cNvGraphicFramePr>
            <a:graphicFrameLocks noGrp="1"/>
          </p:cNvGraphicFramePr>
          <p:nvPr>
            <p:custDataLst>
              <p:tags r:id="rId1"/>
            </p:custDataLst>
          </p:nvPr>
        </p:nvGraphicFramePr>
        <p:xfrm>
          <a:off x="3505200" y="1989455"/>
          <a:ext cx="5546090" cy="1917700"/>
        </p:xfrm>
        <a:graphic>
          <a:graphicData uri="http://schemas.openxmlformats.org/drawingml/2006/table">
            <a:tbl>
              <a:tblPr firstRow="1" bandRow="1">
                <a:tableStyleId>{5C22544A-7EE6-4342-B048-85BDC9FD1C3A}</a:tableStyleId>
              </a:tblPr>
              <a:tblGrid>
                <a:gridCol w="2773045"/>
                <a:gridCol w="2773045"/>
              </a:tblGrid>
              <a:tr h="479425">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覆盖能力</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网络的连通性</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79425">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能量有效性</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算法精确性</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79425">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算法复杂性</a:t>
                      </a:r>
                      <a:endPar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网络动态性</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79425">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r>
                        <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网络可扩展性</a:t>
                      </a:r>
                      <a:endParaRPr lang="en-US" altLang="zh-CN"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defRPr/>
                      </a:pPr>
                      <a:endParaRPr lang="zh-CN" altLang="en-US" sz="1800" b="1" i="0" u="none" kern="100" baseline="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marT="45749" marB="4574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7" name="文本占位符 5122"/>
          <p:cNvSpPr txBox="1">
            <a:spLocks noChangeArrowheads="1"/>
          </p:cNvSpPr>
          <p:nvPr/>
        </p:nvSpPr>
        <p:spPr bwMode="auto">
          <a:xfrm>
            <a:off x="1134533" y="3903134"/>
            <a:ext cx="10219902" cy="26844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eaLnBrk="1" hangingPunct="1">
              <a:buNone/>
              <a:defRPr/>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覆盖能力</a:t>
            </a:r>
            <a:r>
              <a:rPr lang="zh-CN" altLang="en-US" sz="2400" b="1" dirty="0">
                <a:latin typeface="宋体" panose="02010600030101010101" pitchFamily="2" charset="-122"/>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网络覆盖范围的检测区域或目标点的覆盖程度是评价无线传感网络覆盖算法的好坏首先要考虑的方面</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网络的连通性</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能量有效性</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网络中对整体和个体节点的动力的优化是十分重要的</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怎样让节点在完成工作任务的情况下，消耗最小的动力是重中之重</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可以从节点工作状态、动力需求、降低数据的传递次数来满足上述问题，这样整个网络就可以获得最大的效率。</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5121"/>
          <p:cNvSpPr txBox="1">
            <a:spLocks noChangeArrowheads="1"/>
          </p:cNvSpPr>
          <p:nvPr/>
        </p:nvSpPr>
        <p:spPr>
          <a:xfrm>
            <a:off x="838835" y="1793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4.3.1 概述</a:t>
            </a:r>
            <a:endParaRPr lang="zh-CN" altLang="en-US" b="1" dirty="0"/>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5122"/>
          <p:cNvSpPr txBox="1">
            <a:spLocks noChangeArrowheads="1"/>
          </p:cNvSpPr>
          <p:nvPr/>
        </p:nvSpPr>
        <p:spPr bwMode="auto">
          <a:xfrm>
            <a:off x="838835" y="1736725"/>
            <a:ext cx="10445115" cy="412686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algn="just" eaLnBrk="1" hangingPunct="1">
              <a:lnSpc>
                <a:spcPct val="130000"/>
              </a:lnSpc>
              <a:spcBef>
                <a:spcPts val="0"/>
              </a:spcBef>
              <a:buNone/>
              <a:defRPr/>
            </a:pPr>
            <a:r>
              <a:rPr lang="en-US" altLang="zh-CN" sz="2400" b="1" kern="100" dirty="0">
                <a:latin typeface="Times New Roman" panose="02020603050405020304" pitchFamily="18" charset="0"/>
                <a:ea typeface="宋体" panose="02010600030101010101" pitchFamily="2" charset="-122"/>
              </a:rPr>
              <a:t>4</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算法精确性：</a:t>
            </a:r>
            <a:r>
              <a:rPr lang="zh-CN" altLang="zh-CN" sz="2400" b="1" kern="100" dirty="0">
                <a:latin typeface="Times New Roman" panose="02020603050405020304" pitchFamily="18" charset="0"/>
                <a:ea typeface="宋体" panose="02010600030101010101" pitchFamily="2" charset="-122"/>
              </a:rPr>
              <a:t>如何降低差异性、提升算法的准确度是改进覆盖算法的关键问题。</a:t>
            </a:r>
            <a:r>
              <a:rPr lang="en-US" altLang="zh-CN" sz="2400" b="1" kern="100" dirty="0">
                <a:latin typeface="Times New Roman" panose="02020603050405020304" pitchFamily="18" charset="0"/>
                <a:ea typeface="宋体" panose="02010600030101010101" pitchFamily="2" charset="-122"/>
              </a:rPr>
              <a:t>  </a:t>
            </a:r>
            <a:endPar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30000"/>
              </a:lnSpc>
              <a:spcBef>
                <a:spcPts val="0"/>
              </a:spcBef>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算法复杂性</a:t>
            </a:r>
            <a:r>
              <a:rPr lang="zh-CN" altLang="zh-CN"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是衡量算法优劣的一个重要指标</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算法复杂度包括时间、空间和实现，是评价算法是否改进的关键指标。</a:t>
            </a:r>
            <a:endParaRPr lang="zh-CN" altLang="zh-CN" sz="2400" b="1" kern="100" dirty="0">
              <a:latin typeface="Times New Roman" panose="02020603050405020304" pitchFamily="18" charset="0"/>
              <a:ea typeface="宋体" panose="02010600030101010101" pitchFamily="2" charset="-122"/>
            </a:endParaRPr>
          </a:p>
          <a:p>
            <a:pPr marL="0" indent="0" algn="just">
              <a:lnSpc>
                <a:spcPct val="130000"/>
              </a:lnSpc>
              <a:spcBef>
                <a:spcPts val="0"/>
              </a:spcBef>
              <a:buNone/>
              <a:defRPr/>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网络动态性</a:t>
            </a:r>
            <a:r>
              <a:rPr lang="zh-CN" altLang="zh-CN"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特殊的使用条件中，必须操控的网格协议和算法的覆盖面，考虑网络节点的移动，网络作为一个整体或检测目标移动的非静态特征。</a:t>
            </a:r>
            <a:r>
              <a:rPr lang="zh-CN" altLang="zh-CN" sz="2400" b="1" dirty="0">
                <a:latin typeface="宋体" panose="02010600030101010101" pitchFamily="2" charset="-122"/>
                <a:ea typeface="宋体" panose="02010600030101010101" pitchFamily="2" charset="-122"/>
              </a:rPr>
              <a:t> </a:t>
            </a:r>
            <a:r>
              <a:rPr lang="en-US" altLang="zh-CN" sz="2400" b="1" kern="100" dirty="0">
                <a:latin typeface="Times New Roman" panose="02020603050405020304" pitchFamily="18" charset="0"/>
                <a:ea typeface="宋体" panose="02010600030101010101" pitchFamily="2" charset="-122"/>
              </a:rPr>
              <a:t> </a:t>
            </a:r>
            <a:endParaRPr lang="en-US" altLang="zh-CN" sz="2400" b="1" kern="100" dirty="0">
              <a:latin typeface="Times New Roman" panose="02020603050405020304" pitchFamily="18" charset="0"/>
              <a:ea typeface="宋体" panose="02010600030101010101" pitchFamily="2" charset="-122"/>
            </a:endParaRPr>
          </a:p>
          <a:p>
            <a:pPr marL="0" indent="0" algn="just">
              <a:lnSpc>
                <a:spcPct val="130000"/>
              </a:lnSpc>
              <a:spcBef>
                <a:spcPts val="0"/>
              </a:spcBef>
              <a:buNone/>
              <a:defRPr/>
            </a:pPr>
            <a:r>
              <a:rPr lang="en-US" altLang="zh-CN" sz="2400" b="1" kern="100" dirty="0">
                <a:latin typeface="Times New Roman" panose="02020603050405020304" pitchFamily="18" charset="0"/>
                <a:ea typeface="宋体" panose="02010600030101010101" pitchFamily="2" charset="-122"/>
              </a:rPr>
              <a:t>7</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网络可扩展性：</a:t>
            </a:r>
            <a:r>
              <a:rPr lang="zh-CN" altLang="zh-CN" sz="2400" b="1" kern="100" dirty="0">
                <a:latin typeface="Times New Roman" panose="02020603050405020304" pitchFamily="18" charset="0"/>
                <a:ea typeface="宋体" panose="02010600030101010101" pitchFamily="2" charset="-122"/>
              </a:rPr>
              <a:t>无线传感器网络在不同的环境和需求下，拥有不同的搭建方式，使用算法时其可适应不同需求的能力尤为重要。</a:t>
            </a:r>
            <a:endParaRPr lang="zh-CN" altLang="zh-CN" sz="2400" b="1" kern="100" dirty="0">
              <a:latin typeface="Times New Roman" panose="02020603050405020304" pitchFamily="18" charset="0"/>
              <a:ea typeface="宋体" panose="02010600030101010101" pitchFamily="2" charset="-122"/>
            </a:endParaRPr>
          </a:p>
          <a:p>
            <a:pPr marL="0" indent="0" algn="just" eaLnBrk="1" hangingPunct="1">
              <a:buNone/>
              <a:defRPr/>
            </a:pPr>
            <a:endParaRPr lang="zh-CN" altLang="en-US" sz="2400" b="1" dirty="0">
              <a:latin typeface="宋体" panose="02010600030101010101" pitchFamily="2" charset="-122"/>
              <a:ea typeface="宋体" panose="02010600030101010101" pitchFamily="2" charset="-122"/>
            </a:endParaRPr>
          </a:p>
        </p:txBody>
      </p:sp>
      <p:sp>
        <p:nvSpPr>
          <p:cNvPr id="5" name="标题 5121"/>
          <p:cNvSpPr txBox="1">
            <a:spLocks noChangeArrowheads="1"/>
          </p:cNvSpPr>
          <p:nvPr/>
        </p:nvSpPr>
        <p:spPr>
          <a:xfrm>
            <a:off x="838835" y="1793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a:lstStyle>
          <a:p>
            <a:r>
              <a:rPr lang="en-US" b="1" u="sng">
                <a:solidFill>
                  <a:srgbClr val="1D41D5"/>
                </a:solidFill>
                <a:uFillTx/>
                <a:latin typeface="Times New Roman" panose="02020603050405020304" pitchFamily="18" charset="0"/>
              </a:rPr>
              <a:t>4.3.1 概述</a:t>
            </a:r>
            <a:endParaRPr lang="zh-CN" altLang="en-US" b="1" dirty="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
        <p:nvSpPr>
          <p:cNvPr id="5122" name="文本占位符 5122"/>
          <p:cNvSpPr>
            <a:spLocks noGrp="1" noChangeArrowheads="1"/>
          </p:cNvSpPr>
          <p:nvPr>
            <p:ph sz="half" idx="1"/>
          </p:nvPr>
        </p:nvSpPr>
        <p:spPr>
          <a:xfrm>
            <a:off x="1117600" y="1343819"/>
            <a:ext cx="10516235" cy="5260181"/>
          </a:xfrm>
        </p:spPr>
        <p:txBody>
          <a:bodyPr>
            <a:normAutofit/>
          </a:bodyPr>
          <a:lstStyle/>
          <a:p>
            <a:pPr marL="0" indent="0">
              <a:buNone/>
              <a:defRPr/>
            </a:pPr>
            <a:r>
              <a:rPr lang="zh-CN" altLang="en-US" b="1" dirty="0"/>
              <a:t>4.</a:t>
            </a:r>
            <a:r>
              <a:rPr lang="en-US" altLang="zh-CN" b="1" dirty="0"/>
              <a:t>3.2 </a:t>
            </a:r>
            <a:r>
              <a:rPr lang="zh-CN" altLang="en-US" b="1" dirty="0"/>
              <a:t>传感器节点感知模型</a:t>
            </a:r>
            <a:endParaRPr lang="zh-CN" altLang="en-US" b="1" dirty="0"/>
          </a:p>
          <a:p>
            <a:pPr marL="0" indent="0">
              <a:lnSpc>
                <a:spcPct val="100000"/>
              </a:lnSpc>
              <a:buNone/>
              <a:defRPr/>
            </a:pPr>
            <a:r>
              <a:rPr lang="en-US" altLang="zh-CN" sz="1800" kern="100" dirty="0">
                <a:latin typeface="Times New Roman" panose="02020603050405020304" pitchFamily="18" charset="0"/>
                <a:cs typeface="Times New Roman" panose="02020603050405020304" pitchFamily="18" charset="0"/>
              </a:rPr>
              <a:t>   </a:t>
            </a:r>
            <a:r>
              <a:rPr lang="zh-CN" altLang="zh-CN" sz="2000" b="1" kern="100" dirty="0">
                <a:latin typeface="Times New Roman" panose="02020603050405020304" pitchFamily="18" charset="0"/>
                <a:cs typeface="Times New Roman" panose="02020603050405020304" pitchFamily="18" charset="0"/>
              </a:rPr>
              <a:t>与覆盖问题直接相关的是传感器节点的感知模型</a:t>
            </a:r>
            <a:r>
              <a:rPr lang="zh-CN" altLang="en-US" sz="2000" b="1" kern="100" dirty="0">
                <a:latin typeface="Times New Roman" panose="02020603050405020304" pitchFamily="18" charset="0"/>
                <a:cs typeface="Times New Roman" panose="02020603050405020304" pitchFamily="18" charset="0"/>
              </a:rPr>
              <a:t>。</a:t>
            </a:r>
            <a:r>
              <a:rPr lang="zh-CN" altLang="zh-CN" sz="2000" b="1" kern="100" dirty="0">
                <a:latin typeface="Times New Roman" panose="02020603050405020304" pitchFamily="18" charset="0"/>
                <a:cs typeface="Times New Roman" panose="02020603050405020304" pitchFamily="18" charset="0"/>
              </a:rPr>
              <a:t>节点感知模型描述单个传感器节点在其感知范围内的检测能力。节点的感知模型由携带的传感器的物理特性决定，不同传感器类型的节点具有不同的感知模型。目前，无线传感器网络主要有两种基本覆盖模型。</a:t>
            </a:r>
            <a:endParaRPr lang="en-US" altLang="zh-CN" sz="2000" b="1" kern="100" dirty="0">
              <a:latin typeface="Times New Roman" panose="02020603050405020304" pitchFamily="18" charset="0"/>
              <a:cs typeface="Times New Roman" panose="02020603050405020304" pitchFamily="18" charset="0"/>
            </a:endParaRPr>
          </a:p>
          <a:p>
            <a:pPr marL="0" indent="0">
              <a:lnSpc>
                <a:spcPct val="100000"/>
              </a:lnSpc>
              <a:buNone/>
              <a:defRPr/>
            </a:pPr>
            <a:r>
              <a:rPr lang="en-US" altLang="zh-CN" sz="2000" b="1" kern="100" dirty="0">
                <a:solidFill>
                  <a:srgbClr val="C00000"/>
                </a:solidFill>
                <a:latin typeface="Times New Roman" panose="02020603050405020304" pitchFamily="18" charset="0"/>
                <a:cs typeface="Times New Roman" panose="02020603050405020304" pitchFamily="18" charset="0"/>
              </a:rPr>
              <a:t>1</a:t>
            </a:r>
            <a:r>
              <a:rPr lang="zh-CN" altLang="zh-CN" sz="2000" b="1" kern="100" dirty="0">
                <a:solidFill>
                  <a:srgbClr val="C00000"/>
                </a:solidFill>
                <a:latin typeface="Times New Roman" panose="02020603050405020304" pitchFamily="18" charset="0"/>
                <a:cs typeface="Times New Roman" panose="02020603050405020304" pitchFamily="18" charset="0"/>
              </a:rPr>
              <a:t>）布尔感知模型</a:t>
            </a:r>
            <a:endParaRPr lang="en-US" altLang="zh-CN" sz="2000" b="1" kern="100" dirty="0">
              <a:solidFill>
                <a:srgbClr val="C00000"/>
              </a:solidFill>
              <a:latin typeface="Times New Roman" panose="02020603050405020304" pitchFamily="18" charset="0"/>
              <a:cs typeface="Times New Roman" panose="02020603050405020304" pitchFamily="18" charset="0"/>
            </a:endParaRPr>
          </a:p>
          <a:p>
            <a:pPr marL="0" indent="0">
              <a:lnSpc>
                <a:spcPct val="100000"/>
              </a:lnSpc>
              <a:buNone/>
              <a:defRPr/>
            </a:pPr>
            <a:r>
              <a:rPr lang="en-US" altLang="zh-CN" sz="2000" b="1" kern="100" dirty="0">
                <a:solidFill>
                  <a:schemeClr val="bg2"/>
                </a:solidFill>
                <a:latin typeface="Times New Roman" panose="02020603050405020304" pitchFamily="18" charset="0"/>
                <a:cs typeface="Times New Roman" panose="02020603050405020304" pitchFamily="18" charset="0"/>
              </a:rPr>
              <a:t>   </a:t>
            </a:r>
            <a:r>
              <a:rPr lang="zh-CN" altLang="zh-CN" sz="2000" b="1" kern="100" dirty="0">
                <a:solidFill>
                  <a:srgbClr val="C00000"/>
                </a:solidFill>
                <a:latin typeface="Times New Roman" panose="02020603050405020304" pitchFamily="18" charset="0"/>
                <a:cs typeface="Times New Roman" panose="02020603050405020304" pitchFamily="18" charset="0"/>
              </a:rPr>
              <a:t>布尔感知模型的节点感知范围是一个以节点为圆心，以感知距离为半径</a:t>
            </a:r>
            <a:r>
              <a:rPr lang="en-US" altLang="zh-CN" sz="2000" b="1" kern="100" dirty="0">
                <a:solidFill>
                  <a:srgbClr val="C00000"/>
                </a:solidFill>
                <a:latin typeface="Times New Roman" panose="02020603050405020304" pitchFamily="18" charset="0"/>
                <a:cs typeface="Times New Roman" panose="02020603050405020304" pitchFamily="18" charset="0"/>
              </a:rPr>
              <a:t>(</a:t>
            </a:r>
            <a:r>
              <a:rPr lang="zh-CN" altLang="zh-CN" sz="2000" b="1" kern="100" dirty="0">
                <a:solidFill>
                  <a:srgbClr val="C00000"/>
                </a:solidFill>
                <a:latin typeface="Times New Roman" panose="02020603050405020304" pitchFamily="18" charset="0"/>
                <a:cs typeface="Times New Roman" panose="02020603050405020304" pitchFamily="18" charset="0"/>
              </a:rPr>
              <a:t>由节点硬件特性决定</a:t>
            </a:r>
            <a:r>
              <a:rPr lang="en-US" altLang="zh-CN" sz="2000" b="1" kern="100" dirty="0">
                <a:solidFill>
                  <a:srgbClr val="C00000"/>
                </a:solidFill>
                <a:latin typeface="Times New Roman" panose="02020603050405020304" pitchFamily="18" charset="0"/>
                <a:cs typeface="Times New Roman" panose="02020603050405020304" pitchFamily="18" charset="0"/>
              </a:rPr>
              <a:t>)</a:t>
            </a:r>
            <a:r>
              <a:rPr lang="zh-CN" altLang="zh-CN" sz="2000" b="1" kern="100" dirty="0">
                <a:solidFill>
                  <a:srgbClr val="C00000"/>
                </a:solidFill>
                <a:latin typeface="Times New Roman" panose="02020603050405020304" pitchFamily="18" charset="0"/>
                <a:cs typeface="Times New Roman" panose="02020603050405020304" pitchFamily="18" charset="0"/>
              </a:rPr>
              <a:t>的圆形区域，只有落在该圆形区域内的点才能被该节点覆盖</a:t>
            </a:r>
            <a:r>
              <a:rPr lang="zh-CN" altLang="zh-CN" sz="2000" b="1" kern="100" dirty="0">
                <a:latin typeface="Times New Roman" panose="02020603050405020304" pitchFamily="18" charset="0"/>
                <a:cs typeface="Times New Roman" panose="02020603050405020304" pitchFamily="18" charset="0"/>
              </a:rPr>
              <a:t>，其数学</a:t>
            </a:r>
            <a:r>
              <a:rPr lang="zh-CN" altLang="zh-CN" sz="1800" b="1" kern="100" dirty="0">
                <a:latin typeface="Times New Roman" panose="02020603050405020304" pitchFamily="18" charset="0"/>
                <a:cs typeface="Times New Roman" panose="02020603050405020304" pitchFamily="18" charset="0"/>
              </a:rPr>
              <a:t>表达为</a:t>
            </a:r>
            <a:r>
              <a:rPr lang="en-US" altLang="zh-CN" sz="1800" b="1" kern="100" dirty="0">
                <a:latin typeface="Times New Roman" panose="02020603050405020304" pitchFamily="18" charset="0"/>
                <a:cs typeface="Times New Roman" panose="02020603050405020304" pitchFamily="18" charset="0"/>
              </a:rPr>
              <a:t>:</a:t>
            </a:r>
            <a:endParaRPr lang="zh-CN" altLang="zh-CN" sz="1800" b="1" kern="100" dirty="0">
              <a:latin typeface="Times New Roman" panose="02020603050405020304" pitchFamily="18" charset="0"/>
              <a:cs typeface="Times New Roman" panose="02020603050405020304" pitchFamily="18" charset="0"/>
            </a:endParaRPr>
          </a:p>
          <a:p>
            <a:pPr marL="0" indent="0" algn="just">
              <a:lnSpc>
                <a:spcPct val="100000"/>
              </a:lnSpc>
              <a:buNone/>
              <a:defRPr/>
            </a:pPr>
            <a:endParaRPr lang="zh-CN" altLang="zh-CN" sz="1800" kern="100" dirty="0">
              <a:latin typeface="Times New Roman" panose="02020603050405020304" pitchFamily="18" charset="0"/>
            </a:endParaRPr>
          </a:p>
          <a:p>
            <a:pPr marL="0" indent="0" algn="just">
              <a:lnSpc>
                <a:spcPct val="100000"/>
              </a:lnSpc>
              <a:buNone/>
              <a:defRPr/>
            </a:pPr>
            <a:endParaRPr lang="zh-CN" altLang="zh-CN" sz="1800" kern="100" dirty="0">
              <a:latin typeface="Times New Roman" panose="02020603050405020304" pitchFamily="18" charset="0"/>
            </a:endParaRPr>
          </a:p>
          <a:p>
            <a:pPr marL="0" indent="0" algn="just">
              <a:lnSpc>
                <a:spcPct val="100000"/>
              </a:lnSpc>
              <a:buNone/>
              <a:defRPr/>
            </a:pPr>
            <a:endParaRPr lang="en-US" altLang="zh-CN" sz="1800" dirty="0"/>
          </a:p>
          <a:p>
            <a:pPr marL="0" indent="0" algn="just">
              <a:lnSpc>
                <a:spcPct val="100000"/>
              </a:lnSpc>
              <a:buNone/>
              <a:defRPr/>
            </a:pPr>
            <a:r>
              <a:rPr lang="en-US" altLang="zh-CN" sz="2000" b="1" kern="100" dirty="0">
                <a:latin typeface="Times New Roman" panose="02020603050405020304" pitchFamily="18" charset="0"/>
                <a:cs typeface="Times New Roman" panose="02020603050405020304" pitchFamily="18" charset="0"/>
              </a:rPr>
              <a:t>   </a:t>
            </a:r>
            <a:r>
              <a:rPr lang="zh-CN" altLang="zh-CN" sz="2000" b="1" kern="100" dirty="0">
                <a:latin typeface="Times New Roman" panose="02020603050405020304" pitchFamily="18" charset="0"/>
                <a:cs typeface="Times New Roman" panose="02020603050405020304" pitchFamily="18" charset="0"/>
              </a:rPr>
              <a:t>式中，</a:t>
            </a:r>
            <a:r>
              <a:rPr lang="en-US" altLang="zh-CN" sz="2000" b="1" kern="100" dirty="0" err="1">
                <a:latin typeface="Times New Roman" panose="02020603050405020304" pitchFamily="18" charset="0"/>
                <a:cs typeface="Times New Roman" panose="02020603050405020304" pitchFamily="18" charset="0"/>
              </a:rPr>
              <a:t>pij</a:t>
            </a:r>
            <a:r>
              <a:rPr lang="zh-CN" altLang="zh-CN" sz="2000" b="1" kern="100" dirty="0">
                <a:latin typeface="Times New Roman" panose="02020603050405020304" pitchFamily="18" charset="0"/>
                <a:cs typeface="Times New Roman" panose="02020603050405020304" pitchFamily="18" charset="0"/>
              </a:rPr>
              <a:t>为节点</a:t>
            </a:r>
            <a:r>
              <a:rPr lang="en-US" altLang="zh-CN" sz="2000" b="1" kern="100" dirty="0" err="1">
                <a:latin typeface="Times New Roman" panose="02020603050405020304" pitchFamily="18" charset="0"/>
                <a:cs typeface="Times New Roman" panose="02020603050405020304" pitchFamily="18" charset="0"/>
              </a:rPr>
              <a:t>i</a:t>
            </a:r>
            <a:r>
              <a:rPr lang="zh-CN" altLang="zh-CN" sz="2000" b="1" kern="100" dirty="0">
                <a:latin typeface="Times New Roman" panose="02020603050405020304" pitchFamily="18" charset="0"/>
                <a:cs typeface="Times New Roman" panose="02020603050405020304" pitchFamily="18" charset="0"/>
              </a:rPr>
              <a:t>对监测区域内目标</a:t>
            </a:r>
            <a:r>
              <a:rPr lang="en-US" altLang="zh-CN" sz="2000" b="1" kern="100" dirty="0">
                <a:latin typeface="Times New Roman" panose="02020603050405020304" pitchFamily="18" charset="0"/>
                <a:cs typeface="Times New Roman" panose="02020603050405020304" pitchFamily="18" charset="0"/>
              </a:rPr>
              <a:t>j</a:t>
            </a:r>
            <a:r>
              <a:rPr lang="zh-CN" altLang="zh-CN" sz="2000" b="1" kern="100" dirty="0">
                <a:latin typeface="Times New Roman" panose="02020603050405020304" pitchFamily="18" charset="0"/>
                <a:cs typeface="Times New Roman" panose="02020603050405020304" pitchFamily="18" charset="0"/>
              </a:rPr>
              <a:t>的感知概率，</a:t>
            </a:r>
            <a:r>
              <a:rPr lang="en-US" altLang="zh-CN" sz="2000" b="1" kern="100" dirty="0">
                <a:latin typeface="Times New Roman" panose="02020603050405020304" pitchFamily="18" charset="0"/>
                <a:cs typeface="Times New Roman" panose="02020603050405020304" pitchFamily="18" charset="0"/>
              </a:rPr>
              <a:t>d(</a:t>
            </a:r>
            <a:r>
              <a:rPr lang="en-US" altLang="zh-CN" sz="2000" b="1" kern="100" dirty="0" err="1">
                <a:latin typeface="Times New Roman" panose="02020603050405020304" pitchFamily="18" charset="0"/>
                <a:cs typeface="Times New Roman" panose="02020603050405020304" pitchFamily="18" charset="0"/>
              </a:rPr>
              <a:t>i,j</a:t>
            </a:r>
            <a:r>
              <a:rPr lang="en-US" altLang="zh-CN" sz="2000" b="1" kern="100" dirty="0">
                <a:latin typeface="Times New Roman" panose="02020603050405020304" pitchFamily="18" charset="0"/>
                <a:cs typeface="Times New Roman" panose="02020603050405020304" pitchFamily="18" charset="0"/>
              </a:rPr>
              <a:t>)</a:t>
            </a:r>
            <a:r>
              <a:rPr lang="zh-CN" altLang="zh-CN" sz="2000" b="1" kern="100" dirty="0">
                <a:latin typeface="Times New Roman" panose="02020603050405020304" pitchFamily="18" charset="0"/>
                <a:cs typeface="Times New Roman" panose="02020603050405020304" pitchFamily="18" charset="0"/>
              </a:rPr>
              <a:t>为节点</a:t>
            </a:r>
            <a:r>
              <a:rPr lang="en-US" altLang="zh-CN" sz="2000" b="1" kern="100" dirty="0" err="1">
                <a:latin typeface="Times New Roman" panose="02020603050405020304" pitchFamily="18" charset="0"/>
                <a:cs typeface="Times New Roman" panose="02020603050405020304" pitchFamily="18" charset="0"/>
              </a:rPr>
              <a:t>i</a:t>
            </a:r>
            <a:r>
              <a:rPr lang="zh-CN" altLang="zh-CN" sz="2000" b="1" kern="100" dirty="0">
                <a:latin typeface="Times New Roman" panose="02020603050405020304" pitchFamily="18" charset="0"/>
                <a:cs typeface="Times New Roman" panose="02020603050405020304" pitchFamily="18" charset="0"/>
              </a:rPr>
              <a:t>与目标</a:t>
            </a:r>
            <a:r>
              <a:rPr lang="en-US" altLang="zh-CN" sz="2000" b="1" kern="100" dirty="0">
                <a:latin typeface="Times New Roman" panose="02020603050405020304" pitchFamily="18" charset="0"/>
                <a:cs typeface="Times New Roman" panose="02020603050405020304" pitchFamily="18" charset="0"/>
              </a:rPr>
              <a:t>j</a:t>
            </a:r>
            <a:r>
              <a:rPr lang="zh-CN" altLang="zh-CN" sz="2000" b="1" kern="100" dirty="0">
                <a:latin typeface="Times New Roman" panose="02020603050405020304" pitchFamily="18" charset="0"/>
                <a:cs typeface="Times New Roman" panose="02020603050405020304" pitchFamily="18" charset="0"/>
              </a:rPr>
              <a:t>之间的欧式距离，</a:t>
            </a:r>
            <a:r>
              <a:rPr lang="en-US" altLang="zh-CN" sz="2000" b="1" kern="100" dirty="0">
                <a:latin typeface="Times New Roman" panose="02020603050405020304" pitchFamily="18" charset="0"/>
                <a:cs typeface="Times New Roman" panose="02020603050405020304" pitchFamily="18" charset="0"/>
              </a:rPr>
              <a:t>r</a:t>
            </a:r>
            <a:r>
              <a:rPr lang="zh-CN" altLang="zh-CN" sz="2000" b="1" kern="100" dirty="0">
                <a:latin typeface="Times New Roman" panose="02020603050405020304" pitchFamily="18" charset="0"/>
                <a:cs typeface="Times New Roman" panose="02020603050405020304" pitchFamily="18" charset="0"/>
              </a:rPr>
              <a:t>称为通信半径。这个模型也称为</a:t>
            </a:r>
            <a:r>
              <a:rPr lang="en-US" altLang="zh-CN" sz="2000" b="1" kern="100" dirty="0">
                <a:latin typeface="Times New Roman" panose="02020603050405020304" pitchFamily="18" charset="0"/>
                <a:cs typeface="Times New Roman" panose="02020603050405020304" pitchFamily="18" charset="0"/>
              </a:rPr>
              <a:t>0-1</a:t>
            </a:r>
            <a:r>
              <a:rPr lang="zh-CN" altLang="zh-CN" sz="2000" b="1" kern="100" dirty="0">
                <a:latin typeface="Times New Roman" panose="02020603050405020304" pitchFamily="18" charset="0"/>
                <a:cs typeface="Times New Roman" panose="02020603050405020304" pitchFamily="18" charset="0"/>
              </a:rPr>
              <a:t>感知模型，即当监控对象处在节点的通信区域内时，它被节点监控到的概率恒为</a:t>
            </a:r>
            <a:r>
              <a:rPr lang="en-US" altLang="zh-CN" sz="2000" b="1" kern="100" dirty="0">
                <a:latin typeface="Times New Roman" panose="02020603050405020304" pitchFamily="18" charset="0"/>
                <a:cs typeface="Times New Roman" panose="02020603050405020304" pitchFamily="18" charset="0"/>
              </a:rPr>
              <a:t>1</a:t>
            </a:r>
            <a:r>
              <a:rPr lang="zh-CN" altLang="zh-CN" sz="2000" b="1" kern="100" dirty="0">
                <a:latin typeface="Times New Roman" panose="02020603050405020304" pitchFamily="18" charset="0"/>
                <a:cs typeface="Times New Roman" panose="02020603050405020304" pitchFamily="18" charset="0"/>
              </a:rPr>
              <a:t>；而当监控对象处在节点的通信区域之外时，它被监控到的概率恒为</a:t>
            </a:r>
            <a:r>
              <a:rPr lang="en-US" altLang="zh-CN" sz="2000" b="1" kern="100" dirty="0">
                <a:latin typeface="Times New Roman" panose="02020603050405020304" pitchFamily="18" charset="0"/>
                <a:cs typeface="Times New Roman" panose="02020603050405020304" pitchFamily="18" charset="0"/>
              </a:rPr>
              <a:t>0</a:t>
            </a:r>
            <a:r>
              <a:rPr lang="zh-CN" altLang="zh-CN" sz="2000" b="1" kern="100" dirty="0">
                <a:latin typeface="Times New Roman" panose="02020603050405020304" pitchFamily="18" charset="0"/>
                <a:cs typeface="Times New Roman" panose="02020603050405020304" pitchFamily="18" charset="0"/>
              </a:rPr>
              <a:t>。</a:t>
            </a:r>
            <a:endParaRPr lang="zh-CN" altLang="zh-CN" sz="2000" b="1" kern="100" dirty="0">
              <a:latin typeface="Times New Roman" panose="02020603050405020304" pitchFamily="18" charset="0"/>
              <a:cs typeface="Times New Roman" panose="02020603050405020304" pitchFamily="18" charset="0"/>
            </a:endParaRPr>
          </a:p>
          <a:p>
            <a:pPr marL="0" indent="0" algn="just">
              <a:buNone/>
              <a:defRPr/>
            </a:pPr>
            <a:endParaRPr lang="zh-CN" altLang="en-US" sz="1800" dirty="0"/>
          </a:p>
        </p:txBody>
      </p:sp>
      <p:graphicFrame>
        <p:nvGraphicFramePr>
          <p:cNvPr id="54276" name="对象 2"/>
          <p:cNvGraphicFramePr>
            <a:graphicFrameLocks noChangeAspect="1"/>
          </p:cNvGraphicFramePr>
          <p:nvPr/>
        </p:nvGraphicFramePr>
        <p:xfrm>
          <a:off x="3876040" y="4122420"/>
          <a:ext cx="2945130" cy="1039495"/>
        </p:xfrm>
        <a:graphic>
          <a:graphicData uri="http://schemas.openxmlformats.org/presentationml/2006/ole">
            <mc:AlternateContent xmlns:mc="http://schemas.openxmlformats.org/markup-compatibility/2006">
              <mc:Choice xmlns:v="urn:schemas-microsoft-com:vml" Requires="v">
                <p:oleObj spid="_x0000_s22595" name="Equation" r:id="rId1" imgW="1296670" imgH="458470" progId="Equation.DSMT4">
                  <p:embed/>
                </p:oleObj>
              </mc:Choice>
              <mc:Fallback>
                <p:oleObj name="Equation" r:id="rId1" imgW="1296670" imgH="458470" progId="Equation.DSMT4">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6040" y="4122420"/>
                        <a:ext cx="2945130" cy="1039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p:cNvSpPr txBox="1"/>
          <p:nvPr/>
        </p:nvSpPr>
        <p:spPr>
          <a:xfrm>
            <a:off x="8458200" y="4342130"/>
            <a:ext cx="1625600"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(4-3-1)</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126066" y="1343819"/>
            <a:ext cx="10516235" cy="5090848"/>
          </a:xfrm>
        </p:spPr>
        <p:txBody>
          <a:bodyPr/>
          <a:lstStyle/>
          <a:p>
            <a:pPr marL="0" indent="0" algn="just">
              <a:lnSpc>
                <a:spcPct val="100000"/>
              </a:lnSpc>
              <a:buNone/>
              <a:defRPr/>
            </a:pPr>
            <a:r>
              <a:rPr lang="en-US" altLang="zh-CN" sz="2000" b="1" kern="100" dirty="0">
                <a:solidFill>
                  <a:srgbClr val="C00000"/>
                </a:solidFill>
                <a:latin typeface="Times New Roman" panose="02020603050405020304" pitchFamily="18" charset="0"/>
                <a:cs typeface="Times New Roman" panose="02020603050405020304" pitchFamily="18" charset="0"/>
              </a:rPr>
              <a:t>2</a:t>
            </a:r>
            <a:r>
              <a:rPr lang="zh-CN" altLang="zh-CN" sz="2000" b="1" kern="100" dirty="0">
                <a:solidFill>
                  <a:srgbClr val="C00000"/>
                </a:solidFill>
                <a:latin typeface="Times New Roman" panose="02020603050405020304" pitchFamily="18" charset="0"/>
                <a:cs typeface="Times New Roman" panose="02020603050405020304" pitchFamily="18" charset="0"/>
              </a:rPr>
              <a:t>）概率感知模型</a:t>
            </a:r>
            <a:endParaRPr lang="en-US" altLang="zh-CN" sz="2000" b="1" kern="100" dirty="0">
              <a:solidFill>
                <a:srgbClr val="C00000"/>
              </a:solidFill>
              <a:latin typeface="Times New Roman" panose="02020603050405020304" pitchFamily="18" charset="0"/>
              <a:cs typeface="Times New Roman" panose="02020603050405020304" pitchFamily="18" charset="0"/>
            </a:endParaRPr>
          </a:p>
          <a:p>
            <a:pPr marL="0" indent="0">
              <a:lnSpc>
                <a:spcPct val="100000"/>
              </a:lnSpc>
              <a:buNone/>
              <a:defRPr/>
            </a:pPr>
            <a:r>
              <a:rPr lang="en-US" altLang="zh-CN" sz="2000" b="1" kern="100" dirty="0">
                <a:solidFill>
                  <a:schemeClr val="bg2"/>
                </a:solidFill>
                <a:latin typeface="Times New Roman" panose="02020603050405020304" pitchFamily="18" charset="0"/>
                <a:cs typeface="Times New Roman" panose="02020603050405020304" pitchFamily="18" charset="0"/>
              </a:rPr>
              <a:t>   </a:t>
            </a:r>
            <a:r>
              <a:rPr lang="zh-CN" altLang="zh-CN" sz="2000" b="1" kern="100" dirty="0">
                <a:solidFill>
                  <a:srgbClr val="C00000"/>
                </a:solidFill>
                <a:latin typeface="Times New Roman" panose="02020603050405020304" pitchFamily="18" charset="0"/>
                <a:cs typeface="Times New Roman" panose="02020603050405020304" pitchFamily="18" charset="0"/>
              </a:rPr>
              <a:t>节点的圆形感知范围内，目标被感知到的概率并不是一个常量，而是由目标到节点间距离节点物理特性等诸多因素决定的变量</a:t>
            </a:r>
            <a:r>
              <a:rPr lang="zh-CN" altLang="zh-CN" sz="2000" b="1" kern="100" dirty="0">
                <a:solidFill>
                  <a:schemeClr val="bg2"/>
                </a:solidFill>
                <a:latin typeface="Times New Roman" panose="02020603050405020304" pitchFamily="18" charset="0"/>
                <a:cs typeface="Times New Roman" panose="02020603050405020304" pitchFamily="18" charset="0"/>
              </a:rPr>
              <a:t>。</a:t>
            </a:r>
            <a:endParaRPr lang="en-US" altLang="zh-CN" sz="2000" b="1" kern="100" dirty="0">
              <a:solidFill>
                <a:schemeClr val="bg2"/>
              </a:solidFill>
              <a:latin typeface="Times New Roman" panose="02020603050405020304" pitchFamily="18" charset="0"/>
              <a:cs typeface="Times New Roman" panose="02020603050405020304" pitchFamily="18" charset="0"/>
            </a:endParaRPr>
          </a:p>
          <a:p>
            <a:pPr marL="0" indent="0">
              <a:lnSpc>
                <a:spcPct val="100000"/>
              </a:lnSpc>
              <a:buNone/>
              <a:defRPr/>
            </a:pPr>
            <a:r>
              <a:rPr lang="en-US" altLang="zh-CN" sz="2000" b="1" kern="100" dirty="0">
                <a:solidFill>
                  <a:schemeClr val="bg2"/>
                </a:solidFill>
                <a:latin typeface="Times New Roman" panose="02020603050405020304" pitchFamily="18" charset="0"/>
                <a:cs typeface="Times New Roman" panose="02020603050405020304" pitchFamily="18" charset="0"/>
              </a:rPr>
              <a:t>   </a:t>
            </a:r>
            <a:r>
              <a:rPr lang="zh-CN" altLang="zh-CN" sz="2000" b="1" kern="100" dirty="0">
                <a:latin typeface="Times New Roman" panose="02020603050405020304" pitchFamily="18" charset="0"/>
                <a:cs typeface="Times New Roman" panose="02020603050405020304" pitchFamily="18" charset="0"/>
              </a:rPr>
              <a:t>在节点</a:t>
            </a:r>
            <a:r>
              <a:rPr lang="en-US" altLang="zh-CN" sz="2000" b="1" kern="100" dirty="0" err="1">
                <a:latin typeface="Times New Roman" panose="02020603050405020304" pitchFamily="18" charset="0"/>
                <a:cs typeface="Times New Roman" panose="02020603050405020304" pitchFamily="18" charset="0"/>
              </a:rPr>
              <a:t>i</a:t>
            </a:r>
            <a:r>
              <a:rPr lang="zh-CN" altLang="zh-CN" sz="2000" b="1" kern="100" dirty="0">
                <a:latin typeface="Times New Roman" panose="02020603050405020304" pitchFamily="18" charset="0"/>
                <a:cs typeface="Times New Roman" panose="02020603050405020304" pitchFamily="18" charset="0"/>
              </a:rPr>
              <a:t>不存在邻居节点的前提下，节点</a:t>
            </a:r>
            <a:r>
              <a:rPr lang="en-US" altLang="zh-CN" sz="2000" b="1" kern="100" dirty="0" err="1">
                <a:latin typeface="Times New Roman" panose="02020603050405020304" pitchFamily="18" charset="0"/>
                <a:cs typeface="Times New Roman" panose="02020603050405020304" pitchFamily="18" charset="0"/>
              </a:rPr>
              <a:t>i</a:t>
            </a:r>
            <a:r>
              <a:rPr lang="zh-CN" altLang="zh-CN" sz="2000" b="1" kern="100" dirty="0">
                <a:latin typeface="Times New Roman" panose="02020603050405020304" pitchFamily="18" charset="0"/>
                <a:cs typeface="Times New Roman" panose="02020603050405020304" pitchFamily="18" charset="0"/>
              </a:rPr>
              <a:t>对监测区域内目标</a:t>
            </a:r>
            <a:r>
              <a:rPr lang="en-US" altLang="zh-CN" sz="2000" b="1" kern="100" dirty="0">
                <a:latin typeface="Times New Roman" panose="02020603050405020304" pitchFamily="18" charset="0"/>
                <a:cs typeface="Times New Roman" panose="02020603050405020304" pitchFamily="18" charset="0"/>
              </a:rPr>
              <a:t>j</a:t>
            </a:r>
            <a:r>
              <a:rPr lang="zh-CN" altLang="zh-CN" sz="2000" b="1" kern="100" dirty="0">
                <a:latin typeface="Times New Roman" panose="02020603050405020304" pitchFamily="18" charset="0"/>
                <a:cs typeface="Times New Roman" panose="02020603050405020304" pitchFamily="18" charset="0"/>
              </a:rPr>
              <a:t>的感知概率有以下三种定义形式：</a:t>
            </a:r>
            <a:endParaRPr lang="zh-CN" altLang="zh-CN" sz="2000" b="1" kern="100" dirty="0">
              <a:latin typeface="Times New Roman" panose="02020603050405020304" pitchFamily="18" charset="0"/>
              <a:cs typeface="Times New Roman" panose="02020603050405020304" pitchFamily="18" charset="0"/>
            </a:endParaRPr>
          </a:p>
          <a:p>
            <a:pPr marL="0" indent="0" algn="just">
              <a:buNone/>
              <a:defRPr/>
            </a:pPr>
            <a:endParaRPr lang="zh-CN" altLang="zh-CN" sz="1800" kern="100" dirty="0">
              <a:latin typeface="Times New Roman" panose="02020603050405020304" pitchFamily="18" charset="0"/>
            </a:endParaRPr>
          </a:p>
          <a:p>
            <a:pPr marL="0" indent="0" algn="just">
              <a:buNone/>
              <a:defRPr/>
            </a:pPr>
            <a:endParaRPr lang="zh-CN" altLang="en-US" sz="1800" dirty="0"/>
          </a:p>
        </p:txBody>
      </p:sp>
      <p:graphicFrame>
        <p:nvGraphicFramePr>
          <p:cNvPr id="55300" name="对象 14"/>
          <p:cNvGraphicFramePr>
            <a:graphicFrameLocks noChangeAspect="1"/>
          </p:cNvGraphicFramePr>
          <p:nvPr/>
        </p:nvGraphicFramePr>
        <p:xfrm>
          <a:off x="2961005" y="3023870"/>
          <a:ext cx="2366010" cy="810895"/>
        </p:xfrm>
        <a:graphic>
          <a:graphicData uri="http://schemas.openxmlformats.org/presentationml/2006/ole">
            <mc:AlternateContent xmlns:mc="http://schemas.openxmlformats.org/markup-compatibility/2006">
              <mc:Choice xmlns:v="urn:schemas-microsoft-com:vml" Requires="v">
                <p:oleObj spid="_x0000_s23749" name="Equation" r:id="rId1" imgW="772795" imgH="259080" progId="Equation.DSMT4">
                  <p:embed/>
                </p:oleObj>
              </mc:Choice>
              <mc:Fallback>
                <p:oleObj name="Equation" r:id="rId1" imgW="772795" imgH="259080" progId="Equation.DSMT4">
                  <p:embed/>
                  <p:pic>
                    <p:nvPicPr>
                      <p:cNvPr id="0" name="对象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1005" y="3023870"/>
                        <a:ext cx="2366010" cy="810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对象 15"/>
          <p:cNvGraphicFramePr>
            <a:graphicFrameLocks noChangeAspect="1"/>
          </p:cNvGraphicFramePr>
          <p:nvPr/>
        </p:nvGraphicFramePr>
        <p:xfrm>
          <a:off x="2838450" y="3978910"/>
          <a:ext cx="4634865" cy="1430020"/>
        </p:xfrm>
        <a:graphic>
          <a:graphicData uri="http://schemas.openxmlformats.org/presentationml/2006/ole">
            <mc:AlternateContent xmlns:mc="http://schemas.openxmlformats.org/markup-compatibility/2006">
              <mc:Choice xmlns:v="urn:schemas-microsoft-com:vml" Requires="v">
                <p:oleObj spid="_x0000_s23750" name="Equation" r:id="rId3" imgW="2316480" imgH="716280" progId="Equation.DSMT4">
                  <p:embed/>
                </p:oleObj>
              </mc:Choice>
              <mc:Fallback>
                <p:oleObj name="Equation" r:id="rId3" imgW="2316480" imgH="716280" progId="Equation.DSMT4">
                  <p:embed/>
                  <p:pic>
                    <p:nvPicPr>
                      <p:cNvPr id="0" name="对象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8450" y="3978910"/>
                        <a:ext cx="4634865" cy="1430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2" name="对象 16"/>
          <p:cNvGraphicFramePr>
            <a:graphicFrameLocks noChangeAspect="1"/>
          </p:cNvGraphicFramePr>
          <p:nvPr/>
        </p:nvGraphicFramePr>
        <p:xfrm>
          <a:off x="2838450" y="5408930"/>
          <a:ext cx="4291330" cy="1312545"/>
        </p:xfrm>
        <a:graphic>
          <a:graphicData uri="http://schemas.openxmlformats.org/presentationml/2006/ole">
            <mc:AlternateContent xmlns:mc="http://schemas.openxmlformats.org/markup-compatibility/2006">
              <mc:Choice xmlns:v="urn:schemas-microsoft-com:vml" Requires="v">
                <p:oleObj spid="_x0000_s23751" name="Equation" r:id="rId5" imgW="2087880" imgH="640080" progId="Equation.DSMT4">
                  <p:embed/>
                </p:oleObj>
              </mc:Choice>
              <mc:Fallback>
                <p:oleObj name="Equation" r:id="rId5" imgW="2087880" imgH="640080" progId="Equation.DSMT4">
                  <p:embed/>
                  <p:pic>
                    <p:nvPicPr>
                      <p:cNvPr id="0" name="对象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8450" y="5408930"/>
                        <a:ext cx="4291330" cy="131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文本框 21"/>
          <p:cNvSpPr txBox="1"/>
          <p:nvPr/>
        </p:nvSpPr>
        <p:spPr>
          <a:xfrm>
            <a:off x="8530590" y="3244850"/>
            <a:ext cx="1359535"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(4-3-2)</a:t>
            </a:r>
            <a:endParaRPr lang="zh-CN" altLang="en-US" dirty="0">
              <a:latin typeface="宋体" panose="02010600030101010101" pitchFamily="2" charset="-122"/>
              <a:ea typeface="宋体" panose="02010600030101010101" pitchFamily="2" charset="-122"/>
            </a:endParaRPr>
          </a:p>
        </p:txBody>
      </p:sp>
      <p:sp>
        <p:nvSpPr>
          <p:cNvPr id="23" name="文本框 22"/>
          <p:cNvSpPr txBox="1"/>
          <p:nvPr/>
        </p:nvSpPr>
        <p:spPr>
          <a:xfrm>
            <a:off x="8531225" y="4344670"/>
            <a:ext cx="1358900"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(4-3-3)</a:t>
            </a:r>
            <a:endParaRPr lang="zh-CN" altLang="en-US" dirty="0">
              <a:latin typeface="宋体" panose="02010600030101010101" pitchFamily="2" charset="-122"/>
              <a:ea typeface="宋体" panose="02010600030101010101" pitchFamily="2" charset="-122"/>
            </a:endParaRPr>
          </a:p>
        </p:txBody>
      </p:sp>
      <p:sp>
        <p:nvSpPr>
          <p:cNvPr id="24" name="文本框 23"/>
          <p:cNvSpPr txBox="1"/>
          <p:nvPr/>
        </p:nvSpPr>
        <p:spPr>
          <a:xfrm>
            <a:off x="8531225" y="5789295"/>
            <a:ext cx="1359535"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(4-3-4)</a:t>
            </a:r>
            <a:endParaRPr lang="zh-CN" altLang="en-US" dirty="0">
              <a:latin typeface="宋体" panose="02010600030101010101" pitchFamily="2" charset="-122"/>
              <a:ea typeface="宋体" panose="02010600030101010101" pitchFamily="2" charset="-122"/>
            </a:endParaRPr>
          </a:p>
        </p:txBody>
      </p:sp>
      <p:sp>
        <p:nvSpPr>
          <p:cNvPr id="12"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58334" y="1341121"/>
            <a:ext cx="10516235" cy="4351655"/>
          </a:xfrm>
        </p:spPr>
        <p:txBody>
          <a:bodyPr/>
          <a:lstStyle/>
          <a:p>
            <a:pPr marL="0" indent="0" algn="just">
              <a:lnSpc>
                <a:spcPct val="100000"/>
              </a:lnSpc>
              <a:spcBef>
                <a:spcPts val="600"/>
              </a:spcBef>
              <a:buNone/>
              <a:defRPr/>
            </a:pPr>
            <a:r>
              <a:rPr lang="en-US" altLang="zh-CN" sz="2000" b="1" kern="100" dirty="0">
                <a:solidFill>
                  <a:schemeClr val="bg2"/>
                </a:solidFill>
                <a:latin typeface="Times New Roman" panose="02020603050405020304" pitchFamily="18" charset="0"/>
                <a:cs typeface="Times New Roman" panose="02020603050405020304" pitchFamily="18" charset="0"/>
              </a:rPr>
              <a:t>   </a:t>
            </a:r>
            <a:r>
              <a:rPr lang="zh-CN" altLang="zh-CN" sz="2000" b="1" kern="100" dirty="0">
                <a:cs typeface="Times New Roman" panose="02020603050405020304" pitchFamily="18" charset="0"/>
              </a:rPr>
              <a:t>式中，</a:t>
            </a:r>
            <a:r>
              <a:rPr lang="en-US" altLang="zh-CN" sz="2000" b="1" kern="100" dirty="0">
                <a:cs typeface="Times New Roman" panose="02020603050405020304" pitchFamily="18" charset="0"/>
              </a:rPr>
              <a:t>d(</a:t>
            </a:r>
            <a:r>
              <a:rPr lang="en-US" altLang="zh-CN" sz="2000" b="1" kern="100" dirty="0" err="1">
                <a:cs typeface="Times New Roman" panose="02020603050405020304" pitchFamily="18" charset="0"/>
              </a:rPr>
              <a:t>i,j</a:t>
            </a:r>
            <a:r>
              <a:rPr lang="en-US" altLang="zh-CN" sz="2000" b="1" kern="100" dirty="0">
                <a:cs typeface="Times New Roman" panose="02020603050405020304" pitchFamily="18" charset="0"/>
              </a:rPr>
              <a:t>)</a:t>
            </a:r>
            <a:r>
              <a:rPr lang="zh-CN" altLang="zh-CN" sz="2000" b="1" kern="100" dirty="0">
                <a:cs typeface="Times New Roman" panose="02020603050405020304" pitchFamily="18" charset="0"/>
              </a:rPr>
              <a:t>为节点</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与目标</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之间的欧式距离，</a:t>
            </a:r>
            <a:r>
              <a:rPr lang="en-US" altLang="zh-CN" sz="2000" b="1" kern="100" dirty="0">
                <a:cs typeface="Times New Roman" panose="02020603050405020304" pitchFamily="18" charset="0"/>
              </a:rPr>
              <a:t>α</a:t>
            </a:r>
            <a:r>
              <a:rPr lang="zh-CN" altLang="zh-CN" sz="2000" b="1" kern="100" dirty="0">
                <a:cs typeface="Times New Roman" panose="02020603050405020304" pitchFamily="18" charset="0"/>
              </a:rPr>
              <a:t>和</a:t>
            </a:r>
            <a:r>
              <a:rPr lang="en-US" altLang="zh-CN" sz="2000" b="1" kern="100" dirty="0">
                <a:cs typeface="Times New Roman" panose="02020603050405020304" pitchFamily="18" charset="0"/>
              </a:rPr>
              <a:t>β</a:t>
            </a:r>
            <a:r>
              <a:rPr lang="zh-CN" altLang="zh-CN" sz="2000" b="1" kern="100" dirty="0">
                <a:cs typeface="Times New Roman" panose="02020603050405020304" pitchFamily="18" charset="0"/>
              </a:rPr>
              <a:t>为与传感器物理特性有关的类型参数。通常</a:t>
            </a:r>
            <a:r>
              <a:rPr lang="en-US" altLang="zh-CN" sz="2000" b="1" kern="100" dirty="0">
                <a:cs typeface="Times New Roman" panose="02020603050405020304" pitchFamily="18" charset="0"/>
              </a:rPr>
              <a:t>β</a:t>
            </a:r>
            <a:r>
              <a:rPr lang="zh-CN" altLang="zh-CN" sz="2000" b="1" kern="100" dirty="0">
                <a:cs typeface="Times New Roman" panose="02020603050405020304" pitchFamily="18" charset="0"/>
              </a:rPr>
              <a:t>取值为</a:t>
            </a:r>
            <a:r>
              <a:rPr lang="en-US" altLang="zh-CN" sz="2000" b="1" kern="100" dirty="0">
                <a:cs typeface="Times New Roman" panose="02020603050405020304" pitchFamily="18" charset="0"/>
              </a:rPr>
              <a:t>[1</a:t>
            </a:r>
            <a:r>
              <a:rPr lang="zh-CN" altLang="zh-CN" sz="2000" b="1" kern="100" dirty="0">
                <a:cs typeface="Times New Roman" panose="02020603050405020304" pitchFamily="18" charset="0"/>
              </a:rPr>
              <a:t>，</a:t>
            </a:r>
            <a:r>
              <a:rPr lang="en-US" altLang="zh-CN" sz="2000" b="1" kern="100" dirty="0">
                <a:cs typeface="Times New Roman" panose="02020603050405020304" pitchFamily="18" charset="0"/>
              </a:rPr>
              <a:t>4]</a:t>
            </a:r>
            <a:r>
              <a:rPr lang="zh-CN" altLang="zh-CN" sz="2000" b="1" kern="100" dirty="0">
                <a:cs typeface="Times New Roman" panose="02020603050405020304" pitchFamily="18" charset="0"/>
              </a:rPr>
              <a:t>的整数，而</a:t>
            </a:r>
            <a:r>
              <a:rPr lang="en-US" altLang="zh-CN" sz="2000" b="1" kern="100" dirty="0">
                <a:cs typeface="Times New Roman" panose="02020603050405020304" pitchFamily="18" charset="0"/>
              </a:rPr>
              <a:t>α</a:t>
            </a:r>
            <a:r>
              <a:rPr lang="zh-CN" altLang="zh-CN" sz="2000" b="1" kern="100" dirty="0">
                <a:cs typeface="Times New Roman" panose="02020603050405020304" pitchFamily="18" charset="0"/>
              </a:rPr>
              <a:t>是个可调参数。如果监测区域内有障碍物，将产生信号阻塞，从而降低节点探测效率。若障碍物出现在从节点</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到目标</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的视线上，即障碍物坐标满足连接</a:t>
            </a:r>
            <a:r>
              <a:rPr lang="en-US" altLang="zh-CN" sz="2000" b="1" kern="100" dirty="0" err="1">
                <a:cs typeface="Times New Roman" panose="02020603050405020304" pitchFamily="18" charset="0"/>
              </a:rPr>
              <a:t>i,j</a:t>
            </a:r>
            <a:r>
              <a:rPr lang="zh-CN" altLang="zh-CN" sz="2000" b="1" kern="100" dirty="0">
                <a:cs typeface="Times New Roman" panose="02020603050405020304" pitchFamily="18" charset="0"/>
              </a:rPr>
              <a:t>的线段方程，则令</a:t>
            </a:r>
            <a:r>
              <a:rPr lang="en-US" altLang="zh-CN" sz="2000" b="1" kern="100" dirty="0" err="1">
                <a:cs typeface="Times New Roman" panose="02020603050405020304" pitchFamily="18" charset="0"/>
              </a:rPr>
              <a:t>pij</a:t>
            </a:r>
            <a:r>
              <a:rPr lang="zh-CN" altLang="zh-CN" sz="2000" b="1" kern="100" dirty="0">
                <a:cs typeface="Times New Roman" panose="02020603050405020304" pitchFamily="18" charset="0"/>
              </a:rPr>
              <a:t>等于零。</a:t>
            </a:r>
            <a:endParaRPr lang="zh-CN" altLang="zh-CN" sz="2000" b="1" kern="100" dirty="0">
              <a:cs typeface="Times New Roman" panose="02020603050405020304" pitchFamily="18" charset="0"/>
            </a:endParaRPr>
          </a:p>
          <a:p>
            <a:pPr marL="0" indent="0" algn="just">
              <a:lnSpc>
                <a:spcPct val="100000"/>
              </a:lnSpc>
              <a:spcBef>
                <a:spcPts val="600"/>
              </a:spcBef>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从以上</a:t>
            </a:r>
            <a:r>
              <a:rPr lang="en-US" altLang="zh-CN" sz="2000" b="1" kern="100" dirty="0">
                <a:cs typeface="Times New Roman" panose="02020603050405020304" pitchFamily="18" charset="0"/>
              </a:rPr>
              <a:t>3</a:t>
            </a:r>
            <a:r>
              <a:rPr lang="zh-CN" altLang="zh-CN" sz="2000" b="1" kern="100" dirty="0">
                <a:cs typeface="Times New Roman" panose="02020603050405020304" pitchFamily="18" charset="0"/>
              </a:rPr>
              <a:t>种形式可以看出，任一点的覆盖概率是一个介于</a:t>
            </a:r>
            <a:r>
              <a:rPr lang="en-US" altLang="zh-CN" sz="2000" b="1" kern="100" dirty="0">
                <a:cs typeface="Times New Roman" panose="02020603050405020304" pitchFamily="18" charset="0"/>
              </a:rPr>
              <a:t>0</a:t>
            </a:r>
            <a:r>
              <a:rPr lang="zh-CN" altLang="zh-CN" sz="2000" b="1" kern="100" dirty="0">
                <a:cs typeface="Times New Roman" panose="02020603050405020304" pitchFamily="18" charset="0"/>
              </a:rPr>
              <a:t>和</a:t>
            </a:r>
            <a:r>
              <a:rPr lang="en-US" altLang="zh-CN" sz="2000" b="1" kern="100" dirty="0">
                <a:cs typeface="Times New Roman" panose="02020603050405020304" pitchFamily="18" charset="0"/>
              </a:rPr>
              <a:t>1</a:t>
            </a:r>
            <a:r>
              <a:rPr lang="zh-CN" altLang="zh-CN" sz="2000" b="1" kern="100" dirty="0">
                <a:cs typeface="Times New Roman" panose="02020603050405020304" pitchFamily="18" charset="0"/>
              </a:rPr>
              <a:t>之间的数，且当</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恰好与</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重合时，</a:t>
            </a:r>
            <a:r>
              <a:rPr lang="en-US" altLang="zh-CN" sz="2000" b="1" kern="100" dirty="0">
                <a:cs typeface="Times New Roman" panose="02020603050405020304" pitchFamily="18" charset="0"/>
              </a:rPr>
              <a:t>d(</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a:t>
            </a:r>
            <a:r>
              <a:rPr lang="en-US" altLang="zh-CN" sz="2000" b="1" kern="100" dirty="0">
                <a:cs typeface="Times New Roman" panose="02020603050405020304" pitchFamily="18" charset="0"/>
              </a:rPr>
              <a:t>j)=0</a:t>
            </a:r>
            <a:r>
              <a:rPr lang="zh-CN" altLang="zh-CN" sz="2000" b="1" kern="100" dirty="0">
                <a:cs typeface="Times New Roman" panose="02020603050405020304" pitchFamily="18" charset="0"/>
              </a:rPr>
              <a:t>，节点的感知概率等于</a:t>
            </a:r>
            <a:r>
              <a:rPr lang="en-US" altLang="zh-CN" sz="2000" b="1" kern="100" dirty="0">
                <a:cs typeface="Times New Roman" panose="02020603050405020304" pitchFamily="18" charset="0"/>
              </a:rPr>
              <a:t>1</a:t>
            </a:r>
            <a:r>
              <a:rPr lang="zh-CN" altLang="zh-CN" sz="2000" b="1" kern="100" dirty="0">
                <a:cs typeface="Times New Roman" panose="02020603050405020304" pitchFamily="18" charset="0"/>
              </a:rPr>
              <a:t>。如果节点存在邻居节点，由于邻居节点的感应区域与节点自身的感应区域存在交叠，所以如果节点</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落在交叠区域内，则节点</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的感知概率会受到邻居节点的影响。假设节点</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存在</a:t>
            </a:r>
            <a:r>
              <a:rPr lang="en-US" altLang="zh-CN" sz="2000" b="1" kern="100" dirty="0">
                <a:cs typeface="Times New Roman" panose="02020603050405020304" pitchFamily="18" charset="0"/>
              </a:rPr>
              <a:t>N</a:t>
            </a:r>
            <a:r>
              <a:rPr lang="zh-CN" altLang="zh-CN" sz="2000" b="1" kern="100" dirty="0">
                <a:cs typeface="Times New Roman" panose="02020603050405020304" pitchFamily="18" charset="0"/>
              </a:rPr>
              <a:t>个邻居节点，</a:t>
            </a:r>
            <a:r>
              <a:rPr lang="en-US" altLang="zh-CN" sz="2000" b="1" kern="100" dirty="0">
                <a:cs typeface="Times New Roman" panose="02020603050405020304" pitchFamily="18" charset="0"/>
              </a:rPr>
              <a:t>n1,n2,…,</a:t>
            </a:r>
            <a:r>
              <a:rPr lang="en-US" altLang="zh-CN" sz="2000" b="1" kern="100" dirty="0" err="1">
                <a:cs typeface="Times New Roman" panose="02020603050405020304" pitchFamily="18" charset="0"/>
              </a:rPr>
              <a:t>nN</a:t>
            </a: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节点</a:t>
            </a:r>
            <a:r>
              <a:rPr lang="en-US" altLang="zh-CN" sz="2000" b="1" kern="100" dirty="0" err="1">
                <a:cs typeface="Times New Roman" panose="02020603050405020304" pitchFamily="18" charset="0"/>
              </a:rPr>
              <a:t>i</a:t>
            </a:r>
            <a:r>
              <a:rPr lang="zh-CN" altLang="zh-CN" sz="2000" b="1" kern="100" dirty="0">
                <a:cs typeface="Times New Roman" panose="02020603050405020304" pitchFamily="18" charset="0"/>
              </a:rPr>
              <a:t>及邻居节点的感知区域分别记为</a:t>
            </a:r>
            <a:r>
              <a:rPr lang="en-US" altLang="zh-CN" sz="2000" b="1" kern="100" dirty="0">
                <a:cs typeface="Times New Roman" panose="02020603050405020304" pitchFamily="18" charset="0"/>
              </a:rPr>
              <a:t>R(</a:t>
            </a:r>
            <a:r>
              <a:rPr lang="en-US" altLang="zh-CN" sz="2000" b="1" kern="100" dirty="0" err="1">
                <a:cs typeface="Times New Roman" panose="02020603050405020304" pitchFamily="18" charset="0"/>
              </a:rPr>
              <a:t>i</a:t>
            </a:r>
            <a:r>
              <a:rPr lang="en-US" altLang="zh-CN" sz="2000" b="1" kern="100" dirty="0">
                <a:cs typeface="Times New Roman" panose="02020603050405020304" pitchFamily="18" charset="0"/>
              </a:rPr>
              <a:t>), R(n1), R(n2),…,R(</a:t>
            </a:r>
            <a:r>
              <a:rPr lang="en-US" altLang="zh-CN" sz="2000" b="1" kern="100" dirty="0" err="1">
                <a:cs typeface="Times New Roman" panose="02020603050405020304" pitchFamily="18" charset="0"/>
              </a:rPr>
              <a:t>nN</a:t>
            </a: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则这些感知区域的重叠区域为</a:t>
            </a:r>
            <a:endParaRPr lang="zh-CN" altLang="zh-CN" sz="2000" b="1" kern="100" dirty="0">
              <a:cs typeface="Times New Roman" panose="02020603050405020304" pitchFamily="18" charset="0"/>
            </a:endParaRPr>
          </a:p>
          <a:p>
            <a:pPr marL="0" indent="0" algn="just">
              <a:lnSpc>
                <a:spcPct val="100000"/>
              </a:lnSpc>
              <a:spcBef>
                <a:spcPts val="600"/>
              </a:spcBef>
              <a:buNone/>
              <a:defRPr/>
            </a:pPr>
            <a:endParaRPr lang="en-US" altLang="zh-CN" sz="2000" b="1" kern="100" dirty="0">
              <a:cs typeface="Times New Roman" panose="02020603050405020304" pitchFamily="18" charset="0"/>
            </a:endParaRPr>
          </a:p>
          <a:p>
            <a:pPr marL="0" indent="0" algn="just">
              <a:lnSpc>
                <a:spcPct val="100000"/>
              </a:lnSpc>
              <a:spcBef>
                <a:spcPts val="600"/>
              </a:spcBef>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假设每个节点对目标的感知是独立的，根据概率计算公式，</a:t>
            </a:r>
            <a:r>
              <a:rPr lang="en-US" altLang="zh-CN" sz="2000" b="1" kern="100" dirty="0">
                <a:cs typeface="Times New Roman" panose="02020603050405020304" pitchFamily="18" charset="0"/>
              </a:rPr>
              <a:t>M</a:t>
            </a:r>
            <a:r>
              <a:rPr lang="zh-CN" altLang="zh-CN" sz="2000" b="1" kern="100" dirty="0">
                <a:cs typeface="Times New Roman" panose="02020603050405020304" pitchFamily="18" charset="0"/>
              </a:rPr>
              <a:t>中任一节点</a:t>
            </a:r>
            <a:r>
              <a:rPr lang="en-US" altLang="zh-CN" sz="2000" b="1" kern="100" dirty="0">
                <a:cs typeface="Times New Roman" panose="02020603050405020304" pitchFamily="18" charset="0"/>
              </a:rPr>
              <a:t>j</a:t>
            </a:r>
            <a:r>
              <a:rPr lang="zh-CN" altLang="zh-CN" sz="2000" b="1" kern="100" dirty="0">
                <a:cs typeface="Times New Roman" panose="02020603050405020304" pitchFamily="18" charset="0"/>
              </a:rPr>
              <a:t>的感知概率有以下两种计算方式，分别为</a:t>
            </a:r>
            <a:endParaRPr lang="zh-CN" altLang="zh-CN" sz="2000" b="1" kern="100" dirty="0">
              <a:cs typeface="Times New Roman" panose="02020603050405020304" pitchFamily="18" charset="0"/>
            </a:endParaRPr>
          </a:p>
          <a:p>
            <a:pPr marL="0" indent="0" algn="just">
              <a:buNone/>
              <a:defRPr/>
            </a:pPr>
            <a:endParaRPr lang="zh-CN" altLang="en-US" sz="1800" dirty="0"/>
          </a:p>
        </p:txBody>
      </p:sp>
      <p:graphicFrame>
        <p:nvGraphicFramePr>
          <p:cNvPr id="56324" name="对象 3"/>
          <p:cNvGraphicFramePr>
            <a:graphicFrameLocks noChangeAspect="1"/>
          </p:cNvGraphicFramePr>
          <p:nvPr/>
        </p:nvGraphicFramePr>
        <p:xfrm>
          <a:off x="2214880" y="4269105"/>
          <a:ext cx="4701540" cy="454025"/>
        </p:xfrm>
        <a:graphic>
          <a:graphicData uri="http://schemas.openxmlformats.org/presentationml/2006/ole">
            <mc:AlternateContent xmlns:mc="http://schemas.openxmlformats.org/markup-compatibility/2006">
              <mc:Choice xmlns:v="urn:schemas-microsoft-com:vml" Requires="v">
                <p:oleObj spid="_x0000_s24773" name="Equation" r:id="rId1" imgW="2372995" imgH="229870" progId="Equation.DSMT4">
                  <p:embed/>
                </p:oleObj>
              </mc:Choice>
              <mc:Fallback>
                <p:oleObj name="Equation" r:id="rId1" imgW="2372995" imgH="229870"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880" y="4269105"/>
                        <a:ext cx="470154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5" name="对象 7"/>
          <p:cNvGraphicFramePr>
            <a:graphicFrameLocks noChangeAspect="1"/>
          </p:cNvGraphicFramePr>
          <p:nvPr/>
        </p:nvGraphicFramePr>
        <p:xfrm>
          <a:off x="1848485" y="5297170"/>
          <a:ext cx="8167370" cy="723900"/>
        </p:xfrm>
        <a:graphic>
          <a:graphicData uri="http://schemas.openxmlformats.org/presentationml/2006/ole">
            <mc:AlternateContent xmlns:mc="http://schemas.openxmlformats.org/markup-compatibility/2006">
              <mc:Choice xmlns:v="urn:schemas-microsoft-com:vml" Requires="v">
                <p:oleObj spid="_x0000_s24774" name="Equation" r:id="rId3" imgW="4098290" imgH="449580" progId="Equation.DSMT4">
                  <p:embed/>
                </p:oleObj>
              </mc:Choice>
              <mc:Fallback>
                <p:oleObj name="Equation" r:id="rId3" imgW="4098290" imgH="449580" progId="Equation.DSMT4">
                  <p:embed/>
                  <p:pic>
                    <p:nvPicPr>
                      <p:cNvPr id="0"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8485" y="5297170"/>
                        <a:ext cx="816737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6" name="对象 8"/>
          <p:cNvGraphicFramePr>
            <a:graphicFrameLocks noChangeAspect="1"/>
          </p:cNvGraphicFramePr>
          <p:nvPr/>
        </p:nvGraphicFramePr>
        <p:xfrm>
          <a:off x="2968625" y="6116955"/>
          <a:ext cx="4204335" cy="741045"/>
        </p:xfrm>
        <a:graphic>
          <a:graphicData uri="http://schemas.openxmlformats.org/presentationml/2006/ole">
            <mc:AlternateContent xmlns:mc="http://schemas.openxmlformats.org/markup-compatibility/2006">
              <mc:Choice xmlns:v="urn:schemas-microsoft-com:vml" Requires="v">
                <p:oleObj spid="_x0000_s24775" name="Equation" r:id="rId5" imgW="1734185" imgH="429895" progId="Equation.DSMT4">
                  <p:embed/>
                </p:oleObj>
              </mc:Choice>
              <mc:Fallback>
                <p:oleObj name="Equation" r:id="rId5" imgW="1734185" imgH="429895" progId="Equation.DSMT4">
                  <p:embed/>
                  <p:pic>
                    <p:nvPicPr>
                      <p:cNvPr id="0"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8625" y="6116955"/>
                        <a:ext cx="4204335" cy="74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文本框 18"/>
          <p:cNvSpPr txBox="1"/>
          <p:nvPr/>
        </p:nvSpPr>
        <p:spPr>
          <a:xfrm>
            <a:off x="8458200" y="4269105"/>
            <a:ext cx="1705610"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(4-3-1)</a:t>
            </a:r>
            <a:endParaRPr lang="zh-CN" altLang="en-US" dirty="0">
              <a:latin typeface="宋体" panose="02010600030101010101" pitchFamily="2" charset="-122"/>
              <a:ea typeface="宋体" panose="02010600030101010101" pitchFamily="2" charset="-122"/>
            </a:endParaRPr>
          </a:p>
        </p:txBody>
      </p:sp>
      <p:sp>
        <p:nvSpPr>
          <p:cNvPr id="20" name="文本框 19"/>
          <p:cNvSpPr txBox="1"/>
          <p:nvPr/>
        </p:nvSpPr>
        <p:spPr>
          <a:xfrm>
            <a:off x="10017125" y="5474970"/>
            <a:ext cx="1430020"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(4-3-1)</a:t>
            </a:r>
            <a:endParaRPr lang="zh-CN" altLang="en-US" dirty="0">
              <a:latin typeface="宋体" panose="02010600030101010101" pitchFamily="2" charset="-122"/>
              <a:ea typeface="宋体" panose="02010600030101010101" pitchFamily="2" charset="-122"/>
            </a:endParaRPr>
          </a:p>
        </p:txBody>
      </p:sp>
      <p:sp>
        <p:nvSpPr>
          <p:cNvPr id="21" name="文本框 20"/>
          <p:cNvSpPr txBox="1"/>
          <p:nvPr/>
        </p:nvSpPr>
        <p:spPr>
          <a:xfrm>
            <a:off x="10016490" y="6021070"/>
            <a:ext cx="1430655" cy="368300"/>
          </a:xfrm>
          <a:prstGeom prst="rect">
            <a:avLst/>
          </a:prstGeom>
          <a:noFill/>
        </p:spPr>
        <p:txBody>
          <a:bodyPr wrap="square">
            <a:spAutoFit/>
          </a:bodyPr>
          <a:lstStyle/>
          <a:p>
            <a:pPr>
              <a:defRPr/>
            </a:pPr>
            <a:r>
              <a:rPr lang="zh-CN" altLang="zh-CN" b="1" kern="100" dirty="0">
                <a:latin typeface="宋体" panose="02010600030101010101" pitchFamily="2" charset="-122"/>
                <a:ea typeface="宋体" panose="02010600030101010101" pitchFamily="2" charset="-122"/>
              </a:rPr>
              <a:t>式</a:t>
            </a:r>
            <a:r>
              <a:rPr lang="en-US" altLang="zh-CN" b="1" kern="100" dirty="0">
                <a:latin typeface="宋体" panose="02010600030101010101" pitchFamily="2" charset="-122"/>
                <a:ea typeface="宋体" panose="02010600030101010101" pitchFamily="2" charset="-122"/>
              </a:rPr>
              <a:t>(4-3-1)</a:t>
            </a:r>
            <a:endParaRPr lang="zh-CN" altLang="en-US" dirty="0">
              <a:latin typeface="宋体" panose="02010600030101010101" pitchFamily="2" charset="-122"/>
              <a:ea typeface="宋体" panose="02010600030101010101" pitchFamily="2" charset="-122"/>
            </a:endParaRPr>
          </a:p>
        </p:txBody>
      </p:sp>
      <p:sp>
        <p:nvSpPr>
          <p:cNvPr id="12"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66800" y="1343819"/>
            <a:ext cx="10516235" cy="4351655"/>
          </a:xfrm>
        </p:spPr>
        <p:txBody>
          <a:bodyPr/>
          <a:lstStyle/>
          <a:p>
            <a:pPr marL="0" indent="0">
              <a:buNone/>
              <a:defRPr/>
            </a:pPr>
            <a:r>
              <a:rPr lang="zh-CN" altLang="en-US" b="1" dirty="0"/>
              <a:t>4.</a:t>
            </a:r>
            <a:r>
              <a:rPr lang="en-US" altLang="zh-CN" b="1" dirty="0"/>
              <a:t>3.3 </a:t>
            </a:r>
            <a:r>
              <a:rPr lang="zh-CN" altLang="en-US" b="1" dirty="0"/>
              <a:t>覆盖的分类</a:t>
            </a:r>
            <a:endParaRPr lang="zh-CN" altLang="en-US" b="1" dirty="0"/>
          </a:p>
          <a:p>
            <a:pPr marL="457200" indent="-457200" algn="just" eaLnBrk="1" hangingPunct="1">
              <a:buClr>
                <a:schemeClr val="tx1"/>
              </a:buClr>
              <a:buSzPct val="100000"/>
              <a:buFont typeface="+mj-lt"/>
              <a:buAutoNum type="arabicPeriod"/>
              <a:defRPr/>
            </a:pPr>
            <a:r>
              <a:rPr lang="zh-CN" altLang="en-US" sz="2000" b="1" kern="100" dirty="0">
                <a:cs typeface="Times New Roman" panose="02020603050405020304" pitchFamily="18" charset="0"/>
              </a:rPr>
              <a:t>为什么要分类？</a:t>
            </a:r>
            <a:endParaRPr lang="en-US" altLang="zh-CN" sz="2000" b="1" kern="100" dirty="0">
              <a:cs typeface="Times New Roman" panose="02020603050405020304" pitchFamily="18" charset="0"/>
            </a:endParaRPr>
          </a:p>
          <a:p>
            <a:pPr marL="457200" indent="-457200" algn="just" eaLnBrk="1" hangingPunct="1">
              <a:buClr>
                <a:schemeClr val="tx1"/>
              </a:buClr>
              <a:buSzPct val="100000"/>
              <a:buFont typeface="+mj-lt"/>
              <a:buAutoNum type="arabicPeriod"/>
              <a:defRPr/>
            </a:pPr>
            <a:r>
              <a:rPr lang="zh-CN" altLang="en-US" sz="2000" b="1" kern="100" dirty="0">
                <a:cs typeface="Times New Roman" panose="02020603050405020304" pitchFamily="18" charset="0"/>
              </a:rPr>
              <a:t>应该如何分类？</a:t>
            </a:r>
            <a:endParaRPr lang="en-US" altLang="zh-CN" sz="2000" b="1" kern="100" dirty="0">
              <a:cs typeface="Times New Roman" panose="02020603050405020304" pitchFamily="18" charset="0"/>
            </a:endParaRPr>
          </a:p>
          <a:p>
            <a:pPr marL="457200" indent="-457200" algn="just" eaLnBrk="1" hangingPunct="1">
              <a:buClr>
                <a:schemeClr val="tx1"/>
              </a:buClr>
              <a:buSzPct val="100000"/>
              <a:buFont typeface="+mj-lt"/>
              <a:buAutoNum type="arabicPeriod"/>
              <a:defRPr/>
            </a:pPr>
            <a:r>
              <a:rPr lang="zh-CN" altLang="en-US" sz="2000" b="1" kern="100" dirty="0">
                <a:cs typeface="Times New Roman" panose="02020603050405020304" pitchFamily="18" charset="0"/>
              </a:rPr>
              <a:t>每个种类的具体含义？</a:t>
            </a:r>
            <a:endParaRPr lang="zh-CN" altLang="en-US" sz="2000" b="1" kern="100" dirty="0">
              <a:cs typeface="Times New Roman" panose="02020603050405020304" pitchFamily="18" charset="0"/>
            </a:endParaRPr>
          </a:p>
        </p:txBody>
      </p:sp>
      <p:pic>
        <p:nvPicPr>
          <p:cNvPr id="57348" name="图片 5"/>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81425" y="1668780"/>
            <a:ext cx="7964170" cy="48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5579745" y="6340475"/>
            <a:ext cx="2440305"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4-3-3 </a:t>
            </a:r>
            <a:r>
              <a:rPr lang="zh-CN" altLang="en-US" b="1" dirty="0">
                <a:latin typeface="宋体" panose="02010600030101010101" pitchFamily="2" charset="-122"/>
                <a:ea typeface="宋体" panose="02010600030101010101" pitchFamily="2" charset="-122"/>
              </a:rPr>
              <a:t>覆盖的分类</a:t>
            </a:r>
            <a:endParaRPr lang="zh-CN" altLang="en-US" dirty="0">
              <a:latin typeface="宋体" panose="02010600030101010101" pitchFamily="2" charset="-122"/>
              <a:ea typeface="宋体" panose="02010600030101010101" pitchFamily="2" charset="-122"/>
            </a:endParaRPr>
          </a:p>
        </p:txBody>
      </p:sp>
      <p:sp>
        <p:nvSpPr>
          <p:cNvPr id="8"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997585" y="1343660"/>
            <a:ext cx="11124565" cy="5387340"/>
          </a:xfrm>
        </p:spPr>
        <p:txBody>
          <a:bodyPr>
            <a:normAutofit fontScale="90000"/>
          </a:bodyPr>
          <a:lstStyle/>
          <a:p>
            <a:pPr marL="0" indent="0" algn="just">
              <a:lnSpc>
                <a:spcPct val="100000"/>
              </a:lnSpc>
              <a:buClr>
                <a:schemeClr val="bg2"/>
              </a:buClr>
              <a:buSzPct val="100000"/>
              <a:buNone/>
              <a:defRPr/>
            </a:pPr>
            <a:r>
              <a:rPr lang="en-US" altLang="zh-CN" sz="2400" b="1" kern="100" dirty="0">
                <a:solidFill>
                  <a:srgbClr val="FF0000"/>
                </a:solidFill>
                <a:cs typeface="Times New Roman" panose="02020603050405020304" pitchFamily="18" charset="0"/>
              </a:rPr>
              <a:t>1</a:t>
            </a:r>
            <a:r>
              <a:rPr lang="zh-CN" altLang="zh-CN" sz="2400" b="1" kern="100" dirty="0">
                <a:solidFill>
                  <a:srgbClr val="FF0000"/>
                </a:solidFill>
                <a:cs typeface="Times New Roman" panose="02020603050405020304" pitchFamily="18" charset="0"/>
              </a:rPr>
              <a:t>）按部署方式分类</a:t>
            </a:r>
            <a:endParaRPr lang="zh-CN" altLang="zh-CN" sz="2400" b="1" kern="100" dirty="0">
              <a:solidFill>
                <a:srgbClr val="FF0000"/>
              </a:solidFill>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①确定性覆盖：</a:t>
            </a:r>
            <a:r>
              <a:rPr lang="zh-CN" altLang="zh-CN" sz="2400" b="1" kern="100" dirty="0">
                <a:cs typeface="Times New Roman" panose="02020603050405020304" pitchFamily="18" charset="0"/>
              </a:rPr>
              <a:t>是指已知节点位置的无线传感器网络要完成目标区域（点）的覆盖；</a:t>
            </a:r>
            <a:endParaRPr lang="en-US" altLang="zh-CN" sz="2400" b="1" kern="100" dirty="0">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②随机覆盖：</a:t>
            </a:r>
            <a:r>
              <a:rPr lang="zh-CN" altLang="zh-CN" sz="2400" b="1" kern="100" dirty="0">
                <a:cs typeface="Times New Roman" panose="02020603050405020304" pitchFamily="18" charset="0"/>
              </a:rPr>
              <a:t>随机覆盖考虑在网络中传感器节点随机分布且预先不知道节点位置的条件下，网络完成对监测区域的覆盖任务；</a:t>
            </a:r>
            <a:endParaRPr lang="en-US" altLang="zh-CN" sz="2400" b="1" kern="100" dirty="0">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solidFill>
                  <a:srgbClr val="FF0000"/>
                </a:solidFill>
                <a:cs typeface="Times New Roman" panose="02020603050405020304" pitchFamily="18" charset="0"/>
              </a:rPr>
              <a:t>2</a:t>
            </a:r>
            <a:r>
              <a:rPr lang="zh-CN" altLang="zh-CN" sz="2400" b="1" kern="100" dirty="0">
                <a:solidFill>
                  <a:srgbClr val="FF0000"/>
                </a:solidFill>
                <a:cs typeface="Times New Roman" panose="02020603050405020304" pitchFamily="18" charset="0"/>
              </a:rPr>
              <a:t>）按应用属性分类</a:t>
            </a:r>
            <a:endParaRPr lang="zh-CN" altLang="zh-CN" sz="2400" b="1" kern="100" dirty="0">
              <a:solidFill>
                <a:srgbClr val="FF0000"/>
              </a:solidFill>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①节能覆盖：</a:t>
            </a:r>
            <a:r>
              <a:rPr lang="zh-CN" altLang="zh-CN" sz="2400" b="1" kern="100" dirty="0">
                <a:cs typeface="Times New Roman" panose="02020603050405020304" pitchFamily="18" charset="0"/>
              </a:rPr>
              <a:t>传感器网络研究的一个重要方向就是如何减少网络节点的能量消耗以最大化网络的生存周期。</a:t>
            </a:r>
            <a:endParaRPr lang="en-US" altLang="zh-CN" sz="2400" b="1" kern="100" dirty="0">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②栅栏覆盖：</a:t>
            </a:r>
            <a:r>
              <a:rPr lang="zh-CN" altLang="zh-CN" sz="2400" b="1" kern="100" dirty="0">
                <a:cs typeface="Times New Roman" panose="02020603050405020304" pitchFamily="18" charset="0"/>
              </a:rPr>
              <a:t>分为最坏与最佳情况覆盖和暴露穿越。栅栏覆盖一般是从安全方面来考虑的。最坏与最佳情况覆盖问题中，前者是指即使经过了所有节点，传感器节点也没有捕捉到的概率的最低值，后者是指经过了所有节点，所有节点都捕捉到的概率的最高值。</a:t>
            </a:r>
            <a:endParaRPr lang="en-US" altLang="zh-CN" sz="2400" b="1" kern="100" dirty="0">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③连通性覆盖：</a:t>
            </a:r>
            <a:r>
              <a:rPr lang="zh-CN" altLang="zh-CN" sz="2400" b="1" kern="100" dirty="0">
                <a:cs typeface="Times New Roman" panose="02020603050405020304" pitchFamily="18" charset="0"/>
              </a:rPr>
              <a:t>网络连通是指网络内其所有节点都是可以互相传递信息的，通信过程可通过中间节点作为中介，是无线传感器网络的另一个重要研究问题。</a:t>
            </a:r>
            <a:endParaRPr lang="en-US" altLang="zh-CN" sz="2400" b="1" kern="100" dirty="0">
              <a:cs typeface="Times New Roman" panose="02020603050405020304" pitchFamily="18" charset="0"/>
            </a:endParaRPr>
          </a:p>
          <a:p>
            <a:pPr marL="0" indent="0" algn="just">
              <a:lnSpc>
                <a:spcPct val="100000"/>
              </a:lnSpc>
              <a:buClr>
                <a:schemeClr val="bg2"/>
              </a:buClr>
              <a:buSzPct val="100000"/>
              <a:buNone/>
              <a:defRPr/>
            </a:pPr>
            <a:r>
              <a:rPr lang="en-US" altLang="zh-CN" sz="2400" b="1" kern="100" dirty="0">
                <a:cs typeface="Times New Roman" panose="02020603050405020304" pitchFamily="18" charset="0"/>
              </a:rPr>
              <a:t>  </a:t>
            </a:r>
            <a:r>
              <a:rPr lang="zh-CN" altLang="zh-CN" sz="2400" b="1" kern="100" dirty="0">
                <a:solidFill>
                  <a:srgbClr val="1D41D5"/>
                </a:solidFill>
                <a:cs typeface="Times New Roman" panose="02020603050405020304" pitchFamily="18" charset="0"/>
              </a:rPr>
              <a:t>④目标定位覆盖：</a:t>
            </a:r>
            <a:r>
              <a:rPr lang="zh-CN" altLang="zh-CN" sz="2400" b="1" kern="100" dirty="0">
                <a:cs typeface="Times New Roman" panose="02020603050405020304" pitchFamily="18" charset="0"/>
              </a:rPr>
              <a:t>判断哪些节点覆盖目标可以检测到目标的位置。</a:t>
            </a:r>
            <a:endParaRPr lang="en-US" altLang="zh-CN" sz="2400" b="1" kern="100" dirty="0">
              <a:cs typeface="Times New Roman" panose="02020603050405020304" pitchFamily="18" charset="0"/>
            </a:endParaRPr>
          </a:p>
          <a:p>
            <a:pPr marL="0" indent="0">
              <a:lnSpc>
                <a:spcPct val="100000"/>
              </a:lnSpc>
              <a:buNone/>
              <a:defRPr/>
            </a:pPr>
            <a:endParaRPr lang="en-US" altLang="zh-CN" sz="2000" kern="100" dirty="0">
              <a:latin typeface="Times New Roman" panose="02020603050405020304" pitchFamily="18" charset="0"/>
              <a:cs typeface="Times New Roman" panose="02020603050405020304" pitchFamily="18" charset="0"/>
            </a:endParaRPr>
          </a:p>
          <a:p>
            <a:pPr marL="0" indent="0">
              <a:lnSpc>
                <a:spcPct val="100000"/>
              </a:lnSpc>
              <a:buNone/>
              <a:defRPr/>
            </a:pPr>
            <a:endParaRPr lang="zh-CN" altLang="en-US" sz="2000" b="1" dirty="0"/>
          </a:p>
        </p:txBody>
      </p:sp>
      <p:sp>
        <p:nvSpPr>
          <p:cNvPr id="6"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270355" y="1343762"/>
            <a:ext cx="10516235" cy="4351655"/>
          </a:xfrm>
        </p:spPr>
        <p:txBody>
          <a:bodyPr/>
          <a:lstStyle/>
          <a:p>
            <a:pPr marL="0" indent="0" algn="just">
              <a:lnSpc>
                <a:spcPct val="100000"/>
              </a:lnSpc>
              <a:spcBef>
                <a:spcPts val="0"/>
              </a:spcBef>
              <a:buClr>
                <a:schemeClr val="bg2"/>
              </a:buClr>
              <a:buSzPct val="100000"/>
              <a:buNone/>
              <a:defRPr/>
            </a:pPr>
            <a:r>
              <a:rPr lang="en-US" altLang="zh-CN" sz="2000" b="1" kern="100" dirty="0">
                <a:cs typeface="Times New Roman" panose="02020603050405020304" pitchFamily="18" charset="0"/>
              </a:rPr>
              <a:t>3</a:t>
            </a:r>
            <a:r>
              <a:rPr lang="zh-CN" altLang="zh-CN" sz="2000" b="1" kern="100" dirty="0">
                <a:cs typeface="Times New Roman" panose="02020603050405020304" pitchFamily="18" charset="0"/>
              </a:rPr>
              <a:t>）按覆盖对象类型分类</a:t>
            </a:r>
            <a:endParaRPr lang="en-US" altLang="zh-CN" sz="2000" b="1" kern="100" dirty="0">
              <a:cs typeface="Times New Roman" panose="02020603050405020304" pitchFamily="18" charset="0"/>
            </a:endParaRPr>
          </a:p>
          <a:p>
            <a:pPr marL="0" indent="0" algn="just">
              <a:lnSpc>
                <a:spcPct val="100000"/>
              </a:lnSpc>
              <a:spcBef>
                <a:spcPts val="0"/>
              </a:spcBef>
              <a:buClr>
                <a:schemeClr val="bg2"/>
              </a:buClr>
              <a:buSzPct val="100000"/>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①点覆盖：点覆盖问题的覆盖对象是分布在监测区域中的若干个离散的监测目标，要求这些监测目标都要被节点覆盖。</a:t>
            </a:r>
            <a:endParaRPr lang="en-US" altLang="zh-CN" sz="2000" b="1" kern="100" dirty="0">
              <a:cs typeface="Times New Roman" panose="02020603050405020304" pitchFamily="18" charset="0"/>
            </a:endParaRPr>
          </a:p>
          <a:p>
            <a:pPr marL="0" indent="0" algn="just">
              <a:lnSpc>
                <a:spcPct val="100000"/>
              </a:lnSpc>
              <a:spcBef>
                <a:spcPts val="0"/>
              </a:spcBef>
              <a:buClr>
                <a:schemeClr val="bg2"/>
              </a:buClr>
              <a:buSzPct val="100000"/>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②区域覆盖：覆盖对象是一片完整的监测区域，理想情况下，要求监测区域内的任意一点都要被节点覆盖。</a:t>
            </a:r>
            <a:endParaRPr lang="en-US" altLang="zh-CN" sz="2000" b="1" kern="100" dirty="0">
              <a:cs typeface="Times New Roman" panose="02020603050405020304" pitchFamily="18" charset="0"/>
            </a:endParaRPr>
          </a:p>
          <a:p>
            <a:pPr marL="0" indent="0" algn="just">
              <a:lnSpc>
                <a:spcPct val="100000"/>
              </a:lnSpc>
              <a:spcBef>
                <a:spcPts val="0"/>
              </a:spcBef>
              <a:buClr>
                <a:schemeClr val="bg2"/>
              </a:buClr>
              <a:buSzPct val="100000"/>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③栅栏覆盖：覆盖对象是移动目标在传感器网络中的穿越路径，要求穿越路径上的任意位置都要被节点覆盖。</a:t>
            </a:r>
            <a:endParaRPr lang="en-US" altLang="zh-CN" sz="2000" b="1" kern="100" dirty="0">
              <a:cs typeface="Times New Roman" panose="02020603050405020304" pitchFamily="18" charset="0"/>
            </a:endParaRPr>
          </a:p>
          <a:p>
            <a:pPr marL="0" indent="0" algn="just">
              <a:lnSpc>
                <a:spcPct val="100000"/>
              </a:lnSpc>
              <a:spcBef>
                <a:spcPts val="0"/>
              </a:spcBef>
              <a:buClr>
                <a:schemeClr val="bg2"/>
              </a:buClr>
              <a:buSzPct val="100000"/>
              <a:buNone/>
              <a:defRPr/>
            </a:pPr>
            <a:r>
              <a:rPr lang="en-US" altLang="zh-CN" sz="2000" b="1" kern="100" dirty="0">
                <a:cs typeface="Times New Roman" panose="02020603050405020304" pitchFamily="18" charset="0"/>
              </a:rPr>
              <a:t>   </a:t>
            </a:r>
            <a:r>
              <a:rPr lang="zh-CN" altLang="zh-CN" sz="2000" b="1" kern="100" dirty="0">
                <a:cs typeface="Times New Roman" panose="02020603050405020304" pitchFamily="18" charset="0"/>
              </a:rPr>
              <a:t>图</a:t>
            </a:r>
            <a:r>
              <a:rPr lang="en-US" altLang="zh-CN" sz="2000" b="1" kern="100" dirty="0">
                <a:cs typeface="Times New Roman" panose="02020603050405020304" pitchFamily="18" charset="0"/>
              </a:rPr>
              <a:t>4-3-4</a:t>
            </a:r>
            <a:r>
              <a:rPr lang="zh-CN" altLang="zh-CN" sz="2000" b="1" kern="100" dirty="0">
                <a:cs typeface="Times New Roman" panose="02020603050405020304" pitchFamily="18" charset="0"/>
              </a:rPr>
              <a:t>是点覆盖、区域覆盖和栅栏覆盖的示意图，图中的黑色圆圈表示节点，空心圆圈表示睡眠节点，虚线圆圈表示节点的感知范围，灰色方框表示被监测对象。</a:t>
            </a:r>
            <a:endParaRPr lang="zh-CN" altLang="zh-CN" sz="2000" b="1" kern="100" dirty="0">
              <a:cs typeface="Times New Roman" panose="02020603050405020304" pitchFamily="18" charset="0"/>
            </a:endParaRPr>
          </a:p>
          <a:p>
            <a:pPr marL="0" indent="0">
              <a:buNone/>
              <a:defRPr/>
            </a:pPr>
            <a:endParaRPr lang="zh-CN" altLang="zh-CN" sz="1800" kern="100" dirty="0">
              <a:latin typeface="Times New Roman" panose="02020603050405020304" pitchFamily="18" charset="0"/>
            </a:endParaRPr>
          </a:p>
        </p:txBody>
      </p:sp>
      <p:grpSp>
        <p:nvGrpSpPr>
          <p:cNvPr id="59396" name="组合 6"/>
          <p:cNvGrpSpPr/>
          <p:nvPr/>
        </p:nvGrpSpPr>
        <p:grpSpPr bwMode="auto">
          <a:xfrm>
            <a:off x="3359785" y="4169410"/>
            <a:ext cx="5791835" cy="2232660"/>
            <a:chOff x="886" y="2486"/>
            <a:chExt cx="17219" cy="6491"/>
          </a:xfrm>
        </p:grpSpPr>
        <p:sp>
          <p:nvSpPr>
            <p:cNvPr id="8" name="矩形 7"/>
            <p:cNvSpPr/>
            <p:nvPr/>
          </p:nvSpPr>
          <p:spPr>
            <a:xfrm>
              <a:off x="886" y="2486"/>
              <a:ext cx="5303" cy="502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9" name="矩形 8"/>
            <p:cNvSpPr/>
            <p:nvPr/>
          </p:nvSpPr>
          <p:spPr>
            <a:xfrm>
              <a:off x="6842" y="2486"/>
              <a:ext cx="5308" cy="502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0" name="矩形 9"/>
            <p:cNvSpPr/>
            <p:nvPr/>
          </p:nvSpPr>
          <p:spPr>
            <a:xfrm>
              <a:off x="12802" y="2486"/>
              <a:ext cx="5303" cy="502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9401" name="文本框 7"/>
            <p:cNvSpPr txBox="1">
              <a:spLocks noChangeArrowheads="1"/>
            </p:cNvSpPr>
            <p:nvPr/>
          </p:nvSpPr>
          <p:spPr bwMode="auto">
            <a:xfrm>
              <a:off x="914" y="7737"/>
              <a:ext cx="17191"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solidFill>
                    <a:srgbClr val="000000"/>
                  </a:solidFill>
                  <a:latin typeface="Times New Roman" panose="02020603050405020304" pitchFamily="18" charset="0"/>
                </a:rPr>
                <a:t>   </a:t>
              </a:r>
              <a:r>
                <a:rPr lang="en-US" altLang="zh-CN" sz="900">
                  <a:solidFill>
                    <a:srgbClr val="000000"/>
                  </a:solidFill>
                  <a:latin typeface="Times New Roman" panose="02020603050405020304" pitchFamily="18" charset="0"/>
                </a:rPr>
                <a:t> (a) </a:t>
              </a:r>
              <a:r>
                <a:rPr lang="zh-CN" altLang="zh-CN" sz="900">
                  <a:solidFill>
                    <a:srgbClr val="000000"/>
                  </a:solidFill>
                  <a:latin typeface="Times New Roman" panose="02020603050405020304" pitchFamily="18" charset="0"/>
                </a:rPr>
                <a:t>点覆盖</a:t>
              </a:r>
              <a:r>
                <a:rPr lang="en-US" altLang="zh-CN" sz="900">
                  <a:solidFill>
                    <a:srgbClr val="000000"/>
                  </a:solidFill>
                  <a:latin typeface="宋体" panose="02010600030101010101" pitchFamily="2" charset="-122"/>
                </a:rPr>
                <a:t>                           </a:t>
              </a:r>
              <a:r>
                <a:rPr lang="en-US" altLang="zh-CN" sz="900">
                  <a:solidFill>
                    <a:srgbClr val="000000"/>
                  </a:solidFill>
                  <a:latin typeface="Times New Roman" panose="02020603050405020304" pitchFamily="18" charset="0"/>
                </a:rPr>
                <a:t>(b) </a:t>
              </a:r>
              <a:r>
                <a:rPr lang="zh-CN" altLang="zh-CN" sz="900">
                  <a:solidFill>
                    <a:srgbClr val="000000"/>
                  </a:solidFill>
                  <a:latin typeface="Times New Roman" panose="02020603050405020304" pitchFamily="18" charset="0"/>
                </a:rPr>
                <a:t>区域覆盖 </a:t>
              </a:r>
              <a:r>
                <a:rPr lang="en-US" altLang="zh-CN" sz="900">
                  <a:solidFill>
                    <a:srgbClr val="000000"/>
                  </a:solidFill>
                  <a:latin typeface="Times New Roman" panose="02020603050405020304" pitchFamily="18" charset="0"/>
                </a:rPr>
                <a:t>                                                (c) </a:t>
              </a:r>
              <a:r>
                <a:rPr lang="zh-CN" altLang="zh-CN" sz="900">
                  <a:solidFill>
                    <a:srgbClr val="000000"/>
                  </a:solidFill>
                  <a:latin typeface="Times New Roman" panose="02020603050405020304" pitchFamily="18" charset="0"/>
                </a:rPr>
                <a:t>栅栏覆盖</a:t>
              </a:r>
              <a:endParaRPr lang="zh-CN" altLang="zh-CN" sz="1200">
                <a:latin typeface="Times New Roman" panose="02020603050405020304" pitchFamily="18" charset="0"/>
              </a:endParaRPr>
            </a:p>
          </p:txBody>
        </p:sp>
        <p:sp>
          <p:nvSpPr>
            <p:cNvPr id="12" name="椭圆 11"/>
            <p:cNvSpPr/>
            <p:nvPr/>
          </p:nvSpPr>
          <p:spPr>
            <a:xfrm>
              <a:off x="1440" y="3146"/>
              <a:ext cx="2488" cy="252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3" name="椭圆 12"/>
            <p:cNvSpPr/>
            <p:nvPr/>
          </p:nvSpPr>
          <p:spPr>
            <a:xfrm>
              <a:off x="2489" y="4418"/>
              <a:ext cx="2483" cy="252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4" name="椭圆 13"/>
            <p:cNvSpPr/>
            <p:nvPr/>
          </p:nvSpPr>
          <p:spPr>
            <a:xfrm>
              <a:off x="3137" y="3146"/>
              <a:ext cx="2488" cy="252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5" name="椭圆 14"/>
            <p:cNvSpPr/>
            <p:nvPr/>
          </p:nvSpPr>
          <p:spPr>
            <a:xfrm>
              <a:off x="7505" y="2885"/>
              <a:ext cx="2488"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6" name="椭圆 15"/>
            <p:cNvSpPr/>
            <p:nvPr/>
          </p:nvSpPr>
          <p:spPr>
            <a:xfrm>
              <a:off x="9068" y="2885"/>
              <a:ext cx="2488"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7" name="椭圆 16"/>
            <p:cNvSpPr/>
            <p:nvPr/>
          </p:nvSpPr>
          <p:spPr>
            <a:xfrm>
              <a:off x="7505" y="4438"/>
              <a:ext cx="2488"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8" name="椭圆 17"/>
            <p:cNvSpPr/>
            <p:nvPr/>
          </p:nvSpPr>
          <p:spPr>
            <a:xfrm>
              <a:off x="9068" y="4438"/>
              <a:ext cx="2488"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19" name="椭圆 18"/>
            <p:cNvSpPr/>
            <p:nvPr/>
          </p:nvSpPr>
          <p:spPr>
            <a:xfrm>
              <a:off x="12970" y="2693"/>
              <a:ext cx="2488" cy="252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0" name="椭圆 19"/>
            <p:cNvSpPr/>
            <p:nvPr/>
          </p:nvSpPr>
          <p:spPr>
            <a:xfrm>
              <a:off x="14207" y="3634"/>
              <a:ext cx="2488"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1" name="椭圆 20"/>
            <p:cNvSpPr/>
            <p:nvPr/>
          </p:nvSpPr>
          <p:spPr>
            <a:xfrm>
              <a:off x="15459" y="4817"/>
              <a:ext cx="2483" cy="2519"/>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2" name="椭圆 21"/>
            <p:cNvSpPr/>
            <p:nvPr/>
          </p:nvSpPr>
          <p:spPr>
            <a:xfrm>
              <a:off x="5521" y="2723"/>
              <a:ext cx="391"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3" name="椭圆 22"/>
            <p:cNvSpPr/>
            <p:nvPr/>
          </p:nvSpPr>
          <p:spPr>
            <a:xfrm>
              <a:off x="1123" y="2723"/>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4" name="椭圆 23"/>
            <p:cNvSpPr/>
            <p:nvPr/>
          </p:nvSpPr>
          <p:spPr>
            <a:xfrm>
              <a:off x="1910" y="6552"/>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5" name="椭圆 24"/>
            <p:cNvSpPr/>
            <p:nvPr/>
          </p:nvSpPr>
          <p:spPr>
            <a:xfrm>
              <a:off x="1123" y="5862"/>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6" name="椭圆 25"/>
            <p:cNvSpPr/>
            <p:nvPr/>
          </p:nvSpPr>
          <p:spPr>
            <a:xfrm>
              <a:off x="4972" y="6794"/>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7" name="椭圆 26"/>
            <p:cNvSpPr/>
            <p:nvPr/>
          </p:nvSpPr>
          <p:spPr>
            <a:xfrm>
              <a:off x="5521" y="6005"/>
              <a:ext cx="391"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8" name="椭圆 27"/>
            <p:cNvSpPr/>
            <p:nvPr/>
          </p:nvSpPr>
          <p:spPr>
            <a:xfrm>
              <a:off x="4067" y="3353"/>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29" name="椭圆 28"/>
            <p:cNvSpPr/>
            <p:nvPr/>
          </p:nvSpPr>
          <p:spPr>
            <a:xfrm>
              <a:off x="4972" y="4679"/>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0" name="椭圆 29"/>
            <p:cNvSpPr/>
            <p:nvPr/>
          </p:nvSpPr>
          <p:spPr>
            <a:xfrm>
              <a:off x="4067" y="5862"/>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1" name="椭圆 30"/>
            <p:cNvSpPr/>
            <p:nvPr/>
          </p:nvSpPr>
          <p:spPr>
            <a:xfrm>
              <a:off x="2894" y="6005"/>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2" name="椭圆 31"/>
            <p:cNvSpPr/>
            <p:nvPr/>
          </p:nvSpPr>
          <p:spPr>
            <a:xfrm>
              <a:off x="1910" y="4679"/>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3" name="椭圆 32"/>
            <p:cNvSpPr/>
            <p:nvPr/>
          </p:nvSpPr>
          <p:spPr>
            <a:xfrm>
              <a:off x="2484" y="3353"/>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4" name="椭圆 33"/>
            <p:cNvSpPr/>
            <p:nvPr/>
          </p:nvSpPr>
          <p:spPr>
            <a:xfrm>
              <a:off x="3344" y="5576"/>
              <a:ext cx="396"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5" name="椭圆 34"/>
            <p:cNvSpPr/>
            <p:nvPr/>
          </p:nvSpPr>
          <p:spPr>
            <a:xfrm>
              <a:off x="4131" y="4004"/>
              <a:ext cx="396"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6" name="椭圆 35"/>
            <p:cNvSpPr/>
            <p:nvPr/>
          </p:nvSpPr>
          <p:spPr>
            <a:xfrm>
              <a:off x="2499" y="4009"/>
              <a:ext cx="396"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7" name="矩形 36"/>
            <p:cNvSpPr/>
            <p:nvPr/>
          </p:nvSpPr>
          <p:spPr>
            <a:xfrm>
              <a:off x="3542" y="6291"/>
              <a:ext cx="435" cy="434"/>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8" name="矩形 37"/>
            <p:cNvSpPr/>
            <p:nvPr/>
          </p:nvSpPr>
          <p:spPr>
            <a:xfrm>
              <a:off x="4927" y="3930"/>
              <a:ext cx="435" cy="434"/>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39" name="矩形 38"/>
            <p:cNvSpPr/>
            <p:nvPr/>
          </p:nvSpPr>
          <p:spPr>
            <a:xfrm>
              <a:off x="2761" y="5404"/>
              <a:ext cx="435" cy="439"/>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0" name="矩形 39"/>
            <p:cNvSpPr/>
            <p:nvPr/>
          </p:nvSpPr>
          <p:spPr>
            <a:xfrm>
              <a:off x="4126" y="4871"/>
              <a:ext cx="435" cy="434"/>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1" name="矩形 40"/>
            <p:cNvSpPr/>
            <p:nvPr/>
          </p:nvSpPr>
          <p:spPr>
            <a:xfrm>
              <a:off x="3295" y="3930"/>
              <a:ext cx="435" cy="434"/>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2" name="矩形 41"/>
            <p:cNvSpPr/>
            <p:nvPr/>
          </p:nvSpPr>
          <p:spPr>
            <a:xfrm>
              <a:off x="1821" y="3634"/>
              <a:ext cx="435" cy="434"/>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3" name="椭圆 42"/>
            <p:cNvSpPr/>
            <p:nvPr/>
          </p:nvSpPr>
          <p:spPr>
            <a:xfrm>
              <a:off x="10230" y="5768"/>
              <a:ext cx="391"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4" name="椭圆 43"/>
            <p:cNvSpPr/>
            <p:nvPr/>
          </p:nvSpPr>
          <p:spPr>
            <a:xfrm>
              <a:off x="8434" y="5670"/>
              <a:ext cx="396"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5" name="椭圆 44"/>
            <p:cNvSpPr/>
            <p:nvPr/>
          </p:nvSpPr>
          <p:spPr>
            <a:xfrm>
              <a:off x="10334" y="3777"/>
              <a:ext cx="391"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6" name="椭圆 45"/>
            <p:cNvSpPr/>
            <p:nvPr/>
          </p:nvSpPr>
          <p:spPr>
            <a:xfrm>
              <a:off x="8434" y="3639"/>
              <a:ext cx="396"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7" name="椭圆 46"/>
            <p:cNvSpPr/>
            <p:nvPr/>
          </p:nvSpPr>
          <p:spPr>
            <a:xfrm>
              <a:off x="7885" y="3777"/>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8" name="椭圆 47"/>
            <p:cNvSpPr/>
            <p:nvPr/>
          </p:nvSpPr>
          <p:spPr>
            <a:xfrm>
              <a:off x="9300" y="3930"/>
              <a:ext cx="391"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49" name="椭圆 48"/>
            <p:cNvSpPr/>
            <p:nvPr/>
          </p:nvSpPr>
          <p:spPr>
            <a:xfrm>
              <a:off x="10512" y="3215"/>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0" name="椭圆 49"/>
            <p:cNvSpPr/>
            <p:nvPr/>
          </p:nvSpPr>
          <p:spPr>
            <a:xfrm>
              <a:off x="10116" y="4788"/>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1" name="椭圆 50"/>
            <p:cNvSpPr/>
            <p:nvPr/>
          </p:nvSpPr>
          <p:spPr>
            <a:xfrm>
              <a:off x="10725" y="6153"/>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2" name="椭圆 51"/>
            <p:cNvSpPr/>
            <p:nvPr/>
          </p:nvSpPr>
          <p:spPr>
            <a:xfrm>
              <a:off x="9404" y="5670"/>
              <a:ext cx="391"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3" name="椭圆 52"/>
            <p:cNvSpPr/>
            <p:nvPr/>
          </p:nvSpPr>
          <p:spPr>
            <a:xfrm>
              <a:off x="8434" y="4871"/>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4" name="椭圆 53"/>
            <p:cNvSpPr/>
            <p:nvPr/>
          </p:nvSpPr>
          <p:spPr>
            <a:xfrm>
              <a:off x="8039" y="6153"/>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5" name="矩形 54"/>
            <p:cNvSpPr/>
            <p:nvPr/>
          </p:nvSpPr>
          <p:spPr>
            <a:xfrm>
              <a:off x="13421" y="3146"/>
              <a:ext cx="435" cy="439"/>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6" name="椭圆 55"/>
            <p:cNvSpPr/>
            <p:nvPr/>
          </p:nvSpPr>
          <p:spPr>
            <a:xfrm>
              <a:off x="16131" y="5670"/>
              <a:ext cx="396"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7" name="椭圆 56"/>
            <p:cNvSpPr/>
            <p:nvPr/>
          </p:nvSpPr>
          <p:spPr>
            <a:xfrm>
              <a:off x="15459" y="4551"/>
              <a:ext cx="396" cy="42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8" name="椭圆 57"/>
            <p:cNvSpPr/>
            <p:nvPr/>
          </p:nvSpPr>
          <p:spPr>
            <a:xfrm>
              <a:off x="13816" y="3777"/>
              <a:ext cx="391" cy="42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59" name="椭圆 58"/>
            <p:cNvSpPr/>
            <p:nvPr/>
          </p:nvSpPr>
          <p:spPr>
            <a:xfrm>
              <a:off x="16695" y="6429"/>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0" name="椭圆 59"/>
            <p:cNvSpPr/>
            <p:nvPr/>
          </p:nvSpPr>
          <p:spPr>
            <a:xfrm>
              <a:off x="13421" y="6725"/>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1" name="椭圆 60"/>
            <p:cNvSpPr/>
            <p:nvPr/>
          </p:nvSpPr>
          <p:spPr>
            <a:xfrm>
              <a:off x="14954" y="6794"/>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2" name="椭圆 61"/>
            <p:cNvSpPr/>
            <p:nvPr/>
          </p:nvSpPr>
          <p:spPr>
            <a:xfrm>
              <a:off x="14207" y="6301"/>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3" name="椭圆 62"/>
            <p:cNvSpPr/>
            <p:nvPr/>
          </p:nvSpPr>
          <p:spPr>
            <a:xfrm>
              <a:off x="13421" y="5576"/>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4" name="椭圆 63"/>
            <p:cNvSpPr/>
            <p:nvPr/>
          </p:nvSpPr>
          <p:spPr>
            <a:xfrm>
              <a:off x="13460" y="4255"/>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5" name="椭圆 64"/>
            <p:cNvSpPr/>
            <p:nvPr/>
          </p:nvSpPr>
          <p:spPr>
            <a:xfrm>
              <a:off x="15632" y="4004"/>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6" name="椭圆 65"/>
            <p:cNvSpPr/>
            <p:nvPr/>
          </p:nvSpPr>
          <p:spPr>
            <a:xfrm>
              <a:off x="17170" y="3935"/>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7" name="椭圆 66"/>
            <p:cNvSpPr/>
            <p:nvPr/>
          </p:nvSpPr>
          <p:spPr>
            <a:xfrm>
              <a:off x="15632" y="2723"/>
              <a:ext cx="396" cy="4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8" name="椭圆 67"/>
            <p:cNvSpPr/>
            <p:nvPr/>
          </p:nvSpPr>
          <p:spPr>
            <a:xfrm>
              <a:off x="17170" y="2787"/>
              <a:ext cx="396" cy="42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sp>
          <p:nvSpPr>
            <p:cNvPr id="69" name="任意多边形 113"/>
            <p:cNvSpPr/>
            <p:nvPr/>
          </p:nvSpPr>
          <p:spPr>
            <a:xfrm>
              <a:off x="13831" y="3462"/>
              <a:ext cx="3601" cy="3213"/>
            </a:xfrm>
            <a:custGeom>
              <a:avLst/>
              <a:gdLst>
                <a:gd name="connisteX0" fmla="*/ 0 w 2286000"/>
                <a:gd name="connsiteY0" fmla="*/ 0 h 2042795"/>
                <a:gd name="connisteX1" fmla="*/ 596265 w 2286000"/>
                <a:gd name="connsiteY1" fmla="*/ 353060 h 2042795"/>
                <a:gd name="connisteX2" fmla="*/ 894715 w 2286000"/>
                <a:gd name="connsiteY2" fmla="*/ 1104265 h 2042795"/>
                <a:gd name="connisteX3" fmla="*/ 1954530 w 2286000"/>
                <a:gd name="connsiteY3" fmla="*/ 1225550 h 2042795"/>
                <a:gd name="connisteX4" fmla="*/ 2286000 w 2286000"/>
                <a:gd name="connsiteY4" fmla="*/ 2042795 h 2042795"/>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2286000" h="2042795">
                  <a:moveTo>
                    <a:pt x="0" y="0"/>
                  </a:moveTo>
                  <a:cubicBezTo>
                    <a:pt x="113030" y="55880"/>
                    <a:pt x="417195" y="132080"/>
                    <a:pt x="596265" y="353060"/>
                  </a:cubicBezTo>
                  <a:cubicBezTo>
                    <a:pt x="775335" y="574040"/>
                    <a:pt x="622935" y="929640"/>
                    <a:pt x="894715" y="1104265"/>
                  </a:cubicBezTo>
                  <a:cubicBezTo>
                    <a:pt x="1166495" y="1278890"/>
                    <a:pt x="1676400" y="1037590"/>
                    <a:pt x="1954530" y="1225550"/>
                  </a:cubicBezTo>
                  <a:cubicBezTo>
                    <a:pt x="2232660" y="1413510"/>
                    <a:pt x="2240915" y="1881505"/>
                    <a:pt x="2286000" y="2042795"/>
                  </a:cubicBezTo>
                </a:path>
              </a:pathLst>
            </a:custGeom>
            <a:noFill/>
            <a:ln w="19050">
              <a:solidFill>
                <a:schemeClr val="tx1"/>
              </a:solidFill>
              <a:headEnd type="non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dirty="0">
                <a:latin typeface="宋体" panose="02010600030101010101" pitchFamily="2" charset="-122"/>
                <a:ea typeface="宋体" panose="02010600030101010101" pitchFamily="2" charset="-122"/>
              </a:endParaRPr>
            </a:p>
          </p:txBody>
        </p:sp>
      </p:grpSp>
      <p:sp>
        <p:nvSpPr>
          <p:cNvPr id="70" name="文本框 69"/>
          <p:cNvSpPr txBox="1"/>
          <p:nvPr/>
        </p:nvSpPr>
        <p:spPr>
          <a:xfrm>
            <a:off x="5143500" y="6455410"/>
            <a:ext cx="2645410" cy="368300"/>
          </a:xfrm>
          <a:prstGeom prst="rect">
            <a:avLst/>
          </a:prstGeom>
          <a:noFill/>
        </p:spPr>
        <p:txBody>
          <a:bodyPr wrap="square">
            <a:spAutoFit/>
          </a:bodyPr>
          <a:lstStyle/>
          <a:p>
            <a:pPr>
              <a:defRPr/>
            </a:pPr>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4-3-4 </a:t>
            </a:r>
            <a:r>
              <a:rPr lang="zh-CN" altLang="en-US" b="1" dirty="0">
                <a:latin typeface="宋体" panose="02010600030101010101" pitchFamily="2" charset="-122"/>
                <a:ea typeface="宋体" panose="02010600030101010101" pitchFamily="2" charset="-122"/>
              </a:rPr>
              <a:t>覆盖的分类</a:t>
            </a:r>
            <a:endParaRPr lang="zh-CN" altLang="en-US" dirty="0">
              <a:latin typeface="宋体" panose="02010600030101010101" pitchFamily="2" charset="-122"/>
              <a:ea typeface="宋体" panose="02010600030101010101" pitchFamily="2" charset="-122"/>
            </a:endParaRPr>
          </a:p>
        </p:txBody>
      </p:sp>
      <p:sp>
        <p:nvSpPr>
          <p:cNvPr id="71" name="标题 5121"/>
          <p:cNvSpPr>
            <a:spLocks noGrp="1" noChangeArrowheads="1"/>
          </p:cNvSpPr>
          <p:nvPr>
            <p:ph type="title"/>
          </p:nvPr>
        </p:nvSpPr>
        <p:spPr>
          <a:xfrm>
            <a:off x="838200" y="18256"/>
            <a:ext cx="10515600" cy="1325563"/>
          </a:xfrm>
        </p:spPr>
        <p:txBody>
          <a:bodyPr/>
          <a:lstStyle/>
          <a:p>
            <a:pPr eaLnBrk="1" hangingPunct="1"/>
            <a:r>
              <a:rPr lang="en-US" b="1" u="sng">
                <a:solidFill>
                  <a:srgbClr val="1D41D5"/>
                </a:solidFill>
                <a:uFillTx/>
                <a:latin typeface="Times New Roman" panose="02020603050405020304" pitchFamily="18" charset="0"/>
              </a:rPr>
              <a:t>4.3 覆盖和连通</a:t>
            </a:r>
            <a:endParaRPr lang="zh-CN" altLang="en-US" b="1"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4.3.4 覆盖算法</a:t>
            </a:r>
            <a:endParaRPr lang="zh-CN" altLang="en-US" b="1" dirty="0"/>
          </a:p>
        </p:txBody>
      </p:sp>
      <p:sp>
        <p:nvSpPr>
          <p:cNvPr id="5122" name="文本占位符 5122"/>
          <p:cNvSpPr>
            <a:spLocks noGrp="1" noChangeArrowheads="1"/>
          </p:cNvSpPr>
          <p:nvPr>
            <p:ph sz="half" idx="1"/>
          </p:nvPr>
        </p:nvSpPr>
        <p:spPr>
          <a:xfrm>
            <a:off x="1016000" y="1325880"/>
            <a:ext cx="10896600" cy="5275580"/>
          </a:xfrm>
        </p:spPr>
        <p:txBody>
          <a:bodyPr>
            <a:normAutofit fontScale="90000"/>
          </a:bodyPr>
          <a:lstStyle/>
          <a:p>
            <a:pPr marL="0" indent="0">
              <a:buNone/>
              <a:defRPr/>
            </a:pPr>
            <a:r>
              <a:rPr lang="zh-CN" altLang="en-US" b="1" dirty="0"/>
              <a:t>4.</a:t>
            </a:r>
            <a:r>
              <a:rPr lang="en-US" altLang="zh-CN" b="1" dirty="0"/>
              <a:t>3.4.1 </a:t>
            </a:r>
            <a:r>
              <a:rPr lang="zh-CN" altLang="zh-CN" b="1" dirty="0"/>
              <a:t>基于冗余节点判断的覆盖控制算法</a:t>
            </a:r>
            <a:endParaRPr lang="en-US" altLang="zh-CN" b="1" dirty="0"/>
          </a:p>
          <a:p>
            <a:pPr marL="0" indent="0" algn="just">
              <a:lnSpc>
                <a:spcPct val="100000"/>
              </a:lnSpc>
              <a:buNone/>
              <a:defRPr/>
            </a:pPr>
            <a:r>
              <a:rPr lang="en-US" altLang="zh-CN" sz="2000" b="1" kern="100" dirty="0">
                <a:solidFill>
                  <a:schemeClr val="bg2"/>
                </a:solidFill>
                <a:latin typeface="Times New Roman" panose="02020603050405020304" pitchFamily="18" charset="0"/>
              </a:rPr>
              <a:t>   </a:t>
            </a:r>
            <a:r>
              <a:rPr lang="zh-CN" altLang="zh-CN" sz="2400" b="1" kern="100" dirty="0">
                <a:latin typeface="Times New Roman" panose="02020603050405020304" pitchFamily="18" charset="0"/>
              </a:rPr>
              <a:t>人们在进行覆盖时撒播的节点既便宜又小，如果一些区域撒播的较多，一些区域撒播的较少，就会造成节点分布不均衡。在收集信息数据时，撒播较多的区域上传的信息重复性高，未撒播到的区域根本没有信息上传，这被称为“覆盖冗余”。大量的无用信息给节点造成负担。所以，人们有规律地将一些节点人为地设置在非工作状态，可以有效避免动力和效率上的损耗。</a:t>
            </a:r>
            <a:endParaRPr lang="en-US" altLang="zh-CN" sz="2400" b="1" kern="100" dirty="0">
              <a:latin typeface="Times New Roman" panose="02020603050405020304" pitchFamily="18" charset="0"/>
            </a:endParaRPr>
          </a:p>
          <a:p>
            <a:pPr marL="0" indent="0" algn="just">
              <a:lnSpc>
                <a:spcPct val="100000"/>
              </a:lnSpc>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针对上述问题，</a:t>
            </a:r>
            <a:r>
              <a:rPr lang="en-US" altLang="zh-CN" sz="2400" b="1" kern="100" dirty="0">
                <a:latin typeface="Times New Roman" panose="02020603050405020304" pitchFamily="18" charset="0"/>
              </a:rPr>
              <a:t>Node Self-Scheduling</a:t>
            </a:r>
            <a:r>
              <a:rPr lang="zh-CN" altLang="zh-CN" sz="2400" b="1" kern="100" dirty="0">
                <a:latin typeface="Times New Roman" panose="02020603050405020304" pitchFamily="18" charset="0"/>
              </a:rPr>
              <a:t>覆盖控制协议可以有效地、有规律地、完整地来控制节点的工作状态。该协议属于确定性区域或点覆盖和节能覆盖类型，并</a:t>
            </a:r>
            <a:r>
              <a:rPr lang="zh-CN" altLang="zh-CN" sz="2400" b="1" kern="100" dirty="0">
                <a:solidFill>
                  <a:srgbClr val="C00000"/>
                </a:solidFill>
                <a:latin typeface="Times New Roman" panose="02020603050405020304" pitchFamily="18" charset="0"/>
              </a:rPr>
              <a:t>规定节点只有活跃和休眠两种状态</a:t>
            </a:r>
            <a:r>
              <a:rPr lang="zh-CN" altLang="zh-CN" sz="2400" b="1" kern="100" dirty="0">
                <a:latin typeface="Times New Roman" panose="02020603050405020304" pitchFamily="18" charset="0"/>
              </a:rPr>
              <a:t>。其工作原理是，节点之间轮流工作、休眠，并以此形成周期性运转，每个周期内各包括一个休眠和一个工作状态。当节点要切换工作状态时，会将自身的信息告诉给周边各节点，以备周边各节点调度。同时，节点也可以根据周边节点返回的信息来判断具体情况，决定是否休眠或者继续工作。依此种方式搭建可以有效地增加网络的生存时间。</a:t>
            </a:r>
            <a:endParaRPr lang="en-US" altLang="zh-CN" sz="2400" b="1" kern="100" dirty="0">
              <a:latin typeface="Times New Roman" panose="02020603050405020304" pitchFamily="18" charset="0"/>
            </a:endParaRPr>
          </a:p>
          <a:p>
            <a:pPr marL="0" indent="0" algn="just">
              <a:lnSpc>
                <a:spcPct val="100000"/>
              </a:lnSpc>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该算法不仅可以避免节点的浪费，而且避免了无效信息对网络造成的负担，节约动力。</a:t>
            </a:r>
            <a:endParaRPr lang="zh-CN" altLang="zh-CN" sz="2400" b="1"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2400" dirty="0"/>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13037" y="1533843"/>
            <a:ext cx="10516235" cy="4351655"/>
          </a:xfrm>
        </p:spPr>
        <p:txBody>
          <a:bodyPr>
            <a:normAutofit fontScale="90000"/>
          </a:bodyPr>
          <a:lstStyle/>
          <a:p>
            <a:pPr marL="0" indent="0">
              <a:buNone/>
              <a:defRPr/>
            </a:pPr>
            <a:r>
              <a:rPr lang="zh-CN" altLang="en-US" b="1" dirty="0"/>
              <a:t>4.</a:t>
            </a:r>
            <a:r>
              <a:rPr lang="en-US" altLang="zh-CN" b="1" dirty="0"/>
              <a:t>3.4.2 </a:t>
            </a:r>
            <a:r>
              <a:rPr lang="zh-CN" altLang="zh-CN" b="1" dirty="0"/>
              <a:t>基于不交叉优势集的覆盖算法</a:t>
            </a:r>
            <a:endParaRPr lang="en-US" altLang="zh-CN" b="1" dirty="0"/>
          </a:p>
          <a:p>
            <a:pPr marL="0" indent="0" algn="just" fontAlgn="auto">
              <a:lnSpc>
                <a:spcPct val="120000"/>
              </a:lnSpc>
              <a:spcBef>
                <a:spcPts val="1200"/>
              </a:spcBef>
              <a:buNone/>
              <a:defRPr/>
            </a:pPr>
            <a:r>
              <a:rPr lang="en-US" altLang="zh-CN" sz="1800" b="1" kern="100" dirty="0">
                <a:solidFill>
                  <a:schemeClr val="bg2"/>
                </a:solidFill>
                <a:latin typeface="Times New Roman" panose="02020603050405020304" pitchFamily="18" charset="0"/>
              </a:rPr>
              <a:t>    </a:t>
            </a:r>
            <a:r>
              <a:rPr lang="zh-CN" altLang="zh-CN" sz="2400" b="1" kern="100" dirty="0">
                <a:latin typeface="Times New Roman" panose="02020603050405020304" pitchFamily="18" charset="0"/>
              </a:rPr>
              <a:t>该算法受节点随机部署的启发，强调将节点按集合分组，但是要保证集合与集合之间没有重叠，各集合只负责自己的工作，每次工作的只是同一集合的节点。因此，这种算法实际上就是找到最大数量的不交叉优势集合（</a:t>
            </a:r>
            <a:r>
              <a:rPr lang="en-US" altLang="zh-CN" sz="2400" b="1" kern="100" dirty="0">
                <a:latin typeface="Times New Roman" panose="02020603050405020304" pitchFamily="18" charset="0"/>
              </a:rPr>
              <a:t>MDDS</a:t>
            </a:r>
            <a:r>
              <a:rPr lang="zh-CN" altLang="zh-CN" sz="2400" b="1" kern="100" dirty="0">
                <a:latin typeface="Times New Roman" panose="02020603050405020304" pitchFamily="18" charset="0"/>
              </a:rPr>
              <a:t>）。</a:t>
            </a:r>
            <a:endParaRPr lang="en-US" altLang="zh-CN" sz="2400" b="1" kern="100" dirty="0">
              <a:latin typeface="Times New Roman" panose="02020603050405020304" pitchFamily="18" charset="0"/>
            </a:endParaRPr>
          </a:p>
          <a:p>
            <a:pPr marL="0" indent="0" algn="just" fontAlgn="auto">
              <a:lnSpc>
                <a:spcPct val="120000"/>
              </a:lnSpc>
              <a:spcBef>
                <a:spcPts val="1200"/>
              </a:spcBef>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在图着色的策略的基础上可化解上面的题目：第一步对全部节点按次序进行着色，第二步评判有一样颜色的节点集合是不是为不交叉优势集，若不是，则将这个集合中的节点放到优势集合中，直到过程终止。</a:t>
            </a:r>
            <a:endParaRPr lang="en-US" altLang="zh-CN" sz="2400" b="1" kern="100" dirty="0">
              <a:latin typeface="Times New Roman" panose="02020603050405020304" pitchFamily="18" charset="0"/>
            </a:endParaRPr>
          </a:p>
          <a:p>
            <a:pPr marL="0" indent="0" algn="just" fontAlgn="auto">
              <a:lnSpc>
                <a:spcPct val="120000"/>
              </a:lnSpc>
              <a:spcBef>
                <a:spcPts val="1200"/>
              </a:spcBef>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该算法虽然能够增加网络的生存时间，但是受这种集合组织的影响，一旦某个集合中有一个节点出现故障，那么整个集合都会因为这个故障而无法继续工作。</a:t>
            </a:r>
            <a:endParaRPr lang="zh-CN" altLang="zh-CN" sz="2400" b="1"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24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4.3.4 覆盖算法</a:t>
            </a:r>
            <a:endParaRPr lang="zh-CN" altLang="en-US" b="1" dirty="0"/>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100666" y="1579563"/>
            <a:ext cx="10516235" cy="4351655"/>
          </a:xfrm>
        </p:spPr>
        <p:txBody>
          <a:bodyPr/>
          <a:lstStyle/>
          <a:p>
            <a:pPr marL="0" indent="0">
              <a:buNone/>
              <a:defRPr/>
            </a:pPr>
            <a:r>
              <a:rPr lang="zh-CN" altLang="en-US" b="1" dirty="0"/>
              <a:t>4.</a:t>
            </a:r>
            <a:r>
              <a:rPr lang="en-US" altLang="zh-CN" b="1" dirty="0"/>
              <a:t>3.4.3 </a:t>
            </a:r>
            <a:r>
              <a:rPr lang="zh-CN" altLang="zh-CN" b="1" dirty="0"/>
              <a:t>基于多重</a:t>
            </a:r>
            <a:r>
              <a:rPr lang="en-US" altLang="zh-CN" b="1" dirty="0"/>
              <a:t>k</a:t>
            </a:r>
            <a:r>
              <a:rPr lang="zh-CN" altLang="zh-CN" b="1" dirty="0"/>
              <a:t>覆盖算法</a:t>
            </a:r>
            <a:endParaRPr lang="zh-CN" altLang="en-US" b="1" dirty="0"/>
          </a:p>
          <a:p>
            <a:pPr marL="0" indent="0" algn="just" fontAlgn="auto">
              <a:lnSpc>
                <a:spcPct val="150000"/>
              </a:lnSpc>
              <a:buNone/>
              <a:defRPr/>
            </a:pPr>
            <a:r>
              <a:rPr lang="en-US" altLang="zh-CN" sz="2000" kern="100" dirty="0">
                <a:latin typeface="Times New Roman" panose="02020603050405020304" pitchFamily="18" charset="0"/>
                <a:cs typeface="Times New Roman" panose="02020603050405020304" pitchFamily="18" charset="0"/>
              </a:rPr>
              <a:t>    </a:t>
            </a:r>
            <a:r>
              <a:rPr lang="zh-CN" altLang="zh-CN" sz="2400" b="1" kern="100" dirty="0">
                <a:latin typeface="Times New Roman" panose="02020603050405020304" pitchFamily="18" charset="0"/>
                <a:cs typeface="Times New Roman" panose="02020603050405020304" pitchFamily="18" charset="0"/>
              </a:rPr>
              <a:t>该算法认为网络覆盖的情况是有级别区分的。覆盖的级别越高说明该网络性能越好，这种性能体现在精度、容错力和健壮性上。因此其规定，如果区域内的每个点都在</a:t>
            </a:r>
            <a:r>
              <a:rPr lang="en-US" altLang="zh-CN" sz="2400" b="1" kern="100" dirty="0">
                <a:latin typeface="Times New Roman" panose="02020603050405020304" pitchFamily="18" charset="0"/>
              </a:rPr>
              <a:t>K</a:t>
            </a:r>
            <a:r>
              <a:rPr lang="zh-CN" altLang="zh-CN" sz="2400" b="1" kern="100" dirty="0">
                <a:latin typeface="Times New Roman" panose="02020603050405020304" pitchFamily="18" charset="0"/>
                <a:cs typeface="Times New Roman" panose="02020603050405020304" pitchFamily="18" charset="0"/>
              </a:rPr>
              <a:t>个传感器的控制下，那么就认为这个网络具有等级为</a:t>
            </a:r>
            <a:r>
              <a:rPr lang="en-US" altLang="zh-CN" sz="2400" b="1" kern="100" dirty="0">
                <a:latin typeface="Times New Roman" panose="02020603050405020304" pitchFamily="18" charset="0"/>
              </a:rPr>
              <a:t>K</a:t>
            </a:r>
            <a:r>
              <a:rPr lang="zh-CN" altLang="zh-CN" sz="2400" b="1" kern="100" dirty="0">
                <a:latin typeface="Times New Roman" panose="02020603050405020304" pitchFamily="18" charset="0"/>
                <a:cs typeface="Times New Roman" panose="02020603050405020304" pitchFamily="18" charset="0"/>
              </a:rPr>
              <a:t>的网络覆盖。</a:t>
            </a:r>
            <a:endParaRPr lang="zh-CN" altLang="en-US" sz="2400" b="1"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4.3.4 覆盖算法</a:t>
            </a:r>
            <a:endParaRPr lang="zh-CN" altLang="en-US" b="1"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占位符 5122"/>
          <p:cNvSpPr>
            <a:spLocks noGrp="1" noChangeArrowheads="1"/>
          </p:cNvSpPr>
          <p:nvPr>
            <p:ph sz="half" idx="1"/>
          </p:nvPr>
        </p:nvSpPr>
        <p:spPr>
          <a:xfrm>
            <a:off x="1066800" y="1325880"/>
            <a:ext cx="10516235" cy="5160010"/>
          </a:xfrm>
        </p:spPr>
        <p:txBody>
          <a:bodyPr>
            <a:normAutofit/>
          </a:bodyPr>
          <a:lstStyle/>
          <a:p>
            <a:pPr marL="0" indent="0" algn="just">
              <a:buNone/>
              <a:defRPr/>
            </a:pPr>
            <a:r>
              <a:rPr lang="zh-CN" altLang="en-US" b="1" dirty="0"/>
              <a:t>4.</a:t>
            </a:r>
            <a:r>
              <a:rPr lang="en-US" altLang="zh-CN" b="1" dirty="0"/>
              <a:t>3.4.4 </a:t>
            </a:r>
            <a:r>
              <a:rPr lang="zh-CN" altLang="zh-CN" b="1" dirty="0"/>
              <a:t>基于采样点覆盖算法</a:t>
            </a:r>
            <a:endParaRPr lang="en-US" altLang="zh-CN" b="1" dirty="0"/>
          </a:p>
          <a:p>
            <a:pPr marL="0" indent="0" algn="just" fontAlgn="auto">
              <a:lnSpc>
                <a:spcPct val="130000"/>
              </a:lnSpc>
              <a:buNone/>
              <a:defRPr/>
            </a:pPr>
            <a:r>
              <a:rPr lang="en-US" altLang="zh-CN" sz="1800" b="1" kern="100" dirty="0">
                <a:solidFill>
                  <a:schemeClr val="bg2"/>
                </a:solidFill>
                <a:latin typeface="Times New Roman" panose="02020603050405020304" pitchFamily="18" charset="0"/>
              </a:rPr>
              <a:t>        </a:t>
            </a:r>
            <a:r>
              <a:rPr lang="zh-CN" altLang="zh-CN" sz="2400" b="1" kern="100" dirty="0">
                <a:latin typeface="Times New Roman" panose="02020603050405020304" pitchFamily="18" charset="0"/>
              </a:rPr>
              <a:t>在该算法中，网络点替换目标区域，全部区域覆盖可相当于点覆盖，从而把区域覆盖问题变成为集合覆盖问题。</a:t>
            </a:r>
            <a:endParaRPr lang="en-US" altLang="zh-CN" sz="2400" b="1" kern="100" dirty="0">
              <a:latin typeface="Times New Roman" panose="02020603050405020304" pitchFamily="18" charset="0"/>
            </a:endParaRPr>
          </a:p>
          <a:p>
            <a:pPr marL="0" indent="0" algn="just" fontAlgn="auto">
              <a:lnSpc>
                <a:spcPct val="130000"/>
              </a:lnSpc>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集合覆盖作为典型的</a:t>
            </a:r>
            <a:r>
              <a:rPr lang="en-US" altLang="zh-CN" sz="2400" b="1" kern="100" dirty="0">
                <a:latin typeface="Times New Roman" panose="02020603050405020304" pitchFamily="18" charset="0"/>
              </a:rPr>
              <a:t>NP</a:t>
            </a:r>
            <a:r>
              <a:rPr lang="zh-CN" altLang="zh-CN" sz="2400" b="1" kern="100" dirty="0">
                <a:latin typeface="Times New Roman" panose="02020603050405020304" pitchFamily="18" charset="0"/>
              </a:rPr>
              <a:t>难问题，使用了依次求出含有未覆盖区域采样点最大的节点来求解近似最小工作节点集（贪婪算法）。使用网格作为目标区域的近似，采样点的数量与目标区域的大小以及网格面积有联系。网格面积与覆盖精度高度相关，网格面积越大，则采样点的个数越小，对应的预处理时间越短，网络覆盖性能越差。</a:t>
            </a:r>
            <a:endParaRPr lang="en-US" altLang="zh-CN" sz="2400" b="1" kern="100" dirty="0">
              <a:latin typeface="Times New Roman" panose="02020603050405020304" pitchFamily="18" charset="0"/>
            </a:endParaRPr>
          </a:p>
          <a:p>
            <a:pPr marL="0" indent="0" algn="just" fontAlgn="auto">
              <a:lnSpc>
                <a:spcPct val="130000"/>
              </a:lnSpc>
              <a:buNone/>
              <a:defRPr/>
            </a:pP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为了保证网络的可靠性，必须保证节点可以监测到所有目标。所以在使用上述方法时，网格就不能过大甚至要足够小。</a:t>
            </a:r>
            <a:endParaRPr lang="zh-CN" altLang="zh-CN" sz="2400" b="1" kern="100" dirty="0">
              <a:latin typeface="Times New Roman" panose="02020603050405020304" pitchFamily="18" charset="0"/>
            </a:endParaRPr>
          </a:p>
          <a:p>
            <a:pPr marL="0" indent="0" algn="just" fontAlgn="auto">
              <a:lnSpc>
                <a:spcPct val="130000"/>
              </a:lnSpc>
              <a:buFont typeface="Wingdings" panose="05000000000000000000" pitchFamily="2" charset="2"/>
              <a:buNone/>
              <a:defRPr/>
            </a:pPr>
            <a:endParaRPr lang="zh-CN" altLang="en-US" sz="2400" dirty="0"/>
          </a:p>
        </p:txBody>
      </p:sp>
      <p:sp>
        <p:nvSpPr>
          <p:cNvPr id="6" name="标题 5121"/>
          <p:cNvSpPr>
            <a:spLocks noGrp="1" noChangeArrowheads="1"/>
          </p:cNvSpPr>
          <p:nvPr>
            <p:ph type="title"/>
          </p:nvPr>
        </p:nvSpPr>
        <p:spPr>
          <a:xfrm>
            <a:off x="838200" y="0"/>
            <a:ext cx="10515600" cy="1325563"/>
          </a:xfrm>
        </p:spPr>
        <p:txBody>
          <a:bodyPr/>
          <a:lstStyle/>
          <a:p>
            <a:pPr eaLnBrk="1" hangingPunct="1"/>
            <a:r>
              <a:rPr lang="en-US" b="1" u="sng">
                <a:solidFill>
                  <a:srgbClr val="1D41D5"/>
                </a:solidFill>
                <a:uFillTx/>
                <a:latin typeface="Times New Roman" panose="02020603050405020304" pitchFamily="18" charset="0"/>
              </a:rPr>
              <a:t>4.3.4 覆盖算法</a:t>
            </a:r>
            <a:endParaRPr lang="zh-CN" altLang="en-US" b="1" dirty="0"/>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5121"/>
          <p:cNvSpPr>
            <a:spLocks noGrp="1" noChangeArrowheads="1"/>
          </p:cNvSpPr>
          <p:nvPr>
            <p:ph type="title"/>
          </p:nvPr>
        </p:nvSpPr>
        <p:spPr>
          <a:xfrm>
            <a:off x="838835" y="0"/>
            <a:ext cx="10515600" cy="1325563"/>
          </a:xfrm>
        </p:spPr>
        <p:txBody>
          <a:bodyPr/>
          <a:lstStyle/>
          <a:p>
            <a:pPr eaLnBrk="1" hangingPunct="1"/>
            <a:r>
              <a:rPr lang="en-US" b="1" u="sng">
                <a:solidFill>
                  <a:srgbClr val="1D41D5"/>
                </a:solidFill>
                <a:uFillTx/>
                <a:latin typeface="Times New Roman" panose="02020603050405020304" pitchFamily="18" charset="0"/>
              </a:rPr>
              <a:t>习题4</a:t>
            </a:r>
            <a:endParaRPr lang="zh-CN" altLang="en-US" b="1"/>
          </a:p>
        </p:txBody>
      </p:sp>
      <p:sp>
        <p:nvSpPr>
          <p:cNvPr id="5122" name="文本占位符 5122"/>
          <p:cNvSpPr>
            <a:spLocks noGrp="1" noChangeArrowheads="1"/>
          </p:cNvSpPr>
          <p:nvPr>
            <p:ph sz="half" idx="1"/>
          </p:nvPr>
        </p:nvSpPr>
        <p:spPr>
          <a:xfrm>
            <a:off x="2213610" y="1485265"/>
            <a:ext cx="8203565" cy="4897120"/>
          </a:xfrm>
        </p:spPr>
        <p:txBody>
          <a:bodyPr>
            <a:normAutofit lnSpcReduction="20000"/>
          </a:bodyPr>
          <a:lstStyle/>
          <a:p>
            <a:pPr marL="342900" indent="-342900" algn="just">
              <a:lnSpc>
                <a:spcPct val="100000"/>
              </a:lnSpc>
              <a:buFont typeface="+mj-lt"/>
              <a:buAutoNum type="arabicPeriod"/>
              <a:defRPr/>
            </a:pPr>
            <a:r>
              <a:rPr lang="en-US" altLang="zh-CN" sz="2400" b="1" kern="100" dirty="0">
                <a:solidFill>
                  <a:srgbClr val="000000"/>
                </a:solidFill>
                <a:latin typeface="Times New Roman" panose="02020603050405020304" pitchFamily="18" charset="0"/>
              </a:rPr>
              <a:t>  </a:t>
            </a:r>
            <a:r>
              <a:rPr lang="zh-CN" altLang="zh-CN" sz="2400" b="1" kern="100" dirty="0">
                <a:solidFill>
                  <a:srgbClr val="000000"/>
                </a:solidFill>
                <a:latin typeface="Times New Roman" panose="02020603050405020304" pitchFamily="18" charset="0"/>
              </a:rPr>
              <a:t>简述无线传感器网络</a:t>
            </a:r>
            <a:r>
              <a:rPr lang="en-US" altLang="zh-CN" sz="2400" b="1" kern="100" dirty="0">
                <a:solidFill>
                  <a:srgbClr val="000000"/>
                </a:solidFill>
                <a:latin typeface="Times New Roman" panose="02020603050405020304" pitchFamily="18" charset="0"/>
              </a:rPr>
              <a:t>MAC</a:t>
            </a:r>
            <a:r>
              <a:rPr lang="zh-CN" altLang="zh-CN" sz="2400" b="1" kern="100" dirty="0">
                <a:solidFill>
                  <a:srgbClr val="000000"/>
                </a:solidFill>
                <a:latin typeface="Times New Roman" panose="02020603050405020304" pitchFamily="18" charset="0"/>
              </a:rPr>
              <a:t>协议的功能和分类。</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简述基于竞争的</a:t>
            </a:r>
            <a:r>
              <a:rPr lang="en-US" altLang="zh-CN" sz="2400" b="1" kern="100" dirty="0">
                <a:solidFill>
                  <a:srgbClr val="000000"/>
                </a:solidFill>
                <a:latin typeface="Times New Roman" panose="02020603050405020304" pitchFamily="18" charset="0"/>
              </a:rPr>
              <a:t>MAC</a:t>
            </a:r>
            <a:r>
              <a:rPr lang="zh-CN" altLang="zh-CN" sz="2400" b="1" kern="100" dirty="0">
                <a:solidFill>
                  <a:srgbClr val="000000"/>
                </a:solidFill>
                <a:latin typeface="Times New Roman" panose="02020603050405020304" pitchFamily="18" charset="0"/>
              </a:rPr>
              <a:t>协议的含义及典型算法。</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简述基于分配的</a:t>
            </a:r>
            <a:r>
              <a:rPr lang="en-US" altLang="zh-CN" sz="2400" b="1" kern="100" dirty="0">
                <a:solidFill>
                  <a:srgbClr val="000000"/>
                </a:solidFill>
                <a:latin typeface="Times New Roman" panose="02020603050405020304" pitchFamily="18" charset="0"/>
              </a:rPr>
              <a:t>MAC</a:t>
            </a:r>
            <a:r>
              <a:rPr lang="zh-CN" altLang="zh-CN" sz="2400" b="1" kern="100" dirty="0">
                <a:solidFill>
                  <a:srgbClr val="000000"/>
                </a:solidFill>
                <a:latin typeface="Times New Roman" panose="02020603050405020304" pitchFamily="18" charset="0"/>
              </a:rPr>
              <a:t>协议的含义及典型算法。</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简述拓扑控制的意义。</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简述典型的拓扑结构及拓扑控制的设计目标。</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简述功率控制技术的类型。</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简述覆盖理论的基本思想。</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简述传感器节点的感知模型。</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简述覆盖算法的分类。</a:t>
            </a:r>
            <a:endParaRPr lang="zh-CN" altLang="zh-CN" sz="2400" b="1" kern="100" dirty="0">
              <a:latin typeface="Times New Roman" panose="02020603050405020304" pitchFamily="18" charset="0"/>
            </a:endParaRPr>
          </a:p>
          <a:p>
            <a:pPr marL="457200" indent="-457200" algn="just">
              <a:lnSpc>
                <a:spcPct val="100000"/>
              </a:lnSpc>
              <a:buFont typeface="+mj-lt"/>
              <a:buAutoNum type="arabicPeriod"/>
              <a:defRPr/>
            </a:pPr>
            <a:r>
              <a:rPr lang="zh-CN" altLang="zh-CN" sz="2400" b="1" kern="100" dirty="0">
                <a:solidFill>
                  <a:srgbClr val="000000"/>
                </a:solidFill>
                <a:latin typeface="Times New Roman" panose="02020603050405020304" pitchFamily="18" charset="0"/>
              </a:rPr>
              <a:t>典型覆盖算法有哪些</a:t>
            </a:r>
            <a:r>
              <a:rPr lang="en-US" altLang="zh-CN" sz="2400" b="1" kern="100" dirty="0">
                <a:solidFill>
                  <a:srgbClr val="000000"/>
                </a:solidFill>
                <a:latin typeface="Times New Roman" panose="02020603050405020304" pitchFamily="18" charset="0"/>
              </a:rPr>
              <a:t>?</a:t>
            </a:r>
            <a:endParaRPr lang="zh-CN" altLang="zh-CN" sz="2400" b="1" kern="100" dirty="0">
              <a:latin typeface="Times New Roman" panose="02020603050405020304" pitchFamily="18" charset="0"/>
            </a:endParaRPr>
          </a:p>
          <a:p>
            <a:pPr marL="342900" indent="-342900">
              <a:buNone/>
              <a:defRPr/>
            </a:pPr>
            <a:br>
              <a:rPr lang="en-US" altLang="zh-CN" sz="1800" kern="100" dirty="0">
                <a:latin typeface="Times New Roman" panose="02020603050405020304" pitchFamily="18" charset="0"/>
              </a:rPr>
            </a:br>
            <a:r>
              <a:rPr lang="en-US" altLang="zh-CN" sz="1800" kern="100" dirty="0">
                <a:latin typeface="Times New Roman" panose="02020603050405020304" pitchFamily="18" charset="0"/>
              </a:rPr>
              <a:t> </a:t>
            </a:r>
            <a:endParaRPr lang="zh-CN" altLang="zh-CN" sz="1800" kern="100" dirty="0">
              <a:latin typeface="Times New Roman" panose="02020603050405020304" pitchFamily="18" charset="0"/>
            </a:endParaRPr>
          </a:p>
          <a:p>
            <a:pPr eaLnBrk="1" hangingPunct="1">
              <a:lnSpc>
                <a:spcPct val="180000"/>
              </a:lnSpc>
              <a:buFont typeface="Wingdings" panose="05000000000000000000" pitchFamily="2" charset="2"/>
              <a:buNone/>
              <a:defRPr/>
            </a:pPr>
            <a:endParaRPr lang="zh-CN" altLang="en-US" sz="1800" dirty="0"/>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p:cNvSpPr>
            <a:spLocks noGrp="1"/>
          </p:cNvSpPr>
          <p:nvPr>
            <p:custDataLst>
              <p:tags r:id="rId1"/>
            </p:custDataLst>
          </p:nvPr>
        </p:nvSpPr>
        <p:spPr>
          <a:xfrm>
            <a:off x="2921000" y="2829121"/>
            <a:ext cx="6350000" cy="1200150"/>
          </a:xfrm>
          <a:prstGeom prst="rect">
            <a:avLst/>
          </a:prstGeom>
        </p:spPr>
        <p:txBody>
          <a:bodyPr vert="horz" wrap="square" lIns="0" tIns="0" rIns="0" bIns="0" rtlCol="0" anchor="b" anchorCtr="0">
            <a:noAutofit/>
          </a:bodyPr>
          <a:lstStyle>
            <a:lvl1pPr marL="0" marR="0" algn="ctr" defTabSz="914400" rtl="0" eaLnBrk="1" fontAlgn="auto" latinLnBrk="0" hangingPunct="1">
              <a:lnSpc>
                <a:spcPct val="100000"/>
              </a:lnSpc>
              <a:spcBef>
                <a:spcPct val="0"/>
              </a:spcBef>
              <a:buClrTx/>
              <a:buSzTx/>
              <a:buFontTx/>
              <a:buNone/>
              <a:defRPr kumimoji="0" lang="zh-CN" altLang="en-US" sz="7000" b="1" i="0" u="none" strike="noStrike" kern="1200" cap="none" spc="1000" normalizeH="0" baseline="0" noProof="1" dirty="0">
                <a:solidFill>
                  <a:srgbClr val="000000">
                    <a:lumMod val="85000"/>
                    <a:lumOff val="15000"/>
                  </a:srgbClr>
                </a:solidFill>
                <a:uFillTx/>
                <a:latin typeface="Arial" panose="020B0604020202020204" pitchFamily="34" charset="0"/>
                <a:ea typeface="汉仪旗黑-85S" panose="00020600040101010101" pitchFamily="18" charset="-122"/>
                <a:cs typeface="+mn-ea"/>
              </a:defRPr>
            </a:lvl1pPr>
          </a:lstStyle>
          <a:p>
            <a:r>
              <a:rPr sz="8000">
                <a:latin typeface="等线" panose="02010600030101010101" charset="-122"/>
                <a:ea typeface="等线" panose="02010600030101010101" charset="-122"/>
                <a:sym typeface="+mn-ea"/>
              </a:rPr>
              <a:t>THANKS</a:t>
            </a:r>
            <a:endParaRPr lang="zh-CN" altLang="en-US" sz="8000" dirty="0">
              <a:latin typeface="宋体" panose="02010600030101010101" pitchFamily="2" charset="-122"/>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TABLE_BEAUTIFY" val="smartTable{147a7df8-62c4-4e1a-9157-7d26c1085ea4}"/>
  <p:tag name="TABLE_ENDDRAG_ORIGIN_RECT" val="599*215"/>
  <p:tag name="TABLE_ENDDRAG_RECT" val="173*324*599*215"/>
</p:tagLst>
</file>

<file path=ppt/tags/tag2.xml><?xml version="1.0" encoding="utf-8"?>
<p:tagLst xmlns:p="http://schemas.openxmlformats.org/presentationml/2006/main">
  <p:tag name="KSO_WM_UNIT_TABLE_BEAUTIFY" val="smartTable{7abecfb9-bf36-4956-b845-52c437963a73}"/>
</p:tagLst>
</file>

<file path=ppt/tags/tag3.xml><?xml version="1.0" encoding="utf-8"?>
<p:tagLst xmlns:p="http://schemas.openxmlformats.org/presentationml/2006/main">
  <p:tag name="KSO_WM_UNIT_TABLE_BEAUTIFY" val="smartTable{ea554314-561f-4f30-8f80-10a3a2df4838}"/>
  <p:tag name="TABLE_ENDDRAG_ORIGIN_RECT" val="465*168"/>
  <p:tag name="TABLE_ENDDRAG_RECT" val="224*156*465*168"/>
</p:tagLst>
</file>

<file path=ppt/tags/tag4.xml><?xml version="1.0" encoding="utf-8"?>
<p:tagLst xmlns:p="http://schemas.openxmlformats.org/presentationml/2006/main">
  <p:tag name="KSO_WM_UNIT_TABLE_BEAUTIFY" val="smartTable{bf194d17-b395-4899-9ad2-f1c7ebe7f629}"/>
</p:tagLst>
</file>

<file path=ppt/tags/tag5.xml><?xml version="1.0" encoding="utf-8"?>
<p:tagLst xmlns:p="http://schemas.openxmlformats.org/presentationml/2006/main">
  <p:tag name="KSO_WM_UNIT_ISCONTENTSTITLE" val="0"/>
  <p:tag name="KSO_WM_UNIT_ISNUMDGMTITLE" val="0"/>
  <p:tag name="KSO_WM_UNIT_NOCLEAR" val="1"/>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193369_54*a*1"/>
  <p:tag name="KSO_WM_TEMPLATE_CATEGORY" val="custom"/>
  <p:tag name="KSO_WM_TEMPLATE_INDEX" val="20193369"/>
  <p:tag name="KSO_WM_UNIT_LAYERLEVEL" val="1"/>
  <p:tag name="KSO_WM_TAG_VERSION" val="1.0"/>
  <p:tag name="KSO_WM_BEAUTIFY_FLAG" val="#wm#"/>
  <p:tag name="KSO_WM_UNIT_PRESET_TEXT" val="THANKS"/>
  <p:tag name="KSO_WM_UNIT_DEFAULT_FONT" val="24;80;4"/>
  <p:tag name="KSO_WM_UNIT_BLOCK" val="0"/>
  <p:tag name="KSO_WM_UNIT_DEC_AREA_ID" val="29d931bbccae4e79a9c5d395ee684df6"/>
  <p:tag name="KSO_WM_CHIP_GROUPID" val="5ebdf5a90ac41c4a0a525507"/>
  <p:tag name="KSO_WM_CHIP_XID" val="5ebdf5a90ac41c4a0a525508"/>
  <p:tag name="KSO_WM_CHIP_FILLAREA_FILL_RULE" val="{&quot;fill_align&quot;:&quot;cm&quot;,&quot;fill_mode&quot;:&quot;adaptive&quot;,&quot;sacle_strategy&quot;:&quot;smart&quot;}"/>
  <p:tag name="KSO_WM_ASSEMBLE_CHIP_INDEX" val="c35d8afa0f0641e58b128f4a92c6b79a"/>
  <p:tag name="KSO_WM_UNIT_TEXT_FILL_FORE_SCHEMECOLOR_INDEX_BRIGHTNESS" val="0.15"/>
  <p:tag name="KSO_WM_UNIT_TEXT_FILL_FORE_SCHEMECOLOR_INDEX" val="13"/>
  <p:tag name="KSO_WM_UNIT_TEXT_FILL_TYPE" val="1"/>
</p:tagLst>
</file>

<file path=ppt/tags/tag6.xml><?xml version="1.0" encoding="utf-8"?>
<p:tagLst xmlns:p="http://schemas.openxmlformats.org/presentationml/2006/main">
  <p:tag name="COMMONDATA" val="eyJoZGlkIjoiYmNlYWRiMTM4YmE0MDkyMzUwZTUwNGQyMmZmMjVhMmEifQ=="/>
  <p:tag name="KSO_WPP_MARK_KEY" val="cb810297-e10d-4066-9779-b82c79672aab"/>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19941</Words>
  <Application>WPS 演示</Application>
  <PresentationFormat>宽屏</PresentationFormat>
  <Paragraphs>785</Paragraphs>
  <Slides>61</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11</vt:i4>
      </vt:variant>
      <vt:variant>
        <vt:lpstr>幻灯片标题</vt:lpstr>
      </vt:variant>
      <vt:variant>
        <vt:i4>61</vt:i4>
      </vt:variant>
    </vt:vector>
  </HeadingPairs>
  <TitlesOfParts>
    <vt:vector size="88" baseType="lpstr">
      <vt:lpstr>Arial</vt:lpstr>
      <vt:lpstr>宋体</vt:lpstr>
      <vt:lpstr>Wingdings</vt:lpstr>
      <vt:lpstr>汉仪中宋简</vt:lpstr>
      <vt:lpstr>黑体</vt:lpstr>
      <vt:lpstr>楷体</vt:lpstr>
      <vt:lpstr>Times New Roman</vt:lpstr>
      <vt:lpstr>Tahoma</vt:lpstr>
      <vt:lpstr>Helvetica Neue</vt:lpstr>
      <vt:lpstr>Tahoma</vt:lpstr>
      <vt:lpstr>微软雅黑</vt:lpstr>
      <vt:lpstr>Arial Unicode MS</vt:lpstr>
      <vt:lpstr>Calibri</vt:lpstr>
      <vt:lpstr>汉仪旗黑-85S</vt:lpstr>
      <vt:lpstr>等线</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无线传感器网络（微课视频版）</vt:lpstr>
      <vt:lpstr>第4章</vt:lpstr>
      <vt:lpstr>PowerPoint 演示文稿</vt:lpstr>
      <vt:lpstr>第4章  数据链路层控制</vt:lpstr>
      <vt:lpstr>4.1 MAC协议</vt:lpstr>
      <vt:lpstr>4.1 MAC协议</vt:lpstr>
      <vt:lpstr>4.1.2 基于竞争的MAC协议</vt:lpstr>
      <vt:lpstr>4.1.2 基于竞争的MAC协议</vt:lpstr>
      <vt:lpstr>4.1.2 基于竞争的MAC协议</vt:lpstr>
      <vt:lpstr>PowerPoint 演示文稿</vt:lpstr>
      <vt:lpstr>4.1.2 基于竞争的MAC协议</vt:lpstr>
      <vt:lpstr>PowerPoint 演示文稿</vt:lpstr>
      <vt:lpstr>PowerPoint 演示文稿</vt:lpstr>
      <vt:lpstr>PowerPoint 演示文稿</vt:lpstr>
      <vt:lpstr>PowerPoint 演示文稿</vt:lpstr>
      <vt:lpstr>4.1.3 基于分配型的MAC协议</vt:lpstr>
      <vt:lpstr>4.1.3 基于分配型的MAC协议</vt:lpstr>
      <vt:lpstr>PowerPoint 演示文稿</vt:lpstr>
      <vt:lpstr>PowerPoint 演示文稿</vt:lpstr>
      <vt:lpstr>4.1.3 基于分配型的MAC协议</vt:lpstr>
      <vt:lpstr>4.2 拓扑控制</vt:lpstr>
      <vt:lpstr>4.2 拓扑控制</vt:lpstr>
      <vt:lpstr>4.2 拓扑控制</vt:lpstr>
      <vt:lpstr>4.2 拓扑控制</vt:lpstr>
      <vt:lpstr>4.2 拓扑控制</vt:lpstr>
      <vt:lpstr>4.2.3 功率控制技术</vt:lpstr>
      <vt:lpstr>4.2.3 功率控制技术</vt:lpstr>
      <vt:lpstr>4.2.3 功率控制技术</vt:lpstr>
      <vt:lpstr>4.2.3 功率控制技术</vt:lpstr>
      <vt:lpstr>4.2.3 功率控制技术</vt:lpstr>
      <vt:lpstr>4.2.3 功率控制技术</vt:lpstr>
      <vt:lpstr>4.2 拓扑控制</vt:lpstr>
      <vt:lpstr>4.2.4 睡眠调度</vt:lpstr>
      <vt:lpstr>4.2.4 睡眠调度</vt:lpstr>
      <vt:lpstr>4.2.4 睡眠调度</vt:lpstr>
      <vt:lpstr>4.2.4 睡眠调度</vt:lpstr>
      <vt:lpstr>4.2.4 睡眠调度</vt:lpstr>
      <vt:lpstr>4.2.4 睡眠调度</vt:lpstr>
      <vt:lpstr>4.2.4 睡眠调度</vt:lpstr>
      <vt:lpstr>4.2.4 睡眠调度</vt:lpstr>
      <vt:lpstr>4.2.4 睡眠调度</vt:lpstr>
      <vt:lpstr>4.2.4 睡眠调度</vt:lpstr>
      <vt:lpstr>4.3 覆盖和连通</vt:lpstr>
      <vt:lpstr>4.3.1 概述</vt:lpstr>
      <vt:lpstr>4.3.1 概述</vt:lpstr>
      <vt:lpstr>4.3.1 概述</vt:lpstr>
      <vt:lpstr>4.3.1 概述</vt:lpstr>
      <vt:lpstr>PowerPoint 演示文稿</vt:lpstr>
      <vt:lpstr>PowerPoint 演示文稿</vt:lpstr>
      <vt:lpstr>4.3 覆盖和连通</vt:lpstr>
      <vt:lpstr>4.3 覆盖和连通</vt:lpstr>
      <vt:lpstr>4.3 覆盖和连通</vt:lpstr>
      <vt:lpstr>4.3 覆盖和连通</vt:lpstr>
      <vt:lpstr>4.3 覆盖和连通</vt:lpstr>
      <vt:lpstr>4.3 覆盖和连通</vt:lpstr>
      <vt:lpstr>4.3.4 覆盖算法</vt:lpstr>
      <vt:lpstr>4.3.4 覆盖算法</vt:lpstr>
      <vt:lpstr>4.3.4 覆盖算法</vt:lpstr>
      <vt:lpstr>4.3.4 覆盖算法</vt:lpstr>
      <vt:lpstr>习题4</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ckl</dc:creator>
  <cp:lastModifiedBy>BN</cp:lastModifiedBy>
  <cp:revision>589</cp:revision>
  <dcterms:created xsi:type="dcterms:W3CDTF">2016-05-24T01:15:00Z</dcterms:created>
  <dcterms:modified xsi:type="dcterms:W3CDTF">2023-07-14T00:14:23Z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2027B43E788F4EE3BEEC5F58BFA1DCF5</vt:lpwstr>
  </property>
  <property fmtid="{D5CDD505-2E9C-101B-9397-08002B2CF9AE}" pid="3" name="KSOProductBuildVer">
    <vt:lpwstr>2052-11.1.0.14309</vt:lpwstr>
  </property>
</Properties>
</file>