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437" r:id="rId2"/>
    <p:sldId id="438" r:id="rId3"/>
    <p:sldId id="439" r:id="rId4"/>
    <p:sldId id="440" r:id="rId5"/>
    <p:sldId id="374" r:id="rId6"/>
    <p:sldId id="375" r:id="rId7"/>
    <p:sldId id="401" r:id="rId8"/>
    <p:sldId id="317" r:id="rId9"/>
    <p:sldId id="402" r:id="rId10"/>
    <p:sldId id="452" r:id="rId11"/>
    <p:sldId id="433" r:id="rId12"/>
    <p:sldId id="434" r:id="rId13"/>
    <p:sldId id="435" r:id="rId14"/>
    <p:sldId id="321" r:id="rId15"/>
    <p:sldId id="318" r:id="rId16"/>
    <p:sldId id="419" r:id="rId17"/>
    <p:sldId id="428" r:id="rId18"/>
    <p:sldId id="429" r:id="rId19"/>
    <p:sldId id="430" r:id="rId20"/>
    <p:sldId id="431" r:id="rId21"/>
    <p:sldId id="420" r:id="rId22"/>
    <p:sldId id="421" r:id="rId23"/>
    <p:sldId id="422" r:id="rId24"/>
    <p:sldId id="423" r:id="rId25"/>
    <p:sldId id="424" r:id="rId26"/>
    <p:sldId id="425" r:id="rId27"/>
    <p:sldId id="427" r:id="rId28"/>
    <p:sldId id="403" r:id="rId29"/>
    <p:sldId id="324" r:id="rId30"/>
    <p:sldId id="319" r:id="rId31"/>
    <p:sldId id="441" r:id="rId32"/>
    <p:sldId id="443" r:id="rId33"/>
    <p:sldId id="444" r:id="rId34"/>
    <p:sldId id="445" r:id="rId35"/>
    <p:sldId id="436" r:id="rId36"/>
    <p:sldId id="309" r:id="rId37"/>
    <p:sldId id="328" r:id="rId38"/>
    <p:sldId id="330" r:id="rId39"/>
    <p:sldId id="333" r:id="rId40"/>
    <p:sldId id="334" r:id="rId41"/>
    <p:sldId id="432" r:id="rId42"/>
    <p:sldId id="341" r:id="rId43"/>
    <p:sldId id="415" r:id="rId44"/>
    <p:sldId id="416" r:id="rId45"/>
    <p:sldId id="356" r:id="rId46"/>
    <p:sldId id="417" r:id="rId47"/>
    <p:sldId id="418" r:id="rId48"/>
    <p:sldId id="358" r:id="rId49"/>
    <p:sldId id="312" r:id="rId50"/>
    <p:sldId id="446" r:id="rId51"/>
    <p:sldId id="447" r:id="rId52"/>
    <p:sldId id="448" r:id="rId53"/>
    <p:sldId id="449" r:id="rId54"/>
    <p:sldId id="451" r:id="rId55"/>
  </p:sldIdLst>
  <p:sldSz cx="9144000" cy="6858000" type="screen4x3"/>
  <p:notesSz cx="6858000" cy="9144000"/>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72274" autoAdjust="0"/>
  </p:normalViewPr>
  <p:slideViewPr>
    <p:cSldViewPr snapToGrid="0">
      <p:cViewPr varScale="1">
        <p:scale>
          <a:sx n="115" d="100"/>
          <a:sy n="115" d="100"/>
        </p:scale>
        <p:origin x="2944" y="72"/>
      </p:cViewPr>
      <p:guideLst/>
    </p:cSldViewPr>
  </p:slideViewPr>
  <p:outlineViewPr>
    <p:cViewPr>
      <p:scale>
        <a:sx n="33" d="100"/>
        <a:sy n="33" d="100"/>
      </p:scale>
      <p:origin x="0" y="-21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50E63-5F5B-4DCE-99AD-DF256DAD281B}" type="datetimeFigureOut">
              <a:rPr lang="zh-CN" altLang="en-US" smtClean="0"/>
              <a:t>2025/5/26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A23522-C775-4476-A110-0DF264BE082A}" type="slidenum">
              <a:rPr lang="zh-CN" altLang="en-US" smtClean="0"/>
              <a:t>‹#›</a:t>
            </a:fld>
            <a:endParaRPr lang="zh-CN" altLang="en-US"/>
          </a:p>
        </p:txBody>
      </p:sp>
    </p:spTree>
    <p:extLst>
      <p:ext uri="{BB962C8B-B14F-4D97-AF65-F5344CB8AC3E}">
        <p14:creationId xmlns:p14="http://schemas.microsoft.com/office/powerpoint/2010/main" val="104307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807C-8F45-B61A-EE4D-1805D213CD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B535E5-F4CE-832F-515E-BCF971D058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B854D5-207D-C1D3-7557-60C7D0EA70D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14F5691-B8DE-BFD5-6EC1-91748ECBB6AD}"/>
              </a:ext>
            </a:extLst>
          </p:cNvPr>
          <p:cNvSpPr>
            <a:spLocks noGrp="1"/>
          </p:cNvSpPr>
          <p:nvPr>
            <p:ph type="sldNum" sz="quarter" idx="10"/>
          </p:nvPr>
        </p:nvSpPr>
        <p:spPr/>
        <p:txBody>
          <a:bodyPr/>
          <a:lstStyle/>
          <a:p>
            <a:fld id="{CCA23522-C775-4476-A110-0DF264BE082A}" type="slidenum">
              <a:rPr lang="zh-CN" altLang="en-US" smtClean="0"/>
              <a:t>1</a:t>
            </a:fld>
            <a:endParaRPr lang="zh-CN" altLang="en-US"/>
          </a:p>
        </p:txBody>
      </p:sp>
    </p:spTree>
    <p:extLst>
      <p:ext uri="{BB962C8B-B14F-4D97-AF65-F5344CB8AC3E}">
        <p14:creationId xmlns:p14="http://schemas.microsoft.com/office/powerpoint/2010/main" val="253171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之前介绍了无线传感器网络的引入，主要分为三个方面：</a:t>
            </a:r>
            <a:endParaRPr lang="en-US" altLang="zh-CN" dirty="0"/>
          </a:p>
          <a:p>
            <a:endParaRPr lang="en-US" altLang="zh-CN" dirty="0"/>
          </a:p>
          <a:p>
            <a:r>
              <a:rPr lang="zh-CN" altLang="en-US" dirty="0"/>
              <a:t>传感器：至于选取何种传感器，应当根据具体的场景和任务类型选取。关于传感器的选择和传感过程具体的应该在传感器应用等课程中讲授，不是本门课的重点，所以我们不会花太多时间。</a:t>
            </a:r>
            <a:endParaRPr lang="en-US" altLang="zh-CN" dirty="0"/>
          </a:p>
          <a:p>
            <a:endParaRPr lang="en-US" altLang="zh-CN" dirty="0"/>
          </a:p>
          <a:p>
            <a:r>
              <a:rPr lang="zh-CN" altLang="en-US" dirty="0"/>
              <a:t>我们现在讲的是传感器感知到数据后需要通过无线的方式将其传输出去，这需要网络的协助。但是网络究竟是如何工作的，如何完成数据可靠传输的，需要组网和对应的协议的协助。</a:t>
            </a:r>
            <a:endParaRPr lang="en-US" altLang="zh-CN" dirty="0"/>
          </a:p>
          <a:p>
            <a:endParaRPr lang="en-US" altLang="zh-CN" dirty="0"/>
          </a:p>
          <a:p>
            <a:r>
              <a:rPr lang="zh-CN" altLang="en-US" dirty="0"/>
              <a:t>我们本章主要来讲网络协议。</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5</a:t>
            </a:fld>
            <a:endParaRPr lang="zh-CN" altLang="en-US"/>
          </a:p>
        </p:txBody>
      </p:sp>
    </p:spTree>
    <p:extLst>
      <p:ext uri="{BB962C8B-B14F-4D97-AF65-F5344CB8AC3E}">
        <p14:creationId xmlns:p14="http://schemas.microsoft.com/office/powerpoint/2010/main" val="3161430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从本节课开始我们讲网络层协议</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6</a:t>
            </a:fld>
            <a:endParaRPr lang="zh-CN" altLang="en-US"/>
          </a:p>
        </p:txBody>
      </p:sp>
    </p:spTree>
    <p:extLst>
      <p:ext uri="{BB962C8B-B14F-4D97-AF65-F5344CB8AC3E}">
        <p14:creationId xmlns:p14="http://schemas.microsoft.com/office/powerpoint/2010/main" val="278361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位于第三层</a:t>
            </a:r>
            <a:endParaRPr lang="en-US" altLang="zh-CN" dirty="0"/>
          </a:p>
          <a:p>
            <a:endParaRPr lang="en-US" altLang="zh-CN" dirty="0"/>
          </a:p>
          <a:p>
            <a:r>
              <a:rPr lang="zh-CN" altLang="en-US" dirty="0"/>
              <a:t>主要任务就是对实现不同网络的用户之间的数据包传输，关注端到端</a:t>
            </a:r>
            <a:endParaRPr lang="en-US" altLang="zh-CN" dirty="0"/>
          </a:p>
          <a:p>
            <a:endParaRPr lang="en-US" altLang="zh-CN" dirty="0"/>
          </a:p>
          <a:p>
            <a:r>
              <a:rPr lang="zh-CN" altLang="en-US" dirty="0"/>
              <a:t>主要有三个作用：逻辑寻址、路由和分组转发</a:t>
            </a:r>
            <a:endParaRPr lang="en-US" altLang="zh-CN" dirty="0"/>
          </a:p>
          <a:p>
            <a:endParaRPr lang="en-US" altLang="zh-CN" dirty="0"/>
          </a:p>
          <a:p>
            <a:r>
              <a:rPr lang="zh-CN" altLang="en-US" dirty="0"/>
              <a:t>逻辑寻址：根据</a:t>
            </a:r>
            <a:r>
              <a:rPr lang="en-US" altLang="zh-CN" dirty="0"/>
              <a:t>IP</a:t>
            </a:r>
            <a:r>
              <a:rPr lang="zh-CN" altLang="en-US" dirty="0"/>
              <a:t>地址寻找到目标用户所在的网络。就如同快递传输中的找到收件人所在的菜鸟驿站</a:t>
            </a:r>
            <a:endParaRPr lang="en-US" altLang="zh-CN" dirty="0"/>
          </a:p>
          <a:p>
            <a:endParaRPr lang="en-US" altLang="zh-CN" dirty="0"/>
          </a:p>
          <a:p>
            <a:r>
              <a:rPr lang="zh-CN" altLang="en-US" dirty="0"/>
              <a:t>路由：根据目标用户地址，从多个可用路径中选取一个最优路径进行数据传输。就如同从快递系统中建立起收件人和发件人</a:t>
            </a:r>
            <a:r>
              <a:rPr lang="en-US" altLang="zh-CN" dirty="0"/>
              <a:t>(</a:t>
            </a:r>
            <a:r>
              <a:rPr lang="zh-CN" altLang="en-US" dirty="0"/>
              <a:t>菜鸟驿站</a:t>
            </a:r>
            <a:r>
              <a:rPr lang="en-US" altLang="zh-CN" dirty="0"/>
              <a:t>)</a:t>
            </a:r>
            <a:r>
              <a:rPr lang="zh-CN" altLang="en-US" dirty="0"/>
              <a:t>之间的最佳传输路径。这通过一个路由表维护和获取。</a:t>
            </a:r>
            <a:endParaRPr lang="en-US" altLang="zh-CN" dirty="0"/>
          </a:p>
          <a:p>
            <a:endParaRPr lang="en-US" altLang="zh-CN" dirty="0"/>
          </a:p>
          <a:p>
            <a:r>
              <a:rPr lang="zh-CN" altLang="en-US" dirty="0"/>
              <a:t>分组转发：根据</a:t>
            </a:r>
            <a:r>
              <a:rPr lang="en-US" altLang="zh-CN" dirty="0"/>
              <a:t>IP</a:t>
            </a:r>
            <a:r>
              <a:rPr lang="zh-CN" altLang="en-US" dirty="0"/>
              <a:t>地址和路由表，对途中经过的数据包转发到合适的下一跳。 如同快递系统中从北京到常州的快递到郑州了，郑州从路由表可以查出要到常州的快递下一站是南京，接着这个快递就会发向南京，一直到最后一站即常州的某个菜鸟驿站。</a:t>
            </a:r>
            <a:endParaRPr lang="en-US" altLang="zh-CN" dirty="0"/>
          </a:p>
          <a:p>
            <a:endParaRPr lang="en-US" altLang="zh-CN" dirty="0"/>
          </a:p>
          <a:p>
            <a:endParaRPr lang="en-US" altLang="zh-CN" dirty="0"/>
          </a:p>
          <a:p>
            <a:r>
              <a:rPr lang="zh-CN" altLang="en-US" dirty="0"/>
              <a:t>会话层的主要功能总的来说就是管理通信会话的生命周期，确保数据的有序交换，并为上层应用提供会话控制和数据同步等服务。</a:t>
            </a:r>
            <a:endParaRPr lang="en-US" altLang="zh-CN" dirty="0"/>
          </a:p>
          <a:p>
            <a:endParaRPr lang="en-US" altLang="zh-CN" dirty="0"/>
          </a:p>
          <a:p>
            <a:pPr>
              <a:spcAft>
                <a:spcPts val="600"/>
              </a:spcAft>
            </a:pPr>
            <a:r>
              <a:rPr lang="zh-CN" altLang="en-US" sz="1200" dirty="0">
                <a:solidFill>
                  <a:srgbClr val="FF0000"/>
                </a:solidFill>
                <a:latin typeface="Times New Roman" panose="02020603050405020304" pitchFamily="18" charset="0"/>
                <a:cs typeface="Times New Roman" panose="02020603050405020304" pitchFamily="18" charset="0"/>
              </a:rPr>
              <a:t>路由协议</a:t>
            </a:r>
            <a:r>
              <a:rPr lang="zh-CN" altLang="en-US" sz="1200" dirty="0">
                <a:latin typeface="Times New Roman" panose="02020603050405020304" pitchFamily="18" charset="0"/>
                <a:cs typeface="Times New Roman" panose="02020603050405020304" pitchFamily="18" charset="0"/>
              </a:rPr>
              <a:t>功能：</a:t>
            </a:r>
            <a:endParaRPr lang="en-US" altLang="zh-CN" sz="1200" dirty="0">
              <a:latin typeface="Times New Roman" panose="02020603050405020304" pitchFamily="18" charset="0"/>
              <a:cs typeface="Times New Roman" panose="02020603050405020304" pitchFamily="18" charset="0"/>
            </a:endParaRPr>
          </a:p>
          <a:p>
            <a:pPr marL="514350" indent="-514350">
              <a:spcAft>
                <a:spcPts val="600"/>
              </a:spcAft>
              <a:buFont typeface="+mj-ea"/>
              <a:buAutoNum type="circleNumDbPlain"/>
            </a:pPr>
            <a:r>
              <a:rPr lang="zh-CN" altLang="en-US" sz="1200" dirty="0">
                <a:latin typeface="Times New Roman" panose="02020603050405020304" pitchFamily="18" charset="0"/>
                <a:cs typeface="Times New Roman" panose="02020603050405020304" pitchFamily="18" charset="0"/>
              </a:rPr>
              <a:t>寻找源节点和目的节点间的</a:t>
            </a:r>
            <a:r>
              <a:rPr lang="zh-CN" altLang="en-US" sz="1200" dirty="0">
                <a:solidFill>
                  <a:srgbClr val="C00000"/>
                </a:solidFill>
                <a:latin typeface="Times New Roman" panose="02020603050405020304" pitchFamily="18" charset="0"/>
                <a:cs typeface="Times New Roman" panose="02020603050405020304" pitchFamily="18" charset="0"/>
              </a:rPr>
              <a:t>优化路径</a:t>
            </a:r>
            <a:r>
              <a:rPr lang="zh-CN" altLang="en-US" sz="1200" dirty="0">
                <a:latin typeface="Times New Roman" panose="02020603050405020304" pitchFamily="18" charset="0"/>
                <a:cs typeface="Times New Roman" panose="02020603050405020304" pitchFamily="18" charset="0"/>
              </a:rPr>
              <a:t>；</a:t>
            </a:r>
            <a:endParaRPr lang="en-US" altLang="zh-CN" sz="1200" dirty="0">
              <a:latin typeface="Times New Roman" panose="02020603050405020304" pitchFamily="18" charset="0"/>
              <a:cs typeface="Times New Roman" panose="02020603050405020304" pitchFamily="18" charset="0"/>
            </a:endParaRPr>
          </a:p>
          <a:p>
            <a:pPr marL="514350" indent="-514350">
              <a:spcAft>
                <a:spcPts val="600"/>
              </a:spcAft>
              <a:buFont typeface="+mj-ea"/>
              <a:buAutoNum type="circleNumDbPlain"/>
            </a:pPr>
            <a:r>
              <a:rPr lang="zh-CN" altLang="en-US" sz="1200" dirty="0">
                <a:latin typeface="Times New Roman" panose="02020603050405020304" pitchFamily="18" charset="0"/>
                <a:cs typeface="Times New Roman" panose="02020603050405020304" pitchFamily="18" charset="0"/>
              </a:rPr>
              <a:t>将数据分组沿优化路径</a:t>
            </a:r>
            <a:r>
              <a:rPr lang="zh-CN" altLang="en-US" sz="1200" dirty="0">
                <a:solidFill>
                  <a:srgbClr val="C00000"/>
                </a:solidFill>
                <a:latin typeface="Times New Roman" panose="02020603050405020304" pitchFamily="18" charset="0"/>
                <a:cs typeface="Times New Roman" panose="02020603050405020304" pitchFamily="18" charset="0"/>
              </a:rPr>
              <a:t>转发</a:t>
            </a:r>
            <a:r>
              <a:rPr lang="zh-CN" altLang="en-US" sz="1200" dirty="0">
                <a:latin typeface="Times New Roman" panose="02020603050405020304" pitchFamily="18" charset="0"/>
                <a:cs typeface="Times New Roman" panose="02020603050405020304" pitchFamily="18" charset="0"/>
              </a:rPr>
              <a:t>。</a:t>
            </a:r>
            <a:endParaRPr lang="en-US" altLang="zh-CN" sz="1200" dirty="0">
              <a:latin typeface="Times New Roman" panose="02020603050405020304" pitchFamily="18" charset="0"/>
              <a:cs typeface="Times New Roman" panose="02020603050405020304" pitchFamily="18" charset="0"/>
            </a:endParaRPr>
          </a:p>
          <a:p>
            <a:endParaRPr lang="en-US" altLang="zh-CN"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7</a:t>
            </a:fld>
            <a:endParaRPr lang="zh-CN" altLang="en-US"/>
          </a:p>
        </p:txBody>
      </p:sp>
    </p:spTree>
    <p:extLst>
      <p:ext uri="{BB962C8B-B14F-4D97-AF65-F5344CB8AC3E}">
        <p14:creationId xmlns:p14="http://schemas.microsoft.com/office/powerpoint/2010/main" val="2576170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路由表的生成和维护是动态的，由路由算法负责，通常有两种动态路由算法。</a:t>
            </a:r>
            <a:endParaRPr lang="en-US" altLang="zh-CN" dirty="0"/>
          </a:p>
          <a:p>
            <a:pPr>
              <a:lnSpc>
                <a:spcPct val="130000"/>
              </a:lnSpc>
              <a:buFont typeface="Wingdings" panose="05000000000000000000" pitchFamily="2" charset="2"/>
              <a:buNone/>
            </a:pPr>
            <a:r>
              <a:rPr lang="en-US" altLang="zh-CN" dirty="0"/>
              <a:t>1</a:t>
            </a:r>
            <a:r>
              <a:rPr lang="zh-CN" altLang="en-US" dirty="0"/>
              <a:t>）距离向量路由：路由表以每个路由器为索引，表项包括：到达该目的路由器的输出端口，和到达该路由器的距离。</a:t>
            </a:r>
            <a:endParaRPr lang="en-US" altLang="zh-CN" dirty="0"/>
          </a:p>
          <a:p>
            <a:pPr>
              <a:lnSpc>
                <a:spcPct val="130000"/>
              </a:lnSpc>
              <a:buFont typeface="Wingdings" panose="05000000000000000000" pitchFamily="2" charset="2"/>
              <a:buNone/>
            </a:pPr>
            <a:r>
              <a:rPr lang="en-US" altLang="zh-CN" dirty="0"/>
              <a:t>2</a:t>
            </a:r>
            <a:r>
              <a:rPr lang="zh-CN" altLang="en-US" dirty="0"/>
              <a:t>）链路状态路由：记录邻接路由器的网络地址，及其到达它们的延迟和开销。</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8</a:t>
            </a:fld>
            <a:endParaRPr lang="zh-CN" altLang="en-US"/>
          </a:p>
        </p:txBody>
      </p:sp>
    </p:spTree>
    <p:extLst>
      <p:ext uri="{BB962C8B-B14F-4D97-AF65-F5344CB8AC3E}">
        <p14:creationId xmlns:p14="http://schemas.microsoft.com/office/powerpoint/2010/main" val="4081143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路由表的生成和维护是动态的，由路由算法负责，通常有两种动态路由算法。</a:t>
            </a:r>
            <a:endParaRPr lang="en-US" altLang="zh-CN" dirty="0"/>
          </a:p>
          <a:p>
            <a:pPr>
              <a:lnSpc>
                <a:spcPct val="130000"/>
              </a:lnSpc>
              <a:buFont typeface="Wingdings" panose="05000000000000000000" pitchFamily="2" charset="2"/>
              <a:buNone/>
            </a:pPr>
            <a:r>
              <a:rPr lang="en-US" altLang="zh-CN" dirty="0"/>
              <a:t>1</a:t>
            </a:r>
            <a:r>
              <a:rPr lang="zh-CN" altLang="en-US" dirty="0"/>
              <a:t>）距离向量路由：路由表以每个路由器为索引，表项包括：到达该目的路由器的输出端口，和到达该路由器的距离。</a:t>
            </a:r>
            <a:endParaRPr lang="en-US" altLang="zh-CN" dirty="0"/>
          </a:p>
          <a:p>
            <a:pPr>
              <a:lnSpc>
                <a:spcPct val="130000"/>
              </a:lnSpc>
              <a:buFont typeface="Wingdings" panose="05000000000000000000" pitchFamily="2" charset="2"/>
              <a:buNone/>
            </a:pPr>
            <a:r>
              <a:rPr lang="en-US" altLang="zh-CN" dirty="0"/>
              <a:t>2</a:t>
            </a:r>
            <a:r>
              <a:rPr lang="zh-CN" altLang="en-US" dirty="0"/>
              <a:t>）链路状态路由：记录邻接路由器的网络地址，及其到达它们的延迟和开销。</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9</a:t>
            </a:fld>
            <a:endParaRPr lang="zh-CN" altLang="en-US"/>
          </a:p>
        </p:txBody>
      </p:sp>
    </p:spTree>
    <p:extLst>
      <p:ext uri="{BB962C8B-B14F-4D97-AF65-F5344CB8AC3E}">
        <p14:creationId xmlns:p14="http://schemas.microsoft.com/office/powerpoint/2010/main" val="1905296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路由表的生成和维护是动态的，由路由算法负责，通常有两种动态路由算法。</a:t>
            </a:r>
            <a:endParaRPr lang="en-US" altLang="zh-CN" dirty="0"/>
          </a:p>
          <a:p>
            <a:pPr>
              <a:lnSpc>
                <a:spcPct val="130000"/>
              </a:lnSpc>
              <a:buFont typeface="Wingdings" panose="05000000000000000000" pitchFamily="2" charset="2"/>
              <a:buNone/>
            </a:pPr>
            <a:r>
              <a:rPr lang="en-US" altLang="zh-CN" dirty="0"/>
              <a:t>1</a:t>
            </a:r>
            <a:r>
              <a:rPr lang="zh-CN" altLang="en-US" dirty="0"/>
              <a:t>）距离向量路由：路由表以每个路由器为索引，表项包括：到达该目的路由器的输出端口，和到达该路由器的距离。</a:t>
            </a:r>
            <a:endParaRPr lang="en-US" altLang="zh-CN" dirty="0"/>
          </a:p>
          <a:p>
            <a:pPr>
              <a:lnSpc>
                <a:spcPct val="130000"/>
              </a:lnSpc>
              <a:buFont typeface="Wingdings" panose="05000000000000000000" pitchFamily="2" charset="2"/>
              <a:buNone/>
            </a:pPr>
            <a:r>
              <a:rPr lang="en-US" altLang="zh-CN" dirty="0"/>
              <a:t>2</a:t>
            </a:r>
            <a:r>
              <a:rPr lang="zh-CN" altLang="en-US" dirty="0"/>
              <a:t>）链路状态路由：记录邻接路由器的网络地址，及其到达它们的延迟和开销。</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10</a:t>
            </a:fld>
            <a:endParaRPr lang="zh-CN" altLang="en-US"/>
          </a:p>
        </p:txBody>
      </p:sp>
    </p:spTree>
    <p:extLst>
      <p:ext uri="{BB962C8B-B14F-4D97-AF65-F5344CB8AC3E}">
        <p14:creationId xmlns:p14="http://schemas.microsoft.com/office/powerpoint/2010/main" val="1112153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11</a:t>
            </a:fld>
            <a:endParaRPr lang="zh-CN" altLang="en-US"/>
          </a:p>
        </p:txBody>
      </p:sp>
    </p:spTree>
    <p:extLst>
      <p:ext uri="{BB962C8B-B14F-4D97-AF65-F5344CB8AC3E}">
        <p14:creationId xmlns:p14="http://schemas.microsoft.com/office/powerpoint/2010/main" val="1650264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12</a:t>
            </a:fld>
            <a:endParaRPr lang="zh-CN" altLang="en-US"/>
          </a:p>
        </p:txBody>
      </p:sp>
    </p:spTree>
    <p:extLst>
      <p:ext uri="{BB962C8B-B14F-4D97-AF65-F5344CB8AC3E}">
        <p14:creationId xmlns:p14="http://schemas.microsoft.com/office/powerpoint/2010/main" val="998526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13</a:t>
            </a:fld>
            <a:endParaRPr lang="zh-CN" altLang="en-US"/>
          </a:p>
        </p:txBody>
      </p:sp>
    </p:spTree>
    <p:extLst>
      <p:ext uri="{BB962C8B-B14F-4D97-AF65-F5344CB8AC3E}">
        <p14:creationId xmlns:p14="http://schemas.microsoft.com/office/powerpoint/2010/main" val="1704172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sz="1200" b="0" dirty="0">
                <a:solidFill>
                  <a:schemeClr val="bg2"/>
                </a:solidFill>
                <a:latin typeface="楷体_GB2312" pitchFamily="1" charset="-122"/>
                <a:ea typeface="楷体_GB2312" pitchFamily="1" charset="-122"/>
              </a:rPr>
              <a:t>路由协议考虑因素：</a:t>
            </a:r>
            <a:endParaRPr lang="en-US" altLang="zh-CN" sz="1200" b="0" dirty="0">
              <a:solidFill>
                <a:schemeClr val="bg2"/>
              </a:solidFill>
              <a:latin typeface="楷体_GB2312" pitchFamily="1" charset="-122"/>
              <a:ea typeface="楷体_GB2312" pitchFamily="1" charset="-122"/>
            </a:endParaRPr>
          </a:p>
          <a:p>
            <a:pPr>
              <a:lnSpc>
                <a:spcPct val="130000"/>
              </a:lnSpc>
              <a:buFont typeface="Wingdings" panose="05000000000000000000" pitchFamily="2" charset="2"/>
              <a:buNone/>
            </a:pPr>
            <a:r>
              <a:rPr lang="zh-CN" altLang="en-US" sz="1200" b="0" dirty="0">
                <a:solidFill>
                  <a:schemeClr val="bg2"/>
                </a:solidFill>
                <a:latin typeface="楷体_GB2312" pitchFamily="1" charset="-122"/>
                <a:ea typeface="楷体_GB2312" pitchFamily="1" charset="-122"/>
              </a:rPr>
              <a:t>(1)网络特征：无线传感器网络具有与众不同的特征，应用于路由协议设计时，主要应该考虑能量损耗、节点部署和网络拓扑变化。</a:t>
            </a:r>
          </a:p>
          <a:p>
            <a:pPr>
              <a:lnSpc>
                <a:spcPct val="130000"/>
              </a:lnSpc>
              <a:buFont typeface="Wingdings" panose="05000000000000000000" pitchFamily="2" charset="2"/>
              <a:buNone/>
            </a:pPr>
            <a:r>
              <a:rPr lang="zh-CN" altLang="en-US" sz="1200" b="0" dirty="0">
                <a:solidFill>
                  <a:schemeClr val="bg2"/>
                </a:solidFill>
                <a:latin typeface="楷体_GB2312" pitchFamily="1" charset="-122"/>
                <a:ea typeface="楷体_GB2312" pitchFamily="1" charset="-122"/>
              </a:rPr>
              <a:t>(2)数据传输特征：无线传感器网络的数据采集和传输要求与其他网络不同，因此路由协议设计时也需要加以区别，主要考虑数据传输方式、无线传输手段以及数据融合技术等。</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14</a:t>
            </a:fld>
            <a:endParaRPr lang="zh-CN" altLang="en-US"/>
          </a:p>
        </p:txBody>
      </p:sp>
    </p:spTree>
    <p:extLst>
      <p:ext uri="{BB962C8B-B14F-4D97-AF65-F5344CB8AC3E}">
        <p14:creationId xmlns:p14="http://schemas.microsoft.com/office/powerpoint/2010/main" val="3699955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无线传感器网络中的路由协议与挑战</a:t>
            </a:r>
            <a:r>
              <a:rPr lang="en-US" altLang="zh-CN" dirty="0"/>
              <a:t>-CSD  https://blog.csdn.net/myDarling_/article/details/128031745 </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15</a:t>
            </a:fld>
            <a:endParaRPr lang="zh-CN" altLang="en-US"/>
          </a:p>
        </p:txBody>
      </p:sp>
    </p:spTree>
    <p:extLst>
      <p:ext uri="{BB962C8B-B14F-4D97-AF65-F5344CB8AC3E}">
        <p14:creationId xmlns:p14="http://schemas.microsoft.com/office/powerpoint/2010/main" val="2941400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视频质量、卡顿次数、音频同步性等都属于</a:t>
            </a:r>
            <a:r>
              <a:rPr lang="en-US" altLang="zh-CN" dirty="0" err="1"/>
              <a:t>QoE</a:t>
            </a:r>
            <a:r>
              <a:rPr lang="zh-CN" altLang="en-US" dirty="0"/>
              <a:t>用户体验度方面</a:t>
            </a:r>
            <a:r>
              <a:rPr lang="en-US" altLang="zh-CN" dirty="0"/>
              <a:t>(Quality of Experience)</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16</a:t>
            </a:fld>
            <a:endParaRPr lang="zh-CN" altLang="en-US"/>
          </a:p>
        </p:txBody>
      </p:sp>
    </p:spTree>
    <p:extLst>
      <p:ext uri="{BB962C8B-B14F-4D97-AF65-F5344CB8AC3E}">
        <p14:creationId xmlns:p14="http://schemas.microsoft.com/office/powerpoint/2010/main" val="4039321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17</a:t>
            </a:fld>
            <a:endParaRPr lang="zh-CN" altLang="en-US"/>
          </a:p>
        </p:txBody>
      </p:sp>
    </p:spTree>
    <p:extLst>
      <p:ext uri="{BB962C8B-B14F-4D97-AF65-F5344CB8AC3E}">
        <p14:creationId xmlns:p14="http://schemas.microsoft.com/office/powerpoint/2010/main" val="3617507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18</a:t>
            </a:fld>
            <a:endParaRPr lang="zh-CN" altLang="en-US"/>
          </a:p>
        </p:txBody>
      </p:sp>
    </p:spTree>
    <p:extLst>
      <p:ext uri="{BB962C8B-B14F-4D97-AF65-F5344CB8AC3E}">
        <p14:creationId xmlns:p14="http://schemas.microsoft.com/office/powerpoint/2010/main" val="352475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19</a:t>
            </a:fld>
            <a:endParaRPr lang="zh-CN" altLang="en-US"/>
          </a:p>
        </p:txBody>
      </p:sp>
    </p:spTree>
    <p:extLst>
      <p:ext uri="{BB962C8B-B14F-4D97-AF65-F5344CB8AC3E}">
        <p14:creationId xmlns:p14="http://schemas.microsoft.com/office/powerpoint/2010/main" val="333802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20</a:t>
            </a:fld>
            <a:endParaRPr lang="zh-CN" altLang="en-US"/>
          </a:p>
        </p:txBody>
      </p:sp>
    </p:spTree>
    <p:extLst>
      <p:ext uri="{BB962C8B-B14F-4D97-AF65-F5344CB8AC3E}">
        <p14:creationId xmlns:p14="http://schemas.microsoft.com/office/powerpoint/2010/main" val="1667843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21</a:t>
            </a:fld>
            <a:endParaRPr lang="zh-CN" altLang="en-US"/>
          </a:p>
        </p:txBody>
      </p:sp>
    </p:spTree>
    <p:extLst>
      <p:ext uri="{BB962C8B-B14F-4D97-AF65-F5344CB8AC3E}">
        <p14:creationId xmlns:p14="http://schemas.microsoft.com/office/powerpoint/2010/main" val="3702905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22</a:t>
            </a:fld>
            <a:endParaRPr lang="zh-CN" altLang="en-US"/>
          </a:p>
        </p:txBody>
      </p:sp>
    </p:spTree>
    <p:extLst>
      <p:ext uri="{BB962C8B-B14F-4D97-AF65-F5344CB8AC3E}">
        <p14:creationId xmlns:p14="http://schemas.microsoft.com/office/powerpoint/2010/main" val="3456066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23</a:t>
            </a:fld>
            <a:endParaRPr lang="zh-CN" altLang="en-US"/>
          </a:p>
        </p:txBody>
      </p:sp>
    </p:spTree>
    <p:extLst>
      <p:ext uri="{BB962C8B-B14F-4D97-AF65-F5344CB8AC3E}">
        <p14:creationId xmlns:p14="http://schemas.microsoft.com/office/powerpoint/2010/main" val="4053427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这里还有一个路径：</a:t>
            </a:r>
            <a:r>
              <a:rPr lang="en-US" altLang="zh-CN" dirty="0"/>
              <a:t>A-D-F-J-I-D-G </a:t>
            </a:r>
            <a:r>
              <a:rPr lang="zh-CN" altLang="en-US" dirty="0"/>
              <a:t>路径的平均剩余能量为</a:t>
            </a:r>
            <a:r>
              <a:rPr lang="en-US" altLang="zh-CN" dirty="0"/>
              <a:t>13/7</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24</a:t>
            </a:fld>
            <a:endParaRPr lang="zh-CN" altLang="en-US"/>
          </a:p>
        </p:txBody>
      </p:sp>
    </p:spTree>
    <p:extLst>
      <p:ext uri="{BB962C8B-B14F-4D97-AF65-F5344CB8AC3E}">
        <p14:creationId xmlns:p14="http://schemas.microsoft.com/office/powerpoint/2010/main" val="37505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这里还有一个路径：</a:t>
            </a:r>
            <a:r>
              <a:rPr lang="en-US" altLang="zh-CN" dirty="0"/>
              <a:t>A-D-F-J-I-D-G </a:t>
            </a:r>
            <a:r>
              <a:rPr lang="zh-CN" altLang="en-US" dirty="0"/>
              <a:t>路径的平均剩余能量为</a:t>
            </a:r>
            <a:r>
              <a:rPr lang="en-US" altLang="zh-CN" dirty="0"/>
              <a:t>13/7</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25</a:t>
            </a:fld>
            <a:endParaRPr lang="zh-CN" altLang="en-US"/>
          </a:p>
        </p:txBody>
      </p:sp>
    </p:spTree>
    <p:extLst>
      <p:ext uri="{BB962C8B-B14F-4D97-AF65-F5344CB8AC3E}">
        <p14:creationId xmlns:p14="http://schemas.microsoft.com/office/powerpoint/2010/main" val="1503073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这里还有一个路径：</a:t>
            </a:r>
            <a:r>
              <a:rPr lang="en-US" altLang="zh-CN" dirty="0"/>
              <a:t>A-D-F-J-I-D-G </a:t>
            </a:r>
            <a:r>
              <a:rPr lang="zh-CN" altLang="en-US" dirty="0"/>
              <a:t>路径的平均剩余能量为</a:t>
            </a:r>
            <a:r>
              <a:rPr lang="en-US" altLang="zh-CN" dirty="0"/>
              <a:t>13/7</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26</a:t>
            </a:fld>
            <a:endParaRPr lang="zh-CN" altLang="en-US"/>
          </a:p>
        </p:txBody>
      </p:sp>
    </p:spTree>
    <p:extLst>
      <p:ext uri="{BB962C8B-B14F-4D97-AF65-F5344CB8AC3E}">
        <p14:creationId xmlns:p14="http://schemas.microsoft.com/office/powerpoint/2010/main" val="1506435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关注不同的角色，会出现不同的最优路由方案。</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27</a:t>
            </a:fld>
            <a:endParaRPr lang="zh-CN" altLang="en-US"/>
          </a:p>
        </p:txBody>
      </p:sp>
    </p:spTree>
    <p:extLst>
      <p:ext uri="{BB962C8B-B14F-4D97-AF65-F5344CB8AC3E}">
        <p14:creationId xmlns:p14="http://schemas.microsoft.com/office/powerpoint/2010/main" val="17832997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sz="1200" b="0" dirty="0">
                <a:solidFill>
                  <a:schemeClr val="bg2"/>
                </a:solidFill>
                <a:latin typeface="楷体_GB2312" pitchFamily="1" charset="-122"/>
                <a:ea typeface="楷体_GB2312" pitchFamily="1" charset="-122"/>
              </a:rPr>
              <a:t>路由协议考虑因素：</a:t>
            </a:r>
            <a:endParaRPr lang="en-US" altLang="zh-CN" sz="1200" b="0" dirty="0">
              <a:solidFill>
                <a:schemeClr val="bg2"/>
              </a:solidFill>
              <a:latin typeface="楷体_GB2312" pitchFamily="1" charset="-122"/>
              <a:ea typeface="楷体_GB2312" pitchFamily="1" charset="-122"/>
            </a:endParaRPr>
          </a:p>
          <a:p>
            <a:pPr>
              <a:lnSpc>
                <a:spcPct val="130000"/>
              </a:lnSpc>
              <a:buFont typeface="Wingdings" panose="05000000000000000000" pitchFamily="2" charset="2"/>
              <a:buNone/>
            </a:pPr>
            <a:r>
              <a:rPr lang="zh-CN" altLang="en-US" sz="1200" b="0" dirty="0">
                <a:solidFill>
                  <a:schemeClr val="bg2"/>
                </a:solidFill>
                <a:latin typeface="楷体_GB2312" pitchFamily="1" charset="-122"/>
                <a:ea typeface="楷体_GB2312" pitchFamily="1" charset="-122"/>
              </a:rPr>
              <a:t>(1)网络特征：无线传感器网络具有与众不同的特征，应用于路由协议设计时，主要应该考虑能量损耗、节点部署和网络拓扑变化。</a:t>
            </a:r>
          </a:p>
          <a:p>
            <a:pPr>
              <a:lnSpc>
                <a:spcPct val="130000"/>
              </a:lnSpc>
              <a:buFont typeface="Wingdings" panose="05000000000000000000" pitchFamily="2" charset="2"/>
              <a:buNone/>
            </a:pPr>
            <a:r>
              <a:rPr lang="zh-CN" altLang="en-US" sz="1200" b="0" dirty="0">
                <a:solidFill>
                  <a:schemeClr val="bg2"/>
                </a:solidFill>
                <a:latin typeface="楷体_GB2312" pitchFamily="1" charset="-122"/>
                <a:ea typeface="楷体_GB2312" pitchFamily="1" charset="-122"/>
              </a:rPr>
              <a:t>(2)数据传输特征：无线传感器网络的数据采集和传输要求与其他网络不同，因此路由协议设计时也需要加以区别，主要考虑数据传输方式、无线传输手段以及数据融合技术等。</a:t>
            </a:r>
            <a:endParaRPr lang="en-US" altLang="zh-CN" sz="1200" b="0" dirty="0">
              <a:solidFill>
                <a:schemeClr val="bg2"/>
              </a:solidFill>
              <a:latin typeface="楷体_GB2312" pitchFamily="1" charset="-122"/>
              <a:ea typeface="楷体_GB2312" pitchFamily="1" charset="-122"/>
            </a:endParaRPr>
          </a:p>
          <a:p>
            <a:pPr>
              <a:lnSpc>
                <a:spcPct val="130000"/>
              </a:lnSpc>
              <a:buFont typeface="Wingdings" panose="05000000000000000000" pitchFamily="2" charset="2"/>
              <a:buNone/>
            </a:pPr>
            <a:endParaRPr lang="en-US" altLang="zh-CN" sz="1200" b="0" dirty="0">
              <a:solidFill>
                <a:schemeClr val="bg2"/>
              </a:solidFill>
              <a:ea typeface="楷体_GB2312" pitchFamily="1" charset="-122"/>
            </a:endParaRPr>
          </a:p>
          <a:p>
            <a:pPr>
              <a:lnSpc>
                <a:spcPct val="130000"/>
              </a:lnSpc>
              <a:buFont typeface="Wingdings" panose="05000000000000000000" pitchFamily="2" charset="2"/>
              <a:buNone/>
            </a:pPr>
            <a:r>
              <a:rPr lang="zh-CN" altLang="en-US" sz="1200" b="0" dirty="0">
                <a:solidFill>
                  <a:schemeClr val="bg2"/>
                </a:solidFill>
                <a:ea typeface="楷体_GB2312" pitchFamily="1" charset="-122"/>
              </a:rPr>
              <a:t>要求：</a:t>
            </a:r>
            <a:endParaRPr lang="en-US" altLang="zh-CN" sz="1200" b="0" dirty="0">
              <a:solidFill>
                <a:schemeClr val="bg2"/>
              </a:solidFill>
              <a:ea typeface="楷体_GB2312" pitchFamily="1" charset="-122"/>
            </a:endParaRPr>
          </a:p>
          <a:p>
            <a:pPr>
              <a:lnSpc>
                <a:spcPct val="130000"/>
              </a:lnSpc>
              <a:buFont typeface="Wingdings" panose="05000000000000000000" pitchFamily="2" charset="2"/>
              <a:buNone/>
            </a:pPr>
            <a:r>
              <a:rPr lang="en-US" altLang="zh-CN" sz="1200" b="0" dirty="0">
                <a:solidFill>
                  <a:schemeClr val="bg2"/>
                </a:solidFill>
                <a:ea typeface="楷体_GB2312" pitchFamily="1" charset="-122"/>
              </a:rPr>
              <a:t>1</a:t>
            </a:r>
            <a:r>
              <a:rPr lang="zh-CN" altLang="en-US" sz="1200" b="0" dirty="0">
                <a:solidFill>
                  <a:schemeClr val="bg2"/>
                </a:solidFill>
                <a:ea typeface="楷体_GB2312" pitchFamily="1" charset="-122"/>
              </a:rPr>
              <a:t>、能量高效，</a:t>
            </a:r>
            <a:r>
              <a:rPr lang="zh-CN" altLang="en-US" sz="1200" b="0" dirty="0">
                <a:solidFill>
                  <a:schemeClr val="hlink"/>
                </a:solidFill>
              </a:rPr>
              <a:t>路由过程中不仅要选择能量消耗小的消息传输路径，而且要针对整个网络的情况选择使整个网络能量均衡消耗的路径</a:t>
            </a:r>
            <a:endParaRPr lang="en-US" altLang="zh-CN" sz="1200" b="0" dirty="0">
              <a:solidFill>
                <a:schemeClr val="hlink"/>
              </a:solidFill>
            </a:endParaRPr>
          </a:p>
          <a:p>
            <a:pPr>
              <a:lnSpc>
                <a:spcPct val="130000"/>
              </a:lnSpc>
              <a:buFont typeface="Wingdings" panose="05000000000000000000" pitchFamily="2" charset="2"/>
              <a:buNone/>
            </a:pPr>
            <a:r>
              <a:rPr lang="en-US" altLang="zh-CN" sz="1200" b="0" dirty="0">
                <a:solidFill>
                  <a:schemeClr val="hlink"/>
                </a:solidFill>
                <a:ea typeface="楷体_GB2312" pitchFamily="1" charset="-122"/>
              </a:rPr>
              <a:t>2</a:t>
            </a:r>
            <a:r>
              <a:rPr lang="zh-CN" altLang="en-US" sz="1200" b="0" dirty="0">
                <a:solidFill>
                  <a:schemeClr val="hlink"/>
                </a:solidFill>
                <a:ea typeface="楷体_GB2312" pitchFamily="1" charset="-122"/>
              </a:rPr>
              <a:t>、可靠性、稳健性，</a:t>
            </a:r>
            <a:endParaRPr lang="en-US" altLang="zh-CN" sz="1200" b="0" dirty="0">
              <a:solidFill>
                <a:schemeClr val="hlink"/>
              </a:solidFill>
              <a:ea typeface="楷体_GB2312" pitchFamily="1" charset="-122"/>
            </a:endParaRP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r>
              <a:rPr lang="zh-CN" altLang="en-US" sz="1200" b="0" dirty="0"/>
              <a:t>传感器网络中，链路稳定性难于保证，</a:t>
            </a:r>
            <a:r>
              <a:rPr lang="zh-CN" altLang="en-US" sz="1200" b="0" dirty="0">
                <a:solidFill>
                  <a:schemeClr val="hlink"/>
                </a:solidFill>
              </a:rPr>
              <a:t>通信信道质量较低，拓扑变化较频繁</a:t>
            </a:r>
            <a:r>
              <a:rPr lang="zh-CN" altLang="en-US" sz="1200" b="0" dirty="0"/>
              <a:t>，路由协议会遇到各种非正常或不可预料的网络环境，路由器节点一旦出现故障将可能会影响整个网络。</a:t>
            </a: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r>
              <a:rPr lang="zh-CN" altLang="en-US" sz="1200" b="0" dirty="0"/>
              <a:t>好的路由协议应该具备较强可靠性，具备一定的容错性，能够通过各种网络环境下的测试验证。</a:t>
            </a:r>
          </a:p>
          <a:p>
            <a:pPr>
              <a:lnSpc>
                <a:spcPct val="130000"/>
              </a:lnSpc>
              <a:buFont typeface="Wingdings" panose="05000000000000000000" pitchFamily="2" charset="2"/>
              <a:buNone/>
            </a:pPr>
            <a:r>
              <a:rPr lang="en-US" altLang="zh-CN" sz="1200" b="0" dirty="0">
                <a:solidFill>
                  <a:schemeClr val="bg2"/>
                </a:solidFill>
                <a:ea typeface="楷体_GB2312" pitchFamily="1" charset="-122"/>
              </a:rPr>
              <a:t>3</a:t>
            </a:r>
            <a:r>
              <a:rPr lang="zh-CN" altLang="en-US" sz="1200" b="0" dirty="0">
                <a:solidFill>
                  <a:schemeClr val="bg2"/>
                </a:solidFill>
                <a:ea typeface="楷体_GB2312" pitchFamily="1" charset="-122"/>
              </a:rPr>
              <a:t>、快速收敛性</a:t>
            </a:r>
            <a:endParaRPr lang="en-US" altLang="zh-CN" sz="1200" b="0" dirty="0">
              <a:solidFill>
                <a:schemeClr val="bg2"/>
              </a:solidFill>
              <a:ea typeface="楷体_GB2312" pitchFamily="1" charset="-122"/>
            </a:endParaRP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r>
              <a:rPr lang="zh-CN" altLang="en-US" sz="1200" b="0" dirty="0"/>
              <a:t>传感器节点能量和通信带宽资源有限，网络拓扑结构动态变化等这些不确定因素要求路由机制能够快速收敛；</a:t>
            </a: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r>
              <a:rPr lang="zh-CN" altLang="en-US" sz="1200" b="0" dirty="0">
                <a:solidFill>
                  <a:schemeClr val="hlink"/>
                </a:solidFill>
              </a:rPr>
              <a:t>适应网络拓扑动态变化，减少通信协议开销，提高消息传输的效率</a:t>
            </a:r>
            <a:r>
              <a:rPr lang="zh-CN" altLang="en-US" sz="1200" b="0" dirty="0"/>
              <a:t>。</a:t>
            </a:r>
            <a:endParaRPr lang="en-US" altLang="zh-CN" sz="1200" b="0" dirty="0"/>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en-US" altLang="zh-CN" sz="1200" b="0" dirty="0"/>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en-US" altLang="zh-CN" sz="1200" b="0" dirty="0"/>
          </a:p>
          <a:p>
            <a:r>
              <a:rPr lang="zh-CN" altLang="en-US" dirty="0"/>
              <a:t>稳健性（</a:t>
            </a:r>
            <a:r>
              <a:rPr lang="en-US" altLang="zh-CN" dirty="0"/>
              <a:t>Robustness</a:t>
            </a:r>
            <a:r>
              <a:rPr lang="zh-CN" altLang="en-US" dirty="0"/>
              <a:t>）</a:t>
            </a:r>
            <a:r>
              <a:rPr lang="zh-CN" altLang="en-US" b="1" dirty="0"/>
              <a:t>稳健性</a:t>
            </a:r>
            <a:r>
              <a:rPr lang="zh-CN" altLang="en-US" dirty="0"/>
              <a:t>是指路由协议在网络中发生变化时（如节点故障、网络拓扑变化、环境干扰等），仍能保持其正常功能，确保数据传输的可靠性。具体来说，稳健性要求协议能够适应以下变化：</a:t>
            </a:r>
          </a:p>
          <a:p>
            <a:pPr>
              <a:buFont typeface="Arial" panose="020B0604020202020204" pitchFamily="34" charset="0"/>
              <a:buChar char="•"/>
            </a:pPr>
            <a:r>
              <a:rPr lang="zh-CN" altLang="en-US" b="1" dirty="0"/>
              <a:t>节点故障或失效</a:t>
            </a:r>
            <a:r>
              <a:rPr lang="zh-CN" altLang="en-US" dirty="0"/>
              <a:t>：网络中可能有节点因为电池耗尽、硬件故障等原因失效。稳健的路由协议应该能够快速检测并调整路由，绕过故障节点，保持数据流通。</a:t>
            </a:r>
          </a:p>
          <a:p>
            <a:pPr>
              <a:buFont typeface="Arial" panose="020B0604020202020204" pitchFamily="34" charset="0"/>
              <a:buChar char="•"/>
            </a:pPr>
            <a:r>
              <a:rPr lang="zh-CN" altLang="en-US" b="1" dirty="0"/>
              <a:t>网络拓扑变化</a:t>
            </a:r>
            <a:r>
              <a:rPr lang="zh-CN" altLang="en-US" dirty="0"/>
              <a:t>：由于无线传感器网络通常是动态的，节点可能会移动或加入</a:t>
            </a:r>
            <a:r>
              <a:rPr lang="en-US" altLang="zh-CN" dirty="0"/>
              <a:t>/</a:t>
            </a:r>
            <a:r>
              <a:rPr lang="zh-CN" altLang="en-US" dirty="0"/>
              <a:t>离开网络，导致拓扑的变化。协议应该能自动适应这些变化，保持路由的有效性。</a:t>
            </a:r>
          </a:p>
          <a:p>
            <a:pPr>
              <a:buFont typeface="Arial" panose="020B0604020202020204" pitchFamily="34" charset="0"/>
              <a:buChar char="•"/>
            </a:pPr>
            <a:r>
              <a:rPr lang="zh-CN" altLang="en-US" b="1" dirty="0"/>
              <a:t>环境干扰</a:t>
            </a:r>
            <a:r>
              <a:rPr lang="zh-CN" altLang="en-US" dirty="0"/>
              <a:t>：无线网络的通信质量容易受到物理环境（如障碍物、电磁干扰等）的影响。稳健的协议能适应不同的环境条件，确保数据可靠传输。</a:t>
            </a: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en-US" altLang="zh-CN" b="0" dirty="0"/>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en-US" altLang="zh-CN" b="0" dirty="0"/>
          </a:p>
          <a:p>
            <a:r>
              <a:rPr lang="en-US" altLang="zh-CN" b="1" dirty="0"/>
              <a:t>2. </a:t>
            </a:r>
            <a:r>
              <a:rPr lang="zh-CN" altLang="en-US" b="1" dirty="0"/>
              <a:t>快速收敛性（</a:t>
            </a:r>
            <a:r>
              <a:rPr lang="en-US" altLang="zh-CN" b="1" dirty="0"/>
              <a:t>Fast Convergence</a:t>
            </a:r>
            <a:r>
              <a:rPr lang="zh-CN" altLang="en-US" b="1" dirty="0"/>
              <a:t>）</a:t>
            </a:r>
          </a:p>
          <a:p>
            <a:r>
              <a:rPr lang="zh-CN" altLang="en-US" b="1" dirty="0"/>
              <a:t>快速收敛性</a:t>
            </a:r>
            <a:r>
              <a:rPr lang="zh-CN" altLang="en-US" dirty="0"/>
              <a:t>指的是路由协议在网络发生拓扑变化（例如节点加入、节点故障或网络结构调整等）时，能够迅速更新路由路径，并恢复到正常的网络传输状态。这一过程必须尽可能快速，以减少数据丢失和延迟。具体来说，快速收敛性有以下几个方面：</a:t>
            </a:r>
          </a:p>
          <a:p>
            <a:pPr>
              <a:buFont typeface="Arial" panose="020B0604020202020204" pitchFamily="34" charset="0"/>
              <a:buChar char="•"/>
            </a:pPr>
            <a:r>
              <a:rPr lang="zh-CN" altLang="en-US" b="1" dirty="0"/>
              <a:t>快速发现新路径</a:t>
            </a:r>
            <a:r>
              <a:rPr lang="zh-CN" altLang="en-US" dirty="0"/>
              <a:t>：当某个节点失效或通信链路出现问题时，协议应该能够快速找到新的路由路径，确保数据尽可能短时间内重新传输。</a:t>
            </a:r>
          </a:p>
          <a:p>
            <a:pPr>
              <a:buFont typeface="Arial" panose="020B0604020202020204" pitchFamily="34" charset="0"/>
              <a:buChar char="•"/>
            </a:pPr>
            <a:r>
              <a:rPr lang="zh-CN" altLang="en-US" b="1" dirty="0"/>
              <a:t>减少网络中断</a:t>
            </a:r>
            <a:r>
              <a:rPr lang="zh-CN" altLang="en-US" dirty="0"/>
              <a:t>：在路由调整过程中，快速收敛性可以减少网络中断时间，从而提高整体的传输效率和网络的可用性。</a:t>
            </a:r>
          </a:p>
          <a:p>
            <a:pPr>
              <a:buFont typeface="Arial" panose="020B0604020202020204" pitchFamily="34" charset="0"/>
              <a:buChar char="•"/>
            </a:pPr>
            <a:r>
              <a:rPr lang="zh-CN" altLang="en-US" b="1" dirty="0"/>
              <a:t>避免循环或冗余路径</a:t>
            </a:r>
            <a:r>
              <a:rPr lang="zh-CN" altLang="en-US" dirty="0"/>
              <a:t>：收敛过程也应该避免产生路由环路，确保数据包不会在网络中无效地循环传输。</a:t>
            </a: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en-US" altLang="zh-CN" b="0" dirty="0"/>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en-US" altLang="zh-CN" b="0" dirty="0"/>
          </a:p>
          <a:p>
            <a:r>
              <a:rPr lang="zh-CN" altLang="en-US" dirty="0"/>
              <a:t>在无线传感器网络中，节点往往是自组织的，网络拓扑是动态变化的。没有中心化控制，节点间的通信和数据传输经常受到干扰。因此，</a:t>
            </a:r>
            <a:r>
              <a:rPr lang="zh-CN" altLang="en-US" b="1" dirty="0"/>
              <a:t>稳健性</a:t>
            </a:r>
            <a:r>
              <a:rPr lang="zh-CN" altLang="en-US" dirty="0"/>
              <a:t>和</a:t>
            </a:r>
            <a:r>
              <a:rPr lang="zh-CN" altLang="en-US" b="1" dirty="0"/>
              <a:t>快速收敛性</a:t>
            </a:r>
            <a:r>
              <a:rPr lang="zh-CN" altLang="en-US" dirty="0"/>
              <a:t>是路由协议设计中的两个核心要素，确保网络的稳定性和高效性。</a:t>
            </a:r>
          </a:p>
          <a:p>
            <a:pPr>
              <a:buFont typeface="Arial" panose="020B0604020202020204" pitchFamily="34" charset="0"/>
              <a:buChar char="•"/>
            </a:pPr>
            <a:r>
              <a:rPr lang="zh-CN" altLang="en-US" b="1" dirty="0"/>
              <a:t>稳健性</a:t>
            </a:r>
            <a:r>
              <a:rPr lang="zh-CN" altLang="en-US" dirty="0"/>
              <a:t>可以保证网络在遇到故障或突发情况时依然能够继续工作。</a:t>
            </a:r>
          </a:p>
          <a:p>
            <a:pPr>
              <a:buFont typeface="Arial" panose="020B0604020202020204" pitchFamily="34" charset="0"/>
              <a:buChar char="•"/>
            </a:pPr>
            <a:r>
              <a:rPr lang="zh-CN" altLang="en-US" b="1" dirty="0"/>
              <a:t>快速收敛性</a:t>
            </a:r>
            <a:r>
              <a:rPr lang="zh-CN" altLang="en-US" dirty="0"/>
              <a:t>则确保了网络能够快速适应变化，避免因路径失效而导致的通信中断，减少能量消耗和延迟。</a:t>
            </a:r>
          </a:p>
          <a:p>
            <a:r>
              <a:rPr lang="zh-CN" altLang="en-US" dirty="0"/>
              <a:t>这两者结合起来，可以大大提升无线传感器网络的可靠性、效率和用户体验。</a:t>
            </a:r>
          </a:p>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None/>
              <a:tabLst/>
              <a:defRPr/>
            </a:pPr>
            <a:endParaRPr lang="zh-CN" altLang="en-US" b="0"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28</a:t>
            </a:fld>
            <a:endParaRPr lang="zh-CN" altLang="en-US"/>
          </a:p>
        </p:txBody>
      </p:sp>
    </p:spTree>
    <p:extLst>
      <p:ext uri="{BB962C8B-B14F-4D97-AF65-F5344CB8AC3E}">
        <p14:creationId xmlns:p14="http://schemas.microsoft.com/office/powerpoint/2010/main" val="11858933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r>
              <a:rPr lang="zh-CN" altLang="en-US" dirty="0"/>
              <a:t>传感器网络路由过程有四个步骤：</a:t>
            </a:r>
            <a:endParaRPr lang="en-US" altLang="zh-CN" dirty="0"/>
          </a:p>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29</a:t>
            </a:fld>
            <a:endParaRPr lang="zh-CN" altLang="en-US"/>
          </a:p>
        </p:txBody>
      </p:sp>
    </p:spTree>
    <p:extLst>
      <p:ext uri="{BB962C8B-B14F-4D97-AF65-F5344CB8AC3E}">
        <p14:creationId xmlns:p14="http://schemas.microsoft.com/office/powerpoint/2010/main" val="2420012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30</a:t>
            </a:fld>
            <a:endParaRPr lang="zh-CN" altLang="en-US"/>
          </a:p>
        </p:txBody>
      </p:sp>
    </p:spTree>
    <p:extLst>
      <p:ext uri="{BB962C8B-B14F-4D97-AF65-F5344CB8AC3E}">
        <p14:creationId xmlns:p14="http://schemas.microsoft.com/office/powerpoint/2010/main" val="506801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31</a:t>
            </a:fld>
            <a:endParaRPr lang="zh-CN" altLang="en-US"/>
          </a:p>
        </p:txBody>
      </p:sp>
    </p:spTree>
    <p:extLst>
      <p:ext uri="{BB962C8B-B14F-4D97-AF65-F5344CB8AC3E}">
        <p14:creationId xmlns:p14="http://schemas.microsoft.com/office/powerpoint/2010/main" val="2136102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32</a:t>
            </a:fld>
            <a:endParaRPr lang="zh-CN" altLang="en-US"/>
          </a:p>
        </p:txBody>
      </p:sp>
    </p:spTree>
    <p:extLst>
      <p:ext uri="{BB962C8B-B14F-4D97-AF65-F5344CB8AC3E}">
        <p14:creationId xmlns:p14="http://schemas.microsoft.com/office/powerpoint/2010/main" val="38706926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35</a:t>
            </a:fld>
            <a:endParaRPr lang="zh-CN" altLang="en-US"/>
          </a:p>
        </p:txBody>
      </p:sp>
    </p:spTree>
    <p:extLst>
      <p:ext uri="{BB962C8B-B14F-4D97-AF65-F5344CB8AC3E}">
        <p14:creationId xmlns:p14="http://schemas.microsoft.com/office/powerpoint/2010/main" val="17375285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36</a:t>
            </a:fld>
            <a:endParaRPr lang="zh-CN" altLang="en-US"/>
          </a:p>
        </p:txBody>
      </p:sp>
    </p:spTree>
    <p:extLst>
      <p:ext uri="{BB962C8B-B14F-4D97-AF65-F5344CB8AC3E}">
        <p14:creationId xmlns:p14="http://schemas.microsoft.com/office/powerpoint/2010/main" val="8123037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bg2"/>
                </a:solidFill>
                <a:latin typeface="楷体_GB2312" pitchFamily="49" charset="-122"/>
                <a:ea typeface="楷体_GB2312" pitchFamily="49" charset="-122"/>
              </a:rPr>
              <a:t>如果一个节点E 已收到它的邻居节点B 的数据副本,若再次收到,那么它就将此数据发回它的邻居节点B。</a:t>
            </a:r>
          </a:p>
          <a:p>
            <a:endParaRPr lang="zh-CN" altLang="en-US" b="0"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37</a:t>
            </a:fld>
            <a:endParaRPr lang="zh-CN" altLang="en-US"/>
          </a:p>
        </p:txBody>
      </p:sp>
    </p:spTree>
    <p:extLst>
      <p:ext uri="{BB962C8B-B14F-4D97-AF65-F5344CB8AC3E}">
        <p14:creationId xmlns:p14="http://schemas.microsoft.com/office/powerpoint/2010/main" val="38278114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Times New Roman" panose="02020603050405020304" pitchFamily="18" charset="0"/>
                <a:cs typeface="Times New Roman" panose="02020603050405020304" pitchFamily="18" charset="0"/>
              </a:rPr>
              <a:t>SPIN-PP: SPIN for point to point media</a:t>
            </a:r>
          </a:p>
          <a:p>
            <a:endParaRPr lang="en-US" altLang="zh-CN" sz="1200" dirty="0">
              <a:latin typeface="Times New Roman" panose="02020603050405020304" pitchFamily="18" charset="0"/>
              <a:cs typeface="Times New Roman" panose="02020603050405020304" pitchFamily="18" charset="0"/>
            </a:endParaRPr>
          </a:p>
          <a:p>
            <a:r>
              <a:rPr lang="en-US" altLang="zh-CN" dirty="0"/>
              <a:t>SPIN-PP</a:t>
            </a:r>
            <a:r>
              <a:rPr lang="zh-CN" altLang="en-US" dirty="0"/>
              <a:t>中</a:t>
            </a:r>
            <a:r>
              <a:rPr lang="zh-CN" altLang="en-US" b="0" i="0" dirty="0">
                <a:solidFill>
                  <a:srgbClr val="222222"/>
                </a:solidFill>
                <a:effectLst/>
                <a:latin typeface="Inter"/>
              </a:rPr>
              <a:t>接收</a:t>
            </a:r>
            <a:r>
              <a:rPr lang="en-US" altLang="zh-CN" b="0" i="0" dirty="0">
                <a:solidFill>
                  <a:srgbClr val="222222"/>
                </a:solidFill>
                <a:effectLst/>
                <a:latin typeface="Inter"/>
              </a:rPr>
              <a:t>DATA</a:t>
            </a:r>
            <a:r>
              <a:rPr lang="zh-CN" altLang="en-US" b="0" i="0" dirty="0">
                <a:solidFill>
                  <a:srgbClr val="222222"/>
                </a:solidFill>
                <a:effectLst/>
                <a:latin typeface="Inter"/>
              </a:rPr>
              <a:t>消息的节点会对消息内的感知数据和节点本身缓存的感知数据进行数据融合和冗余消除操作，然后再向它的邻居节点广播包含最新融合结果相对应元数据的</a:t>
            </a:r>
            <a:r>
              <a:rPr lang="en-US" altLang="zh-CN" b="0" i="0" dirty="0">
                <a:solidFill>
                  <a:srgbClr val="222222"/>
                </a:solidFill>
                <a:effectLst/>
                <a:latin typeface="Inter"/>
              </a:rPr>
              <a:t>ADV</a:t>
            </a:r>
            <a:r>
              <a:rPr lang="zh-CN" altLang="en-US" b="0" i="0" dirty="0">
                <a:solidFill>
                  <a:srgbClr val="222222"/>
                </a:solidFill>
                <a:effectLst/>
                <a:latin typeface="Inter"/>
              </a:rPr>
              <a:t>消息。这一过程有助于减少网络中的数据冗余，提高数据传输效率</a:t>
            </a:r>
            <a:endParaRPr lang="en-US" altLang="zh-CN" b="0" i="0" dirty="0">
              <a:solidFill>
                <a:srgbClr val="222222"/>
              </a:solidFill>
              <a:effectLst/>
              <a:latin typeface="Inter"/>
            </a:endParaRPr>
          </a:p>
          <a:p>
            <a:endParaRPr lang="en-US" altLang="zh-CN" b="0" i="0" dirty="0">
              <a:solidFill>
                <a:srgbClr val="222222"/>
              </a:solidFill>
              <a:effectLst/>
              <a:latin typeface="Inter"/>
            </a:endParaRPr>
          </a:p>
          <a:p>
            <a:r>
              <a:rPr lang="en-US" altLang="zh-CN" b="0" i="0" dirty="0">
                <a:solidFill>
                  <a:srgbClr val="222222"/>
                </a:solidFill>
                <a:effectLst/>
                <a:latin typeface="Inter"/>
              </a:rPr>
              <a:t>SPIN-PP</a:t>
            </a:r>
            <a:r>
              <a:rPr lang="zh-CN" altLang="en-US" b="0" i="0" dirty="0">
                <a:solidFill>
                  <a:srgbClr val="222222"/>
                </a:solidFill>
                <a:effectLst/>
                <a:latin typeface="Inter"/>
              </a:rPr>
              <a:t>适用于那些对数据传输可靠性要求较高，且节点间通信干扰较小、信道质量较好的无线传感器网络场景。例如，在环境监测、智能家居等领域，传感器节点通常部署在相对固定的位置，且节点间的通信距离较短、干扰较小，这使得</a:t>
            </a:r>
            <a:r>
              <a:rPr lang="en-US" altLang="zh-CN" b="0" i="0" dirty="0">
                <a:solidFill>
                  <a:srgbClr val="222222"/>
                </a:solidFill>
                <a:effectLst/>
                <a:latin typeface="Inter"/>
              </a:rPr>
              <a:t>SPIN-PP</a:t>
            </a:r>
            <a:r>
              <a:rPr lang="zh-CN" altLang="en-US" b="0" i="0" dirty="0">
                <a:solidFill>
                  <a:srgbClr val="222222"/>
                </a:solidFill>
                <a:effectLst/>
                <a:latin typeface="Inter"/>
              </a:rPr>
              <a:t>成为这些场景下的理想选择。</a:t>
            </a:r>
            <a:endParaRPr lang="en-US" altLang="zh-CN" b="0" i="0" dirty="0">
              <a:solidFill>
                <a:srgbClr val="222222"/>
              </a:solidFill>
              <a:effectLst/>
              <a:latin typeface="Inter"/>
            </a:endParaRPr>
          </a:p>
          <a:p>
            <a:endParaRPr lang="en-US" altLang="zh-CN" b="0" i="0" dirty="0">
              <a:solidFill>
                <a:srgbClr val="222222"/>
              </a:solidFill>
              <a:effectLst/>
              <a:latin typeface="Inter"/>
            </a:endParaRPr>
          </a:p>
          <a:p>
            <a:endParaRPr lang="en-US" altLang="zh-CN" b="0" i="0" dirty="0">
              <a:solidFill>
                <a:srgbClr val="222222"/>
              </a:solidFill>
              <a:effectLst/>
              <a:latin typeface="Inter"/>
            </a:endParaRPr>
          </a:p>
          <a:p>
            <a:r>
              <a:rPr lang="en-US" altLang="zh-CN" b="0" i="0" dirty="0">
                <a:solidFill>
                  <a:srgbClr val="222222"/>
                </a:solidFill>
                <a:effectLst/>
                <a:latin typeface="Inter"/>
              </a:rPr>
              <a:t>SPIN-EC</a:t>
            </a:r>
            <a:r>
              <a:rPr lang="zh-CN" altLang="en-US" b="0" i="0" dirty="0">
                <a:solidFill>
                  <a:srgbClr val="222222"/>
                </a:solidFill>
                <a:effectLst/>
                <a:latin typeface="Inter"/>
              </a:rPr>
              <a:t>：</a:t>
            </a:r>
            <a:r>
              <a:rPr lang="en-US" altLang="zh-CN" b="0" i="0" dirty="0">
                <a:solidFill>
                  <a:srgbClr val="222222"/>
                </a:solidFill>
                <a:effectLst/>
                <a:latin typeface="Inter"/>
              </a:rPr>
              <a:t>SPIN for Energy-aware Clustering</a:t>
            </a:r>
          </a:p>
          <a:p>
            <a:endParaRPr lang="en-US" altLang="zh-CN" b="0" i="0" dirty="0">
              <a:solidFill>
                <a:srgbClr val="222222"/>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222222"/>
                </a:solidFill>
                <a:effectLst/>
                <a:latin typeface="Inter"/>
              </a:rPr>
              <a:t>能量感知</a:t>
            </a:r>
            <a:r>
              <a:rPr lang="zh-CN" altLang="en-US" b="0" i="0" dirty="0">
                <a:solidFill>
                  <a:srgbClr val="222222"/>
                </a:solidFill>
                <a:effectLst/>
                <a:latin typeface="Inter"/>
              </a:rPr>
              <a:t>：</a:t>
            </a:r>
            <a:r>
              <a:rPr lang="en-US" altLang="zh-CN" b="0" i="0" dirty="0">
                <a:solidFill>
                  <a:srgbClr val="222222"/>
                </a:solidFill>
                <a:effectLst/>
                <a:latin typeface="Inter"/>
              </a:rPr>
              <a:t>SPIN-EC</a:t>
            </a:r>
            <a:r>
              <a:rPr lang="zh-CN" altLang="en-US" b="0" i="0" dirty="0">
                <a:solidFill>
                  <a:srgbClr val="222222"/>
                </a:solidFill>
                <a:effectLst/>
                <a:latin typeface="Inter"/>
              </a:rPr>
              <a:t>的核心特点是引入了能量感知机制。节点在决定是否参与数据转发时，会考虑自身的能量存储情况和设定的能量阈值。只有当节点的能量不低于设定阈值时，它才会参与数据交换。</a:t>
            </a:r>
          </a:p>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38</a:t>
            </a:fld>
            <a:endParaRPr lang="zh-CN" altLang="en-US"/>
          </a:p>
        </p:txBody>
      </p:sp>
    </p:spTree>
    <p:extLst>
      <p:ext uri="{BB962C8B-B14F-4D97-AF65-F5344CB8AC3E}">
        <p14:creationId xmlns:p14="http://schemas.microsoft.com/office/powerpoint/2010/main" val="3523566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ADV</a:t>
            </a:r>
            <a:r>
              <a:rPr lang="zh-CN" altLang="en-US" dirty="0"/>
              <a:t>使用元数据进行协商，元数据使用了实数据，并与实数据一一对应。</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39</a:t>
            </a:fld>
            <a:endParaRPr lang="zh-CN" altLang="en-US"/>
          </a:p>
        </p:txBody>
      </p:sp>
    </p:spTree>
    <p:extLst>
      <p:ext uri="{BB962C8B-B14F-4D97-AF65-F5344CB8AC3E}">
        <p14:creationId xmlns:p14="http://schemas.microsoft.com/office/powerpoint/2010/main" val="3345231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40</a:t>
            </a:fld>
            <a:endParaRPr lang="zh-CN" altLang="en-US"/>
          </a:p>
        </p:txBody>
      </p:sp>
    </p:spTree>
    <p:extLst>
      <p:ext uri="{BB962C8B-B14F-4D97-AF65-F5344CB8AC3E}">
        <p14:creationId xmlns:p14="http://schemas.microsoft.com/office/powerpoint/2010/main" val="14246530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41</a:t>
            </a:fld>
            <a:endParaRPr lang="zh-CN" altLang="en-US"/>
          </a:p>
        </p:txBody>
      </p:sp>
    </p:spTree>
    <p:extLst>
      <p:ext uri="{BB962C8B-B14F-4D97-AF65-F5344CB8AC3E}">
        <p14:creationId xmlns:p14="http://schemas.microsoft.com/office/powerpoint/2010/main" val="966475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42</a:t>
            </a:fld>
            <a:endParaRPr lang="zh-CN" altLang="en-US"/>
          </a:p>
        </p:txBody>
      </p:sp>
    </p:spTree>
    <p:extLst>
      <p:ext uri="{BB962C8B-B14F-4D97-AF65-F5344CB8AC3E}">
        <p14:creationId xmlns:p14="http://schemas.microsoft.com/office/powerpoint/2010/main" val="21800753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43</a:t>
            </a:fld>
            <a:endParaRPr lang="zh-CN" altLang="en-US"/>
          </a:p>
        </p:txBody>
      </p:sp>
    </p:spTree>
    <p:extLst>
      <p:ext uri="{BB962C8B-B14F-4D97-AF65-F5344CB8AC3E}">
        <p14:creationId xmlns:p14="http://schemas.microsoft.com/office/powerpoint/2010/main" val="17960499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44</a:t>
            </a:fld>
            <a:endParaRPr lang="zh-CN" altLang="en-US"/>
          </a:p>
        </p:txBody>
      </p:sp>
    </p:spTree>
    <p:extLst>
      <p:ext uri="{BB962C8B-B14F-4D97-AF65-F5344CB8AC3E}">
        <p14:creationId xmlns:p14="http://schemas.microsoft.com/office/powerpoint/2010/main" val="34375744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T(n): p</a:t>
            </a:r>
            <a:r>
              <a:rPr lang="zh-CN" altLang="en-US" dirty="0"/>
              <a:t>是期望的簇头在所有节点中所占的百分比；</a:t>
            </a:r>
            <a:r>
              <a:rPr lang="en-US" altLang="zh-CN" dirty="0"/>
              <a:t>r-</a:t>
            </a:r>
            <a:r>
              <a:rPr lang="zh-CN" altLang="en-US" dirty="0"/>
              <a:t>轮数；</a:t>
            </a:r>
            <a:r>
              <a:rPr lang="en-US" altLang="zh-CN" dirty="0"/>
              <a:t>G-</a:t>
            </a:r>
            <a:r>
              <a:rPr lang="zh-CN" altLang="en-US" dirty="0"/>
              <a:t>这一轮循环中未当选过簇头的节点集合。</a:t>
            </a:r>
            <a:endParaRPr lang="en-US" altLang="zh-CN" dirty="0"/>
          </a:p>
          <a:p>
            <a:endParaRPr lang="en-US" altLang="zh-CN" dirty="0"/>
          </a:p>
          <a:p>
            <a:r>
              <a:rPr lang="zh-CN" altLang="en-US" dirty="0"/>
              <a:t>这里可以板书画这个簇头选取过程</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45</a:t>
            </a:fld>
            <a:endParaRPr lang="zh-CN" altLang="en-US"/>
          </a:p>
        </p:txBody>
      </p:sp>
    </p:spTree>
    <p:extLst>
      <p:ext uri="{BB962C8B-B14F-4D97-AF65-F5344CB8AC3E}">
        <p14:creationId xmlns:p14="http://schemas.microsoft.com/office/powerpoint/2010/main" val="1947720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46</a:t>
            </a:fld>
            <a:endParaRPr lang="zh-CN" altLang="en-US"/>
          </a:p>
        </p:txBody>
      </p:sp>
    </p:spTree>
    <p:extLst>
      <p:ext uri="{BB962C8B-B14F-4D97-AF65-F5344CB8AC3E}">
        <p14:creationId xmlns:p14="http://schemas.microsoft.com/office/powerpoint/2010/main" val="26481387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47</a:t>
            </a:fld>
            <a:endParaRPr lang="zh-CN" altLang="en-US"/>
          </a:p>
        </p:txBody>
      </p:sp>
    </p:spTree>
    <p:extLst>
      <p:ext uri="{BB962C8B-B14F-4D97-AF65-F5344CB8AC3E}">
        <p14:creationId xmlns:p14="http://schemas.microsoft.com/office/powerpoint/2010/main" val="17063605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48</a:t>
            </a:fld>
            <a:endParaRPr lang="zh-CN" altLang="en-US"/>
          </a:p>
        </p:txBody>
      </p:sp>
    </p:spTree>
    <p:extLst>
      <p:ext uri="{BB962C8B-B14F-4D97-AF65-F5344CB8AC3E}">
        <p14:creationId xmlns:p14="http://schemas.microsoft.com/office/powerpoint/2010/main" val="2142259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49</a:t>
            </a:fld>
            <a:endParaRPr lang="zh-CN" altLang="en-US"/>
          </a:p>
        </p:txBody>
      </p:sp>
    </p:spTree>
    <p:extLst>
      <p:ext uri="{BB962C8B-B14F-4D97-AF65-F5344CB8AC3E}">
        <p14:creationId xmlns:p14="http://schemas.microsoft.com/office/powerpoint/2010/main" val="1907789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92961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6032" y="365126"/>
            <a:ext cx="8631936"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0795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46888" y="365126"/>
            <a:ext cx="8650224"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246888" y="1825625"/>
            <a:ext cx="8650224"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Date Placeholder 3"/>
          <p:cNvSpPr>
            <a:spLocks noGrp="1"/>
          </p:cNvSpPr>
          <p:nvPr>
            <p:ph type="dt" sz="half" idx="10"/>
          </p:nvPr>
        </p:nvSpPr>
        <p:spPr>
          <a:xfrm>
            <a:off x="246888" y="6356351"/>
            <a:ext cx="2057400" cy="365125"/>
          </a:xfrm>
        </p:spPr>
        <p:txBody>
          <a:bodyPr/>
          <a:lstStyle/>
          <a:p>
            <a:endParaRPr lang="zh-CN" altLang="en-US" dirty="0"/>
          </a:p>
        </p:txBody>
      </p:sp>
      <p:sp>
        <p:nvSpPr>
          <p:cNvPr id="6" name="Footer Placeholder 4"/>
          <p:cNvSpPr>
            <a:spLocks noGrp="1"/>
          </p:cNvSpPr>
          <p:nvPr>
            <p:ph type="ftr" sz="quarter" idx="11"/>
          </p:nvPr>
        </p:nvSpPr>
        <p:spPr>
          <a:xfrm>
            <a:off x="3028950" y="6356351"/>
            <a:ext cx="3086100" cy="365125"/>
          </a:xfrm>
        </p:spPr>
        <p:txBody>
          <a:bodyPr/>
          <a:lstStyle/>
          <a:p>
            <a:endParaRPr lang="zh-CN" altLang="en-US"/>
          </a:p>
        </p:txBody>
      </p:sp>
      <p:sp>
        <p:nvSpPr>
          <p:cNvPr id="8" name="Slide Number Placeholder 5"/>
          <p:cNvSpPr>
            <a:spLocks noGrp="1"/>
          </p:cNvSpPr>
          <p:nvPr>
            <p:ph type="sldNum" sz="quarter" idx="12"/>
          </p:nvPr>
        </p:nvSpPr>
        <p:spPr>
          <a:xfrm>
            <a:off x="6839712"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3370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38062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14979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50652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741379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6" name="矩形 5"/>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Date Placeholder 3"/>
          <p:cNvSpPr>
            <a:spLocks noGrp="1"/>
          </p:cNvSpPr>
          <p:nvPr>
            <p:ph type="dt" sz="half" idx="10"/>
          </p:nvPr>
        </p:nvSpPr>
        <p:spPr>
          <a:xfrm>
            <a:off x="256032" y="6356350"/>
            <a:ext cx="2057400" cy="365125"/>
          </a:xfrm>
        </p:spPr>
        <p:txBody>
          <a:bodyPr/>
          <a:lstStyle/>
          <a:p>
            <a:endParaRPr lang="zh-CN" altLang="en-US"/>
          </a:p>
        </p:txBody>
      </p:sp>
      <p:sp>
        <p:nvSpPr>
          <p:cNvPr id="5" name="Footer Placeholder 4"/>
          <p:cNvSpPr>
            <a:spLocks noGrp="1"/>
          </p:cNvSpPr>
          <p:nvPr>
            <p:ph type="ftr" sz="quarter" idx="11"/>
          </p:nvPr>
        </p:nvSpPr>
        <p:spPr>
          <a:xfrm>
            <a:off x="3028950" y="6356351"/>
            <a:ext cx="3086100" cy="365125"/>
          </a:xfrm>
        </p:spPr>
        <p:txBody>
          <a:bodyPr/>
          <a:lstStyle/>
          <a:p>
            <a:endParaRPr lang="zh-CN" altLang="en-US"/>
          </a:p>
        </p:txBody>
      </p:sp>
      <p:sp>
        <p:nvSpPr>
          <p:cNvPr id="7" name="Slide Number Placeholder 5"/>
          <p:cNvSpPr>
            <a:spLocks noGrp="1"/>
          </p:cNvSpPr>
          <p:nvPr>
            <p:ph type="sldNum" sz="quarter" idx="12"/>
          </p:nvPr>
        </p:nvSpPr>
        <p:spPr>
          <a:xfrm>
            <a:off x="6830568" y="6356350"/>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91295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8480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5" name="矩形 4"/>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Date Placeholder 3"/>
          <p:cNvSpPr>
            <a:spLocks noGrp="1"/>
          </p:cNvSpPr>
          <p:nvPr>
            <p:ph type="dt" sz="half" idx="10"/>
          </p:nvPr>
        </p:nvSpPr>
        <p:spPr>
          <a:xfrm>
            <a:off x="628650" y="6356351"/>
            <a:ext cx="2057400" cy="365125"/>
          </a:xfrm>
        </p:spPr>
        <p:txBody>
          <a:bodyPr/>
          <a:lstStyle/>
          <a:p>
            <a:endParaRPr lang="zh-CN" altLang="en-US"/>
          </a:p>
        </p:txBody>
      </p:sp>
      <p:sp>
        <p:nvSpPr>
          <p:cNvPr id="4" name="Footer Placeholder 4"/>
          <p:cNvSpPr>
            <a:spLocks noGrp="1"/>
          </p:cNvSpPr>
          <p:nvPr>
            <p:ph type="ftr" sz="quarter" idx="11"/>
          </p:nvPr>
        </p:nvSpPr>
        <p:spPr>
          <a:xfrm>
            <a:off x="3028950" y="6356351"/>
            <a:ext cx="3086100" cy="365125"/>
          </a:xfr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3668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254783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253423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05398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084668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6032" y="365126"/>
            <a:ext cx="8631936"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56032" y="1825625"/>
            <a:ext cx="8631936"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256032" y="6366766"/>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30568" y="633933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225629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63" r:id="rId4"/>
    <p:sldLayoutId id="2147483664" r:id="rId5"/>
    <p:sldLayoutId id="2147483665" r:id="rId6"/>
    <p:sldLayoutId id="2147483666" r:id="rId7"/>
    <p:sldLayoutId id="2147483673" r:id="rId8"/>
    <p:sldLayoutId id="2147483667" r:id="rId9"/>
    <p:sldLayoutId id="2147483672" r:id="rId10"/>
    <p:sldLayoutId id="2147483668" r:id="rId11"/>
    <p:sldLayoutId id="2147483669" r:id="rId12"/>
    <p:sldLayoutId id="2147483670" r:id="rId13"/>
    <p:sldLayoutId id="2147483671" r:id="rId14"/>
  </p:sldLayoutIdLst>
  <p:hf hdr="0" ftr="0" dt="0"/>
  <p:txStyles>
    <p:title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1.tmp"/><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1.tmp"/><Relationship Id="rId5" Type="http://schemas.openxmlformats.org/officeDocument/2006/relationships/tags" Target="../tags/tag23.xml"/><Relationship Id="rId10" Type="http://schemas.openxmlformats.org/officeDocument/2006/relationships/slideLayout" Target="../slideLayouts/slideLayout9.xml"/><Relationship Id="rId4" Type="http://schemas.openxmlformats.org/officeDocument/2006/relationships/tags" Target="../tags/tag22.xml"/><Relationship Id="rId9" Type="http://schemas.openxmlformats.org/officeDocument/2006/relationships/tags" Target="../tags/tag27.xml"/></Relationships>
</file>

<file path=ppt/slides/_rels/slide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slideLayout" Target="../slideLayouts/slideLayout9.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 Type="http://schemas.openxmlformats.org/officeDocument/2006/relationships/tags" Target="../tags/tag29.xml"/><Relationship Id="rId16" Type="http://schemas.openxmlformats.org/officeDocument/2006/relationships/tags" Target="../tags/tag43.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10" Type="http://schemas.openxmlformats.org/officeDocument/2006/relationships/tags" Target="../tags/tag37.xml"/><Relationship Id="rId19" Type="http://schemas.openxmlformats.org/officeDocument/2006/relationships/image" Target="../media/image1.tmp"/><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slideLayout" Target="../slideLayouts/slideLayout9.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 Type="http://schemas.openxmlformats.org/officeDocument/2006/relationships/tags" Target="../tags/tag46.xml"/><Relationship Id="rId16" Type="http://schemas.openxmlformats.org/officeDocument/2006/relationships/tags" Target="../tags/tag60.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10" Type="http://schemas.openxmlformats.org/officeDocument/2006/relationships/tags" Target="../tags/tag54.xml"/><Relationship Id="rId19" Type="http://schemas.openxmlformats.org/officeDocument/2006/relationships/image" Target="../media/image1.tmp"/><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s>
</file>

<file path=ppt/slides/_rels/slide34.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1.tmp"/><Relationship Id="rId5" Type="http://schemas.openxmlformats.org/officeDocument/2006/relationships/tags" Target="../tags/tag66.xml"/><Relationship Id="rId10" Type="http://schemas.openxmlformats.org/officeDocument/2006/relationships/slideLayout" Target="../slideLayouts/slideLayout9.xml"/><Relationship Id="rId4" Type="http://schemas.openxmlformats.org/officeDocument/2006/relationships/tags" Target="../tags/tag65.xml"/><Relationship Id="rId9" Type="http://schemas.openxmlformats.org/officeDocument/2006/relationships/tags" Target="../tags/tag7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slideLayout" Target="../slideLayouts/slideLayout9.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 Type="http://schemas.openxmlformats.org/officeDocument/2006/relationships/tags" Target="../tags/tag72.xml"/><Relationship Id="rId16" Type="http://schemas.openxmlformats.org/officeDocument/2006/relationships/tags" Target="../tags/tag86.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tags" Target="../tags/tag85.xml"/><Relationship Id="rId10" Type="http://schemas.openxmlformats.org/officeDocument/2006/relationships/tags" Target="../tags/tag80.xml"/><Relationship Id="rId19" Type="http://schemas.openxmlformats.org/officeDocument/2006/relationships/image" Target="../media/image1.tmp"/><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s>
</file>

<file path=ppt/slides/_rels/slide5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slideLayout" Target="../slideLayouts/slideLayout9.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 Type="http://schemas.openxmlformats.org/officeDocument/2006/relationships/tags" Target="../tags/tag89.xml"/><Relationship Id="rId16" Type="http://schemas.openxmlformats.org/officeDocument/2006/relationships/tags" Target="../tags/tag103.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tags" Target="../tags/tag102.xml"/><Relationship Id="rId10" Type="http://schemas.openxmlformats.org/officeDocument/2006/relationships/tags" Target="../tags/tag97.xml"/><Relationship Id="rId19" Type="http://schemas.openxmlformats.org/officeDocument/2006/relationships/image" Target="../media/image1.tmp"/><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s>
</file>

<file path=ppt/slides/_rels/slide52.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18" Type="http://schemas.openxmlformats.org/officeDocument/2006/relationships/slideLayout" Target="../slideLayouts/slideLayout9.xml"/><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tags" Target="../tags/tag116.xml"/><Relationship Id="rId17" Type="http://schemas.openxmlformats.org/officeDocument/2006/relationships/tags" Target="../tags/tag121.xml"/><Relationship Id="rId2" Type="http://schemas.openxmlformats.org/officeDocument/2006/relationships/tags" Target="../tags/tag106.xml"/><Relationship Id="rId16" Type="http://schemas.openxmlformats.org/officeDocument/2006/relationships/tags" Target="../tags/tag120.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tags" Target="../tags/tag115.xml"/><Relationship Id="rId5" Type="http://schemas.openxmlformats.org/officeDocument/2006/relationships/tags" Target="../tags/tag109.xml"/><Relationship Id="rId15" Type="http://schemas.openxmlformats.org/officeDocument/2006/relationships/tags" Target="../tags/tag119.xml"/><Relationship Id="rId10" Type="http://schemas.openxmlformats.org/officeDocument/2006/relationships/tags" Target="../tags/tag114.xml"/><Relationship Id="rId19" Type="http://schemas.openxmlformats.org/officeDocument/2006/relationships/image" Target="../media/image1.tmp"/><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tags" Target="../tags/tag118.xml"/></Relationships>
</file>

<file path=ppt/slides/_rels/slide53.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slideLayout" Target="../slideLayouts/slideLayout9.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 Type="http://schemas.openxmlformats.org/officeDocument/2006/relationships/tags" Target="../tags/tag123.xml"/><Relationship Id="rId16" Type="http://schemas.openxmlformats.org/officeDocument/2006/relationships/tags" Target="../tags/tag137.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tags" Target="../tags/tag136.xml"/><Relationship Id="rId10" Type="http://schemas.openxmlformats.org/officeDocument/2006/relationships/tags" Target="../tags/tag131.xml"/><Relationship Id="rId19" Type="http://schemas.openxmlformats.org/officeDocument/2006/relationships/image" Target="../media/image1.tmp"/><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s>
</file>

<file path=ppt/slides/_rels/slide54.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tags" Target="../tags/tag151.xml"/><Relationship Id="rId18" Type="http://schemas.openxmlformats.org/officeDocument/2006/relationships/slideLayout" Target="../slideLayouts/slideLayout9.xm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 Type="http://schemas.openxmlformats.org/officeDocument/2006/relationships/tags" Target="../tags/tag140.xml"/><Relationship Id="rId16" Type="http://schemas.openxmlformats.org/officeDocument/2006/relationships/tags" Target="../tags/tag154.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5" Type="http://schemas.openxmlformats.org/officeDocument/2006/relationships/tags" Target="../tags/tag143.xml"/><Relationship Id="rId15" Type="http://schemas.openxmlformats.org/officeDocument/2006/relationships/tags" Target="../tags/tag153.xml"/><Relationship Id="rId10" Type="http://schemas.openxmlformats.org/officeDocument/2006/relationships/tags" Target="../tags/tag148.xml"/><Relationship Id="rId19" Type="http://schemas.openxmlformats.org/officeDocument/2006/relationships/image" Target="../media/image1.tmp"/><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16F3B-BD8B-0A84-1B14-FAFAD5D8DB9D}"/>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18F2554-E013-4811-3E57-895C4E4E33D5}"/>
              </a:ext>
            </a:extLst>
          </p:cNvPr>
          <p:cNvSpPr>
            <a:spLocks noGrp="1"/>
          </p:cNvSpPr>
          <p:nvPr>
            <p:ph type="sldNum" sz="quarter" idx="12"/>
          </p:nvPr>
        </p:nvSpPr>
        <p:spPr/>
        <p:txBody>
          <a:bodyPr/>
          <a:lstStyle/>
          <a:p>
            <a:fld id="{E663D701-F6D3-45BB-89CD-EE32AA93FC3C}" type="slidenum">
              <a:rPr lang="zh-CN" altLang="en-US" smtClean="0"/>
              <a:t>1</a:t>
            </a:fld>
            <a:endParaRPr lang="zh-CN" altLang="en-US" dirty="0"/>
          </a:p>
        </p:txBody>
      </p:sp>
      <p:sp>
        <p:nvSpPr>
          <p:cNvPr id="8" name="文本框 7">
            <a:extLst>
              <a:ext uri="{FF2B5EF4-FFF2-40B4-BE49-F238E27FC236}">
                <a16:creationId xmlns:a16="http://schemas.microsoft.com/office/drawing/2014/main" id="{A884AA7C-CDC3-2616-1704-1AA0EAF0CE2B}"/>
              </a:ext>
            </a:extLst>
          </p:cNvPr>
          <p:cNvSpPr txBox="1"/>
          <p:nvPr/>
        </p:nvSpPr>
        <p:spPr>
          <a:xfrm>
            <a:off x="194553" y="0"/>
            <a:ext cx="6301725"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章：传感器网络的协议架构及关键技术：数据链路层协议</a:t>
            </a:r>
          </a:p>
        </p:txBody>
      </p:sp>
      <p:sp>
        <p:nvSpPr>
          <p:cNvPr id="3" name="标题 2">
            <a:extLst>
              <a:ext uri="{FF2B5EF4-FFF2-40B4-BE49-F238E27FC236}">
                <a16:creationId xmlns:a16="http://schemas.microsoft.com/office/drawing/2014/main" id="{E74405E6-31BA-B3BF-2053-BB11FDCB8D49}"/>
              </a:ext>
            </a:extLst>
          </p:cNvPr>
          <p:cNvSpPr>
            <a:spLocks noGrp="1"/>
          </p:cNvSpPr>
          <p:nvPr>
            <p:ph type="title"/>
          </p:nvPr>
        </p:nvSpPr>
        <p:spPr>
          <a:xfrm>
            <a:off x="256032" y="681859"/>
            <a:ext cx="8631936" cy="630990"/>
          </a:xfrm>
        </p:spPr>
        <p:txBody>
          <a:bodyPr>
            <a:normAutofit/>
          </a:bodyPr>
          <a:lstStyle/>
          <a:p>
            <a:r>
              <a:rPr lang="zh-CN" altLang="en-US" sz="2800" dirty="0">
                <a:solidFill>
                  <a:schemeClr val="tx1"/>
                </a:solidFill>
                <a:effectLst/>
                <a:latin typeface="微软雅黑" panose="020B0503020204020204" pitchFamily="34" charset="-122"/>
                <a:ea typeface="微软雅黑" panose="020B0503020204020204" pitchFamily="34" charset="-122"/>
              </a:rPr>
              <a:t>数据链路层小结</a:t>
            </a:r>
          </a:p>
        </p:txBody>
      </p:sp>
      <p:sp>
        <p:nvSpPr>
          <p:cNvPr id="10" name="标题 2">
            <a:extLst>
              <a:ext uri="{FF2B5EF4-FFF2-40B4-BE49-F238E27FC236}">
                <a16:creationId xmlns:a16="http://schemas.microsoft.com/office/drawing/2014/main" id="{73684BE2-D30E-4A29-8462-F6930900957F}"/>
              </a:ext>
            </a:extLst>
          </p:cNvPr>
          <p:cNvSpPr txBox="1">
            <a:spLocks/>
          </p:cNvSpPr>
          <p:nvPr/>
        </p:nvSpPr>
        <p:spPr>
          <a:xfrm>
            <a:off x="2340160" y="1371571"/>
            <a:ext cx="1579802" cy="630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r>
              <a:rPr lang="zh-CN" altLang="en-US" sz="2400" dirty="0">
                <a:solidFill>
                  <a:srgbClr val="C00000"/>
                </a:solidFill>
                <a:effectLst/>
                <a:latin typeface="微软雅黑" panose="020B0503020204020204" pitchFamily="34" charset="-122"/>
                <a:ea typeface="微软雅黑" panose="020B0503020204020204" pitchFamily="34" charset="-122"/>
              </a:rPr>
              <a:t>封装成帧</a:t>
            </a:r>
          </a:p>
        </p:txBody>
      </p:sp>
      <p:grpSp>
        <p:nvGrpSpPr>
          <p:cNvPr id="11" name="组合 10">
            <a:extLst>
              <a:ext uri="{FF2B5EF4-FFF2-40B4-BE49-F238E27FC236}">
                <a16:creationId xmlns:a16="http://schemas.microsoft.com/office/drawing/2014/main" id="{82F4908B-1EF8-4C7F-BAFD-160F20D8E615}"/>
              </a:ext>
            </a:extLst>
          </p:cNvPr>
          <p:cNvGrpSpPr/>
          <p:nvPr/>
        </p:nvGrpSpPr>
        <p:grpSpPr>
          <a:xfrm>
            <a:off x="182360" y="1485693"/>
            <a:ext cx="8729053" cy="554153"/>
            <a:chOff x="182363" y="1480981"/>
            <a:chExt cx="8729053" cy="554153"/>
          </a:xfrm>
        </p:grpSpPr>
        <p:sp>
          <p:nvSpPr>
            <p:cNvPr id="27" name="标题 2">
              <a:extLst>
                <a:ext uri="{FF2B5EF4-FFF2-40B4-BE49-F238E27FC236}">
                  <a16:creationId xmlns:a16="http://schemas.microsoft.com/office/drawing/2014/main" id="{B2F0192C-365A-B1A1-8920-BC3EBFEA686B}"/>
                </a:ext>
              </a:extLst>
            </p:cNvPr>
            <p:cNvSpPr txBox="1">
              <a:spLocks/>
            </p:cNvSpPr>
            <p:nvPr/>
          </p:nvSpPr>
          <p:spPr>
            <a:xfrm>
              <a:off x="182363" y="1480981"/>
              <a:ext cx="8729053" cy="5541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pPr>
                <a:lnSpc>
                  <a:spcPct val="130000"/>
                </a:lnSpc>
              </a:pPr>
              <a:r>
                <a:rPr lang="zh-CN" altLang="en-US" sz="2200" dirty="0">
                  <a:solidFill>
                    <a:schemeClr val="tx1"/>
                  </a:solidFill>
                  <a:effectLst/>
                  <a:latin typeface="微软雅黑" panose="020B0503020204020204" pitchFamily="34" charset="-122"/>
                  <a:ea typeface="微软雅黑" panose="020B0503020204020204" pitchFamily="34" charset="-122"/>
                </a:rPr>
                <a:t>一、主要功能：           </a:t>
              </a:r>
              <a:r>
                <a:rPr lang="zh-CN" altLang="en-US" sz="2200" b="0" dirty="0">
                  <a:solidFill>
                    <a:schemeClr val="tx1"/>
                  </a:solidFill>
                  <a:effectLst/>
                  <a:ea typeface="+mn-ea"/>
                </a:rPr>
                <a:t>、            、            、            。          </a:t>
              </a:r>
              <a:endParaRPr lang="en-US" altLang="zh-CN" sz="2200" b="0" u="sng" dirty="0">
                <a:solidFill>
                  <a:schemeClr val="tx1"/>
                </a:solidFill>
                <a:effectLst/>
                <a:ea typeface="+mn-ea"/>
              </a:endParaRPr>
            </a:p>
          </p:txBody>
        </p:sp>
        <p:cxnSp>
          <p:nvCxnSpPr>
            <p:cNvPr id="5" name="直接连接符 4">
              <a:extLst>
                <a:ext uri="{FF2B5EF4-FFF2-40B4-BE49-F238E27FC236}">
                  <a16:creationId xmlns:a16="http://schemas.microsoft.com/office/drawing/2014/main" id="{26FA46BB-7702-4008-B71D-6012E3AA89F2}"/>
                </a:ext>
              </a:extLst>
            </p:cNvPr>
            <p:cNvCxnSpPr>
              <a:cxnSpLocks/>
            </p:cNvCxnSpPr>
            <p:nvPr/>
          </p:nvCxnSpPr>
          <p:spPr>
            <a:xfrm>
              <a:off x="2419643" y="1921941"/>
              <a:ext cx="14208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7C325A27-E83B-49FB-819E-A95EC241DFD3}"/>
                </a:ext>
              </a:extLst>
            </p:cNvPr>
            <p:cNvCxnSpPr>
              <a:cxnSpLocks/>
            </p:cNvCxnSpPr>
            <p:nvPr/>
          </p:nvCxnSpPr>
          <p:spPr>
            <a:xfrm>
              <a:off x="4016326" y="1926630"/>
              <a:ext cx="14208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4ADF118-2CD9-40E8-ACCA-9652EB195108}"/>
                </a:ext>
              </a:extLst>
            </p:cNvPr>
            <p:cNvCxnSpPr>
              <a:cxnSpLocks/>
            </p:cNvCxnSpPr>
            <p:nvPr/>
          </p:nvCxnSpPr>
          <p:spPr>
            <a:xfrm>
              <a:off x="5661595" y="1921941"/>
              <a:ext cx="14208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4BF59DD-D612-4655-BB05-5E5D052DAB18}"/>
                </a:ext>
              </a:extLst>
            </p:cNvPr>
            <p:cNvCxnSpPr>
              <a:cxnSpLocks/>
            </p:cNvCxnSpPr>
            <p:nvPr/>
          </p:nvCxnSpPr>
          <p:spPr>
            <a:xfrm>
              <a:off x="7262967" y="1921941"/>
              <a:ext cx="14208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标题 2">
            <a:extLst>
              <a:ext uri="{FF2B5EF4-FFF2-40B4-BE49-F238E27FC236}">
                <a16:creationId xmlns:a16="http://schemas.microsoft.com/office/drawing/2014/main" id="{5FADCED2-9CCC-44DE-8B2D-824A599E0A74}"/>
              </a:ext>
            </a:extLst>
          </p:cNvPr>
          <p:cNvSpPr txBox="1">
            <a:spLocks/>
          </p:cNvSpPr>
          <p:nvPr/>
        </p:nvSpPr>
        <p:spPr>
          <a:xfrm>
            <a:off x="3936843" y="1375354"/>
            <a:ext cx="1579802" cy="630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r>
              <a:rPr lang="zh-CN" altLang="en-US" sz="2400" dirty="0">
                <a:solidFill>
                  <a:srgbClr val="C00000"/>
                </a:solidFill>
                <a:effectLst/>
                <a:latin typeface="微软雅黑" panose="020B0503020204020204" pitchFamily="34" charset="-122"/>
                <a:ea typeface="微软雅黑" panose="020B0503020204020204" pitchFamily="34" charset="-122"/>
              </a:rPr>
              <a:t>差错控制</a:t>
            </a:r>
          </a:p>
        </p:txBody>
      </p:sp>
      <p:sp>
        <p:nvSpPr>
          <p:cNvPr id="17" name="标题 2">
            <a:extLst>
              <a:ext uri="{FF2B5EF4-FFF2-40B4-BE49-F238E27FC236}">
                <a16:creationId xmlns:a16="http://schemas.microsoft.com/office/drawing/2014/main" id="{50C11878-2DA4-4A4E-9DE5-A08C3F2100B9}"/>
              </a:ext>
            </a:extLst>
          </p:cNvPr>
          <p:cNvSpPr txBox="1">
            <a:spLocks/>
          </p:cNvSpPr>
          <p:nvPr/>
        </p:nvSpPr>
        <p:spPr>
          <a:xfrm>
            <a:off x="5582112" y="1361287"/>
            <a:ext cx="1579802" cy="630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r>
              <a:rPr lang="zh-CN" altLang="en-US" sz="2400" dirty="0">
                <a:solidFill>
                  <a:srgbClr val="C00000"/>
                </a:solidFill>
                <a:effectLst/>
                <a:latin typeface="微软雅黑" panose="020B0503020204020204" pitchFamily="34" charset="-122"/>
                <a:ea typeface="微软雅黑" panose="020B0503020204020204" pitchFamily="34" charset="-122"/>
              </a:rPr>
              <a:t>流量控制</a:t>
            </a:r>
          </a:p>
        </p:txBody>
      </p:sp>
      <p:sp>
        <p:nvSpPr>
          <p:cNvPr id="18" name="标题 2">
            <a:extLst>
              <a:ext uri="{FF2B5EF4-FFF2-40B4-BE49-F238E27FC236}">
                <a16:creationId xmlns:a16="http://schemas.microsoft.com/office/drawing/2014/main" id="{5C142E75-CDF2-49A7-996E-AF0FF822727D}"/>
              </a:ext>
            </a:extLst>
          </p:cNvPr>
          <p:cNvSpPr txBox="1">
            <a:spLocks/>
          </p:cNvSpPr>
          <p:nvPr/>
        </p:nvSpPr>
        <p:spPr>
          <a:xfrm>
            <a:off x="7099313" y="1362193"/>
            <a:ext cx="1761223" cy="630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r>
              <a:rPr lang="en-US" altLang="zh-CN" sz="2400" dirty="0">
                <a:solidFill>
                  <a:srgbClr val="C00000"/>
                </a:solidFill>
                <a:effectLst/>
                <a:latin typeface="微软雅黑" panose="020B0503020204020204" pitchFamily="34" charset="-122"/>
                <a:ea typeface="微软雅黑" panose="020B0503020204020204" pitchFamily="34" charset="-122"/>
              </a:rPr>
              <a:t>MAC</a:t>
            </a:r>
            <a:r>
              <a:rPr lang="zh-CN" altLang="en-US" sz="2400" dirty="0">
                <a:solidFill>
                  <a:srgbClr val="C00000"/>
                </a:solidFill>
                <a:effectLst/>
                <a:latin typeface="微软雅黑" panose="020B0503020204020204" pitchFamily="34" charset="-122"/>
                <a:ea typeface="微软雅黑" panose="020B0503020204020204" pitchFamily="34" charset="-122"/>
              </a:rPr>
              <a:t>协议</a:t>
            </a:r>
          </a:p>
        </p:txBody>
      </p:sp>
      <p:sp>
        <p:nvSpPr>
          <p:cNvPr id="19" name="标题 2">
            <a:extLst>
              <a:ext uri="{FF2B5EF4-FFF2-40B4-BE49-F238E27FC236}">
                <a16:creationId xmlns:a16="http://schemas.microsoft.com/office/drawing/2014/main" id="{DCC04923-5AE2-4112-81A0-F019A0A453CB}"/>
              </a:ext>
            </a:extLst>
          </p:cNvPr>
          <p:cNvSpPr txBox="1">
            <a:spLocks/>
          </p:cNvSpPr>
          <p:nvPr/>
        </p:nvSpPr>
        <p:spPr>
          <a:xfrm>
            <a:off x="194550" y="2056581"/>
            <a:ext cx="8729053" cy="5541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pPr>
              <a:lnSpc>
                <a:spcPct val="130000"/>
              </a:lnSpc>
            </a:pPr>
            <a:r>
              <a:rPr lang="zh-CN" altLang="en-US" sz="2200" dirty="0">
                <a:solidFill>
                  <a:schemeClr val="tx1"/>
                </a:solidFill>
                <a:effectLst/>
                <a:latin typeface="微软雅黑" panose="020B0503020204020204" pitchFamily="34" charset="-122"/>
                <a:ea typeface="微软雅黑" panose="020B0503020204020204" pitchFamily="34" charset="-122"/>
              </a:rPr>
              <a:t>二、封装成帧：数据链路层最小单位是             。</a:t>
            </a:r>
            <a:endParaRPr lang="en-US" altLang="zh-CN" sz="2200" b="0" u="sng" dirty="0">
              <a:solidFill>
                <a:schemeClr val="tx1"/>
              </a:solidFill>
              <a:effectLst/>
              <a:ea typeface="+mn-ea"/>
            </a:endParaRPr>
          </a:p>
        </p:txBody>
      </p:sp>
      <p:cxnSp>
        <p:nvCxnSpPr>
          <p:cNvPr id="20" name="直接连接符 19">
            <a:extLst>
              <a:ext uri="{FF2B5EF4-FFF2-40B4-BE49-F238E27FC236}">
                <a16:creationId xmlns:a16="http://schemas.microsoft.com/office/drawing/2014/main" id="{9C989D44-2339-4E18-8293-3E10BE280296}"/>
              </a:ext>
            </a:extLst>
          </p:cNvPr>
          <p:cNvCxnSpPr>
            <a:cxnSpLocks/>
          </p:cNvCxnSpPr>
          <p:nvPr/>
        </p:nvCxnSpPr>
        <p:spPr>
          <a:xfrm>
            <a:off x="5741077" y="2590209"/>
            <a:ext cx="14208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标题 2">
            <a:extLst>
              <a:ext uri="{FF2B5EF4-FFF2-40B4-BE49-F238E27FC236}">
                <a16:creationId xmlns:a16="http://schemas.microsoft.com/office/drawing/2014/main" id="{7844206E-5C85-4CA2-BDF7-2B76C9291E95}"/>
              </a:ext>
            </a:extLst>
          </p:cNvPr>
          <p:cNvSpPr txBox="1">
            <a:spLocks/>
          </p:cNvSpPr>
          <p:nvPr/>
        </p:nvSpPr>
        <p:spPr>
          <a:xfrm>
            <a:off x="5709659" y="2116645"/>
            <a:ext cx="1324708" cy="630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r>
              <a:rPr lang="zh-CN" altLang="en-US" sz="2400" dirty="0">
                <a:solidFill>
                  <a:srgbClr val="C00000"/>
                </a:solidFill>
                <a:effectLst/>
                <a:latin typeface="微软雅黑" panose="020B0503020204020204" pitchFamily="34" charset="-122"/>
                <a:ea typeface="微软雅黑" panose="020B0503020204020204" pitchFamily="34" charset="-122"/>
              </a:rPr>
              <a:t>数据帧</a:t>
            </a:r>
          </a:p>
        </p:txBody>
      </p:sp>
      <p:sp>
        <p:nvSpPr>
          <p:cNvPr id="22" name="标题 2">
            <a:extLst>
              <a:ext uri="{FF2B5EF4-FFF2-40B4-BE49-F238E27FC236}">
                <a16:creationId xmlns:a16="http://schemas.microsoft.com/office/drawing/2014/main" id="{ACBC135E-586E-4BE0-9DFD-8420E8D1E3EA}"/>
              </a:ext>
            </a:extLst>
          </p:cNvPr>
          <p:cNvSpPr txBox="1">
            <a:spLocks/>
          </p:cNvSpPr>
          <p:nvPr/>
        </p:nvSpPr>
        <p:spPr>
          <a:xfrm>
            <a:off x="194550" y="2675222"/>
            <a:ext cx="8729053" cy="5541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pPr>
              <a:lnSpc>
                <a:spcPct val="130000"/>
              </a:lnSpc>
            </a:pPr>
            <a:r>
              <a:rPr lang="zh-CN" altLang="en-US" sz="2200" dirty="0">
                <a:solidFill>
                  <a:schemeClr val="tx1"/>
                </a:solidFill>
                <a:effectLst/>
                <a:latin typeface="微软雅黑" panose="020B0503020204020204" pitchFamily="34" charset="-122"/>
                <a:ea typeface="微软雅黑" panose="020B0503020204020204" pitchFamily="34" charset="-122"/>
              </a:rPr>
              <a:t>三、差错控制：保护数据帧的完整性，常用</a:t>
            </a:r>
            <a:r>
              <a:rPr lang="zh-CN" altLang="en-US" sz="2200" u="sng" dirty="0">
                <a:solidFill>
                  <a:srgbClr val="C00000"/>
                </a:solidFill>
                <a:effectLst/>
                <a:latin typeface="微软雅黑" panose="020B0503020204020204" pitchFamily="34" charset="-122"/>
                <a:ea typeface="微软雅黑" panose="020B0503020204020204" pitchFamily="34" charset="-122"/>
              </a:rPr>
              <a:t> 循环冗余码</a:t>
            </a:r>
            <a:r>
              <a:rPr lang="en-US" altLang="zh-CN" sz="2200" u="sng" dirty="0">
                <a:solidFill>
                  <a:srgbClr val="C00000"/>
                </a:solidFill>
                <a:effectLst/>
                <a:latin typeface="微软雅黑" panose="020B0503020204020204" pitchFamily="34" charset="-122"/>
                <a:ea typeface="微软雅黑" panose="020B0503020204020204" pitchFamily="34" charset="-122"/>
              </a:rPr>
              <a:t>CRC</a:t>
            </a:r>
            <a:r>
              <a:rPr lang="zh-CN" altLang="en-US" sz="2200" dirty="0">
                <a:solidFill>
                  <a:schemeClr val="tx1"/>
                </a:solidFill>
                <a:effectLst/>
                <a:latin typeface="微软雅黑" panose="020B0503020204020204" pitchFamily="34" charset="-122"/>
                <a:ea typeface="微软雅黑" panose="020B0503020204020204" pitchFamily="34" charset="-122"/>
              </a:rPr>
              <a:t>。</a:t>
            </a:r>
            <a:endParaRPr lang="en-US" altLang="zh-CN" sz="2200" b="0" u="sng" dirty="0">
              <a:solidFill>
                <a:schemeClr val="tx1"/>
              </a:solidFill>
              <a:effectLst/>
              <a:ea typeface="+mn-ea"/>
            </a:endParaRPr>
          </a:p>
        </p:txBody>
      </p:sp>
      <p:sp>
        <p:nvSpPr>
          <p:cNvPr id="23" name="标题 2">
            <a:extLst>
              <a:ext uri="{FF2B5EF4-FFF2-40B4-BE49-F238E27FC236}">
                <a16:creationId xmlns:a16="http://schemas.microsoft.com/office/drawing/2014/main" id="{BEF7D6C3-0256-4036-A3C5-38FC871A2275}"/>
              </a:ext>
            </a:extLst>
          </p:cNvPr>
          <p:cNvSpPr txBox="1">
            <a:spLocks/>
          </p:cNvSpPr>
          <p:nvPr/>
        </p:nvSpPr>
        <p:spPr>
          <a:xfrm>
            <a:off x="207473" y="3253993"/>
            <a:ext cx="8729053" cy="9611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pPr>
              <a:lnSpc>
                <a:spcPct val="130000"/>
              </a:lnSpc>
            </a:pPr>
            <a:r>
              <a:rPr lang="zh-CN" altLang="en-US" sz="2200" dirty="0">
                <a:solidFill>
                  <a:schemeClr val="tx1"/>
                </a:solidFill>
                <a:effectLst/>
                <a:latin typeface="微软雅黑" panose="020B0503020204020204" pitchFamily="34" charset="-122"/>
                <a:ea typeface="微软雅黑" panose="020B0503020204020204" pitchFamily="34" charset="-122"/>
              </a:rPr>
              <a:t>四、流量控制：通过控制</a:t>
            </a:r>
            <a:r>
              <a:rPr lang="zh-CN" altLang="en-US" sz="2200" dirty="0">
                <a:solidFill>
                  <a:srgbClr val="C00000"/>
                </a:solidFill>
                <a:effectLst/>
                <a:latin typeface="微软雅黑" panose="020B0503020204020204" pitchFamily="34" charset="-122"/>
                <a:ea typeface="微软雅黑" panose="020B0503020204020204" pitchFamily="34" charset="-122"/>
              </a:rPr>
              <a:t>发送端</a:t>
            </a:r>
            <a:r>
              <a:rPr lang="zh-CN" altLang="en-US" sz="2200" dirty="0">
                <a:solidFill>
                  <a:schemeClr val="tx1"/>
                </a:solidFill>
                <a:effectLst/>
                <a:latin typeface="微软雅黑" panose="020B0503020204020204" pitchFamily="34" charset="-122"/>
                <a:ea typeface="微软雅黑" panose="020B0503020204020204" pitchFamily="34" charset="-122"/>
              </a:rPr>
              <a:t>传输速度，解决收发两侧处理速度不一致的问题。</a:t>
            </a:r>
            <a:endParaRPr lang="en-US" altLang="zh-CN" sz="2200" b="0" u="sng" dirty="0">
              <a:solidFill>
                <a:schemeClr val="tx1"/>
              </a:solidFill>
              <a:effectLst/>
              <a:ea typeface="+mn-ea"/>
            </a:endParaRPr>
          </a:p>
        </p:txBody>
      </p:sp>
      <p:sp>
        <p:nvSpPr>
          <p:cNvPr id="24" name="标题 2">
            <a:extLst>
              <a:ext uri="{FF2B5EF4-FFF2-40B4-BE49-F238E27FC236}">
                <a16:creationId xmlns:a16="http://schemas.microsoft.com/office/drawing/2014/main" id="{09BBE720-1484-429F-9582-CCD0C616AA00}"/>
              </a:ext>
            </a:extLst>
          </p:cNvPr>
          <p:cNvSpPr txBox="1">
            <a:spLocks/>
          </p:cNvSpPr>
          <p:nvPr/>
        </p:nvSpPr>
        <p:spPr>
          <a:xfrm>
            <a:off x="207473" y="4215187"/>
            <a:ext cx="8729053" cy="9611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pPr>
              <a:lnSpc>
                <a:spcPct val="130000"/>
              </a:lnSpc>
            </a:pPr>
            <a:r>
              <a:rPr lang="zh-CN" altLang="en-US" sz="2200" dirty="0">
                <a:solidFill>
                  <a:schemeClr val="tx1"/>
                </a:solidFill>
                <a:effectLst/>
                <a:latin typeface="微软雅黑" panose="020B0503020204020204" pitchFamily="34" charset="-122"/>
                <a:ea typeface="微软雅黑" panose="020B0503020204020204" pitchFamily="34" charset="-122"/>
              </a:rPr>
              <a:t>五、</a:t>
            </a:r>
            <a:r>
              <a:rPr lang="en-US" altLang="zh-CN" sz="2200" dirty="0">
                <a:solidFill>
                  <a:schemeClr val="tx1"/>
                </a:solidFill>
                <a:effectLst/>
                <a:latin typeface="微软雅黑" panose="020B0503020204020204" pitchFamily="34" charset="-122"/>
                <a:ea typeface="微软雅黑" panose="020B0503020204020204" pitchFamily="34" charset="-122"/>
              </a:rPr>
              <a:t>MAC</a:t>
            </a:r>
            <a:r>
              <a:rPr lang="zh-CN" altLang="en-US" sz="2200" dirty="0">
                <a:solidFill>
                  <a:schemeClr val="tx1"/>
                </a:solidFill>
                <a:effectLst/>
                <a:latin typeface="微软雅黑" panose="020B0503020204020204" pitchFamily="34" charset="-122"/>
                <a:ea typeface="微软雅黑" panose="020B0503020204020204" pitchFamily="34" charset="-122"/>
              </a:rPr>
              <a:t>协议：控制多用户对物理介质的访问，目的是保证</a:t>
            </a:r>
            <a:r>
              <a:rPr lang="zh-CN" altLang="en-US" sz="2200" dirty="0">
                <a:solidFill>
                  <a:srgbClr val="C00000"/>
                </a:solidFill>
                <a:effectLst/>
                <a:latin typeface="微软雅黑" panose="020B0503020204020204" pitchFamily="34" charset="-122"/>
                <a:ea typeface="微软雅黑" panose="020B0503020204020204" pitchFamily="34" charset="-122"/>
              </a:rPr>
              <a:t>高效、可靠和公平</a:t>
            </a:r>
            <a:r>
              <a:rPr lang="zh-CN" altLang="en-US" sz="2200" dirty="0">
                <a:solidFill>
                  <a:schemeClr val="tx1"/>
                </a:solidFill>
                <a:effectLst/>
                <a:latin typeface="微软雅黑" panose="020B0503020204020204" pitchFamily="34" charset="-122"/>
                <a:ea typeface="微软雅黑" panose="020B0503020204020204" pitchFamily="34" charset="-122"/>
              </a:rPr>
              <a:t>的通信。</a:t>
            </a:r>
            <a:endParaRPr lang="en-US" altLang="zh-CN" sz="2200" dirty="0">
              <a:solidFill>
                <a:schemeClr val="tx1"/>
              </a:solidFill>
              <a:effectLst/>
              <a:latin typeface="微软雅黑" panose="020B0503020204020204" pitchFamily="34" charset="-122"/>
              <a:ea typeface="微软雅黑" panose="020B0503020204020204" pitchFamily="34" charset="-122"/>
            </a:endParaRPr>
          </a:p>
        </p:txBody>
      </p:sp>
      <p:sp>
        <p:nvSpPr>
          <p:cNvPr id="25" name="标题 2">
            <a:extLst>
              <a:ext uri="{FF2B5EF4-FFF2-40B4-BE49-F238E27FC236}">
                <a16:creationId xmlns:a16="http://schemas.microsoft.com/office/drawing/2014/main" id="{46E13F43-C139-4969-93AC-FC5E473F6181}"/>
              </a:ext>
            </a:extLst>
          </p:cNvPr>
          <p:cNvSpPr txBox="1">
            <a:spLocks/>
          </p:cNvSpPr>
          <p:nvPr/>
        </p:nvSpPr>
        <p:spPr>
          <a:xfrm>
            <a:off x="710887" y="5099469"/>
            <a:ext cx="8149649" cy="14560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a:lstStyle>
          <a:p>
            <a:pPr marL="342900" indent="-342900">
              <a:lnSpc>
                <a:spcPct val="130000"/>
              </a:lnSpc>
              <a:buFont typeface="Arial" panose="020B0604020202020204" pitchFamily="34" charset="0"/>
              <a:buChar char="•"/>
            </a:pPr>
            <a:r>
              <a:rPr lang="zh-CN" altLang="en-US" sz="2200" dirty="0">
                <a:solidFill>
                  <a:schemeClr val="tx1"/>
                </a:solidFill>
                <a:effectLst/>
                <a:latin typeface="微软雅黑" panose="020B0503020204020204" pitchFamily="34" charset="-122"/>
                <a:ea typeface="微软雅黑" panose="020B0503020204020204" pitchFamily="34" charset="-122"/>
              </a:rPr>
              <a:t>静态</a:t>
            </a:r>
            <a:r>
              <a:rPr lang="en-US" altLang="zh-CN" sz="2200" dirty="0">
                <a:solidFill>
                  <a:schemeClr val="tx1"/>
                </a:solidFill>
                <a:effectLst/>
                <a:latin typeface="微软雅黑" panose="020B0503020204020204" pitchFamily="34" charset="-122"/>
                <a:ea typeface="微软雅黑" panose="020B0503020204020204" pitchFamily="34" charset="-122"/>
              </a:rPr>
              <a:t>MAC</a:t>
            </a:r>
            <a:r>
              <a:rPr lang="zh-CN" altLang="en-US" sz="2200" dirty="0">
                <a:solidFill>
                  <a:schemeClr val="tx1"/>
                </a:solidFill>
                <a:effectLst/>
                <a:latin typeface="微软雅黑" panose="020B0503020204020204" pitchFamily="34" charset="-122"/>
                <a:ea typeface="微软雅黑" panose="020B0503020204020204" pitchFamily="34" charset="-122"/>
              </a:rPr>
              <a:t>协议：</a:t>
            </a:r>
            <a:r>
              <a:rPr lang="en-US" altLang="zh-CN" sz="2200" dirty="0">
                <a:solidFill>
                  <a:schemeClr val="tx1"/>
                </a:solidFill>
                <a:effectLst/>
                <a:latin typeface="微软雅黑" panose="020B0503020204020204" pitchFamily="34" charset="-122"/>
                <a:ea typeface="微软雅黑" panose="020B0503020204020204" pitchFamily="34" charset="-122"/>
              </a:rPr>
              <a:t>TDMA</a:t>
            </a:r>
            <a:r>
              <a:rPr lang="zh-CN" altLang="en-US" sz="2200" dirty="0">
                <a:solidFill>
                  <a:schemeClr val="tx1"/>
                </a:solidFill>
                <a:effectLst/>
                <a:latin typeface="微软雅黑" panose="020B0503020204020204" pitchFamily="34" charset="-122"/>
                <a:ea typeface="微软雅黑" panose="020B0503020204020204" pitchFamily="34" charset="-122"/>
              </a:rPr>
              <a:t>、</a:t>
            </a:r>
            <a:r>
              <a:rPr lang="en-US" altLang="zh-CN" sz="2200" dirty="0">
                <a:solidFill>
                  <a:schemeClr val="tx1"/>
                </a:solidFill>
                <a:effectLst/>
                <a:latin typeface="微软雅黑" panose="020B0503020204020204" pitchFamily="34" charset="-122"/>
                <a:ea typeface="微软雅黑" panose="020B0503020204020204" pitchFamily="34" charset="-122"/>
              </a:rPr>
              <a:t>FDMA</a:t>
            </a:r>
          </a:p>
          <a:p>
            <a:pPr marL="342900" indent="-342900">
              <a:lnSpc>
                <a:spcPct val="130000"/>
              </a:lnSpc>
              <a:buFont typeface="Arial" panose="020B0604020202020204" pitchFamily="34" charset="0"/>
              <a:buChar char="•"/>
            </a:pPr>
            <a:r>
              <a:rPr lang="zh-CN" altLang="en-US" sz="2200" dirty="0">
                <a:solidFill>
                  <a:schemeClr val="tx1"/>
                </a:solidFill>
                <a:effectLst/>
                <a:latin typeface="微软雅黑" panose="020B0503020204020204" pitchFamily="34" charset="-122"/>
                <a:ea typeface="微软雅黑" panose="020B0503020204020204" pitchFamily="34" charset="-122"/>
              </a:rPr>
              <a:t>动态</a:t>
            </a:r>
            <a:r>
              <a:rPr lang="en-US" altLang="zh-CN" sz="2200" dirty="0">
                <a:solidFill>
                  <a:schemeClr val="tx1"/>
                </a:solidFill>
                <a:effectLst/>
                <a:latin typeface="微软雅黑" panose="020B0503020204020204" pitchFamily="34" charset="-122"/>
                <a:ea typeface="微软雅黑" panose="020B0503020204020204" pitchFamily="34" charset="-122"/>
              </a:rPr>
              <a:t>MAC</a:t>
            </a:r>
            <a:r>
              <a:rPr lang="zh-CN" altLang="en-US" sz="2200" dirty="0">
                <a:solidFill>
                  <a:schemeClr val="tx1"/>
                </a:solidFill>
                <a:effectLst/>
                <a:latin typeface="微软雅黑" panose="020B0503020204020204" pitchFamily="34" charset="-122"/>
                <a:ea typeface="微软雅黑" panose="020B0503020204020204" pitchFamily="34" charset="-122"/>
              </a:rPr>
              <a:t>协议：</a:t>
            </a:r>
            <a:r>
              <a:rPr lang="en-US" altLang="zh-CN" sz="2200" dirty="0">
                <a:solidFill>
                  <a:schemeClr val="tx1"/>
                </a:solidFill>
                <a:effectLst/>
                <a:latin typeface="微软雅黑" panose="020B0503020204020204" pitchFamily="34" charset="-122"/>
                <a:ea typeface="微软雅黑" panose="020B0503020204020204" pitchFamily="34" charset="-122"/>
              </a:rPr>
              <a:t>CSMA/CD</a:t>
            </a:r>
            <a:r>
              <a:rPr lang="zh-CN" altLang="en-US" sz="2200" dirty="0">
                <a:solidFill>
                  <a:schemeClr val="tx1"/>
                </a:solidFill>
                <a:effectLst/>
                <a:latin typeface="微软雅黑" panose="020B0503020204020204" pitchFamily="34" charset="-122"/>
                <a:ea typeface="微软雅黑" panose="020B0503020204020204" pitchFamily="34" charset="-122"/>
              </a:rPr>
              <a:t>、</a:t>
            </a:r>
            <a:r>
              <a:rPr lang="en-US" altLang="zh-CN" sz="2200" dirty="0">
                <a:solidFill>
                  <a:schemeClr val="tx1"/>
                </a:solidFill>
                <a:effectLst/>
                <a:latin typeface="微软雅黑" panose="020B0503020204020204" pitchFamily="34" charset="-122"/>
                <a:ea typeface="微软雅黑" panose="020B0503020204020204" pitchFamily="34" charset="-122"/>
              </a:rPr>
              <a:t>CSMA/CA</a:t>
            </a:r>
            <a:r>
              <a:rPr lang="zh-CN" altLang="en-US" sz="2200" dirty="0">
                <a:solidFill>
                  <a:schemeClr val="tx1"/>
                </a:solidFill>
                <a:effectLst/>
                <a:latin typeface="微软雅黑" panose="020B0503020204020204" pitchFamily="34" charset="-122"/>
                <a:ea typeface="微软雅黑" panose="020B0503020204020204" pitchFamily="34" charset="-122"/>
              </a:rPr>
              <a:t>、</a:t>
            </a:r>
            <a:r>
              <a:rPr lang="en-US" altLang="zh-CN" sz="2200" dirty="0">
                <a:solidFill>
                  <a:schemeClr val="tx1"/>
                </a:solidFill>
                <a:effectLst/>
                <a:latin typeface="微软雅黑" panose="020B0503020204020204" pitchFamily="34" charset="-122"/>
                <a:ea typeface="微软雅黑" panose="020B0503020204020204" pitchFamily="34" charset="-122"/>
              </a:rPr>
              <a:t>S-MAC</a:t>
            </a:r>
            <a:r>
              <a:rPr lang="zh-CN" altLang="en-US" sz="2200" dirty="0">
                <a:solidFill>
                  <a:schemeClr val="tx1"/>
                </a:solidFill>
                <a:effectLst/>
                <a:latin typeface="微软雅黑" panose="020B0503020204020204" pitchFamily="34" charset="-122"/>
                <a:ea typeface="微软雅黑" panose="020B0503020204020204" pitchFamily="34" charset="-122"/>
              </a:rPr>
              <a:t>、</a:t>
            </a:r>
            <a:r>
              <a:rPr lang="en-US" altLang="zh-CN" sz="2200" dirty="0">
                <a:solidFill>
                  <a:schemeClr val="tx1"/>
                </a:solidFill>
                <a:effectLst/>
                <a:latin typeface="微软雅黑" panose="020B0503020204020204" pitchFamily="34" charset="-122"/>
                <a:ea typeface="微软雅黑" panose="020B0503020204020204" pitchFamily="34" charset="-122"/>
              </a:rPr>
              <a:t>T-MAC</a:t>
            </a:r>
            <a:r>
              <a:rPr lang="zh-CN" altLang="en-US" sz="2200" dirty="0">
                <a:solidFill>
                  <a:schemeClr val="tx1"/>
                </a:solidFill>
                <a:effectLst/>
                <a:latin typeface="微软雅黑" panose="020B0503020204020204" pitchFamily="34" charset="-122"/>
                <a:ea typeface="微软雅黑" panose="020B0503020204020204" pitchFamily="34" charset="-122"/>
              </a:rPr>
              <a:t>、</a:t>
            </a:r>
            <a:r>
              <a:rPr lang="en-US" altLang="zh-CN" sz="2200" dirty="0">
                <a:solidFill>
                  <a:schemeClr val="tx1"/>
                </a:solidFill>
                <a:effectLst/>
                <a:latin typeface="微软雅黑" panose="020B0503020204020204" pitchFamily="34" charset="-122"/>
                <a:ea typeface="微软雅黑" panose="020B0503020204020204" pitchFamily="34" charset="-122"/>
              </a:rPr>
              <a:t>Z-MAC</a:t>
            </a:r>
            <a:r>
              <a:rPr lang="zh-CN" altLang="en-US" sz="2200" dirty="0">
                <a:solidFill>
                  <a:schemeClr val="tx1"/>
                </a:solidFill>
                <a:effectLst/>
                <a:latin typeface="微软雅黑" panose="020B0503020204020204" pitchFamily="34" charset="-122"/>
                <a:ea typeface="微软雅黑" panose="020B0503020204020204" pitchFamily="34" charset="-122"/>
              </a:rPr>
              <a:t>等。</a:t>
            </a:r>
            <a:endParaRPr lang="en-US" altLang="zh-CN" sz="2200" dirty="0">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082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1000"/>
                                        <p:tgtEl>
                                          <p:spTgt spid="16"/>
                                        </p:tgtEl>
                                      </p:cBhvr>
                                    </p:animEffect>
                                    <p:anim calcmode="lin" valueType="num">
                                      <p:cBhvr>
                                        <p:cTn id="19" dur="1000" fill="hold"/>
                                        <p:tgtEl>
                                          <p:spTgt spid="16"/>
                                        </p:tgtEl>
                                        <p:attrNameLst>
                                          <p:attrName>ppt_x</p:attrName>
                                        </p:attrNameLst>
                                      </p:cBhvr>
                                      <p:tavLst>
                                        <p:tav tm="0">
                                          <p:val>
                                            <p:strVal val="#ppt_x"/>
                                          </p:val>
                                        </p:tav>
                                        <p:tav tm="100000">
                                          <p:val>
                                            <p:strVal val="#ppt_x"/>
                                          </p:val>
                                        </p:tav>
                                      </p:tavLst>
                                    </p:anim>
                                    <p:anim calcmode="lin" valueType="num">
                                      <p:cBhvr>
                                        <p:cTn id="2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000"/>
                                        <p:tgtEl>
                                          <p:spTgt spid="17"/>
                                        </p:tgtEl>
                                      </p:cBhvr>
                                    </p:animEffect>
                                    <p:anim calcmode="lin" valueType="num">
                                      <p:cBhvr>
                                        <p:cTn id="26" dur="1000" fill="hold"/>
                                        <p:tgtEl>
                                          <p:spTgt spid="17"/>
                                        </p:tgtEl>
                                        <p:attrNameLst>
                                          <p:attrName>ppt_x</p:attrName>
                                        </p:attrNameLst>
                                      </p:cBhvr>
                                      <p:tavLst>
                                        <p:tav tm="0">
                                          <p:val>
                                            <p:strVal val="#ppt_x"/>
                                          </p:val>
                                        </p:tav>
                                        <p:tav tm="100000">
                                          <p:val>
                                            <p:strVal val="#ppt_x"/>
                                          </p:val>
                                        </p:tav>
                                      </p:tavLst>
                                    </p:anim>
                                    <p:anim calcmode="lin" valueType="num">
                                      <p:cBhvr>
                                        <p:cTn id="2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1000"/>
                                        <p:tgtEl>
                                          <p:spTgt spid="21"/>
                                        </p:tgtEl>
                                      </p:cBhvr>
                                    </p:animEffect>
                                    <p:anim calcmode="lin" valueType="num">
                                      <p:cBhvr>
                                        <p:cTn id="46" dur="1000" fill="hold"/>
                                        <p:tgtEl>
                                          <p:spTgt spid="21"/>
                                        </p:tgtEl>
                                        <p:attrNameLst>
                                          <p:attrName>ppt_x</p:attrName>
                                        </p:attrNameLst>
                                      </p:cBhvr>
                                      <p:tavLst>
                                        <p:tav tm="0">
                                          <p:val>
                                            <p:strVal val="#ppt_x"/>
                                          </p:val>
                                        </p:tav>
                                        <p:tav tm="100000">
                                          <p:val>
                                            <p:strVal val="#ppt_x"/>
                                          </p:val>
                                        </p:tav>
                                      </p:tavLst>
                                    </p:anim>
                                    <p:anim calcmode="lin" valueType="num">
                                      <p:cBhvr>
                                        <p:cTn id="4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7" grpId="0"/>
      <p:bldP spid="18" grpId="0"/>
      <p:bldP spid="19" grpId="0"/>
      <p:bldP spid="21" grpId="0"/>
      <p:bldP spid="22" grpId="0"/>
      <p:bldP spid="23"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73C2B4E-2785-448B-90DA-531F6A7612BA}"/>
              </a:ext>
            </a:extLst>
          </p:cNvPr>
          <p:cNvSpPr>
            <a:spLocks noGrp="1"/>
          </p:cNvSpPr>
          <p:nvPr>
            <p:ph type="sldNum" sz="quarter" idx="12"/>
          </p:nvPr>
        </p:nvSpPr>
        <p:spPr/>
        <p:txBody>
          <a:bodyPr/>
          <a:lstStyle/>
          <a:p>
            <a:fld id="{E663D701-F6D3-45BB-89CD-EE32AA93FC3C}" type="slidenum">
              <a:rPr lang="zh-CN" altLang="en-US" smtClean="0"/>
              <a:t>2</a:t>
            </a:fld>
            <a:endParaRPr lang="zh-CN" altLang="en-US"/>
          </a:p>
        </p:txBody>
      </p:sp>
      <p:sp>
        <p:nvSpPr>
          <p:cNvPr id="6" name="文本框 5">
            <a:extLst>
              <a:ext uri="{FF2B5EF4-FFF2-40B4-BE49-F238E27FC236}">
                <a16:creationId xmlns:a16="http://schemas.microsoft.com/office/drawing/2014/main" id="{67E63528-54B0-4EEE-8E4E-EFD51098648C}"/>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T-MAC</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S-MAC</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协议相比，不同点在</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FE03A327-34C8-441E-B10D-B4FE2986AFFF}"/>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整个周期长度更加灵活</a:t>
            </a:r>
          </a:p>
        </p:txBody>
      </p:sp>
      <p:sp>
        <p:nvSpPr>
          <p:cNvPr id="8" name="文本框 7">
            <a:extLst>
              <a:ext uri="{FF2B5EF4-FFF2-40B4-BE49-F238E27FC236}">
                <a16:creationId xmlns:a16="http://schemas.microsoft.com/office/drawing/2014/main" id="{200F0FB3-626F-4537-8F4F-D70501D1A1BA}"/>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监听时间长度更加灵活</a:t>
            </a:r>
          </a:p>
        </p:txBody>
      </p:sp>
      <p:sp>
        <p:nvSpPr>
          <p:cNvPr id="9" name="文本框 8">
            <a:extLst>
              <a:ext uri="{FF2B5EF4-FFF2-40B4-BE49-F238E27FC236}">
                <a16:creationId xmlns:a16="http://schemas.microsoft.com/office/drawing/2014/main" id="{E164CBA5-7B35-4F2B-8E9E-44201DA77518}"/>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算法复杂度更低</a:t>
            </a:r>
          </a:p>
        </p:txBody>
      </p:sp>
      <p:sp>
        <p:nvSpPr>
          <p:cNvPr id="10" name="文本框 9">
            <a:extLst>
              <a:ext uri="{FF2B5EF4-FFF2-40B4-BE49-F238E27FC236}">
                <a16:creationId xmlns:a16="http://schemas.microsoft.com/office/drawing/2014/main" id="{520A97F1-5BB4-4ADE-80A3-E3BA9C7DD9F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更适合数据平稳的业务</a:t>
            </a:r>
          </a:p>
        </p:txBody>
      </p:sp>
      <p:sp>
        <p:nvSpPr>
          <p:cNvPr id="11" name="椭圆 10">
            <a:extLst>
              <a:ext uri="{FF2B5EF4-FFF2-40B4-BE49-F238E27FC236}">
                <a16:creationId xmlns:a16="http://schemas.microsoft.com/office/drawing/2014/main" id="{AEF61232-1AF3-49AD-8CA9-50F633214626}"/>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CBC2D4E-3C8A-4768-9B9B-9A43A808021D}"/>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6D729E18-CDEC-40B3-9294-5748703AD744}"/>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2E4C041B-C010-451A-B0AB-0D06F41403D1}"/>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1A6FBBB8-B769-438E-94A0-ECD9FCFC85AB}"/>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AA592F97-4765-4788-89BE-8FDA2F9DAC49}"/>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0FF13D89-2255-45F5-B745-A45E0CAA6E4F}"/>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618DE398-1C8A-46E5-8FAA-27C08519125E}"/>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5FB3763F-D58F-43E8-895F-67E46EAF808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29696ADB-9521-4516-8EF2-8027504D7C8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8B1A5420-7916-4419-AC9B-2DB7723012B7}"/>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96395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6780511-DE3A-4067-8E49-31887EBC982F}"/>
              </a:ext>
            </a:extLst>
          </p:cNvPr>
          <p:cNvSpPr>
            <a:spLocks noGrp="1"/>
          </p:cNvSpPr>
          <p:nvPr>
            <p:ph type="sldNum" sz="quarter" idx="12"/>
          </p:nvPr>
        </p:nvSpPr>
        <p:spPr/>
        <p:txBody>
          <a:bodyPr/>
          <a:lstStyle/>
          <a:p>
            <a:fld id="{E663D701-F6D3-45BB-89CD-EE32AA93FC3C}" type="slidenum">
              <a:rPr lang="zh-CN" altLang="en-US" smtClean="0"/>
              <a:t>3</a:t>
            </a:fld>
            <a:endParaRPr lang="zh-CN" altLang="en-US"/>
          </a:p>
        </p:txBody>
      </p:sp>
      <p:sp>
        <p:nvSpPr>
          <p:cNvPr id="5" name="文本框 4">
            <a:extLst>
              <a:ext uri="{FF2B5EF4-FFF2-40B4-BE49-F238E27FC236}">
                <a16:creationId xmlns:a16="http://schemas.microsoft.com/office/drawing/2014/main" id="{B1D3B2C9-55DD-4CF9-8F3D-7611F581245C}"/>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CSMA/CA</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协议中用户第</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次退避时可选的最大窗口为</a:t>
            </a:r>
            <a:r>
              <a:rPr lang="zh-CN" altLang="en-US"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；同样情况下，</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CSMA/CD</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协议的最大退避窗口为</a:t>
            </a:r>
            <a:r>
              <a:rPr lang="zh-CN" altLang="en-US"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b="1"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矩形: 圆角 5">
            <a:extLst>
              <a:ext uri="{FF2B5EF4-FFF2-40B4-BE49-F238E27FC236}">
                <a16:creationId xmlns:a16="http://schemas.microsoft.com/office/drawing/2014/main" id="{2DBB3ABD-28C4-44F5-857C-93AEEDC5D28C}"/>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a:extLst>
              <a:ext uri="{FF2B5EF4-FFF2-40B4-BE49-F238E27FC236}">
                <a16:creationId xmlns:a16="http://schemas.microsoft.com/office/drawing/2014/main" id="{B1CFF44C-373D-40E1-B792-1F8DEE03A009}"/>
              </a:ext>
            </a:extLst>
          </p:cNvPr>
          <p:cNvGrpSpPr/>
          <p:nvPr>
            <p:custDataLst>
              <p:tags r:id="rId4"/>
            </p:custDataLst>
          </p:nvPr>
        </p:nvGrpSpPr>
        <p:grpSpPr>
          <a:xfrm>
            <a:off x="0" y="0"/>
            <a:ext cx="9144000" cy="635000"/>
            <a:chOff x="0" y="0"/>
            <a:chExt cx="9144000" cy="635000"/>
          </a:xfrm>
        </p:grpSpPr>
        <p:sp>
          <p:nvSpPr>
            <p:cNvPr id="7" name="TitleBackground">
              <a:extLst>
                <a:ext uri="{FF2B5EF4-FFF2-40B4-BE49-F238E27FC236}">
                  <a16:creationId xmlns:a16="http://schemas.microsoft.com/office/drawing/2014/main" id="{A94CE5BF-90CB-46FF-AF7B-AC0FAA57D9A4}"/>
                </a:ext>
              </a:extLst>
            </p:cNvPr>
            <p:cNvSpPr/>
            <p:nvPr>
              <p:custDataLst>
                <p:tags r:id="rId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a:extLst>
                <a:ext uri="{FF2B5EF4-FFF2-40B4-BE49-F238E27FC236}">
                  <a16:creationId xmlns:a16="http://schemas.microsoft.com/office/drawing/2014/main" id="{019078B7-66D4-4540-A381-578C2214EB43}"/>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a:extLst>
                <a:ext uri="{FF2B5EF4-FFF2-40B4-BE49-F238E27FC236}">
                  <a16:creationId xmlns:a16="http://schemas.microsoft.com/office/drawing/2014/main" id="{754FA982-722E-4B83-92CC-5E30F6B91E22}"/>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0" name="TipText">
              <a:extLst>
                <a:ext uri="{FF2B5EF4-FFF2-40B4-BE49-F238E27FC236}">
                  <a16:creationId xmlns:a16="http://schemas.microsoft.com/office/drawing/2014/main" id="{3A92F967-2791-45F3-9883-A93F77782839}"/>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2A673EE3-854A-476E-A977-CE8119902380}"/>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04080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A2A818C-44A9-4D12-8E88-CAEF7EBE4E60}"/>
              </a:ext>
            </a:extLst>
          </p:cNvPr>
          <p:cNvSpPr>
            <a:spLocks noGrp="1"/>
          </p:cNvSpPr>
          <p:nvPr>
            <p:ph type="sldNum" sz="quarter" idx="12"/>
          </p:nvPr>
        </p:nvSpPr>
        <p:spPr/>
        <p:txBody>
          <a:bodyPr/>
          <a:lstStyle/>
          <a:p>
            <a:fld id="{E663D701-F6D3-45BB-89CD-EE32AA93FC3C}" type="slidenum">
              <a:rPr lang="zh-CN" altLang="en-US" smtClean="0"/>
              <a:t>4</a:t>
            </a:fld>
            <a:endParaRPr lang="zh-CN" altLang="en-US"/>
          </a:p>
        </p:txBody>
      </p:sp>
      <p:sp>
        <p:nvSpPr>
          <p:cNvPr id="5" name="文本框 4">
            <a:extLst>
              <a:ext uri="{FF2B5EF4-FFF2-40B4-BE49-F238E27FC236}">
                <a16:creationId xmlns:a16="http://schemas.microsoft.com/office/drawing/2014/main" id="{325D08C5-FD12-407D-9B16-39C8B529F991}"/>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CSMA/CA</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协议中，满足如下</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条件时，用户可以在等待</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DIFS</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后直接尝试传输数据？</a:t>
            </a:r>
          </a:p>
        </p:txBody>
      </p:sp>
      <p:sp>
        <p:nvSpPr>
          <p:cNvPr id="6" name="文本框 5">
            <a:extLst>
              <a:ext uri="{FF2B5EF4-FFF2-40B4-BE49-F238E27FC236}">
                <a16:creationId xmlns:a16="http://schemas.microsoft.com/office/drawing/2014/main" id="{72701DAB-7D54-4716-BEDD-76E752070000}"/>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发送第一帧</a:t>
            </a:r>
          </a:p>
        </p:txBody>
      </p:sp>
      <p:sp>
        <p:nvSpPr>
          <p:cNvPr id="7" name="文本框 6">
            <a:extLst>
              <a:ext uri="{FF2B5EF4-FFF2-40B4-BE49-F238E27FC236}">
                <a16:creationId xmlns:a16="http://schemas.microsoft.com/office/drawing/2014/main" id="{42BAC3EA-8632-40B6-9941-4578E5D315E2}"/>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信道空闲</a:t>
            </a:r>
          </a:p>
        </p:txBody>
      </p:sp>
      <p:sp>
        <p:nvSpPr>
          <p:cNvPr id="8" name="文本框 7">
            <a:extLst>
              <a:ext uri="{FF2B5EF4-FFF2-40B4-BE49-F238E27FC236}">
                <a16:creationId xmlns:a16="http://schemas.microsoft.com/office/drawing/2014/main" id="{1BC951E7-1F34-4810-9D11-A7FD9441F562}"/>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未重传</a:t>
            </a:r>
          </a:p>
        </p:txBody>
      </p:sp>
      <p:sp>
        <p:nvSpPr>
          <p:cNvPr id="9" name="文本框 8">
            <a:extLst>
              <a:ext uri="{FF2B5EF4-FFF2-40B4-BE49-F238E27FC236}">
                <a16:creationId xmlns:a16="http://schemas.microsoft.com/office/drawing/2014/main" id="{5736264F-BCDB-4EE1-8918-CADC65B8BB4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无其它用户竞争信道</a:t>
            </a:r>
          </a:p>
        </p:txBody>
      </p:sp>
      <p:sp>
        <p:nvSpPr>
          <p:cNvPr id="10" name="矩形 9">
            <a:extLst>
              <a:ext uri="{FF2B5EF4-FFF2-40B4-BE49-F238E27FC236}">
                <a16:creationId xmlns:a16="http://schemas.microsoft.com/office/drawing/2014/main" id="{B7A75564-EE7C-4BA3-80C2-73B0C8833993}"/>
              </a:ext>
            </a:extLst>
          </p:cNvPr>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83F72BA1-DD9B-483A-BD6F-5049D51A4953}"/>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46F98509-06C4-4DEB-B364-146A0641FA92}"/>
              </a:ext>
            </a:extLst>
          </p:cNvPr>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109554F4-1136-41E7-A814-516EEA1F92A3}"/>
              </a:ext>
            </a:extLst>
          </p:cNvPr>
          <p:cNvSpPr>
            <a:spLocks noChangeAspect="1"/>
          </p:cNvSpPr>
          <p:nvPr>
            <p:custDataLst>
              <p:tags r:id="rId10"/>
            </p:custDataLst>
          </p:nvPr>
        </p:nvSpPr>
        <p:spPr>
          <a:xfrm>
            <a:off x="11144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9596C84D-ECAD-4142-9919-CE968B13E661}"/>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E45203FC-3EE0-4EE8-9A38-71540FA5E3FD}"/>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59182A63-5FA7-4314-B40A-73ABBD0B0934}"/>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3BA6F3A9-2BB0-441D-B367-F6EA4D3B7B1B}"/>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D351337A-20A1-419B-9E7C-03BBFC10DC0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a:extLst>
                <a:ext uri="{FF2B5EF4-FFF2-40B4-BE49-F238E27FC236}">
                  <a16:creationId xmlns:a16="http://schemas.microsoft.com/office/drawing/2014/main" id="{F7C3F957-5B23-4131-A8F8-1716AE818FE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A82D3A21-7A46-4786-8DEB-2CFB99845ED3}"/>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10920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2</a:t>
            </a:r>
            <a:r>
              <a:rPr lang="zh-CN" altLang="en-US" sz="5400" b="1" dirty="0">
                <a:solidFill>
                  <a:schemeClr val="tx1"/>
                </a:solidFill>
                <a:effectLst/>
                <a:latin typeface="Times New Roman" panose="02020603050405020304" pitchFamily="18" charset="0"/>
                <a:cs typeface="Times New Roman" panose="02020603050405020304" pitchFamily="18" charset="0"/>
              </a:rPr>
              <a:t>章 传感器网络的</a:t>
            </a:r>
            <a:br>
              <a:rPr lang="en-US" altLang="zh-CN" sz="5400" b="1" dirty="0">
                <a:solidFill>
                  <a:schemeClr val="tx1"/>
                </a:solidFill>
                <a:effectLst/>
                <a:latin typeface="Times New Roman" panose="02020603050405020304" pitchFamily="18" charset="0"/>
                <a:cs typeface="Times New Roman" panose="02020603050405020304" pitchFamily="18" charset="0"/>
              </a:rPr>
            </a:br>
            <a:r>
              <a:rPr lang="zh-CN" altLang="en-US" sz="5400" b="1" dirty="0">
                <a:solidFill>
                  <a:schemeClr val="tx1"/>
                </a:solidFill>
                <a:effectLst/>
              </a:rPr>
              <a:t>协议架构及关键技术</a:t>
            </a:r>
            <a:endParaRPr lang="zh-CN" altLang="en-US" sz="3200" b="1" dirty="0">
              <a:solidFill>
                <a:schemeClr val="tx1"/>
              </a:solidFill>
              <a:effectLst/>
            </a:endParaRPr>
          </a:p>
        </p:txBody>
      </p:sp>
      <p:sp>
        <p:nvSpPr>
          <p:cNvPr id="3" name="内容占位符 2"/>
          <p:cNvSpPr>
            <a:spLocks noGrp="1"/>
          </p:cNvSpPr>
          <p:nvPr>
            <p:ph idx="1"/>
          </p:nvPr>
        </p:nvSpPr>
        <p:spPr>
          <a:xfrm>
            <a:off x="531743" y="1924590"/>
            <a:ext cx="8080513" cy="4351338"/>
          </a:xfrm>
        </p:spPr>
        <p:txBody>
          <a:bodyPr>
            <a:normAutofit/>
          </a:bodyPr>
          <a:lstStyle/>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2.1 OSI</a:t>
            </a:r>
            <a:r>
              <a:rPr lang="zh-CN" altLang="en-US" sz="3600" b="1" spc="300" dirty="0">
                <a:latin typeface="Times New Roman" panose="02020603050405020304" pitchFamily="18" charset="0"/>
                <a:cs typeface="Times New Roman" panose="02020603050405020304" pitchFamily="18" charset="0"/>
              </a:rPr>
              <a:t>七层模型介绍</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2.2 </a:t>
            </a:r>
            <a:r>
              <a:rPr lang="zh-CN" altLang="en-US" sz="3600" b="1" spc="300" dirty="0">
                <a:latin typeface="Times New Roman" panose="02020603050405020304" pitchFamily="18" charset="0"/>
                <a:cs typeface="Times New Roman" panose="02020603050405020304" pitchFamily="18" charset="0"/>
              </a:rPr>
              <a:t>物理层协议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2.3 </a:t>
            </a:r>
            <a:r>
              <a:rPr lang="zh-CN" altLang="en-US" sz="3600" b="1" spc="300" dirty="0">
                <a:latin typeface="Times New Roman" panose="02020603050405020304" pitchFamily="18" charset="0"/>
                <a:cs typeface="Times New Roman" panose="02020603050405020304" pitchFamily="18" charset="0"/>
              </a:rPr>
              <a:t>数据链路层协议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2.4 </a:t>
            </a:r>
            <a:r>
              <a:rPr lang="zh-CN" altLang="en-US" sz="3600" b="1" spc="300" dirty="0">
                <a:latin typeface="Times New Roman" panose="02020603050405020304" pitchFamily="18" charset="0"/>
                <a:cs typeface="Times New Roman" panose="02020603050405020304" pitchFamily="18" charset="0"/>
              </a:rPr>
              <a:t>网络层协议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2.5 </a:t>
            </a:r>
            <a:r>
              <a:rPr lang="zh-CN" altLang="en-US" sz="3600" b="1" spc="300" dirty="0">
                <a:latin typeface="Times New Roman" panose="02020603050405020304" pitchFamily="18" charset="0"/>
                <a:cs typeface="Times New Roman" panose="02020603050405020304" pitchFamily="18" charset="0"/>
              </a:rPr>
              <a:t>传输层协议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2.6 </a:t>
            </a:r>
            <a:r>
              <a:rPr lang="zh-CN" altLang="en-US" sz="3600" b="1" spc="300" dirty="0">
                <a:latin typeface="Times New Roman" panose="02020603050405020304" pitchFamily="18" charset="0"/>
                <a:cs typeface="Times New Roman" panose="02020603050405020304" pitchFamily="18" charset="0"/>
              </a:rPr>
              <a:t>总结</a:t>
            </a:r>
            <a:endParaRPr lang="en-US" altLang="zh-CN" sz="3600" b="1" spc="3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5</a:t>
            </a:fld>
            <a:endParaRPr lang="zh-CN" altLang="en-US" dirty="0"/>
          </a:p>
        </p:txBody>
      </p:sp>
    </p:spTree>
    <p:extLst>
      <p:ext uri="{BB962C8B-B14F-4D97-AF65-F5344CB8AC3E}">
        <p14:creationId xmlns:p14="http://schemas.microsoft.com/office/powerpoint/2010/main" val="2749456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2</a:t>
            </a:r>
            <a:r>
              <a:rPr lang="zh-CN" altLang="en-US" sz="5400" b="1" dirty="0">
                <a:solidFill>
                  <a:schemeClr val="tx1"/>
                </a:solidFill>
                <a:effectLst/>
                <a:latin typeface="Times New Roman" panose="02020603050405020304" pitchFamily="18" charset="0"/>
                <a:cs typeface="Times New Roman" panose="02020603050405020304" pitchFamily="18" charset="0"/>
              </a:rPr>
              <a:t>章 传感器网络的</a:t>
            </a:r>
            <a:br>
              <a:rPr lang="en-US" altLang="zh-CN" sz="5400" b="1" dirty="0">
                <a:solidFill>
                  <a:schemeClr val="tx1"/>
                </a:solidFill>
                <a:effectLst/>
                <a:latin typeface="Times New Roman" panose="02020603050405020304" pitchFamily="18" charset="0"/>
                <a:cs typeface="Times New Roman" panose="02020603050405020304" pitchFamily="18" charset="0"/>
              </a:rPr>
            </a:br>
            <a:r>
              <a:rPr lang="zh-CN" altLang="en-US" sz="5400" b="1" dirty="0">
                <a:solidFill>
                  <a:schemeClr val="tx1"/>
                </a:solidFill>
                <a:effectLst/>
              </a:rPr>
              <a:t>协议架构及关键技术</a:t>
            </a:r>
            <a:endParaRPr lang="zh-CN" altLang="en-US" sz="3200" b="1" dirty="0">
              <a:solidFill>
                <a:schemeClr val="tx1"/>
              </a:solidFill>
              <a:effectLst/>
            </a:endParaRPr>
          </a:p>
        </p:txBody>
      </p:sp>
      <p:sp>
        <p:nvSpPr>
          <p:cNvPr id="3" name="内容占位符 2"/>
          <p:cNvSpPr>
            <a:spLocks noGrp="1"/>
          </p:cNvSpPr>
          <p:nvPr>
            <p:ph idx="1"/>
          </p:nvPr>
        </p:nvSpPr>
        <p:spPr>
          <a:xfrm>
            <a:off x="531743" y="1924590"/>
            <a:ext cx="8080513" cy="4351338"/>
          </a:xfrm>
        </p:spPr>
        <p:txBody>
          <a:bodyPr>
            <a:normAutofit/>
          </a:bodyPr>
          <a:lstStyle/>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2.1 OSI</a:t>
            </a:r>
            <a:r>
              <a:rPr lang="zh-CN" altLang="en-US" sz="3600" b="1" spc="300" dirty="0">
                <a:latin typeface="Times New Roman" panose="02020603050405020304" pitchFamily="18" charset="0"/>
                <a:cs typeface="Times New Roman" panose="02020603050405020304" pitchFamily="18" charset="0"/>
              </a:rPr>
              <a:t>七层模型介绍</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2.2 </a:t>
            </a:r>
            <a:r>
              <a:rPr lang="zh-CN" altLang="en-US" sz="3600" b="1" spc="300" dirty="0">
                <a:latin typeface="Times New Roman" panose="02020603050405020304" pitchFamily="18" charset="0"/>
                <a:cs typeface="Times New Roman" panose="02020603050405020304" pitchFamily="18" charset="0"/>
              </a:rPr>
              <a:t>物理层协议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2.3 </a:t>
            </a:r>
            <a:r>
              <a:rPr lang="zh-CN" altLang="en-US" sz="3600" b="1" spc="300" dirty="0">
                <a:latin typeface="Times New Roman" panose="02020603050405020304" pitchFamily="18" charset="0"/>
                <a:cs typeface="Times New Roman" panose="02020603050405020304" pitchFamily="18" charset="0"/>
              </a:rPr>
              <a:t>数据链路层协议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solidFill>
                  <a:srgbClr val="C00000"/>
                </a:solidFill>
                <a:latin typeface="Times New Roman" panose="02020603050405020304" pitchFamily="18" charset="0"/>
                <a:cs typeface="Times New Roman" panose="02020603050405020304" pitchFamily="18" charset="0"/>
              </a:rPr>
              <a:t>2.4 </a:t>
            </a:r>
            <a:r>
              <a:rPr lang="zh-CN" altLang="en-US" sz="3600" b="1" spc="300" dirty="0">
                <a:solidFill>
                  <a:srgbClr val="C00000"/>
                </a:solidFill>
                <a:latin typeface="Times New Roman" panose="02020603050405020304" pitchFamily="18" charset="0"/>
                <a:cs typeface="Times New Roman" panose="02020603050405020304" pitchFamily="18" charset="0"/>
              </a:rPr>
              <a:t>网络层协议</a:t>
            </a:r>
            <a:endParaRPr lang="en-US" altLang="zh-CN" sz="3600" b="1" spc="300" dirty="0">
              <a:solidFill>
                <a:srgbClr val="C00000"/>
              </a:solidFill>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2.5 </a:t>
            </a:r>
            <a:r>
              <a:rPr lang="zh-CN" altLang="en-US" sz="3600" b="1" spc="300" dirty="0">
                <a:latin typeface="Times New Roman" panose="02020603050405020304" pitchFamily="18" charset="0"/>
                <a:cs typeface="Times New Roman" panose="02020603050405020304" pitchFamily="18" charset="0"/>
              </a:rPr>
              <a:t>传输层协议</a:t>
            </a:r>
            <a:endParaRPr lang="en-US" altLang="zh-CN" sz="3600" b="1" spc="3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3600" b="1" spc="300" dirty="0">
                <a:latin typeface="Times New Roman" panose="02020603050405020304" pitchFamily="18" charset="0"/>
                <a:cs typeface="Times New Roman" panose="02020603050405020304" pitchFamily="18" charset="0"/>
              </a:rPr>
              <a:t>2.6 </a:t>
            </a:r>
            <a:r>
              <a:rPr lang="zh-CN" altLang="en-US" sz="3600" b="1" spc="300" dirty="0">
                <a:latin typeface="Times New Roman" panose="02020603050405020304" pitchFamily="18" charset="0"/>
                <a:cs typeface="Times New Roman" panose="02020603050405020304" pitchFamily="18" charset="0"/>
              </a:rPr>
              <a:t>总结</a:t>
            </a:r>
            <a:endParaRPr lang="en-US" altLang="zh-CN" sz="3600" b="1" spc="3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6</a:t>
            </a:fld>
            <a:endParaRPr lang="zh-CN" altLang="en-US" dirty="0"/>
          </a:p>
        </p:txBody>
      </p:sp>
    </p:spTree>
    <p:extLst>
      <p:ext uri="{BB962C8B-B14F-4D97-AF65-F5344CB8AC3E}">
        <p14:creationId xmlns:p14="http://schemas.microsoft.com/office/powerpoint/2010/main" val="398821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7</a:t>
            </a:fld>
            <a:endParaRPr lang="zh-CN" altLang="en-US"/>
          </a:p>
        </p:txBody>
      </p:sp>
      <p:sp>
        <p:nvSpPr>
          <p:cNvPr id="8" name="文本框 7"/>
          <p:cNvSpPr txBox="1"/>
          <p:nvPr/>
        </p:nvSpPr>
        <p:spPr>
          <a:xfrm>
            <a:off x="194553" y="0"/>
            <a:ext cx="4455066"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章：传感器网络的协议架构及关键技术</a:t>
            </a:r>
          </a:p>
        </p:txBody>
      </p:sp>
      <p:sp>
        <p:nvSpPr>
          <p:cNvPr id="10" name="文本框 9"/>
          <p:cNvSpPr txBox="1"/>
          <p:nvPr/>
        </p:nvSpPr>
        <p:spPr>
          <a:xfrm>
            <a:off x="272375" y="693208"/>
            <a:ext cx="5173081" cy="597921"/>
          </a:xfrm>
          <a:prstGeom prst="rect">
            <a:avLst/>
          </a:prstGeom>
          <a:noFill/>
        </p:spPr>
        <p:txBody>
          <a:bodyPr wrap="square" rtlCol="0">
            <a:spAutoFit/>
          </a:bodyPr>
          <a:lstStyle/>
          <a:p>
            <a:pPr>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网络层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(Network Layer)</a:t>
            </a:r>
          </a:p>
        </p:txBody>
      </p:sp>
      <p:sp>
        <p:nvSpPr>
          <p:cNvPr id="6" name="文本框 5">
            <a:extLst>
              <a:ext uri="{FF2B5EF4-FFF2-40B4-BE49-F238E27FC236}">
                <a16:creationId xmlns:a16="http://schemas.microsoft.com/office/drawing/2014/main" id="{4133EDB1-EFFD-47ED-98D3-273827FFB2B5}"/>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7" name="矩形 6">
            <a:extLst>
              <a:ext uri="{FF2B5EF4-FFF2-40B4-BE49-F238E27FC236}">
                <a16:creationId xmlns:a16="http://schemas.microsoft.com/office/drawing/2014/main" id="{47DE681A-1A8D-4EDE-AB13-795E7E09CC67}"/>
              </a:ext>
            </a:extLst>
          </p:cNvPr>
          <p:cNvSpPr/>
          <p:nvPr/>
        </p:nvSpPr>
        <p:spPr>
          <a:xfrm>
            <a:off x="272375" y="1511453"/>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应用层</a:t>
            </a:r>
          </a:p>
        </p:txBody>
      </p:sp>
      <p:sp>
        <p:nvSpPr>
          <p:cNvPr id="9" name="矩形 8">
            <a:extLst>
              <a:ext uri="{FF2B5EF4-FFF2-40B4-BE49-F238E27FC236}">
                <a16:creationId xmlns:a16="http://schemas.microsoft.com/office/drawing/2014/main" id="{0FF310EC-3B2B-4DAD-ACCD-4950D87A4071}"/>
              </a:ext>
            </a:extLst>
          </p:cNvPr>
          <p:cNvSpPr/>
          <p:nvPr/>
        </p:nvSpPr>
        <p:spPr>
          <a:xfrm>
            <a:off x="272375" y="2214845"/>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表示层</a:t>
            </a:r>
          </a:p>
        </p:txBody>
      </p:sp>
      <p:sp>
        <p:nvSpPr>
          <p:cNvPr id="11" name="矩形 10">
            <a:extLst>
              <a:ext uri="{FF2B5EF4-FFF2-40B4-BE49-F238E27FC236}">
                <a16:creationId xmlns:a16="http://schemas.microsoft.com/office/drawing/2014/main" id="{436F0C50-B5A0-4337-931E-EDE20C38451F}"/>
              </a:ext>
            </a:extLst>
          </p:cNvPr>
          <p:cNvSpPr/>
          <p:nvPr/>
        </p:nvSpPr>
        <p:spPr>
          <a:xfrm>
            <a:off x="272375" y="2918237"/>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会话层</a:t>
            </a:r>
          </a:p>
        </p:txBody>
      </p:sp>
      <p:sp>
        <p:nvSpPr>
          <p:cNvPr id="12" name="矩形 11">
            <a:extLst>
              <a:ext uri="{FF2B5EF4-FFF2-40B4-BE49-F238E27FC236}">
                <a16:creationId xmlns:a16="http://schemas.microsoft.com/office/drawing/2014/main" id="{6DF34706-4BB3-4D62-BE49-57FA15BFF1E9}"/>
              </a:ext>
            </a:extLst>
          </p:cNvPr>
          <p:cNvSpPr/>
          <p:nvPr/>
        </p:nvSpPr>
        <p:spPr>
          <a:xfrm>
            <a:off x="272375" y="5831179"/>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物理层</a:t>
            </a:r>
          </a:p>
        </p:txBody>
      </p:sp>
      <p:sp>
        <p:nvSpPr>
          <p:cNvPr id="13" name="矩形 12">
            <a:extLst>
              <a:ext uri="{FF2B5EF4-FFF2-40B4-BE49-F238E27FC236}">
                <a16:creationId xmlns:a16="http://schemas.microsoft.com/office/drawing/2014/main" id="{0E7B7304-AF42-44F8-8054-50B4979DCB53}"/>
              </a:ext>
            </a:extLst>
          </p:cNvPr>
          <p:cNvSpPr/>
          <p:nvPr/>
        </p:nvSpPr>
        <p:spPr>
          <a:xfrm>
            <a:off x="272375" y="3641410"/>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传输层</a:t>
            </a:r>
          </a:p>
        </p:txBody>
      </p:sp>
      <p:sp>
        <p:nvSpPr>
          <p:cNvPr id="14" name="矩形 13">
            <a:extLst>
              <a:ext uri="{FF2B5EF4-FFF2-40B4-BE49-F238E27FC236}">
                <a16:creationId xmlns:a16="http://schemas.microsoft.com/office/drawing/2014/main" id="{BF886051-AEE5-4AC2-9874-F15E0BA0D2FE}"/>
              </a:ext>
            </a:extLst>
          </p:cNvPr>
          <p:cNvSpPr/>
          <p:nvPr/>
        </p:nvSpPr>
        <p:spPr>
          <a:xfrm>
            <a:off x="272375" y="4364583"/>
            <a:ext cx="2465137" cy="630989"/>
          </a:xfrm>
          <a:prstGeom prst="rect">
            <a:avLst/>
          </a:prstGeom>
          <a:noFill/>
          <a:ln w="1905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网络层</a:t>
            </a:r>
          </a:p>
        </p:txBody>
      </p:sp>
      <p:sp>
        <p:nvSpPr>
          <p:cNvPr id="15" name="矩形 14">
            <a:extLst>
              <a:ext uri="{FF2B5EF4-FFF2-40B4-BE49-F238E27FC236}">
                <a16:creationId xmlns:a16="http://schemas.microsoft.com/office/drawing/2014/main" id="{A9D1B20B-F603-4AF2-9527-93AAD9137B72}"/>
              </a:ext>
            </a:extLst>
          </p:cNvPr>
          <p:cNvSpPr/>
          <p:nvPr/>
        </p:nvSpPr>
        <p:spPr>
          <a:xfrm>
            <a:off x="272375" y="5087756"/>
            <a:ext cx="2465137" cy="630989"/>
          </a:xfrm>
          <a:prstGeom prst="rect">
            <a:avLst/>
          </a:pr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数据链路层</a:t>
            </a:r>
          </a:p>
        </p:txBody>
      </p:sp>
      <p:sp>
        <p:nvSpPr>
          <p:cNvPr id="19" name="文本框 18">
            <a:extLst>
              <a:ext uri="{FF2B5EF4-FFF2-40B4-BE49-F238E27FC236}">
                <a16:creationId xmlns:a16="http://schemas.microsoft.com/office/drawing/2014/main" id="{F581745F-76E9-46DF-B74F-E89C4FF3D727}"/>
              </a:ext>
            </a:extLst>
          </p:cNvPr>
          <p:cNvSpPr txBox="1"/>
          <p:nvPr/>
        </p:nvSpPr>
        <p:spPr>
          <a:xfrm>
            <a:off x="3275896" y="1603190"/>
            <a:ext cx="5758922"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在不同网络之间实现数据包端到端传输</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3262D03-4CF8-42B3-AA75-F0D11D53099E}"/>
              </a:ext>
            </a:extLst>
          </p:cNvPr>
          <p:cNvSpPr txBox="1"/>
          <p:nvPr/>
        </p:nvSpPr>
        <p:spPr>
          <a:xfrm>
            <a:off x="3275896" y="2372880"/>
            <a:ext cx="5713429" cy="525657"/>
          </a:xfrm>
          <a:prstGeom prst="rect">
            <a:avLst/>
          </a:prstGeom>
          <a:noFill/>
        </p:spPr>
        <p:txBody>
          <a:bodyPr wrap="square">
            <a:spAutoFit/>
          </a:bodyPr>
          <a:lstStyle/>
          <a:p>
            <a:pPr>
              <a:lnSpc>
                <a:spcPct val="130000"/>
              </a:lnSpc>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主要作用</a:t>
            </a:r>
            <a:endParaRPr lang="zh-CN" altLang="en-US" sz="2400" b="1"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327D23C-B264-43B6-981D-8C0F8D5932C6}"/>
              </a:ext>
            </a:extLst>
          </p:cNvPr>
          <p:cNvSpPr txBox="1"/>
          <p:nvPr/>
        </p:nvSpPr>
        <p:spPr>
          <a:xfrm>
            <a:off x="3662070" y="3013865"/>
            <a:ext cx="4290865"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逻辑寻址</a:t>
            </a:r>
            <a:endParaRPr lang="zh-CN" altLang="en-US" sz="2400" b="1"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65C99112-F4B5-4E64-886E-295C7F5A4452}"/>
              </a:ext>
            </a:extLst>
          </p:cNvPr>
          <p:cNvSpPr txBox="1"/>
          <p:nvPr/>
        </p:nvSpPr>
        <p:spPr>
          <a:xfrm>
            <a:off x="3662069" y="3972750"/>
            <a:ext cx="5713429"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路由</a:t>
            </a:r>
            <a:endParaRPr lang="zh-CN" altLang="en-US" sz="2400" b="1"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E7091FAF-1122-43E6-A209-14FAB45BB5D3}"/>
              </a:ext>
            </a:extLst>
          </p:cNvPr>
          <p:cNvSpPr txBox="1"/>
          <p:nvPr/>
        </p:nvSpPr>
        <p:spPr>
          <a:xfrm>
            <a:off x="3662070" y="3519293"/>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根据</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地址寻找到目标用户</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1E0D7F1F-6F56-4B2F-9108-B30A374D41EE}"/>
              </a:ext>
            </a:extLst>
          </p:cNvPr>
          <p:cNvSpPr txBox="1"/>
          <p:nvPr/>
        </p:nvSpPr>
        <p:spPr>
          <a:xfrm>
            <a:off x="3662068" y="4498407"/>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寻找最优路径传输数据包</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0C04DB2-EB38-4092-A61E-A1F9E3E38D5F}"/>
              </a:ext>
            </a:extLst>
          </p:cNvPr>
          <p:cNvSpPr txBox="1"/>
          <p:nvPr/>
        </p:nvSpPr>
        <p:spPr>
          <a:xfrm>
            <a:off x="3662070" y="4995572"/>
            <a:ext cx="4961426" cy="525657"/>
          </a:xfrm>
          <a:prstGeom prst="rect">
            <a:avLst/>
          </a:prstGeom>
          <a:noFill/>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分组转发</a:t>
            </a:r>
            <a:endParaRPr lang="zh-CN" altLang="en-US" sz="2400" b="1"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8D9AC44-54E5-45F9-AF06-F3F1E9624582}"/>
              </a:ext>
            </a:extLst>
          </p:cNvPr>
          <p:cNvSpPr txBox="1"/>
          <p:nvPr/>
        </p:nvSpPr>
        <p:spPr>
          <a:xfrm>
            <a:off x="3662068" y="5458540"/>
            <a:ext cx="5294898" cy="453457"/>
          </a:xfrm>
          <a:prstGeom prst="rect">
            <a:avLst/>
          </a:prstGeom>
          <a:noFill/>
        </p:spPr>
        <p:txBody>
          <a:bodyPr wrap="square">
            <a:spAutoFit/>
          </a:bodyPr>
          <a:lstStyle/>
          <a:p>
            <a:pPr algn="just">
              <a:lnSpc>
                <a:spcPct val="13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根据</a:t>
            </a:r>
            <a:r>
              <a:rPr lang="en-US" altLang="zh-CN"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地址和路由表，对数据包进行转发</a:t>
            </a:r>
            <a:endParaRPr lang="zh-CN" altLang="en-US" sz="20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69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7" grpId="0"/>
      <p:bldP spid="29" grpId="0"/>
      <p:bldP spid="22" grpId="0"/>
      <p:bldP spid="23"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8</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1092607"/>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传统网络中的路由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有线</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Internet</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网络中的路由</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1199859" y="1680957"/>
            <a:ext cx="6659409" cy="2482451"/>
          </a:xfrm>
          <a:prstGeom prst="rect">
            <a:avLst/>
          </a:prstGeom>
        </p:spPr>
      </p:pic>
      <p:sp>
        <p:nvSpPr>
          <p:cNvPr id="40" name="文本框 39"/>
          <p:cNvSpPr txBox="1"/>
          <p:nvPr/>
        </p:nvSpPr>
        <p:spPr>
          <a:xfrm>
            <a:off x="275305" y="5707915"/>
            <a:ext cx="644096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通过目标</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地址可以知道目标主机处于的网络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1" name="图片 40"/>
          <p:cNvPicPr>
            <a:picLocks noChangeAspect="1"/>
          </p:cNvPicPr>
          <p:nvPr/>
        </p:nvPicPr>
        <p:blipFill>
          <a:blip r:embed="rId4"/>
          <a:stretch>
            <a:fillRect/>
          </a:stretch>
        </p:blipFill>
        <p:spPr>
          <a:xfrm>
            <a:off x="1078356" y="4892228"/>
            <a:ext cx="7404637" cy="606937"/>
          </a:xfrm>
          <a:prstGeom prst="rect">
            <a:avLst/>
          </a:prstGeom>
        </p:spPr>
      </p:pic>
      <p:sp>
        <p:nvSpPr>
          <p:cNvPr id="42" name="矩形 41"/>
          <p:cNvSpPr/>
          <p:nvPr/>
        </p:nvSpPr>
        <p:spPr>
          <a:xfrm>
            <a:off x="274328" y="4252257"/>
            <a:ext cx="3844322"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分组数据包的格式如下：</a:t>
            </a:r>
          </a:p>
        </p:txBody>
      </p:sp>
      <p:sp>
        <p:nvSpPr>
          <p:cNvPr id="10" name="文本框 9">
            <a:extLst>
              <a:ext uri="{FF2B5EF4-FFF2-40B4-BE49-F238E27FC236}">
                <a16:creationId xmlns:a16="http://schemas.microsoft.com/office/drawing/2014/main" id="{9ECEFEA6-CE94-4333-AB9C-E8DF67A5D55D}"/>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80207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ppt_x"/>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9</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1092607"/>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传统网络中的路由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）路由表工作原理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9ECEFEA6-CE94-4333-AB9C-E8DF67A5D55D}"/>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cxnSp>
        <p:nvCxnSpPr>
          <p:cNvPr id="12" name="直接连接符 11">
            <a:extLst>
              <a:ext uri="{FF2B5EF4-FFF2-40B4-BE49-F238E27FC236}">
                <a16:creationId xmlns:a16="http://schemas.microsoft.com/office/drawing/2014/main" id="{14CFCF9A-0BC6-4E65-BED9-1057B57F1A4C}"/>
              </a:ext>
            </a:extLst>
          </p:cNvPr>
          <p:cNvCxnSpPr>
            <a:cxnSpLocks/>
          </p:cNvCxnSpPr>
          <p:nvPr/>
        </p:nvCxnSpPr>
        <p:spPr>
          <a:xfrm flipV="1">
            <a:off x="1783080" y="2221992"/>
            <a:ext cx="2263140" cy="1861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EF3E1A2-935D-4020-943A-D3649D1AA341}"/>
              </a:ext>
            </a:extLst>
          </p:cNvPr>
          <p:cNvCxnSpPr>
            <a:cxnSpLocks/>
          </p:cNvCxnSpPr>
          <p:nvPr/>
        </p:nvCxnSpPr>
        <p:spPr>
          <a:xfrm flipV="1">
            <a:off x="5030724" y="2221992"/>
            <a:ext cx="2284476" cy="1861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CA985C0C-2A0E-48EB-9222-4F3C973B03FF}"/>
              </a:ext>
            </a:extLst>
          </p:cNvPr>
          <p:cNvSpPr/>
          <p:nvPr/>
        </p:nvSpPr>
        <p:spPr>
          <a:xfrm>
            <a:off x="1117314" y="1623843"/>
            <a:ext cx="588623"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R1</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1" name="图形 20" descr="地球仪: 美洲 纯色填充">
            <a:extLst>
              <a:ext uri="{FF2B5EF4-FFF2-40B4-BE49-F238E27FC236}">
                <a16:creationId xmlns:a16="http://schemas.microsoft.com/office/drawing/2014/main" id="{A55212C3-11FC-4518-903E-8FDF077507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8356" y="1988413"/>
            <a:ext cx="666540" cy="666540"/>
          </a:xfrm>
          <a:prstGeom prst="rect">
            <a:avLst/>
          </a:prstGeom>
        </p:spPr>
      </p:pic>
      <p:pic>
        <p:nvPicPr>
          <p:cNvPr id="26" name="图形 25" descr="地球仪: 美洲 纯色填充">
            <a:extLst>
              <a:ext uri="{FF2B5EF4-FFF2-40B4-BE49-F238E27FC236}">
                <a16:creationId xmlns:a16="http://schemas.microsoft.com/office/drawing/2014/main" id="{D383E8FA-305F-4DCD-ADDA-8B8C3639ED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00630" y="1898028"/>
            <a:ext cx="666540" cy="666540"/>
          </a:xfrm>
          <a:prstGeom prst="rect">
            <a:avLst/>
          </a:prstGeom>
        </p:spPr>
      </p:pic>
      <p:sp>
        <p:nvSpPr>
          <p:cNvPr id="27" name="矩形 26">
            <a:extLst>
              <a:ext uri="{FF2B5EF4-FFF2-40B4-BE49-F238E27FC236}">
                <a16:creationId xmlns:a16="http://schemas.microsoft.com/office/drawing/2014/main" id="{FF64FAD4-FCC2-44D0-9878-35BF11446C13}"/>
              </a:ext>
            </a:extLst>
          </p:cNvPr>
          <p:cNvSpPr/>
          <p:nvPr/>
        </p:nvSpPr>
        <p:spPr>
          <a:xfrm>
            <a:off x="4252848" y="1586889"/>
            <a:ext cx="588623"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R2</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A57A0437-677A-4997-AC88-9F91ED1F4BB6}"/>
              </a:ext>
            </a:extLst>
          </p:cNvPr>
          <p:cNvSpPr/>
          <p:nvPr/>
        </p:nvSpPr>
        <p:spPr>
          <a:xfrm>
            <a:off x="7379238" y="1623842"/>
            <a:ext cx="588623"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R3</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9" name="图形 28" descr="地球仪: 美洲 纯色填充">
            <a:extLst>
              <a:ext uri="{FF2B5EF4-FFF2-40B4-BE49-F238E27FC236}">
                <a16:creationId xmlns:a16="http://schemas.microsoft.com/office/drawing/2014/main" id="{AA49BCFC-0490-4D9D-B893-40C1A43253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40279" y="1930543"/>
            <a:ext cx="666540" cy="666540"/>
          </a:xfrm>
          <a:prstGeom prst="rect">
            <a:avLst/>
          </a:prstGeom>
        </p:spPr>
      </p:pic>
      <p:graphicFrame>
        <p:nvGraphicFramePr>
          <p:cNvPr id="22" name="表格 23">
            <a:extLst>
              <a:ext uri="{FF2B5EF4-FFF2-40B4-BE49-F238E27FC236}">
                <a16:creationId xmlns:a16="http://schemas.microsoft.com/office/drawing/2014/main" id="{CBB2F0BD-E6B5-42BC-9D4E-0CF9BFA1ABF8}"/>
              </a:ext>
            </a:extLst>
          </p:cNvPr>
          <p:cNvGraphicFramePr>
            <a:graphicFrameLocks noGrp="1"/>
          </p:cNvGraphicFramePr>
          <p:nvPr>
            <p:extLst>
              <p:ext uri="{D42A27DB-BD31-4B8C-83A1-F6EECF244321}">
                <p14:modId xmlns:p14="http://schemas.microsoft.com/office/powerpoint/2010/main" val="879196842"/>
              </p:ext>
            </p:extLst>
          </p:nvPr>
        </p:nvGraphicFramePr>
        <p:xfrm>
          <a:off x="274328" y="2916971"/>
          <a:ext cx="2441440" cy="1981200"/>
        </p:xfrm>
        <a:graphic>
          <a:graphicData uri="http://schemas.openxmlformats.org/drawingml/2006/table">
            <a:tbl>
              <a:tblPr firstRow="1" bandRow="1"/>
              <a:tblGrid>
                <a:gridCol w="1208634">
                  <a:extLst>
                    <a:ext uri="{9D8B030D-6E8A-4147-A177-3AD203B41FA5}">
                      <a16:colId xmlns:a16="http://schemas.microsoft.com/office/drawing/2014/main" val="501047796"/>
                    </a:ext>
                  </a:extLst>
                </a:gridCol>
                <a:gridCol w="1232806">
                  <a:extLst>
                    <a:ext uri="{9D8B030D-6E8A-4147-A177-3AD203B41FA5}">
                      <a16:colId xmlns:a16="http://schemas.microsoft.com/office/drawing/2014/main" val="3397649396"/>
                    </a:ext>
                  </a:extLst>
                </a:gridCol>
              </a:tblGrid>
              <a:tr h="370840">
                <a:tc gridSpan="2">
                  <a:txBody>
                    <a:bodyPr/>
                    <a:lstStyle/>
                    <a:p>
                      <a:pPr algn="ctr"/>
                      <a:r>
                        <a:rPr lang="zh-CN" altLang="en-US" sz="2000" b="1" dirty="0">
                          <a:latin typeface="微软雅黑" panose="020B0503020204020204" pitchFamily="34" charset="-122"/>
                          <a:ea typeface="微软雅黑" panose="020B0503020204020204" pitchFamily="34" charset="-122"/>
                        </a:rPr>
                        <a:t>路由器</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的路由表</a:t>
                      </a:r>
                    </a:p>
                  </a:txBody>
                  <a:tcPr anchor="ctr">
                    <a:solidFill>
                      <a:schemeClr val="accent5">
                        <a:lumMod val="40000"/>
                        <a:lumOff val="60000"/>
                      </a:schemeClr>
                    </a:solidFill>
                  </a:tcPr>
                </a:tc>
                <a:tc hMerge="1">
                  <a:txBody>
                    <a:bodyPr/>
                    <a:lstStyle/>
                    <a:p>
                      <a:endParaRPr lang="zh-CN" altLang="en-US" dirty="0"/>
                    </a:p>
                  </a:txBody>
                  <a:tcPr/>
                </a:tc>
                <a:extLst>
                  <a:ext uri="{0D108BD9-81ED-4DB2-BD59-A6C34878D82A}">
                    <a16:rowId xmlns:a16="http://schemas.microsoft.com/office/drawing/2014/main" val="876934980"/>
                  </a:ext>
                </a:extLst>
              </a:tr>
              <a:tr h="370840">
                <a:tc>
                  <a:txBody>
                    <a:bodyPr/>
                    <a:lstStyle/>
                    <a:p>
                      <a:pPr algn="ctr"/>
                      <a:r>
                        <a:rPr lang="zh-CN" altLang="en-US" sz="2000" b="1" dirty="0"/>
                        <a:t>目的地址</a:t>
                      </a:r>
                    </a:p>
                  </a:txBody>
                  <a:tcPr/>
                </a:tc>
                <a:tc>
                  <a:txBody>
                    <a:bodyPr/>
                    <a:lstStyle/>
                    <a:p>
                      <a:pPr algn="ctr"/>
                      <a:r>
                        <a:rPr lang="zh-CN" altLang="en-US" sz="2000" b="1" dirty="0"/>
                        <a:t>下一跳</a:t>
                      </a:r>
                    </a:p>
                  </a:txBody>
                  <a:tcPr/>
                </a:tc>
                <a:extLst>
                  <a:ext uri="{0D108BD9-81ED-4DB2-BD59-A6C34878D82A}">
                    <a16:rowId xmlns:a16="http://schemas.microsoft.com/office/drawing/2014/main" val="191168339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R1</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3731926136"/>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R2</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64012916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R3</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940126928"/>
                  </a:ext>
                </a:extLst>
              </a:tr>
            </a:tbl>
          </a:graphicData>
        </a:graphic>
      </p:graphicFrame>
      <p:sp>
        <p:nvSpPr>
          <p:cNvPr id="32" name="文本框 31">
            <a:extLst>
              <a:ext uri="{FF2B5EF4-FFF2-40B4-BE49-F238E27FC236}">
                <a16:creationId xmlns:a16="http://schemas.microsoft.com/office/drawing/2014/main" id="{19D38BE8-A36D-4898-A7C0-7FE3574F53F4}"/>
              </a:ext>
            </a:extLst>
          </p:cNvPr>
          <p:cNvSpPr txBox="1"/>
          <p:nvPr/>
        </p:nvSpPr>
        <p:spPr>
          <a:xfrm>
            <a:off x="1791509" y="3722905"/>
            <a:ext cx="626364" cy="369332"/>
          </a:xfrm>
          <a:prstGeom prst="rect">
            <a:avLst/>
          </a:prstGeom>
          <a:noFill/>
        </p:spPr>
        <p:txBody>
          <a:bodyPr wrap="square">
            <a:spAutoFit/>
          </a:bodyPr>
          <a:lstStyle/>
          <a:p>
            <a:pPr algn="ctr"/>
            <a:r>
              <a:rPr lang="en-US" altLang="zh-CN" sz="1800" b="1" dirty="0">
                <a:solidFill>
                  <a:srgbClr val="C00000"/>
                </a:solidFill>
                <a:latin typeface="微软雅黑" panose="020B0503020204020204" pitchFamily="34" charset="-122"/>
                <a:ea typeface="微软雅黑" panose="020B0503020204020204" pitchFamily="34" charset="-122"/>
              </a:rPr>
              <a:t>-</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CA14D12E-1113-494D-93A7-44CB8E472A94}"/>
              </a:ext>
            </a:extLst>
          </p:cNvPr>
          <p:cNvSpPr txBox="1"/>
          <p:nvPr/>
        </p:nvSpPr>
        <p:spPr>
          <a:xfrm>
            <a:off x="1760609" y="4125872"/>
            <a:ext cx="626364" cy="369332"/>
          </a:xfrm>
          <a:prstGeom prst="rect">
            <a:avLst/>
          </a:prstGeom>
          <a:noFill/>
        </p:spPr>
        <p:txBody>
          <a:bodyPr wrap="square">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R2</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62C8DD4F-36AC-44A7-9405-22D8F378B532}"/>
              </a:ext>
            </a:extLst>
          </p:cNvPr>
          <p:cNvSpPr txBox="1"/>
          <p:nvPr/>
        </p:nvSpPr>
        <p:spPr>
          <a:xfrm>
            <a:off x="1769038" y="4562474"/>
            <a:ext cx="626364" cy="369332"/>
          </a:xfrm>
          <a:prstGeom prst="rect">
            <a:avLst/>
          </a:prstGeom>
          <a:noFill/>
        </p:spPr>
        <p:txBody>
          <a:bodyPr wrap="square">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R2</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graphicFrame>
        <p:nvGraphicFramePr>
          <p:cNvPr id="35" name="表格 23">
            <a:extLst>
              <a:ext uri="{FF2B5EF4-FFF2-40B4-BE49-F238E27FC236}">
                <a16:creationId xmlns:a16="http://schemas.microsoft.com/office/drawing/2014/main" id="{AF671B53-E980-43B2-8437-EC7FFC5C3205}"/>
              </a:ext>
            </a:extLst>
          </p:cNvPr>
          <p:cNvGraphicFramePr>
            <a:graphicFrameLocks noGrp="1"/>
          </p:cNvGraphicFramePr>
          <p:nvPr>
            <p:extLst>
              <p:ext uri="{D42A27DB-BD31-4B8C-83A1-F6EECF244321}">
                <p14:modId xmlns:p14="http://schemas.microsoft.com/office/powerpoint/2010/main" val="4085376798"/>
              </p:ext>
            </p:extLst>
          </p:nvPr>
        </p:nvGraphicFramePr>
        <p:xfrm>
          <a:off x="3270512" y="2913923"/>
          <a:ext cx="2441440" cy="1981200"/>
        </p:xfrm>
        <a:graphic>
          <a:graphicData uri="http://schemas.openxmlformats.org/drawingml/2006/table">
            <a:tbl>
              <a:tblPr firstRow="1" bandRow="1"/>
              <a:tblGrid>
                <a:gridCol w="1208634">
                  <a:extLst>
                    <a:ext uri="{9D8B030D-6E8A-4147-A177-3AD203B41FA5}">
                      <a16:colId xmlns:a16="http://schemas.microsoft.com/office/drawing/2014/main" val="501047796"/>
                    </a:ext>
                  </a:extLst>
                </a:gridCol>
                <a:gridCol w="1232806">
                  <a:extLst>
                    <a:ext uri="{9D8B030D-6E8A-4147-A177-3AD203B41FA5}">
                      <a16:colId xmlns:a16="http://schemas.microsoft.com/office/drawing/2014/main" val="3397649396"/>
                    </a:ext>
                  </a:extLst>
                </a:gridCol>
              </a:tblGrid>
              <a:tr h="370840">
                <a:tc gridSpan="2">
                  <a:txBody>
                    <a:bodyPr/>
                    <a:lstStyle/>
                    <a:p>
                      <a:pPr algn="ctr"/>
                      <a:r>
                        <a:rPr lang="zh-CN" altLang="en-US" sz="2000" b="1" dirty="0">
                          <a:latin typeface="微软雅黑" panose="020B0503020204020204" pitchFamily="34" charset="-122"/>
                          <a:ea typeface="微软雅黑" panose="020B0503020204020204" pitchFamily="34" charset="-122"/>
                        </a:rPr>
                        <a:t>路由器</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的路由表</a:t>
                      </a:r>
                    </a:p>
                  </a:txBody>
                  <a:tcPr anchor="ctr">
                    <a:solidFill>
                      <a:schemeClr val="accent5">
                        <a:lumMod val="40000"/>
                        <a:lumOff val="60000"/>
                      </a:schemeClr>
                    </a:solidFill>
                  </a:tcPr>
                </a:tc>
                <a:tc hMerge="1">
                  <a:txBody>
                    <a:bodyPr/>
                    <a:lstStyle/>
                    <a:p>
                      <a:endParaRPr lang="zh-CN" altLang="en-US" dirty="0"/>
                    </a:p>
                  </a:txBody>
                  <a:tcPr/>
                </a:tc>
                <a:extLst>
                  <a:ext uri="{0D108BD9-81ED-4DB2-BD59-A6C34878D82A}">
                    <a16:rowId xmlns:a16="http://schemas.microsoft.com/office/drawing/2014/main" val="876934980"/>
                  </a:ext>
                </a:extLst>
              </a:tr>
              <a:tr h="370840">
                <a:tc>
                  <a:txBody>
                    <a:bodyPr/>
                    <a:lstStyle/>
                    <a:p>
                      <a:pPr algn="ctr"/>
                      <a:r>
                        <a:rPr lang="zh-CN" altLang="en-US" sz="2000" b="1" dirty="0"/>
                        <a:t>目的地址</a:t>
                      </a:r>
                    </a:p>
                  </a:txBody>
                  <a:tcPr/>
                </a:tc>
                <a:tc>
                  <a:txBody>
                    <a:bodyPr/>
                    <a:lstStyle/>
                    <a:p>
                      <a:pPr algn="ctr"/>
                      <a:r>
                        <a:rPr lang="zh-CN" altLang="en-US" sz="2000" b="1" dirty="0"/>
                        <a:t>下一跳</a:t>
                      </a:r>
                    </a:p>
                  </a:txBody>
                  <a:tcPr/>
                </a:tc>
                <a:extLst>
                  <a:ext uri="{0D108BD9-81ED-4DB2-BD59-A6C34878D82A}">
                    <a16:rowId xmlns:a16="http://schemas.microsoft.com/office/drawing/2014/main" val="191168339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R1</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3731926136"/>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R2</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64012916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R3</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940126928"/>
                  </a:ext>
                </a:extLst>
              </a:tr>
            </a:tbl>
          </a:graphicData>
        </a:graphic>
      </p:graphicFrame>
      <p:sp>
        <p:nvSpPr>
          <p:cNvPr id="36" name="文本框 35">
            <a:extLst>
              <a:ext uri="{FF2B5EF4-FFF2-40B4-BE49-F238E27FC236}">
                <a16:creationId xmlns:a16="http://schemas.microsoft.com/office/drawing/2014/main" id="{382AA06E-D4BF-4912-97AF-E4CB8D3DC5CE}"/>
              </a:ext>
            </a:extLst>
          </p:cNvPr>
          <p:cNvSpPr txBox="1"/>
          <p:nvPr/>
        </p:nvSpPr>
        <p:spPr>
          <a:xfrm>
            <a:off x="4765222" y="3719857"/>
            <a:ext cx="626364" cy="369332"/>
          </a:xfrm>
          <a:prstGeom prst="rect">
            <a:avLst/>
          </a:prstGeom>
          <a:noFill/>
        </p:spPr>
        <p:txBody>
          <a:bodyPr wrap="square">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R1</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8149C61-C505-40B5-A698-545A22958DC0}"/>
              </a:ext>
            </a:extLst>
          </p:cNvPr>
          <p:cNvSpPr txBox="1"/>
          <p:nvPr/>
        </p:nvSpPr>
        <p:spPr>
          <a:xfrm>
            <a:off x="4756793" y="4122824"/>
            <a:ext cx="626364" cy="369332"/>
          </a:xfrm>
          <a:prstGeom prst="rect">
            <a:avLst/>
          </a:prstGeom>
          <a:noFill/>
        </p:spPr>
        <p:txBody>
          <a:bodyPr wrap="square">
            <a:spAutoFit/>
          </a:bodyPr>
          <a:lstStyle/>
          <a:p>
            <a:pPr algn="ctr"/>
            <a:r>
              <a:rPr lang="en-US" altLang="zh-CN" sz="1800" b="1" dirty="0">
                <a:solidFill>
                  <a:srgbClr val="C00000"/>
                </a:solidFill>
                <a:latin typeface="微软雅黑" panose="020B0503020204020204" pitchFamily="34" charset="-122"/>
                <a:ea typeface="微软雅黑" panose="020B0503020204020204" pitchFamily="34" charset="-122"/>
              </a:rPr>
              <a:t>-</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BF464959-C5EB-453F-A5D7-F759780D1CDD}"/>
              </a:ext>
            </a:extLst>
          </p:cNvPr>
          <p:cNvSpPr txBox="1"/>
          <p:nvPr/>
        </p:nvSpPr>
        <p:spPr>
          <a:xfrm>
            <a:off x="4765222" y="4559426"/>
            <a:ext cx="626364" cy="369332"/>
          </a:xfrm>
          <a:prstGeom prst="rect">
            <a:avLst/>
          </a:prstGeom>
          <a:noFill/>
        </p:spPr>
        <p:txBody>
          <a:bodyPr wrap="square">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R3</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graphicFrame>
        <p:nvGraphicFramePr>
          <p:cNvPr id="39" name="表格 23">
            <a:extLst>
              <a:ext uri="{FF2B5EF4-FFF2-40B4-BE49-F238E27FC236}">
                <a16:creationId xmlns:a16="http://schemas.microsoft.com/office/drawing/2014/main" id="{441B6482-6F62-4874-BACE-8E745B0C9C67}"/>
              </a:ext>
            </a:extLst>
          </p:cNvPr>
          <p:cNvGraphicFramePr>
            <a:graphicFrameLocks noGrp="1"/>
          </p:cNvGraphicFramePr>
          <p:nvPr>
            <p:extLst>
              <p:ext uri="{D42A27DB-BD31-4B8C-83A1-F6EECF244321}">
                <p14:modId xmlns:p14="http://schemas.microsoft.com/office/powerpoint/2010/main" val="2729806552"/>
              </p:ext>
            </p:extLst>
          </p:nvPr>
        </p:nvGraphicFramePr>
        <p:xfrm>
          <a:off x="6481580" y="2915447"/>
          <a:ext cx="2441440" cy="1981200"/>
        </p:xfrm>
        <a:graphic>
          <a:graphicData uri="http://schemas.openxmlformats.org/drawingml/2006/table">
            <a:tbl>
              <a:tblPr firstRow="1" bandRow="1"/>
              <a:tblGrid>
                <a:gridCol w="1208634">
                  <a:extLst>
                    <a:ext uri="{9D8B030D-6E8A-4147-A177-3AD203B41FA5}">
                      <a16:colId xmlns:a16="http://schemas.microsoft.com/office/drawing/2014/main" val="501047796"/>
                    </a:ext>
                  </a:extLst>
                </a:gridCol>
                <a:gridCol w="1232806">
                  <a:extLst>
                    <a:ext uri="{9D8B030D-6E8A-4147-A177-3AD203B41FA5}">
                      <a16:colId xmlns:a16="http://schemas.microsoft.com/office/drawing/2014/main" val="3397649396"/>
                    </a:ext>
                  </a:extLst>
                </a:gridCol>
              </a:tblGrid>
              <a:tr h="370840">
                <a:tc gridSpan="2">
                  <a:txBody>
                    <a:bodyPr/>
                    <a:lstStyle/>
                    <a:p>
                      <a:pPr algn="ctr"/>
                      <a:r>
                        <a:rPr lang="zh-CN" altLang="en-US" sz="2000" b="1" dirty="0">
                          <a:latin typeface="微软雅黑" panose="020B0503020204020204" pitchFamily="34" charset="-122"/>
                          <a:ea typeface="微软雅黑" panose="020B0503020204020204" pitchFamily="34" charset="-122"/>
                        </a:rPr>
                        <a:t>路由器</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的路由表</a:t>
                      </a:r>
                    </a:p>
                  </a:txBody>
                  <a:tcPr anchor="ctr">
                    <a:solidFill>
                      <a:schemeClr val="accent5">
                        <a:lumMod val="40000"/>
                        <a:lumOff val="60000"/>
                      </a:schemeClr>
                    </a:solidFill>
                  </a:tcPr>
                </a:tc>
                <a:tc hMerge="1">
                  <a:txBody>
                    <a:bodyPr/>
                    <a:lstStyle/>
                    <a:p>
                      <a:endParaRPr lang="zh-CN" altLang="en-US" dirty="0"/>
                    </a:p>
                  </a:txBody>
                  <a:tcPr/>
                </a:tc>
                <a:extLst>
                  <a:ext uri="{0D108BD9-81ED-4DB2-BD59-A6C34878D82A}">
                    <a16:rowId xmlns:a16="http://schemas.microsoft.com/office/drawing/2014/main" val="876934980"/>
                  </a:ext>
                </a:extLst>
              </a:tr>
              <a:tr h="370840">
                <a:tc>
                  <a:txBody>
                    <a:bodyPr/>
                    <a:lstStyle/>
                    <a:p>
                      <a:pPr algn="ctr"/>
                      <a:r>
                        <a:rPr lang="zh-CN" altLang="en-US" sz="2000" b="1" dirty="0"/>
                        <a:t>目标地址</a:t>
                      </a:r>
                    </a:p>
                  </a:txBody>
                  <a:tcPr/>
                </a:tc>
                <a:tc>
                  <a:txBody>
                    <a:bodyPr/>
                    <a:lstStyle/>
                    <a:p>
                      <a:pPr algn="ctr"/>
                      <a:r>
                        <a:rPr lang="zh-CN" altLang="en-US" sz="2000" b="1" dirty="0"/>
                        <a:t>下一跳</a:t>
                      </a:r>
                    </a:p>
                  </a:txBody>
                  <a:tcPr/>
                </a:tc>
                <a:extLst>
                  <a:ext uri="{0D108BD9-81ED-4DB2-BD59-A6C34878D82A}">
                    <a16:rowId xmlns:a16="http://schemas.microsoft.com/office/drawing/2014/main" val="191168339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R1</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3731926136"/>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R2</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64012916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R3</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940126928"/>
                  </a:ext>
                </a:extLst>
              </a:tr>
            </a:tbl>
          </a:graphicData>
        </a:graphic>
      </p:graphicFrame>
      <p:sp>
        <p:nvSpPr>
          <p:cNvPr id="43" name="文本框 42">
            <a:extLst>
              <a:ext uri="{FF2B5EF4-FFF2-40B4-BE49-F238E27FC236}">
                <a16:creationId xmlns:a16="http://schemas.microsoft.com/office/drawing/2014/main" id="{99DC88B2-3DF3-4826-B6DA-B3D9DF3BF51F}"/>
              </a:ext>
            </a:extLst>
          </p:cNvPr>
          <p:cNvSpPr txBox="1"/>
          <p:nvPr/>
        </p:nvSpPr>
        <p:spPr>
          <a:xfrm>
            <a:off x="7998761" y="3721381"/>
            <a:ext cx="626364" cy="369332"/>
          </a:xfrm>
          <a:prstGeom prst="rect">
            <a:avLst/>
          </a:prstGeom>
          <a:noFill/>
        </p:spPr>
        <p:txBody>
          <a:bodyPr wrap="square">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R2</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589DEF04-D90A-45B3-B659-A471D721EF49}"/>
              </a:ext>
            </a:extLst>
          </p:cNvPr>
          <p:cNvSpPr txBox="1"/>
          <p:nvPr/>
        </p:nvSpPr>
        <p:spPr>
          <a:xfrm>
            <a:off x="7984299" y="4157983"/>
            <a:ext cx="626364" cy="369332"/>
          </a:xfrm>
          <a:prstGeom prst="rect">
            <a:avLst/>
          </a:prstGeom>
          <a:noFill/>
        </p:spPr>
        <p:txBody>
          <a:bodyPr wrap="square">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R2</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0BB53F4B-5FF2-4D29-9217-224054A4546C}"/>
              </a:ext>
            </a:extLst>
          </p:cNvPr>
          <p:cNvSpPr txBox="1"/>
          <p:nvPr/>
        </p:nvSpPr>
        <p:spPr>
          <a:xfrm>
            <a:off x="7976290" y="4560950"/>
            <a:ext cx="626364" cy="369332"/>
          </a:xfrm>
          <a:prstGeom prst="rect">
            <a:avLst/>
          </a:prstGeom>
          <a:noFill/>
        </p:spPr>
        <p:txBody>
          <a:bodyPr wrap="square">
            <a:spAutoFit/>
          </a:bodyPr>
          <a:lstStyle/>
          <a:p>
            <a:pPr algn="ctr"/>
            <a:r>
              <a:rPr lang="en-US" altLang="zh-CN" sz="1800" b="1" dirty="0">
                <a:solidFill>
                  <a:srgbClr val="C00000"/>
                </a:solidFill>
                <a:latin typeface="微软雅黑" panose="020B0503020204020204" pitchFamily="34" charset="-122"/>
                <a:ea typeface="微软雅黑" panose="020B0503020204020204" pitchFamily="34" charset="-122"/>
              </a:rPr>
              <a:t>-</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CE95F115-7E07-4893-8D92-A3D266C6470A}"/>
              </a:ext>
            </a:extLst>
          </p:cNvPr>
          <p:cNvSpPr txBox="1"/>
          <p:nvPr/>
        </p:nvSpPr>
        <p:spPr>
          <a:xfrm>
            <a:off x="194553" y="5354352"/>
            <a:ext cx="8613640" cy="830997"/>
          </a:xfrm>
          <a:prstGeom prst="rect">
            <a:avLst/>
          </a:prstGeom>
          <a:noFill/>
        </p:spPr>
        <p:txBody>
          <a:bodyPr wrap="square" rtlCol="0">
            <a:spAutoFit/>
          </a:bodyPr>
          <a:lstStyle/>
          <a:p>
            <a:r>
              <a:rPr lang="zh-CN" altLang="en-US" sz="2400" b="1" dirty="0">
                <a:latin typeface="Times New Roman" panose="02020603050405020304" pitchFamily="18" charset="0"/>
                <a:cs typeface="Times New Roman" panose="02020603050405020304" pitchFamily="18" charset="0"/>
              </a:rPr>
              <a:t>路由机制：</a:t>
            </a:r>
            <a:r>
              <a:rPr lang="zh-CN" altLang="en-US" sz="2400" dirty="0">
                <a:solidFill>
                  <a:srgbClr val="FF0000"/>
                </a:solidFill>
                <a:latin typeface="Times New Roman" panose="02020603050405020304" pitchFamily="18" charset="0"/>
                <a:cs typeface="Times New Roman" panose="02020603050405020304" pitchFamily="18" charset="0"/>
              </a:rPr>
              <a:t>存储</a:t>
            </a:r>
            <a:r>
              <a:rPr lang="en-US" altLang="zh-CN" sz="2400" dirty="0">
                <a:solidFill>
                  <a:srgbClr val="FF0000"/>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转发</a:t>
            </a:r>
            <a:r>
              <a:rPr lang="zh-CN" altLang="en-US" sz="2400" dirty="0">
                <a:latin typeface="Times New Roman" panose="02020603050405020304" pitchFamily="18" charset="0"/>
                <a:cs typeface="Times New Roman" panose="02020603050405020304" pitchFamily="18" charset="0"/>
              </a:rPr>
              <a:t>。每个路由器维护一张</a:t>
            </a:r>
            <a:r>
              <a:rPr lang="zh-CN" altLang="en-US" sz="2400" dirty="0">
                <a:solidFill>
                  <a:srgbClr val="FF0000"/>
                </a:solidFill>
                <a:latin typeface="Times New Roman" panose="02020603050405020304" pitchFamily="18" charset="0"/>
                <a:cs typeface="Times New Roman" panose="02020603050405020304" pitchFamily="18" charset="0"/>
              </a:rPr>
              <a:t>路由表</a:t>
            </a:r>
            <a:r>
              <a:rPr lang="zh-CN" altLang="en-US" sz="2400" dirty="0">
                <a:latin typeface="Times New Roman" panose="02020603050405020304" pitchFamily="18" charset="0"/>
                <a:cs typeface="Times New Roman" panose="02020603050405020304" pitchFamily="18" charset="0"/>
              </a:rPr>
              <a:t>，表的每个表项包括：</a:t>
            </a:r>
            <a:r>
              <a:rPr lang="zh-CN" altLang="en-US" sz="2400" b="1" dirty="0">
                <a:latin typeface="Times New Roman" panose="02020603050405020304" pitchFamily="18" charset="0"/>
                <a:cs typeface="Times New Roman" panose="02020603050405020304" pitchFamily="18" charset="0"/>
              </a:rPr>
              <a:t>目的地址和下一跳地址</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21C6F126-ABCF-47DB-9881-776D44F4E79D}"/>
              </a:ext>
            </a:extLst>
          </p:cNvPr>
          <p:cNvSpPr txBox="1"/>
          <p:nvPr/>
        </p:nvSpPr>
        <p:spPr>
          <a:xfrm>
            <a:off x="184412" y="6257273"/>
            <a:ext cx="8613640" cy="461665"/>
          </a:xfrm>
          <a:prstGeom prst="rect">
            <a:avLst/>
          </a:prstGeom>
          <a:noFill/>
        </p:spPr>
        <p:txBody>
          <a:bodyPr wrap="square" rtlCol="0">
            <a:spAutoFit/>
          </a:bodyPr>
          <a:lstStyle/>
          <a:p>
            <a:r>
              <a:rPr lang="zh-CN" altLang="en-US" sz="2400" dirty="0">
                <a:latin typeface="Times New Roman" panose="02020603050405020304" pitchFamily="18" charset="0"/>
                <a:cs typeface="Times New Roman" panose="02020603050405020304" pitchFamily="18" charset="0"/>
              </a:rPr>
              <a:t>路由表动态维护，并根据路由协议选取最优转发路径</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53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750"/>
                                  </p:stCondLst>
                                  <p:childTnLst>
                                    <p:set>
                                      <p:cBhvr>
                                        <p:cTn id="37" dur="1" fill="hold">
                                          <p:stCondLst>
                                            <p:cond delay="0"/>
                                          </p:stCondLst>
                                        </p:cTn>
                                        <p:tgtEl>
                                          <p:spTgt spid="35"/>
                                        </p:tgtEl>
                                        <p:attrNameLst>
                                          <p:attrName>style.visibility</p:attrName>
                                        </p:attrNameLst>
                                      </p:cBhvr>
                                      <p:to>
                                        <p:strVal val="visible"/>
                                      </p:to>
                                    </p:set>
                                  </p:childTnLst>
                                </p:cTn>
                              </p:par>
                            </p:childTnLst>
                          </p:cTn>
                        </p:par>
                        <p:par>
                          <p:cTn id="38" fill="hold">
                            <p:stCondLst>
                              <p:cond delay="750"/>
                            </p:stCondLst>
                            <p:childTnLst>
                              <p:par>
                                <p:cTn id="39" presetID="1" presetClass="entr" presetSubtype="0" fill="hold" nodeType="afterEffect">
                                  <p:stCondLst>
                                    <p:cond delay="75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1000"/>
                                        <p:tgtEl>
                                          <p:spTgt spid="33"/>
                                        </p:tgtEl>
                                      </p:cBhvr>
                                    </p:animEffect>
                                    <p:anim calcmode="lin" valueType="num">
                                      <p:cBhvr>
                                        <p:cTn id="54" dur="1000" fill="hold"/>
                                        <p:tgtEl>
                                          <p:spTgt spid="33"/>
                                        </p:tgtEl>
                                        <p:attrNameLst>
                                          <p:attrName>ppt_x</p:attrName>
                                        </p:attrNameLst>
                                      </p:cBhvr>
                                      <p:tavLst>
                                        <p:tav tm="0">
                                          <p:val>
                                            <p:strVal val="#ppt_x"/>
                                          </p:val>
                                        </p:tav>
                                        <p:tav tm="100000">
                                          <p:val>
                                            <p:strVal val="#ppt_x"/>
                                          </p:val>
                                        </p:tav>
                                      </p:tavLst>
                                    </p:anim>
                                    <p:anim calcmode="lin" valueType="num">
                                      <p:cBhvr>
                                        <p:cTn id="55"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1000"/>
                                        <p:tgtEl>
                                          <p:spTgt spid="34"/>
                                        </p:tgtEl>
                                      </p:cBhvr>
                                    </p:animEffect>
                                    <p:anim calcmode="lin" valueType="num">
                                      <p:cBhvr>
                                        <p:cTn id="61" dur="1000" fill="hold"/>
                                        <p:tgtEl>
                                          <p:spTgt spid="34"/>
                                        </p:tgtEl>
                                        <p:attrNameLst>
                                          <p:attrName>ppt_x</p:attrName>
                                        </p:attrNameLst>
                                      </p:cBhvr>
                                      <p:tavLst>
                                        <p:tav tm="0">
                                          <p:val>
                                            <p:strVal val="#ppt_x"/>
                                          </p:val>
                                        </p:tav>
                                        <p:tav tm="100000">
                                          <p:val>
                                            <p:strVal val="#ppt_x"/>
                                          </p:val>
                                        </p:tav>
                                      </p:tavLst>
                                    </p:anim>
                                    <p:anim calcmode="lin" valueType="num">
                                      <p:cBhvr>
                                        <p:cTn id="6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1000"/>
                                        <p:tgtEl>
                                          <p:spTgt spid="36"/>
                                        </p:tgtEl>
                                      </p:cBhvr>
                                    </p:animEffect>
                                    <p:anim calcmode="lin" valueType="num">
                                      <p:cBhvr>
                                        <p:cTn id="68" dur="1000" fill="hold"/>
                                        <p:tgtEl>
                                          <p:spTgt spid="36"/>
                                        </p:tgtEl>
                                        <p:attrNameLst>
                                          <p:attrName>ppt_x</p:attrName>
                                        </p:attrNameLst>
                                      </p:cBhvr>
                                      <p:tavLst>
                                        <p:tav tm="0">
                                          <p:val>
                                            <p:strVal val="#ppt_x"/>
                                          </p:val>
                                        </p:tav>
                                        <p:tav tm="100000">
                                          <p:val>
                                            <p:strVal val="#ppt_x"/>
                                          </p:val>
                                        </p:tav>
                                      </p:tavLst>
                                    </p:anim>
                                    <p:anim calcmode="lin" valueType="num">
                                      <p:cBhvr>
                                        <p:cTn id="6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1000"/>
                                        <p:tgtEl>
                                          <p:spTgt spid="37"/>
                                        </p:tgtEl>
                                      </p:cBhvr>
                                    </p:animEffect>
                                    <p:anim calcmode="lin" valueType="num">
                                      <p:cBhvr>
                                        <p:cTn id="75" dur="1000" fill="hold"/>
                                        <p:tgtEl>
                                          <p:spTgt spid="37"/>
                                        </p:tgtEl>
                                        <p:attrNameLst>
                                          <p:attrName>ppt_x</p:attrName>
                                        </p:attrNameLst>
                                      </p:cBhvr>
                                      <p:tavLst>
                                        <p:tav tm="0">
                                          <p:val>
                                            <p:strVal val="#ppt_x"/>
                                          </p:val>
                                        </p:tav>
                                        <p:tav tm="100000">
                                          <p:val>
                                            <p:strVal val="#ppt_x"/>
                                          </p:val>
                                        </p:tav>
                                      </p:tavLst>
                                    </p:anim>
                                    <p:anim calcmode="lin" valueType="num">
                                      <p:cBhvr>
                                        <p:cTn id="7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1000"/>
                                        <p:tgtEl>
                                          <p:spTgt spid="38"/>
                                        </p:tgtEl>
                                      </p:cBhvr>
                                    </p:animEffect>
                                    <p:anim calcmode="lin" valueType="num">
                                      <p:cBhvr>
                                        <p:cTn id="82" dur="1000" fill="hold"/>
                                        <p:tgtEl>
                                          <p:spTgt spid="38"/>
                                        </p:tgtEl>
                                        <p:attrNameLst>
                                          <p:attrName>ppt_x</p:attrName>
                                        </p:attrNameLst>
                                      </p:cBhvr>
                                      <p:tavLst>
                                        <p:tav tm="0">
                                          <p:val>
                                            <p:strVal val="#ppt_x"/>
                                          </p:val>
                                        </p:tav>
                                        <p:tav tm="100000">
                                          <p:val>
                                            <p:strVal val="#ppt_x"/>
                                          </p:val>
                                        </p:tav>
                                      </p:tavLst>
                                    </p:anim>
                                    <p:anim calcmode="lin" valueType="num">
                                      <p:cBhvr>
                                        <p:cTn id="8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1000"/>
                                        <p:tgtEl>
                                          <p:spTgt spid="43"/>
                                        </p:tgtEl>
                                      </p:cBhvr>
                                    </p:animEffect>
                                    <p:anim calcmode="lin" valueType="num">
                                      <p:cBhvr>
                                        <p:cTn id="89" dur="1000" fill="hold"/>
                                        <p:tgtEl>
                                          <p:spTgt spid="43"/>
                                        </p:tgtEl>
                                        <p:attrNameLst>
                                          <p:attrName>ppt_x</p:attrName>
                                        </p:attrNameLst>
                                      </p:cBhvr>
                                      <p:tavLst>
                                        <p:tav tm="0">
                                          <p:val>
                                            <p:strVal val="#ppt_x"/>
                                          </p:val>
                                        </p:tav>
                                        <p:tav tm="100000">
                                          <p:val>
                                            <p:strVal val="#ppt_x"/>
                                          </p:val>
                                        </p:tav>
                                      </p:tavLst>
                                    </p:anim>
                                    <p:anim calcmode="lin" valueType="num">
                                      <p:cBhvr>
                                        <p:cTn id="90"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4"/>
                                        </p:tgtEl>
                                        <p:attrNameLst>
                                          <p:attrName>style.visibility</p:attrName>
                                        </p:attrNameLst>
                                      </p:cBhvr>
                                      <p:to>
                                        <p:strVal val="visible"/>
                                      </p:to>
                                    </p:set>
                                    <p:animEffect transition="in" filter="fade">
                                      <p:cBhvr>
                                        <p:cTn id="95" dur="1000"/>
                                        <p:tgtEl>
                                          <p:spTgt spid="44"/>
                                        </p:tgtEl>
                                      </p:cBhvr>
                                    </p:animEffect>
                                    <p:anim calcmode="lin" valueType="num">
                                      <p:cBhvr>
                                        <p:cTn id="96" dur="1000" fill="hold"/>
                                        <p:tgtEl>
                                          <p:spTgt spid="44"/>
                                        </p:tgtEl>
                                        <p:attrNameLst>
                                          <p:attrName>ppt_x</p:attrName>
                                        </p:attrNameLst>
                                      </p:cBhvr>
                                      <p:tavLst>
                                        <p:tav tm="0">
                                          <p:val>
                                            <p:strVal val="#ppt_x"/>
                                          </p:val>
                                        </p:tav>
                                        <p:tav tm="100000">
                                          <p:val>
                                            <p:strVal val="#ppt_x"/>
                                          </p:val>
                                        </p:tav>
                                      </p:tavLst>
                                    </p:anim>
                                    <p:anim calcmode="lin" valueType="num">
                                      <p:cBhvr>
                                        <p:cTn id="97"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1000"/>
                                        <p:tgtEl>
                                          <p:spTgt spid="45"/>
                                        </p:tgtEl>
                                      </p:cBhvr>
                                    </p:animEffect>
                                    <p:anim calcmode="lin" valueType="num">
                                      <p:cBhvr>
                                        <p:cTn id="103" dur="1000" fill="hold"/>
                                        <p:tgtEl>
                                          <p:spTgt spid="45"/>
                                        </p:tgtEl>
                                        <p:attrNameLst>
                                          <p:attrName>ppt_x</p:attrName>
                                        </p:attrNameLst>
                                      </p:cBhvr>
                                      <p:tavLst>
                                        <p:tav tm="0">
                                          <p:val>
                                            <p:strVal val="#ppt_x"/>
                                          </p:val>
                                        </p:tav>
                                        <p:tav tm="100000">
                                          <p:val>
                                            <p:strVal val="#ppt_x"/>
                                          </p:val>
                                        </p:tav>
                                      </p:tavLst>
                                    </p:anim>
                                    <p:anim calcmode="lin" valueType="num">
                                      <p:cBhvr>
                                        <p:cTn id="104"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P spid="27" grpId="0"/>
      <p:bldP spid="28" grpId="0"/>
      <p:bldP spid="32" grpId="0"/>
      <p:bldP spid="33" grpId="0"/>
      <p:bldP spid="34" grpId="0"/>
      <p:bldP spid="36" grpId="0"/>
      <p:bldP spid="37" grpId="0"/>
      <p:bldP spid="38" grpId="0"/>
      <p:bldP spid="43" grpId="0"/>
      <p:bldP spid="44" grpId="0"/>
      <p:bldP spid="45" grpId="0"/>
      <p:bldP spid="46"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10</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1092607"/>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传统网络中的路由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）路由表工作原理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9ECEFEA6-CE94-4333-AB9C-E8DF67A5D55D}"/>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cxnSp>
        <p:nvCxnSpPr>
          <p:cNvPr id="12" name="直接连接符 11">
            <a:extLst>
              <a:ext uri="{FF2B5EF4-FFF2-40B4-BE49-F238E27FC236}">
                <a16:creationId xmlns:a16="http://schemas.microsoft.com/office/drawing/2014/main" id="{14CFCF9A-0BC6-4E65-BED9-1057B57F1A4C}"/>
              </a:ext>
            </a:extLst>
          </p:cNvPr>
          <p:cNvCxnSpPr>
            <a:cxnSpLocks/>
          </p:cNvCxnSpPr>
          <p:nvPr/>
        </p:nvCxnSpPr>
        <p:spPr>
          <a:xfrm flipV="1">
            <a:off x="1783080" y="2221992"/>
            <a:ext cx="2263140" cy="1861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EF3E1A2-935D-4020-943A-D3649D1AA341}"/>
              </a:ext>
            </a:extLst>
          </p:cNvPr>
          <p:cNvCxnSpPr>
            <a:cxnSpLocks/>
          </p:cNvCxnSpPr>
          <p:nvPr/>
        </p:nvCxnSpPr>
        <p:spPr>
          <a:xfrm flipV="1">
            <a:off x="5030724" y="2221992"/>
            <a:ext cx="2284476" cy="1861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CA985C0C-2A0E-48EB-9222-4F3C973B03FF}"/>
              </a:ext>
            </a:extLst>
          </p:cNvPr>
          <p:cNvSpPr/>
          <p:nvPr/>
        </p:nvSpPr>
        <p:spPr>
          <a:xfrm>
            <a:off x="1117314" y="1623843"/>
            <a:ext cx="588623"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R1</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1" name="图形 20" descr="地球仪: 美洲 纯色填充">
            <a:extLst>
              <a:ext uri="{FF2B5EF4-FFF2-40B4-BE49-F238E27FC236}">
                <a16:creationId xmlns:a16="http://schemas.microsoft.com/office/drawing/2014/main" id="{A55212C3-11FC-4518-903E-8FDF077507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8356" y="1988413"/>
            <a:ext cx="666540" cy="666540"/>
          </a:xfrm>
          <a:prstGeom prst="rect">
            <a:avLst/>
          </a:prstGeom>
        </p:spPr>
      </p:pic>
      <p:pic>
        <p:nvPicPr>
          <p:cNvPr id="26" name="图形 25" descr="地球仪: 美洲 纯色填充">
            <a:extLst>
              <a:ext uri="{FF2B5EF4-FFF2-40B4-BE49-F238E27FC236}">
                <a16:creationId xmlns:a16="http://schemas.microsoft.com/office/drawing/2014/main" id="{D383E8FA-305F-4DCD-ADDA-8B8C3639ED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00630" y="1898028"/>
            <a:ext cx="666540" cy="666540"/>
          </a:xfrm>
          <a:prstGeom prst="rect">
            <a:avLst/>
          </a:prstGeom>
        </p:spPr>
      </p:pic>
      <p:sp>
        <p:nvSpPr>
          <p:cNvPr id="27" name="矩形 26">
            <a:extLst>
              <a:ext uri="{FF2B5EF4-FFF2-40B4-BE49-F238E27FC236}">
                <a16:creationId xmlns:a16="http://schemas.microsoft.com/office/drawing/2014/main" id="{FF64FAD4-FCC2-44D0-9878-35BF11446C13}"/>
              </a:ext>
            </a:extLst>
          </p:cNvPr>
          <p:cNvSpPr/>
          <p:nvPr/>
        </p:nvSpPr>
        <p:spPr>
          <a:xfrm>
            <a:off x="4252848" y="1586889"/>
            <a:ext cx="588623"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R2</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A57A0437-677A-4997-AC88-9F91ED1F4BB6}"/>
              </a:ext>
            </a:extLst>
          </p:cNvPr>
          <p:cNvSpPr/>
          <p:nvPr/>
        </p:nvSpPr>
        <p:spPr>
          <a:xfrm>
            <a:off x="7379238" y="1623842"/>
            <a:ext cx="588623" cy="461665"/>
          </a:xfrm>
          <a:prstGeom prst="rect">
            <a:avLst/>
          </a:prstGeom>
        </p:spPr>
        <p:txBody>
          <a:bodyPr wrap="none">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R3</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9" name="图形 28" descr="地球仪: 美洲 纯色填充">
            <a:extLst>
              <a:ext uri="{FF2B5EF4-FFF2-40B4-BE49-F238E27FC236}">
                <a16:creationId xmlns:a16="http://schemas.microsoft.com/office/drawing/2014/main" id="{AA49BCFC-0490-4D9D-B893-40C1A43253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40279" y="1930543"/>
            <a:ext cx="666540" cy="666540"/>
          </a:xfrm>
          <a:prstGeom prst="rect">
            <a:avLst/>
          </a:prstGeom>
        </p:spPr>
      </p:pic>
      <p:graphicFrame>
        <p:nvGraphicFramePr>
          <p:cNvPr id="22" name="表格 23">
            <a:extLst>
              <a:ext uri="{FF2B5EF4-FFF2-40B4-BE49-F238E27FC236}">
                <a16:creationId xmlns:a16="http://schemas.microsoft.com/office/drawing/2014/main" id="{CBB2F0BD-E6B5-42BC-9D4E-0CF9BFA1ABF8}"/>
              </a:ext>
            </a:extLst>
          </p:cNvPr>
          <p:cNvGraphicFramePr>
            <a:graphicFrameLocks noGrp="1"/>
          </p:cNvGraphicFramePr>
          <p:nvPr/>
        </p:nvGraphicFramePr>
        <p:xfrm>
          <a:off x="274328" y="2916971"/>
          <a:ext cx="2441440" cy="1981200"/>
        </p:xfrm>
        <a:graphic>
          <a:graphicData uri="http://schemas.openxmlformats.org/drawingml/2006/table">
            <a:tbl>
              <a:tblPr firstRow="1" bandRow="1"/>
              <a:tblGrid>
                <a:gridCol w="1208634">
                  <a:extLst>
                    <a:ext uri="{9D8B030D-6E8A-4147-A177-3AD203B41FA5}">
                      <a16:colId xmlns:a16="http://schemas.microsoft.com/office/drawing/2014/main" val="501047796"/>
                    </a:ext>
                  </a:extLst>
                </a:gridCol>
                <a:gridCol w="1232806">
                  <a:extLst>
                    <a:ext uri="{9D8B030D-6E8A-4147-A177-3AD203B41FA5}">
                      <a16:colId xmlns:a16="http://schemas.microsoft.com/office/drawing/2014/main" val="3397649396"/>
                    </a:ext>
                  </a:extLst>
                </a:gridCol>
              </a:tblGrid>
              <a:tr h="370840">
                <a:tc gridSpan="2">
                  <a:txBody>
                    <a:bodyPr/>
                    <a:lstStyle/>
                    <a:p>
                      <a:pPr algn="ctr"/>
                      <a:r>
                        <a:rPr lang="zh-CN" altLang="en-US" sz="2000" b="1" dirty="0">
                          <a:latin typeface="微软雅黑" panose="020B0503020204020204" pitchFamily="34" charset="-122"/>
                          <a:ea typeface="微软雅黑" panose="020B0503020204020204" pitchFamily="34" charset="-122"/>
                        </a:rPr>
                        <a:t>路由器</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的路由表</a:t>
                      </a:r>
                    </a:p>
                  </a:txBody>
                  <a:tcPr anchor="ctr">
                    <a:solidFill>
                      <a:schemeClr val="accent5">
                        <a:lumMod val="40000"/>
                        <a:lumOff val="60000"/>
                      </a:schemeClr>
                    </a:solidFill>
                  </a:tcPr>
                </a:tc>
                <a:tc hMerge="1">
                  <a:txBody>
                    <a:bodyPr/>
                    <a:lstStyle/>
                    <a:p>
                      <a:endParaRPr lang="zh-CN" altLang="en-US" dirty="0"/>
                    </a:p>
                  </a:txBody>
                  <a:tcPr/>
                </a:tc>
                <a:extLst>
                  <a:ext uri="{0D108BD9-81ED-4DB2-BD59-A6C34878D82A}">
                    <a16:rowId xmlns:a16="http://schemas.microsoft.com/office/drawing/2014/main" val="876934980"/>
                  </a:ext>
                </a:extLst>
              </a:tr>
              <a:tr h="370840">
                <a:tc>
                  <a:txBody>
                    <a:bodyPr/>
                    <a:lstStyle/>
                    <a:p>
                      <a:pPr algn="ctr"/>
                      <a:r>
                        <a:rPr lang="zh-CN" altLang="en-US" sz="2000" b="1" dirty="0"/>
                        <a:t>目的地址</a:t>
                      </a:r>
                    </a:p>
                  </a:txBody>
                  <a:tcPr/>
                </a:tc>
                <a:tc>
                  <a:txBody>
                    <a:bodyPr/>
                    <a:lstStyle/>
                    <a:p>
                      <a:pPr algn="ctr"/>
                      <a:r>
                        <a:rPr lang="zh-CN" altLang="en-US" sz="2000" b="1" dirty="0"/>
                        <a:t>下一跳</a:t>
                      </a:r>
                    </a:p>
                  </a:txBody>
                  <a:tcPr/>
                </a:tc>
                <a:extLst>
                  <a:ext uri="{0D108BD9-81ED-4DB2-BD59-A6C34878D82A}">
                    <a16:rowId xmlns:a16="http://schemas.microsoft.com/office/drawing/2014/main" val="191168339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R1</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3731926136"/>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R2</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64012916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R3</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940126928"/>
                  </a:ext>
                </a:extLst>
              </a:tr>
            </a:tbl>
          </a:graphicData>
        </a:graphic>
      </p:graphicFrame>
      <p:sp>
        <p:nvSpPr>
          <p:cNvPr id="32" name="文本框 31">
            <a:extLst>
              <a:ext uri="{FF2B5EF4-FFF2-40B4-BE49-F238E27FC236}">
                <a16:creationId xmlns:a16="http://schemas.microsoft.com/office/drawing/2014/main" id="{19D38BE8-A36D-4898-A7C0-7FE3574F53F4}"/>
              </a:ext>
            </a:extLst>
          </p:cNvPr>
          <p:cNvSpPr txBox="1"/>
          <p:nvPr/>
        </p:nvSpPr>
        <p:spPr>
          <a:xfrm>
            <a:off x="1791509" y="3722905"/>
            <a:ext cx="626364" cy="369332"/>
          </a:xfrm>
          <a:prstGeom prst="rect">
            <a:avLst/>
          </a:prstGeom>
          <a:noFill/>
        </p:spPr>
        <p:txBody>
          <a:bodyPr wrap="square">
            <a:spAutoFit/>
          </a:bodyPr>
          <a:lstStyle/>
          <a:p>
            <a:pPr algn="ctr"/>
            <a:r>
              <a:rPr lang="en-US" altLang="zh-CN" sz="1800" b="1" dirty="0">
                <a:solidFill>
                  <a:srgbClr val="C00000"/>
                </a:solidFill>
                <a:latin typeface="微软雅黑" panose="020B0503020204020204" pitchFamily="34" charset="-122"/>
                <a:ea typeface="微软雅黑" panose="020B0503020204020204" pitchFamily="34" charset="-122"/>
              </a:rPr>
              <a:t>-</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graphicFrame>
        <p:nvGraphicFramePr>
          <p:cNvPr id="35" name="表格 23">
            <a:extLst>
              <a:ext uri="{FF2B5EF4-FFF2-40B4-BE49-F238E27FC236}">
                <a16:creationId xmlns:a16="http://schemas.microsoft.com/office/drawing/2014/main" id="{AF671B53-E980-43B2-8437-EC7FFC5C3205}"/>
              </a:ext>
            </a:extLst>
          </p:cNvPr>
          <p:cNvGraphicFramePr>
            <a:graphicFrameLocks noGrp="1"/>
          </p:cNvGraphicFramePr>
          <p:nvPr/>
        </p:nvGraphicFramePr>
        <p:xfrm>
          <a:off x="3270512" y="2913923"/>
          <a:ext cx="2441440" cy="1981200"/>
        </p:xfrm>
        <a:graphic>
          <a:graphicData uri="http://schemas.openxmlformats.org/drawingml/2006/table">
            <a:tbl>
              <a:tblPr firstRow="1" bandRow="1"/>
              <a:tblGrid>
                <a:gridCol w="1208634">
                  <a:extLst>
                    <a:ext uri="{9D8B030D-6E8A-4147-A177-3AD203B41FA5}">
                      <a16:colId xmlns:a16="http://schemas.microsoft.com/office/drawing/2014/main" val="501047796"/>
                    </a:ext>
                  </a:extLst>
                </a:gridCol>
                <a:gridCol w="1232806">
                  <a:extLst>
                    <a:ext uri="{9D8B030D-6E8A-4147-A177-3AD203B41FA5}">
                      <a16:colId xmlns:a16="http://schemas.microsoft.com/office/drawing/2014/main" val="3397649396"/>
                    </a:ext>
                  </a:extLst>
                </a:gridCol>
              </a:tblGrid>
              <a:tr h="370840">
                <a:tc gridSpan="2">
                  <a:txBody>
                    <a:bodyPr/>
                    <a:lstStyle/>
                    <a:p>
                      <a:pPr algn="ctr"/>
                      <a:r>
                        <a:rPr lang="zh-CN" altLang="en-US" sz="2000" b="1" dirty="0">
                          <a:latin typeface="微软雅黑" panose="020B0503020204020204" pitchFamily="34" charset="-122"/>
                          <a:ea typeface="微软雅黑" panose="020B0503020204020204" pitchFamily="34" charset="-122"/>
                        </a:rPr>
                        <a:t>路由器</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的路由表</a:t>
                      </a:r>
                    </a:p>
                  </a:txBody>
                  <a:tcPr anchor="ctr">
                    <a:solidFill>
                      <a:schemeClr val="accent5">
                        <a:lumMod val="40000"/>
                        <a:lumOff val="60000"/>
                      </a:schemeClr>
                    </a:solidFill>
                  </a:tcPr>
                </a:tc>
                <a:tc hMerge="1">
                  <a:txBody>
                    <a:bodyPr/>
                    <a:lstStyle/>
                    <a:p>
                      <a:endParaRPr lang="zh-CN" altLang="en-US" dirty="0"/>
                    </a:p>
                  </a:txBody>
                  <a:tcPr/>
                </a:tc>
                <a:extLst>
                  <a:ext uri="{0D108BD9-81ED-4DB2-BD59-A6C34878D82A}">
                    <a16:rowId xmlns:a16="http://schemas.microsoft.com/office/drawing/2014/main" val="876934980"/>
                  </a:ext>
                </a:extLst>
              </a:tr>
              <a:tr h="370840">
                <a:tc>
                  <a:txBody>
                    <a:bodyPr/>
                    <a:lstStyle/>
                    <a:p>
                      <a:pPr algn="ctr"/>
                      <a:r>
                        <a:rPr lang="zh-CN" altLang="en-US" sz="2000" b="1" dirty="0"/>
                        <a:t>目的地址</a:t>
                      </a:r>
                    </a:p>
                  </a:txBody>
                  <a:tcPr/>
                </a:tc>
                <a:tc>
                  <a:txBody>
                    <a:bodyPr/>
                    <a:lstStyle/>
                    <a:p>
                      <a:pPr algn="ctr"/>
                      <a:r>
                        <a:rPr lang="zh-CN" altLang="en-US" sz="2000" b="1" dirty="0"/>
                        <a:t>下一跳</a:t>
                      </a:r>
                    </a:p>
                  </a:txBody>
                  <a:tcPr/>
                </a:tc>
                <a:extLst>
                  <a:ext uri="{0D108BD9-81ED-4DB2-BD59-A6C34878D82A}">
                    <a16:rowId xmlns:a16="http://schemas.microsoft.com/office/drawing/2014/main" val="191168339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R1</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3731926136"/>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R2</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64012916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R3</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940126928"/>
                  </a:ext>
                </a:extLst>
              </a:tr>
            </a:tbl>
          </a:graphicData>
        </a:graphic>
      </p:graphicFrame>
      <p:graphicFrame>
        <p:nvGraphicFramePr>
          <p:cNvPr id="39" name="表格 23">
            <a:extLst>
              <a:ext uri="{FF2B5EF4-FFF2-40B4-BE49-F238E27FC236}">
                <a16:creationId xmlns:a16="http://schemas.microsoft.com/office/drawing/2014/main" id="{441B6482-6F62-4874-BACE-8E745B0C9C67}"/>
              </a:ext>
            </a:extLst>
          </p:cNvPr>
          <p:cNvGraphicFramePr>
            <a:graphicFrameLocks noGrp="1"/>
          </p:cNvGraphicFramePr>
          <p:nvPr/>
        </p:nvGraphicFramePr>
        <p:xfrm>
          <a:off x="6481580" y="2915447"/>
          <a:ext cx="2441440" cy="1981200"/>
        </p:xfrm>
        <a:graphic>
          <a:graphicData uri="http://schemas.openxmlformats.org/drawingml/2006/table">
            <a:tbl>
              <a:tblPr firstRow="1" bandRow="1"/>
              <a:tblGrid>
                <a:gridCol w="1208634">
                  <a:extLst>
                    <a:ext uri="{9D8B030D-6E8A-4147-A177-3AD203B41FA5}">
                      <a16:colId xmlns:a16="http://schemas.microsoft.com/office/drawing/2014/main" val="501047796"/>
                    </a:ext>
                  </a:extLst>
                </a:gridCol>
                <a:gridCol w="1232806">
                  <a:extLst>
                    <a:ext uri="{9D8B030D-6E8A-4147-A177-3AD203B41FA5}">
                      <a16:colId xmlns:a16="http://schemas.microsoft.com/office/drawing/2014/main" val="3397649396"/>
                    </a:ext>
                  </a:extLst>
                </a:gridCol>
              </a:tblGrid>
              <a:tr h="370840">
                <a:tc gridSpan="2">
                  <a:txBody>
                    <a:bodyPr/>
                    <a:lstStyle/>
                    <a:p>
                      <a:pPr algn="ctr"/>
                      <a:r>
                        <a:rPr lang="zh-CN" altLang="en-US" sz="2000" b="1" dirty="0">
                          <a:latin typeface="微软雅黑" panose="020B0503020204020204" pitchFamily="34" charset="-122"/>
                          <a:ea typeface="微软雅黑" panose="020B0503020204020204" pitchFamily="34" charset="-122"/>
                        </a:rPr>
                        <a:t>路由器</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的路由表</a:t>
                      </a:r>
                    </a:p>
                  </a:txBody>
                  <a:tcPr anchor="ctr">
                    <a:solidFill>
                      <a:schemeClr val="accent5">
                        <a:lumMod val="40000"/>
                        <a:lumOff val="60000"/>
                      </a:schemeClr>
                    </a:solidFill>
                  </a:tcPr>
                </a:tc>
                <a:tc hMerge="1">
                  <a:txBody>
                    <a:bodyPr/>
                    <a:lstStyle/>
                    <a:p>
                      <a:endParaRPr lang="zh-CN" altLang="en-US" dirty="0"/>
                    </a:p>
                  </a:txBody>
                  <a:tcPr/>
                </a:tc>
                <a:extLst>
                  <a:ext uri="{0D108BD9-81ED-4DB2-BD59-A6C34878D82A}">
                    <a16:rowId xmlns:a16="http://schemas.microsoft.com/office/drawing/2014/main" val="876934980"/>
                  </a:ext>
                </a:extLst>
              </a:tr>
              <a:tr h="370840">
                <a:tc>
                  <a:txBody>
                    <a:bodyPr/>
                    <a:lstStyle/>
                    <a:p>
                      <a:pPr algn="ctr"/>
                      <a:r>
                        <a:rPr lang="zh-CN" altLang="en-US" sz="2000" b="1" dirty="0"/>
                        <a:t>目标地址</a:t>
                      </a:r>
                    </a:p>
                  </a:txBody>
                  <a:tcPr/>
                </a:tc>
                <a:tc>
                  <a:txBody>
                    <a:bodyPr/>
                    <a:lstStyle/>
                    <a:p>
                      <a:pPr algn="ctr"/>
                      <a:r>
                        <a:rPr lang="zh-CN" altLang="en-US" sz="2000" b="1" dirty="0"/>
                        <a:t>下一跳</a:t>
                      </a:r>
                    </a:p>
                  </a:txBody>
                  <a:tcPr/>
                </a:tc>
                <a:extLst>
                  <a:ext uri="{0D108BD9-81ED-4DB2-BD59-A6C34878D82A}">
                    <a16:rowId xmlns:a16="http://schemas.microsoft.com/office/drawing/2014/main" val="191168339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R1</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3731926136"/>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R2</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640129162"/>
                  </a:ext>
                </a:extLst>
              </a:tr>
              <a:tr h="370840">
                <a:tc>
                  <a:txBody>
                    <a:bodyPr/>
                    <a:lstStyle/>
                    <a:p>
                      <a:pPr algn="ctr"/>
                      <a:r>
                        <a:rPr lang="en-US" altLang="zh-CN" sz="2000" b="1" dirty="0">
                          <a:latin typeface="微软雅黑" panose="020B0503020204020204" pitchFamily="34" charset="-122"/>
                          <a:ea typeface="微软雅黑" panose="020B0503020204020204" pitchFamily="34" charset="-122"/>
                        </a:rPr>
                        <a:t>R3</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endParaRPr lang="zh-CN" altLang="en-US" dirty="0"/>
                    </a:p>
                  </a:txBody>
                  <a:tcPr/>
                </a:tc>
                <a:extLst>
                  <a:ext uri="{0D108BD9-81ED-4DB2-BD59-A6C34878D82A}">
                    <a16:rowId xmlns:a16="http://schemas.microsoft.com/office/drawing/2014/main" val="940126928"/>
                  </a:ext>
                </a:extLst>
              </a:tr>
            </a:tbl>
          </a:graphicData>
        </a:graphic>
      </p:graphicFrame>
      <p:sp>
        <p:nvSpPr>
          <p:cNvPr id="46" name="文本框 45">
            <a:extLst>
              <a:ext uri="{FF2B5EF4-FFF2-40B4-BE49-F238E27FC236}">
                <a16:creationId xmlns:a16="http://schemas.microsoft.com/office/drawing/2014/main" id="{CE95F115-7E07-4893-8D92-A3D266C6470A}"/>
              </a:ext>
            </a:extLst>
          </p:cNvPr>
          <p:cNvSpPr txBox="1"/>
          <p:nvPr/>
        </p:nvSpPr>
        <p:spPr>
          <a:xfrm>
            <a:off x="194553" y="5354352"/>
            <a:ext cx="8613640" cy="830997"/>
          </a:xfrm>
          <a:prstGeom prst="rect">
            <a:avLst/>
          </a:prstGeom>
          <a:noFill/>
        </p:spPr>
        <p:txBody>
          <a:bodyPr wrap="square" rtlCol="0">
            <a:spAutoFit/>
          </a:bodyPr>
          <a:lstStyle/>
          <a:p>
            <a:r>
              <a:rPr lang="zh-CN" altLang="en-US" sz="2400" b="1" dirty="0">
                <a:latin typeface="Times New Roman" panose="02020603050405020304" pitchFamily="18" charset="0"/>
                <a:cs typeface="Times New Roman" panose="02020603050405020304" pitchFamily="18" charset="0"/>
              </a:rPr>
              <a:t>路由机制：</a:t>
            </a:r>
            <a:r>
              <a:rPr lang="zh-CN" altLang="en-US" sz="2400" dirty="0">
                <a:solidFill>
                  <a:srgbClr val="FF0000"/>
                </a:solidFill>
                <a:latin typeface="Times New Roman" panose="02020603050405020304" pitchFamily="18" charset="0"/>
                <a:cs typeface="Times New Roman" panose="02020603050405020304" pitchFamily="18" charset="0"/>
              </a:rPr>
              <a:t>存储</a:t>
            </a:r>
            <a:r>
              <a:rPr lang="en-US" altLang="zh-CN" sz="2400" dirty="0">
                <a:solidFill>
                  <a:srgbClr val="FF0000"/>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转发</a:t>
            </a:r>
            <a:r>
              <a:rPr lang="zh-CN" altLang="en-US" sz="2400" dirty="0">
                <a:latin typeface="Times New Roman" panose="02020603050405020304" pitchFamily="18" charset="0"/>
                <a:cs typeface="Times New Roman" panose="02020603050405020304" pitchFamily="18" charset="0"/>
              </a:rPr>
              <a:t>。每个路由器维护一张</a:t>
            </a:r>
            <a:r>
              <a:rPr lang="zh-CN" altLang="en-US" sz="2400" dirty="0">
                <a:solidFill>
                  <a:srgbClr val="FF0000"/>
                </a:solidFill>
                <a:latin typeface="Times New Roman" panose="02020603050405020304" pitchFamily="18" charset="0"/>
                <a:cs typeface="Times New Roman" panose="02020603050405020304" pitchFamily="18" charset="0"/>
              </a:rPr>
              <a:t>路由表</a:t>
            </a:r>
            <a:r>
              <a:rPr lang="zh-CN" altLang="en-US" sz="2400" dirty="0">
                <a:latin typeface="Times New Roman" panose="02020603050405020304" pitchFamily="18" charset="0"/>
                <a:cs typeface="Times New Roman" panose="02020603050405020304" pitchFamily="18" charset="0"/>
              </a:rPr>
              <a:t>，表的每个表项包括：</a:t>
            </a:r>
            <a:r>
              <a:rPr lang="zh-CN" altLang="en-US" sz="2400" b="1" dirty="0">
                <a:latin typeface="Times New Roman" panose="02020603050405020304" pitchFamily="18" charset="0"/>
                <a:cs typeface="Times New Roman" panose="02020603050405020304" pitchFamily="18" charset="0"/>
              </a:rPr>
              <a:t>目的地址和下一跳地址</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21C6F126-ABCF-47DB-9881-776D44F4E79D}"/>
              </a:ext>
            </a:extLst>
          </p:cNvPr>
          <p:cNvSpPr txBox="1"/>
          <p:nvPr/>
        </p:nvSpPr>
        <p:spPr>
          <a:xfrm>
            <a:off x="184412" y="6257273"/>
            <a:ext cx="8613640" cy="461665"/>
          </a:xfrm>
          <a:prstGeom prst="rect">
            <a:avLst/>
          </a:prstGeom>
          <a:noFill/>
        </p:spPr>
        <p:txBody>
          <a:bodyPr wrap="square" rtlCol="0">
            <a:spAutoFit/>
          </a:bodyPr>
          <a:lstStyle/>
          <a:p>
            <a:r>
              <a:rPr lang="zh-CN" altLang="en-US" sz="2400" dirty="0">
                <a:latin typeface="Times New Roman" panose="02020603050405020304" pitchFamily="18" charset="0"/>
                <a:cs typeface="Times New Roman" panose="02020603050405020304" pitchFamily="18" charset="0"/>
              </a:rPr>
              <a:t>路由表动态维护，并根据路由协议选取最优转发路径</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04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750"/>
                                  </p:stCondLst>
                                  <p:childTnLst>
                                    <p:set>
                                      <p:cBhvr>
                                        <p:cTn id="37" dur="1" fill="hold">
                                          <p:stCondLst>
                                            <p:cond delay="0"/>
                                          </p:stCondLst>
                                        </p:cTn>
                                        <p:tgtEl>
                                          <p:spTgt spid="35"/>
                                        </p:tgtEl>
                                        <p:attrNameLst>
                                          <p:attrName>style.visibility</p:attrName>
                                        </p:attrNameLst>
                                      </p:cBhvr>
                                      <p:to>
                                        <p:strVal val="visible"/>
                                      </p:to>
                                    </p:set>
                                  </p:childTnLst>
                                </p:cTn>
                              </p:par>
                            </p:childTnLst>
                          </p:cTn>
                        </p:par>
                        <p:par>
                          <p:cTn id="38" fill="hold">
                            <p:stCondLst>
                              <p:cond delay="750"/>
                            </p:stCondLst>
                            <p:childTnLst>
                              <p:par>
                                <p:cTn id="39" presetID="1" presetClass="entr" presetSubtype="0" fill="hold" nodeType="afterEffect">
                                  <p:stCondLst>
                                    <p:cond delay="75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P spid="27" grpId="0"/>
      <p:bldP spid="28" grpId="0"/>
      <p:bldP spid="32" grpId="0"/>
      <p:bldP spid="46" grpId="0"/>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11</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1092607"/>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传统网络中的路由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地址和</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地址比较</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9ECEFEA6-CE94-4333-AB9C-E8DF67A5D55D}"/>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5" name="组合 4">
            <a:extLst>
              <a:ext uri="{FF2B5EF4-FFF2-40B4-BE49-F238E27FC236}">
                <a16:creationId xmlns:a16="http://schemas.microsoft.com/office/drawing/2014/main" id="{A514382C-0E08-4E5E-804D-6DFF98220627}"/>
              </a:ext>
            </a:extLst>
          </p:cNvPr>
          <p:cNvGrpSpPr/>
          <p:nvPr/>
        </p:nvGrpSpPr>
        <p:grpSpPr>
          <a:xfrm>
            <a:off x="1397390" y="1738262"/>
            <a:ext cx="5685692" cy="526438"/>
            <a:chOff x="1397390" y="1738262"/>
            <a:chExt cx="5685692" cy="526438"/>
          </a:xfrm>
        </p:grpSpPr>
        <p:sp>
          <p:nvSpPr>
            <p:cNvPr id="3" name="矩形 2">
              <a:extLst>
                <a:ext uri="{FF2B5EF4-FFF2-40B4-BE49-F238E27FC236}">
                  <a16:creationId xmlns:a16="http://schemas.microsoft.com/office/drawing/2014/main" id="{5803772D-A2C3-4238-BFE9-B2EE6015B534}"/>
                </a:ext>
              </a:extLst>
            </p:cNvPr>
            <p:cNvSpPr/>
            <p:nvPr/>
          </p:nvSpPr>
          <p:spPr>
            <a:xfrm>
              <a:off x="1397390" y="1739507"/>
              <a:ext cx="2818227" cy="5251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微软雅黑" panose="020B0503020204020204" pitchFamily="34" charset="-122"/>
                  <a:ea typeface="微软雅黑" panose="020B0503020204020204" pitchFamily="34" charset="-122"/>
                </a:rPr>
                <a:t>MAC</a:t>
              </a:r>
              <a:r>
                <a:rPr lang="zh-CN" altLang="en-US" sz="2400" b="1" dirty="0">
                  <a:solidFill>
                    <a:schemeClr val="tx1"/>
                  </a:solidFill>
                  <a:latin typeface="微软雅黑" panose="020B0503020204020204" pitchFamily="34" charset="-122"/>
                  <a:ea typeface="微软雅黑" panose="020B0503020204020204" pitchFamily="34" charset="-122"/>
                </a:rPr>
                <a:t>地址</a:t>
              </a:r>
            </a:p>
          </p:txBody>
        </p:sp>
        <p:sp>
          <p:nvSpPr>
            <p:cNvPr id="31" name="矩形 30">
              <a:extLst>
                <a:ext uri="{FF2B5EF4-FFF2-40B4-BE49-F238E27FC236}">
                  <a16:creationId xmlns:a16="http://schemas.microsoft.com/office/drawing/2014/main" id="{FE37A52A-A673-4485-8D93-5127B7B9D21D}"/>
                </a:ext>
              </a:extLst>
            </p:cNvPr>
            <p:cNvSpPr/>
            <p:nvPr/>
          </p:nvSpPr>
          <p:spPr>
            <a:xfrm>
              <a:off x="4264855" y="1738262"/>
              <a:ext cx="2818227" cy="5251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微软雅黑" panose="020B0503020204020204" pitchFamily="34" charset="-122"/>
                  <a:ea typeface="微软雅黑" panose="020B0503020204020204" pitchFamily="34" charset="-122"/>
                </a:rPr>
                <a:t>IP</a:t>
              </a:r>
              <a:r>
                <a:rPr lang="zh-CN" altLang="en-US" sz="2400" b="1" dirty="0">
                  <a:solidFill>
                    <a:schemeClr val="tx1"/>
                  </a:solidFill>
                  <a:latin typeface="微软雅黑" panose="020B0503020204020204" pitchFamily="34" charset="-122"/>
                  <a:ea typeface="微软雅黑" panose="020B0503020204020204" pitchFamily="34" charset="-122"/>
                </a:rPr>
                <a:t>地址</a:t>
              </a:r>
            </a:p>
          </p:txBody>
        </p:sp>
      </p:grpSp>
      <p:sp>
        <p:nvSpPr>
          <p:cNvPr id="40" name="矩形 39">
            <a:extLst>
              <a:ext uri="{FF2B5EF4-FFF2-40B4-BE49-F238E27FC236}">
                <a16:creationId xmlns:a16="http://schemas.microsoft.com/office/drawing/2014/main" id="{EB89719F-92CF-41C7-8B0C-036A3328603C}"/>
              </a:ext>
            </a:extLst>
          </p:cNvPr>
          <p:cNvSpPr/>
          <p:nvPr/>
        </p:nvSpPr>
        <p:spPr>
          <a:xfrm>
            <a:off x="1397390" y="2363777"/>
            <a:ext cx="2818227" cy="52519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固定的</a:t>
            </a:r>
            <a:r>
              <a:rPr lang="en-US" altLang="zh-CN" sz="2200" b="1" dirty="0">
                <a:solidFill>
                  <a:schemeClr val="tx1"/>
                </a:solidFill>
                <a:latin typeface="微软雅黑" panose="020B0503020204020204" pitchFamily="34" charset="-122"/>
                <a:ea typeface="微软雅黑" panose="020B0503020204020204" pitchFamily="34" charset="-122"/>
              </a:rPr>
              <a:t>(</a:t>
            </a:r>
            <a:r>
              <a:rPr lang="zh-CN" altLang="en-US" sz="2200" b="1" dirty="0">
                <a:solidFill>
                  <a:schemeClr val="tx1"/>
                </a:solidFill>
                <a:latin typeface="微软雅黑" panose="020B0503020204020204" pitchFamily="34" charset="-122"/>
                <a:ea typeface="微软雅黑" panose="020B0503020204020204" pitchFamily="34" charset="-122"/>
              </a:rPr>
              <a:t>身份证</a:t>
            </a:r>
            <a:r>
              <a:rPr lang="en-US" altLang="zh-CN" sz="2200" b="1" dirty="0">
                <a:solidFill>
                  <a:schemeClr val="tx1"/>
                </a:solidFill>
                <a:latin typeface="微软雅黑" panose="020B0503020204020204" pitchFamily="34" charset="-122"/>
                <a:ea typeface="微软雅黑" panose="020B0503020204020204" pitchFamily="34" charset="-122"/>
              </a:rPr>
              <a:t>)</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836C42F6-71F4-4936-BFF3-036212772160}"/>
              </a:ext>
            </a:extLst>
          </p:cNvPr>
          <p:cNvSpPr/>
          <p:nvPr/>
        </p:nvSpPr>
        <p:spPr>
          <a:xfrm>
            <a:off x="4264855" y="2362532"/>
            <a:ext cx="2818227" cy="52519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可变的</a:t>
            </a:r>
            <a:r>
              <a:rPr lang="en-US" altLang="zh-CN" sz="2200" b="1" dirty="0">
                <a:solidFill>
                  <a:schemeClr val="tx1"/>
                </a:solidFill>
                <a:latin typeface="微软雅黑" panose="020B0503020204020204" pitchFamily="34" charset="-122"/>
                <a:ea typeface="微软雅黑" panose="020B0503020204020204" pitchFamily="34" charset="-122"/>
              </a:rPr>
              <a:t>(</a:t>
            </a:r>
            <a:r>
              <a:rPr lang="zh-CN" altLang="en-US" sz="2200" b="1" dirty="0">
                <a:solidFill>
                  <a:schemeClr val="tx1"/>
                </a:solidFill>
                <a:latin typeface="微软雅黑" panose="020B0503020204020204" pitchFamily="34" charset="-122"/>
                <a:ea typeface="微软雅黑" panose="020B0503020204020204" pitchFamily="34" charset="-122"/>
              </a:rPr>
              <a:t>居住住址</a:t>
            </a:r>
            <a:r>
              <a:rPr lang="en-US" altLang="zh-CN" sz="2200" b="1" dirty="0">
                <a:solidFill>
                  <a:schemeClr val="tx1"/>
                </a:solidFill>
                <a:latin typeface="微软雅黑" panose="020B0503020204020204" pitchFamily="34" charset="-122"/>
                <a:ea typeface="微软雅黑" panose="020B0503020204020204" pitchFamily="34" charset="-122"/>
              </a:rPr>
              <a:t>)</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FC4DC20E-6D08-4D38-90CB-587984A5C3C3}"/>
              </a:ext>
            </a:extLst>
          </p:cNvPr>
          <p:cNvSpPr/>
          <p:nvPr/>
        </p:nvSpPr>
        <p:spPr>
          <a:xfrm>
            <a:off x="1397390" y="2947587"/>
            <a:ext cx="2818227" cy="52519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数据链路层</a:t>
            </a:r>
          </a:p>
        </p:txBody>
      </p:sp>
      <p:sp>
        <p:nvSpPr>
          <p:cNvPr id="48" name="矩形 47">
            <a:extLst>
              <a:ext uri="{FF2B5EF4-FFF2-40B4-BE49-F238E27FC236}">
                <a16:creationId xmlns:a16="http://schemas.microsoft.com/office/drawing/2014/main" id="{FB19DCBF-96F1-4794-ABBF-0B744981366D}"/>
              </a:ext>
            </a:extLst>
          </p:cNvPr>
          <p:cNvSpPr/>
          <p:nvPr/>
        </p:nvSpPr>
        <p:spPr>
          <a:xfrm>
            <a:off x="4264855" y="2946342"/>
            <a:ext cx="2818227" cy="52519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网络层</a:t>
            </a:r>
          </a:p>
        </p:txBody>
      </p:sp>
      <p:sp>
        <p:nvSpPr>
          <p:cNvPr id="49" name="矩形 48">
            <a:extLst>
              <a:ext uri="{FF2B5EF4-FFF2-40B4-BE49-F238E27FC236}">
                <a16:creationId xmlns:a16="http://schemas.microsoft.com/office/drawing/2014/main" id="{9B529A3B-EEEA-4498-BC24-CF68ADB514A3}"/>
              </a:ext>
            </a:extLst>
          </p:cNvPr>
          <p:cNvSpPr/>
          <p:nvPr/>
        </p:nvSpPr>
        <p:spPr>
          <a:xfrm>
            <a:off x="1397390" y="3531397"/>
            <a:ext cx="2818227" cy="52519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局域网内</a:t>
            </a:r>
          </a:p>
        </p:txBody>
      </p:sp>
      <p:sp>
        <p:nvSpPr>
          <p:cNvPr id="50" name="矩形 49">
            <a:extLst>
              <a:ext uri="{FF2B5EF4-FFF2-40B4-BE49-F238E27FC236}">
                <a16:creationId xmlns:a16="http://schemas.microsoft.com/office/drawing/2014/main" id="{6D0A2255-2DA9-44D1-A44F-9DA1054963ED}"/>
              </a:ext>
            </a:extLst>
          </p:cNvPr>
          <p:cNvSpPr/>
          <p:nvPr/>
        </p:nvSpPr>
        <p:spPr>
          <a:xfrm>
            <a:off x="4264855" y="3530152"/>
            <a:ext cx="2818227" cy="52519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网络间</a:t>
            </a:r>
          </a:p>
        </p:txBody>
      </p:sp>
      <p:sp>
        <p:nvSpPr>
          <p:cNvPr id="51" name="矩形 50">
            <a:extLst>
              <a:ext uri="{FF2B5EF4-FFF2-40B4-BE49-F238E27FC236}">
                <a16:creationId xmlns:a16="http://schemas.microsoft.com/office/drawing/2014/main" id="{A1976077-29E4-425F-99D8-1A7A8C2A5F97}"/>
              </a:ext>
            </a:extLst>
          </p:cNvPr>
          <p:cNvSpPr/>
          <p:nvPr/>
        </p:nvSpPr>
        <p:spPr>
          <a:xfrm>
            <a:off x="1397390" y="4154422"/>
            <a:ext cx="5685692" cy="5251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400" b="1" dirty="0">
                <a:solidFill>
                  <a:schemeClr val="tx1"/>
                </a:solidFill>
                <a:latin typeface="微软雅黑" panose="020B0503020204020204" pitchFamily="34" charset="-122"/>
                <a:ea typeface="微软雅黑" panose="020B0503020204020204" pitchFamily="34" charset="-122"/>
              </a:rPr>
              <a:t>关系：</a:t>
            </a:r>
          </a:p>
        </p:txBody>
      </p:sp>
      <p:sp>
        <p:nvSpPr>
          <p:cNvPr id="52" name="矩形 51">
            <a:extLst>
              <a:ext uri="{FF2B5EF4-FFF2-40B4-BE49-F238E27FC236}">
                <a16:creationId xmlns:a16="http://schemas.microsoft.com/office/drawing/2014/main" id="{4426F2C8-1DDE-4C4A-AE4E-E552F3C782FD}"/>
              </a:ext>
            </a:extLst>
          </p:cNvPr>
          <p:cNvSpPr/>
          <p:nvPr/>
        </p:nvSpPr>
        <p:spPr>
          <a:xfrm>
            <a:off x="2246141" y="4154421"/>
            <a:ext cx="1589649" cy="525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400" b="1" dirty="0">
                <a:solidFill>
                  <a:srgbClr val="C00000"/>
                </a:solidFill>
                <a:latin typeface="微软雅黑" panose="020B0503020204020204" pitchFamily="34" charset="-122"/>
                <a:ea typeface="微软雅黑" panose="020B0503020204020204" pitchFamily="34" charset="-122"/>
              </a:rPr>
              <a:t>协作关系</a:t>
            </a:r>
          </a:p>
        </p:txBody>
      </p:sp>
    </p:spTree>
    <p:extLst>
      <p:ext uri="{BB962C8B-B14F-4D97-AF65-F5344CB8AC3E}">
        <p14:creationId xmlns:p14="http://schemas.microsoft.com/office/powerpoint/2010/main" val="364242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 grpId="0" animBg="1"/>
      <p:bldP spid="41" grpId="0" animBg="1"/>
      <p:bldP spid="42" grpId="0" animBg="1"/>
      <p:bldP spid="48" grpId="0" animBg="1"/>
      <p:bldP spid="49" grpId="0" animBg="1"/>
      <p:bldP spid="50" grpId="0" animBg="1"/>
      <p:bldP spid="51" grpId="0" animBg="1"/>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12</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地址和</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地址比较</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9ECEFEA6-CE94-4333-AB9C-E8DF67A5D55D}"/>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47" name="文本框 46">
            <a:extLst>
              <a:ext uri="{FF2B5EF4-FFF2-40B4-BE49-F238E27FC236}">
                <a16:creationId xmlns:a16="http://schemas.microsoft.com/office/drawing/2014/main" id="{21C6F126-ABCF-47DB-9881-776D44F4E79D}"/>
              </a:ext>
            </a:extLst>
          </p:cNvPr>
          <p:cNvSpPr txBox="1"/>
          <p:nvPr/>
        </p:nvSpPr>
        <p:spPr>
          <a:xfrm>
            <a:off x="531415" y="1134456"/>
            <a:ext cx="6467261"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例：用户访问百度网</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(www.baidu.com)</a:t>
            </a:r>
          </a:p>
        </p:txBody>
      </p:sp>
      <p:sp>
        <p:nvSpPr>
          <p:cNvPr id="52" name="矩形 51">
            <a:extLst>
              <a:ext uri="{FF2B5EF4-FFF2-40B4-BE49-F238E27FC236}">
                <a16:creationId xmlns:a16="http://schemas.microsoft.com/office/drawing/2014/main" id="{4426F2C8-1DDE-4C4A-AE4E-E552F3C782FD}"/>
              </a:ext>
            </a:extLst>
          </p:cNvPr>
          <p:cNvSpPr/>
          <p:nvPr/>
        </p:nvSpPr>
        <p:spPr>
          <a:xfrm>
            <a:off x="39809" y="1731956"/>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IPA</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35AB079B-9224-4A20-9DBB-57E6A3089699}"/>
              </a:ext>
            </a:extLst>
          </p:cNvPr>
          <p:cNvSpPr/>
          <p:nvPr/>
        </p:nvSpPr>
        <p:spPr>
          <a:xfrm>
            <a:off x="39809" y="2108931"/>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3A04B3E4-6D04-49E4-BD40-9B7B584FA33B}"/>
              </a:ext>
            </a:extLst>
          </p:cNvPr>
          <p:cNvSpPr/>
          <p:nvPr/>
        </p:nvSpPr>
        <p:spPr>
          <a:xfrm>
            <a:off x="39809" y="3097924"/>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527F9E17-B44A-4E15-ABE6-513110139BC3}"/>
              </a:ext>
            </a:extLst>
          </p:cNvPr>
          <p:cNvSpPr/>
          <p:nvPr/>
        </p:nvSpPr>
        <p:spPr>
          <a:xfrm>
            <a:off x="39809" y="3492813"/>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MB</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0C6402CF-C02C-468C-92C8-FA09EABBD1F4}"/>
              </a:ext>
            </a:extLst>
          </p:cNvPr>
          <p:cNvSpPr/>
          <p:nvPr/>
        </p:nvSpPr>
        <p:spPr>
          <a:xfrm>
            <a:off x="18667" y="4544899"/>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IPC</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597E5A9E-A72C-4C13-973E-8CFE28FE4158}"/>
              </a:ext>
            </a:extLst>
          </p:cNvPr>
          <p:cNvSpPr/>
          <p:nvPr/>
        </p:nvSpPr>
        <p:spPr>
          <a:xfrm>
            <a:off x="19554" y="4894232"/>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MC</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69128426-73C1-46C8-8820-B13E2C602A77}"/>
              </a:ext>
            </a:extLst>
          </p:cNvPr>
          <p:cNvSpPr/>
          <p:nvPr/>
        </p:nvSpPr>
        <p:spPr>
          <a:xfrm>
            <a:off x="39809" y="5802344"/>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IPD</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7B5E1CBF-0DF7-4A3C-B7CC-FEDAD3925E2A}"/>
              </a:ext>
            </a:extLst>
          </p:cNvPr>
          <p:cNvSpPr/>
          <p:nvPr/>
        </p:nvSpPr>
        <p:spPr>
          <a:xfrm>
            <a:off x="39809" y="6154044"/>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MD</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7160D2B4-E918-487A-8622-DDE23525539C}"/>
              </a:ext>
            </a:extLst>
          </p:cNvPr>
          <p:cNvGrpSpPr/>
          <p:nvPr/>
        </p:nvGrpSpPr>
        <p:grpSpPr>
          <a:xfrm>
            <a:off x="1618636" y="1750283"/>
            <a:ext cx="2396194" cy="4739867"/>
            <a:chOff x="1617789" y="1947231"/>
            <a:chExt cx="2396194" cy="4739867"/>
          </a:xfrm>
        </p:grpSpPr>
        <p:sp>
          <p:nvSpPr>
            <p:cNvPr id="50" name="矩形 49">
              <a:extLst>
                <a:ext uri="{FF2B5EF4-FFF2-40B4-BE49-F238E27FC236}">
                  <a16:creationId xmlns:a16="http://schemas.microsoft.com/office/drawing/2014/main" id="{6D0A2255-2DA9-44D1-A44F-9DA1054963ED}"/>
                </a:ext>
              </a:extLst>
            </p:cNvPr>
            <p:cNvSpPr/>
            <p:nvPr/>
          </p:nvSpPr>
          <p:spPr>
            <a:xfrm>
              <a:off x="1833489" y="3107304"/>
              <a:ext cx="2180494" cy="11692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本地路由器</a:t>
              </a:r>
            </a:p>
          </p:txBody>
        </p:sp>
        <p:sp>
          <p:nvSpPr>
            <p:cNvPr id="51" name="矩形 50">
              <a:extLst>
                <a:ext uri="{FF2B5EF4-FFF2-40B4-BE49-F238E27FC236}">
                  <a16:creationId xmlns:a16="http://schemas.microsoft.com/office/drawing/2014/main" id="{A1976077-29E4-425F-99D8-1A7A8C2A5F97}"/>
                </a:ext>
              </a:extLst>
            </p:cNvPr>
            <p:cNvSpPr/>
            <p:nvPr/>
          </p:nvSpPr>
          <p:spPr>
            <a:xfrm>
              <a:off x="1833489" y="5963534"/>
              <a:ext cx="2180494" cy="7235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百度服务器</a:t>
              </a:r>
            </a:p>
          </p:txBody>
        </p:sp>
        <p:sp>
          <p:nvSpPr>
            <p:cNvPr id="17" name="矩形 16">
              <a:extLst>
                <a:ext uri="{FF2B5EF4-FFF2-40B4-BE49-F238E27FC236}">
                  <a16:creationId xmlns:a16="http://schemas.microsoft.com/office/drawing/2014/main" id="{F550E6AD-2ED9-45B4-B90C-5120333493F3}"/>
                </a:ext>
              </a:extLst>
            </p:cNvPr>
            <p:cNvSpPr/>
            <p:nvPr/>
          </p:nvSpPr>
          <p:spPr>
            <a:xfrm>
              <a:off x="1833489" y="1947231"/>
              <a:ext cx="2180494" cy="7235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用户</a:t>
              </a:r>
            </a:p>
          </p:txBody>
        </p:sp>
        <p:sp>
          <p:nvSpPr>
            <p:cNvPr id="18" name="矩形 17">
              <a:extLst>
                <a:ext uri="{FF2B5EF4-FFF2-40B4-BE49-F238E27FC236}">
                  <a16:creationId xmlns:a16="http://schemas.microsoft.com/office/drawing/2014/main" id="{CFBF71ED-FBBF-432D-94C7-059413FFAEB0}"/>
                </a:ext>
              </a:extLst>
            </p:cNvPr>
            <p:cNvSpPr/>
            <p:nvPr/>
          </p:nvSpPr>
          <p:spPr>
            <a:xfrm>
              <a:off x="1833489" y="4536818"/>
              <a:ext cx="2180494" cy="116606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骨干网</a:t>
              </a:r>
              <a:r>
                <a:rPr lang="en-US" altLang="zh-CN" sz="2200" b="1" dirty="0">
                  <a:solidFill>
                    <a:schemeClr val="tx1"/>
                  </a:solidFill>
                  <a:latin typeface="微软雅黑" panose="020B0503020204020204" pitchFamily="34" charset="-122"/>
                  <a:ea typeface="微软雅黑" panose="020B0503020204020204" pitchFamily="34" charset="-122"/>
                </a:rPr>
                <a:t>(</a:t>
              </a:r>
              <a:r>
                <a:rPr lang="zh-CN" altLang="en-US" sz="2200" b="1" dirty="0">
                  <a:solidFill>
                    <a:schemeClr val="tx1"/>
                  </a:solidFill>
                  <a:latin typeface="微软雅黑" panose="020B0503020204020204" pitchFamily="34" charset="-122"/>
                  <a:ea typeface="微软雅黑" panose="020B0503020204020204" pitchFamily="34" charset="-122"/>
                </a:rPr>
                <a:t>多跳</a:t>
              </a:r>
              <a:r>
                <a:rPr lang="en-US" altLang="zh-CN" sz="2200" b="1" dirty="0">
                  <a:solidFill>
                    <a:schemeClr val="tx1"/>
                  </a:solidFill>
                  <a:latin typeface="微软雅黑" panose="020B0503020204020204" pitchFamily="34" charset="-122"/>
                  <a:ea typeface="微软雅黑" panose="020B0503020204020204" pitchFamily="34" charset="-122"/>
                </a:rPr>
                <a:t>)</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cxnSp>
          <p:nvCxnSpPr>
            <p:cNvPr id="9" name="直接连接符 8">
              <a:extLst>
                <a:ext uri="{FF2B5EF4-FFF2-40B4-BE49-F238E27FC236}">
                  <a16:creationId xmlns:a16="http://schemas.microsoft.com/office/drawing/2014/main" id="{38D93593-E098-4758-9E10-78C0E936EB80}"/>
                </a:ext>
              </a:extLst>
            </p:cNvPr>
            <p:cNvCxnSpPr>
              <a:stCxn id="17" idx="2"/>
              <a:endCxn id="50" idx="0"/>
            </p:cNvCxnSpPr>
            <p:nvPr/>
          </p:nvCxnSpPr>
          <p:spPr>
            <a:xfrm>
              <a:off x="2923736" y="2670795"/>
              <a:ext cx="0" cy="436509"/>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682DB9A6-0A76-4096-89EA-2C4FF86D8425}"/>
                </a:ext>
              </a:extLst>
            </p:cNvPr>
            <p:cNvSpPr/>
            <p:nvPr/>
          </p:nvSpPr>
          <p:spPr>
            <a:xfrm>
              <a:off x="2236737" y="2713625"/>
              <a:ext cx="739283"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chemeClr val="tx1"/>
                  </a:solidFill>
                  <a:latin typeface="微软雅黑" panose="020B0503020204020204" pitchFamily="34" charset="-122"/>
                  <a:ea typeface="微软雅黑" panose="020B0503020204020204" pitchFamily="34" charset="-122"/>
                </a:rPr>
                <a:t>无线</a:t>
              </a:r>
            </a:p>
          </p:txBody>
        </p:sp>
        <p:cxnSp>
          <p:nvCxnSpPr>
            <p:cNvPr id="36" name="直接连接符 35">
              <a:extLst>
                <a:ext uri="{FF2B5EF4-FFF2-40B4-BE49-F238E27FC236}">
                  <a16:creationId xmlns:a16="http://schemas.microsoft.com/office/drawing/2014/main" id="{76882739-86C4-45DC-A682-A801F38795D7}"/>
                </a:ext>
              </a:extLst>
            </p:cNvPr>
            <p:cNvCxnSpPr>
              <a:cxnSpLocks/>
              <a:stCxn id="50" idx="2"/>
              <a:endCxn id="18" idx="0"/>
            </p:cNvCxnSpPr>
            <p:nvPr/>
          </p:nvCxnSpPr>
          <p:spPr>
            <a:xfrm>
              <a:off x="2923736" y="4276577"/>
              <a:ext cx="0" cy="26024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24BF04A8-BC1C-4D3D-90C5-2F0A1F4EE372}"/>
                </a:ext>
              </a:extLst>
            </p:cNvPr>
            <p:cNvSpPr/>
            <p:nvPr/>
          </p:nvSpPr>
          <p:spPr>
            <a:xfrm>
              <a:off x="1617789" y="4207544"/>
              <a:ext cx="13495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chemeClr val="tx1"/>
                  </a:solidFill>
                  <a:latin typeface="微软雅黑" panose="020B0503020204020204" pitchFamily="34" charset="-122"/>
                  <a:ea typeface="微软雅黑" panose="020B0503020204020204" pitchFamily="34" charset="-122"/>
                </a:rPr>
                <a:t>有线</a:t>
              </a:r>
              <a:r>
                <a:rPr lang="en-US" altLang="zh-CN" sz="2000" b="1" dirty="0">
                  <a:solidFill>
                    <a:schemeClr val="tx1"/>
                  </a:solidFill>
                  <a:latin typeface="微软雅黑" panose="020B0503020204020204" pitchFamily="34" charset="-122"/>
                  <a:ea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rPr>
                <a:t>无线</a:t>
              </a:r>
            </a:p>
          </p:txBody>
        </p:sp>
        <p:cxnSp>
          <p:nvCxnSpPr>
            <p:cNvPr id="43" name="直接连接符 42">
              <a:extLst>
                <a:ext uri="{FF2B5EF4-FFF2-40B4-BE49-F238E27FC236}">
                  <a16:creationId xmlns:a16="http://schemas.microsoft.com/office/drawing/2014/main" id="{EF7EF541-272C-4E39-892E-9E946615E68D}"/>
                </a:ext>
              </a:extLst>
            </p:cNvPr>
            <p:cNvCxnSpPr>
              <a:cxnSpLocks/>
            </p:cNvCxnSpPr>
            <p:nvPr/>
          </p:nvCxnSpPr>
          <p:spPr>
            <a:xfrm>
              <a:off x="2923736" y="5703293"/>
              <a:ext cx="0" cy="26024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EB74420F-4DA4-428C-B23F-CE5717AD6527}"/>
                </a:ext>
              </a:extLst>
            </p:cNvPr>
            <p:cNvSpPr/>
            <p:nvPr/>
          </p:nvSpPr>
          <p:spPr>
            <a:xfrm>
              <a:off x="1626438" y="5650688"/>
              <a:ext cx="13495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chemeClr val="tx1"/>
                  </a:solidFill>
                  <a:latin typeface="微软雅黑" panose="020B0503020204020204" pitchFamily="34" charset="-122"/>
                  <a:ea typeface="微软雅黑" panose="020B0503020204020204" pitchFamily="34" charset="-122"/>
                </a:rPr>
                <a:t>有线</a:t>
              </a:r>
              <a:r>
                <a:rPr lang="en-US" altLang="zh-CN" sz="2000" b="1" dirty="0">
                  <a:solidFill>
                    <a:schemeClr val="tx1"/>
                  </a:solidFill>
                  <a:latin typeface="微软雅黑" panose="020B0503020204020204" pitchFamily="34" charset="-122"/>
                  <a:ea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rPr>
                <a:t>无线</a:t>
              </a:r>
            </a:p>
          </p:txBody>
        </p:sp>
      </p:grpSp>
      <p:sp>
        <p:nvSpPr>
          <p:cNvPr id="45" name="矩形 44">
            <a:extLst>
              <a:ext uri="{FF2B5EF4-FFF2-40B4-BE49-F238E27FC236}">
                <a16:creationId xmlns:a16="http://schemas.microsoft.com/office/drawing/2014/main" id="{8CFF819F-AF8A-43F9-8989-1F4521E69541}"/>
              </a:ext>
            </a:extLst>
          </p:cNvPr>
          <p:cNvSpPr/>
          <p:nvPr/>
        </p:nvSpPr>
        <p:spPr>
          <a:xfrm>
            <a:off x="4051446" y="1882950"/>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rgbClr val="C00000"/>
                </a:solidFill>
                <a:latin typeface="微软雅黑" panose="020B0503020204020204" pitchFamily="34" charset="-122"/>
                <a:ea typeface="微软雅黑" panose="020B0503020204020204" pitchFamily="34" charset="-122"/>
              </a:rPr>
              <a:t>①</a:t>
            </a:r>
          </a:p>
        </p:txBody>
      </p:sp>
      <p:sp>
        <p:nvSpPr>
          <p:cNvPr id="46" name="矩形 45">
            <a:extLst>
              <a:ext uri="{FF2B5EF4-FFF2-40B4-BE49-F238E27FC236}">
                <a16:creationId xmlns:a16="http://schemas.microsoft.com/office/drawing/2014/main" id="{1C0BC9B9-5DB9-4E80-85FD-27333B9A7424}"/>
              </a:ext>
            </a:extLst>
          </p:cNvPr>
          <p:cNvSpPr/>
          <p:nvPr/>
        </p:nvSpPr>
        <p:spPr>
          <a:xfrm>
            <a:off x="4066014" y="3290953"/>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rgbClr val="C00000"/>
                </a:solidFill>
                <a:latin typeface="微软雅黑" panose="020B0503020204020204" pitchFamily="34" charset="-122"/>
                <a:ea typeface="微软雅黑" panose="020B0503020204020204" pitchFamily="34" charset="-122"/>
              </a:rPr>
              <a:t>②</a:t>
            </a:r>
          </a:p>
        </p:txBody>
      </p:sp>
      <p:sp>
        <p:nvSpPr>
          <p:cNvPr id="59" name="矩形 58">
            <a:extLst>
              <a:ext uri="{FF2B5EF4-FFF2-40B4-BE49-F238E27FC236}">
                <a16:creationId xmlns:a16="http://schemas.microsoft.com/office/drawing/2014/main" id="{1042B912-8552-43EE-90A4-6CB7D7F52D5F}"/>
              </a:ext>
            </a:extLst>
          </p:cNvPr>
          <p:cNvSpPr/>
          <p:nvPr/>
        </p:nvSpPr>
        <p:spPr>
          <a:xfrm>
            <a:off x="7739642" y="1912930"/>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rgbClr val="C00000"/>
                </a:solidFill>
                <a:latin typeface="微软雅黑" panose="020B0503020204020204" pitchFamily="34" charset="-122"/>
                <a:ea typeface="微软雅黑" panose="020B0503020204020204" pitchFamily="34" charset="-122"/>
              </a:rPr>
              <a:t>IPA</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62" name="矩形 61">
            <a:extLst>
              <a:ext uri="{FF2B5EF4-FFF2-40B4-BE49-F238E27FC236}">
                <a16:creationId xmlns:a16="http://schemas.microsoft.com/office/drawing/2014/main" id="{ACD0DB29-79D5-4961-8AAA-DCEFE58A8F15}"/>
              </a:ext>
            </a:extLst>
          </p:cNvPr>
          <p:cNvSpPr/>
          <p:nvPr/>
        </p:nvSpPr>
        <p:spPr>
          <a:xfrm>
            <a:off x="7739642" y="2314700"/>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rgbClr val="C00000"/>
                </a:solidFill>
                <a:latin typeface="微软雅黑" panose="020B0503020204020204" pitchFamily="34" charset="-122"/>
                <a:ea typeface="微软雅黑" panose="020B0503020204020204" pitchFamily="34" charset="-122"/>
              </a:rPr>
              <a:t>IPD</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63" name="矩形 62">
            <a:extLst>
              <a:ext uri="{FF2B5EF4-FFF2-40B4-BE49-F238E27FC236}">
                <a16:creationId xmlns:a16="http://schemas.microsoft.com/office/drawing/2014/main" id="{B17EC045-8F9A-488D-8493-D759EE371028}"/>
              </a:ext>
            </a:extLst>
          </p:cNvPr>
          <p:cNvSpPr/>
          <p:nvPr/>
        </p:nvSpPr>
        <p:spPr>
          <a:xfrm>
            <a:off x="7739642" y="2795783"/>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accent6">
                    <a:lumMod val="75000"/>
                  </a:schemeClr>
                </a:solidFill>
                <a:latin typeface="微软雅黑" panose="020B0503020204020204" pitchFamily="34" charset="-122"/>
                <a:ea typeface="微软雅黑" panose="020B0503020204020204" pitchFamily="34" charset="-122"/>
              </a:rPr>
              <a:t>MA</a:t>
            </a:r>
            <a:endParaRPr lang="zh-CN" altLang="en-US" sz="22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64" name="矩形 63">
            <a:extLst>
              <a:ext uri="{FF2B5EF4-FFF2-40B4-BE49-F238E27FC236}">
                <a16:creationId xmlns:a16="http://schemas.microsoft.com/office/drawing/2014/main" id="{B0E072D2-3212-4189-9D55-73FA4E623AEB}"/>
              </a:ext>
            </a:extLst>
          </p:cNvPr>
          <p:cNvSpPr/>
          <p:nvPr/>
        </p:nvSpPr>
        <p:spPr>
          <a:xfrm>
            <a:off x="7739642" y="3269768"/>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accent6">
                    <a:lumMod val="75000"/>
                  </a:schemeClr>
                </a:solidFill>
                <a:latin typeface="微软雅黑" panose="020B0503020204020204" pitchFamily="34" charset="-122"/>
                <a:ea typeface="微软雅黑" panose="020B0503020204020204" pitchFamily="34" charset="-122"/>
              </a:rPr>
              <a:t>MB</a:t>
            </a:r>
            <a:endParaRPr lang="zh-CN" altLang="en-US" sz="2200" b="1" dirty="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9D42DFEF-ECA2-455F-A84A-C661A259F5F4}"/>
              </a:ext>
            </a:extLst>
          </p:cNvPr>
          <p:cNvGrpSpPr/>
          <p:nvPr/>
        </p:nvGrpSpPr>
        <p:grpSpPr>
          <a:xfrm>
            <a:off x="5131467" y="1777505"/>
            <a:ext cx="3405327" cy="1823662"/>
            <a:chOff x="5131467" y="1777505"/>
            <a:chExt cx="3405327" cy="1823662"/>
          </a:xfrm>
        </p:grpSpPr>
        <p:sp>
          <p:nvSpPr>
            <p:cNvPr id="57" name="矩形 56">
              <a:extLst>
                <a:ext uri="{FF2B5EF4-FFF2-40B4-BE49-F238E27FC236}">
                  <a16:creationId xmlns:a16="http://schemas.microsoft.com/office/drawing/2014/main" id="{5681B2F1-A888-4D9F-A0E7-58F3E3EB78A4}"/>
                </a:ext>
              </a:extLst>
            </p:cNvPr>
            <p:cNvSpPr/>
            <p:nvPr/>
          </p:nvSpPr>
          <p:spPr>
            <a:xfrm>
              <a:off x="5652021" y="1777505"/>
              <a:ext cx="2865720" cy="91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源</a:t>
              </a: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目的</a:t>
              </a: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a:t>
              </a:r>
            </a:p>
          </p:txBody>
        </p:sp>
        <p:sp>
          <p:nvSpPr>
            <p:cNvPr id="58" name="矩形 57">
              <a:extLst>
                <a:ext uri="{FF2B5EF4-FFF2-40B4-BE49-F238E27FC236}">
                  <a16:creationId xmlns:a16="http://schemas.microsoft.com/office/drawing/2014/main" id="{D5D15230-1F1B-40C0-8AA5-9125262E019B}"/>
                </a:ext>
              </a:extLst>
            </p:cNvPr>
            <p:cNvSpPr/>
            <p:nvPr/>
          </p:nvSpPr>
          <p:spPr>
            <a:xfrm>
              <a:off x="5671074" y="2689018"/>
              <a:ext cx="2865720" cy="91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源</a:t>
              </a: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目的</a:t>
              </a: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a:t>
              </a:r>
            </a:p>
          </p:txBody>
        </p:sp>
        <p:sp>
          <p:nvSpPr>
            <p:cNvPr id="65" name="矩形 64">
              <a:extLst>
                <a:ext uri="{FF2B5EF4-FFF2-40B4-BE49-F238E27FC236}">
                  <a16:creationId xmlns:a16="http://schemas.microsoft.com/office/drawing/2014/main" id="{B86381A6-A748-4A55-8741-4C65B5299D90}"/>
                </a:ext>
              </a:extLst>
            </p:cNvPr>
            <p:cNvSpPr/>
            <p:nvPr/>
          </p:nvSpPr>
          <p:spPr>
            <a:xfrm>
              <a:off x="5131467" y="1860042"/>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①</a:t>
              </a:r>
            </a:p>
          </p:txBody>
        </p:sp>
      </p:grpSp>
      <p:grpSp>
        <p:nvGrpSpPr>
          <p:cNvPr id="66" name="组合 65">
            <a:extLst>
              <a:ext uri="{FF2B5EF4-FFF2-40B4-BE49-F238E27FC236}">
                <a16:creationId xmlns:a16="http://schemas.microsoft.com/office/drawing/2014/main" id="{DDE6236F-7FD0-495C-A5BB-C7F6A07251B1}"/>
              </a:ext>
            </a:extLst>
          </p:cNvPr>
          <p:cNvGrpSpPr/>
          <p:nvPr/>
        </p:nvGrpSpPr>
        <p:grpSpPr>
          <a:xfrm>
            <a:off x="5131467" y="3719583"/>
            <a:ext cx="3405327" cy="1823662"/>
            <a:chOff x="5131467" y="1777505"/>
            <a:chExt cx="3405327" cy="1823662"/>
          </a:xfrm>
        </p:grpSpPr>
        <p:sp>
          <p:nvSpPr>
            <p:cNvPr id="67" name="矩形 66">
              <a:extLst>
                <a:ext uri="{FF2B5EF4-FFF2-40B4-BE49-F238E27FC236}">
                  <a16:creationId xmlns:a16="http://schemas.microsoft.com/office/drawing/2014/main" id="{CF55ADA7-3AB7-439D-B2FB-B151DFE6A79D}"/>
                </a:ext>
              </a:extLst>
            </p:cNvPr>
            <p:cNvSpPr/>
            <p:nvPr/>
          </p:nvSpPr>
          <p:spPr>
            <a:xfrm>
              <a:off x="5652021" y="1777505"/>
              <a:ext cx="2865720" cy="91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源</a:t>
              </a: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目的</a:t>
              </a: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a:t>
              </a:r>
            </a:p>
          </p:txBody>
        </p:sp>
        <p:sp>
          <p:nvSpPr>
            <p:cNvPr id="68" name="矩形 67">
              <a:extLst>
                <a:ext uri="{FF2B5EF4-FFF2-40B4-BE49-F238E27FC236}">
                  <a16:creationId xmlns:a16="http://schemas.microsoft.com/office/drawing/2014/main" id="{7511E57F-C62C-495E-BCC4-4B1470FA6F7C}"/>
                </a:ext>
              </a:extLst>
            </p:cNvPr>
            <p:cNvSpPr/>
            <p:nvPr/>
          </p:nvSpPr>
          <p:spPr>
            <a:xfrm>
              <a:off x="5671074" y="2689018"/>
              <a:ext cx="2865720" cy="91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源</a:t>
              </a: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目的</a:t>
              </a: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a:t>
              </a:r>
            </a:p>
          </p:txBody>
        </p:sp>
        <p:sp>
          <p:nvSpPr>
            <p:cNvPr id="69" name="矩形 68">
              <a:extLst>
                <a:ext uri="{FF2B5EF4-FFF2-40B4-BE49-F238E27FC236}">
                  <a16:creationId xmlns:a16="http://schemas.microsoft.com/office/drawing/2014/main" id="{A4CDEFA6-6539-434E-AE42-1F0D5CF764A5}"/>
                </a:ext>
              </a:extLst>
            </p:cNvPr>
            <p:cNvSpPr/>
            <p:nvPr/>
          </p:nvSpPr>
          <p:spPr>
            <a:xfrm>
              <a:off x="5131467" y="1860042"/>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②</a:t>
              </a:r>
            </a:p>
          </p:txBody>
        </p:sp>
      </p:grpSp>
      <p:sp>
        <p:nvSpPr>
          <p:cNvPr id="70" name="矩形 69">
            <a:extLst>
              <a:ext uri="{FF2B5EF4-FFF2-40B4-BE49-F238E27FC236}">
                <a16:creationId xmlns:a16="http://schemas.microsoft.com/office/drawing/2014/main" id="{4FAD0015-DE96-4148-9435-F5170DD2AD92}"/>
              </a:ext>
            </a:extLst>
          </p:cNvPr>
          <p:cNvSpPr/>
          <p:nvPr/>
        </p:nvSpPr>
        <p:spPr>
          <a:xfrm>
            <a:off x="7741990" y="3865988"/>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rgbClr val="C00000"/>
                </a:solidFill>
                <a:latin typeface="微软雅黑" panose="020B0503020204020204" pitchFamily="34" charset="-122"/>
                <a:ea typeface="微软雅黑" panose="020B0503020204020204" pitchFamily="34" charset="-122"/>
              </a:rPr>
              <a:t>IPA</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71" name="矩形 70">
            <a:extLst>
              <a:ext uri="{FF2B5EF4-FFF2-40B4-BE49-F238E27FC236}">
                <a16:creationId xmlns:a16="http://schemas.microsoft.com/office/drawing/2014/main" id="{8B69098F-92B0-4ECD-8027-FEE634110129}"/>
              </a:ext>
            </a:extLst>
          </p:cNvPr>
          <p:cNvSpPr/>
          <p:nvPr/>
        </p:nvSpPr>
        <p:spPr>
          <a:xfrm>
            <a:off x="7741990" y="4267758"/>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rgbClr val="C00000"/>
                </a:solidFill>
                <a:latin typeface="微软雅黑" panose="020B0503020204020204" pitchFamily="34" charset="-122"/>
                <a:ea typeface="微软雅黑" panose="020B0503020204020204" pitchFamily="34" charset="-122"/>
              </a:rPr>
              <a:t>IPD</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72" name="矩形 71">
            <a:extLst>
              <a:ext uri="{FF2B5EF4-FFF2-40B4-BE49-F238E27FC236}">
                <a16:creationId xmlns:a16="http://schemas.microsoft.com/office/drawing/2014/main" id="{C42D43AE-D541-40C9-B95D-64E11AF1F0D5}"/>
              </a:ext>
            </a:extLst>
          </p:cNvPr>
          <p:cNvSpPr/>
          <p:nvPr/>
        </p:nvSpPr>
        <p:spPr>
          <a:xfrm>
            <a:off x="7737299" y="4730080"/>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accent6">
                    <a:lumMod val="75000"/>
                  </a:schemeClr>
                </a:solidFill>
                <a:latin typeface="微软雅黑" panose="020B0503020204020204" pitchFamily="34" charset="-122"/>
                <a:ea typeface="微软雅黑" panose="020B0503020204020204" pitchFamily="34" charset="-122"/>
              </a:rPr>
              <a:t>MB</a:t>
            </a:r>
            <a:endParaRPr lang="zh-CN" altLang="en-US" sz="22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3" name="矩形 72">
            <a:extLst>
              <a:ext uri="{FF2B5EF4-FFF2-40B4-BE49-F238E27FC236}">
                <a16:creationId xmlns:a16="http://schemas.microsoft.com/office/drawing/2014/main" id="{00D64537-42C5-45C7-923C-F1788B07BFDB}"/>
              </a:ext>
            </a:extLst>
          </p:cNvPr>
          <p:cNvSpPr/>
          <p:nvPr/>
        </p:nvSpPr>
        <p:spPr>
          <a:xfrm>
            <a:off x="7737299" y="5204065"/>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accent6">
                    <a:lumMod val="75000"/>
                  </a:schemeClr>
                </a:solidFill>
                <a:latin typeface="微软雅黑" panose="020B0503020204020204" pitchFamily="34" charset="-122"/>
                <a:ea typeface="微软雅黑" panose="020B0503020204020204" pitchFamily="34" charset="-122"/>
              </a:rPr>
              <a:t>MC</a:t>
            </a:r>
            <a:endParaRPr lang="zh-CN" altLang="en-US" sz="2200" b="1" dirty="0">
              <a:solidFill>
                <a:schemeClr val="accent6">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826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P spid="19" grpId="0"/>
      <p:bldP spid="20" grpId="0"/>
      <p:bldP spid="21" grpId="0"/>
      <p:bldP spid="26" grpId="0"/>
      <p:bldP spid="27" grpId="0"/>
      <p:bldP spid="32" grpId="0"/>
      <p:bldP spid="33" grpId="0"/>
      <p:bldP spid="45" grpId="0"/>
      <p:bldP spid="46" grpId="0"/>
      <p:bldP spid="59" grpId="0"/>
      <p:bldP spid="62" grpId="0"/>
      <p:bldP spid="63" grpId="0"/>
      <p:bldP spid="64" grpId="0"/>
      <p:bldP spid="70" grpId="0"/>
      <p:bldP spid="71" grpId="0"/>
      <p:bldP spid="72" grpId="0"/>
      <p:bldP spid="7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13</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地址和</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地址比较</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9ECEFEA6-CE94-4333-AB9C-E8DF67A5D55D}"/>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47" name="文本框 46">
            <a:extLst>
              <a:ext uri="{FF2B5EF4-FFF2-40B4-BE49-F238E27FC236}">
                <a16:creationId xmlns:a16="http://schemas.microsoft.com/office/drawing/2014/main" id="{21C6F126-ABCF-47DB-9881-776D44F4E79D}"/>
              </a:ext>
            </a:extLst>
          </p:cNvPr>
          <p:cNvSpPr txBox="1"/>
          <p:nvPr/>
        </p:nvSpPr>
        <p:spPr>
          <a:xfrm>
            <a:off x="531415" y="1134456"/>
            <a:ext cx="6467261"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例：用户访问百度网</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(www.baidu.com)</a:t>
            </a:r>
          </a:p>
        </p:txBody>
      </p:sp>
      <p:sp>
        <p:nvSpPr>
          <p:cNvPr id="52" name="矩形 51">
            <a:extLst>
              <a:ext uri="{FF2B5EF4-FFF2-40B4-BE49-F238E27FC236}">
                <a16:creationId xmlns:a16="http://schemas.microsoft.com/office/drawing/2014/main" id="{4426F2C8-1DDE-4C4A-AE4E-E552F3C782FD}"/>
              </a:ext>
            </a:extLst>
          </p:cNvPr>
          <p:cNvSpPr/>
          <p:nvPr/>
        </p:nvSpPr>
        <p:spPr>
          <a:xfrm>
            <a:off x="39809" y="1731956"/>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IPA</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35AB079B-9224-4A20-9DBB-57E6A3089699}"/>
              </a:ext>
            </a:extLst>
          </p:cNvPr>
          <p:cNvSpPr/>
          <p:nvPr/>
        </p:nvSpPr>
        <p:spPr>
          <a:xfrm>
            <a:off x="39809" y="2108931"/>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3A04B3E4-6D04-49E4-BD40-9B7B584FA33B}"/>
              </a:ext>
            </a:extLst>
          </p:cNvPr>
          <p:cNvSpPr/>
          <p:nvPr/>
        </p:nvSpPr>
        <p:spPr>
          <a:xfrm>
            <a:off x="39809" y="3097924"/>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527F9E17-B44A-4E15-ABE6-513110139BC3}"/>
              </a:ext>
            </a:extLst>
          </p:cNvPr>
          <p:cNvSpPr/>
          <p:nvPr/>
        </p:nvSpPr>
        <p:spPr>
          <a:xfrm>
            <a:off x="39809" y="3492813"/>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MB</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0C6402CF-C02C-468C-92C8-FA09EABBD1F4}"/>
              </a:ext>
            </a:extLst>
          </p:cNvPr>
          <p:cNvSpPr/>
          <p:nvPr/>
        </p:nvSpPr>
        <p:spPr>
          <a:xfrm>
            <a:off x="18667" y="4544899"/>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IPC</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597E5A9E-A72C-4C13-973E-8CFE28FE4158}"/>
              </a:ext>
            </a:extLst>
          </p:cNvPr>
          <p:cNvSpPr/>
          <p:nvPr/>
        </p:nvSpPr>
        <p:spPr>
          <a:xfrm>
            <a:off x="19554" y="4894232"/>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MC</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69128426-73C1-46C8-8820-B13E2C602A77}"/>
              </a:ext>
            </a:extLst>
          </p:cNvPr>
          <p:cNvSpPr/>
          <p:nvPr/>
        </p:nvSpPr>
        <p:spPr>
          <a:xfrm>
            <a:off x="39809" y="5802344"/>
            <a:ext cx="1418542"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rgbClr val="C00000"/>
                </a:solidFill>
                <a:latin typeface="微软雅黑" panose="020B0503020204020204" pitchFamily="34" charset="-122"/>
                <a:ea typeface="微软雅黑" panose="020B0503020204020204" pitchFamily="34" charset="-122"/>
              </a:rPr>
              <a:t>IP</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IPD</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7B5E1CBF-0DF7-4A3C-B7CC-FEDAD3925E2A}"/>
              </a:ext>
            </a:extLst>
          </p:cNvPr>
          <p:cNvSpPr/>
          <p:nvPr/>
        </p:nvSpPr>
        <p:spPr>
          <a:xfrm>
            <a:off x="39809" y="6154044"/>
            <a:ext cx="18147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MAC</a:t>
            </a:r>
            <a:r>
              <a:rPr lang="zh-CN" altLang="en-US" sz="20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accent6">
                    <a:lumMod val="75000"/>
                  </a:schemeClr>
                </a:solidFill>
                <a:latin typeface="微软雅黑" panose="020B0503020204020204" pitchFamily="34" charset="-122"/>
                <a:ea typeface="微软雅黑" panose="020B0503020204020204" pitchFamily="34" charset="-122"/>
              </a:rPr>
              <a:t>MD</a:t>
            </a:r>
            <a:endParaRPr lang="zh-CN" altLang="en-US" sz="2000" b="1" dirty="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7160D2B4-E918-487A-8622-DDE23525539C}"/>
              </a:ext>
            </a:extLst>
          </p:cNvPr>
          <p:cNvGrpSpPr/>
          <p:nvPr/>
        </p:nvGrpSpPr>
        <p:grpSpPr>
          <a:xfrm>
            <a:off x="1618636" y="1750283"/>
            <a:ext cx="2396194" cy="4739867"/>
            <a:chOff x="1617789" y="1947231"/>
            <a:chExt cx="2396194" cy="4739867"/>
          </a:xfrm>
        </p:grpSpPr>
        <p:sp>
          <p:nvSpPr>
            <p:cNvPr id="50" name="矩形 49">
              <a:extLst>
                <a:ext uri="{FF2B5EF4-FFF2-40B4-BE49-F238E27FC236}">
                  <a16:creationId xmlns:a16="http://schemas.microsoft.com/office/drawing/2014/main" id="{6D0A2255-2DA9-44D1-A44F-9DA1054963ED}"/>
                </a:ext>
              </a:extLst>
            </p:cNvPr>
            <p:cNvSpPr/>
            <p:nvPr/>
          </p:nvSpPr>
          <p:spPr>
            <a:xfrm>
              <a:off x="1833489" y="3107304"/>
              <a:ext cx="2180494" cy="11692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本地路由器</a:t>
              </a:r>
            </a:p>
          </p:txBody>
        </p:sp>
        <p:sp>
          <p:nvSpPr>
            <p:cNvPr id="51" name="矩形 50">
              <a:extLst>
                <a:ext uri="{FF2B5EF4-FFF2-40B4-BE49-F238E27FC236}">
                  <a16:creationId xmlns:a16="http://schemas.microsoft.com/office/drawing/2014/main" id="{A1976077-29E4-425F-99D8-1A7A8C2A5F97}"/>
                </a:ext>
              </a:extLst>
            </p:cNvPr>
            <p:cNvSpPr/>
            <p:nvPr/>
          </p:nvSpPr>
          <p:spPr>
            <a:xfrm>
              <a:off x="1833489" y="5963534"/>
              <a:ext cx="2180494" cy="7235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百度服务器</a:t>
              </a:r>
            </a:p>
          </p:txBody>
        </p:sp>
        <p:sp>
          <p:nvSpPr>
            <p:cNvPr id="17" name="矩形 16">
              <a:extLst>
                <a:ext uri="{FF2B5EF4-FFF2-40B4-BE49-F238E27FC236}">
                  <a16:creationId xmlns:a16="http://schemas.microsoft.com/office/drawing/2014/main" id="{F550E6AD-2ED9-45B4-B90C-5120333493F3}"/>
                </a:ext>
              </a:extLst>
            </p:cNvPr>
            <p:cNvSpPr/>
            <p:nvPr/>
          </p:nvSpPr>
          <p:spPr>
            <a:xfrm>
              <a:off x="1833489" y="1947231"/>
              <a:ext cx="2180494" cy="7235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用户</a:t>
              </a:r>
            </a:p>
          </p:txBody>
        </p:sp>
        <p:sp>
          <p:nvSpPr>
            <p:cNvPr id="18" name="矩形 17">
              <a:extLst>
                <a:ext uri="{FF2B5EF4-FFF2-40B4-BE49-F238E27FC236}">
                  <a16:creationId xmlns:a16="http://schemas.microsoft.com/office/drawing/2014/main" id="{CFBF71ED-FBBF-432D-94C7-059413FFAEB0}"/>
                </a:ext>
              </a:extLst>
            </p:cNvPr>
            <p:cNvSpPr/>
            <p:nvPr/>
          </p:nvSpPr>
          <p:spPr>
            <a:xfrm>
              <a:off x="1833489" y="4536818"/>
              <a:ext cx="2180494" cy="116606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骨干网</a:t>
              </a:r>
              <a:r>
                <a:rPr lang="en-US" altLang="zh-CN" sz="2200" b="1" dirty="0">
                  <a:solidFill>
                    <a:schemeClr val="tx1"/>
                  </a:solidFill>
                  <a:latin typeface="微软雅黑" panose="020B0503020204020204" pitchFamily="34" charset="-122"/>
                  <a:ea typeface="微软雅黑" panose="020B0503020204020204" pitchFamily="34" charset="-122"/>
                </a:rPr>
                <a:t>(</a:t>
              </a:r>
              <a:r>
                <a:rPr lang="zh-CN" altLang="en-US" sz="2200" b="1" dirty="0">
                  <a:solidFill>
                    <a:schemeClr val="tx1"/>
                  </a:solidFill>
                  <a:latin typeface="微软雅黑" panose="020B0503020204020204" pitchFamily="34" charset="-122"/>
                  <a:ea typeface="微软雅黑" panose="020B0503020204020204" pitchFamily="34" charset="-122"/>
                </a:rPr>
                <a:t>多跳</a:t>
              </a:r>
              <a:r>
                <a:rPr lang="en-US" altLang="zh-CN" sz="2200" b="1" dirty="0">
                  <a:solidFill>
                    <a:schemeClr val="tx1"/>
                  </a:solidFill>
                  <a:latin typeface="微软雅黑" panose="020B0503020204020204" pitchFamily="34" charset="-122"/>
                  <a:ea typeface="微软雅黑" panose="020B0503020204020204" pitchFamily="34" charset="-122"/>
                </a:rPr>
                <a:t>)</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cxnSp>
          <p:nvCxnSpPr>
            <p:cNvPr id="9" name="直接连接符 8">
              <a:extLst>
                <a:ext uri="{FF2B5EF4-FFF2-40B4-BE49-F238E27FC236}">
                  <a16:creationId xmlns:a16="http://schemas.microsoft.com/office/drawing/2014/main" id="{38D93593-E098-4758-9E10-78C0E936EB80}"/>
                </a:ext>
              </a:extLst>
            </p:cNvPr>
            <p:cNvCxnSpPr>
              <a:stCxn id="17" idx="2"/>
              <a:endCxn id="50" idx="0"/>
            </p:cNvCxnSpPr>
            <p:nvPr/>
          </p:nvCxnSpPr>
          <p:spPr>
            <a:xfrm>
              <a:off x="2923736" y="2670795"/>
              <a:ext cx="0" cy="436509"/>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682DB9A6-0A76-4096-89EA-2C4FF86D8425}"/>
                </a:ext>
              </a:extLst>
            </p:cNvPr>
            <p:cNvSpPr/>
            <p:nvPr/>
          </p:nvSpPr>
          <p:spPr>
            <a:xfrm>
              <a:off x="2236737" y="2713625"/>
              <a:ext cx="739283"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chemeClr val="tx1"/>
                  </a:solidFill>
                  <a:latin typeface="微软雅黑" panose="020B0503020204020204" pitchFamily="34" charset="-122"/>
                  <a:ea typeface="微软雅黑" panose="020B0503020204020204" pitchFamily="34" charset="-122"/>
                </a:rPr>
                <a:t>无线</a:t>
              </a:r>
            </a:p>
          </p:txBody>
        </p:sp>
        <p:cxnSp>
          <p:nvCxnSpPr>
            <p:cNvPr id="36" name="直接连接符 35">
              <a:extLst>
                <a:ext uri="{FF2B5EF4-FFF2-40B4-BE49-F238E27FC236}">
                  <a16:creationId xmlns:a16="http://schemas.microsoft.com/office/drawing/2014/main" id="{76882739-86C4-45DC-A682-A801F38795D7}"/>
                </a:ext>
              </a:extLst>
            </p:cNvPr>
            <p:cNvCxnSpPr>
              <a:cxnSpLocks/>
              <a:stCxn id="50" idx="2"/>
              <a:endCxn id="18" idx="0"/>
            </p:cNvCxnSpPr>
            <p:nvPr/>
          </p:nvCxnSpPr>
          <p:spPr>
            <a:xfrm>
              <a:off x="2923736" y="4276577"/>
              <a:ext cx="0" cy="26024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24BF04A8-BC1C-4D3D-90C5-2F0A1F4EE372}"/>
                </a:ext>
              </a:extLst>
            </p:cNvPr>
            <p:cNvSpPr/>
            <p:nvPr/>
          </p:nvSpPr>
          <p:spPr>
            <a:xfrm>
              <a:off x="1617789" y="4207544"/>
              <a:ext cx="13495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chemeClr val="tx1"/>
                  </a:solidFill>
                  <a:latin typeface="微软雅黑" panose="020B0503020204020204" pitchFamily="34" charset="-122"/>
                  <a:ea typeface="微软雅黑" panose="020B0503020204020204" pitchFamily="34" charset="-122"/>
                </a:rPr>
                <a:t>有线</a:t>
              </a:r>
              <a:r>
                <a:rPr lang="en-US" altLang="zh-CN" sz="2000" b="1" dirty="0">
                  <a:solidFill>
                    <a:schemeClr val="tx1"/>
                  </a:solidFill>
                  <a:latin typeface="微软雅黑" panose="020B0503020204020204" pitchFamily="34" charset="-122"/>
                  <a:ea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rPr>
                <a:t>无线</a:t>
              </a:r>
            </a:p>
          </p:txBody>
        </p:sp>
        <p:cxnSp>
          <p:nvCxnSpPr>
            <p:cNvPr id="43" name="直接连接符 42">
              <a:extLst>
                <a:ext uri="{FF2B5EF4-FFF2-40B4-BE49-F238E27FC236}">
                  <a16:creationId xmlns:a16="http://schemas.microsoft.com/office/drawing/2014/main" id="{EF7EF541-272C-4E39-892E-9E946615E68D}"/>
                </a:ext>
              </a:extLst>
            </p:cNvPr>
            <p:cNvCxnSpPr>
              <a:cxnSpLocks/>
            </p:cNvCxnSpPr>
            <p:nvPr/>
          </p:nvCxnSpPr>
          <p:spPr>
            <a:xfrm>
              <a:off x="2923736" y="5703293"/>
              <a:ext cx="0" cy="26024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EB74420F-4DA4-428C-B23F-CE5717AD6527}"/>
                </a:ext>
              </a:extLst>
            </p:cNvPr>
            <p:cNvSpPr/>
            <p:nvPr/>
          </p:nvSpPr>
          <p:spPr>
            <a:xfrm>
              <a:off x="1626438" y="5650688"/>
              <a:ext cx="1349582" cy="365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chemeClr val="tx1"/>
                  </a:solidFill>
                  <a:latin typeface="微软雅黑" panose="020B0503020204020204" pitchFamily="34" charset="-122"/>
                  <a:ea typeface="微软雅黑" panose="020B0503020204020204" pitchFamily="34" charset="-122"/>
                </a:rPr>
                <a:t>有线</a:t>
              </a:r>
              <a:r>
                <a:rPr lang="en-US" altLang="zh-CN" sz="2000" b="1" dirty="0">
                  <a:solidFill>
                    <a:schemeClr val="tx1"/>
                  </a:solidFill>
                  <a:latin typeface="微软雅黑" panose="020B0503020204020204" pitchFamily="34" charset="-122"/>
                  <a:ea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rPr>
                <a:t>无线</a:t>
              </a:r>
            </a:p>
          </p:txBody>
        </p:sp>
      </p:grpSp>
      <p:sp>
        <p:nvSpPr>
          <p:cNvPr id="45" name="矩形 44">
            <a:extLst>
              <a:ext uri="{FF2B5EF4-FFF2-40B4-BE49-F238E27FC236}">
                <a16:creationId xmlns:a16="http://schemas.microsoft.com/office/drawing/2014/main" id="{8CFF819F-AF8A-43F9-8989-1F4521E69541}"/>
              </a:ext>
            </a:extLst>
          </p:cNvPr>
          <p:cNvSpPr/>
          <p:nvPr/>
        </p:nvSpPr>
        <p:spPr>
          <a:xfrm>
            <a:off x="4051446" y="1882950"/>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rgbClr val="C00000"/>
                </a:solidFill>
                <a:latin typeface="微软雅黑" panose="020B0503020204020204" pitchFamily="34" charset="-122"/>
                <a:ea typeface="微软雅黑" panose="020B0503020204020204" pitchFamily="34" charset="-122"/>
              </a:rPr>
              <a:t>①</a:t>
            </a:r>
          </a:p>
        </p:txBody>
      </p:sp>
      <p:sp>
        <p:nvSpPr>
          <p:cNvPr id="46" name="矩形 45">
            <a:extLst>
              <a:ext uri="{FF2B5EF4-FFF2-40B4-BE49-F238E27FC236}">
                <a16:creationId xmlns:a16="http://schemas.microsoft.com/office/drawing/2014/main" id="{1C0BC9B9-5DB9-4E80-85FD-27333B9A7424}"/>
              </a:ext>
            </a:extLst>
          </p:cNvPr>
          <p:cNvSpPr/>
          <p:nvPr/>
        </p:nvSpPr>
        <p:spPr>
          <a:xfrm>
            <a:off x="4066014" y="3290953"/>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rgbClr val="C00000"/>
                </a:solidFill>
                <a:latin typeface="微软雅黑" panose="020B0503020204020204" pitchFamily="34" charset="-122"/>
                <a:ea typeface="微软雅黑" panose="020B0503020204020204" pitchFamily="34" charset="-122"/>
              </a:rPr>
              <a:t>②</a:t>
            </a:r>
          </a:p>
        </p:txBody>
      </p:sp>
      <p:sp>
        <p:nvSpPr>
          <p:cNvPr id="53" name="矩形 52">
            <a:extLst>
              <a:ext uri="{FF2B5EF4-FFF2-40B4-BE49-F238E27FC236}">
                <a16:creationId xmlns:a16="http://schemas.microsoft.com/office/drawing/2014/main" id="{F56C6DF7-C134-4D10-97CC-EDC1B20A596C}"/>
              </a:ext>
            </a:extLst>
          </p:cNvPr>
          <p:cNvSpPr/>
          <p:nvPr/>
        </p:nvSpPr>
        <p:spPr>
          <a:xfrm>
            <a:off x="4051446" y="4698956"/>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000" b="1" dirty="0">
                <a:solidFill>
                  <a:srgbClr val="C00000"/>
                </a:solidFill>
                <a:latin typeface="微软雅黑" panose="020B0503020204020204" pitchFamily="34" charset="-122"/>
                <a:ea typeface="微软雅黑" panose="020B0503020204020204" pitchFamily="34" charset="-122"/>
              </a:rPr>
              <a:t>③</a:t>
            </a:r>
          </a:p>
        </p:txBody>
      </p:sp>
      <p:sp>
        <p:nvSpPr>
          <p:cNvPr id="59" name="矩形 58">
            <a:extLst>
              <a:ext uri="{FF2B5EF4-FFF2-40B4-BE49-F238E27FC236}">
                <a16:creationId xmlns:a16="http://schemas.microsoft.com/office/drawing/2014/main" id="{1042B912-8552-43EE-90A4-6CB7D7F52D5F}"/>
              </a:ext>
            </a:extLst>
          </p:cNvPr>
          <p:cNvSpPr/>
          <p:nvPr/>
        </p:nvSpPr>
        <p:spPr>
          <a:xfrm>
            <a:off x="7739642" y="1912930"/>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rgbClr val="C00000"/>
                </a:solidFill>
                <a:latin typeface="微软雅黑" panose="020B0503020204020204" pitchFamily="34" charset="-122"/>
                <a:ea typeface="微软雅黑" panose="020B0503020204020204" pitchFamily="34" charset="-122"/>
              </a:rPr>
              <a:t>IPA</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62" name="矩形 61">
            <a:extLst>
              <a:ext uri="{FF2B5EF4-FFF2-40B4-BE49-F238E27FC236}">
                <a16:creationId xmlns:a16="http://schemas.microsoft.com/office/drawing/2014/main" id="{ACD0DB29-79D5-4961-8AAA-DCEFE58A8F15}"/>
              </a:ext>
            </a:extLst>
          </p:cNvPr>
          <p:cNvSpPr/>
          <p:nvPr/>
        </p:nvSpPr>
        <p:spPr>
          <a:xfrm>
            <a:off x="7739642" y="2314700"/>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rgbClr val="C00000"/>
                </a:solidFill>
                <a:latin typeface="微软雅黑" panose="020B0503020204020204" pitchFamily="34" charset="-122"/>
                <a:ea typeface="微软雅黑" panose="020B0503020204020204" pitchFamily="34" charset="-122"/>
              </a:rPr>
              <a:t>IPD</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63" name="矩形 62">
            <a:extLst>
              <a:ext uri="{FF2B5EF4-FFF2-40B4-BE49-F238E27FC236}">
                <a16:creationId xmlns:a16="http://schemas.microsoft.com/office/drawing/2014/main" id="{B17EC045-8F9A-488D-8493-D759EE371028}"/>
              </a:ext>
            </a:extLst>
          </p:cNvPr>
          <p:cNvSpPr/>
          <p:nvPr/>
        </p:nvSpPr>
        <p:spPr>
          <a:xfrm>
            <a:off x="7739642" y="2795783"/>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accent6">
                    <a:lumMod val="75000"/>
                  </a:schemeClr>
                </a:solidFill>
                <a:latin typeface="微软雅黑" panose="020B0503020204020204" pitchFamily="34" charset="-122"/>
                <a:ea typeface="微软雅黑" panose="020B0503020204020204" pitchFamily="34" charset="-122"/>
              </a:rPr>
              <a:t>MC</a:t>
            </a:r>
            <a:endParaRPr lang="zh-CN" altLang="en-US" sz="22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64" name="矩形 63">
            <a:extLst>
              <a:ext uri="{FF2B5EF4-FFF2-40B4-BE49-F238E27FC236}">
                <a16:creationId xmlns:a16="http://schemas.microsoft.com/office/drawing/2014/main" id="{B0E072D2-3212-4189-9D55-73FA4E623AEB}"/>
              </a:ext>
            </a:extLst>
          </p:cNvPr>
          <p:cNvSpPr/>
          <p:nvPr/>
        </p:nvSpPr>
        <p:spPr>
          <a:xfrm>
            <a:off x="7739642" y="3269768"/>
            <a:ext cx="868938" cy="309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accent6">
                    <a:lumMod val="75000"/>
                  </a:schemeClr>
                </a:solidFill>
                <a:latin typeface="微软雅黑" panose="020B0503020204020204" pitchFamily="34" charset="-122"/>
                <a:ea typeface="微软雅黑" panose="020B0503020204020204" pitchFamily="34" charset="-122"/>
              </a:rPr>
              <a:t>MD</a:t>
            </a:r>
            <a:endParaRPr lang="zh-CN" altLang="en-US" sz="2200" b="1" dirty="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9D42DFEF-ECA2-455F-A84A-C661A259F5F4}"/>
              </a:ext>
            </a:extLst>
          </p:cNvPr>
          <p:cNvGrpSpPr/>
          <p:nvPr/>
        </p:nvGrpSpPr>
        <p:grpSpPr>
          <a:xfrm>
            <a:off x="5131467" y="1777505"/>
            <a:ext cx="3405327" cy="1823662"/>
            <a:chOff x="5131467" y="1777505"/>
            <a:chExt cx="3405327" cy="1823662"/>
          </a:xfrm>
        </p:grpSpPr>
        <p:sp>
          <p:nvSpPr>
            <p:cNvPr id="57" name="矩形 56">
              <a:extLst>
                <a:ext uri="{FF2B5EF4-FFF2-40B4-BE49-F238E27FC236}">
                  <a16:creationId xmlns:a16="http://schemas.microsoft.com/office/drawing/2014/main" id="{5681B2F1-A888-4D9F-A0E7-58F3E3EB78A4}"/>
                </a:ext>
              </a:extLst>
            </p:cNvPr>
            <p:cNvSpPr/>
            <p:nvPr/>
          </p:nvSpPr>
          <p:spPr>
            <a:xfrm>
              <a:off x="5652021" y="1777505"/>
              <a:ext cx="2865720" cy="91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源</a:t>
              </a: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目的</a:t>
              </a: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a:t>
              </a:r>
            </a:p>
          </p:txBody>
        </p:sp>
        <p:sp>
          <p:nvSpPr>
            <p:cNvPr id="58" name="矩形 57">
              <a:extLst>
                <a:ext uri="{FF2B5EF4-FFF2-40B4-BE49-F238E27FC236}">
                  <a16:creationId xmlns:a16="http://schemas.microsoft.com/office/drawing/2014/main" id="{D5D15230-1F1B-40C0-8AA5-9125262E019B}"/>
                </a:ext>
              </a:extLst>
            </p:cNvPr>
            <p:cNvSpPr/>
            <p:nvPr/>
          </p:nvSpPr>
          <p:spPr>
            <a:xfrm>
              <a:off x="5671074" y="2689018"/>
              <a:ext cx="2865720" cy="91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源</a:t>
              </a: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zh-CN" altLang="en-US" sz="2200" b="1" dirty="0">
                  <a:solidFill>
                    <a:schemeClr val="tx1"/>
                  </a:solidFill>
                  <a:latin typeface="微软雅黑" panose="020B0503020204020204" pitchFamily="34" charset="-122"/>
                  <a:ea typeface="微软雅黑" panose="020B0503020204020204" pitchFamily="34" charset="-122"/>
                </a:rPr>
                <a:t>目的</a:t>
              </a: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a:t>
              </a:r>
            </a:p>
          </p:txBody>
        </p:sp>
        <p:sp>
          <p:nvSpPr>
            <p:cNvPr id="65" name="矩形 64">
              <a:extLst>
                <a:ext uri="{FF2B5EF4-FFF2-40B4-BE49-F238E27FC236}">
                  <a16:creationId xmlns:a16="http://schemas.microsoft.com/office/drawing/2014/main" id="{B86381A6-A748-4A55-8741-4C65B5299D90}"/>
                </a:ext>
              </a:extLst>
            </p:cNvPr>
            <p:cNvSpPr/>
            <p:nvPr/>
          </p:nvSpPr>
          <p:spPr>
            <a:xfrm>
              <a:off x="5131467" y="1860042"/>
              <a:ext cx="520554" cy="390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b="1" dirty="0">
                  <a:solidFill>
                    <a:schemeClr val="tx1"/>
                  </a:solidFill>
                  <a:latin typeface="微软雅黑" panose="020B0503020204020204" pitchFamily="34" charset="-122"/>
                  <a:ea typeface="微软雅黑" panose="020B0503020204020204" pitchFamily="34" charset="-122"/>
                </a:rPr>
                <a:t>③</a:t>
              </a:r>
            </a:p>
          </p:txBody>
        </p:sp>
      </p:grpSp>
      <p:sp>
        <p:nvSpPr>
          <p:cNvPr id="49" name="矩形 48">
            <a:extLst>
              <a:ext uri="{FF2B5EF4-FFF2-40B4-BE49-F238E27FC236}">
                <a16:creationId xmlns:a16="http://schemas.microsoft.com/office/drawing/2014/main" id="{956E8795-AC3A-4D52-9259-6351641E9E8D}"/>
              </a:ext>
            </a:extLst>
          </p:cNvPr>
          <p:cNvSpPr/>
          <p:nvPr/>
        </p:nvSpPr>
        <p:spPr>
          <a:xfrm>
            <a:off x="5286015" y="3857856"/>
            <a:ext cx="3231726" cy="912149"/>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30000"/>
              </a:lnSpc>
            </a:pPr>
            <a:r>
              <a:rPr lang="en-US" altLang="zh-CN" sz="2200" b="1" dirty="0">
                <a:solidFill>
                  <a:schemeClr val="tx1"/>
                </a:solidFill>
                <a:latin typeface="微软雅黑" panose="020B0503020204020204" pitchFamily="34" charset="-122"/>
                <a:ea typeface="微软雅黑" panose="020B0503020204020204" pitchFamily="34" charset="-122"/>
              </a:rPr>
              <a:t>IP</a:t>
            </a:r>
            <a:r>
              <a:rPr lang="zh-CN" altLang="en-US" sz="2200" b="1" dirty="0">
                <a:solidFill>
                  <a:schemeClr val="tx1"/>
                </a:solidFill>
                <a:latin typeface="微软雅黑" panose="020B0503020204020204" pitchFamily="34" charset="-122"/>
                <a:ea typeface="微软雅黑" panose="020B0503020204020204" pitchFamily="34" charset="-122"/>
              </a:rPr>
              <a:t>地址保持不变，</a:t>
            </a:r>
            <a:endParaRPr lang="en-US" altLang="zh-CN" sz="2200" b="1" dirty="0">
              <a:solidFill>
                <a:schemeClr val="tx1"/>
              </a:solidFill>
              <a:latin typeface="微软雅黑" panose="020B0503020204020204" pitchFamily="34" charset="-122"/>
              <a:ea typeface="微软雅黑" panose="020B0503020204020204" pitchFamily="34" charset="-122"/>
            </a:endParaRPr>
          </a:p>
          <a:p>
            <a:pPr algn="just">
              <a:lnSpc>
                <a:spcPct val="130000"/>
              </a:lnSpc>
            </a:pPr>
            <a:r>
              <a:rPr lang="en-US" altLang="zh-CN" sz="2200" b="1" dirty="0">
                <a:solidFill>
                  <a:schemeClr val="tx1"/>
                </a:solidFill>
                <a:latin typeface="微软雅黑" panose="020B0503020204020204" pitchFamily="34" charset="-122"/>
                <a:ea typeface="微软雅黑" panose="020B0503020204020204" pitchFamily="34" charset="-122"/>
              </a:rPr>
              <a:t>MAC</a:t>
            </a:r>
            <a:r>
              <a:rPr lang="zh-CN" altLang="en-US" sz="2200" b="1" dirty="0">
                <a:solidFill>
                  <a:schemeClr val="tx1"/>
                </a:solidFill>
                <a:latin typeface="微软雅黑" panose="020B0503020204020204" pitchFamily="34" charset="-122"/>
                <a:ea typeface="微软雅黑" panose="020B0503020204020204" pitchFamily="34" charset="-122"/>
              </a:rPr>
              <a:t>地址局域网内有效</a:t>
            </a:r>
          </a:p>
        </p:txBody>
      </p:sp>
    </p:spTree>
    <p:extLst>
      <p:ext uri="{BB962C8B-B14F-4D97-AF65-F5344CB8AC3E}">
        <p14:creationId xmlns:p14="http://schemas.microsoft.com/office/powerpoint/2010/main" val="301277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1000"/>
                                        <p:tgtEl>
                                          <p:spTgt spid="49"/>
                                        </p:tgtEl>
                                      </p:cBhvr>
                                    </p:animEffect>
                                    <p:anim calcmode="lin" valueType="num">
                                      <p:cBhvr>
                                        <p:cTn id="32" dur="1000" fill="hold"/>
                                        <p:tgtEl>
                                          <p:spTgt spid="49"/>
                                        </p:tgtEl>
                                        <p:attrNameLst>
                                          <p:attrName>ppt_x</p:attrName>
                                        </p:attrNameLst>
                                      </p:cBhvr>
                                      <p:tavLst>
                                        <p:tav tm="0">
                                          <p:val>
                                            <p:strVal val="#ppt_x"/>
                                          </p:val>
                                        </p:tav>
                                        <p:tav tm="100000">
                                          <p:val>
                                            <p:strVal val="#ppt_x"/>
                                          </p:val>
                                        </p:tav>
                                      </p:tavLst>
                                    </p:anim>
                                    <p:anim calcmode="lin" valueType="num">
                                      <p:cBhvr>
                                        <p:cTn id="33"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9" grpId="0"/>
      <p:bldP spid="62" grpId="0"/>
      <p:bldP spid="63" grpId="0"/>
      <p:bldP spid="64" grpId="0"/>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14</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1092607"/>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传感器网络中的路由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路由需求</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416860" y="1923602"/>
            <a:ext cx="6241321" cy="4115157"/>
          </a:xfrm>
          <a:prstGeom prst="rect">
            <a:avLst/>
          </a:prstGeom>
        </p:spPr>
      </p:pic>
      <p:sp>
        <p:nvSpPr>
          <p:cNvPr id="5" name="文本框 4"/>
          <p:cNvSpPr txBox="1"/>
          <p:nvPr/>
        </p:nvSpPr>
        <p:spPr>
          <a:xfrm>
            <a:off x="2319456" y="1461937"/>
            <a:ext cx="1415772" cy="461665"/>
          </a:xfrm>
          <a:prstGeom prst="rect">
            <a:avLst/>
          </a:prstGeom>
          <a:noFill/>
        </p:spPr>
        <p:txBody>
          <a:bodyPr wrap="none" rtlCol="0">
            <a:spAutoFit/>
          </a:bodyPr>
          <a:lstStyle/>
          <a:p>
            <a:r>
              <a:rPr lang="zh-CN" altLang="en-US" sz="2400" dirty="0">
                <a:solidFill>
                  <a:srgbClr val="FF0000"/>
                </a:solidFill>
              </a:rPr>
              <a:t>时间驱动</a:t>
            </a:r>
          </a:p>
        </p:txBody>
      </p:sp>
      <p:sp>
        <p:nvSpPr>
          <p:cNvPr id="40" name="文本框 39"/>
          <p:cNvSpPr txBox="1"/>
          <p:nvPr/>
        </p:nvSpPr>
        <p:spPr>
          <a:xfrm>
            <a:off x="5181018" y="1461937"/>
            <a:ext cx="3262432" cy="461665"/>
          </a:xfrm>
          <a:prstGeom prst="rect">
            <a:avLst/>
          </a:prstGeom>
          <a:noFill/>
        </p:spPr>
        <p:txBody>
          <a:bodyPr wrap="none" rtlCol="0">
            <a:spAutoFit/>
          </a:bodyPr>
          <a:lstStyle/>
          <a:p>
            <a:r>
              <a:rPr lang="zh-CN" altLang="en-US" sz="2400" dirty="0">
                <a:solidFill>
                  <a:srgbClr val="FF0000"/>
                </a:solidFill>
              </a:rPr>
              <a:t>事件驱动（异常告警）</a:t>
            </a:r>
          </a:p>
        </p:txBody>
      </p:sp>
      <p:sp>
        <p:nvSpPr>
          <p:cNvPr id="41" name="文本框 40"/>
          <p:cNvSpPr txBox="1"/>
          <p:nvPr/>
        </p:nvSpPr>
        <p:spPr>
          <a:xfrm>
            <a:off x="2248830" y="6077247"/>
            <a:ext cx="1415772" cy="461665"/>
          </a:xfrm>
          <a:prstGeom prst="rect">
            <a:avLst/>
          </a:prstGeom>
          <a:noFill/>
        </p:spPr>
        <p:txBody>
          <a:bodyPr wrap="none" rtlCol="0">
            <a:spAutoFit/>
          </a:bodyPr>
          <a:lstStyle/>
          <a:p>
            <a:r>
              <a:rPr lang="zh-CN" altLang="en-US" sz="2400" dirty="0">
                <a:solidFill>
                  <a:srgbClr val="FF0000"/>
                </a:solidFill>
              </a:rPr>
              <a:t>查询驱动</a:t>
            </a:r>
          </a:p>
        </p:txBody>
      </p:sp>
      <p:sp>
        <p:nvSpPr>
          <p:cNvPr id="42" name="文本框 41"/>
          <p:cNvSpPr txBox="1"/>
          <p:nvPr/>
        </p:nvSpPr>
        <p:spPr>
          <a:xfrm>
            <a:off x="5054636" y="6125517"/>
            <a:ext cx="3262432" cy="461665"/>
          </a:xfrm>
          <a:prstGeom prst="rect">
            <a:avLst/>
          </a:prstGeom>
          <a:noFill/>
        </p:spPr>
        <p:txBody>
          <a:bodyPr wrap="none" rtlCol="0">
            <a:spAutoFit/>
          </a:bodyPr>
          <a:lstStyle/>
          <a:p>
            <a:r>
              <a:rPr lang="zh-CN" altLang="en-US" sz="2400" dirty="0">
                <a:solidFill>
                  <a:srgbClr val="FF0000"/>
                </a:solidFill>
              </a:rPr>
              <a:t>事件驱动（任务跟踪）</a:t>
            </a:r>
          </a:p>
        </p:txBody>
      </p:sp>
      <p:sp>
        <p:nvSpPr>
          <p:cNvPr id="11" name="文本框 10">
            <a:extLst>
              <a:ext uri="{FF2B5EF4-FFF2-40B4-BE49-F238E27FC236}">
                <a16:creationId xmlns:a16="http://schemas.microsoft.com/office/drawing/2014/main" id="{77741CFF-60A5-447B-9208-E478A350CE0A}"/>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45003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800" decel="100000"/>
                                        <p:tgtEl>
                                          <p:spTgt spid="5"/>
                                        </p:tgtEl>
                                      </p:cBhvr>
                                    </p:animEffect>
                                    <p:anim calcmode="lin" valueType="num">
                                      <p:cBhvr>
                                        <p:cTn id="19" dur="800" decel="100000" fill="hold"/>
                                        <p:tgtEl>
                                          <p:spTgt spid="5"/>
                                        </p:tgtEl>
                                        <p:attrNameLst>
                                          <p:attrName>style.rotation</p:attrName>
                                        </p:attrNameLst>
                                      </p:cBhvr>
                                      <p:tavLst>
                                        <p:tav tm="0">
                                          <p:val>
                                            <p:fltVal val="-90"/>
                                          </p:val>
                                        </p:tav>
                                        <p:tav tm="100000">
                                          <p:val>
                                            <p:fltVal val="0"/>
                                          </p:val>
                                        </p:tav>
                                      </p:tavLst>
                                    </p:anim>
                                    <p:anim calcmode="lin" valueType="num">
                                      <p:cBhvr>
                                        <p:cTn id="20" dur="800" decel="100000" fill="hold"/>
                                        <p:tgtEl>
                                          <p:spTgt spid="5"/>
                                        </p:tgtEl>
                                        <p:attrNameLst>
                                          <p:attrName>ppt_x</p:attrName>
                                        </p:attrNameLst>
                                      </p:cBhvr>
                                      <p:tavLst>
                                        <p:tav tm="0">
                                          <p:val>
                                            <p:strVal val="#ppt_x+0.4"/>
                                          </p:val>
                                        </p:tav>
                                        <p:tav tm="100000">
                                          <p:val>
                                            <p:strVal val="#ppt_x-0.05"/>
                                          </p:val>
                                        </p:tav>
                                      </p:tavLst>
                                    </p:anim>
                                    <p:anim calcmode="lin" valueType="num">
                                      <p:cBhvr>
                                        <p:cTn id="21" dur="800" decel="100000" fill="hold"/>
                                        <p:tgtEl>
                                          <p:spTgt spid="5"/>
                                        </p:tgtEl>
                                        <p:attrNameLst>
                                          <p:attrName>ppt_y</p:attrName>
                                        </p:attrNameLst>
                                      </p:cBhvr>
                                      <p:tavLst>
                                        <p:tav tm="0">
                                          <p:val>
                                            <p:strVal val="#ppt_y-0.4"/>
                                          </p:val>
                                        </p:tav>
                                        <p:tav tm="100000">
                                          <p:val>
                                            <p:strVal val="#ppt_y+0.1"/>
                                          </p:val>
                                        </p:tav>
                                      </p:tavLst>
                                    </p:anim>
                                    <p:anim calcmode="lin" valueType="num">
                                      <p:cBhvr>
                                        <p:cTn id="22"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23"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1000"/>
                                        <p:tgtEl>
                                          <p:spTgt spid="41"/>
                                        </p:tgtEl>
                                      </p:cBhvr>
                                    </p:animEffect>
                                    <p:anim calcmode="lin" valueType="num">
                                      <p:cBhvr>
                                        <p:cTn id="29" dur="1000" fill="hold"/>
                                        <p:tgtEl>
                                          <p:spTgt spid="41"/>
                                        </p:tgtEl>
                                        <p:attrNameLst>
                                          <p:attrName>ppt_x</p:attrName>
                                        </p:attrNameLst>
                                      </p:cBhvr>
                                      <p:tavLst>
                                        <p:tav tm="0">
                                          <p:val>
                                            <p:strVal val="#ppt_x"/>
                                          </p:val>
                                        </p:tav>
                                        <p:tav tm="100000">
                                          <p:val>
                                            <p:strVal val="#ppt_x"/>
                                          </p:val>
                                        </p:tav>
                                      </p:tavLst>
                                    </p:anim>
                                    <p:anim calcmode="lin" valueType="num">
                                      <p:cBhvr>
                                        <p:cTn id="3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p:cTn id="35" dur="500" fill="hold"/>
                                        <p:tgtEl>
                                          <p:spTgt spid="40"/>
                                        </p:tgtEl>
                                        <p:attrNameLst>
                                          <p:attrName>ppt_w</p:attrName>
                                        </p:attrNameLst>
                                      </p:cBhvr>
                                      <p:tavLst>
                                        <p:tav tm="0">
                                          <p:val>
                                            <p:fltVal val="0"/>
                                          </p:val>
                                        </p:tav>
                                        <p:tav tm="100000">
                                          <p:val>
                                            <p:strVal val="#ppt_w"/>
                                          </p:val>
                                        </p:tav>
                                      </p:tavLst>
                                    </p:anim>
                                    <p:anim calcmode="lin" valueType="num">
                                      <p:cBhvr>
                                        <p:cTn id="36" dur="500" fill="hold"/>
                                        <p:tgtEl>
                                          <p:spTgt spid="40"/>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37"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1000"/>
                                        <p:tgtEl>
                                          <p:spTgt spid="42"/>
                                        </p:tgtEl>
                                      </p:cBhvr>
                                    </p:animEffect>
                                    <p:anim calcmode="lin" valueType="num">
                                      <p:cBhvr>
                                        <p:cTn id="42" dur="1000" fill="hold"/>
                                        <p:tgtEl>
                                          <p:spTgt spid="42"/>
                                        </p:tgtEl>
                                        <p:attrNameLst>
                                          <p:attrName>ppt_x</p:attrName>
                                        </p:attrNameLst>
                                      </p:cBhvr>
                                      <p:tavLst>
                                        <p:tav tm="0">
                                          <p:val>
                                            <p:strVal val="#ppt_x"/>
                                          </p:val>
                                        </p:tav>
                                        <p:tav tm="100000">
                                          <p:val>
                                            <p:strVal val="#ppt_x"/>
                                          </p:val>
                                        </p:tav>
                                      </p:tavLst>
                                    </p:anim>
                                    <p:anim calcmode="lin" valueType="num">
                                      <p:cBhvr>
                                        <p:cTn id="43" dur="900" decel="100000" fill="hold"/>
                                        <p:tgtEl>
                                          <p:spTgt spid="42"/>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4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0" grpId="0"/>
      <p:bldP spid="41" grpId="0"/>
      <p:bldP spid="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15</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传感器网络路由面临的挑战</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3" name="文本框 2">
            <a:extLst>
              <a:ext uri="{FF2B5EF4-FFF2-40B4-BE49-F238E27FC236}">
                <a16:creationId xmlns:a16="http://schemas.microsoft.com/office/drawing/2014/main" id="{C66CA34E-DB5F-4917-8094-BBBD820AC93A}"/>
              </a:ext>
            </a:extLst>
          </p:cNvPr>
          <p:cNvSpPr txBox="1"/>
          <p:nvPr/>
        </p:nvSpPr>
        <p:spPr>
          <a:xfrm>
            <a:off x="809244" y="1056132"/>
            <a:ext cx="2551176" cy="461665"/>
          </a:xfrm>
          <a:prstGeom prst="rect">
            <a:avLst/>
          </a:prstGeom>
          <a:noFill/>
        </p:spPr>
        <p:txBody>
          <a:bodyPr wrap="square" rtlCol="0">
            <a:spAutoFit/>
          </a:bodyPr>
          <a:lstStyle/>
          <a:p>
            <a:pPr marL="342900" indent="-342900">
              <a:buFont typeface="+mj-ea"/>
              <a:buAutoNum type="circleNumDbPlain"/>
            </a:pPr>
            <a:r>
              <a:rPr lang="zh-CN" altLang="en-US" sz="2400" b="1" dirty="0">
                <a:latin typeface="微软雅黑" panose="020B0503020204020204" pitchFamily="34" charset="-122"/>
                <a:ea typeface="微软雅黑" panose="020B0503020204020204" pitchFamily="34" charset="-122"/>
              </a:rPr>
              <a:t> 能量效率</a:t>
            </a:r>
          </a:p>
        </p:txBody>
      </p:sp>
      <p:sp>
        <p:nvSpPr>
          <p:cNvPr id="28" name="文本框 27">
            <a:extLst>
              <a:ext uri="{FF2B5EF4-FFF2-40B4-BE49-F238E27FC236}">
                <a16:creationId xmlns:a16="http://schemas.microsoft.com/office/drawing/2014/main" id="{E75E2CEE-B54B-4B9C-9F27-4B42A0F3FF82}"/>
              </a:ext>
            </a:extLst>
          </p:cNvPr>
          <p:cNvSpPr txBox="1"/>
          <p:nvPr/>
        </p:nvSpPr>
        <p:spPr>
          <a:xfrm>
            <a:off x="829103" y="2840736"/>
            <a:ext cx="2551176" cy="461665"/>
          </a:xfrm>
          <a:prstGeom prst="rect">
            <a:avLst/>
          </a:prstGeom>
          <a:noFill/>
        </p:spPr>
        <p:txBody>
          <a:bodyPr wrap="square" rtlCol="0">
            <a:spAutoFit/>
          </a:bodyPr>
          <a:lstStyle/>
          <a:p>
            <a:pPr marL="457200" indent="-457200">
              <a:buFont typeface="+mj-ea"/>
              <a:buAutoNum type="circleNumDbPlain" startAt="2"/>
            </a:pPr>
            <a:r>
              <a:rPr lang="zh-CN" altLang="en-US" sz="2400" b="1" dirty="0">
                <a:latin typeface="微软雅黑" panose="020B0503020204020204" pitchFamily="34" charset="-122"/>
                <a:ea typeface="微软雅黑" panose="020B0503020204020204" pitchFamily="34" charset="-122"/>
              </a:rPr>
              <a:t>可扩展性</a:t>
            </a:r>
          </a:p>
        </p:txBody>
      </p:sp>
      <p:sp>
        <p:nvSpPr>
          <p:cNvPr id="33" name="文本框 32">
            <a:extLst>
              <a:ext uri="{FF2B5EF4-FFF2-40B4-BE49-F238E27FC236}">
                <a16:creationId xmlns:a16="http://schemas.microsoft.com/office/drawing/2014/main" id="{77463F52-4922-47F6-A43C-B0A72DD9CA89}"/>
              </a:ext>
            </a:extLst>
          </p:cNvPr>
          <p:cNvSpPr txBox="1"/>
          <p:nvPr/>
        </p:nvSpPr>
        <p:spPr>
          <a:xfrm>
            <a:off x="809244" y="4107349"/>
            <a:ext cx="2551176" cy="461665"/>
          </a:xfrm>
          <a:prstGeom prst="rect">
            <a:avLst/>
          </a:prstGeom>
          <a:noFill/>
        </p:spPr>
        <p:txBody>
          <a:bodyPr wrap="square" rtlCol="0">
            <a:spAutoFit/>
          </a:bodyPr>
          <a:lstStyle/>
          <a:p>
            <a:pPr marL="457200" indent="-457200">
              <a:buFont typeface="+mj-ea"/>
              <a:buAutoNum type="circleNumDbPlain" startAt="3"/>
            </a:pPr>
            <a:r>
              <a:rPr lang="zh-CN" altLang="en-US" sz="2400" b="1" dirty="0">
                <a:latin typeface="微软雅黑" panose="020B0503020204020204" pitchFamily="34" charset="-122"/>
                <a:ea typeface="微软雅黑" panose="020B0503020204020204" pitchFamily="34" charset="-122"/>
              </a:rPr>
              <a:t>定位</a:t>
            </a:r>
          </a:p>
        </p:txBody>
      </p:sp>
      <p:sp>
        <p:nvSpPr>
          <p:cNvPr id="34" name="文本框 33">
            <a:extLst>
              <a:ext uri="{FF2B5EF4-FFF2-40B4-BE49-F238E27FC236}">
                <a16:creationId xmlns:a16="http://schemas.microsoft.com/office/drawing/2014/main" id="{A6CE2F0E-A9EB-4012-A6CD-6AC4EE27278A}"/>
              </a:ext>
            </a:extLst>
          </p:cNvPr>
          <p:cNvSpPr txBox="1"/>
          <p:nvPr/>
        </p:nvSpPr>
        <p:spPr>
          <a:xfrm>
            <a:off x="809244" y="5435316"/>
            <a:ext cx="2551176" cy="461665"/>
          </a:xfrm>
          <a:prstGeom prst="rect">
            <a:avLst/>
          </a:prstGeom>
          <a:noFill/>
        </p:spPr>
        <p:txBody>
          <a:bodyPr wrap="square" rtlCol="0">
            <a:spAutoFit/>
          </a:bodyPr>
          <a:lstStyle/>
          <a:p>
            <a:pPr marL="457200" indent="-457200">
              <a:buFont typeface="+mj-ea"/>
              <a:buAutoNum type="circleNumDbPlain" startAt="4"/>
            </a:pPr>
            <a:r>
              <a:rPr lang="zh-CN" altLang="en-US" sz="2400" b="1" dirty="0">
                <a:latin typeface="微软雅黑" panose="020B0503020204020204" pitchFamily="34" charset="-122"/>
                <a:ea typeface="微软雅黑" panose="020B0503020204020204" pitchFamily="34" charset="-122"/>
              </a:rPr>
              <a:t>稳健性</a:t>
            </a:r>
          </a:p>
        </p:txBody>
      </p:sp>
      <p:sp>
        <p:nvSpPr>
          <p:cNvPr id="35" name="文本框 34">
            <a:extLst>
              <a:ext uri="{FF2B5EF4-FFF2-40B4-BE49-F238E27FC236}">
                <a16:creationId xmlns:a16="http://schemas.microsoft.com/office/drawing/2014/main" id="{3415B537-A160-4D7E-8B43-A0D2EFC150EE}"/>
              </a:ext>
            </a:extLst>
          </p:cNvPr>
          <p:cNvSpPr txBox="1"/>
          <p:nvPr/>
        </p:nvSpPr>
        <p:spPr>
          <a:xfrm>
            <a:off x="2602992" y="1069360"/>
            <a:ext cx="5498592"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 传感器节点能量非常有限</a:t>
            </a:r>
          </a:p>
        </p:txBody>
      </p:sp>
      <p:sp>
        <p:nvSpPr>
          <p:cNvPr id="36" name="文本框 35">
            <a:extLst>
              <a:ext uri="{FF2B5EF4-FFF2-40B4-BE49-F238E27FC236}">
                <a16:creationId xmlns:a16="http://schemas.microsoft.com/office/drawing/2014/main" id="{B9BB6057-4244-47A5-B368-6D5CFEEFFFBE}"/>
              </a:ext>
            </a:extLst>
          </p:cNvPr>
          <p:cNvSpPr txBox="1"/>
          <p:nvPr/>
        </p:nvSpPr>
        <p:spPr>
          <a:xfrm>
            <a:off x="1109519" y="1604901"/>
            <a:ext cx="5498592" cy="430887"/>
          </a:xfrm>
          <a:prstGeom prst="rect">
            <a:avLst/>
          </a:prstGeom>
          <a:noFill/>
        </p:spPr>
        <p:txBody>
          <a:bodyPr wrap="square" rtlCol="0">
            <a:spAutoFit/>
          </a:bodyPr>
          <a:lstStyle/>
          <a:p>
            <a:pPr marL="342900" indent="-342900">
              <a:buFont typeface="Arial" panose="020B0604020202020204" pitchFamily="34" charset="0"/>
              <a:buChar char="•"/>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发现邻居节点带来能量消耗</a:t>
            </a:r>
          </a:p>
        </p:txBody>
      </p:sp>
      <p:sp>
        <p:nvSpPr>
          <p:cNvPr id="37" name="文本框 36">
            <a:extLst>
              <a:ext uri="{FF2B5EF4-FFF2-40B4-BE49-F238E27FC236}">
                <a16:creationId xmlns:a16="http://schemas.microsoft.com/office/drawing/2014/main" id="{6A0CBFA8-C446-4508-981F-FC8DE4AEB52A}"/>
              </a:ext>
            </a:extLst>
          </p:cNvPr>
          <p:cNvSpPr txBox="1"/>
          <p:nvPr/>
        </p:nvSpPr>
        <p:spPr>
          <a:xfrm>
            <a:off x="1109519" y="2051010"/>
            <a:ext cx="5498592" cy="430887"/>
          </a:xfrm>
          <a:prstGeom prst="rect">
            <a:avLst/>
          </a:prstGeom>
          <a:noFill/>
        </p:spPr>
        <p:txBody>
          <a:bodyPr wrap="square" rtlCol="0">
            <a:spAutoFit/>
          </a:bodyPr>
          <a:lstStyle/>
          <a:p>
            <a:pPr marL="342900" indent="-342900">
              <a:buFont typeface="Arial" panose="020B0604020202020204" pitchFamily="34" charset="0"/>
              <a:buChar char="•"/>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传输数据带来的能量消耗</a:t>
            </a:r>
          </a:p>
        </p:txBody>
      </p:sp>
      <p:sp>
        <p:nvSpPr>
          <p:cNvPr id="38" name="文本框 37">
            <a:extLst>
              <a:ext uri="{FF2B5EF4-FFF2-40B4-BE49-F238E27FC236}">
                <a16:creationId xmlns:a16="http://schemas.microsoft.com/office/drawing/2014/main" id="{ED112459-B204-43E9-B5C5-C2AE191BC7E8}"/>
              </a:ext>
            </a:extLst>
          </p:cNvPr>
          <p:cNvSpPr txBox="1"/>
          <p:nvPr/>
        </p:nvSpPr>
        <p:spPr>
          <a:xfrm>
            <a:off x="1109519" y="2459885"/>
            <a:ext cx="5498592" cy="430887"/>
          </a:xfrm>
          <a:prstGeom prst="rect">
            <a:avLst/>
          </a:prstGeom>
          <a:noFill/>
        </p:spPr>
        <p:txBody>
          <a:bodyPr wrap="square" rtlCol="0">
            <a:spAutoFit/>
          </a:bodyPr>
          <a:lstStyle/>
          <a:p>
            <a:pPr marL="342900" indent="-342900">
              <a:buFont typeface="Arial" panose="020B0604020202020204" pitchFamily="34" charset="0"/>
              <a:buChar char="•"/>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计算数据带来的能量消耗</a:t>
            </a:r>
          </a:p>
        </p:txBody>
      </p:sp>
      <p:sp>
        <p:nvSpPr>
          <p:cNvPr id="39" name="文本框 38">
            <a:extLst>
              <a:ext uri="{FF2B5EF4-FFF2-40B4-BE49-F238E27FC236}">
                <a16:creationId xmlns:a16="http://schemas.microsoft.com/office/drawing/2014/main" id="{7001B5C8-46C9-4B3C-97EC-676784206884}"/>
              </a:ext>
            </a:extLst>
          </p:cNvPr>
          <p:cNvSpPr txBox="1"/>
          <p:nvPr/>
        </p:nvSpPr>
        <p:spPr>
          <a:xfrm>
            <a:off x="4706206" y="2464606"/>
            <a:ext cx="3052478" cy="430887"/>
          </a:xfrm>
          <a:prstGeom prst="rect">
            <a:avLst/>
          </a:prstGeom>
          <a:noFill/>
        </p:spPr>
        <p:txBody>
          <a:bodyPr wrap="square" rtlCol="0">
            <a:spAutoFit/>
          </a:bodyPr>
          <a:lstStyle/>
          <a:p>
            <a:r>
              <a:rPr lang="zh-CN" altLang="en-US" sz="2200" b="1" dirty="0">
                <a:solidFill>
                  <a:srgbClr val="C00000"/>
                </a:solidFill>
                <a:latin typeface="微软雅黑" panose="020B0503020204020204" pitchFamily="34" charset="-122"/>
                <a:ea typeface="微软雅黑" panose="020B0503020204020204" pitchFamily="34" charset="-122"/>
              </a:rPr>
              <a:t>传输能耗高于计算能耗</a:t>
            </a:r>
          </a:p>
        </p:txBody>
      </p:sp>
      <p:sp>
        <p:nvSpPr>
          <p:cNvPr id="40" name="文本框 39">
            <a:extLst>
              <a:ext uri="{FF2B5EF4-FFF2-40B4-BE49-F238E27FC236}">
                <a16:creationId xmlns:a16="http://schemas.microsoft.com/office/drawing/2014/main" id="{ACC10CD2-CF45-4AB5-8A2D-F585DF9D299C}"/>
              </a:ext>
            </a:extLst>
          </p:cNvPr>
          <p:cNvSpPr txBox="1"/>
          <p:nvPr/>
        </p:nvSpPr>
        <p:spPr>
          <a:xfrm>
            <a:off x="1319784" y="3308651"/>
            <a:ext cx="5498592"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密集化部署导致节点只有局部信息</a:t>
            </a:r>
          </a:p>
        </p:txBody>
      </p:sp>
      <p:sp>
        <p:nvSpPr>
          <p:cNvPr id="41" name="文本框 40">
            <a:extLst>
              <a:ext uri="{FF2B5EF4-FFF2-40B4-BE49-F238E27FC236}">
                <a16:creationId xmlns:a16="http://schemas.microsoft.com/office/drawing/2014/main" id="{AFA4C8B4-6962-4367-B004-8DC83BD9FBF3}"/>
              </a:ext>
            </a:extLst>
          </p:cNvPr>
          <p:cNvSpPr txBox="1"/>
          <p:nvPr/>
        </p:nvSpPr>
        <p:spPr>
          <a:xfrm>
            <a:off x="1319784" y="3743149"/>
            <a:ext cx="5498592" cy="430887"/>
          </a:xfrm>
          <a:prstGeom prst="rect">
            <a:avLst/>
          </a:prstGeom>
          <a:noFill/>
        </p:spPr>
        <p:txBody>
          <a:bodyPr wrap="square" rtlCol="0">
            <a:spAutoFit/>
          </a:bodyPr>
          <a:lstStyle/>
          <a:p>
            <a:r>
              <a:rPr lang="zh-CN" altLang="en-US" sz="2200" b="1" dirty="0">
                <a:solidFill>
                  <a:srgbClr val="C00000"/>
                </a:solidFill>
                <a:latin typeface="微软雅黑" panose="020B0503020204020204" pitchFamily="34" charset="-122"/>
                <a:ea typeface="微软雅黑" panose="020B0503020204020204" pitchFamily="34" charset="-122"/>
              </a:rPr>
              <a:t>对全分布式路由协议有要求</a:t>
            </a:r>
          </a:p>
        </p:txBody>
      </p:sp>
      <p:sp>
        <p:nvSpPr>
          <p:cNvPr id="42" name="文本框 41">
            <a:extLst>
              <a:ext uri="{FF2B5EF4-FFF2-40B4-BE49-F238E27FC236}">
                <a16:creationId xmlns:a16="http://schemas.microsoft.com/office/drawing/2014/main" id="{9D7FD76A-8E6A-43C4-9724-CCA5EB54E8D5}"/>
              </a:ext>
            </a:extLst>
          </p:cNvPr>
          <p:cNvSpPr txBox="1"/>
          <p:nvPr/>
        </p:nvSpPr>
        <p:spPr>
          <a:xfrm>
            <a:off x="1319831" y="4523310"/>
            <a:ext cx="6781753"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大量节点导致不能为每一个节点部署一个唯一地址</a:t>
            </a:r>
          </a:p>
        </p:txBody>
      </p:sp>
      <p:sp>
        <p:nvSpPr>
          <p:cNvPr id="47" name="文本框 46">
            <a:extLst>
              <a:ext uri="{FF2B5EF4-FFF2-40B4-BE49-F238E27FC236}">
                <a16:creationId xmlns:a16="http://schemas.microsoft.com/office/drawing/2014/main" id="{799C00AA-B634-4A3C-BE62-A0F5C5AA7220}"/>
              </a:ext>
            </a:extLst>
          </p:cNvPr>
          <p:cNvSpPr txBox="1"/>
          <p:nvPr/>
        </p:nvSpPr>
        <p:spPr>
          <a:xfrm>
            <a:off x="1315329" y="4986443"/>
            <a:ext cx="6781753" cy="430887"/>
          </a:xfrm>
          <a:prstGeom prst="rect">
            <a:avLst/>
          </a:prstGeom>
          <a:noFill/>
        </p:spPr>
        <p:txBody>
          <a:bodyPr wrap="square" rtlCol="0">
            <a:spAutoFit/>
          </a:bodyPr>
          <a:lstStyle/>
          <a:p>
            <a:r>
              <a:rPr lang="zh-CN" altLang="en-US" sz="2200" b="1" dirty="0">
                <a:solidFill>
                  <a:srgbClr val="C00000"/>
                </a:solidFill>
                <a:latin typeface="微软雅黑" panose="020B0503020204020204" pitchFamily="34" charset="-122"/>
                <a:ea typeface="微软雅黑" panose="020B0503020204020204" pitchFamily="34" charset="-122"/>
              </a:rPr>
              <a:t>需要以数据为中心的路由协议</a:t>
            </a:r>
          </a:p>
        </p:txBody>
      </p:sp>
      <p:sp>
        <p:nvSpPr>
          <p:cNvPr id="51" name="文本框 50">
            <a:extLst>
              <a:ext uri="{FF2B5EF4-FFF2-40B4-BE49-F238E27FC236}">
                <a16:creationId xmlns:a16="http://schemas.microsoft.com/office/drawing/2014/main" id="{4F46AB42-C362-42F9-A6F4-1CEA7683AC1A}"/>
              </a:ext>
            </a:extLst>
          </p:cNvPr>
          <p:cNvSpPr txBox="1"/>
          <p:nvPr/>
        </p:nvSpPr>
        <p:spPr>
          <a:xfrm>
            <a:off x="1315328" y="5904842"/>
            <a:ext cx="6781753"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避免单点失效</a:t>
            </a:r>
          </a:p>
        </p:txBody>
      </p:sp>
    </p:spTree>
    <p:extLst>
      <p:ext uri="{BB962C8B-B14F-4D97-AF65-F5344CB8AC3E}">
        <p14:creationId xmlns:p14="http://schemas.microsoft.com/office/powerpoint/2010/main" val="98917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2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33"/>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33" grpId="0"/>
      <p:bldP spid="34" grpId="0"/>
      <p:bldP spid="35" grpId="0"/>
      <p:bldP spid="36" grpId="0"/>
      <p:bldP spid="37" grpId="0"/>
      <p:bldP spid="38" grpId="0"/>
      <p:bldP spid="39" grpId="0"/>
      <p:bldP spid="40" grpId="0"/>
      <p:bldP spid="41" grpId="0"/>
      <p:bldP spid="42" grpId="0"/>
      <p:bldP spid="47" grpId="0"/>
      <p:bldP spid="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16</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6163986"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传感器网络路由关注的性能参数</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27" name="文本框 26">
            <a:extLst>
              <a:ext uri="{FF2B5EF4-FFF2-40B4-BE49-F238E27FC236}">
                <a16:creationId xmlns:a16="http://schemas.microsoft.com/office/drawing/2014/main" id="{02CC5E0A-8C31-4FF0-9869-A5EBB3BD8687}"/>
              </a:ext>
            </a:extLst>
          </p:cNvPr>
          <p:cNvSpPr txBox="1"/>
          <p:nvPr/>
        </p:nvSpPr>
        <p:spPr>
          <a:xfrm>
            <a:off x="809244" y="1056132"/>
            <a:ext cx="5948172" cy="461665"/>
          </a:xfrm>
          <a:prstGeom prst="rect">
            <a:avLst/>
          </a:prstGeom>
          <a:noFill/>
        </p:spPr>
        <p:txBody>
          <a:bodyPr wrap="square" rtlCol="0">
            <a:spAutoFit/>
          </a:bodyPr>
          <a:lstStyle/>
          <a:p>
            <a:pPr marL="342900" indent="-342900">
              <a:buFont typeface="+mj-ea"/>
              <a:buAutoNum type="circleNumDbPlain"/>
            </a:pPr>
            <a:r>
              <a:rPr lang="zh-CN" altLang="en-US" sz="2400" b="1" dirty="0">
                <a:latin typeface="微软雅黑" panose="020B0503020204020204" pitchFamily="34" charset="-122"/>
                <a:ea typeface="微软雅黑" panose="020B0503020204020204" pitchFamily="34" charset="-122"/>
              </a:rPr>
              <a:t> 服务质量</a:t>
            </a:r>
            <a:r>
              <a:rPr lang="en-US" altLang="zh-CN" sz="2400" b="1" dirty="0">
                <a:latin typeface="微软雅黑" panose="020B0503020204020204" pitchFamily="34" charset="-122"/>
                <a:ea typeface="微软雅黑" panose="020B0503020204020204" pitchFamily="34" charset="-122"/>
              </a:rPr>
              <a:t>(Quality of Service, QoS)</a:t>
            </a:r>
            <a:endParaRPr lang="zh-CN" altLang="en-US" sz="2400" b="1"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B09E2F23-D94D-4084-82DB-8D53D7441EFF}"/>
              </a:ext>
            </a:extLst>
          </p:cNvPr>
          <p:cNvSpPr txBox="1"/>
          <p:nvPr/>
        </p:nvSpPr>
        <p:spPr>
          <a:xfrm>
            <a:off x="809244" y="2461260"/>
            <a:ext cx="5948172" cy="461665"/>
          </a:xfrm>
          <a:prstGeom prst="rect">
            <a:avLst/>
          </a:prstGeom>
          <a:noFill/>
        </p:spPr>
        <p:txBody>
          <a:bodyPr wrap="square" rtlCol="0">
            <a:spAutoFit/>
          </a:bodyPr>
          <a:lstStyle/>
          <a:p>
            <a:pPr marL="457200" indent="-457200">
              <a:buFont typeface="+mj-ea"/>
              <a:buAutoNum type="circleNumDbPlain" startAt="2"/>
            </a:pPr>
            <a:r>
              <a:rPr lang="zh-CN" altLang="en-US" sz="2400" b="1" dirty="0">
                <a:latin typeface="微软雅黑" panose="020B0503020204020204" pitchFamily="34" charset="-122"/>
                <a:ea typeface="微软雅黑" panose="020B0503020204020204" pitchFamily="34" charset="-122"/>
              </a:rPr>
              <a:t> 最小跳数</a:t>
            </a:r>
          </a:p>
        </p:txBody>
      </p:sp>
      <p:sp>
        <p:nvSpPr>
          <p:cNvPr id="33" name="文本框 32">
            <a:extLst>
              <a:ext uri="{FF2B5EF4-FFF2-40B4-BE49-F238E27FC236}">
                <a16:creationId xmlns:a16="http://schemas.microsoft.com/office/drawing/2014/main" id="{2F0BA95D-EAEB-48D6-9FEE-CFBCD14134C4}"/>
              </a:ext>
            </a:extLst>
          </p:cNvPr>
          <p:cNvSpPr txBox="1"/>
          <p:nvPr/>
        </p:nvSpPr>
        <p:spPr>
          <a:xfrm>
            <a:off x="1121664" y="1567381"/>
            <a:ext cx="5498592"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 端到端时延</a:t>
            </a:r>
          </a:p>
        </p:txBody>
      </p:sp>
      <p:sp>
        <p:nvSpPr>
          <p:cNvPr id="34" name="文本框 33">
            <a:extLst>
              <a:ext uri="{FF2B5EF4-FFF2-40B4-BE49-F238E27FC236}">
                <a16:creationId xmlns:a16="http://schemas.microsoft.com/office/drawing/2014/main" id="{2B607BA3-9962-4E8F-8DA4-9E678F1F0553}"/>
              </a:ext>
            </a:extLst>
          </p:cNvPr>
          <p:cNvSpPr txBox="1"/>
          <p:nvPr/>
        </p:nvSpPr>
        <p:spPr>
          <a:xfrm>
            <a:off x="1121664" y="2047852"/>
            <a:ext cx="5498592"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 吞吐量</a:t>
            </a:r>
          </a:p>
        </p:txBody>
      </p:sp>
      <p:sp>
        <p:nvSpPr>
          <p:cNvPr id="35" name="文本框 34">
            <a:extLst>
              <a:ext uri="{FF2B5EF4-FFF2-40B4-BE49-F238E27FC236}">
                <a16:creationId xmlns:a16="http://schemas.microsoft.com/office/drawing/2014/main" id="{C4569BF7-D012-438C-BC10-ECF65A6314AB}"/>
              </a:ext>
            </a:extLst>
          </p:cNvPr>
          <p:cNvSpPr txBox="1"/>
          <p:nvPr/>
        </p:nvSpPr>
        <p:spPr>
          <a:xfrm>
            <a:off x="809244" y="3349632"/>
            <a:ext cx="5948172" cy="461665"/>
          </a:xfrm>
          <a:prstGeom prst="rect">
            <a:avLst/>
          </a:prstGeom>
          <a:noFill/>
        </p:spPr>
        <p:txBody>
          <a:bodyPr wrap="square" rtlCol="0">
            <a:spAutoFit/>
          </a:bodyPr>
          <a:lstStyle/>
          <a:p>
            <a:pPr marL="457200" indent="-457200">
              <a:buFont typeface="+mj-ea"/>
              <a:buAutoNum type="circleNumDbPlain" startAt="3"/>
            </a:pPr>
            <a:r>
              <a:rPr lang="zh-CN" altLang="en-US" sz="2400" b="1" dirty="0">
                <a:latin typeface="微软雅黑" panose="020B0503020204020204" pitchFamily="34" charset="-122"/>
                <a:ea typeface="微软雅黑" panose="020B0503020204020204" pitchFamily="34" charset="-122"/>
              </a:rPr>
              <a:t> 能量消耗相关</a:t>
            </a:r>
          </a:p>
        </p:txBody>
      </p:sp>
      <p:sp>
        <p:nvSpPr>
          <p:cNvPr id="36" name="文本框 35">
            <a:extLst>
              <a:ext uri="{FF2B5EF4-FFF2-40B4-BE49-F238E27FC236}">
                <a16:creationId xmlns:a16="http://schemas.microsoft.com/office/drawing/2014/main" id="{F9F41A11-FF17-42D1-AD8D-B4CDF2A6302B}"/>
              </a:ext>
            </a:extLst>
          </p:cNvPr>
          <p:cNvSpPr txBox="1"/>
          <p:nvPr/>
        </p:nvSpPr>
        <p:spPr>
          <a:xfrm>
            <a:off x="1240536" y="2919162"/>
            <a:ext cx="5498592"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一般而言会有更低的端到端延时及资源消耗</a:t>
            </a:r>
          </a:p>
        </p:txBody>
      </p:sp>
      <p:sp>
        <p:nvSpPr>
          <p:cNvPr id="37" name="文本框 36">
            <a:extLst>
              <a:ext uri="{FF2B5EF4-FFF2-40B4-BE49-F238E27FC236}">
                <a16:creationId xmlns:a16="http://schemas.microsoft.com/office/drawing/2014/main" id="{C79159A2-6A3C-471F-83E3-B3D951B30DC5}"/>
              </a:ext>
            </a:extLst>
          </p:cNvPr>
          <p:cNvSpPr txBox="1"/>
          <p:nvPr/>
        </p:nvSpPr>
        <p:spPr>
          <a:xfrm>
            <a:off x="1240536" y="3866388"/>
            <a:ext cx="7514844"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数据包分发所需最低能耗 </a:t>
            </a:r>
            <a:r>
              <a:rPr lang="en-US" altLang="zh-CN" sz="2200" b="1" dirty="0">
                <a:solidFill>
                  <a:schemeClr val="accent5">
                    <a:lumMod val="75000"/>
                  </a:schemeClr>
                </a:solidFill>
                <a:latin typeface="微软雅黑" panose="020B0503020204020204" pitchFamily="34" charset="-122"/>
                <a:ea typeface="微软雅黑" panose="020B0503020204020204" pitchFamily="34" charset="-122"/>
              </a:rPr>
              <a:t>(Minimum energy per packet )</a:t>
            </a:r>
            <a:endParaRPr lang="zh-CN" altLang="en-US" sz="22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7C48D5DA-EA67-47E8-941F-039C80E69DB8}"/>
              </a:ext>
            </a:extLst>
          </p:cNvPr>
          <p:cNvSpPr txBox="1"/>
          <p:nvPr/>
        </p:nvSpPr>
        <p:spPr>
          <a:xfrm>
            <a:off x="1240536" y="4352366"/>
            <a:ext cx="7647432" cy="769441"/>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网络支撑时间最长能耗</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endParaRPr>
          </a:p>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 </a:t>
            </a:r>
            <a:r>
              <a:rPr lang="en-US" altLang="zh-CN" sz="2200" b="1" dirty="0">
                <a:solidFill>
                  <a:schemeClr val="accent5">
                    <a:lumMod val="75000"/>
                  </a:schemeClr>
                </a:solidFill>
                <a:latin typeface="微软雅黑" panose="020B0503020204020204" pitchFamily="34" charset="-122"/>
                <a:ea typeface="微软雅黑" panose="020B0503020204020204" pitchFamily="34" charset="-122"/>
              </a:rPr>
              <a:t>(Maximum time to network partition)</a:t>
            </a:r>
            <a:endParaRPr lang="zh-CN" altLang="en-US" sz="22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265EBDA1-BB97-4EBA-8237-76B46BC5DF1B}"/>
              </a:ext>
            </a:extLst>
          </p:cNvPr>
          <p:cNvSpPr txBox="1"/>
          <p:nvPr/>
        </p:nvSpPr>
        <p:spPr>
          <a:xfrm>
            <a:off x="1210103" y="5176898"/>
            <a:ext cx="7521850" cy="430887"/>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链路剩余能量最高 </a:t>
            </a:r>
            <a:r>
              <a:rPr lang="en-US" altLang="zh-CN" sz="2200" b="1" dirty="0">
                <a:solidFill>
                  <a:schemeClr val="accent5">
                    <a:lumMod val="75000"/>
                  </a:schemeClr>
                </a:solidFill>
                <a:latin typeface="微软雅黑" panose="020B0503020204020204" pitchFamily="34" charset="-122"/>
                <a:ea typeface="微软雅黑" panose="020B0503020204020204" pitchFamily="34" charset="-122"/>
              </a:rPr>
              <a:t>(Maximum average energy capacity)</a:t>
            </a:r>
            <a:endParaRPr lang="zh-CN" altLang="en-US" sz="22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0C1E649B-1955-4C27-970F-A06FF501D594}"/>
              </a:ext>
            </a:extLst>
          </p:cNvPr>
          <p:cNvSpPr txBox="1"/>
          <p:nvPr/>
        </p:nvSpPr>
        <p:spPr>
          <a:xfrm>
            <a:off x="1240536" y="5662876"/>
            <a:ext cx="7647432" cy="769441"/>
          </a:xfrm>
          <a:prstGeom prst="rect">
            <a:avLst/>
          </a:prstGeom>
          <a:noFill/>
        </p:spPr>
        <p:txBody>
          <a:bodyPr wrap="square" rtlCol="0">
            <a:spAutoFit/>
          </a:bodyPr>
          <a:lstStyle/>
          <a:p>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链路能量最低节点最大化 </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endParaRPr>
          </a:p>
          <a:p>
            <a:r>
              <a:rPr lang="en-US" altLang="zh-CN" sz="2200" b="1" dirty="0">
                <a:solidFill>
                  <a:schemeClr val="accent5">
                    <a:lumMod val="75000"/>
                  </a:schemeClr>
                </a:solidFill>
                <a:latin typeface="微软雅黑" panose="020B0503020204020204" pitchFamily="34" charset="-122"/>
                <a:ea typeface="微软雅黑" panose="020B0503020204020204" pitchFamily="34" charset="-122"/>
              </a:rPr>
              <a:t>(Maximum minimum energy capacity)</a:t>
            </a:r>
            <a:endParaRPr lang="zh-CN" altLang="en-US" sz="2200" b="1"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5496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3" grpId="0"/>
      <p:bldP spid="34" grpId="0"/>
      <p:bldP spid="35" grpId="0"/>
      <p:bldP spid="36" grpId="0"/>
      <p:bldP spid="37" grpId="0"/>
      <p:bldP spid="38" grpId="0"/>
      <p:bldP spid="39" grpId="0"/>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17</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256447" y="1007066"/>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7" name="直接箭头连接符 96">
            <a:extLst>
              <a:ext uri="{FF2B5EF4-FFF2-40B4-BE49-F238E27FC236}">
                <a16:creationId xmlns:a16="http://schemas.microsoft.com/office/drawing/2014/main" id="{CA767791-A78B-491C-BF5A-D161086DD022}"/>
              </a:ext>
            </a:extLst>
          </p:cNvPr>
          <p:cNvCxnSpPr>
            <a:cxnSpLocks/>
          </p:cNvCxnSpPr>
          <p:nvPr/>
        </p:nvCxnSpPr>
        <p:spPr>
          <a:xfrm flipV="1">
            <a:off x="1718116" y="2793374"/>
            <a:ext cx="396981" cy="3470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B59ADDE5-BB02-41E3-B773-6A48C3289DFD}"/>
              </a:ext>
            </a:extLst>
          </p:cNvPr>
          <p:cNvSpPr txBox="1"/>
          <p:nvPr/>
        </p:nvSpPr>
        <p:spPr>
          <a:xfrm>
            <a:off x="353698" y="2533348"/>
            <a:ext cx="1341009" cy="769441"/>
          </a:xfrm>
          <a:prstGeom prst="rect">
            <a:avLst/>
          </a:prstGeom>
          <a:noFill/>
        </p:spPr>
        <p:txBody>
          <a:bodyPr wrap="square" rtlCol="0">
            <a:spAutoFit/>
          </a:bodyPr>
          <a:lstStyle/>
          <a:p>
            <a:pP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传播数据能量成本</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1E9AE387-8473-40B1-929C-91B63071DFA1}"/>
              </a:ext>
            </a:extLst>
          </p:cNvPr>
          <p:cNvCxnSpPr>
            <a:cxnSpLocks/>
            <a:stCxn id="103" idx="3"/>
          </p:cNvCxnSpPr>
          <p:nvPr/>
        </p:nvCxnSpPr>
        <p:spPr>
          <a:xfrm flipV="1">
            <a:off x="2177988" y="2020572"/>
            <a:ext cx="351577" cy="502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F8A9613E-E034-429B-8B54-5AFCF74C11BC}"/>
              </a:ext>
            </a:extLst>
          </p:cNvPr>
          <p:cNvSpPr txBox="1"/>
          <p:nvPr/>
        </p:nvSpPr>
        <p:spPr>
          <a:xfrm>
            <a:off x="1155211" y="1686097"/>
            <a:ext cx="1022777"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节点剩余能量</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5DE42FAB-24FE-4A74-AFB6-10C8A68CD3ED}"/>
              </a:ext>
            </a:extLst>
          </p:cNvPr>
          <p:cNvCxnSpPr>
            <a:cxnSpLocks/>
          </p:cNvCxnSpPr>
          <p:nvPr/>
        </p:nvCxnSpPr>
        <p:spPr>
          <a:xfrm flipV="1">
            <a:off x="2185248" y="2563935"/>
            <a:ext cx="426183" cy="620974"/>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AE4CD0B-3E04-47BA-B1E6-662251FEFA42}"/>
              </a:ext>
            </a:extLst>
          </p:cNvPr>
          <p:cNvCxnSpPr>
            <a:cxnSpLocks/>
          </p:cNvCxnSpPr>
          <p:nvPr/>
        </p:nvCxnSpPr>
        <p:spPr>
          <a:xfrm flipV="1">
            <a:off x="2958749" y="2371222"/>
            <a:ext cx="1733987" cy="51523"/>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5B4267E-A4A6-4855-B6CF-119B4CE62757}"/>
              </a:ext>
            </a:extLst>
          </p:cNvPr>
          <p:cNvCxnSpPr>
            <a:cxnSpLocks/>
          </p:cNvCxnSpPr>
          <p:nvPr/>
        </p:nvCxnSpPr>
        <p:spPr>
          <a:xfrm>
            <a:off x="5093717" y="2457787"/>
            <a:ext cx="614500" cy="58305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71A859C4-A49B-4AB8-B6B4-C1523B78642B}"/>
              </a:ext>
            </a:extLst>
          </p:cNvPr>
          <p:cNvCxnSpPr>
            <a:cxnSpLocks/>
          </p:cNvCxnSpPr>
          <p:nvPr/>
        </p:nvCxnSpPr>
        <p:spPr>
          <a:xfrm>
            <a:off x="6023964" y="3321088"/>
            <a:ext cx="1532021" cy="26199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3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1000"/>
                                  </p:stCondLst>
                                  <p:childTnLst>
                                    <p:set>
                                      <p:cBhvr>
                                        <p:cTn id="21" dur="1" fill="hold">
                                          <p:stCondLst>
                                            <p:cond delay="0"/>
                                          </p:stCondLst>
                                        </p:cTn>
                                        <p:tgtEl>
                                          <p:spTgt spid="88"/>
                                        </p:tgtEl>
                                        <p:attrNameLst>
                                          <p:attrName>style.visibility</p:attrName>
                                        </p:attrNameLst>
                                      </p:cBhvr>
                                      <p:to>
                                        <p:strVal val="visible"/>
                                      </p:to>
                                    </p:set>
                                  </p:childTnLst>
                                </p:cTn>
                              </p:par>
                            </p:childTnLst>
                          </p:cTn>
                        </p:par>
                        <p:par>
                          <p:cTn id="22" fill="hold">
                            <p:stCondLst>
                              <p:cond delay="1000"/>
                            </p:stCondLst>
                            <p:childTnLst>
                              <p:par>
                                <p:cTn id="23" presetID="1" presetClass="entr" presetSubtype="0" fill="hold" nodeType="afterEffect">
                                  <p:stCondLst>
                                    <p:cond delay="1000"/>
                                  </p:stCondLst>
                                  <p:childTnLst>
                                    <p:set>
                                      <p:cBhvr>
                                        <p:cTn id="24" dur="1" fill="hold">
                                          <p:stCondLst>
                                            <p:cond delay="0"/>
                                          </p:stCondLst>
                                        </p:cTn>
                                        <p:tgtEl>
                                          <p:spTgt spid="96"/>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nodeType="afterEffect">
                                  <p:stCondLst>
                                    <p:cond delay="1000"/>
                                  </p:stCondLst>
                                  <p:childTnLst>
                                    <p:set>
                                      <p:cBhvr>
                                        <p:cTn id="27"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18</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256447" y="1007066"/>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7" name="直接箭头连接符 96">
            <a:extLst>
              <a:ext uri="{FF2B5EF4-FFF2-40B4-BE49-F238E27FC236}">
                <a16:creationId xmlns:a16="http://schemas.microsoft.com/office/drawing/2014/main" id="{CA767791-A78B-491C-BF5A-D161086DD022}"/>
              </a:ext>
            </a:extLst>
          </p:cNvPr>
          <p:cNvCxnSpPr>
            <a:cxnSpLocks/>
          </p:cNvCxnSpPr>
          <p:nvPr/>
        </p:nvCxnSpPr>
        <p:spPr>
          <a:xfrm flipV="1">
            <a:off x="1718116" y="2793374"/>
            <a:ext cx="396981" cy="3470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B59ADDE5-BB02-41E3-B773-6A48C3289DFD}"/>
              </a:ext>
            </a:extLst>
          </p:cNvPr>
          <p:cNvSpPr txBox="1"/>
          <p:nvPr/>
        </p:nvSpPr>
        <p:spPr>
          <a:xfrm>
            <a:off x="353698" y="2533348"/>
            <a:ext cx="1341009" cy="769441"/>
          </a:xfrm>
          <a:prstGeom prst="rect">
            <a:avLst/>
          </a:prstGeom>
          <a:noFill/>
        </p:spPr>
        <p:txBody>
          <a:bodyPr wrap="square" rtlCol="0">
            <a:spAutoFit/>
          </a:bodyPr>
          <a:lstStyle/>
          <a:p>
            <a:pP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传播数据能量成本</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1E9AE387-8473-40B1-929C-91B63071DFA1}"/>
              </a:ext>
            </a:extLst>
          </p:cNvPr>
          <p:cNvCxnSpPr>
            <a:cxnSpLocks/>
            <a:stCxn id="103" idx="3"/>
          </p:cNvCxnSpPr>
          <p:nvPr/>
        </p:nvCxnSpPr>
        <p:spPr>
          <a:xfrm flipV="1">
            <a:off x="2177988" y="2020572"/>
            <a:ext cx="351577" cy="502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F8A9613E-E034-429B-8B54-5AFCF74C11BC}"/>
              </a:ext>
            </a:extLst>
          </p:cNvPr>
          <p:cNvSpPr txBox="1"/>
          <p:nvPr/>
        </p:nvSpPr>
        <p:spPr>
          <a:xfrm>
            <a:off x="1155211" y="1686097"/>
            <a:ext cx="1022777"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节点剩余能量</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5DE42FAB-24FE-4A74-AFB6-10C8A68CD3ED}"/>
              </a:ext>
            </a:extLst>
          </p:cNvPr>
          <p:cNvCxnSpPr>
            <a:cxnSpLocks/>
          </p:cNvCxnSpPr>
          <p:nvPr/>
        </p:nvCxnSpPr>
        <p:spPr>
          <a:xfrm flipV="1">
            <a:off x="2185248" y="2563935"/>
            <a:ext cx="426183" cy="620974"/>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AE4CD0B-3E04-47BA-B1E6-662251FEFA42}"/>
              </a:ext>
            </a:extLst>
          </p:cNvPr>
          <p:cNvCxnSpPr>
            <a:cxnSpLocks/>
          </p:cNvCxnSpPr>
          <p:nvPr/>
        </p:nvCxnSpPr>
        <p:spPr>
          <a:xfrm flipV="1">
            <a:off x="2958749" y="2371222"/>
            <a:ext cx="1733987" cy="51523"/>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5B4267E-A4A6-4855-B6CF-119B4CE62757}"/>
              </a:ext>
            </a:extLst>
          </p:cNvPr>
          <p:cNvCxnSpPr>
            <a:cxnSpLocks/>
          </p:cNvCxnSpPr>
          <p:nvPr/>
        </p:nvCxnSpPr>
        <p:spPr>
          <a:xfrm>
            <a:off x="5093717" y="2457787"/>
            <a:ext cx="614500" cy="58305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71A859C4-A49B-4AB8-B6B4-C1523B78642B}"/>
              </a:ext>
            </a:extLst>
          </p:cNvPr>
          <p:cNvCxnSpPr>
            <a:cxnSpLocks/>
          </p:cNvCxnSpPr>
          <p:nvPr/>
        </p:nvCxnSpPr>
        <p:spPr>
          <a:xfrm>
            <a:off x="6023964" y="3321088"/>
            <a:ext cx="1532021" cy="26199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B0C9319F-30EF-472F-A5B3-C8291D0ED199}"/>
              </a:ext>
            </a:extLst>
          </p:cNvPr>
          <p:cNvCxnSpPr>
            <a:cxnSpLocks/>
          </p:cNvCxnSpPr>
          <p:nvPr/>
        </p:nvCxnSpPr>
        <p:spPr>
          <a:xfrm flipV="1">
            <a:off x="2240387" y="3124454"/>
            <a:ext cx="1406143" cy="2342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8B27457-33D0-4F4A-9678-A61859CC2F3C}"/>
              </a:ext>
            </a:extLst>
          </p:cNvPr>
          <p:cNvCxnSpPr>
            <a:cxnSpLocks/>
          </p:cNvCxnSpPr>
          <p:nvPr/>
        </p:nvCxnSpPr>
        <p:spPr>
          <a:xfrm>
            <a:off x="4104362" y="3131008"/>
            <a:ext cx="1444792" cy="13320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5B5A9D2-7F8C-4DBE-9749-7E7C08C56E51}"/>
              </a:ext>
            </a:extLst>
          </p:cNvPr>
          <p:cNvCxnSpPr>
            <a:cxnSpLocks/>
          </p:cNvCxnSpPr>
          <p:nvPr/>
        </p:nvCxnSpPr>
        <p:spPr>
          <a:xfrm>
            <a:off x="6012805" y="3241583"/>
            <a:ext cx="1543180" cy="2364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677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750"/>
                                  </p:stCondLst>
                                  <p:childTnLst>
                                    <p:set>
                                      <p:cBhvr>
                                        <p:cTn id="9" dur="1" fill="hold">
                                          <p:stCondLst>
                                            <p:cond delay="0"/>
                                          </p:stCondLst>
                                        </p:cTn>
                                        <p:tgtEl>
                                          <p:spTgt spid="102"/>
                                        </p:tgtEl>
                                        <p:attrNameLst>
                                          <p:attrName>style.visibility</p:attrName>
                                        </p:attrNameLst>
                                      </p:cBhvr>
                                      <p:to>
                                        <p:strVal val="visible"/>
                                      </p:to>
                                    </p:set>
                                  </p:childTnLst>
                                </p:cTn>
                              </p:par>
                            </p:childTnLst>
                          </p:cTn>
                        </p:par>
                        <p:par>
                          <p:cTn id="10" fill="hold">
                            <p:stCondLst>
                              <p:cond delay="750"/>
                            </p:stCondLst>
                            <p:childTnLst>
                              <p:par>
                                <p:cTn id="11" presetID="1" presetClass="entr" presetSubtype="0" fill="hold" nodeType="afterEffect">
                                  <p:stCondLst>
                                    <p:cond delay="750"/>
                                  </p:stCondLst>
                                  <p:childTnLst>
                                    <p:set>
                                      <p:cBhvr>
                                        <p:cTn id="12"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19</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256447" y="1007066"/>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7" name="直接箭头连接符 96">
            <a:extLst>
              <a:ext uri="{FF2B5EF4-FFF2-40B4-BE49-F238E27FC236}">
                <a16:creationId xmlns:a16="http://schemas.microsoft.com/office/drawing/2014/main" id="{CA767791-A78B-491C-BF5A-D161086DD022}"/>
              </a:ext>
            </a:extLst>
          </p:cNvPr>
          <p:cNvCxnSpPr>
            <a:cxnSpLocks/>
          </p:cNvCxnSpPr>
          <p:nvPr/>
        </p:nvCxnSpPr>
        <p:spPr>
          <a:xfrm flipV="1">
            <a:off x="1718116" y="2793374"/>
            <a:ext cx="396981" cy="3470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B59ADDE5-BB02-41E3-B773-6A48C3289DFD}"/>
              </a:ext>
            </a:extLst>
          </p:cNvPr>
          <p:cNvSpPr txBox="1"/>
          <p:nvPr/>
        </p:nvSpPr>
        <p:spPr>
          <a:xfrm>
            <a:off x="353698" y="2533348"/>
            <a:ext cx="1341009" cy="769441"/>
          </a:xfrm>
          <a:prstGeom prst="rect">
            <a:avLst/>
          </a:prstGeom>
          <a:noFill/>
        </p:spPr>
        <p:txBody>
          <a:bodyPr wrap="square" rtlCol="0">
            <a:spAutoFit/>
          </a:bodyPr>
          <a:lstStyle/>
          <a:p>
            <a:pP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传播数据能量成本</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1E9AE387-8473-40B1-929C-91B63071DFA1}"/>
              </a:ext>
            </a:extLst>
          </p:cNvPr>
          <p:cNvCxnSpPr>
            <a:cxnSpLocks/>
            <a:stCxn id="103" idx="3"/>
          </p:cNvCxnSpPr>
          <p:nvPr/>
        </p:nvCxnSpPr>
        <p:spPr>
          <a:xfrm flipV="1">
            <a:off x="2177988" y="2020572"/>
            <a:ext cx="351577" cy="502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F8A9613E-E034-429B-8B54-5AFCF74C11BC}"/>
              </a:ext>
            </a:extLst>
          </p:cNvPr>
          <p:cNvSpPr txBox="1"/>
          <p:nvPr/>
        </p:nvSpPr>
        <p:spPr>
          <a:xfrm>
            <a:off x="1155211" y="1686097"/>
            <a:ext cx="1022777"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节点剩余能量</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5DE42FAB-24FE-4A74-AFB6-10C8A68CD3ED}"/>
              </a:ext>
            </a:extLst>
          </p:cNvPr>
          <p:cNvCxnSpPr>
            <a:cxnSpLocks/>
          </p:cNvCxnSpPr>
          <p:nvPr/>
        </p:nvCxnSpPr>
        <p:spPr>
          <a:xfrm flipV="1">
            <a:off x="2185248" y="2563935"/>
            <a:ext cx="426183" cy="620974"/>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AE4CD0B-3E04-47BA-B1E6-662251FEFA42}"/>
              </a:ext>
            </a:extLst>
          </p:cNvPr>
          <p:cNvCxnSpPr>
            <a:cxnSpLocks/>
          </p:cNvCxnSpPr>
          <p:nvPr/>
        </p:nvCxnSpPr>
        <p:spPr>
          <a:xfrm flipV="1">
            <a:off x="2958749" y="2371222"/>
            <a:ext cx="1733987" cy="51523"/>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5B4267E-A4A6-4855-B6CF-119B4CE62757}"/>
              </a:ext>
            </a:extLst>
          </p:cNvPr>
          <p:cNvCxnSpPr>
            <a:cxnSpLocks/>
          </p:cNvCxnSpPr>
          <p:nvPr/>
        </p:nvCxnSpPr>
        <p:spPr>
          <a:xfrm>
            <a:off x="5093717" y="2457787"/>
            <a:ext cx="614500" cy="58305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71A859C4-A49B-4AB8-B6B4-C1523B78642B}"/>
              </a:ext>
            </a:extLst>
          </p:cNvPr>
          <p:cNvCxnSpPr>
            <a:cxnSpLocks/>
          </p:cNvCxnSpPr>
          <p:nvPr/>
        </p:nvCxnSpPr>
        <p:spPr>
          <a:xfrm>
            <a:off x="6023964" y="3321088"/>
            <a:ext cx="1532021" cy="26199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B0C9319F-30EF-472F-A5B3-C8291D0ED199}"/>
              </a:ext>
            </a:extLst>
          </p:cNvPr>
          <p:cNvCxnSpPr>
            <a:cxnSpLocks/>
          </p:cNvCxnSpPr>
          <p:nvPr/>
        </p:nvCxnSpPr>
        <p:spPr>
          <a:xfrm flipV="1">
            <a:off x="2240387" y="3124454"/>
            <a:ext cx="1406143" cy="2342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8B27457-33D0-4F4A-9678-A61859CC2F3C}"/>
              </a:ext>
            </a:extLst>
          </p:cNvPr>
          <p:cNvCxnSpPr>
            <a:cxnSpLocks/>
          </p:cNvCxnSpPr>
          <p:nvPr/>
        </p:nvCxnSpPr>
        <p:spPr>
          <a:xfrm>
            <a:off x="4104362" y="3131008"/>
            <a:ext cx="1444792" cy="13320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5B5A9D2-7F8C-4DBE-9749-7E7C08C56E51}"/>
              </a:ext>
            </a:extLst>
          </p:cNvPr>
          <p:cNvCxnSpPr>
            <a:cxnSpLocks/>
          </p:cNvCxnSpPr>
          <p:nvPr/>
        </p:nvCxnSpPr>
        <p:spPr>
          <a:xfrm>
            <a:off x="6012805" y="3241583"/>
            <a:ext cx="1543180" cy="2364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B3CC528-B02E-492B-9134-F397CAD53A50}"/>
              </a:ext>
            </a:extLst>
          </p:cNvPr>
          <p:cNvCxnSpPr>
            <a:cxnSpLocks/>
          </p:cNvCxnSpPr>
          <p:nvPr/>
        </p:nvCxnSpPr>
        <p:spPr>
          <a:xfrm>
            <a:off x="2219424" y="3447732"/>
            <a:ext cx="442833" cy="366263"/>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D6D50360-4CE9-4C03-B88D-ECC56212AB63}"/>
              </a:ext>
            </a:extLst>
          </p:cNvPr>
          <p:cNvCxnSpPr>
            <a:cxnSpLocks/>
          </p:cNvCxnSpPr>
          <p:nvPr/>
        </p:nvCxnSpPr>
        <p:spPr>
          <a:xfrm>
            <a:off x="3008629" y="4119487"/>
            <a:ext cx="1561213" cy="68812"/>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486FF776-3C18-4769-996E-2EDCBFD761EF}"/>
              </a:ext>
            </a:extLst>
          </p:cNvPr>
          <p:cNvCxnSpPr>
            <a:cxnSpLocks/>
          </p:cNvCxnSpPr>
          <p:nvPr/>
        </p:nvCxnSpPr>
        <p:spPr>
          <a:xfrm flipV="1">
            <a:off x="4974560" y="3433268"/>
            <a:ext cx="718316" cy="69823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FDA9D6D2-C136-4C12-ADF5-7919E7450885}"/>
              </a:ext>
            </a:extLst>
          </p:cNvPr>
          <p:cNvCxnSpPr>
            <a:cxnSpLocks/>
          </p:cNvCxnSpPr>
          <p:nvPr/>
        </p:nvCxnSpPr>
        <p:spPr>
          <a:xfrm>
            <a:off x="6016281" y="3400992"/>
            <a:ext cx="1529450" cy="26187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22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750"/>
                                  </p:stCondLst>
                                  <p:childTnLst>
                                    <p:set>
                                      <p:cBhvr>
                                        <p:cTn id="9" dur="1" fill="hold">
                                          <p:stCondLst>
                                            <p:cond delay="0"/>
                                          </p:stCondLst>
                                        </p:cTn>
                                        <p:tgtEl>
                                          <p:spTgt spid="107"/>
                                        </p:tgtEl>
                                        <p:attrNameLst>
                                          <p:attrName>style.visibility</p:attrName>
                                        </p:attrNameLst>
                                      </p:cBhvr>
                                      <p:to>
                                        <p:strVal val="visible"/>
                                      </p:to>
                                    </p:set>
                                  </p:childTnLst>
                                </p:cTn>
                              </p:par>
                            </p:childTnLst>
                          </p:cTn>
                        </p:par>
                        <p:par>
                          <p:cTn id="10" fill="hold">
                            <p:stCondLst>
                              <p:cond delay="750"/>
                            </p:stCondLst>
                            <p:childTnLst>
                              <p:par>
                                <p:cTn id="11" presetID="1" presetClass="entr" presetSubtype="0" fill="hold" nodeType="afterEffect">
                                  <p:stCondLst>
                                    <p:cond delay="750"/>
                                  </p:stCondLst>
                                  <p:childTnLst>
                                    <p:set>
                                      <p:cBhvr>
                                        <p:cTn id="12" dur="1" fill="hold">
                                          <p:stCondLst>
                                            <p:cond delay="0"/>
                                          </p:stCondLst>
                                        </p:cTn>
                                        <p:tgtEl>
                                          <p:spTgt spid="108"/>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750"/>
                                  </p:stCondLst>
                                  <p:childTnLst>
                                    <p:set>
                                      <p:cBhvr>
                                        <p:cTn id="15"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20</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256447" y="1007066"/>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7" name="直接箭头连接符 96">
            <a:extLst>
              <a:ext uri="{FF2B5EF4-FFF2-40B4-BE49-F238E27FC236}">
                <a16:creationId xmlns:a16="http://schemas.microsoft.com/office/drawing/2014/main" id="{CA767791-A78B-491C-BF5A-D161086DD022}"/>
              </a:ext>
            </a:extLst>
          </p:cNvPr>
          <p:cNvCxnSpPr>
            <a:cxnSpLocks/>
          </p:cNvCxnSpPr>
          <p:nvPr/>
        </p:nvCxnSpPr>
        <p:spPr>
          <a:xfrm flipV="1">
            <a:off x="1718116" y="2793374"/>
            <a:ext cx="396981" cy="3470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B59ADDE5-BB02-41E3-B773-6A48C3289DFD}"/>
              </a:ext>
            </a:extLst>
          </p:cNvPr>
          <p:cNvSpPr txBox="1"/>
          <p:nvPr/>
        </p:nvSpPr>
        <p:spPr>
          <a:xfrm>
            <a:off x="353698" y="2533348"/>
            <a:ext cx="1341009" cy="769441"/>
          </a:xfrm>
          <a:prstGeom prst="rect">
            <a:avLst/>
          </a:prstGeom>
          <a:noFill/>
        </p:spPr>
        <p:txBody>
          <a:bodyPr wrap="square" rtlCol="0">
            <a:spAutoFit/>
          </a:bodyPr>
          <a:lstStyle/>
          <a:p>
            <a:pP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传播数据能量成本</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1E9AE387-8473-40B1-929C-91B63071DFA1}"/>
              </a:ext>
            </a:extLst>
          </p:cNvPr>
          <p:cNvCxnSpPr>
            <a:cxnSpLocks/>
            <a:stCxn id="103" idx="3"/>
          </p:cNvCxnSpPr>
          <p:nvPr/>
        </p:nvCxnSpPr>
        <p:spPr>
          <a:xfrm flipV="1">
            <a:off x="2177988" y="2020572"/>
            <a:ext cx="351577" cy="502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F8A9613E-E034-429B-8B54-5AFCF74C11BC}"/>
              </a:ext>
            </a:extLst>
          </p:cNvPr>
          <p:cNvSpPr txBox="1"/>
          <p:nvPr/>
        </p:nvSpPr>
        <p:spPr>
          <a:xfrm>
            <a:off x="1155211" y="1686097"/>
            <a:ext cx="1022777"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节点剩余能量</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5DE42FAB-24FE-4A74-AFB6-10C8A68CD3ED}"/>
              </a:ext>
            </a:extLst>
          </p:cNvPr>
          <p:cNvCxnSpPr>
            <a:cxnSpLocks/>
          </p:cNvCxnSpPr>
          <p:nvPr/>
        </p:nvCxnSpPr>
        <p:spPr>
          <a:xfrm flipV="1">
            <a:off x="2185248" y="2563935"/>
            <a:ext cx="426183" cy="620974"/>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AE4CD0B-3E04-47BA-B1E6-662251FEFA42}"/>
              </a:ext>
            </a:extLst>
          </p:cNvPr>
          <p:cNvCxnSpPr>
            <a:cxnSpLocks/>
          </p:cNvCxnSpPr>
          <p:nvPr/>
        </p:nvCxnSpPr>
        <p:spPr>
          <a:xfrm flipV="1">
            <a:off x="2958749" y="2371222"/>
            <a:ext cx="1733987" cy="51523"/>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5B4267E-A4A6-4855-B6CF-119B4CE62757}"/>
              </a:ext>
            </a:extLst>
          </p:cNvPr>
          <p:cNvCxnSpPr>
            <a:cxnSpLocks/>
          </p:cNvCxnSpPr>
          <p:nvPr/>
        </p:nvCxnSpPr>
        <p:spPr>
          <a:xfrm>
            <a:off x="5093717" y="2457787"/>
            <a:ext cx="614500" cy="58305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71A859C4-A49B-4AB8-B6B4-C1523B78642B}"/>
              </a:ext>
            </a:extLst>
          </p:cNvPr>
          <p:cNvCxnSpPr>
            <a:cxnSpLocks/>
          </p:cNvCxnSpPr>
          <p:nvPr/>
        </p:nvCxnSpPr>
        <p:spPr>
          <a:xfrm>
            <a:off x="6023964" y="3321088"/>
            <a:ext cx="1532021" cy="26199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B0C9319F-30EF-472F-A5B3-C8291D0ED199}"/>
              </a:ext>
            </a:extLst>
          </p:cNvPr>
          <p:cNvCxnSpPr>
            <a:cxnSpLocks/>
          </p:cNvCxnSpPr>
          <p:nvPr/>
        </p:nvCxnSpPr>
        <p:spPr>
          <a:xfrm flipV="1">
            <a:off x="2240387" y="3124454"/>
            <a:ext cx="1406143" cy="2342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8B27457-33D0-4F4A-9678-A61859CC2F3C}"/>
              </a:ext>
            </a:extLst>
          </p:cNvPr>
          <p:cNvCxnSpPr>
            <a:cxnSpLocks/>
          </p:cNvCxnSpPr>
          <p:nvPr/>
        </p:nvCxnSpPr>
        <p:spPr>
          <a:xfrm>
            <a:off x="4104362" y="3131008"/>
            <a:ext cx="1444792" cy="13320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5B5A9D2-7F8C-4DBE-9749-7E7C08C56E51}"/>
              </a:ext>
            </a:extLst>
          </p:cNvPr>
          <p:cNvCxnSpPr>
            <a:cxnSpLocks/>
          </p:cNvCxnSpPr>
          <p:nvPr/>
        </p:nvCxnSpPr>
        <p:spPr>
          <a:xfrm>
            <a:off x="6012805" y="3241583"/>
            <a:ext cx="1543180" cy="2364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B3CC528-B02E-492B-9134-F397CAD53A50}"/>
              </a:ext>
            </a:extLst>
          </p:cNvPr>
          <p:cNvCxnSpPr>
            <a:cxnSpLocks/>
          </p:cNvCxnSpPr>
          <p:nvPr/>
        </p:nvCxnSpPr>
        <p:spPr>
          <a:xfrm>
            <a:off x="2219424" y="3447732"/>
            <a:ext cx="442833" cy="366263"/>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D6D50360-4CE9-4C03-B88D-ECC56212AB63}"/>
              </a:ext>
            </a:extLst>
          </p:cNvPr>
          <p:cNvCxnSpPr>
            <a:cxnSpLocks/>
          </p:cNvCxnSpPr>
          <p:nvPr/>
        </p:nvCxnSpPr>
        <p:spPr>
          <a:xfrm>
            <a:off x="3008629" y="4119487"/>
            <a:ext cx="1561213" cy="68812"/>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486FF776-3C18-4769-996E-2EDCBFD761EF}"/>
              </a:ext>
            </a:extLst>
          </p:cNvPr>
          <p:cNvCxnSpPr>
            <a:cxnSpLocks/>
          </p:cNvCxnSpPr>
          <p:nvPr/>
        </p:nvCxnSpPr>
        <p:spPr>
          <a:xfrm flipV="1">
            <a:off x="4974560" y="3433268"/>
            <a:ext cx="718316" cy="69823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FDA9D6D2-C136-4C12-ADF5-7919E7450885}"/>
              </a:ext>
            </a:extLst>
          </p:cNvPr>
          <p:cNvCxnSpPr>
            <a:cxnSpLocks/>
          </p:cNvCxnSpPr>
          <p:nvPr/>
        </p:nvCxnSpPr>
        <p:spPr>
          <a:xfrm>
            <a:off x="6016281" y="3400992"/>
            <a:ext cx="1529450" cy="26187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53CD7F84-CEF4-4442-B97E-5476236484EB}"/>
              </a:ext>
            </a:extLst>
          </p:cNvPr>
          <p:cNvCxnSpPr>
            <a:cxnSpLocks/>
          </p:cNvCxnSpPr>
          <p:nvPr/>
        </p:nvCxnSpPr>
        <p:spPr>
          <a:xfrm>
            <a:off x="2285508" y="3402388"/>
            <a:ext cx="442833" cy="366263"/>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D441DC69-BC5E-4128-9667-410782C5DF59}"/>
              </a:ext>
            </a:extLst>
          </p:cNvPr>
          <p:cNvCxnSpPr>
            <a:cxnSpLocks/>
          </p:cNvCxnSpPr>
          <p:nvPr/>
        </p:nvCxnSpPr>
        <p:spPr>
          <a:xfrm>
            <a:off x="2990909" y="3996033"/>
            <a:ext cx="1574966" cy="7438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A16DD31B-C330-445C-96A8-D8C466A01C68}"/>
              </a:ext>
            </a:extLst>
          </p:cNvPr>
          <p:cNvCxnSpPr>
            <a:cxnSpLocks/>
          </p:cNvCxnSpPr>
          <p:nvPr/>
        </p:nvCxnSpPr>
        <p:spPr>
          <a:xfrm>
            <a:off x="4934999" y="4281229"/>
            <a:ext cx="1346798" cy="493226"/>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B25BAE4-B568-43A1-BBBC-95402DD6E83A}"/>
              </a:ext>
            </a:extLst>
          </p:cNvPr>
          <p:cNvCxnSpPr>
            <a:cxnSpLocks/>
          </p:cNvCxnSpPr>
          <p:nvPr/>
        </p:nvCxnSpPr>
        <p:spPr>
          <a:xfrm flipV="1">
            <a:off x="6811648" y="3782383"/>
            <a:ext cx="1004361" cy="977795"/>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61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750"/>
                                  </p:stCondLst>
                                  <p:childTnLst>
                                    <p:set>
                                      <p:cBhvr>
                                        <p:cTn id="9" dur="1" fill="hold">
                                          <p:stCondLst>
                                            <p:cond delay="0"/>
                                          </p:stCondLst>
                                        </p:cTn>
                                        <p:tgtEl>
                                          <p:spTgt spid="111"/>
                                        </p:tgtEl>
                                        <p:attrNameLst>
                                          <p:attrName>style.visibility</p:attrName>
                                        </p:attrNameLst>
                                      </p:cBhvr>
                                      <p:to>
                                        <p:strVal val="visible"/>
                                      </p:to>
                                    </p:set>
                                  </p:childTnLst>
                                </p:cTn>
                              </p:par>
                            </p:childTnLst>
                          </p:cTn>
                        </p:par>
                        <p:par>
                          <p:cTn id="10" fill="hold">
                            <p:stCondLst>
                              <p:cond delay="750"/>
                            </p:stCondLst>
                            <p:childTnLst>
                              <p:par>
                                <p:cTn id="11" presetID="1" presetClass="entr" presetSubtype="0" fill="hold" nodeType="afterEffect">
                                  <p:stCondLst>
                                    <p:cond delay="750"/>
                                  </p:stCondLst>
                                  <p:childTnLst>
                                    <p:set>
                                      <p:cBhvr>
                                        <p:cTn id="12" dur="1" fill="hold">
                                          <p:stCondLst>
                                            <p:cond delay="0"/>
                                          </p:stCondLst>
                                        </p:cTn>
                                        <p:tgtEl>
                                          <p:spTgt spid="112"/>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750"/>
                                  </p:stCondLst>
                                  <p:childTnLst>
                                    <p:set>
                                      <p:cBhvr>
                                        <p:cTn id="15"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21</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157"/>
            <a:ext cx="4925357" cy="523220"/>
          </a:xfrm>
          <a:prstGeom prst="rect">
            <a:avLst/>
          </a:prstGeom>
          <a:noFill/>
        </p:spPr>
        <p:txBody>
          <a:bodyPr wrap="square" rtlCol="0">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数据包分发所需最低能耗</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894181" y="36933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7" name="直接箭头连接符 96">
            <a:extLst>
              <a:ext uri="{FF2B5EF4-FFF2-40B4-BE49-F238E27FC236}">
                <a16:creationId xmlns:a16="http://schemas.microsoft.com/office/drawing/2014/main" id="{CA767791-A78B-491C-BF5A-D161086DD022}"/>
              </a:ext>
            </a:extLst>
          </p:cNvPr>
          <p:cNvCxnSpPr>
            <a:cxnSpLocks/>
          </p:cNvCxnSpPr>
          <p:nvPr/>
        </p:nvCxnSpPr>
        <p:spPr>
          <a:xfrm flipV="1">
            <a:off x="2355850" y="2155640"/>
            <a:ext cx="396981" cy="3470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B59ADDE5-BB02-41E3-B773-6A48C3289DFD}"/>
              </a:ext>
            </a:extLst>
          </p:cNvPr>
          <p:cNvSpPr txBox="1"/>
          <p:nvPr/>
        </p:nvSpPr>
        <p:spPr>
          <a:xfrm>
            <a:off x="991432" y="1895614"/>
            <a:ext cx="1341009" cy="769441"/>
          </a:xfrm>
          <a:prstGeom prst="rect">
            <a:avLst/>
          </a:prstGeom>
          <a:noFill/>
        </p:spPr>
        <p:txBody>
          <a:bodyPr wrap="square" rtlCol="0">
            <a:spAutoFit/>
          </a:bodyPr>
          <a:lstStyle/>
          <a:p>
            <a:pP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传播数据能量成本</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1E9AE387-8473-40B1-929C-91B63071DFA1}"/>
              </a:ext>
            </a:extLst>
          </p:cNvPr>
          <p:cNvCxnSpPr>
            <a:cxnSpLocks/>
            <a:stCxn id="103" idx="3"/>
          </p:cNvCxnSpPr>
          <p:nvPr/>
        </p:nvCxnSpPr>
        <p:spPr>
          <a:xfrm flipV="1">
            <a:off x="2815722" y="1382838"/>
            <a:ext cx="351577" cy="502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F8A9613E-E034-429B-8B54-5AFCF74C11BC}"/>
              </a:ext>
            </a:extLst>
          </p:cNvPr>
          <p:cNvSpPr txBox="1"/>
          <p:nvPr/>
        </p:nvSpPr>
        <p:spPr>
          <a:xfrm>
            <a:off x="1792945" y="1048363"/>
            <a:ext cx="1022777"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节点剩余能量</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 name="文本框 104">
            <a:extLst>
              <a:ext uri="{FF2B5EF4-FFF2-40B4-BE49-F238E27FC236}">
                <a16:creationId xmlns:a16="http://schemas.microsoft.com/office/drawing/2014/main" id="{8EE8E539-3B91-42D7-80D2-9330D0A4B24A}"/>
              </a:ext>
            </a:extLst>
          </p:cNvPr>
          <p:cNvSpPr txBox="1"/>
          <p:nvPr/>
        </p:nvSpPr>
        <p:spPr>
          <a:xfrm>
            <a:off x="753352" y="4725778"/>
            <a:ext cx="203310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-B-G-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397DA2AA-53F7-4EA5-9462-8B027E6C6473}"/>
              </a:ext>
            </a:extLst>
          </p:cNvPr>
          <p:cNvSpPr txBox="1"/>
          <p:nvPr/>
        </p:nvSpPr>
        <p:spPr>
          <a:xfrm>
            <a:off x="753351" y="5211781"/>
            <a:ext cx="2231149"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1D4582A8-65F5-4DC3-906E-413647B23E2B}"/>
              </a:ext>
            </a:extLst>
          </p:cNvPr>
          <p:cNvSpPr txBox="1"/>
          <p:nvPr/>
        </p:nvSpPr>
        <p:spPr>
          <a:xfrm>
            <a:off x="753350" y="5710610"/>
            <a:ext cx="2163607"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-C-E-H-</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文本框 112">
            <a:extLst>
              <a:ext uri="{FF2B5EF4-FFF2-40B4-BE49-F238E27FC236}">
                <a16:creationId xmlns:a16="http://schemas.microsoft.com/office/drawing/2014/main" id="{8B65E379-8224-4EA7-90A2-9053BC0BCDE2}"/>
              </a:ext>
            </a:extLst>
          </p:cNvPr>
          <p:cNvSpPr txBox="1"/>
          <p:nvPr/>
        </p:nvSpPr>
        <p:spPr>
          <a:xfrm>
            <a:off x="753352" y="4192102"/>
            <a:ext cx="236118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-A-D-G-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文本框 116">
            <a:extLst>
              <a:ext uri="{FF2B5EF4-FFF2-40B4-BE49-F238E27FC236}">
                <a16:creationId xmlns:a16="http://schemas.microsoft.com/office/drawing/2014/main" id="{43906620-BEDE-4748-BD6B-196EEA0515CA}"/>
              </a:ext>
            </a:extLst>
          </p:cNvPr>
          <p:cNvSpPr txBox="1"/>
          <p:nvPr/>
        </p:nvSpPr>
        <p:spPr>
          <a:xfrm>
            <a:off x="3381090" y="4216510"/>
            <a:ext cx="272448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1+2+1+1=5</a:t>
            </a:r>
          </a:p>
        </p:txBody>
      </p:sp>
      <p:sp>
        <p:nvSpPr>
          <p:cNvPr id="118" name="文本框 117">
            <a:extLst>
              <a:ext uri="{FF2B5EF4-FFF2-40B4-BE49-F238E27FC236}">
                <a16:creationId xmlns:a16="http://schemas.microsoft.com/office/drawing/2014/main" id="{F7AF9045-488E-4E9D-9898-8C4F399593B3}"/>
              </a:ext>
            </a:extLst>
          </p:cNvPr>
          <p:cNvSpPr txBox="1"/>
          <p:nvPr/>
        </p:nvSpPr>
        <p:spPr>
          <a:xfrm>
            <a:off x="3827699" y="4723246"/>
            <a:ext cx="2001746"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3+2+1=6</a:t>
            </a:r>
          </a:p>
        </p:txBody>
      </p:sp>
      <p:sp>
        <p:nvSpPr>
          <p:cNvPr id="119" name="文本框 118">
            <a:extLst>
              <a:ext uri="{FF2B5EF4-FFF2-40B4-BE49-F238E27FC236}">
                <a16:creationId xmlns:a16="http://schemas.microsoft.com/office/drawing/2014/main" id="{D2CC4E4E-397F-4443-B939-575A49E5CDE8}"/>
              </a:ext>
            </a:extLst>
          </p:cNvPr>
          <p:cNvSpPr txBox="1"/>
          <p:nvPr/>
        </p:nvSpPr>
        <p:spPr>
          <a:xfrm>
            <a:off x="3365233" y="5244900"/>
            <a:ext cx="272448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2+2+1+1=6</a:t>
            </a:r>
          </a:p>
        </p:txBody>
      </p:sp>
      <p:sp>
        <p:nvSpPr>
          <p:cNvPr id="120" name="文本框 119">
            <a:extLst>
              <a:ext uri="{FF2B5EF4-FFF2-40B4-BE49-F238E27FC236}">
                <a16:creationId xmlns:a16="http://schemas.microsoft.com/office/drawing/2014/main" id="{766177B2-B408-4139-8BAB-87926D338A94}"/>
              </a:ext>
            </a:extLst>
          </p:cNvPr>
          <p:cNvSpPr txBox="1"/>
          <p:nvPr/>
        </p:nvSpPr>
        <p:spPr>
          <a:xfrm>
            <a:off x="3365233" y="5732586"/>
            <a:ext cx="272448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2+2+2+2=8</a:t>
            </a:r>
          </a:p>
        </p:txBody>
      </p:sp>
      <p:sp>
        <p:nvSpPr>
          <p:cNvPr id="121" name="文本框 120">
            <a:extLst>
              <a:ext uri="{FF2B5EF4-FFF2-40B4-BE49-F238E27FC236}">
                <a16:creationId xmlns:a16="http://schemas.microsoft.com/office/drawing/2014/main" id="{E441D920-CBFC-495B-BFB1-8300D9C34725}"/>
              </a:ext>
            </a:extLst>
          </p:cNvPr>
          <p:cNvSpPr txBox="1"/>
          <p:nvPr/>
        </p:nvSpPr>
        <p:spPr>
          <a:xfrm>
            <a:off x="6041123" y="4899871"/>
            <a:ext cx="2965718" cy="830997"/>
          </a:xfrm>
          <a:prstGeom prst="rect">
            <a:avLst/>
          </a:prstGeom>
          <a:solidFill>
            <a:schemeClr val="accent5">
              <a:lumMod val="40000"/>
              <a:lumOff val="60000"/>
            </a:schemeClr>
          </a:solidFill>
          <a:ln w="28575">
            <a:solidFill>
              <a:schemeClr val="tx1"/>
            </a:solidFill>
          </a:ln>
        </p:spPr>
        <p:txBody>
          <a:bodyPr wrap="square" rtlCol="0">
            <a:spAutoFit/>
          </a:bodyPr>
          <a:lstStyle/>
          <a:p>
            <a:pPr algn="ct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重点关注单个数据包传输所需能量最低</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5088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21"/>
                                        </p:tgtEl>
                                        <p:attrNameLst>
                                          <p:attrName>style.visibility</p:attrName>
                                        </p:attrNameLst>
                                      </p:cBhvr>
                                      <p:to>
                                        <p:strVal val="visible"/>
                                      </p:to>
                                    </p:set>
                                    <p:animEffect transition="in" filter="fade">
                                      <p:cBhvr>
                                        <p:cTn id="43" dur="1000"/>
                                        <p:tgtEl>
                                          <p:spTgt spid="121"/>
                                        </p:tgtEl>
                                      </p:cBhvr>
                                    </p:animEffect>
                                    <p:anim calcmode="lin" valueType="num">
                                      <p:cBhvr>
                                        <p:cTn id="44" dur="1000" fill="hold"/>
                                        <p:tgtEl>
                                          <p:spTgt spid="121"/>
                                        </p:tgtEl>
                                        <p:attrNameLst>
                                          <p:attrName>ppt_x</p:attrName>
                                        </p:attrNameLst>
                                      </p:cBhvr>
                                      <p:tavLst>
                                        <p:tav tm="0">
                                          <p:val>
                                            <p:strVal val="#ppt_x"/>
                                          </p:val>
                                        </p:tav>
                                        <p:tav tm="100000">
                                          <p:val>
                                            <p:strVal val="#ppt_x"/>
                                          </p:val>
                                        </p:tav>
                                      </p:tavLst>
                                    </p:anim>
                                    <p:anim calcmode="lin" valueType="num">
                                      <p:cBhvr>
                                        <p:cTn id="45" dur="1000" fill="hold"/>
                                        <p:tgtEl>
                                          <p:spTgt spid="1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5" grpId="0"/>
      <p:bldP spid="106" grpId="0"/>
      <p:bldP spid="107" grpId="0"/>
      <p:bldP spid="113" grpId="0"/>
      <p:bldP spid="117" grpId="0"/>
      <p:bldP spid="119" grpId="0"/>
      <p:bldP spid="120" grpId="0"/>
      <p:bldP spid="1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22</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157"/>
            <a:ext cx="8615594" cy="523220"/>
          </a:xfrm>
          <a:prstGeom prst="rect">
            <a:avLst/>
          </a:prstGeom>
          <a:noFill/>
        </p:spPr>
        <p:txBody>
          <a:bodyPr wrap="square" rtlCol="0">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数据包分发所需最低能耗</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894181" y="36933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7" name="直接箭头连接符 96">
            <a:extLst>
              <a:ext uri="{FF2B5EF4-FFF2-40B4-BE49-F238E27FC236}">
                <a16:creationId xmlns:a16="http://schemas.microsoft.com/office/drawing/2014/main" id="{CA767791-A78B-491C-BF5A-D161086DD022}"/>
              </a:ext>
            </a:extLst>
          </p:cNvPr>
          <p:cNvCxnSpPr>
            <a:cxnSpLocks/>
          </p:cNvCxnSpPr>
          <p:nvPr/>
        </p:nvCxnSpPr>
        <p:spPr>
          <a:xfrm flipV="1">
            <a:off x="2355850" y="2155640"/>
            <a:ext cx="396981" cy="3470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B59ADDE5-BB02-41E3-B773-6A48C3289DFD}"/>
              </a:ext>
            </a:extLst>
          </p:cNvPr>
          <p:cNvSpPr txBox="1"/>
          <p:nvPr/>
        </p:nvSpPr>
        <p:spPr>
          <a:xfrm>
            <a:off x="991432" y="1895614"/>
            <a:ext cx="1341009" cy="769441"/>
          </a:xfrm>
          <a:prstGeom prst="rect">
            <a:avLst/>
          </a:prstGeom>
          <a:noFill/>
        </p:spPr>
        <p:txBody>
          <a:bodyPr wrap="square" rtlCol="0">
            <a:spAutoFit/>
          </a:bodyPr>
          <a:lstStyle/>
          <a:p>
            <a:pP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传播数据能量成本</a:t>
            </a:r>
            <a:endPar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1E9AE387-8473-40B1-929C-91B63071DFA1}"/>
              </a:ext>
            </a:extLst>
          </p:cNvPr>
          <p:cNvCxnSpPr>
            <a:cxnSpLocks/>
            <a:stCxn id="103" idx="3"/>
          </p:cNvCxnSpPr>
          <p:nvPr/>
        </p:nvCxnSpPr>
        <p:spPr>
          <a:xfrm flipV="1">
            <a:off x="2815722" y="1382838"/>
            <a:ext cx="351577" cy="502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F8A9613E-E034-429B-8B54-5AFCF74C11BC}"/>
              </a:ext>
            </a:extLst>
          </p:cNvPr>
          <p:cNvSpPr txBox="1"/>
          <p:nvPr/>
        </p:nvSpPr>
        <p:spPr>
          <a:xfrm>
            <a:off x="1792945" y="1048363"/>
            <a:ext cx="1022777"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节点剩余能量</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 name="文本框 104">
            <a:extLst>
              <a:ext uri="{FF2B5EF4-FFF2-40B4-BE49-F238E27FC236}">
                <a16:creationId xmlns:a16="http://schemas.microsoft.com/office/drawing/2014/main" id="{8EE8E539-3B91-42D7-80D2-9330D0A4B24A}"/>
              </a:ext>
            </a:extLst>
          </p:cNvPr>
          <p:cNvSpPr txBox="1"/>
          <p:nvPr/>
        </p:nvSpPr>
        <p:spPr>
          <a:xfrm>
            <a:off x="753352" y="4725778"/>
            <a:ext cx="203310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-B-G-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397DA2AA-53F7-4EA5-9462-8B027E6C6473}"/>
              </a:ext>
            </a:extLst>
          </p:cNvPr>
          <p:cNvSpPr txBox="1"/>
          <p:nvPr/>
        </p:nvSpPr>
        <p:spPr>
          <a:xfrm>
            <a:off x="753351" y="5211781"/>
            <a:ext cx="2231149"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1D4582A8-65F5-4DC3-906E-413647B23E2B}"/>
              </a:ext>
            </a:extLst>
          </p:cNvPr>
          <p:cNvSpPr txBox="1"/>
          <p:nvPr/>
        </p:nvSpPr>
        <p:spPr>
          <a:xfrm>
            <a:off x="753350" y="5710610"/>
            <a:ext cx="2163607"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-C-E-H-</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文本框 112">
            <a:extLst>
              <a:ext uri="{FF2B5EF4-FFF2-40B4-BE49-F238E27FC236}">
                <a16:creationId xmlns:a16="http://schemas.microsoft.com/office/drawing/2014/main" id="{8B65E379-8224-4EA7-90A2-9053BC0BCDE2}"/>
              </a:ext>
            </a:extLst>
          </p:cNvPr>
          <p:cNvSpPr txBox="1"/>
          <p:nvPr/>
        </p:nvSpPr>
        <p:spPr>
          <a:xfrm>
            <a:off x="753352" y="4192102"/>
            <a:ext cx="2361185" cy="492443"/>
          </a:xfrm>
          <a:prstGeom prst="rect">
            <a:avLst/>
          </a:prstGeom>
          <a:noFill/>
        </p:spPr>
        <p:txBody>
          <a:bodyPr wrap="square" rtlCol="0">
            <a:spAutoFit/>
          </a:bodyPr>
          <a:lstStyle/>
          <a:p>
            <a:pPr>
              <a:spcAft>
                <a:spcPts val="600"/>
              </a:spcAft>
            </a:pPr>
            <a:r>
              <a:rPr lang="zh-CN" altLang="en-US"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-A-D-G-</a:t>
            </a:r>
            <a:r>
              <a:rPr lang="zh-CN" altLang="en-US"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文本框 116">
            <a:extLst>
              <a:ext uri="{FF2B5EF4-FFF2-40B4-BE49-F238E27FC236}">
                <a16:creationId xmlns:a16="http://schemas.microsoft.com/office/drawing/2014/main" id="{43906620-BEDE-4748-BD6B-196EEA0515CA}"/>
              </a:ext>
            </a:extLst>
          </p:cNvPr>
          <p:cNvSpPr txBox="1"/>
          <p:nvPr/>
        </p:nvSpPr>
        <p:spPr>
          <a:xfrm>
            <a:off x="3381090" y="4216510"/>
            <a:ext cx="2724481" cy="492443"/>
          </a:xfrm>
          <a:prstGeom prst="rect">
            <a:avLst/>
          </a:prstGeom>
          <a:noFill/>
        </p:spPr>
        <p:txBody>
          <a:bodyPr wrap="square" rtlCol="0">
            <a:spAutoFit/>
          </a:bodyPr>
          <a:lstStyle/>
          <a:p>
            <a:pPr>
              <a:spcAft>
                <a:spcPts val="600"/>
              </a:spcAft>
            </a:pPr>
            <a:r>
              <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1+2+1+1=5</a:t>
            </a:r>
          </a:p>
        </p:txBody>
      </p:sp>
      <p:sp>
        <p:nvSpPr>
          <p:cNvPr id="118" name="文本框 117">
            <a:extLst>
              <a:ext uri="{FF2B5EF4-FFF2-40B4-BE49-F238E27FC236}">
                <a16:creationId xmlns:a16="http://schemas.microsoft.com/office/drawing/2014/main" id="{F7AF9045-488E-4E9D-9898-8C4F399593B3}"/>
              </a:ext>
            </a:extLst>
          </p:cNvPr>
          <p:cNvSpPr txBox="1"/>
          <p:nvPr/>
        </p:nvSpPr>
        <p:spPr>
          <a:xfrm>
            <a:off x="3827699" y="4723246"/>
            <a:ext cx="2001746"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3+2+1=6</a:t>
            </a:r>
          </a:p>
        </p:txBody>
      </p:sp>
      <p:sp>
        <p:nvSpPr>
          <p:cNvPr id="119" name="文本框 118">
            <a:extLst>
              <a:ext uri="{FF2B5EF4-FFF2-40B4-BE49-F238E27FC236}">
                <a16:creationId xmlns:a16="http://schemas.microsoft.com/office/drawing/2014/main" id="{D2CC4E4E-397F-4443-B939-575A49E5CDE8}"/>
              </a:ext>
            </a:extLst>
          </p:cNvPr>
          <p:cNvSpPr txBox="1"/>
          <p:nvPr/>
        </p:nvSpPr>
        <p:spPr>
          <a:xfrm>
            <a:off x="3365233" y="5244900"/>
            <a:ext cx="272448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2+2+1+1=6</a:t>
            </a:r>
          </a:p>
        </p:txBody>
      </p:sp>
      <p:sp>
        <p:nvSpPr>
          <p:cNvPr id="120" name="文本框 119">
            <a:extLst>
              <a:ext uri="{FF2B5EF4-FFF2-40B4-BE49-F238E27FC236}">
                <a16:creationId xmlns:a16="http://schemas.microsoft.com/office/drawing/2014/main" id="{766177B2-B408-4139-8BAB-87926D338A94}"/>
              </a:ext>
            </a:extLst>
          </p:cNvPr>
          <p:cNvSpPr txBox="1"/>
          <p:nvPr/>
        </p:nvSpPr>
        <p:spPr>
          <a:xfrm>
            <a:off x="3365233" y="5732586"/>
            <a:ext cx="272448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2+2+2+2=8</a:t>
            </a:r>
          </a:p>
        </p:txBody>
      </p:sp>
      <p:sp>
        <p:nvSpPr>
          <p:cNvPr id="5" name="矩形 4">
            <a:extLst>
              <a:ext uri="{FF2B5EF4-FFF2-40B4-BE49-F238E27FC236}">
                <a16:creationId xmlns:a16="http://schemas.microsoft.com/office/drawing/2014/main" id="{1FF50CA4-4F2D-4E67-882A-13160639741D}"/>
              </a:ext>
            </a:extLst>
          </p:cNvPr>
          <p:cNvSpPr/>
          <p:nvPr/>
        </p:nvSpPr>
        <p:spPr>
          <a:xfrm>
            <a:off x="635000" y="4073077"/>
            <a:ext cx="5265023" cy="66508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314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a:extLst>
              <a:ext uri="{FF2B5EF4-FFF2-40B4-BE49-F238E27FC236}">
                <a16:creationId xmlns:a16="http://schemas.microsoft.com/office/drawing/2014/main" id="{CC895EFB-1536-4F17-8180-D9E20C76AE3D}"/>
              </a:ext>
            </a:extLst>
          </p:cNvPr>
          <p:cNvSpPr/>
          <p:nvPr/>
        </p:nvSpPr>
        <p:spPr>
          <a:xfrm>
            <a:off x="4857750" y="1441450"/>
            <a:ext cx="2972677" cy="1816100"/>
          </a:xfrm>
          <a:custGeom>
            <a:avLst/>
            <a:gdLst>
              <a:gd name="connsiteX0" fmla="*/ 82550 w 2972677"/>
              <a:gd name="connsiteY0" fmla="*/ 247650 h 1816100"/>
              <a:gd name="connsiteX1" fmla="*/ 57150 w 2972677"/>
              <a:gd name="connsiteY1" fmla="*/ 279400 h 1816100"/>
              <a:gd name="connsiteX2" fmla="*/ 44450 w 2972677"/>
              <a:gd name="connsiteY2" fmla="*/ 298450 h 1816100"/>
              <a:gd name="connsiteX3" fmla="*/ 25400 w 2972677"/>
              <a:gd name="connsiteY3" fmla="*/ 323850 h 1816100"/>
              <a:gd name="connsiteX4" fmla="*/ 19050 w 2972677"/>
              <a:gd name="connsiteY4" fmla="*/ 349250 h 1816100"/>
              <a:gd name="connsiteX5" fmla="*/ 12700 w 2972677"/>
              <a:gd name="connsiteY5" fmla="*/ 368300 h 1816100"/>
              <a:gd name="connsiteX6" fmla="*/ 6350 w 2972677"/>
              <a:gd name="connsiteY6" fmla="*/ 406400 h 1816100"/>
              <a:gd name="connsiteX7" fmla="*/ 0 w 2972677"/>
              <a:gd name="connsiteY7" fmla="*/ 431800 h 1816100"/>
              <a:gd name="connsiteX8" fmla="*/ 6350 w 2972677"/>
              <a:gd name="connsiteY8" fmla="*/ 685800 h 1816100"/>
              <a:gd name="connsiteX9" fmla="*/ 12700 w 2972677"/>
              <a:gd name="connsiteY9" fmla="*/ 749300 h 1816100"/>
              <a:gd name="connsiteX10" fmla="*/ 25400 w 2972677"/>
              <a:gd name="connsiteY10" fmla="*/ 768350 h 1816100"/>
              <a:gd name="connsiteX11" fmla="*/ 38100 w 2972677"/>
              <a:gd name="connsiteY11" fmla="*/ 793750 h 1816100"/>
              <a:gd name="connsiteX12" fmla="*/ 57150 w 2972677"/>
              <a:gd name="connsiteY12" fmla="*/ 857250 h 1816100"/>
              <a:gd name="connsiteX13" fmla="*/ 76200 w 2972677"/>
              <a:gd name="connsiteY13" fmla="*/ 882650 h 1816100"/>
              <a:gd name="connsiteX14" fmla="*/ 88900 w 2972677"/>
              <a:gd name="connsiteY14" fmla="*/ 920750 h 1816100"/>
              <a:gd name="connsiteX15" fmla="*/ 127000 w 2972677"/>
              <a:gd name="connsiteY15" fmla="*/ 990600 h 1816100"/>
              <a:gd name="connsiteX16" fmla="*/ 146050 w 2972677"/>
              <a:gd name="connsiteY16" fmla="*/ 1035050 h 1816100"/>
              <a:gd name="connsiteX17" fmla="*/ 196850 w 2972677"/>
              <a:gd name="connsiteY17" fmla="*/ 1117600 h 1816100"/>
              <a:gd name="connsiteX18" fmla="*/ 260350 w 2972677"/>
              <a:gd name="connsiteY18" fmla="*/ 1219200 h 1816100"/>
              <a:gd name="connsiteX19" fmla="*/ 285750 w 2972677"/>
              <a:gd name="connsiteY19" fmla="*/ 1250950 h 1816100"/>
              <a:gd name="connsiteX20" fmla="*/ 298450 w 2972677"/>
              <a:gd name="connsiteY20" fmla="*/ 1289050 h 1816100"/>
              <a:gd name="connsiteX21" fmla="*/ 317500 w 2972677"/>
              <a:gd name="connsiteY21" fmla="*/ 1314450 h 1816100"/>
              <a:gd name="connsiteX22" fmla="*/ 355600 w 2972677"/>
              <a:gd name="connsiteY22" fmla="*/ 1371600 h 1816100"/>
              <a:gd name="connsiteX23" fmla="*/ 374650 w 2972677"/>
              <a:gd name="connsiteY23" fmla="*/ 1390650 h 1816100"/>
              <a:gd name="connsiteX24" fmla="*/ 387350 w 2972677"/>
              <a:gd name="connsiteY24" fmla="*/ 1409700 h 1816100"/>
              <a:gd name="connsiteX25" fmla="*/ 406400 w 2972677"/>
              <a:gd name="connsiteY25" fmla="*/ 1428750 h 1816100"/>
              <a:gd name="connsiteX26" fmla="*/ 419100 w 2972677"/>
              <a:gd name="connsiteY26" fmla="*/ 1447800 h 1816100"/>
              <a:gd name="connsiteX27" fmla="*/ 438150 w 2972677"/>
              <a:gd name="connsiteY27" fmla="*/ 1466850 h 1816100"/>
              <a:gd name="connsiteX28" fmla="*/ 457200 w 2972677"/>
              <a:gd name="connsiteY28" fmla="*/ 1492250 h 1816100"/>
              <a:gd name="connsiteX29" fmla="*/ 482600 w 2972677"/>
              <a:gd name="connsiteY29" fmla="*/ 1511300 h 1816100"/>
              <a:gd name="connsiteX30" fmla="*/ 527050 w 2972677"/>
              <a:gd name="connsiteY30" fmla="*/ 1549400 h 1816100"/>
              <a:gd name="connsiteX31" fmla="*/ 571500 w 2972677"/>
              <a:gd name="connsiteY31" fmla="*/ 1574800 h 1816100"/>
              <a:gd name="connsiteX32" fmla="*/ 596900 w 2972677"/>
              <a:gd name="connsiteY32" fmla="*/ 1600200 h 1816100"/>
              <a:gd name="connsiteX33" fmla="*/ 711200 w 2972677"/>
              <a:gd name="connsiteY33" fmla="*/ 1676400 h 1816100"/>
              <a:gd name="connsiteX34" fmla="*/ 755650 w 2972677"/>
              <a:gd name="connsiteY34" fmla="*/ 1695450 h 1816100"/>
              <a:gd name="connsiteX35" fmla="*/ 825500 w 2972677"/>
              <a:gd name="connsiteY35" fmla="*/ 1727200 h 1816100"/>
              <a:gd name="connsiteX36" fmla="*/ 876300 w 2972677"/>
              <a:gd name="connsiteY36" fmla="*/ 1746250 h 1816100"/>
              <a:gd name="connsiteX37" fmla="*/ 914400 w 2972677"/>
              <a:gd name="connsiteY37" fmla="*/ 1765300 h 1816100"/>
              <a:gd name="connsiteX38" fmla="*/ 1066800 w 2972677"/>
              <a:gd name="connsiteY38" fmla="*/ 1784350 h 1816100"/>
              <a:gd name="connsiteX39" fmla="*/ 1168400 w 2972677"/>
              <a:gd name="connsiteY39" fmla="*/ 1797050 h 1816100"/>
              <a:gd name="connsiteX40" fmla="*/ 1250950 w 2972677"/>
              <a:gd name="connsiteY40" fmla="*/ 1803400 h 1816100"/>
              <a:gd name="connsiteX41" fmla="*/ 1320800 w 2972677"/>
              <a:gd name="connsiteY41" fmla="*/ 1809750 h 1816100"/>
              <a:gd name="connsiteX42" fmla="*/ 1447800 w 2972677"/>
              <a:gd name="connsiteY42" fmla="*/ 1816100 h 1816100"/>
              <a:gd name="connsiteX43" fmla="*/ 2127250 w 2972677"/>
              <a:gd name="connsiteY43" fmla="*/ 1803400 h 1816100"/>
              <a:gd name="connsiteX44" fmla="*/ 2241550 w 2972677"/>
              <a:gd name="connsiteY44" fmla="*/ 1778000 h 1816100"/>
              <a:gd name="connsiteX45" fmla="*/ 2393950 w 2972677"/>
              <a:gd name="connsiteY45" fmla="*/ 1727200 h 1816100"/>
              <a:gd name="connsiteX46" fmla="*/ 2508250 w 2972677"/>
              <a:gd name="connsiteY46" fmla="*/ 1625600 h 1816100"/>
              <a:gd name="connsiteX47" fmla="*/ 2578100 w 2972677"/>
              <a:gd name="connsiteY47" fmla="*/ 1543050 h 1816100"/>
              <a:gd name="connsiteX48" fmla="*/ 2698750 w 2972677"/>
              <a:gd name="connsiteY48" fmla="*/ 1435100 h 1816100"/>
              <a:gd name="connsiteX49" fmla="*/ 2794000 w 2972677"/>
              <a:gd name="connsiteY49" fmla="*/ 1301750 h 1816100"/>
              <a:gd name="connsiteX50" fmla="*/ 2825750 w 2972677"/>
              <a:gd name="connsiteY50" fmla="*/ 1244600 h 1816100"/>
              <a:gd name="connsiteX51" fmla="*/ 2851150 w 2972677"/>
              <a:gd name="connsiteY51" fmla="*/ 1174750 h 1816100"/>
              <a:gd name="connsiteX52" fmla="*/ 2889250 w 2972677"/>
              <a:gd name="connsiteY52" fmla="*/ 1104900 h 1816100"/>
              <a:gd name="connsiteX53" fmla="*/ 2940050 w 2972677"/>
              <a:gd name="connsiteY53" fmla="*/ 977900 h 1816100"/>
              <a:gd name="connsiteX54" fmla="*/ 2959100 w 2972677"/>
              <a:gd name="connsiteY54" fmla="*/ 927100 h 1816100"/>
              <a:gd name="connsiteX55" fmla="*/ 2965450 w 2972677"/>
              <a:gd name="connsiteY55" fmla="*/ 685800 h 1816100"/>
              <a:gd name="connsiteX56" fmla="*/ 2959100 w 2972677"/>
              <a:gd name="connsiteY56" fmla="*/ 654050 h 1816100"/>
              <a:gd name="connsiteX57" fmla="*/ 2940050 w 2972677"/>
              <a:gd name="connsiteY57" fmla="*/ 622300 h 1816100"/>
              <a:gd name="connsiteX58" fmla="*/ 2921000 w 2972677"/>
              <a:gd name="connsiteY58" fmla="*/ 577850 h 1816100"/>
              <a:gd name="connsiteX59" fmla="*/ 2901950 w 2972677"/>
              <a:gd name="connsiteY59" fmla="*/ 552450 h 1816100"/>
              <a:gd name="connsiteX60" fmla="*/ 2876550 w 2972677"/>
              <a:gd name="connsiteY60" fmla="*/ 514350 h 1816100"/>
              <a:gd name="connsiteX61" fmla="*/ 2851150 w 2972677"/>
              <a:gd name="connsiteY61" fmla="*/ 488950 h 1816100"/>
              <a:gd name="connsiteX62" fmla="*/ 2832100 w 2972677"/>
              <a:gd name="connsiteY62" fmla="*/ 457200 h 1816100"/>
              <a:gd name="connsiteX63" fmla="*/ 2781300 w 2972677"/>
              <a:gd name="connsiteY63" fmla="*/ 412750 h 1816100"/>
              <a:gd name="connsiteX64" fmla="*/ 2755900 w 2972677"/>
              <a:gd name="connsiteY64" fmla="*/ 381000 h 1816100"/>
              <a:gd name="connsiteX65" fmla="*/ 2667000 w 2972677"/>
              <a:gd name="connsiteY65" fmla="*/ 317500 h 1816100"/>
              <a:gd name="connsiteX66" fmla="*/ 2609850 w 2972677"/>
              <a:gd name="connsiteY66" fmla="*/ 273050 h 1816100"/>
              <a:gd name="connsiteX67" fmla="*/ 2578100 w 2972677"/>
              <a:gd name="connsiteY67" fmla="*/ 247650 h 1816100"/>
              <a:gd name="connsiteX68" fmla="*/ 2495550 w 2972677"/>
              <a:gd name="connsiteY68" fmla="*/ 203200 h 1816100"/>
              <a:gd name="connsiteX69" fmla="*/ 2463800 w 2972677"/>
              <a:gd name="connsiteY69" fmla="*/ 184150 h 1816100"/>
              <a:gd name="connsiteX70" fmla="*/ 2425700 w 2972677"/>
              <a:gd name="connsiteY70" fmla="*/ 171450 h 1816100"/>
              <a:gd name="connsiteX71" fmla="*/ 2349500 w 2972677"/>
              <a:gd name="connsiteY71" fmla="*/ 133350 h 1816100"/>
              <a:gd name="connsiteX72" fmla="*/ 2197100 w 2972677"/>
              <a:gd name="connsiteY72" fmla="*/ 88900 h 1816100"/>
              <a:gd name="connsiteX73" fmla="*/ 2044700 w 2972677"/>
              <a:gd name="connsiteY73" fmla="*/ 63500 h 1816100"/>
              <a:gd name="connsiteX74" fmla="*/ 1981200 w 2972677"/>
              <a:gd name="connsiteY74" fmla="*/ 57150 h 1816100"/>
              <a:gd name="connsiteX75" fmla="*/ 1917700 w 2972677"/>
              <a:gd name="connsiteY75" fmla="*/ 44450 h 1816100"/>
              <a:gd name="connsiteX76" fmla="*/ 1809750 w 2972677"/>
              <a:gd name="connsiteY76" fmla="*/ 38100 h 1816100"/>
              <a:gd name="connsiteX77" fmla="*/ 1739900 w 2972677"/>
              <a:gd name="connsiteY77" fmla="*/ 31750 h 1816100"/>
              <a:gd name="connsiteX78" fmla="*/ 1651000 w 2972677"/>
              <a:gd name="connsiteY78" fmla="*/ 25400 h 1816100"/>
              <a:gd name="connsiteX79" fmla="*/ 1606550 w 2972677"/>
              <a:gd name="connsiteY79" fmla="*/ 19050 h 1816100"/>
              <a:gd name="connsiteX80" fmla="*/ 1568450 w 2972677"/>
              <a:gd name="connsiteY80" fmla="*/ 12700 h 1816100"/>
              <a:gd name="connsiteX81" fmla="*/ 1371600 w 2972677"/>
              <a:gd name="connsiteY81" fmla="*/ 6350 h 1816100"/>
              <a:gd name="connsiteX82" fmla="*/ 825500 w 2972677"/>
              <a:gd name="connsiteY82" fmla="*/ 0 h 1816100"/>
              <a:gd name="connsiteX83" fmla="*/ 482600 w 2972677"/>
              <a:gd name="connsiteY83" fmla="*/ 6350 h 1816100"/>
              <a:gd name="connsiteX84" fmla="*/ 393700 w 2972677"/>
              <a:gd name="connsiteY84" fmla="*/ 19050 h 1816100"/>
              <a:gd name="connsiteX85" fmla="*/ 311150 w 2972677"/>
              <a:gd name="connsiteY85" fmla="*/ 38100 h 1816100"/>
              <a:gd name="connsiteX86" fmla="*/ 285750 w 2972677"/>
              <a:gd name="connsiteY86" fmla="*/ 44450 h 1816100"/>
              <a:gd name="connsiteX87" fmla="*/ 228600 w 2972677"/>
              <a:gd name="connsiteY87" fmla="*/ 63500 h 1816100"/>
              <a:gd name="connsiteX88" fmla="*/ 209550 w 2972677"/>
              <a:gd name="connsiteY88" fmla="*/ 76200 h 1816100"/>
              <a:gd name="connsiteX89" fmla="*/ 190500 w 2972677"/>
              <a:gd name="connsiteY89" fmla="*/ 95250 h 1816100"/>
              <a:gd name="connsiteX90" fmla="*/ 171450 w 2972677"/>
              <a:gd name="connsiteY90" fmla="*/ 101600 h 1816100"/>
              <a:gd name="connsiteX91" fmla="*/ 146050 w 2972677"/>
              <a:gd name="connsiteY91" fmla="*/ 127000 h 1816100"/>
              <a:gd name="connsiteX92" fmla="*/ 120650 w 2972677"/>
              <a:gd name="connsiteY92" fmla="*/ 158750 h 1816100"/>
              <a:gd name="connsiteX93" fmla="*/ 101600 w 2972677"/>
              <a:gd name="connsiteY93" fmla="*/ 171450 h 1816100"/>
              <a:gd name="connsiteX94" fmla="*/ 76200 w 2972677"/>
              <a:gd name="connsiteY94" fmla="*/ 203200 h 1816100"/>
              <a:gd name="connsiteX95" fmla="*/ 82550 w 2972677"/>
              <a:gd name="connsiteY95" fmla="*/ 247650 h 181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972677" h="1816100">
                <a:moveTo>
                  <a:pt x="82550" y="247650"/>
                </a:moveTo>
                <a:cubicBezTo>
                  <a:pt x="79375" y="260350"/>
                  <a:pt x="65282" y="268557"/>
                  <a:pt x="57150" y="279400"/>
                </a:cubicBezTo>
                <a:cubicBezTo>
                  <a:pt x="52571" y="285505"/>
                  <a:pt x="48886" y="292240"/>
                  <a:pt x="44450" y="298450"/>
                </a:cubicBezTo>
                <a:cubicBezTo>
                  <a:pt x="38299" y="307062"/>
                  <a:pt x="31750" y="315383"/>
                  <a:pt x="25400" y="323850"/>
                </a:cubicBezTo>
                <a:cubicBezTo>
                  <a:pt x="23283" y="332317"/>
                  <a:pt x="21448" y="340859"/>
                  <a:pt x="19050" y="349250"/>
                </a:cubicBezTo>
                <a:cubicBezTo>
                  <a:pt x="17211" y="355686"/>
                  <a:pt x="14152" y="361766"/>
                  <a:pt x="12700" y="368300"/>
                </a:cubicBezTo>
                <a:cubicBezTo>
                  <a:pt x="9907" y="380869"/>
                  <a:pt x="8875" y="393775"/>
                  <a:pt x="6350" y="406400"/>
                </a:cubicBezTo>
                <a:cubicBezTo>
                  <a:pt x="4638" y="414958"/>
                  <a:pt x="2117" y="423333"/>
                  <a:pt x="0" y="431800"/>
                </a:cubicBezTo>
                <a:cubicBezTo>
                  <a:pt x="2117" y="516467"/>
                  <a:pt x="2965" y="601175"/>
                  <a:pt x="6350" y="685800"/>
                </a:cubicBezTo>
                <a:cubicBezTo>
                  <a:pt x="7200" y="707055"/>
                  <a:pt x="7917" y="728573"/>
                  <a:pt x="12700" y="749300"/>
                </a:cubicBezTo>
                <a:cubicBezTo>
                  <a:pt x="14416" y="756736"/>
                  <a:pt x="21614" y="761724"/>
                  <a:pt x="25400" y="768350"/>
                </a:cubicBezTo>
                <a:cubicBezTo>
                  <a:pt x="30096" y="776569"/>
                  <a:pt x="33867" y="785283"/>
                  <a:pt x="38100" y="793750"/>
                </a:cubicBezTo>
                <a:cubicBezTo>
                  <a:pt x="43225" y="819373"/>
                  <a:pt x="44097" y="833754"/>
                  <a:pt x="57150" y="857250"/>
                </a:cubicBezTo>
                <a:cubicBezTo>
                  <a:pt x="62290" y="866501"/>
                  <a:pt x="69850" y="874183"/>
                  <a:pt x="76200" y="882650"/>
                </a:cubicBezTo>
                <a:cubicBezTo>
                  <a:pt x="80433" y="895350"/>
                  <a:pt x="83751" y="908393"/>
                  <a:pt x="88900" y="920750"/>
                </a:cubicBezTo>
                <a:cubicBezTo>
                  <a:pt x="114167" y="981391"/>
                  <a:pt x="100038" y="936677"/>
                  <a:pt x="127000" y="990600"/>
                </a:cubicBezTo>
                <a:cubicBezTo>
                  <a:pt x="134209" y="1005018"/>
                  <a:pt x="138281" y="1020925"/>
                  <a:pt x="146050" y="1035050"/>
                </a:cubicBezTo>
                <a:cubicBezTo>
                  <a:pt x="161621" y="1063360"/>
                  <a:pt x="180002" y="1090031"/>
                  <a:pt x="196850" y="1117600"/>
                </a:cubicBezTo>
                <a:cubicBezTo>
                  <a:pt x="217675" y="1151676"/>
                  <a:pt x="236814" y="1186838"/>
                  <a:pt x="260350" y="1219200"/>
                </a:cubicBezTo>
                <a:cubicBezTo>
                  <a:pt x="268322" y="1230161"/>
                  <a:pt x="277283" y="1240367"/>
                  <a:pt x="285750" y="1250950"/>
                </a:cubicBezTo>
                <a:cubicBezTo>
                  <a:pt x="289983" y="1263650"/>
                  <a:pt x="292463" y="1277076"/>
                  <a:pt x="298450" y="1289050"/>
                </a:cubicBezTo>
                <a:cubicBezTo>
                  <a:pt x="303183" y="1298516"/>
                  <a:pt x="311629" y="1305644"/>
                  <a:pt x="317500" y="1314450"/>
                </a:cubicBezTo>
                <a:cubicBezTo>
                  <a:pt x="338817" y="1346425"/>
                  <a:pt x="331870" y="1343915"/>
                  <a:pt x="355600" y="1371600"/>
                </a:cubicBezTo>
                <a:cubicBezTo>
                  <a:pt x="361444" y="1378418"/>
                  <a:pt x="368901" y="1383751"/>
                  <a:pt x="374650" y="1390650"/>
                </a:cubicBezTo>
                <a:cubicBezTo>
                  <a:pt x="379536" y="1396513"/>
                  <a:pt x="382464" y="1403837"/>
                  <a:pt x="387350" y="1409700"/>
                </a:cubicBezTo>
                <a:cubicBezTo>
                  <a:pt x="393099" y="1416599"/>
                  <a:pt x="400651" y="1421851"/>
                  <a:pt x="406400" y="1428750"/>
                </a:cubicBezTo>
                <a:cubicBezTo>
                  <a:pt x="411286" y="1434613"/>
                  <a:pt x="414214" y="1441937"/>
                  <a:pt x="419100" y="1447800"/>
                </a:cubicBezTo>
                <a:cubicBezTo>
                  <a:pt x="424849" y="1454699"/>
                  <a:pt x="432306" y="1460032"/>
                  <a:pt x="438150" y="1466850"/>
                </a:cubicBezTo>
                <a:cubicBezTo>
                  <a:pt x="445038" y="1474885"/>
                  <a:pt x="449716" y="1484766"/>
                  <a:pt x="457200" y="1492250"/>
                </a:cubicBezTo>
                <a:cubicBezTo>
                  <a:pt x="464684" y="1499734"/>
                  <a:pt x="474409" y="1504598"/>
                  <a:pt x="482600" y="1511300"/>
                </a:cubicBezTo>
                <a:cubicBezTo>
                  <a:pt x="497704" y="1523657"/>
                  <a:pt x="511268" y="1537922"/>
                  <a:pt x="527050" y="1549400"/>
                </a:cubicBezTo>
                <a:cubicBezTo>
                  <a:pt x="566688" y="1578228"/>
                  <a:pt x="538598" y="1546598"/>
                  <a:pt x="571500" y="1574800"/>
                </a:cubicBezTo>
                <a:cubicBezTo>
                  <a:pt x="580591" y="1582592"/>
                  <a:pt x="587702" y="1592535"/>
                  <a:pt x="596900" y="1600200"/>
                </a:cubicBezTo>
                <a:cubicBezTo>
                  <a:pt x="623270" y="1622175"/>
                  <a:pt x="681069" y="1663487"/>
                  <a:pt x="711200" y="1676400"/>
                </a:cubicBezTo>
                <a:cubicBezTo>
                  <a:pt x="726017" y="1682750"/>
                  <a:pt x="741232" y="1688241"/>
                  <a:pt x="755650" y="1695450"/>
                </a:cubicBezTo>
                <a:cubicBezTo>
                  <a:pt x="836793" y="1736022"/>
                  <a:pt x="734568" y="1694724"/>
                  <a:pt x="825500" y="1727200"/>
                </a:cubicBezTo>
                <a:cubicBezTo>
                  <a:pt x="842531" y="1733283"/>
                  <a:pt x="859677" y="1739126"/>
                  <a:pt x="876300" y="1746250"/>
                </a:cubicBezTo>
                <a:cubicBezTo>
                  <a:pt x="889351" y="1751843"/>
                  <a:pt x="900587" y="1762011"/>
                  <a:pt x="914400" y="1765300"/>
                </a:cubicBezTo>
                <a:cubicBezTo>
                  <a:pt x="938492" y="1771036"/>
                  <a:pt x="1031765" y="1780146"/>
                  <a:pt x="1066800" y="1784350"/>
                </a:cubicBezTo>
                <a:cubicBezTo>
                  <a:pt x="1100687" y="1788416"/>
                  <a:pt x="1134370" y="1794432"/>
                  <a:pt x="1168400" y="1797050"/>
                </a:cubicBezTo>
                <a:lnTo>
                  <a:pt x="1250950" y="1803400"/>
                </a:lnTo>
                <a:cubicBezTo>
                  <a:pt x="1274249" y="1805342"/>
                  <a:pt x="1297469" y="1808245"/>
                  <a:pt x="1320800" y="1809750"/>
                </a:cubicBezTo>
                <a:cubicBezTo>
                  <a:pt x="1363098" y="1812479"/>
                  <a:pt x="1405467" y="1813983"/>
                  <a:pt x="1447800" y="1816100"/>
                </a:cubicBezTo>
                <a:cubicBezTo>
                  <a:pt x="1674283" y="1811867"/>
                  <a:pt x="1900988" y="1814261"/>
                  <a:pt x="2127250" y="1803400"/>
                </a:cubicBezTo>
                <a:cubicBezTo>
                  <a:pt x="2166235" y="1801529"/>
                  <a:pt x="2204022" y="1788722"/>
                  <a:pt x="2241550" y="1778000"/>
                </a:cubicBezTo>
                <a:cubicBezTo>
                  <a:pt x="2293038" y="1763289"/>
                  <a:pt x="2393950" y="1727200"/>
                  <a:pt x="2393950" y="1727200"/>
                </a:cubicBezTo>
                <a:cubicBezTo>
                  <a:pt x="2432050" y="1693333"/>
                  <a:pt x="2475322" y="1664514"/>
                  <a:pt x="2508250" y="1625600"/>
                </a:cubicBezTo>
                <a:cubicBezTo>
                  <a:pt x="2531533" y="1598083"/>
                  <a:pt x="2552612" y="1568538"/>
                  <a:pt x="2578100" y="1543050"/>
                </a:cubicBezTo>
                <a:cubicBezTo>
                  <a:pt x="2616259" y="1504891"/>
                  <a:pt x="2665039" y="1477239"/>
                  <a:pt x="2698750" y="1435100"/>
                </a:cubicBezTo>
                <a:cubicBezTo>
                  <a:pt x="2753544" y="1366607"/>
                  <a:pt x="2748484" y="1377611"/>
                  <a:pt x="2794000" y="1301750"/>
                </a:cubicBezTo>
                <a:cubicBezTo>
                  <a:pt x="2805212" y="1283063"/>
                  <a:pt x="2816807" y="1264473"/>
                  <a:pt x="2825750" y="1244600"/>
                </a:cubicBezTo>
                <a:cubicBezTo>
                  <a:pt x="2835917" y="1222007"/>
                  <a:pt x="2840898" y="1197304"/>
                  <a:pt x="2851150" y="1174750"/>
                </a:cubicBezTo>
                <a:cubicBezTo>
                  <a:pt x="2862125" y="1150605"/>
                  <a:pt x="2878334" y="1129071"/>
                  <a:pt x="2889250" y="1104900"/>
                </a:cubicBezTo>
                <a:cubicBezTo>
                  <a:pt x="2908016" y="1063347"/>
                  <a:pt x="2923378" y="1020337"/>
                  <a:pt x="2940050" y="977900"/>
                </a:cubicBezTo>
                <a:cubicBezTo>
                  <a:pt x="2946663" y="961068"/>
                  <a:pt x="2959100" y="927100"/>
                  <a:pt x="2959100" y="927100"/>
                </a:cubicBezTo>
                <a:cubicBezTo>
                  <a:pt x="2975295" y="797539"/>
                  <a:pt x="2976473" y="834610"/>
                  <a:pt x="2965450" y="685800"/>
                </a:cubicBezTo>
                <a:cubicBezTo>
                  <a:pt x="2964653" y="675037"/>
                  <a:pt x="2963108" y="664071"/>
                  <a:pt x="2959100" y="654050"/>
                </a:cubicBezTo>
                <a:cubicBezTo>
                  <a:pt x="2954516" y="642591"/>
                  <a:pt x="2945570" y="633339"/>
                  <a:pt x="2940050" y="622300"/>
                </a:cubicBezTo>
                <a:cubicBezTo>
                  <a:pt x="2932841" y="607882"/>
                  <a:pt x="2928719" y="592002"/>
                  <a:pt x="2921000" y="577850"/>
                </a:cubicBezTo>
                <a:cubicBezTo>
                  <a:pt x="2915932" y="568559"/>
                  <a:pt x="2908019" y="561120"/>
                  <a:pt x="2901950" y="552450"/>
                </a:cubicBezTo>
                <a:cubicBezTo>
                  <a:pt x="2893197" y="539946"/>
                  <a:pt x="2886085" y="526269"/>
                  <a:pt x="2876550" y="514350"/>
                </a:cubicBezTo>
                <a:cubicBezTo>
                  <a:pt x="2869070" y="505000"/>
                  <a:pt x="2858501" y="498401"/>
                  <a:pt x="2851150" y="488950"/>
                </a:cubicBezTo>
                <a:cubicBezTo>
                  <a:pt x="2843573" y="479208"/>
                  <a:pt x="2839677" y="466942"/>
                  <a:pt x="2832100" y="457200"/>
                </a:cubicBezTo>
                <a:cubicBezTo>
                  <a:pt x="2797473" y="412679"/>
                  <a:pt x="2817820" y="449270"/>
                  <a:pt x="2781300" y="412750"/>
                </a:cubicBezTo>
                <a:cubicBezTo>
                  <a:pt x="2771716" y="403166"/>
                  <a:pt x="2765859" y="390193"/>
                  <a:pt x="2755900" y="381000"/>
                </a:cubicBezTo>
                <a:cubicBezTo>
                  <a:pt x="2679426" y="310409"/>
                  <a:pt x="2724344" y="358460"/>
                  <a:pt x="2667000" y="317500"/>
                </a:cubicBezTo>
                <a:cubicBezTo>
                  <a:pt x="2647362" y="303473"/>
                  <a:pt x="2628827" y="287960"/>
                  <a:pt x="2609850" y="273050"/>
                </a:cubicBezTo>
                <a:cubicBezTo>
                  <a:pt x="2599193" y="264676"/>
                  <a:pt x="2589868" y="254374"/>
                  <a:pt x="2578100" y="247650"/>
                </a:cubicBezTo>
                <a:cubicBezTo>
                  <a:pt x="2409086" y="151070"/>
                  <a:pt x="2642300" y="283245"/>
                  <a:pt x="2495550" y="203200"/>
                </a:cubicBezTo>
                <a:cubicBezTo>
                  <a:pt x="2484715" y="197290"/>
                  <a:pt x="2475036" y="189257"/>
                  <a:pt x="2463800" y="184150"/>
                </a:cubicBezTo>
                <a:cubicBezTo>
                  <a:pt x="2451613" y="178610"/>
                  <a:pt x="2437855" y="177060"/>
                  <a:pt x="2425700" y="171450"/>
                </a:cubicBezTo>
                <a:cubicBezTo>
                  <a:pt x="2347237" y="135236"/>
                  <a:pt x="2413203" y="155833"/>
                  <a:pt x="2349500" y="133350"/>
                </a:cubicBezTo>
                <a:cubicBezTo>
                  <a:pt x="2297585" y="115027"/>
                  <a:pt x="2251238" y="99427"/>
                  <a:pt x="2197100" y="88900"/>
                </a:cubicBezTo>
                <a:cubicBezTo>
                  <a:pt x="2146546" y="79070"/>
                  <a:pt x="2095945" y="68625"/>
                  <a:pt x="2044700" y="63500"/>
                </a:cubicBezTo>
                <a:cubicBezTo>
                  <a:pt x="2023533" y="61383"/>
                  <a:pt x="2002237" y="60306"/>
                  <a:pt x="1981200" y="57150"/>
                </a:cubicBezTo>
                <a:cubicBezTo>
                  <a:pt x="1959853" y="53948"/>
                  <a:pt x="1939154" y="46834"/>
                  <a:pt x="1917700" y="44450"/>
                </a:cubicBezTo>
                <a:cubicBezTo>
                  <a:pt x="1881875" y="40469"/>
                  <a:pt x="1845704" y="40668"/>
                  <a:pt x="1809750" y="38100"/>
                </a:cubicBezTo>
                <a:cubicBezTo>
                  <a:pt x="1786430" y="36434"/>
                  <a:pt x="1763205" y="33614"/>
                  <a:pt x="1739900" y="31750"/>
                </a:cubicBezTo>
                <a:cubicBezTo>
                  <a:pt x="1710286" y="29381"/>
                  <a:pt x="1680575" y="28217"/>
                  <a:pt x="1651000" y="25400"/>
                </a:cubicBezTo>
                <a:cubicBezTo>
                  <a:pt x="1636100" y="23981"/>
                  <a:pt x="1621343" y="21326"/>
                  <a:pt x="1606550" y="19050"/>
                </a:cubicBezTo>
                <a:cubicBezTo>
                  <a:pt x="1593825" y="17092"/>
                  <a:pt x="1581306" y="13395"/>
                  <a:pt x="1568450" y="12700"/>
                </a:cubicBezTo>
                <a:cubicBezTo>
                  <a:pt x="1502895" y="9156"/>
                  <a:pt x="1437241" y="7472"/>
                  <a:pt x="1371600" y="6350"/>
                </a:cubicBezTo>
                <a:lnTo>
                  <a:pt x="825500" y="0"/>
                </a:lnTo>
                <a:cubicBezTo>
                  <a:pt x="711200" y="2117"/>
                  <a:pt x="596809" y="1311"/>
                  <a:pt x="482600" y="6350"/>
                </a:cubicBezTo>
                <a:cubicBezTo>
                  <a:pt x="452695" y="7669"/>
                  <a:pt x="423227" y="14129"/>
                  <a:pt x="393700" y="19050"/>
                </a:cubicBezTo>
                <a:cubicBezTo>
                  <a:pt x="334586" y="28902"/>
                  <a:pt x="374939" y="20703"/>
                  <a:pt x="311150" y="38100"/>
                </a:cubicBezTo>
                <a:cubicBezTo>
                  <a:pt x="302730" y="40396"/>
                  <a:pt x="294029" y="41690"/>
                  <a:pt x="285750" y="44450"/>
                </a:cubicBezTo>
                <a:cubicBezTo>
                  <a:pt x="214015" y="68362"/>
                  <a:pt x="289469" y="48283"/>
                  <a:pt x="228600" y="63500"/>
                </a:cubicBezTo>
                <a:cubicBezTo>
                  <a:pt x="222250" y="67733"/>
                  <a:pt x="215413" y="71314"/>
                  <a:pt x="209550" y="76200"/>
                </a:cubicBezTo>
                <a:cubicBezTo>
                  <a:pt x="202651" y="81949"/>
                  <a:pt x="197972" y="90269"/>
                  <a:pt x="190500" y="95250"/>
                </a:cubicBezTo>
                <a:cubicBezTo>
                  <a:pt x="184931" y="98963"/>
                  <a:pt x="177800" y="99483"/>
                  <a:pt x="171450" y="101600"/>
                </a:cubicBezTo>
                <a:cubicBezTo>
                  <a:pt x="162983" y="110067"/>
                  <a:pt x="154005" y="118051"/>
                  <a:pt x="146050" y="127000"/>
                </a:cubicBezTo>
                <a:cubicBezTo>
                  <a:pt x="137046" y="137130"/>
                  <a:pt x="130234" y="149166"/>
                  <a:pt x="120650" y="158750"/>
                </a:cubicBezTo>
                <a:cubicBezTo>
                  <a:pt x="115254" y="164146"/>
                  <a:pt x="106996" y="166054"/>
                  <a:pt x="101600" y="171450"/>
                </a:cubicBezTo>
                <a:cubicBezTo>
                  <a:pt x="92016" y="181034"/>
                  <a:pt x="84877" y="192788"/>
                  <a:pt x="76200" y="203200"/>
                </a:cubicBezTo>
                <a:cubicBezTo>
                  <a:pt x="74284" y="205500"/>
                  <a:pt x="85725" y="234950"/>
                  <a:pt x="82550" y="247650"/>
                </a:cubicBezTo>
                <a:close/>
              </a:path>
            </a:pathLst>
          </a:custGeom>
          <a:solidFill>
            <a:schemeClr val="accent5">
              <a:lumMod val="40000"/>
              <a:lumOff val="60000"/>
              <a:alpha val="47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2AF7FA7A-E16D-4E78-BA03-AE55B2A8FD3F}"/>
              </a:ext>
            </a:extLst>
          </p:cNvPr>
          <p:cNvSpPr/>
          <p:nvPr/>
        </p:nvSpPr>
        <p:spPr>
          <a:xfrm>
            <a:off x="1144066" y="2368550"/>
            <a:ext cx="6939484" cy="3765550"/>
          </a:xfrm>
          <a:custGeom>
            <a:avLst/>
            <a:gdLst>
              <a:gd name="connsiteX0" fmla="*/ 894284 w 6939484"/>
              <a:gd name="connsiteY0" fmla="*/ 31750 h 3765550"/>
              <a:gd name="connsiteX1" fmla="*/ 856184 w 6939484"/>
              <a:gd name="connsiteY1" fmla="*/ 38100 h 3765550"/>
              <a:gd name="connsiteX2" fmla="*/ 741884 w 6939484"/>
              <a:gd name="connsiteY2" fmla="*/ 107950 h 3765550"/>
              <a:gd name="connsiteX3" fmla="*/ 551384 w 6939484"/>
              <a:gd name="connsiteY3" fmla="*/ 298450 h 3765550"/>
              <a:gd name="connsiteX4" fmla="*/ 500584 w 6939484"/>
              <a:gd name="connsiteY4" fmla="*/ 374650 h 3765550"/>
              <a:gd name="connsiteX5" fmla="*/ 252934 w 6939484"/>
              <a:gd name="connsiteY5" fmla="*/ 673100 h 3765550"/>
              <a:gd name="connsiteX6" fmla="*/ 176734 w 6939484"/>
              <a:gd name="connsiteY6" fmla="*/ 838200 h 3765550"/>
              <a:gd name="connsiteX7" fmla="*/ 75134 w 6939484"/>
              <a:gd name="connsiteY7" fmla="*/ 1225550 h 3765550"/>
              <a:gd name="connsiteX8" fmla="*/ 49734 w 6939484"/>
              <a:gd name="connsiteY8" fmla="*/ 1416050 h 3765550"/>
              <a:gd name="connsiteX9" fmla="*/ 24334 w 6939484"/>
              <a:gd name="connsiteY9" fmla="*/ 1555750 h 3765550"/>
              <a:gd name="connsiteX10" fmla="*/ 11634 w 6939484"/>
              <a:gd name="connsiteY10" fmla="*/ 1638300 h 3765550"/>
              <a:gd name="connsiteX11" fmla="*/ 11634 w 6939484"/>
              <a:gd name="connsiteY11" fmla="*/ 2146300 h 3765550"/>
              <a:gd name="connsiteX12" fmla="*/ 37034 w 6939484"/>
              <a:gd name="connsiteY12" fmla="*/ 2228850 h 3765550"/>
              <a:gd name="connsiteX13" fmla="*/ 119584 w 6939484"/>
              <a:gd name="connsiteY13" fmla="*/ 2406650 h 3765550"/>
              <a:gd name="connsiteX14" fmla="*/ 208484 w 6939484"/>
              <a:gd name="connsiteY14" fmla="*/ 2514600 h 3765550"/>
              <a:gd name="connsiteX15" fmla="*/ 379934 w 6939484"/>
              <a:gd name="connsiteY15" fmla="*/ 2673350 h 3765550"/>
              <a:gd name="connsiteX16" fmla="*/ 672034 w 6939484"/>
              <a:gd name="connsiteY16" fmla="*/ 2851150 h 3765550"/>
              <a:gd name="connsiteX17" fmla="*/ 1002234 w 6939484"/>
              <a:gd name="connsiteY17" fmla="*/ 3003550 h 3765550"/>
              <a:gd name="connsiteX18" fmla="*/ 1205434 w 6939484"/>
              <a:gd name="connsiteY18" fmla="*/ 3054350 h 3765550"/>
              <a:gd name="connsiteX19" fmla="*/ 1364184 w 6939484"/>
              <a:gd name="connsiteY19" fmla="*/ 3098800 h 3765550"/>
              <a:gd name="connsiteX20" fmla="*/ 1580084 w 6939484"/>
              <a:gd name="connsiteY20" fmla="*/ 3124200 h 3765550"/>
              <a:gd name="connsiteX21" fmla="*/ 1834084 w 6939484"/>
              <a:gd name="connsiteY21" fmla="*/ 3162300 h 3765550"/>
              <a:gd name="connsiteX22" fmla="*/ 2392884 w 6939484"/>
              <a:gd name="connsiteY22" fmla="*/ 3200400 h 3765550"/>
              <a:gd name="connsiteX23" fmla="*/ 2875484 w 6939484"/>
              <a:gd name="connsiteY23" fmla="*/ 3270250 h 3765550"/>
              <a:gd name="connsiteX24" fmla="*/ 3173934 w 6939484"/>
              <a:gd name="connsiteY24" fmla="*/ 3321050 h 3765550"/>
              <a:gd name="connsiteX25" fmla="*/ 3262834 w 6939484"/>
              <a:gd name="connsiteY25" fmla="*/ 3346450 h 3765550"/>
              <a:gd name="connsiteX26" fmla="*/ 3535884 w 6939484"/>
              <a:gd name="connsiteY26" fmla="*/ 3429000 h 3765550"/>
              <a:gd name="connsiteX27" fmla="*/ 3681934 w 6939484"/>
              <a:gd name="connsiteY27" fmla="*/ 3486150 h 3765550"/>
              <a:gd name="connsiteX28" fmla="*/ 4120084 w 6939484"/>
              <a:gd name="connsiteY28" fmla="*/ 3619500 h 3765550"/>
              <a:gd name="connsiteX29" fmla="*/ 4355034 w 6939484"/>
              <a:gd name="connsiteY29" fmla="*/ 3689350 h 3765550"/>
              <a:gd name="connsiteX30" fmla="*/ 4716984 w 6939484"/>
              <a:gd name="connsiteY30" fmla="*/ 3746500 h 3765550"/>
              <a:gd name="connsiteX31" fmla="*/ 4888434 w 6939484"/>
              <a:gd name="connsiteY31" fmla="*/ 3752850 h 3765550"/>
              <a:gd name="connsiteX32" fmla="*/ 5129734 w 6939484"/>
              <a:gd name="connsiteY32" fmla="*/ 3765550 h 3765550"/>
              <a:gd name="connsiteX33" fmla="*/ 5491684 w 6939484"/>
              <a:gd name="connsiteY33" fmla="*/ 3740150 h 3765550"/>
              <a:gd name="connsiteX34" fmla="*/ 5821884 w 6939484"/>
              <a:gd name="connsiteY34" fmla="*/ 3657600 h 3765550"/>
              <a:gd name="connsiteX35" fmla="*/ 6050484 w 6939484"/>
              <a:gd name="connsiteY35" fmla="*/ 3403600 h 3765550"/>
              <a:gd name="connsiteX36" fmla="*/ 6139384 w 6939484"/>
              <a:gd name="connsiteY36" fmla="*/ 3282950 h 3765550"/>
              <a:gd name="connsiteX37" fmla="*/ 6387034 w 6939484"/>
              <a:gd name="connsiteY37" fmla="*/ 3016250 h 3765550"/>
              <a:gd name="connsiteX38" fmla="*/ 6514034 w 6939484"/>
              <a:gd name="connsiteY38" fmla="*/ 2838450 h 3765550"/>
              <a:gd name="connsiteX39" fmla="*/ 6545784 w 6939484"/>
              <a:gd name="connsiteY39" fmla="*/ 2762250 h 3765550"/>
              <a:gd name="connsiteX40" fmla="*/ 6583884 w 6939484"/>
              <a:gd name="connsiteY40" fmla="*/ 2603500 h 3765550"/>
              <a:gd name="connsiteX41" fmla="*/ 6615634 w 6939484"/>
              <a:gd name="connsiteY41" fmla="*/ 2540000 h 3765550"/>
              <a:gd name="connsiteX42" fmla="*/ 6641034 w 6939484"/>
              <a:gd name="connsiteY42" fmla="*/ 2476500 h 3765550"/>
              <a:gd name="connsiteX43" fmla="*/ 6748984 w 6939484"/>
              <a:gd name="connsiteY43" fmla="*/ 2330450 h 3765550"/>
              <a:gd name="connsiteX44" fmla="*/ 6837884 w 6939484"/>
              <a:gd name="connsiteY44" fmla="*/ 2216150 h 3765550"/>
              <a:gd name="connsiteX45" fmla="*/ 6901384 w 6939484"/>
              <a:gd name="connsiteY45" fmla="*/ 2089150 h 3765550"/>
              <a:gd name="connsiteX46" fmla="*/ 6914084 w 6939484"/>
              <a:gd name="connsiteY46" fmla="*/ 2025650 h 3765550"/>
              <a:gd name="connsiteX47" fmla="*/ 6933134 w 6939484"/>
              <a:gd name="connsiteY47" fmla="*/ 1962150 h 3765550"/>
              <a:gd name="connsiteX48" fmla="*/ 6939484 w 6939484"/>
              <a:gd name="connsiteY48" fmla="*/ 1898650 h 3765550"/>
              <a:gd name="connsiteX49" fmla="*/ 6933134 w 6939484"/>
              <a:gd name="connsiteY49" fmla="*/ 1708150 h 3765550"/>
              <a:gd name="connsiteX50" fmla="*/ 6914084 w 6939484"/>
              <a:gd name="connsiteY50" fmla="*/ 1663700 h 3765550"/>
              <a:gd name="connsiteX51" fmla="*/ 6901384 w 6939484"/>
              <a:gd name="connsiteY51" fmla="*/ 1606550 h 3765550"/>
              <a:gd name="connsiteX52" fmla="*/ 6875984 w 6939484"/>
              <a:gd name="connsiteY52" fmla="*/ 1568450 h 3765550"/>
              <a:gd name="connsiteX53" fmla="*/ 6850584 w 6939484"/>
              <a:gd name="connsiteY53" fmla="*/ 1524000 h 3765550"/>
              <a:gd name="connsiteX54" fmla="*/ 6793434 w 6939484"/>
              <a:gd name="connsiteY54" fmla="*/ 1447800 h 3765550"/>
              <a:gd name="connsiteX55" fmla="*/ 6660084 w 6939484"/>
              <a:gd name="connsiteY55" fmla="*/ 1358900 h 3765550"/>
              <a:gd name="connsiteX56" fmla="*/ 6621984 w 6939484"/>
              <a:gd name="connsiteY56" fmla="*/ 1346200 h 3765550"/>
              <a:gd name="connsiteX57" fmla="*/ 6450534 w 6939484"/>
              <a:gd name="connsiteY57" fmla="*/ 1314450 h 3765550"/>
              <a:gd name="connsiteX58" fmla="*/ 6342584 w 6939484"/>
              <a:gd name="connsiteY58" fmla="*/ 1301750 h 3765550"/>
              <a:gd name="connsiteX59" fmla="*/ 6240984 w 6939484"/>
              <a:gd name="connsiteY59" fmla="*/ 1282700 h 3765550"/>
              <a:gd name="connsiteX60" fmla="*/ 6113984 w 6939484"/>
              <a:gd name="connsiteY60" fmla="*/ 1276350 h 3765550"/>
              <a:gd name="connsiteX61" fmla="*/ 6031434 w 6939484"/>
              <a:gd name="connsiteY61" fmla="*/ 1270000 h 3765550"/>
              <a:gd name="connsiteX62" fmla="*/ 5656784 w 6939484"/>
              <a:gd name="connsiteY62" fmla="*/ 1276350 h 3765550"/>
              <a:gd name="connsiteX63" fmla="*/ 5447234 w 6939484"/>
              <a:gd name="connsiteY63" fmla="*/ 1282700 h 3765550"/>
              <a:gd name="connsiteX64" fmla="*/ 4977334 w 6939484"/>
              <a:gd name="connsiteY64" fmla="*/ 1276350 h 3765550"/>
              <a:gd name="connsiteX65" fmla="*/ 4799534 w 6939484"/>
              <a:gd name="connsiteY65" fmla="*/ 1257300 h 3765550"/>
              <a:gd name="connsiteX66" fmla="*/ 4551884 w 6939484"/>
              <a:gd name="connsiteY66" fmla="*/ 1193800 h 3765550"/>
              <a:gd name="connsiteX67" fmla="*/ 4488384 w 6939484"/>
              <a:gd name="connsiteY67" fmla="*/ 1174750 h 3765550"/>
              <a:gd name="connsiteX68" fmla="*/ 4380434 w 6939484"/>
              <a:gd name="connsiteY68" fmla="*/ 1136650 h 3765550"/>
              <a:gd name="connsiteX69" fmla="*/ 4304234 w 6939484"/>
              <a:gd name="connsiteY69" fmla="*/ 1117600 h 3765550"/>
              <a:gd name="connsiteX70" fmla="*/ 4247084 w 6939484"/>
              <a:gd name="connsiteY70" fmla="*/ 1092200 h 3765550"/>
              <a:gd name="connsiteX71" fmla="*/ 4215334 w 6939484"/>
              <a:gd name="connsiteY71" fmla="*/ 1079500 h 3765550"/>
              <a:gd name="connsiteX72" fmla="*/ 4189934 w 6939484"/>
              <a:gd name="connsiteY72" fmla="*/ 1060450 h 3765550"/>
              <a:gd name="connsiteX73" fmla="*/ 4164534 w 6939484"/>
              <a:gd name="connsiteY73" fmla="*/ 1054100 h 3765550"/>
              <a:gd name="connsiteX74" fmla="*/ 4126434 w 6939484"/>
              <a:gd name="connsiteY74" fmla="*/ 1041400 h 3765550"/>
              <a:gd name="connsiteX75" fmla="*/ 4101034 w 6939484"/>
              <a:gd name="connsiteY75" fmla="*/ 1028700 h 3765550"/>
              <a:gd name="connsiteX76" fmla="*/ 4081984 w 6939484"/>
              <a:gd name="connsiteY76" fmla="*/ 1016000 h 3765550"/>
              <a:gd name="connsiteX77" fmla="*/ 4043884 w 6939484"/>
              <a:gd name="connsiteY77" fmla="*/ 1009650 h 3765550"/>
              <a:gd name="connsiteX78" fmla="*/ 4012134 w 6939484"/>
              <a:gd name="connsiteY78" fmla="*/ 1003300 h 3765550"/>
              <a:gd name="connsiteX79" fmla="*/ 3986734 w 6939484"/>
              <a:gd name="connsiteY79" fmla="*/ 990600 h 3765550"/>
              <a:gd name="connsiteX80" fmla="*/ 3758134 w 6939484"/>
              <a:gd name="connsiteY80" fmla="*/ 965200 h 3765550"/>
              <a:gd name="connsiteX81" fmla="*/ 3618434 w 6939484"/>
              <a:gd name="connsiteY81" fmla="*/ 946150 h 3765550"/>
              <a:gd name="connsiteX82" fmla="*/ 3561284 w 6939484"/>
              <a:gd name="connsiteY82" fmla="*/ 939800 h 3765550"/>
              <a:gd name="connsiteX83" fmla="*/ 3497784 w 6939484"/>
              <a:gd name="connsiteY83" fmla="*/ 927100 h 3765550"/>
              <a:gd name="connsiteX84" fmla="*/ 3434284 w 6939484"/>
              <a:gd name="connsiteY84" fmla="*/ 920750 h 3765550"/>
              <a:gd name="connsiteX85" fmla="*/ 3212034 w 6939484"/>
              <a:gd name="connsiteY85" fmla="*/ 908050 h 3765550"/>
              <a:gd name="connsiteX86" fmla="*/ 3053284 w 6939484"/>
              <a:gd name="connsiteY86" fmla="*/ 895350 h 3765550"/>
              <a:gd name="connsiteX87" fmla="*/ 2881834 w 6939484"/>
              <a:gd name="connsiteY87" fmla="*/ 882650 h 3765550"/>
              <a:gd name="connsiteX88" fmla="*/ 2780234 w 6939484"/>
              <a:gd name="connsiteY88" fmla="*/ 857250 h 3765550"/>
              <a:gd name="connsiteX89" fmla="*/ 2723084 w 6939484"/>
              <a:gd name="connsiteY89" fmla="*/ 844550 h 3765550"/>
              <a:gd name="connsiteX90" fmla="*/ 2615134 w 6939484"/>
              <a:gd name="connsiteY90" fmla="*/ 812800 h 3765550"/>
              <a:gd name="connsiteX91" fmla="*/ 2570684 w 6939484"/>
              <a:gd name="connsiteY91" fmla="*/ 787400 h 3765550"/>
              <a:gd name="connsiteX92" fmla="*/ 2532584 w 6939484"/>
              <a:gd name="connsiteY92" fmla="*/ 774700 h 3765550"/>
              <a:gd name="connsiteX93" fmla="*/ 2443684 w 6939484"/>
              <a:gd name="connsiteY93" fmla="*/ 717550 h 3765550"/>
              <a:gd name="connsiteX94" fmla="*/ 2392884 w 6939484"/>
              <a:gd name="connsiteY94" fmla="*/ 685800 h 3765550"/>
              <a:gd name="connsiteX95" fmla="*/ 2323034 w 6939484"/>
              <a:gd name="connsiteY95" fmla="*/ 641350 h 3765550"/>
              <a:gd name="connsiteX96" fmla="*/ 2284934 w 6939484"/>
              <a:gd name="connsiteY96" fmla="*/ 609600 h 3765550"/>
              <a:gd name="connsiteX97" fmla="*/ 2253184 w 6939484"/>
              <a:gd name="connsiteY97" fmla="*/ 590550 h 3765550"/>
              <a:gd name="connsiteX98" fmla="*/ 2170634 w 6939484"/>
              <a:gd name="connsiteY98" fmla="*/ 533400 h 3765550"/>
              <a:gd name="connsiteX99" fmla="*/ 2113484 w 6939484"/>
              <a:gd name="connsiteY99" fmla="*/ 488950 h 3765550"/>
              <a:gd name="connsiteX100" fmla="*/ 1942034 w 6939484"/>
              <a:gd name="connsiteY100" fmla="*/ 368300 h 3765550"/>
              <a:gd name="connsiteX101" fmla="*/ 1910284 w 6939484"/>
              <a:gd name="connsiteY101" fmla="*/ 342900 h 3765550"/>
              <a:gd name="connsiteX102" fmla="*/ 1859484 w 6939484"/>
              <a:gd name="connsiteY102" fmla="*/ 317500 h 3765550"/>
              <a:gd name="connsiteX103" fmla="*/ 1757884 w 6939484"/>
              <a:gd name="connsiteY103" fmla="*/ 241300 h 3765550"/>
              <a:gd name="connsiteX104" fmla="*/ 1662634 w 6939484"/>
              <a:gd name="connsiteY104" fmla="*/ 190500 h 3765550"/>
              <a:gd name="connsiteX105" fmla="*/ 1624534 w 6939484"/>
              <a:gd name="connsiteY105" fmla="*/ 177800 h 3765550"/>
              <a:gd name="connsiteX106" fmla="*/ 1554684 w 6939484"/>
              <a:gd name="connsiteY106" fmla="*/ 146050 h 3765550"/>
              <a:gd name="connsiteX107" fmla="*/ 1516584 w 6939484"/>
              <a:gd name="connsiteY107" fmla="*/ 127000 h 3765550"/>
              <a:gd name="connsiteX108" fmla="*/ 1434034 w 6939484"/>
              <a:gd name="connsiteY108" fmla="*/ 95250 h 3765550"/>
              <a:gd name="connsiteX109" fmla="*/ 1402284 w 6939484"/>
              <a:gd name="connsiteY109" fmla="*/ 76200 h 3765550"/>
              <a:gd name="connsiteX110" fmla="*/ 1332434 w 6939484"/>
              <a:gd name="connsiteY110" fmla="*/ 57150 h 3765550"/>
              <a:gd name="connsiteX111" fmla="*/ 1287984 w 6939484"/>
              <a:gd name="connsiteY111" fmla="*/ 31750 h 3765550"/>
              <a:gd name="connsiteX112" fmla="*/ 1237184 w 6939484"/>
              <a:gd name="connsiteY112" fmla="*/ 25400 h 3765550"/>
              <a:gd name="connsiteX113" fmla="*/ 1192734 w 6939484"/>
              <a:gd name="connsiteY113" fmla="*/ 6350 h 3765550"/>
              <a:gd name="connsiteX114" fmla="*/ 1154634 w 6939484"/>
              <a:gd name="connsiteY114" fmla="*/ 0 h 3765550"/>
              <a:gd name="connsiteX115" fmla="*/ 843484 w 6939484"/>
              <a:gd name="connsiteY115" fmla="*/ 6350 h 3765550"/>
              <a:gd name="connsiteX116" fmla="*/ 830784 w 6939484"/>
              <a:gd name="connsiteY116" fmla="*/ 44450 h 3765550"/>
              <a:gd name="connsiteX117" fmla="*/ 805384 w 6939484"/>
              <a:gd name="connsiteY117" fmla="*/ 69850 h 376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939484" h="3765550">
                <a:moveTo>
                  <a:pt x="894284" y="31750"/>
                </a:moveTo>
                <a:cubicBezTo>
                  <a:pt x="881584" y="33867"/>
                  <a:pt x="868398" y="34029"/>
                  <a:pt x="856184" y="38100"/>
                </a:cubicBezTo>
                <a:cubicBezTo>
                  <a:pt x="808942" y="53847"/>
                  <a:pt x="778488" y="73223"/>
                  <a:pt x="741884" y="107950"/>
                </a:cubicBezTo>
                <a:cubicBezTo>
                  <a:pt x="676736" y="169758"/>
                  <a:pt x="601197" y="223730"/>
                  <a:pt x="551384" y="298450"/>
                </a:cubicBezTo>
                <a:cubicBezTo>
                  <a:pt x="534451" y="323850"/>
                  <a:pt x="520201" y="351260"/>
                  <a:pt x="500584" y="374650"/>
                </a:cubicBezTo>
                <a:cubicBezTo>
                  <a:pt x="410177" y="482443"/>
                  <a:pt x="319437" y="540095"/>
                  <a:pt x="252934" y="673100"/>
                </a:cubicBezTo>
                <a:cubicBezTo>
                  <a:pt x="229316" y="720337"/>
                  <a:pt x="192144" y="791970"/>
                  <a:pt x="176734" y="838200"/>
                </a:cubicBezTo>
                <a:cubicBezTo>
                  <a:pt x="143348" y="938358"/>
                  <a:pt x="94735" y="1110125"/>
                  <a:pt x="75134" y="1225550"/>
                </a:cubicBezTo>
                <a:cubicBezTo>
                  <a:pt x="64409" y="1288708"/>
                  <a:pt x="59475" y="1352733"/>
                  <a:pt x="49734" y="1416050"/>
                </a:cubicBezTo>
                <a:cubicBezTo>
                  <a:pt x="42537" y="1462830"/>
                  <a:pt x="32331" y="1509100"/>
                  <a:pt x="24334" y="1555750"/>
                </a:cubicBezTo>
                <a:cubicBezTo>
                  <a:pt x="19630" y="1583190"/>
                  <a:pt x="15867" y="1610783"/>
                  <a:pt x="11634" y="1638300"/>
                </a:cubicBezTo>
                <a:cubicBezTo>
                  <a:pt x="-1316" y="1832544"/>
                  <a:pt x="-6247" y="1867356"/>
                  <a:pt x="11634" y="2146300"/>
                </a:cubicBezTo>
                <a:cubicBezTo>
                  <a:pt x="13476" y="2175031"/>
                  <a:pt x="27035" y="2201852"/>
                  <a:pt x="37034" y="2228850"/>
                </a:cubicBezTo>
                <a:cubicBezTo>
                  <a:pt x="48341" y="2259378"/>
                  <a:pt x="101661" y="2380193"/>
                  <a:pt x="119584" y="2406650"/>
                </a:cubicBezTo>
                <a:cubicBezTo>
                  <a:pt x="145728" y="2445243"/>
                  <a:pt x="175922" y="2481244"/>
                  <a:pt x="208484" y="2514600"/>
                </a:cubicBezTo>
                <a:cubicBezTo>
                  <a:pt x="262891" y="2570334"/>
                  <a:pt x="319996" y="2623614"/>
                  <a:pt x="379934" y="2673350"/>
                </a:cubicBezTo>
                <a:cubicBezTo>
                  <a:pt x="464571" y="2743580"/>
                  <a:pt x="574615" y="2803690"/>
                  <a:pt x="672034" y="2851150"/>
                </a:cubicBezTo>
                <a:cubicBezTo>
                  <a:pt x="781013" y="2904243"/>
                  <a:pt x="884629" y="2974149"/>
                  <a:pt x="1002234" y="3003550"/>
                </a:cubicBezTo>
                <a:lnTo>
                  <a:pt x="1205434" y="3054350"/>
                </a:lnTo>
                <a:cubicBezTo>
                  <a:pt x="1258577" y="3068335"/>
                  <a:pt x="1310163" y="3088728"/>
                  <a:pt x="1364184" y="3098800"/>
                </a:cubicBezTo>
                <a:cubicBezTo>
                  <a:pt x="1435419" y="3112081"/>
                  <a:pt x="1508274" y="3114496"/>
                  <a:pt x="1580084" y="3124200"/>
                </a:cubicBezTo>
                <a:cubicBezTo>
                  <a:pt x="1664927" y="3135665"/>
                  <a:pt x="1749018" y="3152633"/>
                  <a:pt x="1834084" y="3162300"/>
                </a:cubicBezTo>
                <a:cubicBezTo>
                  <a:pt x="2037992" y="3185471"/>
                  <a:pt x="2191194" y="3190315"/>
                  <a:pt x="2392884" y="3200400"/>
                </a:cubicBezTo>
                <a:cubicBezTo>
                  <a:pt x="2530229" y="3218713"/>
                  <a:pt x="2751855" y="3247070"/>
                  <a:pt x="2875484" y="3270250"/>
                </a:cubicBezTo>
                <a:cubicBezTo>
                  <a:pt x="3110166" y="3314253"/>
                  <a:pt x="3010375" y="3299242"/>
                  <a:pt x="3173934" y="3321050"/>
                </a:cubicBezTo>
                <a:lnTo>
                  <a:pt x="3262834" y="3346450"/>
                </a:lnTo>
                <a:cubicBezTo>
                  <a:pt x="3381053" y="3378278"/>
                  <a:pt x="3379606" y="3367848"/>
                  <a:pt x="3535884" y="3429000"/>
                </a:cubicBezTo>
                <a:cubicBezTo>
                  <a:pt x="3584567" y="3448050"/>
                  <a:pt x="3632232" y="3469943"/>
                  <a:pt x="3681934" y="3486150"/>
                </a:cubicBezTo>
                <a:cubicBezTo>
                  <a:pt x="3827077" y="3533479"/>
                  <a:pt x="3973934" y="3575379"/>
                  <a:pt x="4120084" y="3619500"/>
                </a:cubicBezTo>
                <a:cubicBezTo>
                  <a:pt x="4198302" y="3643113"/>
                  <a:pt x="4274696" y="3674473"/>
                  <a:pt x="4355034" y="3689350"/>
                </a:cubicBezTo>
                <a:cubicBezTo>
                  <a:pt x="4484126" y="3713256"/>
                  <a:pt x="4584989" y="3734921"/>
                  <a:pt x="4716984" y="3746500"/>
                </a:cubicBezTo>
                <a:cubicBezTo>
                  <a:pt x="4773954" y="3751497"/>
                  <a:pt x="4831306" y="3750213"/>
                  <a:pt x="4888434" y="3752850"/>
                </a:cubicBezTo>
                <a:lnTo>
                  <a:pt x="5129734" y="3765550"/>
                </a:lnTo>
                <a:cubicBezTo>
                  <a:pt x="5250384" y="3757083"/>
                  <a:pt x="5372182" y="3758788"/>
                  <a:pt x="5491684" y="3740150"/>
                </a:cubicBezTo>
                <a:cubicBezTo>
                  <a:pt x="5603783" y="3722667"/>
                  <a:pt x="5821884" y="3657600"/>
                  <a:pt x="5821884" y="3657600"/>
                </a:cubicBezTo>
                <a:cubicBezTo>
                  <a:pt x="5957984" y="3542439"/>
                  <a:pt x="5895637" y="3604483"/>
                  <a:pt x="6050484" y="3403600"/>
                </a:cubicBezTo>
                <a:cubicBezTo>
                  <a:pt x="6080982" y="3364035"/>
                  <a:pt x="6104644" y="3318848"/>
                  <a:pt x="6139384" y="3282950"/>
                </a:cubicBezTo>
                <a:cubicBezTo>
                  <a:pt x="6213448" y="3206417"/>
                  <a:pt x="6317315" y="3110009"/>
                  <a:pt x="6387034" y="3016250"/>
                </a:cubicBezTo>
                <a:cubicBezTo>
                  <a:pt x="6430494" y="2957804"/>
                  <a:pt x="6486021" y="2905680"/>
                  <a:pt x="6514034" y="2838450"/>
                </a:cubicBezTo>
                <a:lnTo>
                  <a:pt x="6545784" y="2762250"/>
                </a:lnTo>
                <a:cubicBezTo>
                  <a:pt x="6556030" y="2711021"/>
                  <a:pt x="6566468" y="2651878"/>
                  <a:pt x="6583884" y="2603500"/>
                </a:cubicBezTo>
                <a:cubicBezTo>
                  <a:pt x="6591900" y="2581234"/>
                  <a:pt x="6605923" y="2561581"/>
                  <a:pt x="6615634" y="2540000"/>
                </a:cubicBezTo>
                <a:cubicBezTo>
                  <a:pt x="6624989" y="2519211"/>
                  <a:pt x="6628795" y="2495733"/>
                  <a:pt x="6641034" y="2476500"/>
                </a:cubicBezTo>
                <a:cubicBezTo>
                  <a:pt x="6673535" y="2425426"/>
                  <a:pt x="6712210" y="2378539"/>
                  <a:pt x="6748984" y="2330450"/>
                </a:cubicBezTo>
                <a:cubicBezTo>
                  <a:pt x="6777024" y="2293782"/>
                  <a:pt x="6813246" y="2256466"/>
                  <a:pt x="6837884" y="2216150"/>
                </a:cubicBezTo>
                <a:cubicBezTo>
                  <a:pt x="6870533" y="2162725"/>
                  <a:pt x="6877344" y="2143240"/>
                  <a:pt x="6901384" y="2089150"/>
                </a:cubicBezTo>
                <a:cubicBezTo>
                  <a:pt x="6905617" y="2067983"/>
                  <a:pt x="6908849" y="2046591"/>
                  <a:pt x="6914084" y="2025650"/>
                </a:cubicBezTo>
                <a:cubicBezTo>
                  <a:pt x="6919444" y="2004211"/>
                  <a:pt x="6928800" y="1983820"/>
                  <a:pt x="6933134" y="1962150"/>
                </a:cubicBezTo>
                <a:cubicBezTo>
                  <a:pt x="6937306" y="1941291"/>
                  <a:pt x="6937367" y="1919817"/>
                  <a:pt x="6939484" y="1898650"/>
                </a:cubicBezTo>
                <a:cubicBezTo>
                  <a:pt x="6937367" y="1835150"/>
                  <a:pt x="6939963" y="1771317"/>
                  <a:pt x="6933134" y="1708150"/>
                </a:cubicBezTo>
                <a:cubicBezTo>
                  <a:pt x="6931401" y="1692123"/>
                  <a:pt x="6918892" y="1679086"/>
                  <a:pt x="6914084" y="1663700"/>
                </a:cubicBezTo>
                <a:cubicBezTo>
                  <a:pt x="6908263" y="1645074"/>
                  <a:pt x="6908632" y="1624669"/>
                  <a:pt x="6901384" y="1606550"/>
                </a:cubicBezTo>
                <a:cubicBezTo>
                  <a:pt x="6895715" y="1592378"/>
                  <a:pt x="6883984" y="1581449"/>
                  <a:pt x="6875984" y="1568450"/>
                </a:cubicBezTo>
                <a:cubicBezTo>
                  <a:pt x="6867040" y="1553916"/>
                  <a:pt x="6859812" y="1538355"/>
                  <a:pt x="6850584" y="1524000"/>
                </a:cubicBezTo>
                <a:cubicBezTo>
                  <a:pt x="6846240" y="1517242"/>
                  <a:pt x="6803945" y="1457503"/>
                  <a:pt x="6793434" y="1447800"/>
                </a:cubicBezTo>
                <a:cubicBezTo>
                  <a:pt x="6766635" y="1423063"/>
                  <a:pt x="6691867" y="1369494"/>
                  <a:pt x="6660084" y="1358900"/>
                </a:cubicBezTo>
                <a:cubicBezTo>
                  <a:pt x="6647384" y="1354667"/>
                  <a:pt x="6634971" y="1349447"/>
                  <a:pt x="6621984" y="1346200"/>
                </a:cubicBezTo>
                <a:cubicBezTo>
                  <a:pt x="6592709" y="1338881"/>
                  <a:pt x="6461157" y="1316012"/>
                  <a:pt x="6450534" y="1314450"/>
                </a:cubicBezTo>
                <a:cubicBezTo>
                  <a:pt x="6414688" y="1309179"/>
                  <a:pt x="6378407" y="1307178"/>
                  <a:pt x="6342584" y="1301750"/>
                </a:cubicBezTo>
                <a:cubicBezTo>
                  <a:pt x="6308516" y="1296588"/>
                  <a:pt x="6275230" y="1286505"/>
                  <a:pt x="6240984" y="1282700"/>
                </a:cubicBezTo>
                <a:cubicBezTo>
                  <a:pt x="6198857" y="1278019"/>
                  <a:pt x="6156293" y="1278914"/>
                  <a:pt x="6113984" y="1276350"/>
                </a:cubicBezTo>
                <a:cubicBezTo>
                  <a:pt x="6086437" y="1274680"/>
                  <a:pt x="6058951" y="1272117"/>
                  <a:pt x="6031434" y="1270000"/>
                </a:cubicBezTo>
                <a:lnTo>
                  <a:pt x="5656784" y="1276350"/>
                </a:lnTo>
                <a:cubicBezTo>
                  <a:pt x="5586918" y="1277869"/>
                  <a:pt x="5517116" y="1282700"/>
                  <a:pt x="5447234" y="1282700"/>
                </a:cubicBezTo>
                <a:cubicBezTo>
                  <a:pt x="5290586" y="1282700"/>
                  <a:pt x="5133967" y="1278467"/>
                  <a:pt x="4977334" y="1276350"/>
                </a:cubicBezTo>
                <a:cubicBezTo>
                  <a:pt x="4916504" y="1270820"/>
                  <a:pt x="4860807" y="1266377"/>
                  <a:pt x="4799534" y="1257300"/>
                </a:cubicBezTo>
                <a:cubicBezTo>
                  <a:pt x="4725574" y="1246343"/>
                  <a:pt x="4603508" y="1208361"/>
                  <a:pt x="4551884" y="1193800"/>
                </a:cubicBezTo>
                <a:cubicBezTo>
                  <a:pt x="4530615" y="1187801"/>
                  <a:pt x="4509223" y="1182105"/>
                  <a:pt x="4488384" y="1174750"/>
                </a:cubicBezTo>
                <a:cubicBezTo>
                  <a:pt x="4452401" y="1162050"/>
                  <a:pt x="4418074" y="1142923"/>
                  <a:pt x="4380434" y="1136650"/>
                </a:cubicBezTo>
                <a:cubicBezTo>
                  <a:pt x="4336574" y="1129340"/>
                  <a:pt x="4346808" y="1133081"/>
                  <a:pt x="4304234" y="1117600"/>
                </a:cubicBezTo>
                <a:cubicBezTo>
                  <a:pt x="4252470" y="1098777"/>
                  <a:pt x="4292001" y="1112163"/>
                  <a:pt x="4247084" y="1092200"/>
                </a:cubicBezTo>
                <a:cubicBezTo>
                  <a:pt x="4236668" y="1087571"/>
                  <a:pt x="4225298" y="1085036"/>
                  <a:pt x="4215334" y="1079500"/>
                </a:cubicBezTo>
                <a:cubicBezTo>
                  <a:pt x="4206083" y="1074360"/>
                  <a:pt x="4199400" y="1065183"/>
                  <a:pt x="4189934" y="1060450"/>
                </a:cubicBezTo>
                <a:cubicBezTo>
                  <a:pt x="4182128" y="1056547"/>
                  <a:pt x="4172893" y="1056608"/>
                  <a:pt x="4164534" y="1054100"/>
                </a:cubicBezTo>
                <a:cubicBezTo>
                  <a:pt x="4151712" y="1050253"/>
                  <a:pt x="4138408" y="1047387"/>
                  <a:pt x="4126434" y="1041400"/>
                </a:cubicBezTo>
                <a:cubicBezTo>
                  <a:pt x="4117967" y="1037167"/>
                  <a:pt x="4109253" y="1033396"/>
                  <a:pt x="4101034" y="1028700"/>
                </a:cubicBezTo>
                <a:cubicBezTo>
                  <a:pt x="4094408" y="1024914"/>
                  <a:pt x="4089224" y="1018413"/>
                  <a:pt x="4081984" y="1016000"/>
                </a:cubicBezTo>
                <a:cubicBezTo>
                  <a:pt x="4069770" y="1011929"/>
                  <a:pt x="4056552" y="1011953"/>
                  <a:pt x="4043884" y="1009650"/>
                </a:cubicBezTo>
                <a:cubicBezTo>
                  <a:pt x="4033265" y="1007719"/>
                  <a:pt x="4022717" y="1005417"/>
                  <a:pt x="4012134" y="1003300"/>
                </a:cubicBezTo>
                <a:cubicBezTo>
                  <a:pt x="4003667" y="999067"/>
                  <a:pt x="3996016" y="992456"/>
                  <a:pt x="3986734" y="990600"/>
                </a:cubicBezTo>
                <a:cubicBezTo>
                  <a:pt x="3869743" y="967202"/>
                  <a:pt x="3864269" y="974429"/>
                  <a:pt x="3758134" y="965200"/>
                </a:cubicBezTo>
                <a:cubicBezTo>
                  <a:pt x="3725157" y="962332"/>
                  <a:pt x="3640862" y="948642"/>
                  <a:pt x="3618434" y="946150"/>
                </a:cubicBezTo>
                <a:cubicBezTo>
                  <a:pt x="3599384" y="944033"/>
                  <a:pt x="3580217" y="942789"/>
                  <a:pt x="3561284" y="939800"/>
                </a:cubicBezTo>
                <a:cubicBezTo>
                  <a:pt x="3539962" y="936433"/>
                  <a:pt x="3519131" y="930302"/>
                  <a:pt x="3497784" y="927100"/>
                </a:cubicBezTo>
                <a:cubicBezTo>
                  <a:pt x="3476747" y="923944"/>
                  <a:pt x="3455469" y="922676"/>
                  <a:pt x="3434284" y="920750"/>
                </a:cubicBezTo>
                <a:cubicBezTo>
                  <a:pt x="3329450" y="911220"/>
                  <a:pt x="3345450" y="913851"/>
                  <a:pt x="3212034" y="908050"/>
                </a:cubicBezTo>
                <a:cubicBezTo>
                  <a:pt x="3094624" y="896309"/>
                  <a:pt x="3203038" y="906443"/>
                  <a:pt x="3053284" y="895350"/>
                </a:cubicBezTo>
                <a:cubicBezTo>
                  <a:pt x="2810485" y="877365"/>
                  <a:pt x="3170916" y="901922"/>
                  <a:pt x="2881834" y="882650"/>
                </a:cubicBezTo>
                <a:lnTo>
                  <a:pt x="2780234" y="857250"/>
                </a:lnTo>
                <a:cubicBezTo>
                  <a:pt x="2761258" y="852696"/>
                  <a:pt x="2741928" y="849623"/>
                  <a:pt x="2723084" y="844550"/>
                </a:cubicBezTo>
                <a:cubicBezTo>
                  <a:pt x="2686866" y="834799"/>
                  <a:pt x="2647700" y="831409"/>
                  <a:pt x="2615134" y="812800"/>
                </a:cubicBezTo>
                <a:cubicBezTo>
                  <a:pt x="2600317" y="804333"/>
                  <a:pt x="2586178" y="794551"/>
                  <a:pt x="2570684" y="787400"/>
                </a:cubicBezTo>
                <a:cubicBezTo>
                  <a:pt x="2558529" y="781790"/>
                  <a:pt x="2544314" y="781151"/>
                  <a:pt x="2532584" y="774700"/>
                </a:cubicBezTo>
                <a:cubicBezTo>
                  <a:pt x="2501716" y="757723"/>
                  <a:pt x="2473405" y="736463"/>
                  <a:pt x="2443684" y="717550"/>
                </a:cubicBezTo>
                <a:cubicBezTo>
                  <a:pt x="2426837" y="706829"/>
                  <a:pt x="2409767" y="696463"/>
                  <a:pt x="2392884" y="685800"/>
                </a:cubicBezTo>
                <a:cubicBezTo>
                  <a:pt x="2369550" y="671063"/>
                  <a:pt x="2344235" y="659018"/>
                  <a:pt x="2323034" y="641350"/>
                </a:cubicBezTo>
                <a:cubicBezTo>
                  <a:pt x="2310334" y="630767"/>
                  <a:pt x="2298304" y="619323"/>
                  <a:pt x="2284934" y="609600"/>
                </a:cubicBezTo>
                <a:cubicBezTo>
                  <a:pt x="2274952" y="602341"/>
                  <a:pt x="2263453" y="597396"/>
                  <a:pt x="2253184" y="590550"/>
                </a:cubicBezTo>
                <a:cubicBezTo>
                  <a:pt x="2225337" y="571986"/>
                  <a:pt x="2197700" y="553085"/>
                  <a:pt x="2170634" y="533400"/>
                </a:cubicBezTo>
                <a:cubicBezTo>
                  <a:pt x="2151116" y="519205"/>
                  <a:pt x="2133049" y="503080"/>
                  <a:pt x="2113484" y="488950"/>
                </a:cubicBezTo>
                <a:cubicBezTo>
                  <a:pt x="2056832" y="448035"/>
                  <a:pt x="1996603" y="411955"/>
                  <a:pt x="1942034" y="368300"/>
                </a:cubicBezTo>
                <a:cubicBezTo>
                  <a:pt x="1931451" y="359833"/>
                  <a:pt x="1921827" y="350003"/>
                  <a:pt x="1910284" y="342900"/>
                </a:cubicBezTo>
                <a:cubicBezTo>
                  <a:pt x="1894160" y="332978"/>
                  <a:pt x="1875236" y="328002"/>
                  <a:pt x="1859484" y="317500"/>
                </a:cubicBezTo>
                <a:cubicBezTo>
                  <a:pt x="1824261" y="294018"/>
                  <a:pt x="1796794" y="257976"/>
                  <a:pt x="1757884" y="241300"/>
                </a:cubicBezTo>
                <a:cubicBezTo>
                  <a:pt x="1604002" y="175351"/>
                  <a:pt x="1839926" y="279146"/>
                  <a:pt x="1662634" y="190500"/>
                </a:cubicBezTo>
                <a:cubicBezTo>
                  <a:pt x="1650660" y="184513"/>
                  <a:pt x="1636913" y="182897"/>
                  <a:pt x="1624534" y="177800"/>
                </a:cubicBezTo>
                <a:cubicBezTo>
                  <a:pt x="1600885" y="168062"/>
                  <a:pt x="1577825" y="156940"/>
                  <a:pt x="1554684" y="146050"/>
                </a:cubicBezTo>
                <a:cubicBezTo>
                  <a:pt x="1541836" y="140004"/>
                  <a:pt x="1529670" y="132510"/>
                  <a:pt x="1516584" y="127000"/>
                </a:cubicBezTo>
                <a:cubicBezTo>
                  <a:pt x="1489413" y="115559"/>
                  <a:pt x="1459314" y="110418"/>
                  <a:pt x="1434034" y="95250"/>
                </a:cubicBezTo>
                <a:cubicBezTo>
                  <a:pt x="1423451" y="88900"/>
                  <a:pt x="1413520" y="81307"/>
                  <a:pt x="1402284" y="76200"/>
                </a:cubicBezTo>
                <a:cubicBezTo>
                  <a:pt x="1376964" y="64691"/>
                  <a:pt x="1358753" y="62414"/>
                  <a:pt x="1332434" y="57150"/>
                </a:cubicBezTo>
                <a:cubicBezTo>
                  <a:pt x="1321097" y="49592"/>
                  <a:pt x="1300874" y="34973"/>
                  <a:pt x="1287984" y="31750"/>
                </a:cubicBezTo>
                <a:cubicBezTo>
                  <a:pt x="1271428" y="27611"/>
                  <a:pt x="1254117" y="27517"/>
                  <a:pt x="1237184" y="25400"/>
                </a:cubicBezTo>
                <a:cubicBezTo>
                  <a:pt x="1222367" y="19050"/>
                  <a:pt x="1208141" y="11091"/>
                  <a:pt x="1192734" y="6350"/>
                </a:cubicBezTo>
                <a:cubicBezTo>
                  <a:pt x="1180428" y="2564"/>
                  <a:pt x="1167509" y="0"/>
                  <a:pt x="1154634" y="0"/>
                </a:cubicBezTo>
                <a:cubicBezTo>
                  <a:pt x="1050896" y="0"/>
                  <a:pt x="947201" y="4233"/>
                  <a:pt x="843484" y="6350"/>
                </a:cubicBezTo>
                <a:cubicBezTo>
                  <a:pt x="839251" y="19050"/>
                  <a:pt x="837672" y="32971"/>
                  <a:pt x="830784" y="44450"/>
                </a:cubicBezTo>
                <a:cubicBezTo>
                  <a:pt x="824624" y="54717"/>
                  <a:pt x="805384" y="69850"/>
                  <a:pt x="805384" y="69850"/>
                </a:cubicBezTo>
              </a:path>
            </a:pathLst>
          </a:custGeom>
          <a:solidFill>
            <a:schemeClr val="accent4">
              <a:lumMod val="40000"/>
              <a:lumOff val="60000"/>
              <a:alpha val="48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p:cNvSpPr>
            <a:spLocks noGrp="1"/>
          </p:cNvSpPr>
          <p:nvPr>
            <p:ph type="sldNum" sz="quarter" idx="12"/>
          </p:nvPr>
        </p:nvSpPr>
        <p:spPr/>
        <p:txBody>
          <a:bodyPr/>
          <a:lstStyle/>
          <a:p>
            <a:fld id="{E663D701-F6D3-45BB-89CD-EE32AA93FC3C}" type="slidenum">
              <a:rPr lang="zh-CN" altLang="en-US" smtClean="0"/>
              <a:t>23</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157"/>
            <a:ext cx="4453817"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dirty="0">
                <a:latin typeface="微软雅黑" panose="020B0503020204020204" pitchFamily="34" charset="-122"/>
                <a:ea typeface="微软雅黑" panose="020B0503020204020204" pitchFamily="34" charset="-122"/>
              </a:rPr>
              <a:t>网络支撑时间最长能耗</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920263" y="170918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cxnSp>
        <p:nvCxnSpPr>
          <p:cNvPr id="96" name="直接箭头连接符 95">
            <a:extLst>
              <a:ext uri="{FF2B5EF4-FFF2-40B4-BE49-F238E27FC236}">
                <a16:creationId xmlns:a16="http://schemas.microsoft.com/office/drawing/2014/main" id="{2F6C9012-791C-40AE-B750-FBDA015AE2F7}"/>
              </a:ext>
            </a:extLst>
          </p:cNvPr>
          <p:cNvCxnSpPr>
            <a:cxnSpLocks/>
          </p:cNvCxnSpPr>
          <p:nvPr/>
        </p:nvCxnSpPr>
        <p:spPr>
          <a:xfrm>
            <a:off x="3945287" y="2344359"/>
            <a:ext cx="456372" cy="49080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F8EC1E24-BD0F-4189-95A9-FD6D1136B4FA}"/>
              </a:ext>
            </a:extLst>
          </p:cNvPr>
          <p:cNvSpPr txBox="1"/>
          <p:nvPr/>
        </p:nvSpPr>
        <p:spPr>
          <a:xfrm>
            <a:off x="2356646" y="1595991"/>
            <a:ext cx="2417926" cy="769441"/>
          </a:xfrm>
          <a:prstGeom prst="rect">
            <a:avLst/>
          </a:prstGeom>
          <a:noFill/>
        </p:spPr>
        <p:txBody>
          <a:bodyPr wrap="square" rtlCol="0">
            <a:spAutoFit/>
          </a:bodyPr>
          <a:lstStyle/>
          <a:p>
            <a:pPr>
              <a:spcAft>
                <a:spcPts val="600"/>
              </a:spcAft>
            </a:pP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选取的路由应尽可能不经过</a:t>
            </a: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99" name="文本框 98">
            <a:extLst>
              <a:ext uri="{FF2B5EF4-FFF2-40B4-BE49-F238E27FC236}">
                <a16:creationId xmlns:a16="http://schemas.microsoft.com/office/drawing/2014/main" id="{FD7EDD40-FE9E-468F-9399-E57728BE24BC}"/>
              </a:ext>
            </a:extLst>
          </p:cNvPr>
          <p:cNvSpPr txBox="1"/>
          <p:nvPr/>
        </p:nvSpPr>
        <p:spPr>
          <a:xfrm>
            <a:off x="5194263" y="557351"/>
            <a:ext cx="2965718" cy="830997"/>
          </a:xfrm>
          <a:prstGeom prst="rect">
            <a:avLst/>
          </a:prstGeom>
          <a:solidFill>
            <a:schemeClr val="accent5">
              <a:lumMod val="40000"/>
              <a:lumOff val="60000"/>
            </a:schemeClr>
          </a:solidFill>
          <a:ln w="28575">
            <a:solidFill>
              <a:schemeClr val="tx1"/>
            </a:solidFill>
          </a:ln>
        </p:spPr>
        <p:txBody>
          <a:bodyPr wrap="square" rtlCol="0">
            <a:spAutoFit/>
          </a:bodyPr>
          <a:lstStyle/>
          <a:p>
            <a:pPr algn="ct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重点关注网络支撑时间，避免网络分化</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86924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1000"/>
                                        <p:tgtEl>
                                          <p:spTgt spid="99"/>
                                        </p:tgtEl>
                                      </p:cBhvr>
                                    </p:animEffect>
                                    <p:anim calcmode="lin" valueType="num">
                                      <p:cBhvr>
                                        <p:cTn id="26" dur="1000" fill="hold"/>
                                        <p:tgtEl>
                                          <p:spTgt spid="99"/>
                                        </p:tgtEl>
                                        <p:attrNameLst>
                                          <p:attrName>ppt_x</p:attrName>
                                        </p:attrNameLst>
                                      </p:cBhvr>
                                      <p:tavLst>
                                        <p:tav tm="0">
                                          <p:val>
                                            <p:strVal val="#ppt_x"/>
                                          </p:val>
                                        </p:tav>
                                        <p:tav tm="100000">
                                          <p:val>
                                            <p:strVal val="#ppt_x"/>
                                          </p:val>
                                        </p:tav>
                                      </p:tavLst>
                                    </p:anim>
                                    <p:anim calcmode="lin" valueType="num">
                                      <p:cBhvr>
                                        <p:cTn id="27"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6" grpId="0" animBg="1"/>
      <p:bldP spid="2" grpId="0"/>
      <p:bldP spid="98" grpId="0"/>
      <p:bldP spid="9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24</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157"/>
            <a:ext cx="5030670"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rPr>
              <a:t>链路剩余能量最高 </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894181" y="36933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sp>
        <p:nvSpPr>
          <p:cNvPr id="105" name="文本框 104">
            <a:extLst>
              <a:ext uri="{FF2B5EF4-FFF2-40B4-BE49-F238E27FC236}">
                <a16:creationId xmlns:a16="http://schemas.microsoft.com/office/drawing/2014/main" id="{8EE8E539-3B91-42D7-80D2-9330D0A4B24A}"/>
              </a:ext>
            </a:extLst>
          </p:cNvPr>
          <p:cNvSpPr txBox="1"/>
          <p:nvPr/>
        </p:nvSpPr>
        <p:spPr>
          <a:xfrm>
            <a:off x="753352" y="4725778"/>
            <a:ext cx="203310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-B-G-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397DA2AA-53F7-4EA5-9462-8B027E6C6473}"/>
              </a:ext>
            </a:extLst>
          </p:cNvPr>
          <p:cNvSpPr txBox="1"/>
          <p:nvPr/>
        </p:nvSpPr>
        <p:spPr>
          <a:xfrm>
            <a:off x="753351" y="5211781"/>
            <a:ext cx="2231149"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1D4582A8-65F5-4DC3-906E-413647B23E2B}"/>
              </a:ext>
            </a:extLst>
          </p:cNvPr>
          <p:cNvSpPr txBox="1"/>
          <p:nvPr/>
        </p:nvSpPr>
        <p:spPr>
          <a:xfrm>
            <a:off x="753350" y="5710610"/>
            <a:ext cx="2163607"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-C-E-H-</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文本框 112">
            <a:extLst>
              <a:ext uri="{FF2B5EF4-FFF2-40B4-BE49-F238E27FC236}">
                <a16:creationId xmlns:a16="http://schemas.microsoft.com/office/drawing/2014/main" id="{8B65E379-8224-4EA7-90A2-9053BC0BCDE2}"/>
              </a:ext>
            </a:extLst>
          </p:cNvPr>
          <p:cNvSpPr txBox="1"/>
          <p:nvPr/>
        </p:nvSpPr>
        <p:spPr>
          <a:xfrm>
            <a:off x="753352" y="4192102"/>
            <a:ext cx="236118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-A-D-G-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文本框 116">
            <a:extLst>
              <a:ext uri="{FF2B5EF4-FFF2-40B4-BE49-F238E27FC236}">
                <a16:creationId xmlns:a16="http://schemas.microsoft.com/office/drawing/2014/main" id="{43906620-BEDE-4748-BD6B-196EEA0515CA}"/>
              </a:ext>
            </a:extLst>
          </p:cNvPr>
          <p:cNvSpPr txBox="1"/>
          <p:nvPr/>
        </p:nvSpPr>
        <p:spPr>
          <a:xfrm>
            <a:off x="3381090" y="4216510"/>
            <a:ext cx="3071557"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(1+2+2)/3 = 5/3</a:t>
            </a:r>
          </a:p>
        </p:txBody>
      </p:sp>
      <p:sp>
        <p:nvSpPr>
          <p:cNvPr id="118" name="文本框 117">
            <a:extLst>
              <a:ext uri="{FF2B5EF4-FFF2-40B4-BE49-F238E27FC236}">
                <a16:creationId xmlns:a16="http://schemas.microsoft.com/office/drawing/2014/main" id="{F7AF9045-488E-4E9D-9898-8C4F399593B3}"/>
              </a:ext>
            </a:extLst>
          </p:cNvPr>
          <p:cNvSpPr txBox="1"/>
          <p:nvPr/>
        </p:nvSpPr>
        <p:spPr>
          <a:xfrm>
            <a:off x="3827698" y="4723246"/>
            <a:ext cx="2262015"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(2+2)/2 = 2</a:t>
            </a:r>
          </a:p>
        </p:txBody>
      </p:sp>
      <p:sp>
        <p:nvSpPr>
          <p:cNvPr id="119" name="文本框 118">
            <a:extLst>
              <a:ext uri="{FF2B5EF4-FFF2-40B4-BE49-F238E27FC236}">
                <a16:creationId xmlns:a16="http://schemas.microsoft.com/office/drawing/2014/main" id="{D2CC4E4E-397F-4443-B939-575A49E5CDE8}"/>
              </a:ext>
            </a:extLst>
          </p:cNvPr>
          <p:cNvSpPr txBox="1"/>
          <p:nvPr/>
        </p:nvSpPr>
        <p:spPr>
          <a:xfrm>
            <a:off x="3365233" y="5244900"/>
            <a:ext cx="3202114"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(5+1+2)/3 = 8/3</a:t>
            </a:r>
          </a:p>
        </p:txBody>
      </p:sp>
      <p:sp>
        <p:nvSpPr>
          <p:cNvPr id="120" name="文本框 119">
            <a:extLst>
              <a:ext uri="{FF2B5EF4-FFF2-40B4-BE49-F238E27FC236}">
                <a16:creationId xmlns:a16="http://schemas.microsoft.com/office/drawing/2014/main" id="{766177B2-B408-4139-8BAB-87926D338A94}"/>
              </a:ext>
            </a:extLst>
          </p:cNvPr>
          <p:cNvSpPr txBox="1"/>
          <p:nvPr/>
        </p:nvSpPr>
        <p:spPr>
          <a:xfrm>
            <a:off x="3365233" y="5732586"/>
            <a:ext cx="272448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(5+1+3)/3 = 3</a:t>
            </a:r>
          </a:p>
        </p:txBody>
      </p:sp>
      <p:sp>
        <p:nvSpPr>
          <p:cNvPr id="88" name="文本框 87">
            <a:extLst>
              <a:ext uri="{FF2B5EF4-FFF2-40B4-BE49-F238E27FC236}">
                <a16:creationId xmlns:a16="http://schemas.microsoft.com/office/drawing/2014/main" id="{A34F7B61-2448-4596-8E0A-E8B7D5BADE83}"/>
              </a:ext>
            </a:extLst>
          </p:cNvPr>
          <p:cNvSpPr txBox="1"/>
          <p:nvPr/>
        </p:nvSpPr>
        <p:spPr>
          <a:xfrm>
            <a:off x="339457" y="1229028"/>
            <a:ext cx="2361008" cy="1135054"/>
          </a:xfrm>
          <a:prstGeom prst="rect">
            <a:avLst/>
          </a:prstGeom>
          <a:solidFill>
            <a:schemeClr val="accent5">
              <a:lumMod val="40000"/>
              <a:lumOff val="60000"/>
            </a:schemeClr>
          </a:solidFill>
          <a:ln w="28575">
            <a:solidFill>
              <a:schemeClr val="tx1"/>
            </a:solidFill>
          </a:ln>
        </p:spPr>
        <p:txBody>
          <a:bodyPr wrap="square" rtlCol="0">
            <a:spAutoFit/>
          </a:bodyPr>
          <a:lstStyle/>
          <a:p>
            <a:pPr algn="ctr">
              <a:lnSpc>
                <a:spcPct val="150000"/>
              </a:lnSpc>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重点关注链路平均剩余能量最高</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90277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88"/>
                                        </p:tgtEl>
                                        <p:attrNameLst>
                                          <p:attrName>style.visibility</p:attrName>
                                        </p:attrNameLst>
                                      </p:cBhvr>
                                      <p:to>
                                        <p:strVal val="visible"/>
                                      </p:to>
                                    </p:set>
                                    <p:animEffect transition="in" filter="fade">
                                      <p:cBhvr>
                                        <p:cTn id="39" dur="1000"/>
                                        <p:tgtEl>
                                          <p:spTgt spid="88"/>
                                        </p:tgtEl>
                                      </p:cBhvr>
                                    </p:animEffect>
                                    <p:anim calcmode="lin" valueType="num">
                                      <p:cBhvr>
                                        <p:cTn id="40" dur="1000" fill="hold"/>
                                        <p:tgtEl>
                                          <p:spTgt spid="88"/>
                                        </p:tgtEl>
                                        <p:attrNameLst>
                                          <p:attrName>ppt_x</p:attrName>
                                        </p:attrNameLst>
                                      </p:cBhvr>
                                      <p:tavLst>
                                        <p:tav tm="0">
                                          <p:val>
                                            <p:strVal val="#ppt_x"/>
                                          </p:val>
                                        </p:tav>
                                        <p:tav tm="100000">
                                          <p:val>
                                            <p:strVal val="#ppt_x"/>
                                          </p:val>
                                        </p:tav>
                                      </p:tavLst>
                                    </p:anim>
                                    <p:anim calcmode="lin" valueType="num">
                                      <p:cBhvr>
                                        <p:cTn id="41"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5" grpId="0"/>
      <p:bldP spid="106" grpId="0"/>
      <p:bldP spid="107" grpId="0"/>
      <p:bldP spid="113" grpId="0"/>
      <p:bldP spid="117" grpId="0"/>
      <p:bldP spid="118" grpId="0"/>
      <p:bldP spid="119" grpId="0"/>
      <p:bldP spid="120" grpId="0"/>
      <p:bldP spid="8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25</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157"/>
            <a:ext cx="861559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rPr>
              <a:t>链路剩余能量最高 </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894181" y="36933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sp>
        <p:nvSpPr>
          <p:cNvPr id="105" name="文本框 104">
            <a:extLst>
              <a:ext uri="{FF2B5EF4-FFF2-40B4-BE49-F238E27FC236}">
                <a16:creationId xmlns:a16="http://schemas.microsoft.com/office/drawing/2014/main" id="{8EE8E539-3B91-42D7-80D2-9330D0A4B24A}"/>
              </a:ext>
            </a:extLst>
          </p:cNvPr>
          <p:cNvSpPr txBox="1"/>
          <p:nvPr/>
        </p:nvSpPr>
        <p:spPr>
          <a:xfrm>
            <a:off x="753352" y="4725778"/>
            <a:ext cx="203310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-B-G-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397DA2AA-53F7-4EA5-9462-8B027E6C6473}"/>
              </a:ext>
            </a:extLst>
          </p:cNvPr>
          <p:cNvSpPr txBox="1"/>
          <p:nvPr/>
        </p:nvSpPr>
        <p:spPr>
          <a:xfrm>
            <a:off x="753351" y="5211781"/>
            <a:ext cx="2231149"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1D4582A8-65F5-4DC3-906E-413647B23E2B}"/>
              </a:ext>
            </a:extLst>
          </p:cNvPr>
          <p:cNvSpPr txBox="1"/>
          <p:nvPr/>
        </p:nvSpPr>
        <p:spPr>
          <a:xfrm>
            <a:off x="753350" y="5710610"/>
            <a:ext cx="2163607" cy="492443"/>
          </a:xfrm>
          <a:prstGeom prst="rect">
            <a:avLst/>
          </a:prstGeom>
          <a:noFill/>
        </p:spPr>
        <p:txBody>
          <a:bodyPr wrap="square" rtlCol="0">
            <a:spAutoFit/>
          </a:bodyPr>
          <a:lstStyle/>
          <a:p>
            <a:pPr>
              <a:spcAft>
                <a:spcPts val="600"/>
              </a:spcAft>
            </a:pPr>
            <a:r>
              <a:rPr lang="zh-CN" altLang="en-US"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-C-E-H-</a:t>
            </a:r>
            <a:r>
              <a:rPr lang="zh-CN" altLang="en-US"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文本框 112">
            <a:extLst>
              <a:ext uri="{FF2B5EF4-FFF2-40B4-BE49-F238E27FC236}">
                <a16:creationId xmlns:a16="http://schemas.microsoft.com/office/drawing/2014/main" id="{8B65E379-8224-4EA7-90A2-9053BC0BCDE2}"/>
              </a:ext>
            </a:extLst>
          </p:cNvPr>
          <p:cNvSpPr txBox="1"/>
          <p:nvPr/>
        </p:nvSpPr>
        <p:spPr>
          <a:xfrm>
            <a:off x="753352" y="4192102"/>
            <a:ext cx="236118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-A-D-G-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文本框 116">
            <a:extLst>
              <a:ext uri="{FF2B5EF4-FFF2-40B4-BE49-F238E27FC236}">
                <a16:creationId xmlns:a16="http://schemas.microsoft.com/office/drawing/2014/main" id="{43906620-BEDE-4748-BD6B-196EEA0515CA}"/>
              </a:ext>
            </a:extLst>
          </p:cNvPr>
          <p:cNvSpPr txBox="1"/>
          <p:nvPr/>
        </p:nvSpPr>
        <p:spPr>
          <a:xfrm>
            <a:off x="3381090" y="4216510"/>
            <a:ext cx="3071557"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(1+2+2)/3 = 5/3</a:t>
            </a:r>
          </a:p>
        </p:txBody>
      </p:sp>
      <p:sp>
        <p:nvSpPr>
          <p:cNvPr id="118" name="文本框 117">
            <a:extLst>
              <a:ext uri="{FF2B5EF4-FFF2-40B4-BE49-F238E27FC236}">
                <a16:creationId xmlns:a16="http://schemas.microsoft.com/office/drawing/2014/main" id="{F7AF9045-488E-4E9D-9898-8C4F399593B3}"/>
              </a:ext>
            </a:extLst>
          </p:cNvPr>
          <p:cNvSpPr txBox="1"/>
          <p:nvPr/>
        </p:nvSpPr>
        <p:spPr>
          <a:xfrm>
            <a:off x="3827698" y="4723246"/>
            <a:ext cx="2262015"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(2+2)/2 = 2</a:t>
            </a:r>
          </a:p>
        </p:txBody>
      </p:sp>
      <p:sp>
        <p:nvSpPr>
          <p:cNvPr id="119" name="文本框 118">
            <a:extLst>
              <a:ext uri="{FF2B5EF4-FFF2-40B4-BE49-F238E27FC236}">
                <a16:creationId xmlns:a16="http://schemas.microsoft.com/office/drawing/2014/main" id="{D2CC4E4E-397F-4443-B939-575A49E5CDE8}"/>
              </a:ext>
            </a:extLst>
          </p:cNvPr>
          <p:cNvSpPr txBox="1"/>
          <p:nvPr/>
        </p:nvSpPr>
        <p:spPr>
          <a:xfrm>
            <a:off x="3365233" y="5244900"/>
            <a:ext cx="3202114"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(5+1+2)/3 = 8/3</a:t>
            </a:r>
          </a:p>
        </p:txBody>
      </p:sp>
      <p:sp>
        <p:nvSpPr>
          <p:cNvPr id="120" name="文本框 119">
            <a:extLst>
              <a:ext uri="{FF2B5EF4-FFF2-40B4-BE49-F238E27FC236}">
                <a16:creationId xmlns:a16="http://schemas.microsoft.com/office/drawing/2014/main" id="{766177B2-B408-4139-8BAB-87926D338A94}"/>
              </a:ext>
            </a:extLst>
          </p:cNvPr>
          <p:cNvSpPr txBox="1"/>
          <p:nvPr/>
        </p:nvSpPr>
        <p:spPr>
          <a:xfrm>
            <a:off x="3365233" y="5732586"/>
            <a:ext cx="2724481" cy="492443"/>
          </a:xfrm>
          <a:prstGeom prst="rect">
            <a:avLst/>
          </a:prstGeom>
          <a:noFill/>
        </p:spPr>
        <p:txBody>
          <a:bodyPr wrap="square" rtlCol="0">
            <a:spAutoFit/>
          </a:bodyPr>
          <a:lstStyle/>
          <a:p>
            <a:pPr>
              <a:spcAft>
                <a:spcPts val="600"/>
              </a:spcAft>
            </a:pPr>
            <a:r>
              <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(5+1+3)/3 = 3</a:t>
            </a:r>
          </a:p>
        </p:txBody>
      </p:sp>
      <p:sp>
        <p:nvSpPr>
          <p:cNvPr id="88" name="文本框 87">
            <a:extLst>
              <a:ext uri="{FF2B5EF4-FFF2-40B4-BE49-F238E27FC236}">
                <a16:creationId xmlns:a16="http://schemas.microsoft.com/office/drawing/2014/main" id="{A34F7B61-2448-4596-8E0A-E8B7D5BADE83}"/>
              </a:ext>
            </a:extLst>
          </p:cNvPr>
          <p:cNvSpPr txBox="1"/>
          <p:nvPr/>
        </p:nvSpPr>
        <p:spPr>
          <a:xfrm>
            <a:off x="339457" y="1229028"/>
            <a:ext cx="2361008" cy="1135054"/>
          </a:xfrm>
          <a:prstGeom prst="rect">
            <a:avLst/>
          </a:prstGeom>
          <a:solidFill>
            <a:schemeClr val="accent5">
              <a:lumMod val="40000"/>
              <a:lumOff val="60000"/>
            </a:schemeClr>
          </a:solidFill>
          <a:ln w="28575">
            <a:solidFill>
              <a:schemeClr val="tx1"/>
            </a:solidFill>
          </a:ln>
        </p:spPr>
        <p:txBody>
          <a:bodyPr wrap="square" rtlCol="0">
            <a:spAutoFit/>
          </a:bodyPr>
          <a:lstStyle/>
          <a:p>
            <a:pPr algn="ctr">
              <a:lnSpc>
                <a:spcPct val="150000"/>
              </a:lnSpc>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重点关注链路平均剩余能量最高</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4905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26</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548"/>
            <a:ext cx="861559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rPr>
              <a:t>链路能量最低节点最大化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894181" y="36933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sp>
        <p:nvSpPr>
          <p:cNvPr id="105" name="文本框 104">
            <a:extLst>
              <a:ext uri="{FF2B5EF4-FFF2-40B4-BE49-F238E27FC236}">
                <a16:creationId xmlns:a16="http://schemas.microsoft.com/office/drawing/2014/main" id="{8EE8E539-3B91-42D7-80D2-9330D0A4B24A}"/>
              </a:ext>
            </a:extLst>
          </p:cNvPr>
          <p:cNvSpPr txBox="1"/>
          <p:nvPr/>
        </p:nvSpPr>
        <p:spPr>
          <a:xfrm>
            <a:off x="753352" y="4725778"/>
            <a:ext cx="203310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-B-G-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397DA2AA-53F7-4EA5-9462-8B027E6C6473}"/>
              </a:ext>
            </a:extLst>
          </p:cNvPr>
          <p:cNvSpPr txBox="1"/>
          <p:nvPr/>
        </p:nvSpPr>
        <p:spPr>
          <a:xfrm>
            <a:off x="753351" y="5211781"/>
            <a:ext cx="2231149"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1D4582A8-65F5-4DC3-906E-413647B23E2B}"/>
              </a:ext>
            </a:extLst>
          </p:cNvPr>
          <p:cNvSpPr txBox="1"/>
          <p:nvPr/>
        </p:nvSpPr>
        <p:spPr>
          <a:xfrm>
            <a:off x="753350" y="5710610"/>
            <a:ext cx="2163607"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-C-E-H-</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文本框 112">
            <a:extLst>
              <a:ext uri="{FF2B5EF4-FFF2-40B4-BE49-F238E27FC236}">
                <a16:creationId xmlns:a16="http://schemas.microsoft.com/office/drawing/2014/main" id="{8B65E379-8224-4EA7-90A2-9053BC0BCDE2}"/>
              </a:ext>
            </a:extLst>
          </p:cNvPr>
          <p:cNvSpPr txBox="1"/>
          <p:nvPr/>
        </p:nvSpPr>
        <p:spPr>
          <a:xfrm>
            <a:off x="753352" y="4192102"/>
            <a:ext cx="236118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-A-D-G-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文本框 116">
            <a:extLst>
              <a:ext uri="{FF2B5EF4-FFF2-40B4-BE49-F238E27FC236}">
                <a16:creationId xmlns:a16="http://schemas.microsoft.com/office/drawing/2014/main" id="{43906620-BEDE-4748-BD6B-196EEA0515CA}"/>
              </a:ext>
            </a:extLst>
          </p:cNvPr>
          <p:cNvSpPr txBox="1"/>
          <p:nvPr/>
        </p:nvSpPr>
        <p:spPr>
          <a:xfrm>
            <a:off x="3381090" y="4216510"/>
            <a:ext cx="939205"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118" name="文本框 117">
            <a:extLst>
              <a:ext uri="{FF2B5EF4-FFF2-40B4-BE49-F238E27FC236}">
                <a16:creationId xmlns:a16="http://schemas.microsoft.com/office/drawing/2014/main" id="{F7AF9045-488E-4E9D-9898-8C4F399593B3}"/>
              </a:ext>
            </a:extLst>
          </p:cNvPr>
          <p:cNvSpPr txBox="1"/>
          <p:nvPr/>
        </p:nvSpPr>
        <p:spPr>
          <a:xfrm>
            <a:off x="3385219" y="4777114"/>
            <a:ext cx="748631"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119" name="文本框 118">
            <a:extLst>
              <a:ext uri="{FF2B5EF4-FFF2-40B4-BE49-F238E27FC236}">
                <a16:creationId xmlns:a16="http://schemas.microsoft.com/office/drawing/2014/main" id="{D2CC4E4E-397F-4443-B939-575A49E5CDE8}"/>
              </a:ext>
            </a:extLst>
          </p:cNvPr>
          <p:cNvSpPr txBox="1"/>
          <p:nvPr/>
        </p:nvSpPr>
        <p:spPr>
          <a:xfrm>
            <a:off x="3365233" y="5244900"/>
            <a:ext cx="864282"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120" name="文本框 119">
            <a:extLst>
              <a:ext uri="{FF2B5EF4-FFF2-40B4-BE49-F238E27FC236}">
                <a16:creationId xmlns:a16="http://schemas.microsoft.com/office/drawing/2014/main" id="{766177B2-B408-4139-8BAB-87926D338A94}"/>
              </a:ext>
            </a:extLst>
          </p:cNvPr>
          <p:cNvSpPr txBox="1"/>
          <p:nvPr/>
        </p:nvSpPr>
        <p:spPr>
          <a:xfrm>
            <a:off x="3365233" y="5732586"/>
            <a:ext cx="649597"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8" name="文本框 87">
            <a:extLst>
              <a:ext uri="{FF2B5EF4-FFF2-40B4-BE49-F238E27FC236}">
                <a16:creationId xmlns:a16="http://schemas.microsoft.com/office/drawing/2014/main" id="{A34F7B61-2448-4596-8E0A-E8B7D5BADE83}"/>
              </a:ext>
            </a:extLst>
          </p:cNvPr>
          <p:cNvSpPr txBox="1"/>
          <p:nvPr/>
        </p:nvSpPr>
        <p:spPr>
          <a:xfrm>
            <a:off x="6172517" y="4757367"/>
            <a:ext cx="2648752" cy="1135054"/>
          </a:xfrm>
          <a:prstGeom prst="rect">
            <a:avLst/>
          </a:prstGeom>
          <a:solidFill>
            <a:schemeClr val="accent5">
              <a:lumMod val="40000"/>
              <a:lumOff val="60000"/>
            </a:schemeClr>
          </a:solidFill>
          <a:ln w="28575">
            <a:solidFill>
              <a:schemeClr val="tx1"/>
            </a:solidFill>
          </a:ln>
        </p:spPr>
        <p:txBody>
          <a:bodyPr wrap="square" rtlCol="0">
            <a:spAutoFit/>
          </a:bodyPr>
          <a:lstStyle/>
          <a:p>
            <a:pPr algn="ctr">
              <a:lnSpc>
                <a:spcPct val="150000"/>
              </a:lnSpc>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重点关注链路中最低能量的最大化</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721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88"/>
                                        </p:tgtEl>
                                        <p:attrNameLst>
                                          <p:attrName>style.visibility</p:attrName>
                                        </p:attrNameLst>
                                      </p:cBhvr>
                                      <p:to>
                                        <p:strVal val="visible"/>
                                      </p:to>
                                    </p:set>
                                    <p:animEffect transition="in" filter="fade">
                                      <p:cBhvr>
                                        <p:cTn id="37" dur="1000"/>
                                        <p:tgtEl>
                                          <p:spTgt spid="88"/>
                                        </p:tgtEl>
                                      </p:cBhvr>
                                    </p:animEffect>
                                    <p:anim calcmode="lin" valueType="num">
                                      <p:cBhvr>
                                        <p:cTn id="38" dur="1000" fill="hold"/>
                                        <p:tgtEl>
                                          <p:spTgt spid="88"/>
                                        </p:tgtEl>
                                        <p:attrNameLst>
                                          <p:attrName>ppt_x</p:attrName>
                                        </p:attrNameLst>
                                      </p:cBhvr>
                                      <p:tavLst>
                                        <p:tav tm="0">
                                          <p:val>
                                            <p:strVal val="#ppt_x"/>
                                          </p:val>
                                        </p:tav>
                                        <p:tav tm="100000">
                                          <p:val>
                                            <p:strVal val="#ppt_x"/>
                                          </p:val>
                                        </p:tav>
                                      </p:tavLst>
                                    </p:anim>
                                    <p:anim calcmode="lin" valueType="num">
                                      <p:cBhvr>
                                        <p:cTn id="39"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5" grpId="0"/>
      <p:bldP spid="106" grpId="0"/>
      <p:bldP spid="107" grpId="0"/>
      <p:bldP spid="113" grpId="0"/>
      <p:bldP spid="117" grpId="0"/>
      <p:bldP spid="118" grpId="0"/>
      <p:bldP spid="119" grpId="0"/>
      <p:bldP spid="120" grpId="0"/>
      <p:bldP spid="8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27</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391246" y="489548"/>
            <a:ext cx="861559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rPr>
              <a:t>链路能量最低节点最大化 </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29" name="文本框 28">
            <a:extLst>
              <a:ext uri="{FF2B5EF4-FFF2-40B4-BE49-F238E27FC236}">
                <a16:creationId xmlns:a16="http://schemas.microsoft.com/office/drawing/2014/main" id="{28E23893-1D04-4449-8E41-566BB07E8D20}"/>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104" name="组合 103">
            <a:extLst>
              <a:ext uri="{FF2B5EF4-FFF2-40B4-BE49-F238E27FC236}">
                <a16:creationId xmlns:a16="http://schemas.microsoft.com/office/drawing/2014/main" id="{22F3E1F1-AC6A-4AFA-85D1-ED1B4CB99AE3}"/>
              </a:ext>
            </a:extLst>
          </p:cNvPr>
          <p:cNvGrpSpPr/>
          <p:nvPr/>
        </p:nvGrpSpPr>
        <p:grpSpPr>
          <a:xfrm>
            <a:off x="1894181" y="369332"/>
            <a:ext cx="7112659" cy="4270137"/>
            <a:chOff x="194553" y="1114977"/>
            <a:chExt cx="7112659" cy="4270137"/>
          </a:xfrm>
        </p:grpSpPr>
        <p:sp>
          <p:nvSpPr>
            <p:cNvPr id="3" name="流程图: 接点 2">
              <a:extLst>
                <a:ext uri="{FF2B5EF4-FFF2-40B4-BE49-F238E27FC236}">
                  <a16:creationId xmlns:a16="http://schemas.microsoft.com/office/drawing/2014/main" id="{CAE32DED-F8A3-48E8-8C3B-21A12E0DF485}"/>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接点 8">
              <a:extLst>
                <a:ext uri="{FF2B5EF4-FFF2-40B4-BE49-F238E27FC236}">
                  <a16:creationId xmlns:a16="http://schemas.microsoft.com/office/drawing/2014/main" id="{B34612F8-8BBB-4D6E-978E-38DD0AEFC160}"/>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E703E4D5-AE17-4FB4-AF5A-76541FB87807}"/>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12B81AA2-0556-4E09-9EB9-2EF38938E635}"/>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9202D12B-9EB5-46CB-AD25-CB42A4517034}"/>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接点 12">
              <a:extLst>
                <a:ext uri="{FF2B5EF4-FFF2-40B4-BE49-F238E27FC236}">
                  <a16:creationId xmlns:a16="http://schemas.microsoft.com/office/drawing/2014/main" id="{9EA25250-141E-4776-82C6-331310FD6455}"/>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EEDC56CA-9F6E-4429-9736-4C708821336F}"/>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0C8D59C9-6CD8-44F0-B34B-57947FC91C4E}"/>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EB482652-E999-497E-B753-7B9752C95B32}"/>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97E35B95-D0ED-4219-B19D-3C9B6683BF2C}"/>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0A4E220-558A-4B99-A6A1-3EF62CC42A7A}"/>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3EDFC6CE-D456-4034-B8DC-88B34C15FF17}"/>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0B628F-3EB5-4427-BD7A-B615C33330B5}"/>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5729BB2-889F-47D4-AAC6-3EE6CA1D2556}"/>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F8179192-BA40-4C73-BF73-9A3D6FD870FD}"/>
                </a:ext>
              </a:extLst>
            </p:cNvPr>
            <p:cNvCxnSpPr>
              <a:cxnSpLocks/>
              <a:endCxn id="11"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2F01B94-AE1B-4F58-93CA-B60EAA50FED7}"/>
                </a:ext>
              </a:extLst>
            </p:cNvPr>
            <p:cNvCxnSpPr>
              <a:cxnSpLocks/>
              <a:stCxn id="18" idx="2"/>
              <a:endCxn id="11"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419B5D8-58EC-4003-B53A-9E77FE6086FD}"/>
                </a:ext>
              </a:extLst>
            </p:cNvPr>
            <p:cNvCxnSpPr>
              <a:cxnSpLocks/>
              <a:stCxn id="3" idx="5"/>
              <a:endCxn id="10"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CFFF153-61A0-49FA-A161-19F1057AE6D7}"/>
                </a:ext>
              </a:extLst>
            </p:cNvPr>
            <p:cNvCxnSpPr>
              <a:cxnSpLocks/>
              <a:stCxn id="3" idx="6"/>
              <a:endCxn id="12"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C92F44-67A0-4C46-9C4F-8C20D2ADA7C7}"/>
                </a:ext>
              </a:extLst>
            </p:cNvPr>
            <p:cNvCxnSpPr>
              <a:cxnSpLocks/>
              <a:endCxn id="15"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B737E2A-D5F6-45C6-8715-AF1B4B8139A7}"/>
                </a:ext>
              </a:extLst>
            </p:cNvPr>
            <p:cNvCxnSpPr>
              <a:cxnSpLocks/>
              <a:endCxn id="9"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5C8302A-D5EB-46CA-AC46-48A1943ED172}"/>
                </a:ext>
              </a:extLst>
            </p:cNvPr>
            <p:cNvCxnSpPr>
              <a:cxnSpLocks/>
              <a:endCxn id="13"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B4DE8A5-A046-4918-8C24-8F315D6AFB92}"/>
                </a:ext>
              </a:extLst>
            </p:cNvPr>
            <p:cNvCxnSpPr>
              <a:cxnSpLocks/>
              <a:endCxn id="14"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4C13A9-B610-41BE-B4A0-048631C2AFCB}"/>
                </a:ext>
              </a:extLst>
            </p:cNvPr>
            <p:cNvCxnSpPr>
              <a:cxnSpLocks/>
              <a:endCxn id="9"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9E2CA6-589A-41F1-AA67-213AEFA39ECF}"/>
                </a:ext>
              </a:extLst>
            </p:cNvPr>
            <p:cNvCxnSpPr>
              <a:cxnSpLocks/>
              <a:endCxn id="15"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59F14C8-58AB-47D5-A3C0-D19662EE83BE}"/>
                </a:ext>
              </a:extLst>
            </p:cNvPr>
            <p:cNvCxnSpPr>
              <a:cxnSpLocks/>
              <a:endCxn id="15"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618C6E7-2671-4535-96F2-554A29BE5100}"/>
                </a:ext>
              </a:extLst>
            </p:cNvPr>
            <p:cNvCxnSpPr>
              <a:cxnSpLocks/>
              <a:endCxn id="17"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7A5CFD-4B10-4082-8255-9443670A1F59}"/>
                </a:ext>
              </a:extLst>
            </p:cNvPr>
            <p:cNvCxnSpPr>
              <a:cxnSpLocks/>
              <a:endCxn id="19"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F76DA41-8D60-42E0-9C14-35C6017A5F78}"/>
                </a:ext>
              </a:extLst>
            </p:cNvPr>
            <p:cNvCxnSpPr>
              <a:cxnSpLocks/>
              <a:endCxn id="20"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F174FCB-72DE-4C19-B1A6-4127E1EEBFA2}"/>
                </a:ext>
              </a:extLst>
            </p:cNvPr>
            <p:cNvCxnSpPr>
              <a:cxnSpLocks/>
              <a:endCxn id="20"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0322F99-D65F-47EA-A58A-AAB97E88EEB6}"/>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F21CD177-429D-454C-A801-F263F1671AC5}"/>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62" name="文本框 61">
              <a:extLst>
                <a:ext uri="{FF2B5EF4-FFF2-40B4-BE49-F238E27FC236}">
                  <a16:creationId xmlns:a16="http://schemas.microsoft.com/office/drawing/2014/main" id="{DD696514-5D1A-4A6E-91DE-06C6FC301251}"/>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63" name="文本框 62">
              <a:extLst>
                <a:ext uri="{FF2B5EF4-FFF2-40B4-BE49-F238E27FC236}">
                  <a16:creationId xmlns:a16="http://schemas.microsoft.com/office/drawing/2014/main" id="{312F791B-45B3-4701-A565-C3893C5E2CFE}"/>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64" name="文本框 63">
              <a:extLst>
                <a:ext uri="{FF2B5EF4-FFF2-40B4-BE49-F238E27FC236}">
                  <a16:creationId xmlns:a16="http://schemas.microsoft.com/office/drawing/2014/main" id="{F6FA9C81-240C-416D-9D10-E5A3BD33E21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5" name="文本框 64">
              <a:extLst>
                <a:ext uri="{FF2B5EF4-FFF2-40B4-BE49-F238E27FC236}">
                  <a16:creationId xmlns:a16="http://schemas.microsoft.com/office/drawing/2014/main" id="{EB9F0644-43DF-4D94-B04E-6B129901481B}"/>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66" name="文本框 65">
              <a:extLst>
                <a:ext uri="{FF2B5EF4-FFF2-40B4-BE49-F238E27FC236}">
                  <a16:creationId xmlns:a16="http://schemas.microsoft.com/office/drawing/2014/main" id="{600F9184-444C-439B-B1DE-F96BEC0D34C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67" name="文本框 66">
              <a:extLst>
                <a:ext uri="{FF2B5EF4-FFF2-40B4-BE49-F238E27FC236}">
                  <a16:creationId xmlns:a16="http://schemas.microsoft.com/office/drawing/2014/main" id="{3DB29ACF-E642-487E-88F9-8C8099DF11F9}"/>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68" name="文本框 67">
              <a:extLst>
                <a:ext uri="{FF2B5EF4-FFF2-40B4-BE49-F238E27FC236}">
                  <a16:creationId xmlns:a16="http://schemas.microsoft.com/office/drawing/2014/main" id="{16FA2D28-D5E1-4F40-AFC3-BDCAFE0C1F54}"/>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69" name="文本框 68">
              <a:extLst>
                <a:ext uri="{FF2B5EF4-FFF2-40B4-BE49-F238E27FC236}">
                  <a16:creationId xmlns:a16="http://schemas.microsoft.com/office/drawing/2014/main" id="{D6176774-0365-4183-A6F1-A4BE36F12DD3}"/>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70" name="文本框 69">
              <a:extLst>
                <a:ext uri="{FF2B5EF4-FFF2-40B4-BE49-F238E27FC236}">
                  <a16:creationId xmlns:a16="http://schemas.microsoft.com/office/drawing/2014/main" id="{5D375F91-AC84-4292-88EF-96B45E5B6954}"/>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71" name="文本框 70">
              <a:extLst>
                <a:ext uri="{FF2B5EF4-FFF2-40B4-BE49-F238E27FC236}">
                  <a16:creationId xmlns:a16="http://schemas.microsoft.com/office/drawing/2014/main" id="{0E10FEC0-86B8-49A2-BC85-30B3C8B04430}"/>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2A6A61-8B94-48E7-A5FB-E7099C97C48B}"/>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3" name="文本框 72">
              <a:extLst>
                <a:ext uri="{FF2B5EF4-FFF2-40B4-BE49-F238E27FC236}">
                  <a16:creationId xmlns:a16="http://schemas.microsoft.com/office/drawing/2014/main" id="{1F179C4E-90E0-4EA9-A9E0-941EBB73C706}"/>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4" name="文本框 73">
              <a:extLst>
                <a:ext uri="{FF2B5EF4-FFF2-40B4-BE49-F238E27FC236}">
                  <a16:creationId xmlns:a16="http://schemas.microsoft.com/office/drawing/2014/main" id="{BD4773CE-D43E-471E-8A8D-25ED2A63AD71}"/>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5" name="文本框 74">
              <a:extLst>
                <a:ext uri="{FF2B5EF4-FFF2-40B4-BE49-F238E27FC236}">
                  <a16:creationId xmlns:a16="http://schemas.microsoft.com/office/drawing/2014/main" id="{93637BB6-F053-4D1C-958A-F96AD2C4497C}"/>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76" name="文本框 75">
              <a:extLst>
                <a:ext uri="{FF2B5EF4-FFF2-40B4-BE49-F238E27FC236}">
                  <a16:creationId xmlns:a16="http://schemas.microsoft.com/office/drawing/2014/main" id="{AB2CC5D9-CFC3-44C2-A7D9-3A41B49D51CD}"/>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7" name="文本框 76">
              <a:extLst>
                <a:ext uri="{FF2B5EF4-FFF2-40B4-BE49-F238E27FC236}">
                  <a16:creationId xmlns:a16="http://schemas.microsoft.com/office/drawing/2014/main" id="{DC22E1CE-F523-4E9B-AB60-E3D3BB2F1B92}"/>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8" name="文本框 77">
              <a:extLst>
                <a:ext uri="{FF2B5EF4-FFF2-40B4-BE49-F238E27FC236}">
                  <a16:creationId xmlns:a16="http://schemas.microsoft.com/office/drawing/2014/main" id="{0C13DCB9-E07C-4120-94AA-BE36D834D266}"/>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9" name="文本框 78">
              <a:extLst>
                <a:ext uri="{FF2B5EF4-FFF2-40B4-BE49-F238E27FC236}">
                  <a16:creationId xmlns:a16="http://schemas.microsoft.com/office/drawing/2014/main" id="{8F75A0A7-6195-4A37-8419-0EB250FC07FB}"/>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0" name="文本框 79">
              <a:extLst>
                <a:ext uri="{FF2B5EF4-FFF2-40B4-BE49-F238E27FC236}">
                  <a16:creationId xmlns:a16="http://schemas.microsoft.com/office/drawing/2014/main" id="{1BB8743F-732F-431C-A7C7-609C108B8FDD}"/>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1" name="文本框 80">
              <a:extLst>
                <a:ext uri="{FF2B5EF4-FFF2-40B4-BE49-F238E27FC236}">
                  <a16:creationId xmlns:a16="http://schemas.microsoft.com/office/drawing/2014/main" id="{72F4A2EF-EA87-4E86-ADB4-C2DDD00ED81C}"/>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2" name="文本框 81">
              <a:extLst>
                <a:ext uri="{FF2B5EF4-FFF2-40B4-BE49-F238E27FC236}">
                  <a16:creationId xmlns:a16="http://schemas.microsoft.com/office/drawing/2014/main" id="{6B219AE1-570A-4468-93B7-82BB83BA0460}"/>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3" name="文本框 82">
              <a:extLst>
                <a:ext uri="{FF2B5EF4-FFF2-40B4-BE49-F238E27FC236}">
                  <a16:creationId xmlns:a16="http://schemas.microsoft.com/office/drawing/2014/main" id="{DDEBFD78-FA45-490C-8012-3C9C33EDABC8}"/>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4" name="文本框 83">
              <a:extLst>
                <a:ext uri="{FF2B5EF4-FFF2-40B4-BE49-F238E27FC236}">
                  <a16:creationId xmlns:a16="http://schemas.microsoft.com/office/drawing/2014/main" id="{54B602DE-0BEF-44B3-91C3-CD5F6CAE4C5D}"/>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85" name="文本框 84">
              <a:extLst>
                <a:ext uri="{FF2B5EF4-FFF2-40B4-BE49-F238E27FC236}">
                  <a16:creationId xmlns:a16="http://schemas.microsoft.com/office/drawing/2014/main" id="{D186F448-9559-4005-B1C1-6168590C8599}"/>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6" name="文本框 85">
              <a:extLst>
                <a:ext uri="{FF2B5EF4-FFF2-40B4-BE49-F238E27FC236}">
                  <a16:creationId xmlns:a16="http://schemas.microsoft.com/office/drawing/2014/main" id="{AEEC0FB7-E607-4BDA-9F2F-C24E9B6DDC96}"/>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7" name="文本框 86">
              <a:extLst>
                <a:ext uri="{FF2B5EF4-FFF2-40B4-BE49-F238E27FC236}">
                  <a16:creationId xmlns:a16="http://schemas.microsoft.com/office/drawing/2014/main" id="{589849F3-40B5-4532-8F8D-67EED4B4588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89" name="文本框 88">
              <a:extLst>
                <a:ext uri="{FF2B5EF4-FFF2-40B4-BE49-F238E27FC236}">
                  <a16:creationId xmlns:a16="http://schemas.microsoft.com/office/drawing/2014/main" id="{9CDC3592-7D1E-4E93-A324-B81D8C74B146}"/>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0" name="文本框 89">
              <a:extLst>
                <a:ext uri="{FF2B5EF4-FFF2-40B4-BE49-F238E27FC236}">
                  <a16:creationId xmlns:a16="http://schemas.microsoft.com/office/drawing/2014/main" id="{F7B7957D-2D85-4679-A32C-A9CD5CCD0A99}"/>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1" name="文本框 90">
              <a:extLst>
                <a:ext uri="{FF2B5EF4-FFF2-40B4-BE49-F238E27FC236}">
                  <a16:creationId xmlns:a16="http://schemas.microsoft.com/office/drawing/2014/main" id="{BE7AC4F1-7BED-4CB9-A8DE-AB3FEB60FD0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92" name="文本框 91">
              <a:extLst>
                <a:ext uri="{FF2B5EF4-FFF2-40B4-BE49-F238E27FC236}">
                  <a16:creationId xmlns:a16="http://schemas.microsoft.com/office/drawing/2014/main" id="{10F34EB2-FB52-4C04-97BD-B5F804055847}"/>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93" name="文本框 92">
              <a:extLst>
                <a:ext uri="{FF2B5EF4-FFF2-40B4-BE49-F238E27FC236}">
                  <a16:creationId xmlns:a16="http://schemas.microsoft.com/office/drawing/2014/main" id="{39864872-272C-4E99-B393-0E620CB3D455}"/>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4" name="文本框 93">
              <a:extLst>
                <a:ext uri="{FF2B5EF4-FFF2-40B4-BE49-F238E27FC236}">
                  <a16:creationId xmlns:a16="http://schemas.microsoft.com/office/drawing/2014/main" id="{F2C32B2E-0A91-45D6-BD6A-6C20DE5433E3}"/>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95" name="文本框 94">
              <a:extLst>
                <a:ext uri="{FF2B5EF4-FFF2-40B4-BE49-F238E27FC236}">
                  <a16:creationId xmlns:a16="http://schemas.microsoft.com/office/drawing/2014/main" id="{D05939E6-FF34-4738-BCB9-E430A742A3A8}"/>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sp>
        <p:nvSpPr>
          <p:cNvPr id="105" name="文本框 104">
            <a:extLst>
              <a:ext uri="{FF2B5EF4-FFF2-40B4-BE49-F238E27FC236}">
                <a16:creationId xmlns:a16="http://schemas.microsoft.com/office/drawing/2014/main" id="{8EE8E539-3B91-42D7-80D2-9330D0A4B24A}"/>
              </a:ext>
            </a:extLst>
          </p:cNvPr>
          <p:cNvSpPr txBox="1"/>
          <p:nvPr/>
        </p:nvSpPr>
        <p:spPr>
          <a:xfrm>
            <a:off x="753352" y="4725778"/>
            <a:ext cx="2033105" cy="492443"/>
          </a:xfrm>
          <a:prstGeom prst="rect">
            <a:avLst/>
          </a:prstGeom>
          <a:noFill/>
        </p:spPr>
        <p:txBody>
          <a:bodyPr wrap="square" rtlCol="0">
            <a:spAutoFit/>
          </a:bodyPr>
          <a:lstStyle/>
          <a:p>
            <a:pPr>
              <a:spcAft>
                <a:spcPts val="600"/>
              </a:spcAft>
            </a:pPr>
            <a:r>
              <a:rPr lang="zh-CN" altLang="en-US"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-B-G-</a:t>
            </a:r>
            <a:r>
              <a:rPr lang="zh-CN" altLang="en-US"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397DA2AA-53F7-4EA5-9462-8B027E6C6473}"/>
              </a:ext>
            </a:extLst>
          </p:cNvPr>
          <p:cNvSpPr txBox="1"/>
          <p:nvPr/>
        </p:nvSpPr>
        <p:spPr>
          <a:xfrm>
            <a:off x="753351" y="5211781"/>
            <a:ext cx="2231149"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1D4582A8-65F5-4DC3-906E-413647B23E2B}"/>
              </a:ext>
            </a:extLst>
          </p:cNvPr>
          <p:cNvSpPr txBox="1"/>
          <p:nvPr/>
        </p:nvSpPr>
        <p:spPr>
          <a:xfrm>
            <a:off x="753350" y="5710610"/>
            <a:ext cx="2163607"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-C-E-H-</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文本框 112">
            <a:extLst>
              <a:ext uri="{FF2B5EF4-FFF2-40B4-BE49-F238E27FC236}">
                <a16:creationId xmlns:a16="http://schemas.microsoft.com/office/drawing/2014/main" id="{8B65E379-8224-4EA7-90A2-9053BC0BCDE2}"/>
              </a:ext>
            </a:extLst>
          </p:cNvPr>
          <p:cNvSpPr txBox="1"/>
          <p:nvPr/>
        </p:nvSpPr>
        <p:spPr>
          <a:xfrm>
            <a:off x="753352" y="4192102"/>
            <a:ext cx="2361185" cy="492443"/>
          </a:xfrm>
          <a:prstGeom prst="rect">
            <a:avLst/>
          </a:prstGeom>
          <a:noFill/>
        </p:spPr>
        <p:txBody>
          <a:bodyPr wrap="square" rtlCol="0">
            <a:spAutoFit/>
          </a:bodyPr>
          <a:lstStyle/>
          <a:p>
            <a:pPr>
              <a:spcAft>
                <a:spcPts val="600"/>
              </a:spcAft>
            </a:pP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2600" b="1" dirty="0">
                <a:latin typeface="微软雅黑" panose="020B0503020204020204" pitchFamily="34" charset="-122"/>
                <a:ea typeface="微软雅黑" panose="020B0503020204020204" pitchFamily="34" charset="-122"/>
                <a:cs typeface="Times New Roman" panose="02020603050405020304" pitchFamily="18" charset="0"/>
              </a:rPr>
              <a:t>-A-D-G-</a:t>
            </a:r>
            <a:r>
              <a:rPr lang="zh-CN" altLang="en-US" sz="2600" b="1" dirty="0">
                <a:latin typeface="微软雅黑" panose="020B0503020204020204" pitchFamily="34" charset="-122"/>
                <a:ea typeface="微软雅黑" panose="020B0503020204020204" pitchFamily="34" charset="-122"/>
                <a:cs typeface="Times New Roman" panose="02020603050405020304" pitchFamily="18" charset="0"/>
              </a:rPr>
              <a:t>目</a:t>
            </a:r>
            <a:endParaRPr lang="en-US" altLang="zh-CN" sz="2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文本框 116">
            <a:extLst>
              <a:ext uri="{FF2B5EF4-FFF2-40B4-BE49-F238E27FC236}">
                <a16:creationId xmlns:a16="http://schemas.microsoft.com/office/drawing/2014/main" id="{43906620-BEDE-4748-BD6B-196EEA0515CA}"/>
              </a:ext>
            </a:extLst>
          </p:cNvPr>
          <p:cNvSpPr txBox="1"/>
          <p:nvPr/>
        </p:nvSpPr>
        <p:spPr>
          <a:xfrm>
            <a:off x="3381090" y="4216510"/>
            <a:ext cx="939205"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118" name="文本框 117">
            <a:extLst>
              <a:ext uri="{FF2B5EF4-FFF2-40B4-BE49-F238E27FC236}">
                <a16:creationId xmlns:a16="http://schemas.microsoft.com/office/drawing/2014/main" id="{F7AF9045-488E-4E9D-9898-8C4F399593B3}"/>
              </a:ext>
            </a:extLst>
          </p:cNvPr>
          <p:cNvSpPr txBox="1"/>
          <p:nvPr/>
        </p:nvSpPr>
        <p:spPr>
          <a:xfrm>
            <a:off x="3385219" y="4777114"/>
            <a:ext cx="748631" cy="492443"/>
          </a:xfrm>
          <a:prstGeom prst="rect">
            <a:avLst/>
          </a:prstGeom>
          <a:noFill/>
        </p:spPr>
        <p:txBody>
          <a:bodyPr wrap="square" rtlCol="0">
            <a:spAutoFit/>
          </a:bodyPr>
          <a:lstStyle/>
          <a:p>
            <a:pPr>
              <a:spcAft>
                <a:spcPts val="600"/>
              </a:spcAft>
            </a:pPr>
            <a:r>
              <a:rPr lang="en-US" altLang="zh-CN" sz="2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119" name="文本框 118">
            <a:extLst>
              <a:ext uri="{FF2B5EF4-FFF2-40B4-BE49-F238E27FC236}">
                <a16:creationId xmlns:a16="http://schemas.microsoft.com/office/drawing/2014/main" id="{D2CC4E4E-397F-4443-B939-575A49E5CDE8}"/>
              </a:ext>
            </a:extLst>
          </p:cNvPr>
          <p:cNvSpPr txBox="1"/>
          <p:nvPr/>
        </p:nvSpPr>
        <p:spPr>
          <a:xfrm>
            <a:off x="3365233" y="5244900"/>
            <a:ext cx="864282"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120" name="文本框 119">
            <a:extLst>
              <a:ext uri="{FF2B5EF4-FFF2-40B4-BE49-F238E27FC236}">
                <a16:creationId xmlns:a16="http://schemas.microsoft.com/office/drawing/2014/main" id="{766177B2-B408-4139-8BAB-87926D338A94}"/>
              </a:ext>
            </a:extLst>
          </p:cNvPr>
          <p:cNvSpPr txBox="1"/>
          <p:nvPr/>
        </p:nvSpPr>
        <p:spPr>
          <a:xfrm>
            <a:off x="3365233" y="5732586"/>
            <a:ext cx="649597" cy="492443"/>
          </a:xfrm>
          <a:prstGeom prst="rect">
            <a:avLst/>
          </a:prstGeom>
          <a:noFill/>
        </p:spPr>
        <p:txBody>
          <a:bodyPr wrap="square" rtlCol="0">
            <a:spAutoFit/>
          </a:bodyPr>
          <a:lstStyle/>
          <a:p>
            <a:pPr>
              <a:spcAft>
                <a:spcPts val="600"/>
              </a:spcAft>
            </a:pPr>
            <a:r>
              <a:rPr lang="en-US" altLang="zh-CN" sz="26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88" name="文本框 87">
            <a:extLst>
              <a:ext uri="{FF2B5EF4-FFF2-40B4-BE49-F238E27FC236}">
                <a16:creationId xmlns:a16="http://schemas.microsoft.com/office/drawing/2014/main" id="{A34F7B61-2448-4596-8E0A-E8B7D5BADE83}"/>
              </a:ext>
            </a:extLst>
          </p:cNvPr>
          <p:cNvSpPr txBox="1"/>
          <p:nvPr/>
        </p:nvSpPr>
        <p:spPr>
          <a:xfrm>
            <a:off x="6172517" y="4757367"/>
            <a:ext cx="2648752" cy="1135054"/>
          </a:xfrm>
          <a:prstGeom prst="rect">
            <a:avLst/>
          </a:prstGeom>
          <a:solidFill>
            <a:schemeClr val="accent5">
              <a:lumMod val="40000"/>
              <a:lumOff val="60000"/>
            </a:schemeClr>
          </a:solidFill>
          <a:ln w="28575">
            <a:solidFill>
              <a:schemeClr val="tx1"/>
            </a:solidFill>
          </a:ln>
        </p:spPr>
        <p:txBody>
          <a:bodyPr wrap="square" rtlCol="0">
            <a:spAutoFit/>
          </a:bodyPr>
          <a:lstStyle/>
          <a:p>
            <a:pPr algn="ctr">
              <a:lnSpc>
                <a:spcPct val="150000"/>
              </a:lnSpc>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重点关注链路中最低能量的最大化</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6626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28</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grpSp>
        <p:nvGrpSpPr>
          <p:cNvPr id="19" name="Group 8"/>
          <p:cNvGrpSpPr/>
          <p:nvPr/>
        </p:nvGrpSpPr>
        <p:grpSpPr>
          <a:xfrm rot="10800000">
            <a:off x="2889756" y="2420864"/>
            <a:ext cx="3154362" cy="2841625"/>
            <a:chOff x="0" y="0"/>
            <a:chExt cx="1987" cy="1790"/>
          </a:xfrm>
        </p:grpSpPr>
        <p:sp>
          <p:nvSpPr>
            <p:cNvPr id="20" name="AutoShape 9"/>
            <p:cNvSpPr>
              <a:spLocks noChangeArrowheads="1"/>
            </p:cNvSpPr>
            <p:nvPr/>
          </p:nvSpPr>
          <p:spPr bwMode="auto">
            <a:xfrm rot="16200000" flipH="1">
              <a:off x="-54" y="705"/>
              <a:ext cx="309" cy="206"/>
            </a:xfrm>
            <a:prstGeom prst="upArrow">
              <a:avLst>
                <a:gd name="adj1" fmla="val 51676"/>
                <a:gd name="adj2" fmla="val 100000"/>
              </a:avLst>
            </a:prstGeom>
            <a:gradFill rotWithShape="1">
              <a:gsLst>
                <a:gs pos="0">
                  <a:schemeClr val="tx1"/>
                </a:gs>
                <a:gs pos="100000">
                  <a:schemeClr val="tx1">
                    <a:gamma/>
                    <a:shade val="40784"/>
                    <a:invGamma/>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 name="AutoShape 10"/>
            <p:cNvSpPr>
              <a:spLocks noChangeArrowheads="1"/>
            </p:cNvSpPr>
            <p:nvPr/>
          </p:nvSpPr>
          <p:spPr bwMode="auto">
            <a:xfrm rot="5400000" flipH="1">
              <a:off x="1732" y="671"/>
              <a:ext cx="309" cy="206"/>
            </a:xfrm>
            <a:prstGeom prst="upArrow">
              <a:avLst>
                <a:gd name="adj1" fmla="val 51676"/>
                <a:gd name="adj2" fmla="val 100000"/>
              </a:avLst>
            </a:prstGeom>
            <a:gradFill rotWithShape="1">
              <a:gsLst>
                <a:gs pos="0">
                  <a:schemeClr val="tx1"/>
                </a:gs>
                <a:gs pos="100000">
                  <a:schemeClr val="tx1">
                    <a:gamma/>
                    <a:shade val="40784"/>
                    <a:invGamma/>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2" name="AutoShape 11"/>
            <p:cNvSpPr>
              <a:spLocks noChangeArrowheads="1"/>
            </p:cNvSpPr>
            <p:nvPr/>
          </p:nvSpPr>
          <p:spPr bwMode="auto">
            <a:xfrm rot="10800000" flipH="1">
              <a:off x="839" y="1584"/>
              <a:ext cx="308" cy="206"/>
            </a:xfrm>
            <a:prstGeom prst="upArrow">
              <a:avLst>
                <a:gd name="adj1" fmla="val 51676"/>
                <a:gd name="adj2" fmla="val 100000"/>
              </a:avLst>
            </a:prstGeom>
            <a:gradFill rotWithShape="1">
              <a:gsLst>
                <a:gs pos="0">
                  <a:schemeClr val="tx1"/>
                </a:gs>
                <a:gs pos="100000">
                  <a:schemeClr val="tx1">
                    <a:gamma/>
                    <a:shade val="40784"/>
                    <a:invGamma/>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3" name="Oval 12"/>
            <p:cNvSpPr/>
            <p:nvPr/>
          </p:nvSpPr>
          <p:spPr>
            <a:xfrm>
              <a:off x="192" y="0"/>
              <a:ext cx="1615" cy="1615"/>
            </a:xfrm>
            <a:prstGeom prst="ellipse">
              <a:avLst/>
            </a:prstGeom>
            <a:gradFill rotWithShape="1">
              <a:gsLst>
                <a:gs pos="0">
                  <a:srgbClr val="767676"/>
                </a:gs>
                <a:gs pos="50000">
                  <a:srgbClr val="FFFFFF"/>
                </a:gs>
                <a:gs pos="100000">
                  <a:srgbClr val="767676"/>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000" dirty="0"/>
            </a:p>
          </p:txBody>
        </p:sp>
        <p:sp>
          <p:nvSpPr>
            <p:cNvPr id="24" name="Oval 13"/>
            <p:cNvSpPr/>
            <p:nvPr/>
          </p:nvSpPr>
          <p:spPr>
            <a:xfrm>
              <a:off x="284" y="91"/>
              <a:ext cx="1430" cy="1430"/>
            </a:xfrm>
            <a:prstGeom prst="ellipse">
              <a:avLst/>
            </a:prstGeom>
            <a:gradFill rotWithShape="1">
              <a:gsLst>
                <a:gs pos="0">
                  <a:srgbClr val="A2A2A2"/>
                </a:gs>
                <a:gs pos="50000">
                  <a:srgbClr val="FFFFFF"/>
                </a:gs>
                <a:gs pos="100000">
                  <a:srgbClr val="A2A2A2"/>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000" dirty="0"/>
            </a:p>
          </p:txBody>
        </p:sp>
        <p:sp>
          <p:nvSpPr>
            <p:cNvPr id="25" name="Oval 14"/>
            <p:cNvSpPr>
              <a:spLocks noChangeArrowheads="1"/>
            </p:cNvSpPr>
            <p:nvPr/>
          </p:nvSpPr>
          <p:spPr bwMode="auto">
            <a:xfrm>
              <a:off x="368" y="17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6" name="Oval 15"/>
            <p:cNvSpPr/>
            <p:nvPr/>
          </p:nvSpPr>
          <p:spPr>
            <a:xfrm>
              <a:off x="368" y="176"/>
              <a:ext cx="1262" cy="1264"/>
            </a:xfrm>
            <a:prstGeom prst="ellipse">
              <a:avLst/>
            </a:prstGeom>
            <a:solidFill>
              <a:schemeClr val="accent6">
                <a:lumMod val="20000"/>
                <a:lumOff val="80000"/>
              </a:schemeClr>
            </a:solidFill>
            <a:ln w="9525">
              <a:noFill/>
            </a:ln>
          </p:spPr>
          <p:txBody>
            <a:bodyPr wrap="none" anchor="ctr" anchorCtr="0">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000" dirty="0"/>
            </a:p>
          </p:txBody>
        </p:sp>
        <p:sp>
          <p:nvSpPr>
            <p:cNvPr id="27" name="Oval 16"/>
            <p:cNvSpPr>
              <a:spLocks noChangeArrowheads="1"/>
            </p:cNvSpPr>
            <p:nvPr/>
          </p:nvSpPr>
          <p:spPr bwMode="auto">
            <a:xfrm>
              <a:off x="451" y="25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8" name="Oval 17"/>
            <p:cNvSpPr/>
            <p:nvPr/>
          </p:nvSpPr>
          <p:spPr>
            <a:xfrm>
              <a:off x="451" y="259"/>
              <a:ext cx="1096" cy="1098"/>
            </a:xfrm>
            <a:prstGeom prst="ellipse">
              <a:avLst/>
            </a:prstGeom>
            <a:solidFill>
              <a:schemeClr val="accent6">
                <a:lumMod val="20000"/>
                <a:lumOff val="80000"/>
              </a:schemeClr>
            </a:solidFill>
            <a:ln w="9525">
              <a:noFill/>
            </a:ln>
          </p:spPr>
          <p:txBody>
            <a:bodyPr anchor="ctr" anchorCtr="0">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000" dirty="0"/>
            </a:p>
          </p:txBody>
        </p:sp>
        <p:sp>
          <p:nvSpPr>
            <p:cNvPr id="29" name="Text Box 18"/>
            <p:cNvSpPr txBox="1"/>
            <p:nvPr/>
          </p:nvSpPr>
          <p:spPr>
            <a:xfrm rot="10800000">
              <a:off x="426" y="592"/>
              <a:ext cx="1154"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b="1" dirty="0">
                  <a:solidFill>
                    <a:srgbClr val="FF0000"/>
                  </a:solidFill>
                  <a:latin typeface="微软雅黑" panose="020B0503020204020204" pitchFamily="34" charset="-122"/>
                  <a:ea typeface="微软雅黑" panose="020B0503020204020204" pitchFamily="34" charset="-122"/>
                </a:rPr>
                <a:t>路由协议</a:t>
              </a:r>
              <a:endParaRPr lang="zh-CN" altLang="zh-CN" b="1" dirty="0">
                <a:solidFill>
                  <a:srgbClr val="FF0000"/>
                </a:solidFill>
                <a:latin typeface="微软雅黑" panose="020B0503020204020204" pitchFamily="34" charset="-122"/>
                <a:ea typeface="微软雅黑" panose="020B0503020204020204" pitchFamily="34" charset="-122"/>
              </a:endParaRPr>
            </a:p>
          </p:txBody>
        </p:sp>
      </p:grpSp>
      <p:sp>
        <p:nvSpPr>
          <p:cNvPr id="30" name="AutoShape 19"/>
          <p:cNvSpPr/>
          <p:nvPr/>
        </p:nvSpPr>
        <p:spPr>
          <a:xfrm>
            <a:off x="2524631" y="1506464"/>
            <a:ext cx="3886200" cy="533400"/>
          </a:xfrm>
          <a:prstGeom prst="roundRect">
            <a:avLst>
              <a:gd name="adj" fmla="val 50000"/>
            </a:avLst>
          </a:prstGeom>
          <a:solidFill>
            <a:schemeClr val="accent5">
              <a:lumMod val="20000"/>
              <a:lumOff val="80000"/>
            </a:schemeClr>
          </a:solid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b="1" dirty="0">
                <a:solidFill>
                  <a:srgbClr val="FF0000"/>
                </a:solidFill>
                <a:latin typeface="楷体_GB2312" pitchFamily="1" charset="-122"/>
                <a:ea typeface="楷体_GB2312" pitchFamily="1" charset="-122"/>
              </a:rPr>
              <a:t>无线传感器网络</a:t>
            </a:r>
            <a:endParaRPr lang="zh-CN" altLang="zh-CN" dirty="0">
              <a:solidFill>
                <a:srgbClr val="FF0000"/>
              </a:solidFill>
              <a:latin typeface="Verdana" panose="020B0604030504040204" pitchFamily="34" charset="0"/>
            </a:endParaRPr>
          </a:p>
        </p:txBody>
      </p:sp>
      <p:sp>
        <p:nvSpPr>
          <p:cNvPr id="38" name="矩形 37"/>
          <p:cNvSpPr/>
          <p:nvPr/>
        </p:nvSpPr>
        <p:spPr>
          <a:xfrm>
            <a:off x="1067845" y="2114553"/>
            <a:ext cx="904875" cy="522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2800" b="1" dirty="0">
                <a:solidFill>
                  <a:srgbClr val="FF0000"/>
                </a:solidFill>
                <a:latin typeface="楷体_GB2312" pitchFamily="1" charset="-122"/>
                <a:ea typeface="楷体_GB2312" pitchFamily="1" charset="-122"/>
              </a:rPr>
              <a:t>特点</a:t>
            </a:r>
            <a:endParaRPr lang="zh-CN" altLang="en-US" sz="2800" dirty="0">
              <a:solidFill>
                <a:srgbClr val="FF0000"/>
              </a:solidFill>
            </a:endParaRPr>
          </a:p>
        </p:txBody>
      </p:sp>
      <p:sp>
        <p:nvSpPr>
          <p:cNvPr id="39" name="矩形 38"/>
          <p:cNvSpPr/>
          <p:nvPr/>
        </p:nvSpPr>
        <p:spPr>
          <a:xfrm>
            <a:off x="7065615" y="2095426"/>
            <a:ext cx="906463"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2800" b="1" dirty="0">
                <a:solidFill>
                  <a:srgbClr val="FF0000"/>
                </a:solidFill>
                <a:latin typeface="楷体_GB2312" pitchFamily="1" charset="-122"/>
                <a:ea typeface="楷体_GB2312" pitchFamily="1" charset="-122"/>
              </a:rPr>
              <a:t>要求</a:t>
            </a:r>
            <a:endParaRPr lang="zh-CN" altLang="en-US" sz="2800" dirty="0">
              <a:solidFill>
                <a:srgbClr val="FF0000"/>
              </a:solidFill>
            </a:endParaRPr>
          </a:p>
        </p:txBody>
      </p:sp>
      <p:sp>
        <p:nvSpPr>
          <p:cNvPr id="40" name="文本框 39">
            <a:extLst>
              <a:ext uri="{FF2B5EF4-FFF2-40B4-BE49-F238E27FC236}">
                <a16:creationId xmlns:a16="http://schemas.microsoft.com/office/drawing/2014/main" id="{089C6E20-73FE-41BB-8C2A-286806838C09}"/>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41" name="文本框 40">
            <a:extLst>
              <a:ext uri="{FF2B5EF4-FFF2-40B4-BE49-F238E27FC236}">
                <a16:creationId xmlns:a16="http://schemas.microsoft.com/office/drawing/2014/main" id="{3E919234-93AA-4F07-8EAA-CB4345191090}"/>
              </a:ext>
            </a:extLst>
          </p:cNvPr>
          <p:cNvSpPr txBox="1"/>
          <p:nvPr/>
        </p:nvSpPr>
        <p:spPr>
          <a:xfrm>
            <a:off x="274328" y="513404"/>
            <a:ext cx="861559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传感器网络路由协议特点及设计要求</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A4D873A1-5BC7-4F46-B926-AC52B5CD8BD8}"/>
              </a:ext>
            </a:extLst>
          </p:cNvPr>
          <p:cNvSpPr/>
          <p:nvPr/>
        </p:nvSpPr>
        <p:spPr>
          <a:xfrm>
            <a:off x="386118" y="2680769"/>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能量优先</a:t>
            </a:r>
          </a:p>
        </p:txBody>
      </p:sp>
      <p:sp>
        <p:nvSpPr>
          <p:cNvPr id="42" name="矩形 41">
            <a:extLst>
              <a:ext uri="{FF2B5EF4-FFF2-40B4-BE49-F238E27FC236}">
                <a16:creationId xmlns:a16="http://schemas.microsoft.com/office/drawing/2014/main" id="{A326FB39-0BEA-4586-ABEA-FC6B83BD56DE}"/>
              </a:ext>
            </a:extLst>
          </p:cNvPr>
          <p:cNvSpPr/>
          <p:nvPr/>
        </p:nvSpPr>
        <p:spPr>
          <a:xfrm>
            <a:off x="385875" y="3498195"/>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基于局部</a:t>
            </a:r>
            <a:endParaRPr lang="en-US" altLang="zh-CN" sz="2400" b="1" dirty="0">
              <a:solidFill>
                <a:schemeClr val="tx1"/>
              </a:solidFill>
              <a:latin typeface="微软雅黑" panose="020B0503020204020204" pitchFamily="34" charset="-122"/>
              <a:ea typeface="微软雅黑" panose="020B0503020204020204" pitchFamily="34" charset="-122"/>
            </a:endParaRPr>
          </a:p>
          <a:p>
            <a:pPr algn="ctr"/>
            <a:r>
              <a:rPr lang="zh-CN" altLang="en-US" sz="2400" b="1" dirty="0">
                <a:solidFill>
                  <a:schemeClr val="tx1"/>
                </a:solidFill>
                <a:latin typeface="微软雅黑" panose="020B0503020204020204" pitchFamily="34" charset="-122"/>
                <a:ea typeface="微软雅黑" panose="020B0503020204020204" pitchFamily="34" charset="-122"/>
              </a:rPr>
              <a:t>拓扑信息</a:t>
            </a:r>
          </a:p>
        </p:txBody>
      </p:sp>
      <p:sp>
        <p:nvSpPr>
          <p:cNvPr id="43" name="矩形 42">
            <a:extLst>
              <a:ext uri="{FF2B5EF4-FFF2-40B4-BE49-F238E27FC236}">
                <a16:creationId xmlns:a16="http://schemas.microsoft.com/office/drawing/2014/main" id="{CF237C22-8996-4B9A-A395-E0E789A4852D}"/>
              </a:ext>
            </a:extLst>
          </p:cNvPr>
          <p:cNvSpPr/>
          <p:nvPr/>
        </p:nvSpPr>
        <p:spPr>
          <a:xfrm>
            <a:off x="385874" y="4329610"/>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以数据为中心</a:t>
            </a:r>
          </a:p>
        </p:txBody>
      </p:sp>
      <p:sp>
        <p:nvSpPr>
          <p:cNvPr id="44" name="矩形 43">
            <a:extLst>
              <a:ext uri="{FF2B5EF4-FFF2-40B4-BE49-F238E27FC236}">
                <a16:creationId xmlns:a16="http://schemas.microsoft.com/office/drawing/2014/main" id="{3007CF02-603D-4B01-B04A-ADD5E1C65DA9}"/>
              </a:ext>
            </a:extLst>
          </p:cNvPr>
          <p:cNvSpPr/>
          <p:nvPr/>
        </p:nvSpPr>
        <p:spPr>
          <a:xfrm>
            <a:off x="385873" y="5161025"/>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应用相关</a:t>
            </a:r>
          </a:p>
        </p:txBody>
      </p:sp>
      <p:sp>
        <p:nvSpPr>
          <p:cNvPr id="45" name="矩形 44">
            <a:extLst>
              <a:ext uri="{FF2B5EF4-FFF2-40B4-BE49-F238E27FC236}">
                <a16:creationId xmlns:a16="http://schemas.microsoft.com/office/drawing/2014/main" id="{55A09E41-07F1-477B-BB85-E92299293F06}"/>
              </a:ext>
            </a:extLst>
          </p:cNvPr>
          <p:cNvSpPr/>
          <p:nvPr/>
        </p:nvSpPr>
        <p:spPr>
          <a:xfrm>
            <a:off x="6315708" y="2687872"/>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能量高效</a:t>
            </a:r>
          </a:p>
        </p:txBody>
      </p:sp>
      <p:sp>
        <p:nvSpPr>
          <p:cNvPr id="46" name="矩形 45">
            <a:extLst>
              <a:ext uri="{FF2B5EF4-FFF2-40B4-BE49-F238E27FC236}">
                <a16:creationId xmlns:a16="http://schemas.microsoft.com/office/drawing/2014/main" id="{244282F7-DA12-43BC-827B-3C0D3EB1F694}"/>
              </a:ext>
            </a:extLst>
          </p:cNvPr>
          <p:cNvSpPr/>
          <p:nvPr/>
        </p:nvSpPr>
        <p:spPr>
          <a:xfrm>
            <a:off x="6317912" y="3529970"/>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可扩展性</a:t>
            </a:r>
          </a:p>
        </p:txBody>
      </p:sp>
      <p:sp>
        <p:nvSpPr>
          <p:cNvPr id="47" name="矩形 46">
            <a:extLst>
              <a:ext uri="{FF2B5EF4-FFF2-40B4-BE49-F238E27FC236}">
                <a16:creationId xmlns:a16="http://schemas.microsoft.com/office/drawing/2014/main" id="{7AA1BAA4-8EFF-4C69-A635-B0E4E0941BD5}"/>
              </a:ext>
            </a:extLst>
          </p:cNvPr>
          <p:cNvSpPr/>
          <p:nvPr/>
        </p:nvSpPr>
        <p:spPr>
          <a:xfrm>
            <a:off x="6315707" y="4343803"/>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稳健性</a:t>
            </a:r>
          </a:p>
        </p:txBody>
      </p:sp>
      <p:sp>
        <p:nvSpPr>
          <p:cNvPr id="48" name="矩形 47">
            <a:extLst>
              <a:ext uri="{FF2B5EF4-FFF2-40B4-BE49-F238E27FC236}">
                <a16:creationId xmlns:a16="http://schemas.microsoft.com/office/drawing/2014/main" id="{3A9A375A-D4AF-4161-B220-4EA7CF5B8FA6}"/>
              </a:ext>
            </a:extLst>
          </p:cNvPr>
          <p:cNvSpPr/>
          <p:nvPr/>
        </p:nvSpPr>
        <p:spPr>
          <a:xfrm>
            <a:off x="6315707" y="5157636"/>
            <a:ext cx="2246887" cy="713232"/>
          </a:xfrm>
          <a:prstGeom prst="rect">
            <a:avLst/>
          </a:prstGeom>
          <a:solidFill>
            <a:schemeClr val="accent5">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快速收敛</a:t>
            </a:r>
          </a:p>
        </p:txBody>
      </p:sp>
    </p:spTree>
    <p:extLst>
      <p:ext uri="{BB962C8B-B14F-4D97-AF65-F5344CB8AC3E}">
        <p14:creationId xmlns:p14="http://schemas.microsoft.com/office/powerpoint/2010/main" val="56493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1000"/>
                                        <p:tgtEl>
                                          <p:spTgt spid="19"/>
                                        </p:tgtEl>
                                      </p:cBhvr>
                                    </p:animEffect>
                                    <p:anim calcmode="lin" valueType="num">
                                      <p:cBhvr>
                                        <p:cTn id="12" dur="1000" fill="hold"/>
                                        <p:tgtEl>
                                          <p:spTgt spid="19"/>
                                        </p:tgtEl>
                                        <p:attrNameLst>
                                          <p:attrName>ppt_x</p:attrName>
                                        </p:attrNameLst>
                                      </p:cBhvr>
                                      <p:tavLst>
                                        <p:tav tm="0">
                                          <p:val>
                                            <p:strVal val="#ppt_x"/>
                                          </p:val>
                                        </p:tav>
                                        <p:tav tm="100000">
                                          <p:val>
                                            <p:strVal val="#ppt_x"/>
                                          </p:val>
                                        </p:tav>
                                      </p:tavLst>
                                    </p:anim>
                                    <p:anim calcmode="lin" valueType="num">
                                      <p:cBhvr>
                                        <p:cTn id="13" dur="1000" fill="hold"/>
                                        <p:tgtEl>
                                          <p:spTgt spid="19"/>
                                        </p:tgtEl>
                                        <p:attrNameLst>
                                          <p:attrName>ppt_y</p:attrName>
                                        </p:attrNameLst>
                                      </p:cBhvr>
                                      <p:tavLst>
                                        <p:tav tm="0">
                                          <p:val>
                                            <p:strVal val="#ppt_y+.1"/>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p:cTn id="16" dur="1000" fill="hold"/>
                                        <p:tgtEl>
                                          <p:spTgt spid="38"/>
                                        </p:tgtEl>
                                        <p:attrNameLst>
                                          <p:attrName>ppt_w</p:attrName>
                                        </p:attrNameLst>
                                      </p:cBhvr>
                                      <p:tavLst>
                                        <p:tav tm="0">
                                          <p:val>
                                            <p:fltVal val="0"/>
                                          </p:val>
                                        </p:tav>
                                        <p:tav tm="100000">
                                          <p:val>
                                            <p:strVal val="#ppt_w"/>
                                          </p:val>
                                        </p:tav>
                                      </p:tavLst>
                                    </p:anim>
                                    <p:anim calcmode="lin" valueType="num">
                                      <p:cBhvr>
                                        <p:cTn id="17" dur="1000" fill="hold"/>
                                        <p:tgtEl>
                                          <p:spTgt spid="38"/>
                                        </p:tgtEl>
                                        <p:attrNameLst>
                                          <p:attrName>ppt_h</p:attrName>
                                        </p:attrNameLst>
                                      </p:cBhvr>
                                      <p:tavLst>
                                        <p:tav tm="0">
                                          <p:val>
                                            <p:fltVal val="0"/>
                                          </p:val>
                                        </p:tav>
                                        <p:tav tm="100000">
                                          <p:val>
                                            <p:strVal val="#ppt_h"/>
                                          </p:val>
                                        </p:tav>
                                      </p:tavLst>
                                    </p:anim>
                                    <p:anim calcmode="lin" valueType="num">
                                      <p:cBhvr>
                                        <p:cTn id="18" dur="1000" fill="hold"/>
                                        <p:tgtEl>
                                          <p:spTgt spid="38"/>
                                        </p:tgtEl>
                                        <p:attrNameLst>
                                          <p:attrName>style.rotation</p:attrName>
                                        </p:attrNameLst>
                                      </p:cBhvr>
                                      <p:tavLst>
                                        <p:tav tm="0">
                                          <p:val>
                                            <p:fltVal val="90"/>
                                          </p:val>
                                        </p:tav>
                                        <p:tav tm="100000">
                                          <p:val>
                                            <p:fltVal val="0"/>
                                          </p:val>
                                        </p:tav>
                                      </p:tavLst>
                                    </p:anim>
                                    <p:animEffect transition="in" filter="fade">
                                      <p:cBhvr>
                                        <p:cTn id="19" dur="1000"/>
                                        <p:tgtEl>
                                          <p:spTgt spid="38"/>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p:cTn id="22" dur="1000" fill="hold"/>
                                        <p:tgtEl>
                                          <p:spTgt spid="39"/>
                                        </p:tgtEl>
                                        <p:attrNameLst>
                                          <p:attrName>ppt_w</p:attrName>
                                        </p:attrNameLst>
                                      </p:cBhvr>
                                      <p:tavLst>
                                        <p:tav tm="0">
                                          <p:val>
                                            <p:fltVal val="0"/>
                                          </p:val>
                                        </p:tav>
                                        <p:tav tm="100000">
                                          <p:val>
                                            <p:strVal val="#ppt_w"/>
                                          </p:val>
                                        </p:tav>
                                      </p:tavLst>
                                    </p:anim>
                                    <p:anim calcmode="lin" valueType="num">
                                      <p:cBhvr>
                                        <p:cTn id="23" dur="1000" fill="hold"/>
                                        <p:tgtEl>
                                          <p:spTgt spid="39"/>
                                        </p:tgtEl>
                                        <p:attrNameLst>
                                          <p:attrName>ppt_h</p:attrName>
                                        </p:attrNameLst>
                                      </p:cBhvr>
                                      <p:tavLst>
                                        <p:tav tm="0">
                                          <p:val>
                                            <p:fltVal val="0"/>
                                          </p:val>
                                        </p:tav>
                                        <p:tav tm="100000">
                                          <p:val>
                                            <p:strVal val="#ppt_h"/>
                                          </p:val>
                                        </p:tav>
                                      </p:tavLst>
                                    </p:anim>
                                    <p:anim calcmode="lin" valueType="num">
                                      <p:cBhvr>
                                        <p:cTn id="24" dur="1000" fill="hold"/>
                                        <p:tgtEl>
                                          <p:spTgt spid="39"/>
                                        </p:tgtEl>
                                        <p:attrNameLst>
                                          <p:attrName>style.rotation</p:attrName>
                                        </p:attrNameLst>
                                      </p:cBhvr>
                                      <p:tavLst>
                                        <p:tav tm="0">
                                          <p:val>
                                            <p:fltVal val="90"/>
                                          </p:val>
                                        </p:tav>
                                        <p:tav tm="100000">
                                          <p:val>
                                            <p:fltVal val="0"/>
                                          </p:val>
                                        </p:tav>
                                      </p:tavLst>
                                    </p:anim>
                                    <p:animEffect transition="in" filter="fade">
                                      <p:cBhvr>
                                        <p:cTn id="25" dur="10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43"/>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8" grpId="0"/>
      <p:bldP spid="39" grpId="0"/>
      <p:bldP spid="2" grpId="0" animBg="1"/>
      <p:bldP spid="42" grpId="0" animBg="1"/>
      <p:bldP spid="43" grpId="0" animBg="1"/>
      <p:bldP spid="44" grpId="0" animBg="1"/>
      <p:bldP spid="45" grpId="0" animBg="1"/>
      <p:bldP spid="46" grpId="0" animBg="1"/>
      <p:bldP spid="47" grpId="0" animBg="1"/>
      <p:bldP spid="4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29</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3524042"/>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传感器网络路由过程</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spcBef>
                <a:spcPts val="1200"/>
              </a:spcBef>
              <a:spcAft>
                <a:spcPts val="1200"/>
              </a:spcAft>
              <a:buFont typeface="+mj-ea"/>
              <a:buAutoNum type="circleNumDbPlain"/>
            </a:pPr>
            <a:r>
              <a:rPr lang="zh-CN" altLang="en-US" sz="2400" b="1" dirty="0">
                <a:latin typeface="Times New Roman" panose="02020603050405020304" pitchFamily="18" charset="0"/>
                <a:cs typeface="Times New Roman" panose="02020603050405020304" pitchFamily="18" charset="0"/>
              </a:rPr>
              <a:t>某一个设备发出</a:t>
            </a:r>
            <a:r>
              <a:rPr lang="zh-CN" altLang="en-US" sz="2400" b="1" dirty="0">
                <a:solidFill>
                  <a:srgbClr val="FF0000"/>
                </a:solidFill>
                <a:latin typeface="Times New Roman" panose="02020603050405020304" pitchFamily="18" charset="0"/>
                <a:cs typeface="Times New Roman" panose="02020603050405020304" pitchFamily="18" charset="0"/>
              </a:rPr>
              <a:t>路由请求</a:t>
            </a:r>
            <a:r>
              <a:rPr lang="zh-CN" altLang="en-US" sz="2400" b="1" dirty="0">
                <a:latin typeface="Times New Roman" panose="02020603050405020304" pitchFamily="18" charset="0"/>
                <a:cs typeface="Times New Roman" panose="02020603050405020304" pitchFamily="18" charset="0"/>
              </a:rPr>
              <a:t>命令帧，启动路由发现过程</a:t>
            </a:r>
          </a:p>
          <a:p>
            <a:pPr marL="514350" indent="-514350">
              <a:spcBef>
                <a:spcPts val="1200"/>
              </a:spcBef>
              <a:spcAft>
                <a:spcPts val="1200"/>
              </a:spcAft>
              <a:buFont typeface="+mj-ea"/>
              <a:buAutoNum type="circleNumDbPlain"/>
            </a:pPr>
            <a:r>
              <a:rPr lang="zh-CN" altLang="en-US" sz="2400" b="1" dirty="0">
                <a:latin typeface="Times New Roman" panose="02020603050405020304" pitchFamily="18" charset="0"/>
                <a:cs typeface="Times New Roman" panose="02020603050405020304" pitchFamily="18" charset="0"/>
              </a:rPr>
              <a:t>对应的接收设备收到该命令后，回复</a:t>
            </a:r>
            <a:r>
              <a:rPr lang="zh-CN" altLang="en-US" sz="2400" b="1" dirty="0">
                <a:solidFill>
                  <a:srgbClr val="FF0000"/>
                </a:solidFill>
                <a:latin typeface="Times New Roman" panose="02020603050405020304" pitchFamily="18" charset="0"/>
                <a:cs typeface="Times New Roman" panose="02020603050405020304" pitchFamily="18" charset="0"/>
              </a:rPr>
              <a:t>应答命令</a:t>
            </a:r>
            <a:r>
              <a:rPr lang="zh-CN" altLang="en-US" sz="2400" b="1" dirty="0">
                <a:latin typeface="Times New Roman" panose="02020603050405020304" pitchFamily="18" charset="0"/>
                <a:cs typeface="Times New Roman" panose="02020603050405020304" pitchFamily="18" charset="0"/>
              </a:rPr>
              <a:t>帧</a:t>
            </a:r>
          </a:p>
          <a:p>
            <a:pPr marL="514350" indent="-514350">
              <a:spcBef>
                <a:spcPts val="1200"/>
              </a:spcBef>
              <a:spcAft>
                <a:spcPts val="1200"/>
              </a:spcAft>
              <a:buFont typeface="+mj-ea"/>
              <a:buAutoNum type="circleNumDbPlain"/>
            </a:pPr>
            <a:r>
              <a:rPr lang="zh-CN" altLang="en-US" sz="2400" b="1" dirty="0">
                <a:latin typeface="Times New Roman" panose="02020603050405020304" pitchFamily="18" charset="0"/>
                <a:cs typeface="Times New Roman" panose="02020603050405020304" pitchFamily="18" charset="0"/>
              </a:rPr>
              <a:t>对潜在的各条路径开销</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跳转次数、延迟时间</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进行</a:t>
            </a:r>
            <a:r>
              <a:rPr lang="zh-CN" altLang="en-US" sz="2400" b="1" dirty="0">
                <a:solidFill>
                  <a:srgbClr val="FF0000"/>
                </a:solidFill>
                <a:latin typeface="Times New Roman" panose="02020603050405020304" pitchFamily="18" charset="0"/>
                <a:cs typeface="Times New Roman" panose="02020603050405020304" pitchFamily="18" charset="0"/>
              </a:rPr>
              <a:t>评估比较</a:t>
            </a:r>
            <a:endParaRPr lang="zh-CN" altLang="en-US" sz="2400" b="1" dirty="0">
              <a:latin typeface="Times New Roman" panose="02020603050405020304" pitchFamily="18" charset="0"/>
              <a:cs typeface="Times New Roman" panose="02020603050405020304" pitchFamily="18" charset="0"/>
            </a:endParaRPr>
          </a:p>
          <a:p>
            <a:pPr marL="514350" indent="-514350">
              <a:spcBef>
                <a:spcPts val="1200"/>
              </a:spcBef>
              <a:spcAft>
                <a:spcPts val="1200"/>
              </a:spcAft>
              <a:buFont typeface="+mj-ea"/>
              <a:buAutoNum type="circleNumDbPlain"/>
            </a:pPr>
            <a:r>
              <a:rPr lang="zh-CN" altLang="en-US" sz="2400" b="1" dirty="0">
                <a:latin typeface="Times New Roman" panose="02020603050405020304" pitchFamily="18" charset="0"/>
                <a:cs typeface="Times New Roman" panose="02020603050405020304" pitchFamily="18" charset="0"/>
              </a:rPr>
              <a:t>将评估确定之后的</a:t>
            </a:r>
            <a:r>
              <a:rPr lang="zh-CN" altLang="en-US" sz="2400" b="1" dirty="0">
                <a:solidFill>
                  <a:srgbClr val="FF0000"/>
                </a:solidFill>
                <a:latin typeface="Times New Roman" panose="02020603050405020304" pitchFamily="18" charset="0"/>
                <a:cs typeface="Times New Roman" panose="02020603050405020304" pitchFamily="18" charset="0"/>
              </a:rPr>
              <a:t>最佳路由记录</a:t>
            </a:r>
            <a:r>
              <a:rPr lang="zh-CN" altLang="en-US" sz="2400" b="1" dirty="0">
                <a:latin typeface="Times New Roman" panose="02020603050405020304" pitchFamily="18" charset="0"/>
                <a:cs typeface="Times New Roman" panose="02020603050405020304" pitchFamily="18" charset="0"/>
              </a:rPr>
              <a:t>添加到此路径上各个设备的</a:t>
            </a:r>
            <a:r>
              <a:rPr lang="zh-CN" altLang="en-US" sz="2400" b="1" dirty="0">
                <a:solidFill>
                  <a:srgbClr val="FF0000"/>
                </a:solidFill>
                <a:latin typeface="Times New Roman" panose="02020603050405020304" pitchFamily="18" charset="0"/>
                <a:cs typeface="Times New Roman" panose="02020603050405020304" pitchFamily="18" charset="0"/>
              </a:rPr>
              <a:t>路由表</a:t>
            </a:r>
            <a:r>
              <a:rPr lang="zh-CN" altLang="en-US" sz="2400" b="1" dirty="0">
                <a:latin typeface="Times New Roman" panose="02020603050405020304" pitchFamily="18" charset="0"/>
                <a:cs typeface="Times New Roman" panose="02020603050405020304" pitchFamily="18" charset="0"/>
              </a:rPr>
              <a:t>中</a:t>
            </a:r>
            <a:endParaRPr lang="en-US" altLang="zh-CN" sz="24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3771E31D-8CD7-443F-B086-66BEA4E9D0CF}"/>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109270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30</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4328" y="513404"/>
            <a:ext cx="8615594" cy="1092607"/>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E.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传感器网络路由分类</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分类方法描述</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圆角矩形 5"/>
          <p:cNvSpPr/>
          <p:nvPr/>
        </p:nvSpPr>
        <p:spPr>
          <a:xfrm>
            <a:off x="646771" y="1792487"/>
            <a:ext cx="2160224" cy="87627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基于源节点获取路径的方法</a:t>
            </a:r>
          </a:p>
        </p:txBody>
      </p:sp>
      <p:sp>
        <p:nvSpPr>
          <p:cNvPr id="9" name="圆角矩形 8"/>
          <p:cNvSpPr/>
          <p:nvPr/>
        </p:nvSpPr>
        <p:spPr>
          <a:xfrm>
            <a:off x="646771" y="3357286"/>
            <a:ext cx="2160224" cy="87627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基于节点参与通信的方式</a:t>
            </a:r>
          </a:p>
        </p:txBody>
      </p:sp>
      <p:sp>
        <p:nvSpPr>
          <p:cNvPr id="10" name="圆角矩形 9"/>
          <p:cNvSpPr/>
          <p:nvPr/>
        </p:nvSpPr>
        <p:spPr>
          <a:xfrm>
            <a:off x="646771" y="5042336"/>
            <a:ext cx="2160224" cy="87627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基于路由发现的过程</a:t>
            </a:r>
          </a:p>
        </p:txBody>
      </p:sp>
      <p:sp>
        <p:nvSpPr>
          <p:cNvPr id="11" name="圆角矩形 10"/>
          <p:cNvSpPr/>
          <p:nvPr/>
        </p:nvSpPr>
        <p:spPr>
          <a:xfrm>
            <a:off x="6433553" y="1792487"/>
            <a:ext cx="2160224" cy="87627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Times New Roman" panose="02020603050405020304" pitchFamily="18" charset="0"/>
                <a:cs typeface="Times New Roman" panose="02020603050405020304" pitchFamily="18" charset="0"/>
              </a:rPr>
              <a:t>基于</a:t>
            </a:r>
            <a:r>
              <a:rPr lang="en-US" altLang="zh-CN" sz="2400" b="1" dirty="0" err="1">
                <a:solidFill>
                  <a:schemeClr val="tx1"/>
                </a:solidFill>
                <a:latin typeface="Times New Roman" panose="02020603050405020304" pitchFamily="18" charset="0"/>
                <a:cs typeface="Times New Roman" panose="02020603050405020304" pitchFamily="18" charset="0"/>
              </a:rPr>
              <a:t>QoS</a:t>
            </a:r>
            <a:r>
              <a:rPr lang="zh-CN" altLang="en-US" sz="2400" b="1" dirty="0">
                <a:solidFill>
                  <a:schemeClr val="tx1"/>
                </a:solidFill>
                <a:latin typeface="Times New Roman" panose="02020603050405020304" pitchFamily="18" charset="0"/>
                <a:cs typeface="Times New Roman" panose="02020603050405020304" pitchFamily="18" charset="0"/>
              </a:rPr>
              <a:t>约束</a:t>
            </a:r>
            <a:endParaRPr lang="en-US" altLang="zh-CN" sz="2400" b="1" dirty="0">
              <a:solidFill>
                <a:schemeClr val="tx1"/>
              </a:solidFill>
              <a:latin typeface="Times New Roman" panose="02020603050405020304" pitchFamily="18" charset="0"/>
              <a:cs typeface="Times New Roman" panose="02020603050405020304" pitchFamily="18" charset="0"/>
            </a:endParaRPr>
          </a:p>
          <a:p>
            <a:pPr algn="ctr"/>
            <a:r>
              <a:rPr lang="zh-CN" altLang="en-US" dirty="0">
                <a:solidFill>
                  <a:schemeClr val="tx1"/>
                </a:solidFill>
                <a:latin typeface="Times New Roman" panose="02020603050405020304" pitchFamily="18" charset="0"/>
                <a:cs typeface="Times New Roman" panose="02020603050405020304" pitchFamily="18" charset="0"/>
              </a:rPr>
              <a:t>（时延、丢包率等）</a:t>
            </a:r>
          </a:p>
        </p:txBody>
      </p:sp>
      <p:sp>
        <p:nvSpPr>
          <p:cNvPr id="12" name="圆角矩形 11"/>
          <p:cNvSpPr/>
          <p:nvPr/>
        </p:nvSpPr>
        <p:spPr>
          <a:xfrm>
            <a:off x="3396471" y="1234829"/>
            <a:ext cx="2270682"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主动路由协议</a:t>
            </a:r>
          </a:p>
        </p:txBody>
      </p:sp>
      <p:cxnSp>
        <p:nvCxnSpPr>
          <p:cNvPr id="13" name="直接连接符 12"/>
          <p:cNvCxnSpPr>
            <a:stCxn id="6" idx="3"/>
            <a:endCxn id="12" idx="1"/>
          </p:cNvCxnSpPr>
          <p:nvPr/>
        </p:nvCxnSpPr>
        <p:spPr>
          <a:xfrm flipV="1">
            <a:off x="2806995" y="1487877"/>
            <a:ext cx="589476" cy="74274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圆角矩形 13"/>
          <p:cNvSpPr/>
          <p:nvPr/>
        </p:nvSpPr>
        <p:spPr>
          <a:xfrm>
            <a:off x="3396472" y="1781913"/>
            <a:ext cx="2270682"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按需路由协议</a:t>
            </a:r>
          </a:p>
        </p:txBody>
      </p:sp>
      <p:sp>
        <p:nvSpPr>
          <p:cNvPr id="15" name="圆角矩形 14"/>
          <p:cNvSpPr/>
          <p:nvPr/>
        </p:nvSpPr>
        <p:spPr>
          <a:xfrm>
            <a:off x="3396472" y="2328997"/>
            <a:ext cx="2270681"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混合路由协议</a:t>
            </a:r>
          </a:p>
        </p:txBody>
      </p:sp>
      <p:sp>
        <p:nvSpPr>
          <p:cNvPr id="16" name="圆角矩形 15"/>
          <p:cNvSpPr/>
          <p:nvPr/>
        </p:nvSpPr>
        <p:spPr>
          <a:xfrm>
            <a:off x="3396474" y="2904489"/>
            <a:ext cx="2759777"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直接通信路由协议</a:t>
            </a:r>
          </a:p>
        </p:txBody>
      </p:sp>
      <p:sp>
        <p:nvSpPr>
          <p:cNvPr id="17" name="圆角矩形 16"/>
          <p:cNvSpPr/>
          <p:nvPr/>
        </p:nvSpPr>
        <p:spPr>
          <a:xfrm>
            <a:off x="3396474" y="3498803"/>
            <a:ext cx="2759778"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平面路由协议</a:t>
            </a:r>
          </a:p>
        </p:txBody>
      </p:sp>
      <p:sp>
        <p:nvSpPr>
          <p:cNvPr id="18" name="圆角矩形 17"/>
          <p:cNvSpPr/>
          <p:nvPr/>
        </p:nvSpPr>
        <p:spPr>
          <a:xfrm>
            <a:off x="3396472" y="4079147"/>
            <a:ext cx="2759780"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层次路由协议</a:t>
            </a:r>
          </a:p>
        </p:txBody>
      </p:sp>
      <p:sp>
        <p:nvSpPr>
          <p:cNvPr id="19" name="圆角矩形 18"/>
          <p:cNvSpPr/>
          <p:nvPr/>
        </p:nvSpPr>
        <p:spPr>
          <a:xfrm>
            <a:off x="3389239" y="4835365"/>
            <a:ext cx="3646114"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以位置为中心的路由协议</a:t>
            </a:r>
          </a:p>
        </p:txBody>
      </p:sp>
      <p:sp>
        <p:nvSpPr>
          <p:cNvPr id="20" name="圆角矩形 19"/>
          <p:cNvSpPr/>
          <p:nvPr/>
        </p:nvSpPr>
        <p:spPr>
          <a:xfrm>
            <a:off x="3396471" y="5641433"/>
            <a:ext cx="3631650" cy="506096"/>
          </a:xfrm>
          <a:prstGeom prst="round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Times New Roman" panose="02020603050405020304" pitchFamily="18" charset="0"/>
                <a:cs typeface="Times New Roman" panose="02020603050405020304" pitchFamily="18" charset="0"/>
              </a:rPr>
              <a:t>以数据为中心的路由协议</a:t>
            </a:r>
          </a:p>
        </p:txBody>
      </p:sp>
      <p:cxnSp>
        <p:nvCxnSpPr>
          <p:cNvPr id="22" name="直接连接符 21"/>
          <p:cNvCxnSpPr>
            <a:stCxn id="6" idx="3"/>
            <a:endCxn id="14" idx="1"/>
          </p:cNvCxnSpPr>
          <p:nvPr/>
        </p:nvCxnSpPr>
        <p:spPr>
          <a:xfrm flipV="1">
            <a:off x="2806995" y="2034961"/>
            <a:ext cx="589477" cy="19566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6" idx="3"/>
            <a:endCxn id="15" idx="1"/>
          </p:cNvCxnSpPr>
          <p:nvPr/>
        </p:nvCxnSpPr>
        <p:spPr>
          <a:xfrm>
            <a:off x="2806995" y="2230626"/>
            <a:ext cx="589477" cy="3514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9" idx="3"/>
            <a:endCxn id="16" idx="1"/>
          </p:cNvCxnSpPr>
          <p:nvPr/>
        </p:nvCxnSpPr>
        <p:spPr>
          <a:xfrm flipV="1">
            <a:off x="2806995" y="3157537"/>
            <a:ext cx="589479" cy="63788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9" idx="3"/>
            <a:endCxn id="18" idx="1"/>
          </p:cNvCxnSpPr>
          <p:nvPr/>
        </p:nvCxnSpPr>
        <p:spPr>
          <a:xfrm>
            <a:off x="2806995" y="3795425"/>
            <a:ext cx="589477" cy="53677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9" idx="3"/>
            <a:endCxn id="17" idx="1"/>
          </p:cNvCxnSpPr>
          <p:nvPr/>
        </p:nvCxnSpPr>
        <p:spPr>
          <a:xfrm flipV="1">
            <a:off x="2806995" y="3751851"/>
            <a:ext cx="589479" cy="435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0" idx="3"/>
            <a:endCxn id="19" idx="1"/>
          </p:cNvCxnSpPr>
          <p:nvPr/>
        </p:nvCxnSpPr>
        <p:spPr>
          <a:xfrm flipV="1">
            <a:off x="2806995" y="5088413"/>
            <a:ext cx="582244" cy="3920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0" idx="3"/>
            <a:endCxn id="20" idx="1"/>
          </p:cNvCxnSpPr>
          <p:nvPr/>
        </p:nvCxnSpPr>
        <p:spPr>
          <a:xfrm>
            <a:off x="2806995" y="5480475"/>
            <a:ext cx="589476" cy="41400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3" name="圆角矩形 42"/>
          <p:cNvSpPr/>
          <p:nvPr/>
        </p:nvSpPr>
        <p:spPr>
          <a:xfrm>
            <a:off x="6433553" y="3357286"/>
            <a:ext cx="2160224" cy="106585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Times New Roman" panose="02020603050405020304" pitchFamily="18" charset="0"/>
                <a:cs typeface="Times New Roman" panose="02020603050405020304" pitchFamily="18" charset="0"/>
              </a:rPr>
              <a:t>基于</a:t>
            </a:r>
            <a:r>
              <a:rPr lang="en-US" altLang="zh-CN" sz="2400" b="1" dirty="0">
                <a:solidFill>
                  <a:schemeClr val="tx1"/>
                </a:solidFill>
                <a:latin typeface="+mn-ea"/>
                <a:cs typeface="Times New Roman" panose="02020603050405020304" pitchFamily="18" charset="0"/>
              </a:rPr>
              <a:t>……</a:t>
            </a:r>
          </a:p>
          <a:p>
            <a:pPr algn="ctr"/>
            <a:r>
              <a:rPr lang="zh-CN" altLang="en-US" dirty="0">
                <a:solidFill>
                  <a:schemeClr val="tx1"/>
                </a:solidFill>
                <a:latin typeface="Times New Roman" panose="02020603050405020304" pitchFamily="18" charset="0"/>
                <a:cs typeface="Times New Roman" panose="02020603050405020304" pitchFamily="18" charset="0"/>
              </a:rPr>
              <a:t>（查询、能量感知、单</a:t>
            </a:r>
            <a:r>
              <a:rPr lang="en-US" altLang="zh-CN" dirty="0">
                <a:solidFill>
                  <a:schemeClr val="tx1"/>
                </a:solidFill>
                <a:latin typeface="Times New Roman" panose="02020603050405020304" pitchFamily="18" charset="0"/>
                <a:cs typeface="Times New Roman" panose="02020603050405020304" pitchFamily="18" charset="0"/>
              </a:rPr>
              <a:t>-</a:t>
            </a:r>
            <a:r>
              <a:rPr lang="zh-CN" altLang="en-US" dirty="0">
                <a:solidFill>
                  <a:schemeClr val="tx1"/>
                </a:solidFill>
                <a:latin typeface="Times New Roman" panose="02020603050405020304" pitchFamily="18" charset="0"/>
                <a:cs typeface="Times New Roman" panose="02020603050405020304" pitchFamily="18" charset="0"/>
              </a:rPr>
              <a:t>多路径等）</a:t>
            </a:r>
          </a:p>
        </p:txBody>
      </p:sp>
      <p:sp>
        <p:nvSpPr>
          <p:cNvPr id="27" name="文本框 26">
            <a:extLst>
              <a:ext uri="{FF2B5EF4-FFF2-40B4-BE49-F238E27FC236}">
                <a16:creationId xmlns:a16="http://schemas.microsoft.com/office/drawing/2014/main" id="{6C100230-E745-4382-80A6-452B4B35223A}"/>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3086306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35" presetClass="emph" presetSubtype="0" fill="hold" grpId="1" nodeType="clickEffect">
                                  <p:stCondLst>
                                    <p:cond delay="0"/>
                                  </p:stCondLst>
                                  <p:childTnLst>
                                    <p:anim calcmode="discrete" valueType="str">
                                      <p:cBhvr>
                                        <p:cTn id="31" dur="1000" fill="hold"/>
                                        <p:tgtEl>
                                          <p:spTgt spid="6"/>
                                        </p:tgtEl>
                                        <p:attrNameLst>
                                          <p:attrName>style.visibility</p:attrName>
                                        </p:attrNameLst>
                                      </p:cBhvr>
                                      <p:tavLst>
                                        <p:tav tm="0">
                                          <p:val>
                                            <p:strVal val="hidden"/>
                                          </p:val>
                                        </p:tav>
                                        <p:tav tm="50000">
                                          <p:val>
                                            <p:strVal val="visible"/>
                                          </p:val>
                                        </p:tav>
                                      </p:tavLst>
                                    </p:anim>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par>
                          <p:cTn id="40" fill="hold">
                            <p:stCondLst>
                              <p:cond delay="20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par>
                          <p:cTn id="48" fill="hold">
                            <p:stCondLst>
                              <p:cond delay="3000"/>
                            </p:stCondLst>
                            <p:childTnLst>
                              <p:par>
                                <p:cTn id="49" presetID="22" presetClass="entr" presetSubtype="8"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par>
                          <p:cTn id="52" fill="hold">
                            <p:stCondLst>
                              <p:cond delay="3500"/>
                            </p:stCondLst>
                            <p:childTnLst>
                              <p:par>
                                <p:cTn id="53" presetID="22" presetClass="entr" presetSubtype="8"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35" presetClass="emph" presetSubtype="0" fill="hold" grpId="1" nodeType="clickEffect">
                                  <p:stCondLst>
                                    <p:cond delay="0"/>
                                  </p:stCondLst>
                                  <p:childTnLst>
                                    <p:anim calcmode="discrete" valueType="str">
                                      <p:cBhvr>
                                        <p:cTn id="59" dur="1000" fill="hold"/>
                                        <p:tgtEl>
                                          <p:spTgt spid="9"/>
                                        </p:tgtEl>
                                        <p:attrNameLst>
                                          <p:attrName>style.visibility</p:attrName>
                                        </p:attrNameLst>
                                      </p:cBhvr>
                                      <p:tavLst>
                                        <p:tav tm="0">
                                          <p:val>
                                            <p:strVal val="hidden"/>
                                          </p:val>
                                        </p:tav>
                                        <p:tav tm="50000">
                                          <p:val>
                                            <p:strVal val="visible"/>
                                          </p:val>
                                        </p:tav>
                                      </p:tavLst>
                                    </p:anim>
                                  </p:childTnLst>
                                </p:cTn>
                              </p:par>
                            </p:childTnLst>
                          </p:cTn>
                        </p:par>
                        <p:par>
                          <p:cTn id="60" fill="hold">
                            <p:stCondLst>
                              <p:cond delay="1000"/>
                            </p:stCondLst>
                            <p:childTnLst>
                              <p:par>
                                <p:cTn id="61" presetID="22" presetClass="entr" presetSubtype="8"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childTnLst>
                          </p:cTn>
                        </p:par>
                        <p:par>
                          <p:cTn id="64" fill="hold">
                            <p:stCondLst>
                              <p:cond delay="1500"/>
                            </p:stCondLst>
                            <p:childTnLst>
                              <p:par>
                                <p:cTn id="65" presetID="22" presetClass="entr" presetSubtype="8"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par>
                          <p:cTn id="68" fill="hold">
                            <p:stCondLst>
                              <p:cond delay="2000"/>
                            </p:stCondLst>
                            <p:childTnLst>
                              <p:par>
                                <p:cTn id="69" presetID="22" presetClass="entr" presetSubtype="8" fill="hold"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childTnLst>
                          </p:cTn>
                        </p:par>
                        <p:par>
                          <p:cTn id="72" fill="hold">
                            <p:stCondLst>
                              <p:cond delay="2500"/>
                            </p:stCondLst>
                            <p:childTnLst>
                              <p:par>
                                <p:cTn id="73" presetID="22" presetClass="entr" presetSubtype="8" fill="hold" grpId="0" nodeType="after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ipe(left)">
                                      <p:cBhvr>
                                        <p:cTn id="75" dur="500"/>
                                        <p:tgtEl>
                                          <p:spTgt spid="17"/>
                                        </p:tgtEl>
                                      </p:cBhvr>
                                    </p:animEffect>
                                  </p:childTnLst>
                                </p:cTn>
                              </p:par>
                            </p:childTnLst>
                          </p:cTn>
                        </p:par>
                        <p:par>
                          <p:cTn id="76" fill="hold">
                            <p:stCondLst>
                              <p:cond delay="3000"/>
                            </p:stCondLst>
                            <p:childTnLst>
                              <p:par>
                                <p:cTn id="77" presetID="22" presetClass="entr" presetSubtype="8" fill="hold" nodeType="after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wipe(left)">
                                      <p:cBhvr>
                                        <p:cTn id="79" dur="500"/>
                                        <p:tgtEl>
                                          <p:spTgt spid="31"/>
                                        </p:tgtEl>
                                      </p:cBhvr>
                                    </p:animEffect>
                                  </p:childTnLst>
                                </p:cTn>
                              </p:par>
                            </p:childTnLst>
                          </p:cTn>
                        </p:par>
                        <p:par>
                          <p:cTn id="80" fill="hold">
                            <p:stCondLst>
                              <p:cond delay="3500"/>
                            </p:stCondLst>
                            <p:childTnLst>
                              <p:par>
                                <p:cTn id="81" presetID="22" presetClass="entr" presetSubtype="8" fill="hold" grpId="0" nodeType="after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wipe(left)">
                                      <p:cBhvr>
                                        <p:cTn id="83" dur="500"/>
                                        <p:tgtEl>
                                          <p:spTgt spid="18"/>
                                        </p:tgtEl>
                                      </p:cBhvr>
                                    </p:animEffect>
                                  </p:childTnLst>
                                </p:cTn>
                              </p:par>
                            </p:childTnLst>
                          </p:cTn>
                        </p:par>
                      </p:childTnLst>
                    </p:cTn>
                  </p:par>
                  <p:par>
                    <p:cTn id="84" fill="hold">
                      <p:stCondLst>
                        <p:cond delay="indefinite"/>
                      </p:stCondLst>
                      <p:childTnLst>
                        <p:par>
                          <p:cTn id="85" fill="hold">
                            <p:stCondLst>
                              <p:cond delay="0"/>
                            </p:stCondLst>
                            <p:childTnLst>
                              <p:par>
                                <p:cTn id="86" presetID="35" presetClass="emph" presetSubtype="0" fill="hold" grpId="1" nodeType="clickEffect">
                                  <p:stCondLst>
                                    <p:cond delay="0"/>
                                  </p:stCondLst>
                                  <p:childTnLst>
                                    <p:anim calcmode="discrete" valueType="str">
                                      <p:cBhvr>
                                        <p:cTn id="87" dur="1000" fill="hold"/>
                                        <p:tgtEl>
                                          <p:spTgt spid="10"/>
                                        </p:tgtEl>
                                        <p:attrNameLst>
                                          <p:attrName>style.visibility</p:attrName>
                                        </p:attrNameLst>
                                      </p:cBhvr>
                                      <p:tavLst>
                                        <p:tav tm="0">
                                          <p:val>
                                            <p:strVal val="hidden"/>
                                          </p:val>
                                        </p:tav>
                                        <p:tav tm="50000">
                                          <p:val>
                                            <p:strVal val="visible"/>
                                          </p:val>
                                        </p:tav>
                                      </p:tavLst>
                                    </p:anim>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wipe(left)">
                                      <p:cBhvr>
                                        <p:cTn id="91" dur="500"/>
                                        <p:tgtEl>
                                          <p:spTgt spid="37"/>
                                        </p:tgtEl>
                                      </p:cBhvr>
                                    </p:animEffect>
                                  </p:childTnLst>
                                </p:cTn>
                              </p:par>
                            </p:childTnLst>
                          </p:cTn>
                        </p:par>
                        <p:par>
                          <p:cTn id="92" fill="hold">
                            <p:stCondLst>
                              <p:cond delay="1500"/>
                            </p:stCondLst>
                            <p:childTnLst>
                              <p:par>
                                <p:cTn id="93" presetID="22" presetClass="entr" presetSubtype="8" fill="hold" grpId="0" nodeType="after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wipe(left)">
                                      <p:cBhvr>
                                        <p:cTn id="95" dur="500"/>
                                        <p:tgtEl>
                                          <p:spTgt spid="19"/>
                                        </p:tgtEl>
                                      </p:cBhvr>
                                    </p:animEffect>
                                  </p:childTnLst>
                                </p:cTn>
                              </p:par>
                            </p:childTnLst>
                          </p:cTn>
                        </p:par>
                        <p:par>
                          <p:cTn id="96" fill="hold">
                            <p:stCondLst>
                              <p:cond delay="2000"/>
                            </p:stCondLst>
                            <p:childTnLst>
                              <p:par>
                                <p:cTn id="97" presetID="22" presetClass="entr" presetSubtype="8" fill="hold" nodeType="after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wipe(left)">
                                      <p:cBhvr>
                                        <p:cTn id="99" dur="500"/>
                                        <p:tgtEl>
                                          <p:spTgt spid="40"/>
                                        </p:tgtEl>
                                      </p:cBhvr>
                                    </p:animEffect>
                                  </p:childTnLst>
                                </p:cTn>
                              </p:par>
                            </p:childTnLst>
                          </p:cTn>
                        </p:par>
                        <p:par>
                          <p:cTn id="100" fill="hold">
                            <p:stCondLst>
                              <p:cond delay="2500"/>
                            </p:stCondLst>
                            <p:childTnLst>
                              <p:par>
                                <p:cTn id="101" presetID="22" presetClass="entr" presetSubtype="8" fill="hold" grpId="0" nodeType="afterEffect">
                                  <p:stCondLst>
                                    <p:cond delay="0"/>
                                  </p:stCondLst>
                                  <p:childTnLst>
                                    <p:set>
                                      <p:cBhvr>
                                        <p:cTn id="102" dur="1" fill="hold">
                                          <p:stCondLst>
                                            <p:cond delay="0"/>
                                          </p:stCondLst>
                                        </p:cTn>
                                        <p:tgtEl>
                                          <p:spTgt spid="20"/>
                                        </p:tgtEl>
                                        <p:attrNameLst>
                                          <p:attrName>style.visibility</p:attrName>
                                        </p:attrNameLst>
                                      </p:cBhvr>
                                      <p:to>
                                        <p:strVal val="visible"/>
                                      </p:to>
                                    </p:set>
                                    <p:animEffect transition="in" filter="wipe(left)">
                                      <p:cBhvr>
                                        <p:cTn id="10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animBg="1"/>
      <p:bldP spid="9" grpId="1" animBg="1"/>
      <p:bldP spid="10" grpId="0" animBg="1"/>
      <p:bldP spid="10" grpId="1" animBg="1"/>
      <p:bldP spid="11" grpId="0" animBg="1"/>
      <p:bldP spid="12" grpId="0" animBg="1"/>
      <p:bldP spid="14" grpId="0" animBg="1"/>
      <p:bldP spid="15" grpId="0" animBg="1"/>
      <p:bldP spid="16" grpId="0" animBg="1"/>
      <p:bldP spid="17" grpId="0" animBg="1"/>
      <p:bldP spid="18" grpId="0" animBg="1"/>
      <p:bldP spid="19" grpId="0" animBg="1"/>
      <p:bldP spid="20" grpId="0" animBg="1"/>
      <p:bldP spid="4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31</a:t>
            </a:fld>
            <a:endParaRPr lang="zh-CN" altLang="en-US"/>
          </a:p>
        </p:txBody>
      </p:sp>
      <p:sp>
        <p:nvSpPr>
          <p:cNvPr id="2" name="文本框 1"/>
          <p:cNvSpPr txBox="1"/>
          <p:nvPr/>
        </p:nvSpPr>
        <p:spPr>
          <a:xfrm>
            <a:off x="274328" y="513404"/>
            <a:ext cx="8615594"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上节知识回顾</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BA8733B2-4196-4109-9455-2234A3BA5F4D}"/>
              </a:ext>
            </a:extLst>
          </p:cNvPr>
          <p:cNvSpPr txBox="1"/>
          <p:nvPr/>
        </p:nvSpPr>
        <p:spPr>
          <a:xfrm>
            <a:off x="2862357" y="513404"/>
            <a:ext cx="2712712" cy="523220"/>
          </a:xfrm>
          <a:prstGeom prst="rect">
            <a:avLst/>
          </a:prstGeom>
          <a:noFill/>
        </p:spPr>
        <p:txBody>
          <a:bodyPr wrap="square" rtlCol="0">
            <a:spAutoFit/>
          </a:bodyPr>
          <a:lstStyle/>
          <a:p>
            <a:pPr>
              <a:spcAft>
                <a:spcPts val="600"/>
              </a:spcAft>
            </a:pPr>
            <a:r>
              <a:rPr lang="zh-CN" altLang="en-US"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路由层内容介绍</a:t>
            </a:r>
            <a:endParaRPr lang="en-US" altLang="zh-CN"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C62F117E-508A-4D89-92B1-208432C82E3E}"/>
              </a:ext>
            </a:extLst>
          </p:cNvPr>
          <p:cNvSpPr txBox="1"/>
          <p:nvPr/>
        </p:nvSpPr>
        <p:spPr>
          <a:xfrm>
            <a:off x="264203" y="1391782"/>
            <a:ext cx="5632292" cy="1170385"/>
          </a:xfrm>
          <a:prstGeom prst="rect">
            <a:avLst/>
          </a:prstGeom>
          <a:noFill/>
        </p:spPr>
        <p:txBody>
          <a:bodyPr wrap="square" rtlCol="0">
            <a:spAutoFit/>
          </a:bodyPr>
          <a:lstStyle/>
          <a:p>
            <a:pPr marL="514350" indent="-514350">
              <a:spcAft>
                <a:spcPts val="600"/>
              </a:spcAft>
              <a:buAutoNum type="arabicPeriod"/>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掌握</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地址和</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地址的关系</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nSpc>
                <a:spcPct val="150000"/>
              </a:lnSpc>
              <a:spcAft>
                <a:spcPts val="600"/>
              </a:spcAft>
              <a:buAutoNum type="arabicPeriod"/>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传感器路由面临的挑战</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文本框 33">
            <a:extLst>
              <a:ext uri="{FF2B5EF4-FFF2-40B4-BE49-F238E27FC236}">
                <a16:creationId xmlns:a16="http://schemas.microsoft.com/office/drawing/2014/main" id="{1952F7CA-0F55-4DF5-9F44-C438208570ED}"/>
              </a:ext>
            </a:extLst>
          </p:cNvPr>
          <p:cNvSpPr txBox="1"/>
          <p:nvPr/>
        </p:nvSpPr>
        <p:spPr>
          <a:xfrm>
            <a:off x="826697" y="2736369"/>
            <a:ext cx="5632292" cy="461665"/>
          </a:xfrm>
          <a:prstGeom prst="rect">
            <a:avLst/>
          </a:prstGeom>
          <a:noFill/>
        </p:spPr>
        <p:txBody>
          <a:bodyPr wrap="square" rtlCol="0">
            <a:spAutoFit/>
          </a:bodyPr>
          <a:lstStyle/>
          <a:p>
            <a:pPr marL="514350" indent="-514350">
              <a:spcAft>
                <a:spcPts val="600"/>
              </a:spcAft>
              <a:buFont typeface="+mj-ea"/>
              <a:buAutoNum type="circleNumDbPlain"/>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能量效率</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文本框 34">
            <a:extLst>
              <a:ext uri="{FF2B5EF4-FFF2-40B4-BE49-F238E27FC236}">
                <a16:creationId xmlns:a16="http://schemas.microsoft.com/office/drawing/2014/main" id="{213CEE7F-19CC-4B52-8D55-9B641AF08463}"/>
              </a:ext>
            </a:extLst>
          </p:cNvPr>
          <p:cNvSpPr txBox="1"/>
          <p:nvPr/>
        </p:nvSpPr>
        <p:spPr>
          <a:xfrm>
            <a:off x="2990777" y="2736368"/>
            <a:ext cx="3371231"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计算能耗低于传输能耗</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92068B03-304A-4651-86CA-B96B7D3B6E48}"/>
              </a:ext>
            </a:extLst>
          </p:cNvPr>
          <p:cNvSpPr txBox="1"/>
          <p:nvPr/>
        </p:nvSpPr>
        <p:spPr>
          <a:xfrm>
            <a:off x="826697" y="3353784"/>
            <a:ext cx="2164080" cy="461665"/>
          </a:xfrm>
          <a:prstGeom prst="rect">
            <a:avLst/>
          </a:prstGeom>
          <a:noFill/>
        </p:spPr>
        <p:txBody>
          <a:bodyPr wrap="square" rtlCol="0">
            <a:spAutoFit/>
          </a:bodyPr>
          <a:lstStyle/>
          <a:p>
            <a:pPr marL="514350" indent="-514350">
              <a:spcAft>
                <a:spcPts val="600"/>
              </a:spcAft>
              <a:buFont typeface="+mj-ea"/>
              <a:buAutoNum type="circleNumDbPlain" startAt="2"/>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可扩展性</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文本框 37">
            <a:extLst>
              <a:ext uri="{FF2B5EF4-FFF2-40B4-BE49-F238E27FC236}">
                <a16:creationId xmlns:a16="http://schemas.microsoft.com/office/drawing/2014/main" id="{7C311342-175B-4558-BC96-3AB6128AC73F}"/>
              </a:ext>
            </a:extLst>
          </p:cNvPr>
          <p:cNvSpPr txBox="1"/>
          <p:nvPr/>
        </p:nvSpPr>
        <p:spPr>
          <a:xfrm>
            <a:off x="2990777" y="3372235"/>
            <a:ext cx="4437764"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对全分布式路由策略有需求</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7555061D-645B-4092-B9CE-D0D1906FB4E5}"/>
              </a:ext>
            </a:extLst>
          </p:cNvPr>
          <p:cNvSpPr txBox="1"/>
          <p:nvPr/>
        </p:nvSpPr>
        <p:spPr>
          <a:xfrm>
            <a:off x="826697" y="4006183"/>
            <a:ext cx="2164080" cy="461665"/>
          </a:xfrm>
          <a:prstGeom prst="rect">
            <a:avLst/>
          </a:prstGeom>
          <a:noFill/>
        </p:spPr>
        <p:txBody>
          <a:bodyPr wrap="square" rtlCol="0">
            <a:spAutoFit/>
          </a:bodyPr>
          <a:lstStyle/>
          <a:p>
            <a:pPr marL="514350" indent="-514350">
              <a:spcAft>
                <a:spcPts val="600"/>
              </a:spcAft>
              <a:buFont typeface="+mj-ea"/>
              <a:buAutoNum type="circleNumDbPlain" startAt="3"/>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定位</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文本框 40">
            <a:extLst>
              <a:ext uri="{FF2B5EF4-FFF2-40B4-BE49-F238E27FC236}">
                <a16:creationId xmlns:a16="http://schemas.microsoft.com/office/drawing/2014/main" id="{13E61252-CA27-4F29-B47E-366FD697A355}"/>
              </a:ext>
            </a:extLst>
          </p:cNvPr>
          <p:cNvSpPr txBox="1"/>
          <p:nvPr/>
        </p:nvSpPr>
        <p:spPr>
          <a:xfrm>
            <a:off x="826697" y="4647302"/>
            <a:ext cx="2164080" cy="461665"/>
          </a:xfrm>
          <a:prstGeom prst="rect">
            <a:avLst/>
          </a:prstGeom>
          <a:noFill/>
        </p:spPr>
        <p:txBody>
          <a:bodyPr wrap="square" rtlCol="0">
            <a:spAutoFit/>
          </a:bodyPr>
          <a:lstStyle/>
          <a:p>
            <a:pPr marL="514350" indent="-514350">
              <a:spcAft>
                <a:spcPts val="600"/>
              </a:spcAft>
              <a:buFont typeface="+mj-ea"/>
              <a:buAutoNum type="circleNumDbPlain" startAt="4"/>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稳健性</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a:extLst>
              <a:ext uri="{FF2B5EF4-FFF2-40B4-BE49-F238E27FC236}">
                <a16:creationId xmlns:a16="http://schemas.microsoft.com/office/drawing/2014/main" id="{D53F166D-781D-4158-A568-B8CF875A9C80}"/>
              </a:ext>
            </a:extLst>
          </p:cNvPr>
          <p:cNvSpPr txBox="1"/>
          <p:nvPr/>
        </p:nvSpPr>
        <p:spPr>
          <a:xfrm>
            <a:off x="2990777" y="3990635"/>
            <a:ext cx="2384787"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以数据为中心</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a:extLst>
              <a:ext uri="{FF2B5EF4-FFF2-40B4-BE49-F238E27FC236}">
                <a16:creationId xmlns:a16="http://schemas.microsoft.com/office/drawing/2014/main" id="{890743BC-E713-4F72-A759-A4B2DB53F5C5}"/>
              </a:ext>
            </a:extLst>
          </p:cNvPr>
          <p:cNvSpPr txBox="1"/>
          <p:nvPr/>
        </p:nvSpPr>
        <p:spPr>
          <a:xfrm>
            <a:off x="2986201" y="4640131"/>
            <a:ext cx="2384787"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避免单点失效</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8739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1+#ppt_w/2"/>
                                          </p:val>
                                        </p:tav>
                                        <p:tav tm="100000">
                                          <p:val>
                                            <p:strVal val="#ppt_x"/>
                                          </p:val>
                                        </p:tav>
                                      </p:tavLst>
                                    </p:anim>
                                    <p:anim calcmode="lin" valueType="num">
                                      <p:cBhvr additive="base">
                                        <p:cTn id="2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additive="base">
                                        <p:cTn id="37" dur="500" fill="hold"/>
                                        <p:tgtEl>
                                          <p:spTgt spid="38"/>
                                        </p:tgtEl>
                                        <p:attrNameLst>
                                          <p:attrName>ppt_x</p:attrName>
                                        </p:attrNameLst>
                                      </p:cBhvr>
                                      <p:tavLst>
                                        <p:tav tm="0">
                                          <p:val>
                                            <p:strVal val="1+#ppt_w/2"/>
                                          </p:val>
                                        </p:tav>
                                        <p:tav tm="100000">
                                          <p:val>
                                            <p:strVal val="#ppt_x"/>
                                          </p:val>
                                        </p:tav>
                                      </p:tavLst>
                                    </p:anim>
                                    <p:anim calcmode="lin" valueType="num">
                                      <p:cBhvr additive="base">
                                        <p:cTn id="38"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1+#ppt_w/2"/>
                                          </p:val>
                                        </p:tav>
                                        <p:tav tm="100000">
                                          <p:val>
                                            <p:strVal val="#ppt_x"/>
                                          </p:val>
                                        </p:tav>
                                      </p:tavLst>
                                    </p:anim>
                                    <p:anim calcmode="lin" valueType="num">
                                      <p:cBhvr additive="base">
                                        <p:cTn id="4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anim calcmode="lin" valueType="num">
                                      <p:cBhvr additive="base">
                                        <p:cTn id="57" dur="500" fill="hold"/>
                                        <p:tgtEl>
                                          <p:spTgt spid="44"/>
                                        </p:tgtEl>
                                        <p:attrNameLst>
                                          <p:attrName>ppt_x</p:attrName>
                                        </p:attrNameLst>
                                      </p:cBhvr>
                                      <p:tavLst>
                                        <p:tav tm="0">
                                          <p:val>
                                            <p:strVal val="1+#ppt_w/2"/>
                                          </p:val>
                                        </p:tav>
                                        <p:tav tm="100000">
                                          <p:val>
                                            <p:strVal val="#ppt_x"/>
                                          </p:val>
                                        </p:tav>
                                      </p:tavLst>
                                    </p:anim>
                                    <p:anim calcmode="lin" valueType="num">
                                      <p:cBhvr additive="base">
                                        <p:cTn id="58"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9" grpId="0"/>
      <p:bldP spid="34" grpId="0"/>
      <p:bldP spid="35" grpId="0"/>
      <p:bldP spid="36" grpId="0"/>
      <p:bldP spid="38" grpId="0"/>
      <p:bldP spid="39" grpId="0"/>
      <p:bldP spid="41" grpId="0"/>
      <p:bldP spid="42" grpId="0"/>
      <p:bldP spid="4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32</a:t>
            </a:fld>
            <a:endParaRPr lang="zh-CN" altLang="en-US"/>
          </a:p>
        </p:txBody>
      </p:sp>
      <p:sp>
        <p:nvSpPr>
          <p:cNvPr id="2" name="文本框 1"/>
          <p:cNvSpPr txBox="1"/>
          <p:nvPr/>
        </p:nvSpPr>
        <p:spPr>
          <a:xfrm>
            <a:off x="274328" y="513404"/>
            <a:ext cx="8615594"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上节知识回顾</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BA8733B2-4196-4109-9455-2234A3BA5F4D}"/>
              </a:ext>
            </a:extLst>
          </p:cNvPr>
          <p:cNvSpPr txBox="1"/>
          <p:nvPr/>
        </p:nvSpPr>
        <p:spPr>
          <a:xfrm>
            <a:off x="2862357" y="513404"/>
            <a:ext cx="2712712" cy="523220"/>
          </a:xfrm>
          <a:prstGeom prst="rect">
            <a:avLst/>
          </a:prstGeom>
          <a:noFill/>
        </p:spPr>
        <p:txBody>
          <a:bodyPr wrap="square" rtlCol="0">
            <a:spAutoFit/>
          </a:bodyPr>
          <a:lstStyle/>
          <a:p>
            <a:pPr>
              <a:spcAft>
                <a:spcPts val="600"/>
              </a:spcAft>
            </a:pPr>
            <a:r>
              <a:rPr lang="zh-CN" altLang="en-US"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路由层内容介绍</a:t>
            </a:r>
            <a:endParaRPr lang="en-US" altLang="zh-CN"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C62F117E-508A-4D89-92B1-208432C82E3E}"/>
              </a:ext>
            </a:extLst>
          </p:cNvPr>
          <p:cNvSpPr txBox="1"/>
          <p:nvPr/>
        </p:nvSpPr>
        <p:spPr>
          <a:xfrm>
            <a:off x="264202" y="1391782"/>
            <a:ext cx="6369353" cy="523220"/>
          </a:xfrm>
          <a:prstGeom prst="rect">
            <a:avLst/>
          </a:prstGeom>
          <a:noFill/>
        </p:spPr>
        <p:txBody>
          <a:bodyPr wrap="square" rtlCol="0">
            <a:spAutoFit/>
          </a:bodyPr>
          <a:lstStyle/>
          <a:p>
            <a:pPr marL="514350" indent="-514350">
              <a:spcAft>
                <a:spcPts val="600"/>
              </a:spcAft>
              <a:buFont typeface="+mj-lt"/>
              <a:buAutoNum type="arabicPeriod" startAt="3"/>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传感器网络路由关注的性能参数</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文本框 33">
            <a:extLst>
              <a:ext uri="{FF2B5EF4-FFF2-40B4-BE49-F238E27FC236}">
                <a16:creationId xmlns:a16="http://schemas.microsoft.com/office/drawing/2014/main" id="{1952F7CA-0F55-4DF5-9F44-C438208570ED}"/>
              </a:ext>
            </a:extLst>
          </p:cNvPr>
          <p:cNvSpPr txBox="1"/>
          <p:nvPr/>
        </p:nvSpPr>
        <p:spPr>
          <a:xfrm>
            <a:off x="771278" y="2159567"/>
            <a:ext cx="2091079" cy="461665"/>
          </a:xfrm>
          <a:prstGeom prst="rect">
            <a:avLst/>
          </a:prstGeom>
          <a:noFill/>
        </p:spPr>
        <p:txBody>
          <a:bodyPr wrap="square" rtlCol="0">
            <a:spAutoFit/>
          </a:bodyPr>
          <a:lstStyle/>
          <a:p>
            <a:pPr marL="514350" indent="-514350">
              <a:spcAft>
                <a:spcPts val="600"/>
              </a:spcAft>
              <a:buFont typeface="+mj-ea"/>
              <a:buAutoNum type="circleNumDbPlain"/>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服务质量</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文本框 34">
            <a:extLst>
              <a:ext uri="{FF2B5EF4-FFF2-40B4-BE49-F238E27FC236}">
                <a16:creationId xmlns:a16="http://schemas.microsoft.com/office/drawing/2014/main" id="{213CEE7F-19CC-4B52-8D55-9B641AF08463}"/>
              </a:ext>
            </a:extLst>
          </p:cNvPr>
          <p:cNvSpPr txBox="1"/>
          <p:nvPr/>
        </p:nvSpPr>
        <p:spPr>
          <a:xfrm>
            <a:off x="2986201" y="2159567"/>
            <a:ext cx="3371231"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吞吐量、时延等</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92068B03-304A-4651-86CA-B96B7D3B6E48}"/>
              </a:ext>
            </a:extLst>
          </p:cNvPr>
          <p:cNvSpPr txBox="1"/>
          <p:nvPr/>
        </p:nvSpPr>
        <p:spPr>
          <a:xfrm>
            <a:off x="771278" y="2865797"/>
            <a:ext cx="2164080" cy="461665"/>
          </a:xfrm>
          <a:prstGeom prst="rect">
            <a:avLst/>
          </a:prstGeom>
          <a:noFill/>
        </p:spPr>
        <p:txBody>
          <a:bodyPr wrap="square" rtlCol="0">
            <a:spAutoFit/>
          </a:bodyPr>
          <a:lstStyle/>
          <a:p>
            <a:pPr marL="514350" indent="-514350">
              <a:spcAft>
                <a:spcPts val="600"/>
              </a:spcAft>
              <a:buFont typeface="+mj-ea"/>
              <a:buAutoNum type="circleNumDbPlain" startAt="2"/>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跳数</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文本框 37">
            <a:extLst>
              <a:ext uri="{FF2B5EF4-FFF2-40B4-BE49-F238E27FC236}">
                <a16:creationId xmlns:a16="http://schemas.microsoft.com/office/drawing/2014/main" id="{7C311342-175B-4558-BC96-3AB6128AC73F}"/>
              </a:ext>
            </a:extLst>
          </p:cNvPr>
          <p:cNvSpPr txBox="1"/>
          <p:nvPr/>
        </p:nvSpPr>
        <p:spPr>
          <a:xfrm>
            <a:off x="2935358" y="3530539"/>
            <a:ext cx="4437764"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数据包分发所需最低能耗</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7555061D-645B-4092-B9CE-D0D1906FB4E5}"/>
              </a:ext>
            </a:extLst>
          </p:cNvPr>
          <p:cNvSpPr txBox="1"/>
          <p:nvPr/>
        </p:nvSpPr>
        <p:spPr>
          <a:xfrm>
            <a:off x="771278" y="3572027"/>
            <a:ext cx="2164080" cy="461665"/>
          </a:xfrm>
          <a:prstGeom prst="rect">
            <a:avLst/>
          </a:prstGeom>
          <a:noFill/>
        </p:spPr>
        <p:txBody>
          <a:bodyPr wrap="square" rtlCol="0">
            <a:spAutoFit/>
          </a:bodyPr>
          <a:lstStyle/>
          <a:p>
            <a:pPr marL="514350" indent="-514350">
              <a:spcAft>
                <a:spcPts val="600"/>
              </a:spcAft>
              <a:buFont typeface="+mj-ea"/>
              <a:buAutoNum type="circleNumDbPlain" startAt="3"/>
            </a:pP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能量消耗</a:t>
            </a:r>
            <a:endPar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a:extLst>
              <a:ext uri="{FF2B5EF4-FFF2-40B4-BE49-F238E27FC236}">
                <a16:creationId xmlns:a16="http://schemas.microsoft.com/office/drawing/2014/main" id="{D53F166D-781D-4158-A568-B8CF875A9C80}"/>
              </a:ext>
            </a:extLst>
          </p:cNvPr>
          <p:cNvSpPr txBox="1"/>
          <p:nvPr/>
        </p:nvSpPr>
        <p:spPr>
          <a:xfrm>
            <a:off x="2935358" y="4077396"/>
            <a:ext cx="3459899"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网络支撑时间最长</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a:extLst>
              <a:ext uri="{FF2B5EF4-FFF2-40B4-BE49-F238E27FC236}">
                <a16:creationId xmlns:a16="http://schemas.microsoft.com/office/drawing/2014/main" id="{890743BC-E713-4F72-A759-A4B2DB53F5C5}"/>
              </a:ext>
            </a:extLst>
          </p:cNvPr>
          <p:cNvSpPr txBox="1"/>
          <p:nvPr/>
        </p:nvSpPr>
        <p:spPr>
          <a:xfrm>
            <a:off x="2935358" y="4624253"/>
            <a:ext cx="3126424"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链路剩余能量最高</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1242A17D-019A-4830-9903-4E2493438767}"/>
              </a:ext>
            </a:extLst>
          </p:cNvPr>
          <p:cNvSpPr txBox="1"/>
          <p:nvPr/>
        </p:nvSpPr>
        <p:spPr>
          <a:xfrm>
            <a:off x="2935358" y="5171110"/>
            <a:ext cx="4201117"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链路能量最低节点能量最大</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7736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1+#ppt_w/2"/>
                                          </p:val>
                                        </p:tav>
                                        <p:tav tm="100000">
                                          <p:val>
                                            <p:strVal val="#ppt_x"/>
                                          </p:val>
                                        </p:tav>
                                      </p:tavLst>
                                    </p:anim>
                                    <p:anim calcmode="lin" valueType="num">
                                      <p:cBhvr additive="base">
                                        <p:cTn id="12"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8">
                                            <p:txEl>
                                              <p:pRg st="0" end="0"/>
                                            </p:txEl>
                                          </p:spTgt>
                                        </p:tgtEl>
                                        <p:attrNameLst>
                                          <p:attrName>style.visibility</p:attrName>
                                        </p:attrNameLst>
                                      </p:cBhvr>
                                      <p:to>
                                        <p:strVal val="visible"/>
                                      </p:to>
                                    </p:set>
                                    <p:anim calcmode="lin" valueType="num">
                                      <p:cBhvr additive="base">
                                        <p:cTn id="25"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anim calcmode="lin" valueType="num">
                                      <p:cBhvr additive="base">
                                        <p:cTn id="31" dur="500" fill="hold"/>
                                        <p:tgtEl>
                                          <p:spTgt spid="42"/>
                                        </p:tgtEl>
                                        <p:attrNameLst>
                                          <p:attrName>ppt_x</p:attrName>
                                        </p:attrNameLst>
                                      </p:cBhvr>
                                      <p:tavLst>
                                        <p:tav tm="0">
                                          <p:val>
                                            <p:strVal val="1+#ppt_w/2"/>
                                          </p:val>
                                        </p:tav>
                                        <p:tav tm="100000">
                                          <p:val>
                                            <p:strVal val="#ppt_x"/>
                                          </p:val>
                                        </p:tav>
                                      </p:tavLst>
                                    </p:anim>
                                    <p:anim calcmode="lin" valueType="num">
                                      <p:cBhvr additive="base">
                                        <p:cTn id="32"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500" fill="hold"/>
                                        <p:tgtEl>
                                          <p:spTgt spid="44"/>
                                        </p:tgtEl>
                                        <p:attrNameLst>
                                          <p:attrName>ppt_x</p:attrName>
                                        </p:attrNameLst>
                                      </p:cBhvr>
                                      <p:tavLst>
                                        <p:tav tm="0">
                                          <p:val>
                                            <p:strVal val="1+#ppt_w/2"/>
                                          </p:val>
                                        </p:tav>
                                        <p:tav tm="100000">
                                          <p:val>
                                            <p:strVal val="#ppt_x"/>
                                          </p:val>
                                        </p:tav>
                                      </p:tavLst>
                                    </p:anim>
                                    <p:anim calcmode="lin" valueType="num">
                                      <p:cBhvr additive="base">
                                        <p:cTn id="38"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9" grpId="0"/>
      <p:bldP spid="42" grpId="0"/>
      <p:bldP spid="44"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832D1F-7086-4FDD-8B2A-5F2ABBF6A7FC}"/>
              </a:ext>
            </a:extLst>
          </p:cNvPr>
          <p:cNvSpPr>
            <a:spLocks noGrp="1"/>
          </p:cNvSpPr>
          <p:nvPr>
            <p:ph type="sldNum" sz="quarter" idx="12"/>
          </p:nvPr>
        </p:nvSpPr>
        <p:spPr/>
        <p:txBody>
          <a:bodyPr/>
          <a:lstStyle/>
          <a:p>
            <a:fld id="{E663D701-F6D3-45BB-89CD-EE32AA93FC3C}" type="slidenum">
              <a:rPr lang="zh-CN" altLang="en-US" smtClean="0"/>
              <a:t>33</a:t>
            </a:fld>
            <a:endParaRPr lang="zh-CN" altLang="en-US"/>
          </a:p>
        </p:txBody>
      </p:sp>
      <p:sp>
        <p:nvSpPr>
          <p:cNvPr id="6" name="文本框 5">
            <a:extLst>
              <a:ext uri="{FF2B5EF4-FFF2-40B4-BE49-F238E27FC236}">
                <a16:creationId xmlns:a16="http://schemas.microsoft.com/office/drawing/2014/main" id="{7D8540CA-CFF8-4721-A839-4DC87F22CD39}"/>
              </a:ext>
            </a:extLst>
          </p:cNvPr>
          <p:cNvSpPr txBox="1"/>
          <p:nvPr>
            <p:custDataLst>
              <p:tags r:id="rId2"/>
            </p:custDataLst>
          </p:nvPr>
        </p:nvSpPr>
        <p:spPr>
          <a:xfrm>
            <a:off x="387927" y="629315"/>
            <a:ext cx="81026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以下关于</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MAC</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地址和</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IP</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地址的描述不正确的是</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6A6ED6C3-C12F-48A7-8B6E-9BDE6705D5A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IP</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地址工作在路由层</a:t>
            </a:r>
          </a:p>
        </p:txBody>
      </p:sp>
      <p:sp>
        <p:nvSpPr>
          <p:cNvPr id="8" name="文本框 7">
            <a:extLst>
              <a:ext uri="{FF2B5EF4-FFF2-40B4-BE49-F238E27FC236}">
                <a16:creationId xmlns:a16="http://schemas.microsoft.com/office/drawing/2014/main" id="{6FF7B303-5117-4A63-9D2A-1B631E41424C}"/>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MAC</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地址传输过程保持不变</a:t>
            </a:r>
          </a:p>
        </p:txBody>
      </p:sp>
      <p:sp>
        <p:nvSpPr>
          <p:cNvPr id="9" name="文本框 8">
            <a:extLst>
              <a:ext uri="{FF2B5EF4-FFF2-40B4-BE49-F238E27FC236}">
                <a16:creationId xmlns:a16="http://schemas.microsoft.com/office/drawing/2014/main" id="{92F3D10D-1585-453D-8C6F-9186DF936DF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IP</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地址可以确认接收端的网络</a:t>
            </a:r>
          </a:p>
        </p:txBody>
      </p:sp>
      <p:sp>
        <p:nvSpPr>
          <p:cNvPr id="10" name="文本框 9">
            <a:extLst>
              <a:ext uri="{FF2B5EF4-FFF2-40B4-BE49-F238E27FC236}">
                <a16:creationId xmlns:a16="http://schemas.microsoft.com/office/drawing/2014/main" id="{4BFF6D8A-F292-47D1-899E-F1D6A5862AAB}"/>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MAC</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地址可以协助完成局域网内数据交换</a:t>
            </a:r>
          </a:p>
        </p:txBody>
      </p:sp>
      <p:sp>
        <p:nvSpPr>
          <p:cNvPr id="11" name="椭圆 10">
            <a:extLst>
              <a:ext uri="{FF2B5EF4-FFF2-40B4-BE49-F238E27FC236}">
                <a16:creationId xmlns:a16="http://schemas.microsoft.com/office/drawing/2014/main" id="{B4A22F28-6744-4A6E-B228-8541D90EAE7D}"/>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B4EE4DF2-9D37-499A-B260-3097AC2EF6B3}"/>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BD930F20-4522-433F-8D5E-ACFBAD97C8EC}"/>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132FC685-53B0-4CE9-9A35-FFB3199481C7}"/>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C3AFE15F-FD9D-4D33-93C1-5B2C334D2F92}"/>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EBC6D31B-7363-4F01-AF4D-F47ADB0C2FB3}"/>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E9C9202-B369-42E0-B180-2358F588CBA3}"/>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91BDA1A4-4896-4489-8A76-2ED6046457AD}"/>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6BC89DAD-6333-47F9-B470-389F4B24D85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0ED658E0-2B3A-4381-8E26-8A17964B2B0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4267326C-B995-4486-AD8B-D4E6B0A59C0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645379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9ECFE3B-00FF-4550-B94A-585BF312D57C}"/>
              </a:ext>
            </a:extLst>
          </p:cNvPr>
          <p:cNvSpPr>
            <a:spLocks noGrp="1"/>
          </p:cNvSpPr>
          <p:nvPr>
            <p:ph type="sldNum" sz="quarter" idx="12"/>
          </p:nvPr>
        </p:nvSpPr>
        <p:spPr/>
        <p:txBody>
          <a:bodyPr/>
          <a:lstStyle/>
          <a:p>
            <a:fld id="{E663D701-F6D3-45BB-89CD-EE32AA93FC3C}" type="slidenum">
              <a:rPr lang="zh-CN" altLang="en-US" smtClean="0"/>
              <a:t>34</a:t>
            </a:fld>
            <a:endParaRPr lang="zh-CN" altLang="en-US"/>
          </a:p>
        </p:txBody>
      </p:sp>
      <p:sp>
        <p:nvSpPr>
          <p:cNvPr id="5" name="文本框 4">
            <a:extLst>
              <a:ext uri="{FF2B5EF4-FFF2-40B4-BE49-F238E27FC236}">
                <a16:creationId xmlns:a16="http://schemas.microsoft.com/office/drawing/2014/main" id="{C3CCCBEF-F54E-4F46-9F9D-3F49D23B94C1}"/>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网络拓扑如下，若网络关心</a:t>
            </a:r>
            <a:r>
              <a:rPr lang="zh-CN" altLang="en-US" sz="2800" b="1" dirty="0">
                <a:solidFill>
                  <a:srgbClr val="C00000"/>
                </a:solidFill>
                <a:latin typeface="微软雅黑" panose="020B0503020204020204" pitchFamily="34" charset="-122"/>
                <a:ea typeface="微软雅黑" panose="020B0503020204020204" pitchFamily="34" charset="-122"/>
              </a:rPr>
              <a:t>数据包分发所需最低能耗</a:t>
            </a:r>
            <a:r>
              <a:rPr lang="zh-CN" altLang="en-US" sz="2800" b="1" dirty="0">
                <a:latin typeface="微软雅黑" panose="020B0503020204020204" pitchFamily="34" charset="-122"/>
                <a:ea typeface="微软雅黑" panose="020B0503020204020204" pitchFamily="34" charset="-122"/>
              </a:rPr>
              <a:t>，则最佳路由</a:t>
            </a:r>
            <a:r>
              <a:rPr lang="zh-CN" altLang="en-US" sz="2800" b="1" dirty="0">
                <a:solidFill>
                  <a:srgbClr val="C00000"/>
                </a:solidFill>
                <a:latin typeface="微软雅黑" panose="020B0503020204020204" pitchFamily="34" charset="-122"/>
                <a:ea typeface="微软雅黑" panose="020B0503020204020204" pitchFamily="34" charset="-122"/>
              </a:rPr>
              <a:t>为 源</a:t>
            </a:r>
            <a:r>
              <a:rPr lang="en-US" altLang="zh-CN" sz="2800" b="1" dirty="0">
                <a:solidFill>
                  <a:srgbClr val="C00000"/>
                </a:solidFill>
                <a:latin typeface="微软雅黑" panose="020B0503020204020204" pitchFamily="34" charset="-122"/>
                <a:ea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rPr>
              <a:t>填空</a:t>
            </a:r>
            <a:r>
              <a:rPr lang="en-US" altLang="zh-CN" sz="2800" b="1" dirty="0">
                <a:solidFill>
                  <a:srgbClr val="C00000"/>
                </a:solidFill>
                <a:latin typeface="微软雅黑" panose="020B0503020204020204" pitchFamily="34" charset="-122"/>
                <a:ea typeface="微软雅黑" panose="020B0503020204020204" pitchFamily="34" charset="-122"/>
              </a:rPr>
              <a:t>1]-</a:t>
            </a:r>
            <a:r>
              <a:rPr lang="zh-CN" altLang="en-US" sz="2800" b="1" dirty="0">
                <a:solidFill>
                  <a:srgbClr val="C00000"/>
                </a:solidFill>
                <a:latin typeface="微软雅黑" panose="020B0503020204020204" pitchFamily="34" charset="-122"/>
                <a:ea typeface="微软雅黑" panose="020B0503020204020204" pitchFamily="34" charset="-122"/>
              </a:rPr>
              <a:t> </a:t>
            </a:r>
            <a:r>
              <a:rPr lang="en-US" altLang="zh-CN" sz="2800" b="1" dirty="0">
                <a:solidFill>
                  <a:srgbClr val="C00000"/>
                </a:solidFill>
                <a:latin typeface="微软雅黑" panose="020B0503020204020204" pitchFamily="34" charset="-122"/>
                <a:ea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rPr>
              <a:t>填空</a:t>
            </a:r>
            <a:r>
              <a:rPr lang="en-US" altLang="zh-CN" sz="2800" b="1" dirty="0">
                <a:solidFill>
                  <a:srgbClr val="C00000"/>
                </a:solidFill>
                <a:latin typeface="微软雅黑" panose="020B0503020204020204" pitchFamily="34" charset="-122"/>
                <a:ea typeface="微软雅黑" panose="020B0503020204020204" pitchFamily="34" charset="-122"/>
              </a:rPr>
              <a:t>2] -</a:t>
            </a:r>
            <a:r>
              <a:rPr lang="zh-CN" altLang="en-US" sz="2800" b="1" dirty="0">
                <a:solidFill>
                  <a:srgbClr val="C00000"/>
                </a:solidFill>
                <a:latin typeface="微软雅黑" panose="020B0503020204020204" pitchFamily="34" charset="-122"/>
                <a:ea typeface="微软雅黑" panose="020B0503020204020204" pitchFamily="34" charset="-122"/>
              </a:rPr>
              <a:t> </a:t>
            </a:r>
            <a:r>
              <a:rPr lang="en-US" altLang="zh-CN" sz="2800" b="1" dirty="0">
                <a:solidFill>
                  <a:srgbClr val="C00000"/>
                </a:solidFill>
                <a:latin typeface="微软雅黑" panose="020B0503020204020204" pitchFamily="34" charset="-122"/>
                <a:ea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rPr>
              <a:t>填空</a:t>
            </a:r>
            <a:r>
              <a:rPr lang="en-US" altLang="zh-CN" sz="2800" b="1" dirty="0">
                <a:solidFill>
                  <a:srgbClr val="C00000"/>
                </a:solidFill>
                <a:latin typeface="微软雅黑" panose="020B0503020204020204" pitchFamily="34" charset="-122"/>
                <a:ea typeface="微软雅黑" panose="020B0503020204020204" pitchFamily="34" charset="-122"/>
              </a:rPr>
              <a:t>3] –</a:t>
            </a:r>
            <a:r>
              <a:rPr lang="zh-CN" altLang="en-US" sz="2800" b="1" dirty="0">
                <a:solidFill>
                  <a:srgbClr val="C00000"/>
                </a:solidFill>
                <a:latin typeface="微软雅黑" panose="020B0503020204020204" pitchFamily="34" charset="-122"/>
                <a:ea typeface="微软雅黑" panose="020B0503020204020204" pitchFamily="34" charset="-122"/>
              </a:rPr>
              <a:t>目</a:t>
            </a:r>
            <a:r>
              <a:rPr lang="en-US" altLang="zh-CN" sz="2800" b="1" dirty="0">
                <a:solidFill>
                  <a:srgbClr val="C00000"/>
                </a:solidFill>
                <a:latin typeface="微软雅黑" panose="020B0503020204020204" pitchFamily="34" charset="-122"/>
                <a:ea typeface="微软雅黑" panose="020B0503020204020204" pitchFamily="34" charset="-122"/>
              </a:rPr>
              <a:t> </a:t>
            </a:r>
            <a:r>
              <a:rPr lang="zh-CN" altLang="en-US"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矩形: 圆角 5">
            <a:extLst>
              <a:ext uri="{FF2B5EF4-FFF2-40B4-BE49-F238E27FC236}">
                <a16:creationId xmlns:a16="http://schemas.microsoft.com/office/drawing/2014/main" id="{DC9AE958-FB52-4D7B-B0ED-29F6775C66EA}"/>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3" name="组合 12">
            <a:extLst>
              <a:ext uri="{FF2B5EF4-FFF2-40B4-BE49-F238E27FC236}">
                <a16:creationId xmlns:a16="http://schemas.microsoft.com/office/drawing/2014/main" id="{A89B3237-8E19-4B73-944C-AB2747E2EC0D}"/>
              </a:ext>
            </a:extLst>
          </p:cNvPr>
          <p:cNvGrpSpPr/>
          <p:nvPr/>
        </p:nvGrpSpPr>
        <p:grpSpPr>
          <a:xfrm>
            <a:off x="914400" y="1882790"/>
            <a:ext cx="7112659" cy="4270137"/>
            <a:chOff x="194553" y="1114977"/>
            <a:chExt cx="7112659" cy="4270137"/>
          </a:xfrm>
        </p:grpSpPr>
        <p:sp>
          <p:nvSpPr>
            <p:cNvPr id="14" name="流程图: 接点 13">
              <a:extLst>
                <a:ext uri="{FF2B5EF4-FFF2-40B4-BE49-F238E27FC236}">
                  <a16:creationId xmlns:a16="http://schemas.microsoft.com/office/drawing/2014/main" id="{C7654D9D-23E0-4DF2-B0FF-65D415FC060D}"/>
                </a:ext>
              </a:extLst>
            </p:cNvPr>
            <p:cNvSpPr/>
            <p:nvPr/>
          </p:nvSpPr>
          <p:spPr>
            <a:xfrm>
              <a:off x="805399" y="326852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接点 14">
              <a:extLst>
                <a:ext uri="{FF2B5EF4-FFF2-40B4-BE49-F238E27FC236}">
                  <a16:creationId xmlns:a16="http://schemas.microsoft.com/office/drawing/2014/main" id="{D7874EDF-092C-4693-8B26-A2635E2CB678}"/>
                </a:ext>
              </a:extLst>
            </p:cNvPr>
            <p:cNvSpPr/>
            <p:nvPr/>
          </p:nvSpPr>
          <p:spPr>
            <a:xfrm>
              <a:off x="6581530" y="3504245"/>
              <a:ext cx="345171" cy="320949"/>
            </a:xfrm>
            <a:prstGeom prst="flowChartConnector">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流程图: 接点 15">
              <a:extLst>
                <a:ext uri="{FF2B5EF4-FFF2-40B4-BE49-F238E27FC236}">
                  <a16:creationId xmlns:a16="http://schemas.microsoft.com/office/drawing/2014/main" id="{DE2D599D-29EB-47B0-AFC1-5B0A8C16CFA2}"/>
                </a:ext>
              </a:extLst>
            </p:cNvPr>
            <p:cNvSpPr/>
            <p:nvPr/>
          </p:nvSpPr>
          <p:spPr>
            <a:xfrm>
              <a:off x="1541517" y="3937168"/>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384E4677-24A8-4089-989A-4EBD155312B3}"/>
                </a:ext>
              </a:extLst>
            </p:cNvPr>
            <p:cNvSpPr/>
            <p:nvPr/>
          </p:nvSpPr>
          <p:spPr>
            <a:xfrm>
              <a:off x="1493071" y="231264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714BF379-2453-4C2B-AD90-E3A0DD272EA7}"/>
                </a:ext>
              </a:extLst>
            </p:cNvPr>
            <p:cNvSpPr/>
            <p:nvPr/>
          </p:nvSpPr>
          <p:spPr>
            <a:xfrm>
              <a:off x="2673919" y="3032394"/>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10069947-82D0-40FC-B729-DBA1EDFE17C0}"/>
                </a:ext>
              </a:extLst>
            </p:cNvPr>
            <p:cNvSpPr/>
            <p:nvPr/>
          </p:nvSpPr>
          <p:spPr>
            <a:xfrm>
              <a:off x="3536847" y="40976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接点 19">
              <a:extLst>
                <a:ext uri="{FF2B5EF4-FFF2-40B4-BE49-F238E27FC236}">
                  <a16:creationId xmlns:a16="http://schemas.microsoft.com/office/drawing/2014/main" id="{E03F0661-0794-4865-B06E-4413F7B6A3C8}"/>
                </a:ext>
              </a:extLst>
            </p:cNvPr>
            <p:cNvSpPr/>
            <p:nvPr/>
          </p:nvSpPr>
          <p:spPr>
            <a:xfrm>
              <a:off x="5344161" y="467696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流程图: 接点 20">
              <a:extLst>
                <a:ext uri="{FF2B5EF4-FFF2-40B4-BE49-F238E27FC236}">
                  <a16:creationId xmlns:a16="http://schemas.microsoft.com/office/drawing/2014/main" id="{7BCC2905-CD70-4560-8C43-2F521A4A4D3B}"/>
                </a:ext>
              </a:extLst>
            </p:cNvPr>
            <p:cNvSpPr/>
            <p:nvPr/>
          </p:nvSpPr>
          <p:spPr>
            <a:xfrm>
              <a:off x="4580433" y="3183296"/>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流程图: 接点 21">
              <a:extLst>
                <a:ext uri="{FF2B5EF4-FFF2-40B4-BE49-F238E27FC236}">
                  <a16:creationId xmlns:a16="http://schemas.microsoft.com/office/drawing/2014/main" id="{9699BD76-36EC-4328-8531-70964FBF7341}"/>
                </a:ext>
              </a:extLst>
            </p:cNvPr>
            <p:cNvSpPr/>
            <p:nvPr/>
          </p:nvSpPr>
          <p:spPr>
            <a:xfrm>
              <a:off x="5344161" y="2234060"/>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流程图: 接点 22">
              <a:extLst>
                <a:ext uri="{FF2B5EF4-FFF2-40B4-BE49-F238E27FC236}">
                  <a16:creationId xmlns:a16="http://schemas.microsoft.com/office/drawing/2014/main" id="{87848AFA-73B2-4DD4-AC9B-F4FABC339112}"/>
                </a:ext>
              </a:extLst>
            </p:cNvPr>
            <p:cNvSpPr/>
            <p:nvPr/>
          </p:nvSpPr>
          <p:spPr>
            <a:xfrm>
              <a:off x="3709432" y="2259039"/>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流程图: 接点 23">
              <a:extLst>
                <a:ext uri="{FF2B5EF4-FFF2-40B4-BE49-F238E27FC236}">
                  <a16:creationId xmlns:a16="http://schemas.microsoft.com/office/drawing/2014/main" id="{FC25AB57-067C-4582-919A-1B1C61399A55}"/>
                </a:ext>
              </a:extLst>
            </p:cNvPr>
            <p:cNvSpPr/>
            <p:nvPr/>
          </p:nvSpPr>
          <p:spPr>
            <a:xfrm>
              <a:off x="4235262" y="1341561"/>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流程图: 接点 24">
              <a:extLst>
                <a:ext uri="{FF2B5EF4-FFF2-40B4-BE49-F238E27FC236}">
                  <a16:creationId xmlns:a16="http://schemas.microsoft.com/office/drawing/2014/main" id="{20E5FCE0-D6AE-4F2F-B751-BE06A48DF37D}"/>
                </a:ext>
              </a:extLst>
            </p:cNvPr>
            <p:cNvSpPr/>
            <p:nvPr/>
          </p:nvSpPr>
          <p:spPr>
            <a:xfrm>
              <a:off x="6338528" y="1404943"/>
              <a:ext cx="345171" cy="320949"/>
            </a:xfrm>
            <a:prstGeom prst="flowChartConnector">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753B4147-2273-4F41-B157-4D50A6B69B9C}"/>
                </a:ext>
              </a:extLst>
            </p:cNvPr>
            <p:cNvSpPr txBox="1"/>
            <p:nvPr/>
          </p:nvSpPr>
          <p:spPr>
            <a:xfrm>
              <a:off x="194553" y="3666755"/>
              <a:ext cx="1022776"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源节点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AF31382B-7438-4408-A16E-1B8B9EB8D072}"/>
                </a:ext>
              </a:extLst>
            </p:cNvPr>
            <p:cNvSpPr txBox="1"/>
            <p:nvPr/>
          </p:nvSpPr>
          <p:spPr>
            <a:xfrm>
              <a:off x="5966203" y="3098627"/>
              <a:ext cx="1341009" cy="430887"/>
            </a:xfrm>
            <a:prstGeom prst="rect">
              <a:avLst/>
            </a:prstGeom>
            <a:noFill/>
          </p:spPr>
          <p:txBody>
            <a:bodyPr wrap="square" rtlCol="0">
              <a:spAutoFit/>
            </a:bodyPr>
            <a:lstStyle/>
            <a:p>
              <a:pPr>
                <a:spcAft>
                  <a:spcPts val="600"/>
                </a:spcAft>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目的节点</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8" name="直接连接符 27">
              <a:extLst>
                <a:ext uri="{FF2B5EF4-FFF2-40B4-BE49-F238E27FC236}">
                  <a16:creationId xmlns:a16="http://schemas.microsoft.com/office/drawing/2014/main" id="{B8616713-23A1-4416-8690-2113C8F8498C}"/>
                </a:ext>
              </a:extLst>
            </p:cNvPr>
            <p:cNvCxnSpPr>
              <a:cxnSpLocks/>
              <a:endCxn id="17" idx="3"/>
            </p:cNvCxnSpPr>
            <p:nvPr/>
          </p:nvCxnSpPr>
          <p:spPr>
            <a:xfrm flipV="1">
              <a:off x="1053203" y="2586591"/>
              <a:ext cx="490417" cy="69879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7FFEC10-9CE3-4C13-B977-F0878695FC94}"/>
                </a:ext>
              </a:extLst>
            </p:cNvPr>
            <p:cNvCxnSpPr>
              <a:cxnSpLocks/>
              <a:stCxn id="23" idx="2"/>
              <a:endCxn id="17" idx="6"/>
            </p:cNvCxnSpPr>
            <p:nvPr/>
          </p:nvCxnSpPr>
          <p:spPr>
            <a:xfrm flipH="1">
              <a:off x="1838242" y="2419514"/>
              <a:ext cx="1871190" cy="536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4C472E4-094F-404B-8D68-0032D2534068}"/>
                </a:ext>
              </a:extLst>
            </p:cNvPr>
            <p:cNvCxnSpPr>
              <a:cxnSpLocks/>
              <a:stCxn id="14" idx="5"/>
              <a:endCxn id="16" idx="1"/>
            </p:cNvCxnSpPr>
            <p:nvPr/>
          </p:nvCxnSpPr>
          <p:spPr>
            <a:xfrm>
              <a:off x="1100021" y="3542472"/>
              <a:ext cx="492045" cy="4416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97B19D1-B3C2-4341-B3F0-B211F1585CC3}"/>
                </a:ext>
              </a:extLst>
            </p:cNvPr>
            <p:cNvCxnSpPr>
              <a:cxnSpLocks/>
              <a:stCxn id="14" idx="6"/>
              <a:endCxn id="18" idx="2"/>
            </p:cNvCxnSpPr>
            <p:nvPr/>
          </p:nvCxnSpPr>
          <p:spPr>
            <a:xfrm flipV="1">
              <a:off x="1150570" y="3192869"/>
              <a:ext cx="1523349" cy="2361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ECBEF250-10A2-4BA3-A629-2478F6767DA1}"/>
                </a:ext>
              </a:extLst>
            </p:cNvPr>
            <p:cNvCxnSpPr>
              <a:cxnSpLocks/>
              <a:endCxn id="21" idx="2"/>
            </p:cNvCxnSpPr>
            <p:nvPr/>
          </p:nvCxnSpPr>
          <p:spPr>
            <a:xfrm>
              <a:off x="3018640" y="3188619"/>
              <a:ext cx="1561793" cy="1551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9A131C6-582A-43A7-BD44-56C059EB1FC5}"/>
                </a:ext>
              </a:extLst>
            </p:cNvPr>
            <p:cNvCxnSpPr>
              <a:cxnSpLocks/>
              <a:endCxn id="15" idx="2"/>
            </p:cNvCxnSpPr>
            <p:nvPr/>
          </p:nvCxnSpPr>
          <p:spPr>
            <a:xfrm>
              <a:off x="4917978" y="3381789"/>
              <a:ext cx="1663552" cy="28293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73BA474-2CD7-472D-B169-B6C26516E2FB}"/>
                </a:ext>
              </a:extLst>
            </p:cNvPr>
            <p:cNvCxnSpPr>
              <a:cxnSpLocks/>
              <a:endCxn id="19" idx="2"/>
            </p:cNvCxnSpPr>
            <p:nvPr/>
          </p:nvCxnSpPr>
          <p:spPr>
            <a:xfrm>
              <a:off x="1873725" y="4170520"/>
              <a:ext cx="1663122" cy="8759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C1AF780-747B-4079-BAAC-CD776E0E582E}"/>
                </a:ext>
              </a:extLst>
            </p:cNvPr>
            <p:cNvCxnSpPr>
              <a:cxnSpLocks/>
              <a:endCxn id="20" idx="2"/>
            </p:cNvCxnSpPr>
            <p:nvPr/>
          </p:nvCxnSpPr>
          <p:spPr>
            <a:xfrm>
              <a:off x="3871273" y="4314532"/>
              <a:ext cx="1472888" cy="522906"/>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2D015C7-24D3-4112-809F-0D461D9A4875}"/>
                </a:ext>
              </a:extLst>
            </p:cNvPr>
            <p:cNvCxnSpPr>
              <a:cxnSpLocks/>
              <a:endCxn id="15" idx="4"/>
            </p:cNvCxnSpPr>
            <p:nvPr/>
          </p:nvCxnSpPr>
          <p:spPr>
            <a:xfrm flipV="1">
              <a:off x="5678587" y="3825194"/>
              <a:ext cx="1075529" cy="1012244"/>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C792C46F-9B13-46E3-9C3B-FB58AA506A43}"/>
                </a:ext>
              </a:extLst>
            </p:cNvPr>
            <p:cNvCxnSpPr>
              <a:cxnSpLocks/>
              <a:endCxn id="21" idx="3"/>
            </p:cNvCxnSpPr>
            <p:nvPr/>
          </p:nvCxnSpPr>
          <p:spPr>
            <a:xfrm flipV="1">
              <a:off x="3869055" y="3457243"/>
              <a:ext cx="761927" cy="74050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17B3902-48C1-4A66-BCDF-65ECD847F828}"/>
                </a:ext>
              </a:extLst>
            </p:cNvPr>
            <p:cNvCxnSpPr>
              <a:cxnSpLocks/>
              <a:endCxn id="21" idx="0"/>
            </p:cNvCxnSpPr>
            <p:nvPr/>
          </p:nvCxnSpPr>
          <p:spPr>
            <a:xfrm>
              <a:off x="4014830" y="2494288"/>
              <a:ext cx="738189" cy="68900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0495D45-8544-4974-B212-F1F36EF541EF}"/>
                </a:ext>
              </a:extLst>
            </p:cNvPr>
            <p:cNvCxnSpPr>
              <a:cxnSpLocks/>
              <a:endCxn id="22" idx="2"/>
            </p:cNvCxnSpPr>
            <p:nvPr/>
          </p:nvCxnSpPr>
          <p:spPr>
            <a:xfrm flipV="1">
              <a:off x="4054603" y="2394535"/>
              <a:ext cx="1289558" cy="1447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042757B3-3CA6-4D71-B457-CD5A75590DBC}"/>
                </a:ext>
              </a:extLst>
            </p:cNvPr>
            <p:cNvCxnSpPr>
              <a:cxnSpLocks/>
              <a:endCxn id="24" idx="3"/>
            </p:cNvCxnSpPr>
            <p:nvPr/>
          </p:nvCxnSpPr>
          <p:spPr>
            <a:xfrm flipV="1">
              <a:off x="3894873" y="1615508"/>
              <a:ext cx="390938" cy="64749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A672E775-CE05-433F-A467-5DDDCC34A0AF}"/>
                </a:ext>
              </a:extLst>
            </p:cNvPr>
            <p:cNvCxnSpPr>
              <a:cxnSpLocks/>
              <a:endCxn id="25" idx="2"/>
            </p:cNvCxnSpPr>
            <p:nvPr/>
          </p:nvCxnSpPr>
          <p:spPr>
            <a:xfrm>
              <a:off x="4557615" y="1473991"/>
              <a:ext cx="1780913" cy="91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A9E22BF-6F8B-4740-8B65-E2C8906ABD25}"/>
                </a:ext>
              </a:extLst>
            </p:cNvPr>
            <p:cNvCxnSpPr>
              <a:cxnSpLocks/>
              <a:endCxn id="25" idx="4"/>
            </p:cNvCxnSpPr>
            <p:nvPr/>
          </p:nvCxnSpPr>
          <p:spPr>
            <a:xfrm flipV="1">
              <a:off x="5679770" y="1725892"/>
              <a:ext cx="831344" cy="67588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243416B8-7292-4061-8174-438E2765E13B}"/>
                </a:ext>
              </a:extLst>
            </p:cNvPr>
            <p:cNvSpPr txBox="1"/>
            <p:nvPr/>
          </p:nvSpPr>
          <p:spPr>
            <a:xfrm>
              <a:off x="975780" y="2648270"/>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44" name="文本框 43">
              <a:extLst>
                <a:ext uri="{FF2B5EF4-FFF2-40B4-BE49-F238E27FC236}">
                  <a16:creationId xmlns:a16="http://schemas.microsoft.com/office/drawing/2014/main" id="{09A0F78E-5278-47D7-870E-4222D10A113D}"/>
                </a:ext>
              </a:extLst>
            </p:cNvPr>
            <p:cNvSpPr txBox="1"/>
            <p:nvPr/>
          </p:nvSpPr>
          <p:spPr>
            <a:xfrm>
              <a:off x="1480873" y="2240959"/>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45" name="文本框 44">
              <a:extLst>
                <a:ext uri="{FF2B5EF4-FFF2-40B4-BE49-F238E27FC236}">
                  <a16:creationId xmlns:a16="http://schemas.microsoft.com/office/drawing/2014/main" id="{FE01FAA3-B575-4FCE-934B-55EE5623C722}"/>
                </a:ext>
              </a:extLst>
            </p:cNvPr>
            <p:cNvSpPr txBox="1"/>
            <p:nvPr/>
          </p:nvSpPr>
          <p:spPr>
            <a:xfrm>
              <a:off x="3696732" y="221738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46" name="文本框 45">
              <a:extLst>
                <a:ext uri="{FF2B5EF4-FFF2-40B4-BE49-F238E27FC236}">
                  <a16:creationId xmlns:a16="http://schemas.microsoft.com/office/drawing/2014/main" id="{7F9ABB5A-1800-4055-AF42-B0CFBB3A49D7}"/>
                </a:ext>
              </a:extLst>
            </p:cNvPr>
            <p:cNvSpPr txBox="1"/>
            <p:nvPr/>
          </p:nvSpPr>
          <p:spPr>
            <a:xfrm>
              <a:off x="2660940" y="297981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47" name="文本框 46">
              <a:extLst>
                <a:ext uri="{FF2B5EF4-FFF2-40B4-BE49-F238E27FC236}">
                  <a16:creationId xmlns:a16="http://schemas.microsoft.com/office/drawing/2014/main" id="{72A11F6F-0ECB-444A-8E7B-4E09778798B0}"/>
                </a:ext>
              </a:extLst>
            </p:cNvPr>
            <p:cNvSpPr txBox="1"/>
            <p:nvPr/>
          </p:nvSpPr>
          <p:spPr>
            <a:xfrm>
              <a:off x="1524596" y="389519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48" name="文本框 47">
              <a:extLst>
                <a:ext uri="{FF2B5EF4-FFF2-40B4-BE49-F238E27FC236}">
                  <a16:creationId xmlns:a16="http://schemas.microsoft.com/office/drawing/2014/main" id="{EE7BE38A-8DF3-4E5F-8DE8-FF6FE320E805}"/>
                </a:ext>
              </a:extLst>
            </p:cNvPr>
            <p:cNvSpPr txBox="1"/>
            <p:nvPr/>
          </p:nvSpPr>
          <p:spPr>
            <a:xfrm>
              <a:off x="3534629" y="404080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a:t>
              </a:r>
            </a:p>
          </p:txBody>
        </p:sp>
        <p:sp>
          <p:nvSpPr>
            <p:cNvPr id="49" name="文本框 48">
              <a:extLst>
                <a:ext uri="{FF2B5EF4-FFF2-40B4-BE49-F238E27FC236}">
                  <a16:creationId xmlns:a16="http://schemas.microsoft.com/office/drawing/2014/main" id="{5ADCD4C9-B073-42CB-B34F-D35FFE950D24}"/>
                </a:ext>
              </a:extLst>
            </p:cNvPr>
            <p:cNvSpPr txBox="1"/>
            <p:nvPr/>
          </p:nvSpPr>
          <p:spPr>
            <a:xfrm>
              <a:off x="4256783" y="1297260"/>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F</a:t>
              </a:r>
            </a:p>
          </p:txBody>
        </p:sp>
        <p:sp>
          <p:nvSpPr>
            <p:cNvPr id="50" name="文本框 49">
              <a:extLst>
                <a:ext uri="{FF2B5EF4-FFF2-40B4-BE49-F238E27FC236}">
                  <a16:creationId xmlns:a16="http://schemas.microsoft.com/office/drawing/2014/main" id="{5DC02109-67B3-4BAB-BE58-B31F794651BE}"/>
                </a:ext>
              </a:extLst>
            </p:cNvPr>
            <p:cNvSpPr txBox="1"/>
            <p:nvPr/>
          </p:nvSpPr>
          <p:spPr>
            <a:xfrm>
              <a:off x="4551811" y="3141394"/>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G</a:t>
              </a:r>
            </a:p>
          </p:txBody>
        </p:sp>
        <p:sp>
          <p:nvSpPr>
            <p:cNvPr id="51" name="文本框 50">
              <a:extLst>
                <a:ext uri="{FF2B5EF4-FFF2-40B4-BE49-F238E27FC236}">
                  <a16:creationId xmlns:a16="http://schemas.microsoft.com/office/drawing/2014/main" id="{C1EC20FD-BC98-4185-96ED-EBD5CCD8A007}"/>
                </a:ext>
              </a:extLst>
            </p:cNvPr>
            <p:cNvSpPr txBox="1"/>
            <p:nvPr/>
          </p:nvSpPr>
          <p:spPr>
            <a:xfrm>
              <a:off x="5325111" y="4632035"/>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H</a:t>
              </a:r>
            </a:p>
          </p:txBody>
        </p:sp>
        <p:sp>
          <p:nvSpPr>
            <p:cNvPr id="52" name="文本框 51">
              <a:extLst>
                <a:ext uri="{FF2B5EF4-FFF2-40B4-BE49-F238E27FC236}">
                  <a16:creationId xmlns:a16="http://schemas.microsoft.com/office/drawing/2014/main" id="{3B57BBE9-A6CD-4C26-8C09-1A269666E508}"/>
                </a:ext>
              </a:extLst>
            </p:cNvPr>
            <p:cNvSpPr txBox="1"/>
            <p:nvPr/>
          </p:nvSpPr>
          <p:spPr>
            <a:xfrm>
              <a:off x="5385081" y="2198582"/>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I</a:t>
              </a:r>
            </a:p>
          </p:txBody>
        </p:sp>
        <p:sp>
          <p:nvSpPr>
            <p:cNvPr id="53" name="文本框 52">
              <a:extLst>
                <a:ext uri="{FF2B5EF4-FFF2-40B4-BE49-F238E27FC236}">
                  <a16:creationId xmlns:a16="http://schemas.microsoft.com/office/drawing/2014/main" id="{1D6519AE-B772-494C-9DE1-45CF9B85180C}"/>
                </a:ext>
              </a:extLst>
            </p:cNvPr>
            <p:cNvSpPr txBox="1"/>
            <p:nvPr/>
          </p:nvSpPr>
          <p:spPr>
            <a:xfrm>
              <a:off x="6367408" y="1362673"/>
              <a:ext cx="445338" cy="430887"/>
            </a:xfrm>
            <a:prstGeom prst="rect">
              <a:avLst/>
            </a:prstGeom>
            <a:noFill/>
          </p:spPr>
          <p:txBody>
            <a:bodyPr wrap="square" rtlCol="0">
              <a:spAutoFit/>
            </a:bodyPr>
            <a:lstStyle/>
            <a:p>
              <a:pPr>
                <a:spcAft>
                  <a:spcPts val="600"/>
                </a:spcAft>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J</a:t>
              </a:r>
            </a:p>
          </p:txBody>
        </p:sp>
        <p:sp>
          <p:nvSpPr>
            <p:cNvPr id="54" name="文本框 53">
              <a:extLst>
                <a:ext uri="{FF2B5EF4-FFF2-40B4-BE49-F238E27FC236}">
                  <a16:creationId xmlns:a16="http://schemas.microsoft.com/office/drawing/2014/main" id="{20E0B4A4-9673-4BEC-B6DD-312C05E940DF}"/>
                </a:ext>
              </a:extLst>
            </p:cNvPr>
            <p:cNvSpPr txBox="1"/>
            <p:nvPr/>
          </p:nvSpPr>
          <p:spPr>
            <a:xfrm>
              <a:off x="2529887" y="202551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55" name="文本框 54">
              <a:extLst>
                <a:ext uri="{FF2B5EF4-FFF2-40B4-BE49-F238E27FC236}">
                  <a16:creationId xmlns:a16="http://schemas.microsoft.com/office/drawing/2014/main" id="{80413749-65F6-4783-825D-A86D3A812B11}"/>
                </a:ext>
              </a:extLst>
            </p:cNvPr>
            <p:cNvSpPr txBox="1"/>
            <p:nvPr/>
          </p:nvSpPr>
          <p:spPr>
            <a:xfrm>
              <a:off x="3755057" y="168215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56" name="文本框 55">
              <a:extLst>
                <a:ext uri="{FF2B5EF4-FFF2-40B4-BE49-F238E27FC236}">
                  <a16:creationId xmlns:a16="http://schemas.microsoft.com/office/drawing/2014/main" id="{01099188-77CB-4F9F-8C41-1025B38BA04F}"/>
                </a:ext>
              </a:extLst>
            </p:cNvPr>
            <p:cNvSpPr txBox="1"/>
            <p:nvPr/>
          </p:nvSpPr>
          <p:spPr>
            <a:xfrm>
              <a:off x="5186547" y="111497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57" name="文本框 56">
              <a:extLst>
                <a:ext uri="{FF2B5EF4-FFF2-40B4-BE49-F238E27FC236}">
                  <a16:creationId xmlns:a16="http://schemas.microsoft.com/office/drawing/2014/main" id="{7EB5122F-C75E-485B-AA18-CB5B4A1C07BD}"/>
                </a:ext>
              </a:extLst>
            </p:cNvPr>
            <p:cNvSpPr txBox="1"/>
            <p:nvPr/>
          </p:nvSpPr>
          <p:spPr>
            <a:xfrm>
              <a:off x="5764143" y="172589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58" name="文本框 57">
              <a:extLst>
                <a:ext uri="{FF2B5EF4-FFF2-40B4-BE49-F238E27FC236}">
                  <a16:creationId xmlns:a16="http://schemas.microsoft.com/office/drawing/2014/main" id="{6A2D4178-AE1C-469C-B3EF-025BF974D92B}"/>
                </a:ext>
              </a:extLst>
            </p:cNvPr>
            <p:cNvSpPr txBox="1"/>
            <p:nvPr/>
          </p:nvSpPr>
          <p:spPr>
            <a:xfrm>
              <a:off x="4544225" y="1974317"/>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p>
          </p:txBody>
        </p:sp>
        <p:sp>
          <p:nvSpPr>
            <p:cNvPr id="59" name="文本框 58">
              <a:extLst>
                <a:ext uri="{FF2B5EF4-FFF2-40B4-BE49-F238E27FC236}">
                  <a16:creationId xmlns:a16="http://schemas.microsoft.com/office/drawing/2014/main" id="{5C832C3F-4DD8-4E7B-A2F2-91718570AF7A}"/>
                </a:ext>
              </a:extLst>
            </p:cNvPr>
            <p:cNvSpPr txBox="1"/>
            <p:nvPr/>
          </p:nvSpPr>
          <p:spPr>
            <a:xfrm>
              <a:off x="4341494" y="24703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0" name="文本框 59">
              <a:extLst>
                <a:ext uri="{FF2B5EF4-FFF2-40B4-BE49-F238E27FC236}">
                  <a16:creationId xmlns:a16="http://schemas.microsoft.com/office/drawing/2014/main" id="{C8AEF516-2FD5-478C-A592-61377508997E}"/>
                </a:ext>
              </a:extLst>
            </p:cNvPr>
            <p:cNvSpPr txBox="1"/>
            <p:nvPr/>
          </p:nvSpPr>
          <p:spPr>
            <a:xfrm>
              <a:off x="5563481" y="3091885"/>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1" name="文本框 60">
              <a:extLst>
                <a:ext uri="{FF2B5EF4-FFF2-40B4-BE49-F238E27FC236}">
                  <a16:creationId xmlns:a16="http://schemas.microsoft.com/office/drawing/2014/main" id="{D8C7EDB8-8015-41D7-82EB-6C9A2286B8B4}"/>
                </a:ext>
              </a:extLst>
            </p:cNvPr>
            <p:cNvSpPr txBox="1"/>
            <p:nvPr/>
          </p:nvSpPr>
          <p:spPr>
            <a:xfrm>
              <a:off x="3924536" y="3491019"/>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2" name="文本框 61">
              <a:extLst>
                <a:ext uri="{FF2B5EF4-FFF2-40B4-BE49-F238E27FC236}">
                  <a16:creationId xmlns:a16="http://schemas.microsoft.com/office/drawing/2014/main" id="{921FA301-FE40-4280-8FE4-8B4B599520A0}"/>
                </a:ext>
              </a:extLst>
            </p:cNvPr>
            <p:cNvSpPr txBox="1"/>
            <p:nvPr/>
          </p:nvSpPr>
          <p:spPr>
            <a:xfrm>
              <a:off x="3546114" y="28886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63" name="文本框 62">
              <a:extLst>
                <a:ext uri="{FF2B5EF4-FFF2-40B4-BE49-F238E27FC236}">
                  <a16:creationId xmlns:a16="http://schemas.microsoft.com/office/drawing/2014/main" id="{8D50979D-B824-4C92-B078-B60EE11F1455}"/>
                </a:ext>
              </a:extLst>
            </p:cNvPr>
            <p:cNvSpPr txBox="1"/>
            <p:nvPr/>
          </p:nvSpPr>
          <p:spPr>
            <a:xfrm>
              <a:off x="5808305" y="4039798"/>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64" name="文本框 63">
              <a:extLst>
                <a:ext uri="{FF2B5EF4-FFF2-40B4-BE49-F238E27FC236}">
                  <a16:creationId xmlns:a16="http://schemas.microsoft.com/office/drawing/2014/main" id="{FC58D460-4E9A-4203-A2C7-72191ECC4ED8}"/>
                </a:ext>
              </a:extLst>
            </p:cNvPr>
            <p:cNvSpPr txBox="1"/>
            <p:nvPr/>
          </p:nvSpPr>
          <p:spPr>
            <a:xfrm>
              <a:off x="4472640" y="4153052"/>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65" name="文本框 64">
              <a:extLst>
                <a:ext uri="{FF2B5EF4-FFF2-40B4-BE49-F238E27FC236}">
                  <a16:creationId xmlns:a16="http://schemas.microsoft.com/office/drawing/2014/main" id="{D3E1419C-87E4-4EA9-A69A-9427A4D341EC}"/>
                </a:ext>
              </a:extLst>
            </p:cNvPr>
            <p:cNvSpPr txBox="1"/>
            <p:nvPr/>
          </p:nvSpPr>
          <p:spPr>
            <a:xfrm>
              <a:off x="2682748" y="3817414"/>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66" name="文本框 65">
              <a:extLst>
                <a:ext uri="{FF2B5EF4-FFF2-40B4-BE49-F238E27FC236}">
                  <a16:creationId xmlns:a16="http://schemas.microsoft.com/office/drawing/2014/main" id="{B34A321B-1B51-481C-AE30-42998DD38ACB}"/>
                </a:ext>
              </a:extLst>
            </p:cNvPr>
            <p:cNvSpPr txBox="1"/>
            <p:nvPr/>
          </p:nvSpPr>
          <p:spPr>
            <a:xfrm>
              <a:off x="1127254" y="3751576"/>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67" name="文本框 66">
              <a:extLst>
                <a:ext uri="{FF2B5EF4-FFF2-40B4-BE49-F238E27FC236}">
                  <a16:creationId xmlns:a16="http://schemas.microsoft.com/office/drawing/2014/main" id="{7BDE2691-0335-4515-A688-935C9CE84981}"/>
                </a:ext>
              </a:extLst>
            </p:cNvPr>
            <p:cNvSpPr txBox="1"/>
            <p:nvPr/>
          </p:nvSpPr>
          <p:spPr>
            <a:xfrm>
              <a:off x="1747265" y="2907393"/>
              <a:ext cx="445338" cy="430887"/>
            </a:xfrm>
            <a:prstGeom prst="rect">
              <a:avLst/>
            </a:prstGeom>
            <a:noFill/>
          </p:spPr>
          <p:txBody>
            <a:bodyPr wrap="square" rtlCol="0">
              <a:spAutoFit/>
            </a:bodyPr>
            <a:lstStyle/>
            <a:p>
              <a:pPr>
                <a:spcAft>
                  <a:spcPts val="600"/>
                </a:spcAft>
              </a:pPr>
              <a:r>
                <a:rPr lang="en-US" altLang="zh-CN" sz="22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68" name="文本框 67">
              <a:extLst>
                <a:ext uri="{FF2B5EF4-FFF2-40B4-BE49-F238E27FC236}">
                  <a16:creationId xmlns:a16="http://schemas.microsoft.com/office/drawing/2014/main" id="{6C373ECA-67CC-46C5-A0C4-3336CA1F9CDB}"/>
                </a:ext>
              </a:extLst>
            </p:cNvPr>
            <p:cNvSpPr txBox="1"/>
            <p:nvPr/>
          </p:nvSpPr>
          <p:spPr>
            <a:xfrm>
              <a:off x="1379105" y="1911803"/>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69" name="文本框 68">
              <a:extLst>
                <a:ext uri="{FF2B5EF4-FFF2-40B4-BE49-F238E27FC236}">
                  <a16:creationId xmlns:a16="http://schemas.microsoft.com/office/drawing/2014/main" id="{0DE22DC0-A435-4CE6-A247-9C8030AFDBC4}"/>
                </a:ext>
              </a:extLst>
            </p:cNvPr>
            <p:cNvSpPr txBox="1"/>
            <p:nvPr/>
          </p:nvSpPr>
          <p:spPr>
            <a:xfrm>
              <a:off x="6311360" y="17148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0" name="文本框 69">
              <a:extLst>
                <a:ext uri="{FF2B5EF4-FFF2-40B4-BE49-F238E27FC236}">
                  <a16:creationId xmlns:a16="http://schemas.microsoft.com/office/drawing/2014/main" id="{3167C8AB-012E-4F9F-A389-00DCE3CF5538}"/>
                </a:ext>
              </a:extLst>
            </p:cNvPr>
            <p:cNvSpPr txBox="1"/>
            <p:nvPr/>
          </p:nvSpPr>
          <p:spPr>
            <a:xfrm>
              <a:off x="3616975" y="2546298"/>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1" name="文本框 70">
              <a:extLst>
                <a:ext uri="{FF2B5EF4-FFF2-40B4-BE49-F238E27FC236}">
                  <a16:creationId xmlns:a16="http://schemas.microsoft.com/office/drawing/2014/main" id="{A95455EF-C46E-4095-A783-12C8A6EB0928}"/>
                </a:ext>
              </a:extLst>
            </p:cNvPr>
            <p:cNvSpPr txBox="1"/>
            <p:nvPr/>
          </p:nvSpPr>
          <p:spPr>
            <a:xfrm>
              <a:off x="4166578" y="159294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2" name="文本框 71">
              <a:extLst>
                <a:ext uri="{FF2B5EF4-FFF2-40B4-BE49-F238E27FC236}">
                  <a16:creationId xmlns:a16="http://schemas.microsoft.com/office/drawing/2014/main" id="{210D0673-E6E5-4BF9-8EA9-033C49015CB2}"/>
                </a:ext>
              </a:extLst>
            </p:cNvPr>
            <p:cNvSpPr txBox="1"/>
            <p:nvPr/>
          </p:nvSpPr>
          <p:spPr>
            <a:xfrm>
              <a:off x="2576482" y="3283151"/>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3" name="文本框 72">
              <a:extLst>
                <a:ext uri="{FF2B5EF4-FFF2-40B4-BE49-F238E27FC236}">
                  <a16:creationId xmlns:a16="http://schemas.microsoft.com/office/drawing/2014/main" id="{5950AABB-1D68-4440-83FC-D120FACC416A}"/>
                </a:ext>
              </a:extLst>
            </p:cNvPr>
            <p:cNvSpPr txBox="1"/>
            <p:nvPr/>
          </p:nvSpPr>
          <p:spPr>
            <a:xfrm>
              <a:off x="3418212" y="4387835"/>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74" name="文本框 73">
              <a:extLst>
                <a:ext uri="{FF2B5EF4-FFF2-40B4-BE49-F238E27FC236}">
                  <a16:creationId xmlns:a16="http://schemas.microsoft.com/office/drawing/2014/main" id="{3C57B3A4-2416-4C8E-85DC-5E72A4F9DAC6}"/>
                </a:ext>
              </a:extLst>
            </p:cNvPr>
            <p:cNvSpPr txBox="1"/>
            <p:nvPr/>
          </p:nvSpPr>
          <p:spPr>
            <a:xfrm>
              <a:off x="4518762" y="348174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75" name="文本框 74">
              <a:extLst>
                <a:ext uri="{FF2B5EF4-FFF2-40B4-BE49-F238E27FC236}">
                  <a16:creationId xmlns:a16="http://schemas.microsoft.com/office/drawing/2014/main" id="{D9071406-4BF5-4637-B819-17337BE9EA6D}"/>
                </a:ext>
              </a:extLst>
            </p:cNvPr>
            <p:cNvSpPr txBox="1"/>
            <p:nvPr/>
          </p:nvSpPr>
          <p:spPr>
            <a:xfrm>
              <a:off x="5257179" y="4954227"/>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76" name="文本框 75">
              <a:extLst>
                <a:ext uri="{FF2B5EF4-FFF2-40B4-BE49-F238E27FC236}">
                  <a16:creationId xmlns:a16="http://schemas.microsoft.com/office/drawing/2014/main" id="{67E1CF35-3B20-4D19-BCB5-FB9B2E0C15F8}"/>
                </a:ext>
              </a:extLst>
            </p:cNvPr>
            <p:cNvSpPr txBox="1"/>
            <p:nvPr/>
          </p:nvSpPr>
          <p:spPr>
            <a:xfrm>
              <a:off x="5250271" y="2560724"/>
              <a:ext cx="701141" cy="430887"/>
            </a:xfrm>
            <a:prstGeom prst="rect">
              <a:avLst/>
            </a:prstGeom>
            <a:noFill/>
          </p:spPr>
          <p:txBody>
            <a:bodyPr wrap="square" rtlCol="0">
              <a:spAutoFit/>
            </a:bodyPr>
            <a:lstStyle/>
            <a:p>
              <a:pP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p>
          </p:txBody>
        </p:sp>
        <p:sp>
          <p:nvSpPr>
            <p:cNvPr id="77" name="文本框 76">
              <a:extLst>
                <a:ext uri="{FF2B5EF4-FFF2-40B4-BE49-F238E27FC236}">
                  <a16:creationId xmlns:a16="http://schemas.microsoft.com/office/drawing/2014/main" id="{A184DEFA-7212-459D-88FF-977BF7E11D7F}"/>
                </a:ext>
              </a:extLst>
            </p:cNvPr>
            <p:cNvSpPr txBox="1"/>
            <p:nvPr/>
          </p:nvSpPr>
          <p:spPr>
            <a:xfrm>
              <a:off x="1414909" y="4258312"/>
              <a:ext cx="701141" cy="430887"/>
            </a:xfrm>
            <a:prstGeom prst="rect">
              <a:avLst/>
            </a:prstGeom>
            <a:noFill/>
          </p:spPr>
          <p:txBody>
            <a:bodyPr wrap="square" rtlCol="0">
              <a:spAutoFit/>
            </a:bodyPr>
            <a:lstStyle/>
            <a:p>
              <a:pPr algn="ctr">
                <a:spcAft>
                  <a:spcPts val="600"/>
                </a:spcAft>
              </a:pPr>
              <a:r>
                <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p>
          </p:txBody>
        </p:sp>
      </p:grpSp>
      <p:grpSp>
        <p:nvGrpSpPr>
          <p:cNvPr id="11" name="组合 10">
            <a:extLst>
              <a:ext uri="{FF2B5EF4-FFF2-40B4-BE49-F238E27FC236}">
                <a16:creationId xmlns:a16="http://schemas.microsoft.com/office/drawing/2014/main" id="{06043E08-620D-4F2A-B8E6-A991600BE5CF}"/>
              </a:ext>
            </a:extLst>
          </p:cNvPr>
          <p:cNvGrpSpPr/>
          <p:nvPr>
            <p:custDataLst>
              <p:tags r:id="rId4"/>
            </p:custDataLst>
          </p:nvPr>
        </p:nvGrpSpPr>
        <p:grpSpPr>
          <a:xfrm>
            <a:off x="0" y="0"/>
            <a:ext cx="9144000" cy="635000"/>
            <a:chOff x="0" y="0"/>
            <a:chExt cx="9144000" cy="635000"/>
          </a:xfrm>
        </p:grpSpPr>
        <p:sp>
          <p:nvSpPr>
            <p:cNvPr id="7" name="TitleBackground">
              <a:extLst>
                <a:ext uri="{FF2B5EF4-FFF2-40B4-BE49-F238E27FC236}">
                  <a16:creationId xmlns:a16="http://schemas.microsoft.com/office/drawing/2014/main" id="{939B140F-EF2E-4E5F-9641-337844C6139B}"/>
                </a:ext>
              </a:extLst>
            </p:cNvPr>
            <p:cNvSpPr/>
            <p:nvPr>
              <p:custDataLst>
                <p:tags r:id="rId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a:extLst>
                <a:ext uri="{FF2B5EF4-FFF2-40B4-BE49-F238E27FC236}">
                  <a16:creationId xmlns:a16="http://schemas.microsoft.com/office/drawing/2014/main" id="{B16406DD-0C57-4F7A-A53A-7CB6A27D1925}"/>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a:extLst>
                <a:ext uri="{FF2B5EF4-FFF2-40B4-BE49-F238E27FC236}">
                  <a16:creationId xmlns:a16="http://schemas.microsoft.com/office/drawing/2014/main" id="{9540562D-A320-460B-A82C-6C0177FFC2A2}"/>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0" name="TipText">
              <a:extLst>
                <a:ext uri="{FF2B5EF4-FFF2-40B4-BE49-F238E27FC236}">
                  <a16:creationId xmlns:a16="http://schemas.microsoft.com/office/drawing/2014/main" id="{CE145A66-FC15-4865-9AB5-061D06AC30DB}"/>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94DABDF0-F7C3-4F64-B6E3-C6341725DFA3}"/>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46165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35</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10" name="文本框 9"/>
          <p:cNvSpPr txBox="1"/>
          <p:nvPr/>
        </p:nvSpPr>
        <p:spPr>
          <a:xfrm>
            <a:off x="272374" y="501947"/>
            <a:ext cx="8615593" cy="707886"/>
          </a:xfrm>
          <a:prstGeom prst="rect">
            <a:avLst/>
          </a:prstGeom>
          <a:noFill/>
        </p:spPr>
        <p:txBody>
          <a:bodyPr wrap="square" rtlCol="0">
            <a:spAutoFit/>
          </a:bodyPr>
          <a:lstStyle/>
          <a:p>
            <a:r>
              <a:rPr lang="en-US" altLang="zh-CN" sz="4000" b="1"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4000" b="1" dirty="0">
                <a:latin typeface="微软雅黑" panose="020B0503020204020204" pitchFamily="34" charset="-122"/>
                <a:ea typeface="微软雅黑" panose="020B0503020204020204" pitchFamily="34" charset="-122"/>
                <a:cs typeface="Times New Roman" panose="02020603050405020304" pitchFamily="18" charset="0"/>
              </a:rPr>
              <a:t>平面路由协议</a:t>
            </a:r>
          </a:p>
        </p:txBody>
      </p:sp>
      <p:sp>
        <p:nvSpPr>
          <p:cNvPr id="2" name="文本框 1"/>
          <p:cNvSpPr txBox="1"/>
          <p:nvPr/>
        </p:nvSpPr>
        <p:spPr>
          <a:xfrm>
            <a:off x="272374" y="1252010"/>
            <a:ext cx="8615594" cy="1661993"/>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泛洪和闲聊法路由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泛洪式（</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flooding</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800" b="1" dirty="0">
                <a:latin typeface="Times New Roman" panose="02020603050405020304" pitchFamily="18" charset="0"/>
                <a:cs typeface="Times New Roman" panose="02020603050405020304" pitchFamily="18" charset="0"/>
              </a:rPr>
              <a:t>原理：</a:t>
            </a:r>
            <a:r>
              <a:rPr lang="zh-CN" altLang="en-US" sz="2800" dirty="0">
                <a:latin typeface="Times New Roman" panose="02020603050405020304" pitchFamily="18" charset="0"/>
                <a:cs typeface="Times New Roman" panose="02020603050405020304" pitchFamily="18" charset="0"/>
              </a:rPr>
              <a:t>向所有邻居节点广播消息</a:t>
            </a:r>
            <a:endParaRPr lang="en-US" altLang="zh-CN" sz="2800" dirty="0">
              <a:latin typeface="Times New Roman" panose="02020603050405020304" pitchFamily="18" charset="0"/>
              <a:cs typeface="Times New Roman" panose="02020603050405020304" pitchFamily="18" charset="0"/>
            </a:endParaRPr>
          </a:p>
        </p:txBody>
      </p:sp>
      <p:grpSp>
        <p:nvGrpSpPr>
          <p:cNvPr id="11" name="Group 4"/>
          <p:cNvGrpSpPr>
            <a:grpSpLocks/>
          </p:cNvGrpSpPr>
          <p:nvPr/>
        </p:nvGrpSpPr>
        <p:grpSpPr bwMode="auto">
          <a:xfrm>
            <a:off x="1812206" y="4474907"/>
            <a:ext cx="733038" cy="399483"/>
            <a:chOff x="3674" y="1079"/>
            <a:chExt cx="221" cy="222"/>
          </a:xfrm>
          <a:solidFill>
            <a:schemeClr val="accent1">
              <a:lumMod val="75000"/>
            </a:schemeClr>
          </a:solidFill>
        </p:grpSpPr>
        <p:sp>
          <p:nvSpPr>
            <p:cNvPr id="12" name="Freeform 5"/>
            <p:cNvSpPr>
              <a:spLocks/>
            </p:cNvSpPr>
            <p:nvPr/>
          </p:nvSpPr>
          <p:spPr bwMode="auto">
            <a:xfrm>
              <a:off x="3674" y="1094"/>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13" name="Text Box 6"/>
            <p:cNvSpPr txBox="1">
              <a:spLocks noChangeArrowheads="1"/>
            </p:cNvSpPr>
            <p:nvPr/>
          </p:nvSpPr>
          <p:spPr bwMode="auto">
            <a:xfrm>
              <a:off x="3726" y="1079"/>
              <a:ext cx="117" cy="216"/>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dirty="0">
                  <a:solidFill>
                    <a:srgbClr val="FFFF00"/>
                  </a:solidFill>
                  <a:latin typeface="Arial" charset="0"/>
                  <a:ea typeface="宋体" charset="0"/>
                </a:rPr>
                <a:t>B</a:t>
              </a:r>
            </a:p>
          </p:txBody>
        </p:sp>
      </p:grpSp>
      <p:grpSp>
        <p:nvGrpSpPr>
          <p:cNvPr id="14" name="Group 7"/>
          <p:cNvGrpSpPr>
            <a:grpSpLocks/>
          </p:cNvGrpSpPr>
          <p:nvPr/>
        </p:nvGrpSpPr>
        <p:grpSpPr bwMode="auto">
          <a:xfrm>
            <a:off x="568364" y="5115520"/>
            <a:ext cx="733038" cy="399483"/>
            <a:chOff x="3770" y="1175"/>
            <a:chExt cx="221" cy="222"/>
          </a:xfrm>
          <a:solidFill>
            <a:schemeClr val="accent1">
              <a:lumMod val="75000"/>
            </a:schemeClr>
          </a:solidFill>
        </p:grpSpPr>
        <p:sp>
          <p:nvSpPr>
            <p:cNvPr id="15" name="Freeform 8"/>
            <p:cNvSpPr>
              <a:spLocks/>
            </p:cNvSpPr>
            <p:nvPr/>
          </p:nvSpPr>
          <p:spPr bwMode="auto">
            <a:xfrm>
              <a:off x="3770" y="1190"/>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16" name="Text Box 9"/>
            <p:cNvSpPr txBox="1">
              <a:spLocks noChangeArrowheads="1"/>
            </p:cNvSpPr>
            <p:nvPr/>
          </p:nvSpPr>
          <p:spPr bwMode="auto">
            <a:xfrm>
              <a:off x="3822" y="1175"/>
              <a:ext cx="117" cy="214"/>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dirty="0">
                  <a:solidFill>
                    <a:srgbClr val="FFFF00"/>
                  </a:solidFill>
                  <a:latin typeface="Arial" charset="0"/>
                  <a:ea typeface="宋体" charset="0"/>
                </a:rPr>
                <a:t>D</a:t>
              </a:r>
            </a:p>
          </p:txBody>
        </p:sp>
      </p:grpSp>
      <p:grpSp>
        <p:nvGrpSpPr>
          <p:cNvPr id="17" name="Group 10"/>
          <p:cNvGrpSpPr>
            <a:grpSpLocks/>
          </p:cNvGrpSpPr>
          <p:nvPr/>
        </p:nvGrpSpPr>
        <p:grpSpPr bwMode="auto">
          <a:xfrm>
            <a:off x="3089218" y="5128116"/>
            <a:ext cx="733038" cy="399483"/>
            <a:chOff x="3866" y="1271"/>
            <a:chExt cx="221" cy="222"/>
          </a:xfrm>
          <a:solidFill>
            <a:schemeClr val="accent1">
              <a:lumMod val="75000"/>
            </a:schemeClr>
          </a:solidFill>
        </p:grpSpPr>
        <p:sp>
          <p:nvSpPr>
            <p:cNvPr id="18" name="Freeform 11"/>
            <p:cNvSpPr>
              <a:spLocks/>
            </p:cNvSpPr>
            <p:nvPr/>
          </p:nvSpPr>
          <p:spPr bwMode="auto">
            <a:xfrm>
              <a:off x="3866" y="1286"/>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19" name="Text Box 12"/>
            <p:cNvSpPr txBox="1">
              <a:spLocks noChangeArrowheads="1"/>
            </p:cNvSpPr>
            <p:nvPr/>
          </p:nvSpPr>
          <p:spPr bwMode="auto">
            <a:xfrm>
              <a:off x="3921" y="1271"/>
              <a:ext cx="112" cy="214"/>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dirty="0">
                  <a:solidFill>
                    <a:srgbClr val="FFFF00"/>
                  </a:solidFill>
                  <a:latin typeface="Arial" charset="0"/>
                  <a:ea typeface="宋体" charset="0"/>
                </a:rPr>
                <a:t>E</a:t>
              </a:r>
            </a:p>
          </p:txBody>
        </p:sp>
      </p:grpSp>
      <p:grpSp>
        <p:nvGrpSpPr>
          <p:cNvPr id="20" name="Group 13"/>
          <p:cNvGrpSpPr>
            <a:grpSpLocks/>
          </p:cNvGrpSpPr>
          <p:nvPr/>
        </p:nvGrpSpPr>
        <p:grpSpPr bwMode="auto">
          <a:xfrm>
            <a:off x="1835425" y="5784925"/>
            <a:ext cx="733038" cy="399483"/>
            <a:chOff x="3681" y="1543"/>
            <a:chExt cx="221" cy="222"/>
          </a:xfrm>
          <a:solidFill>
            <a:schemeClr val="accent1">
              <a:lumMod val="75000"/>
            </a:schemeClr>
          </a:solidFill>
        </p:grpSpPr>
        <p:sp>
          <p:nvSpPr>
            <p:cNvPr id="21" name="Freeform 14"/>
            <p:cNvSpPr>
              <a:spLocks/>
            </p:cNvSpPr>
            <p:nvPr/>
          </p:nvSpPr>
          <p:spPr bwMode="auto">
            <a:xfrm>
              <a:off x="3681" y="1558"/>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22" name="Text Box 15"/>
            <p:cNvSpPr txBox="1">
              <a:spLocks noChangeArrowheads="1"/>
            </p:cNvSpPr>
            <p:nvPr/>
          </p:nvSpPr>
          <p:spPr bwMode="auto">
            <a:xfrm>
              <a:off x="3737" y="1543"/>
              <a:ext cx="108" cy="214"/>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dirty="0">
                  <a:solidFill>
                    <a:srgbClr val="FFFF00"/>
                  </a:solidFill>
                  <a:latin typeface="Arial" charset="0"/>
                  <a:ea typeface="宋体" charset="0"/>
                </a:rPr>
                <a:t>F</a:t>
              </a:r>
            </a:p>
          </p:txBody>
        </p:sp>
      </p:grpSp>
      <p:sp>
        <p:nvSpPr>
          <p:cNvPr id="23" name="Line 16"/>
          <p:cNvSpPr>
            <a:spLocks noChangeShapeType="1"/>
          </p:cNvSpPr>
          <p:nvPr/>
        </p:nvSpPr>
        <p:spPr bwMode="auto">
          <a:xfrm>
            <a:off x="2489239" y="4779220"/>
            <a:ext cx="768350" cy="415925"/>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24" name="Line 17"/>
          <p:cNvSpPr>
            <a:spLocks noChangeShapeType="1"/>
          </p:cNvSpPr>
          <p:nvPr/>
        </p:nvSpPr>
        <p:spPr bwMode="auto">
          <a:xfrm>
            <a:off x="1162089" y="5466608"/>
            <a:ext cx="769938" cy="415925"/>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25" name="Line 18"/>
          <p:cNvSpPr>
            <a:spLocks noChangeShapeType="1"/>
          </p:cNvSpPr>
          <p:nvPr/>
        </p:nvSpPr>
        <p:spPr bwMode="auto">
          <a:xfrm flipH="1">
            <a:off x="2478127" y="5476133"/>
            <a:ext cx="754062" cy="411162"/>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26" name="Line 19"/>
          <p:cNvSpPr>
            <a:spLocks noChangeShapeType="1"/>
          </p:cNvSpPr>
          <p:nvPr/>
        </p:nvSpPr>
        <p:spPr bwMode="auto">
          <a:xfrm flipH="1">
            <a:off x="1082714" y="4745883"/>
            <a:ext cx="776288" cy="415925"/>
          </a:xfrm>
          <a:prstGeom prst="line">
            <a:avLst/>
          </a:prstGeom>
          <a:noFill/>
          <a:ln w="28575">
            <a:solidFill>
              <a:schemeClr val="tx1"/>
            </a:solidFill>
            <a:round/>
            <a:headEnd type="none" w="sm" len="sm"/>
            <a:tailEnd type="none" w="sm" len="sm"/>
          </a:ln>
        </p:spPr>
        <p:txBody>
          <a:bodyPr wrap="none" anchor="ctr"/>
          <a:lstStyle/>
          <a:p>
            <a:endParaRPr lang="zh-CN" altLang="en-US"/>
          </a:p>
        </p:txBody>
      </p:sp>
      <p:grpSp>
        <p:nvGrpSpPr>
          <p:cNvPr id="27" name="Group 20"/>
          <p:cNvGrpSpPr>
            <a:grpSpLocks/>
          </p:cNvGrpSpPr>
          <p:nvPr/>
        </p:nvGrpSpPr>
        <p:grpSpPr bwMode="auto">
          <a:xfrm>
            <a:off x="4213651" y="6173612"/>
            <a:ext cx="733038" cy="399483"/>
            <a:chOff x="3866" y="1271"/>
            <a:chExt cx="221" cy="222"/>
          </a:xfrm>
          <a:solidFill>
            <a:schemeClr val="accent1">
              <a:lumMod val="75000"/>
            </a:schemeClr>
          </a:solidFill>
        </p:grpSpPr>
        <p:sp>
          <p:nvSpPr>
            <p:cNvPr id="28" name="Freeform 21"/>
            <p:cNvSpPr>
              <a:spLocks/>
            </p:cNvSpPr>
            <p:nvPr/>
          </p:nvSpPr>
          <p:spPr bwMode="auto">
            <a:xfrm>
              <a:off x="3866" y="1286"/>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29" name="Text Box 22"/>
            <p:cNvSpPr txBox="1">
              <a:spLocks noChangeArrowheads="1"/>
            </p:cNvSpPr>
            <p:nvPr/>
          </p:nvSpPr>
          <p:spPr bwMode="auto">
            <a:xfrm>
              <a:off x="3916" y="1271"/>
              <a:ext cx="122" cy="216"/>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b="1" dirty="0">
                  <a:solidFill>
                    <a:srgbClr val="C00000"/>
                  </a:solidFill>
                  <a:latin typeface="Arial" charset="0"/>
                  <a:ea typeface="宋体" charset="0"/>
                </a:rPr>
                <a:t>G</a:t>
              </a:r>
            </a:p>
          </p:txBody>
        </p:sp>
      </p:grpSp>
      <p:grpSp>
        <p:nvGrpSpPr>
          <p:cNvPr id="30" name="Group 23"/>
          <p:cNvGrpSpPr>
            <a:grpSpLocks/>
          </p:cNvGrpSpPr>
          <p:nvPr/>
        </p:nvGrpSpPr>
        <p:grpSpPr bwMode="auto">
          <a:xfrm>
            <a:off x="3845474" y="4032236"/>
            <a:ext cx="733038" cy="399483"/>
            <a:chOff x="3866" y="1271"/>
            <a:chExt cx="221" cy="222"/>
          </a:xfrm>
          <a:solidFill>
            <a:schemeClr val="accent1">
              <a:lumMod val="75000"/>
            </a:schemeClr>
          </a:solidFill>
        </p:grpSpPr>
        <p:sp>
          <p:nvSpPr>
            <p:cNvPr id="31" name="Freeform 24"/>
            <p:cNvSpPr>
              <a:spLocks/>
            </p:cNvSpPr>
            <p:nvPr/>
          </p:nvSpPr>
          <p:spPr bwMode="auto">
            <a:xfrm>
              <a:off x="3866" y="1286"/>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32" name="Text Box 25"/>
            <p:cNvSpPr txBox="1">
              <a:spLocks noChangeArrowheads="1"/>
            </p:cNvSpPr>
            <p:nvPr/>
          </p:nvSpPr>
          <p:spPr bwMode="auto">
            <a:xfrm>
              <a:off x="3918" y="1271"/>
              <a:ext cx="117" cy="216"/>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dirty="0">
                  <a:solidFill>
                    <a:srgbClr val="FFFF00"/>
                  </a:solidFill>
                  <a:latin typeface="Arial" charset="0"/>
                  <a:ea typeface="宋体" charset="0"/>
                </a:rPr>
                <a:t>C</a:t>
              </a:r>
            </a:p>
          </p:txBody>
        </p:sp>
      </p:grpSp>
      <p:grpSp>
        <p:nvGrpSpPr>
          <p:cNvPr id="33" name="Group 26"/>
          <p:cNvGrpSpPr>
            <a:grpSpLocks/>
          </p:cNvGrpSpPr>
          <p:nvPr/>
        </p:nvGrpSpPr>
        <p:grpSpPr bwMode="auto">
          <a:xfrm>
            <a:off x="1122288" y="3486994"/>
            <a:ext cx="733038" cy="399483"/>
            <a:chOff x="3866" y="1271"/>
            <a:chExt cx="221" cy="222"/>
          </a:xfrm>
          <a:solidFill>
            <a:schemeClr val="accent1">
              <a:lumMod val="75000"/>
            </a:schemeClr>
          </a:solidFill>
        </p:grpSpPr>
        <p:sp>
          <p:nvSpPr>
            <p:cNvPr id="34" name="Freeform 27"/>
            <p:cNvSpPr>
              <a:spLocks/>
            </p:cNvSpPr>
            <p:nvPr/>
          </p:nvSpPr>
          <p:spPr bwMode="auto">
            <a:xfrm>
              <a:off x="3866" y="1286"/>
              <a:ext cx="221" cy="207"/>
            </a:xfrm>
            <a:custGeom>
              <a:avLst/>
              <a:gdLst>
                <a:gd name="T0" fmla="*/ 130 w 288"/>
                <a:gd name="T1" fmla="*/ 54 h 287"/>
                <a:gd name="T2" fmla="*/ 127 w 288"/>
                <a:gd name="T3" fmla="*/ 32 h 287"/>
                <a:gd name="T4" fmla="*/ 112 w 288"/>
                <a:gd name="T5" fmla="*/ 15 h 287"/>
                <a:gd name="T6" fmla="*/ 90 w 288"/>
                <a:gd name="T7" fmla="*/ 3 h 287"/>
                <a:gd name="T8" fmla="*/ 65 w 288"/>
                <a:gd name="T9" fmla="*/ 0 h 287"/>
                <a:gd name="T10" fmla="*/ 40 w 288"/>
                <a:gd name="T11" fmla="*/ 3 h 287"/>
                <a:gd name="T12" fmla="*/ 18 w 288"/>
                <a:gd name="T13" fmla="*/ 15 h 287"/>
                <a:gd name="T14" fmla="*/ 4 w 288"/>
                <a:gd name="T15" fmla="*/ 32 h 287"/>
                <a:gd name="T16" fmla="*/ 0 w 288"/>
                <a:gd name="T17" fmla="*/ 54 h 287"/>
                <a:gd name="T18" fmla="*/ 4 w 288"/>
                <a:gd name="T19" fmla="*/ 75 h 287"/>
                <a:gd name="T20" fmla="*/ 18 w 288"/>
                <a:gd name="T21" fmla="*/ 92 h 287"/>
                <a:gd name="T22" fmla="*/ 40 w 288"/>
                <a:gd name="T23" fmla="*/ 105 h 287"/>
                <a:gd name="T24" fmla="*/ 65 w 288"/>
                <a:gd name="T25" fmla="*/ 107 h 287"/>
                <a:gd name="T26" fmla="*/ 90 w 288"/>
                <a:gd name="T27" fmla="*/ 105 h 287"/>
                <a:gd name="T28" fmla="*/ 112 w 288"/>
                <a:gd name="T29" fmla="*/ 92 h 287"/>
                <a:gd name="T30" fmla="*/ 127 w 288"/>
                <a:gd name="T31" fmla="*/ 75 h 287"/>
                <a:gd name="T32" fmla="*/ 130 w 288"/>
                <a:gd name="T33" fmla="*/ 54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grpFill/>
            <a:ln>
              <a:noFill/>
            </a:ln>
            <a:extLst>
              <a:ext uri="{91240B29-F687-4f45-9708-019B960494DF}"/>
            </a:extLst>
          </p:spPr>
          <p:txBody>
            <a:bodyPr/>
            <a:lstStyle/>
            <a:p>
              <a:pPr>
                <a:defRPr/>
              </a:pPr>
              <a:endParaRPr lang="zh-CN" altLang="en-US">
                <a:latin typeface="Comic Sans MS" charset="0"/>
                <a:ea typeface="宋体" charset="0"/>
              </a:endParaRPr>
            </a:p>
          </p:txBody>
        </p:sp>
        <p:sp>
          <p:nvSpPr>
            <p:cNvPr id="35" name="Text Box 28"/>
            <p:cNvSpPr txBox="1">
              <a:spLocks noChangeArrowheads="1"/>
            </p:cNvSpPr>
            <p:nvPr/>
          </p:nvSpPr>
          <p:spPr bwMode="auto">
            <a:xfrm>
              <a:off x="3917" y="1271"/>
              <a:ext cx="117" cy="211"/>
            </a:xfrm>
            <a:prstGeom prst="rect">
              <a:avLst/>
            </a:prstGeom>
            <a:grpFill/>
            <a:ln>
              <a:noFill/>
            </a:ln>
            <a:effectLst/>
            <a:extLst>
              <a:ext uri="{91240B29-F687-4f45-9708-019B960494DF}"/>
              <a:ext uri="{AF507438-7753-43e0-B8FC-AC1667EBCBE1}"/>
            </a:extLst>
          </p:spPr>
          <p:txBody>
            <a:bodyPr wrap="none">
              <a:spAutoFit/>
            </a:bodyPr>
            <a:lstStyle/>
            <a:p>
              <a:pPr algn="ctr">
                <a:lnSpc>
                  <a:spcPct val="85000"/>
                </a:lnSpc>
                <a:spcBef>
                  <a:spcPct val="50000"/>
                </a:spcBef>
                <a:defRPr/>
              </a:pPr>
              <a:r>
                <a:rPr kumimoji="0" lang="en-US" sz="2200" b="1" dirty="0">
                  <a:solidFill>
                    <a:srgbClr val="C00000"/>
                  </a:solidFill>
                  <a:latin typeface="Arial" charset="0"/>
                  <a:ea typeface="宋体" charset="0"/>
                </a:rPr>
                <a:t>A</a:t>
              </a:r>
            </a:p>
          </p:txBody>
        </p:sp>
      </p:grpSp>
      <p:sp>
        <p:nvSpPr>
          <p:cNvPr id="36" name="Line 29"/>
          <p:cNvSpPr>
            <a:spLocks noChangeShapeType="1"/>
          </p:cNvSpPr>
          <p:nvPr/>
        </p:nvSpPr>
        <p:spPr bwMode="auto">
          <a:xfrm>
            <a:off x="3676689" y="5471370"/>
            <a:ext cx="819150" cy="776288"/>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37" name="Line 30"/>
          <p:cNvSpPr>
            <a:spLocks noChangeShapeType="1"/>
          </p:cNvSpPr>
          <p:nvPr/>
        </p:nvSpPr>
        <p:spPr bwMode="auto">
          <a:xfrm flipV="1">
            <a:off x="2471777" y="4283920"/>
            <a:ext cx="1439862" cy="306388"/>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38" name="Line 31"/>
          <p:cNvSpPr>
            <a:spLocks noChangeShapeType="1"/>
          </p:cNvSpPr>
          <p:nvPr/>
        </p:nvSpPr>
        <p:spPr bwMode="auto">
          <a:xfrm flipH="1">
            <a:off x="3567152" y="4402983"/>
            <a:ext cx="639762" cy="771525"/>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39" name="Line 32"/>
          <p:cNvSpPr>
            <a:spLocks noChangeShapeType="1"/>
          </p:cNvSpPr>
          <p:nvPr/>
        </p:nvSpPr>
        <p:spPr bwMode="auto">
          <a:xfrm>
            <a:off x="1593889" y="3866408"/>
            <a:ext cx="473075" cy="674687"/>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40" name="Line 33"/>
          <p:cNvSpPr>
            <a:spLocks noChangeShapeType="1"/>
          </p:cNvSpPr>
          <p:nvPr/>
        </p:nvSpPr>
        <p:spPr bwMode="auto">
          <a:xfrm>
            <a:off x="1932027" y="3831483"/>
            <a:ext cx="401637" cy="585787"/>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grpSp>
        <p:nvGrpSpPr>
          <p:cNvPr id="41" name="Group 34"/>
          <p:cNvGrpSpPr>
            <a:grpSpLocks/>
          </p:cNvGrpSpPr>
          <p:nvPr/>
        </p:nvGrpSpPr>
        <p:grpSpPr bwMode="auto">
          <a:xfrm>
            <a:off x="919202" y="4471245"/>
            <a:ext cx="3762375" cy="1614488"/>
            <a:chOff x="2428" y="1442"/>
            <a:chExt cx="1134" cy="897"/>
          </a:xfrm>
        </p:grpSpPr>
        <p:sp>
          <p:nvSpPr>
            <p:cNvPr id="42" name="Line 35"/>
            <p:cNvSpPr>
              <a:spLocks noChangeShapeType="1"/>
            </p:cNvSpPr>
            <p:nvPr/>
          </p:nvSpPr>
          <p:spPr bwMode="auto">
            <a:xfrm flipH="1">
              <a:off x="3336" y="1442"/>
              <a:ext cx="165" cy="391"/>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sp>
          <p:nvSpPr>
            <p:cNvPr id="43" name="Line 36"/>
            <p:cNvSpPr>
              <a:spLocks noChangeShapeType="1"/>
            </p:cNvSpPr>
            <p:nvPr/>
          </p:nvSpPr>
          <p:spPr bwMode="auto">
            <a:xfrm>
              <a:off x="3353" y="1987"/>
              <a:ext cx="209" cy="352"/>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sp>
          <p:nvSpPr>
            <p:cNvPr id="44" name="Line 37"/>
            <p:cNvSpPr>
              <a:spLocks noChangeShapeType="1"/>
            </p:cNvSpPr>
            <p:nvPr/>
          </p:nvSpPr>
          <p:spPr bwMode="auto">
            <a:xfrm flipH="1">
              <a:off x="2984" y="2081"/>
              <a:ext cx="176" cy="176"/>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sp>
          <p:nvSpPr>
            <p:cNvPr id="45" name="Line 38"/>
            <p:cNvSpPr>
              <a:spLocks noChangeShapeType="1"/>
            </p:cNvSpPr>
            <p:nvPr/>
          </p:nvSpPr>
          <p:spPr bwMode="auto">
            <a:xfrm>
              <a:off x="2428" y="2086"/>
              <a:ext cx="198" cy="198"/>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grpSp>
      <p:sp>
        <p:nvSpPr>
          <p:cNvPr id="46" name="Line 39"/>
          <p:cNvSpPr>
            <a:spLocks noChangeShapeType="1"/>
          </p:cNvSpPr>
          <p:nvPr/>
        </p:nvSpPr>
        <p:spPr bwMode="auto">
          <a:xfrm>
            <a:off x="2197139" y="4866533"/>
            <a:ext cx="0" cy="981075"/>
          </a:xfrm>
          <a:prstGeom prst="line">
            <a:avLst/>
          </a:prstGeom>
          <a:noFill/>
          <a:ln w="28575">
            <a:solidFill>
              <a:schemeClr val="tx1"/>
            </a:solidFill>
            <a:round/>
            <a:headEnd type="none" w="sm" len="sm"/>
            <a:tailEnd type="none" w="sm" len="sm"/>
          </a:ln>
        </p:spPr>
        <p:txBody>
          <a:bodyPr wrap="none" anchor="ctr"/>
          <a:lstStyle/>
          <a:p>
            <a:endParaRPr lang="zh-CN" altLang="en-US"/>
          </a:p>
        </p:txBody>
      </p:sp>
      <p:grpSp>
        <p:nvGrpSpPr>
          <p:cNvPr id="47" name="Group 40"/>
          <p:cNvGrpSpPr>
            <a:grpSpLocks/>
          </p:cNvGrpSpPr>
          <p:nvPr/>
        </p:nvGrpSpPr>
        <p:grpSpPr bwMode="auto">
          <a:xfrm>
            <a:off x="787439" y="4164858"/>
            <a:ext cx="2905125" cy="1425575"/>
            <a:chOff x="2388" y="1272"/>
            <a:chExt cx="876" cy="792"/>
          </a:xfrm>
        </p:grpSpPr>
        <p:grpSp>
          <p:nvGrpSpPr>
            <p:cNvPr id="48" name="Group 41"/>
            <p:cNvGrpSpPr>
              <a:grpSpLocks/>
            </p:cNvGrpSpPr>
            <p:nvPr/>
          </p:nvGrpSpPr>
          <p:grpSpPr bwMode="auto">
            <a:xfrm>
              <a:off x="2388" y="1272"/>
              <a:ext cx="876" cy="495"/>
              <a:chOff x="2388" y="1272"/>
              <a:chExt cx="876" cy="495"/>
            </a:xfrm>
          </p:grpSpPr>
          <p:sp>
            <p:nvSpPr>
              <p:cNvPr id="50" name="Line 42"/>
              <p:cNvSpPr>
                <a:spLocks noChangeShapeType="1"/>
              </p:cNvSpPr>
              <p:nvPr/>
            </p:nvSpPr>
            <p:spPr bwMode="auto">
              <a:xfrm>
                <a:off x="2958" y="1535"/>
                <a:ext cx="232" cy="231"/>
              </a:xfrm>
              <a:prstGeom prst="line">
                <a:avLst/>
              </a:prstGeom>
              <a:noFill/>
              <a:ln w="28575" cap="rnd">
                <a:solidFill>
                  <a:schemeClr val="tx1"/>
                </a:solidFill>
                <a:prstDash val="sysDot"/>
                <a:round/>
                <a:headEnd/>
                <a:tailEnd type="triangle" w="med" len="med"/>
              </a:ln>
            </p:spPr>
            <p:txBody>
              <a:bodyPr wrap="none" anchor="ctr"/>
              <a:lstStyle/>
              <a:p>
                <a:endParaRPr lang="zh-CN" altLang="en-US"/>
              </a:p>
            </p:txBody>
          </p:sp>
          <p:sp>
            <p:nvSpPr>
              <p:cNvPr id="51" name="Line 43"/>
              <p:cNvSpPr>
                <a:spLocks noChangeShapeType="1"/>
              </p:cNvSpPr>
              <p:nvPr/>
            </p:nvSpPr>
            <p:spPr bwMode="auto">
              <a:xfrm flipH="1">
                <a:off x="2388" y="1513"/>
                <a:ext cx="234" cy="231"/>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sp>
            <p:nvSpPr>
              <p:cNvPr id="52" name="Line 44"/>
              <p:cNvSpPr>
                <a:spLocks noChangeShapeType="1"/>
              </p:cNvSpPr>
              <p:nvPr/>
            </p:nvSpPr>
            <p:spPr bwMode="auto">
              <a:xfrm flipV="1">
                <a:off x="2918" y="1272"/>
                <a:ext cx="346" cy="132"/>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grpSp>
        <p:sp>
          <p:nvSpPr>
            <p:cNvPr id="49" name="Line 45"/>
            <p:cNvSpPr>
              <a:spLocks noChangeShapeType="1"/>
            </p:cNvSpPr>
            <p:nvPr/>
          </p:nvSpPr>
          <p:spPr bwMode="auto">
            <a:xfrm>
              <a:off x="2747" y="1717"/>
              <a:ext cx="0" cy="347"/>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grpSp>
      <p:sp>
        <p:nvSpPr>
          <p:cNvPr id="53" name="椭圆 52"/>
          <p:cNvSpPr>
            <a:spLocks noChangeArrowheads="1"/>
          </p:cNvSpPr>
          <p:nvPr/>
        </p:nvSpPr>
        <p:spPr bwMode="auto">
          <a:xfrm>
            <a:off x="1918698" y="5698564"/>
            <a:ext cx="533400" cy="533400"/>
          </a:xfrm>
          <a:prstGeom prst="ellipse">
            <a:avLst/>
          </a:prstGeom>
          <a:noFill/>
          <a:ln w="28575" algn="ctr">
            <a:solidFill>
              <a:srgbClr val="FF0000"/>
            </a:solidFill>
            <a:round/>
            <a:headEnd/>
            <a:tailEnd/>
          </a:ln>
        </p:spPr>
        <p:txBody>
          <a:bodyPr/>
          <a:lstStyle/>
          <a:p>
            <a:pPr marL="342900" indent="-342900" eaLnBrk="0" hangingPunct="0">
              <a:lnSpc>
                <a:spcPct val="90000"/>
              </a:lnSpc>
              <a:spcBef>
                <a:spcPct val="20000"/>
              </a:spcBef>
              <a:buClr>
                <a:schemeClr val="folHlink"/>
              </a:buClr>
              <a:buSzPct val="75000"/>
              <a:buFont typeface="Monotype Sorts"/>
              <a:buChar char="n"/>
            </a:pPr>
            <a:endParaRPr lang="zh-CN" altLang="en-US"/>
          </a:p>
        </p:txBody>
      </p:sp>
      <p:sp>
        <p:nvSpPr>
          <p:cNvPr id="54" name="椭圆 53"/>
          <p:cNvSpPr>
            <a:spLocks noChangeArrowheads="1"/>
          </p:cNvSpPr>
          <p:nvPr/>
        </p:nvSpPr>
        <p:spPr bwMode="auto">
          <a:xfrm>
            <a:off x="3191063" y="5053527"/>
            <a:ext cx="533400" cy="533400"/>
          </a:xfrm>
          <a:prstGeom prst="ellipse">
            <a:avLst/>
          </a:prstGeom>
          <a:noFill/>
          <a:ln w="28575" algn="ctr">
            <a:solidFill>
              <a:srgbClr val="FF0000"/>
            </a:solidFill>
            <a:round/>
            <a:headEnd/>
            <a:tailEnd/>
          </a:ln>
        </p:spPr>
        <p:txBody>
          <a:bodyPr/>
          <a:lstStyle/>
          <a:p>
            <a:pPr marL="342900" indent="-342900" eaLnBrk="0" hangingPunct="0">
              <a:lnSpc>
                <a:spcPct val="90000"/>
              </a:lnSpc>
              <a:spcBef>
                <a:spcPct val="20000"/>
              </a:spcBef>
              <a:buClr>
                <a:schemeClr val="folHlink"/>
              </a:buClr>
              <a:buSzPct val="75000"/>
              <a:buFont typeface="Monotype Sorts"/>
              <a:buChar char="n"/>
            </a:pPr>
            <a:endParaRPr lang="zh-CN" altLang="en-US"/>
          </a:p>
        </p:txBody>
      </p:sp>
      <p:sp>
        <p:nvSpPr>
          <p:cNvPr id="3" name="右箭头 2"/>
          <p:cNvSpPr/>
          <p:nvPr/>
        </p:nvSpPr>
        <p:spPr>
          <a:xfrm>
            <a:off x="4917631" y="4729564"/>
            <a:ext cx="318977" cy="5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321025" y="4630549"/>
            <a:ext cx="3348994" cy="830997"/>
          </a:xfrm>
          <a:prstGeom prst="rect">
            <a:avLst/>
          </a:prstGeom>
          <a:noFill/>
        </p:spPr>
        <p:txBody>
          <a:bodyPr wrap="none" rtlCol="0">
            <a:spAutoFit/>
          </a:bodyPr>
          <a:lstStyle/>
          <a:p>
            <a:r>
              <a:rPr lang="zh-CN" altLang="en-US" sz="2400" dirty="0">
                <a:solidFill>
                  <a:srgbClr val="C00000"/>
                </a:solidFill>
                <a:latin typeface="Times New Roman" panose="02020603050405020304" pitchFamily="18" charset="0"/>
                <a:cs typeface="Times New Roman" panose="02020603050405020304" pitchFamily="18" charset="0"/>
              </a:rPr>
              <a:t>信息爆炸（</a:t>
            </a:r>
            <a:r>
              <a:rPr lang="en-US" altLang="zh-CN" sz="2400" dirty="0">
                <a:solidFill>
                  <a:srgbClr val="C00000"/>
                </a:solidFill>
                <a:latin typeface="Times New Roman" panose="02020603050405020304" pitchFamily="18" charset="0"/>
                <a:cs typeface="Times New Roman" panose="02020603050405020304" pitchFamily="18" charset="0"/>
              </a:rPr>
              <a:t>Implosion</a:t>
            </a:r>
            <a:r>
              <a:rPr lang="zh-CN" altLang="en-US" sz="2400" dirty="0">
                <a:solidFill>
                  <a:srgbClr val="C00000"/>
                </a:solidFill>
                <a:latin typeface="Times New Roman" panose="02020603050405020304" pitchFamily="18" charset="0"/>
                <a:cs typeface="Times New Roman" panose="02020603050405020304" pitchFamily="18" charset="0"/>
              </a:rPr>
              <a:t>）</a:t>
            </a:r>
            <a:endParaRPr lang="en-US" altLang="zh-CN" sz="2400" dirty="0">
              <a:solidFill>
                <a:srgbClr val="C00000"/>
              </a:solidFill>
              <a:latin typeface="Times New Roman" panose="02020603050405020304" pitchFamily="18" charset="0"/>
              <a:cs typeface="Times New Roman" panose="02020603050405020304" pitchFamily="18" charset="0"/>
            </a:endParaRPr>
          </a:p>
          <a:p>
            <a:r>
              <a:rPr lang="zh-CN" altLang="en-US" sz="2400" dirty="0">
                <a:solidFill>
                  <a:srgbClr val="C00000"/>
                </a:solidFill>
                <a:latin typeface="Times New Roman" panose="02020603050405020304" pitchFamily="18" charset="0"/>
                <a:cs typeface="Times New Roman" panose="02020603050405020304" pitchFamily="18" charset="0"/>
              </a:rPr>
              <a:t>重叠（</a:t>
            </a:r>
            <a:r>
              <a:rPr lang="en-US" altLang="zh-CN" sz="2400" dirty="0">
                <a:solidFill>
                  <a:srgbClr val="C00000"/>
                </a:solidFill>
                <a:latin typeface="Times New Roman" panose="02020603050405020304" pitchFamily="18" charset="0"/>
                <a:cs typeface="Times New Roman" panose="02020603050405020304" pitchFamily="18" charset="0"/>
              </a:rPr>
              <a:t>Overlap</a:t>
            </a:r>
            <a:r>
              <a:rPr lang="zh-CN" altLang="en-US" sz="2400" dirty="0">
                <a:solidFill>
                  <a:srgbClr val="C00000"/>
                </a:solidFill>
                <a:latin typeface="Times New Roman" panose="02020603050405020304" pitchFamily="18" charset="0"/>
                <a:cs typeface="Times New Roman" panose="02020603050405020304" pitchFamily="18" charset="0"/>
              </a:rPr>
              <a:t>）</a:t>
            </a:r>
          </a:p>
        </p:txBody>
      </p:sp>
      <p:sp>
        <p:nvSpPr>
          <p:cNvPr id="6" name="文本框 5"/>
          <p:cNvSpPr txBox="1"/>
          <p:nvPr/>
        </p:nvSpPr>
        <p:spPr>
          <a:xfrm>
            <a:off x="3158403" y="2851002"/>
            <a:ext cx="4801314" cy="1200329"/>
          </a:xfrm>
          <a:prstGeom prst="rect">
            <a:avLst/>
          </a:prstGeom>
          <a:noFill/>
        </p:spPr>
        <p:txBody>
          <a:bodyPr wrap="none" rtlCol="0">
            <a:spAutoFit/>
          </a:bodyPr>
          <a:lstStyle/>
          <a:p>
            <a:r>
              <a:rPr lang="zh-CN" altLang="en-US" sz="24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优点：简单、无拓扑维护成本</a:t>
            </a:r>
            <a:endParaRPr lang="en-US" altLang="zh-CN" sz="2400" b="1" dirty="0">
              <a:solidFill>
                <a:schemeClr val="accent5">
                  <a:lumMod val="75000"/>
                </a:schemeClr>
              </a:solidFill>
              <a:latin typeface="微软雅黑" panose="020B0503020204020204" pitchFamily="34" charset="-122"/>
              <a:ea typeface="微软雅黑" panose="020B0503020204020204" pitchFamily="34" charset="-122"/>
            </a:endParaRPr>
          </a:p>
          <a:p>
            <a:r>
              <a:rPr lang="zh-CN" altLang="en-US" sz="2400" b="1" dirty="0">
                <a:solidFill>
                  <a:srgbClr val="C00000"/>
                </a:solidFill>
                <a:latin typeface="微软雅黑" panose="020B0503020204020204" pitchFamily="34" charset="-122"/>
                <a:ea typeface="微软雅黑" panose="020B0503020204020204" pitchFamily="34" charset="-122"/>
              </a:rPr>
              <a:t>缺点：资源浪费、局限于有限范围</a:t>
            </a:r>
            <a:endParaRPr lang="en-US" altLang="zh-CN" sz="2400" b="1" dirty="0">
              <a:solidFill>
                <a:srgbClr val="C00000"/>
              </a:solidFill>
              <a:latin typeface="微软雅黑" panose="020B0503020204020204" pitchFamily="34" charset="-122"/>
              <a:ea typeface="微软雅黑" panose="020B0503020204020204" pitchFamily="34" charset="-122"/>
            </a:endParaRPr>
          </a:p>
          <a:p>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特点：以数据为中心</a:t>
            </a:r>
            <a:endParaRPr lang="en-US" altLang="zh-CN" sz="24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33475214-04E9-4B0F-B03E-58DFF9CB15FC}"/>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74210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blinds(horizontal)">
                                      <p:cBhvr>
                                        <p:cTn id="20" dur="500"/>
                                        <p:tgtEl>
                                          <p:spTgt spid="3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linds(horizontal)">
                                      <p:cBhvr>
                                        <p:cTn id="23" dur="500"/>
                                        <p:tgtEl>
                                          <p:spTgt spid="39"/>
                                        </p:tgtEl>
                                      </p:cBhvr>
                                    </p:animEffect>
                                  </p:childTnLst>
                                </p:cTn>
                              </p:par>
                              <p:par>
                                <p:cTn id="24" presetID="3" presetClass="entr" presetSubtype="1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blinds(horizontal)">
                                      <p:cBhvr>
                                        <p:cTn id="29" dur="500"/>
                                        <p:tgtEl>
                                          <p:spTgt spid="37"/>
                                        </p:tgtEl>
                                      </p:cBhvr>
                                    </p:animEffect>
                                  </p:childTnLst>
                                </p:cTn>
                              </p:par>
                              <p:par>
                                <p:cTn id="30" presetID="3" presetClass="entr" presetSubtype="10" fill="hold"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linds(horizontal)">
                                      <p:cBhvr>
                                        <p:cTn id="32" dur="500"/>
                                        <p:tgtEl>
                                          <p:spTgt spid="3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linds(horizontal)">
                                      <p:cBhvr>
                                        <p:cTn id="35" dur="500"/>
                                        <p:tgtEl>
                                          <p:spTgt spid="38"/>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blinds(horizontal)">
                                      <p:cBhvr>
                                        <p:cTn id="38" dur="500"/>
                                        <p:tgtEl>
                                          <p:spTgt spid="26"/>
                                        </p:tgtEl>
                                      </p:cBhvr>
                                    </p:animEffect>
                                  </p:childTnLst>
                                </p:cTn>
                              </p:par>
                              <p:par>
                                <p:cTn id="39" presetID="3" presetClass="entr" presetSubtype="1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blinds(horizontal)">
                                      <p:cBhvr>
                                        <p:cTn id="44" dur="500"/>
                                        <p:tgtEl>
                                          <p:spTgt spid="24"/>
                                        </p:tgtEl>
                                      </p:cBhvr>
                                    </p:animEffect>
                                  </p:childTnLst>
                                </p:cTn>
                              </p:par>
                              <p:par>
                                <p:cTn id="45" presetID="3" presetClass="entr" presetSubtype="1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blinds(horizontal)">
                                      <p:cBhvr>
                                        <p:cTn id="50" dur="500"/>
                                        <p:tgtEl>
                                          <p:spTgt spid="46"/>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blinds(horizontal)">
                                      <p:cBhvr>
                                        <p:cTn id="53" dur="500"/>
                                        <p:tgtEl>
                                          <p:spTgt spid="23"/>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blinds(horizontal)">
                                      <p:cBhvr>
                                        <p:cTn id="56" dur="500"/>
                                        <p:tgtEl>
                                          <p:spTgt spid="25"/>
                                        </p:tgtEl>
                                      </p:cBhvr>
                                    </p:animEffect>
                                  </p:childTnLst>
                                </p:cTn>
                              </p:par>
                              <p:par>
                                <p:cTn id="57" presetID="3" presetClass="entr" presetSubtype="1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blinds(horizontal)">
                                      <p:cBhvr>
                                        <p:cTn id="59" dur="500"/>
                                        <p:tgtEl>
                                          <p:spTgt spid="17"/>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blinds(horizontal)">
                                      <p:cBhvr>
                                        <p:cTn id="62" dur="500"/>
                                        <p:tgtEl>
                                          <p:spTgt spid="36"/>
                                        </p:tgtEl>
                                      </p:cBhvr>
                                    </p:animEffect>
                                  </p:childTnLst>
                                </p:cTn>
                              </p:par>
                              <p:par>
                                <p:cTn id="63" presetID="3" presetClass="entr" presetSubtype="1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blinds(horizontal)">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blinds(horizontal)">
                                      <p:cBhvr>
                                        <p:cTn id="70" dur="500"/>
                                        <p:tgtEl>
                                          <p:spTgt spid="40"/>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blinds(horizontal)">
                                      <p:cBhvr>
                                        <p:cTn id="75" dur="500"/>
                                        <p:tgtEl>
                                          <p:spTgt spid="47"/>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blinds(horizontal)">
                                      <p:cBhvr>
                                        <p:cTn id="80" dur="500"/>
                                        <p:tgtEl>
                                          <p:spTgt spid="41"/>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blinds(horizontal)">
                                      <p:cBhvr>
                                        <p:cTn id="85" dur="500"/>
                                        <p:tgtEl>
                                          <p:spTgt spid="54"/>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blinds(horizontal)">
                                      <p:cBhvr>
                                        <p:cTn id="88" dur="500"/>
                                        <p:tgtEl>
                                          <p:spTgt spid="53"/>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3"/>
                                        </p:tgtEl>
                                        <p:attrNameLst>
                                          <p:attrName>style.visibility</p:attrName>
                                        </p:attrNameLst>
                                      </p:cBhvr>
                                      <p:to>
                                        <p:strVal val="visible"/>
                                      </p:to>
                                    </p:set>
                                    <p:anim calcmode="lin" valueType="num">
                                      <p:cBhvr>
                                        <p:cTn id="93" dur="500" fill="hold"/>
                                        <p:tgtEl>
                                          <p:spTgt spid="3"/>
                                        </p:tgtEl>
                                        <p:attrNameLst>
                                          <p:attrName>ppt_w</p:attrName>
                                        </p:attrNameLst>
                                      </p:cBhvr>
                                      <p:tavLst>
                                        <p:tav tm="0">
                                          <p:val>
                                            <p:fltVal val="0"/>
                                          </p:val>
                                        </p:tav>
                                        <p:tav tm="100000">
                                          <p:val>
                                            <p:strVal val="#ppt_w"/>
                                          </p:val>
                                        </p:tav>
                                      </p:tavLst>
                                    </p:anim>
                                    <p:anim calcmode="lin" valueType="num">
                                      <p:cBhvr>
                                        <p:cTn id="94" dur="500" fill="hold"/>
                                        <p:tgtEl>
                                          <p:spTgt spid="3"/>
                                        </p:tgtEl>
                                        <p:attrNameLst>
                                          <p:attrName>ppt_h</p:attrName>
                                        </p:attrNameLst>
                                      </p:cBhvr>
                                      <p:tavLst>
                                        <p:tav tm="0">
                                          <p:val>
                                            <p:fltVal val="0"/>
                                          </p:val>
                                        </p:tav>
                                        <p:tav tm="100000">
                                          <p:val>
                                            <p:strVal val="#ppt_h"/>
                                          </p:val>
                                        </p:tav>
                                      </p:tavLst>
                                    </p:anim>
                                    <p:animEffect transition="in" filter="fade">
                                      <p:cBhvr>
                                        <p:cTn id="95" dur="500"/>
                                        <p:tgtEl>
                                          <p:spTgt spid="3"/>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5"/>
                                        </p:tgtEl>
                                        <p:attrNameLst>
                                          <p:attrName>style.visibility</p:attrName>
                                        </p:attrNameLst>
                                      </p:cBhvr>
                                      <p:to>
                                        <p:strVal val="visible"/>
                                      </p:to>
                                    </p:set>
                                    <p:anim calcmode="lin" valueType="num">
                                      <p:cBhvr>
                                        <p:cTn id="98" dur="500" fill="hold"/>
                                        <p:tgtEl>
                                          <p:spTgt spid="5"/>
                                        </p:tgtEl>
                                        <p:attrNameLst>
                                          <p:attrName>ppt_w</p:attrName>
                                        </p:attrNameLst>
                                      </p:cBhvr>
                                      <p:tavLst>
                                        <p:tav tm="0">
                                          <p:val>
                                            <p:fltVal val="0"/>
                                          </p:val>
                                        </p:tav>
                                        <p:tav tm="100000">
                                          <p:val>
                                            <p:strVal val="#ppt_w"/>
                                          </p:val>
                                        </p:tav>
                                      </p:tavLst>
                                    </p:anim>
                                    <p:anim calcmode="lin" valueType="num">
                                      <p:cBhvr>
                                        <p:cTn id="99" dur="500" fill="hold"/>
                                        <p:tgtEl>
                                          <p:spTgt spid="5"/>
                                        </p:tgtEl>
                                        <p:attrNameLst>
                                          <p:attrName>ppt_h</p:attrName>
                                        </p:attrNameLst>
                                      </p:cBhvr>
                                      <p:tavLst>
                                        <p:tav tm="0">
                                          <p:val>
                                            <p:fltVal val="0"/>
                                          </p:val>
                                        </p:tav>
                                        <p:tav tm="100000">
                                          <p:val>
                                            <p:strVal val="#ppt_h"/>
                                          </p:val>
                                        </p:tav>
                                      </p:tavLst>
                                    </p:anim>
                                    <p:animEffect transition="in" filter="fade">
                                      <p:cBhvr>
                                        <p:cTn id="100" dur="500"/>
                                        <p:tgtEl>
                                          <p:spTgt spid="5"/>
                                        </p:tgtEl>
                                      </p:cBhvr>
                                    </p:animEffect>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6"/>
                                        </p:tgtEl>
                                        <p:attrNameLst>
                                          <p:attrName>style.visibility</p:attrName>
                                        </p:attrNameLst>
                                      </p:cBhvr>
                                      <p:to>
                                        <p:strVal val="visible"/>
                                      </p:to>
                                    </p:set>
                                    <p:animEffect transition="in" filter="fade">
                                      <p:cBhvr>
                                        <p:cTn id="105" dur="1000"/>
                                        <p:tgtEl>
                                          <p:spTgt spid="6"/>
                                        </p:tgtEl>
                                      </p:cBhvr>
                                    </p:animEffect>
                                    <p:anim calcmode="lin" valueType="num">
                                      <p:cBhvr>
                                        <p:cTn id="106" dur="1000" fill="hold"/>
                                        <p:tgtEl>
                                          <p:spTgt spid="6"/>
                                        </p:tgtEl>
                                        <p:attrNameLst>
                                          <p:attrName>ppt_x</p:attrName>
                                        </p:attrNameLst>
                                      </p:cBhvr>
                                      <p:tavLst>
                                        <p:tav tm="0">
                                          <p:val>
                                            <p:strVal val="#ppt_x"/>
                                          </p:val>
                                        </p:tav>
                                        <p:tav tm="100000">
                                          <p:val>
                                            <p:strVal val="#ppt_x"/>
                                          </p:val>
                                        </p:tav>
                                      </p:tavLst>
                                    </p:anim>
                                    <p:anim calcmode="lin" valueType="num">
                                      <p:cBhvr>
                                        <p:cTn id="10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36" grpId="0" animBg="1"/>
      <p:bldP spid="37" grpId="0" animBg="1"/>
      <p:bldP spid="38" grpId="0" animBg="1"/>
      <p:bldP spid="39" grpId="0" animBg="1"/>
      <p:bldP spid="40" grpId="0" animBg="1"/>
      <p:bldP spid="46" grpId="0" animBg="1"/>
      <p:bldP spid="53" grpId="0" animBg="1"/>
      <p:bldP spid="54" grpId="0" animBg="1"/>
      <p:bldP spid="3" grpId="0" animBg="1"/>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36</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10" name="文本框 9"/>
          <p:cNvSpPr txBox="1"/>
          <p:nvPr/>
        </p:nvSpPr>
        <p:spPr>
          <a:xfrm>
            <a:off x="272374" y="501947"/>
            <a:ext cx="8615593" cy="707886"/>
          </a:xfrm>
          <a:prstGeom prst="rect">
            <a:avLst/>
          </a:prstGeom>
          <a:noFill/>
        </p:spPr>
        <p:txBody>
          <a:bodyPr wrap="square" rtlCol="0">
            <a:spAutoFit/>
          </a:bodyPr>
          <a:lstStyle/>
          <a:p>
            <a:r>
              <a:rPr lang="en-US" altLang="zh-CN" sz="4000" b="1"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4000" b="1" dirty="0">
                <a:latin typeface="微软雅黑" panose="020B0503020204020204" pitchFamily="34" charset="-122"/>
                <a:ea typeface="微软雅黑" panose="020B0503020204020204" pitchFamily="34" charset="-122"/>
                <a:cs typeface="Times New Roman" panose="02020603050405020304" pitchFamily="18" charset="0"/>
              </a:rPr>
              <a:t>平面路由协议</a:t>
            </a:r>
          </a:p>
        </p:txBody>
      </p:sp>
      <p:sp>
        <p:nvSpPr>
          <p:cNvPr id="2" name="文本框 1"/>
          <p:cNvSpPr txBox="1"/>
          <p:nvPr/>
        </p:nvSpPr>
        <p:spPr>
          <a:xfrm>
            <a:off x="272374" y="1252010"/>
            <a:ext cx="8615594" cy="1661993"/>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flooding</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Gossiping</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路由</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泛洪式（</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flooding</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800" b="1" dirty="0">
                <a:latin typeface="Times New Roman" panose="02020603050405020304" pitchFamily="18" charset="0"/>
                <a:cs typeface="Times New Roman" panose="02020603050405020304" pitchFamily="18" charset="0"/>
              </a:rPr>
              <a:t>原理：</a:t>
            </a:r>
            <a:r>
              <a:rPr lang="zh-CN" altLang="en-US" sz="2800" dirty="0">
                <a:latin typeface="Times New Roman" panose="02020603050405020304" pitchFamily="18" charset="0"/>
                <a:cs typeface="Times New Roman" panose="02020603050405020304" pitchFamily="18" charset="0"/>
              </a:rPr>
              <a:t>向所有邻居节点广播消息</a:t>
            </a:r>
            <a:endParaRPr lang="en-US" altLang="zh-CN" sz="28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3158403" y="2851002"/>
            <a:ext cx="4801314" cy="1200329"/>
          </a:xfrm>
          <a:prstGeom prst="rect">
            <a:avLst/>
          </a:prstGeom>
          <a:noFill/>
        </p:spPr>
        <p:txBody>
          <a:bodyPr wrap="none" rtlCol="0">
            <a:spAutoFit/>
          </a:bodyPr>
          <a:lstStyle/>
          <a:p>
            <a:r>
              <a:rPr lang="zh-CN" altLang="en-US" sz="24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优点：简单、无拓扑维护成本</a:t>
            </a:r>
            <a:endParaRPr lang="en-US" altLang="zh-CN" sz="2400" b="1" dirty="0">
              <a:solidFill>
                <a:schemeClr val="accent5">
                  <a:lumMod val="75000"/>
                </a:schemeClr>
              </a:solidFill>
              <a:latin typeface="微软雅黑" panose="020B0503020204020204" pitchFamily="34" charset="-122"/>
              <a:ea typeface="微软雅黑" panose="020B0503020204020204" pitchFamily="34" charset="-122"/>
            </a:endParaRPr>
          </a:p>
          <a:p>
            <a:r>
              <a:rPr lang="zh-CN" altLang="en-US" sz="2400" b="1" dirty="0">
                <a:solidFill>
                  <a:srgbClr val="C00000"/>
                </a:solidFill>
                <a:latin typeface="微软雅黑" panose="020B0503020204020204" pitchFamily="34" charset="-122"/>
                <a:ea typeface="微软雅黑" panose="020B0503020204020204" pitchFamily="34" charset="-122"/>
              </a:rPr>
              <a:t>缺点：资源浪费、局限于有限范围</a:t>
            </a:r>
            <a:endParaRPr lang="en-US" altLang="zh-CN" sz="2400" b="1" dirty="0">
              <a:solidFill>
                <a:srgbClr val="C00000"/>
              </a:solidFill>
              <a:latin typeface="微软雅黑" panose="020B0503020204020204" pitchFamily="34" charset="-122"/>
              <a:ea typeface="微软雅黑" panose="020B0503020204020204" pitchFamily="34" charset="-122"/>
            </a:endParaRPr>
          </a:p>
          <a:p>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特点：以数据为中心</a:t>
            </a:r>
            <a:endParaRPr lang="en-US" altLang="zh-CN" sz="24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33475214-04E9-4B0F-B03E-58DFF9CB15FC}"/>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grpSp>
        <p:nvGrpSpPr>
          <p:cNvPr id="56" name="组合 55">
            <a:extLst>
              <a:ext uri="{FF2B5EF4-FFF2-40B4-BE49-F238E27FC236}">
                <a16:creationId xmlns:a16="http://schemas.microsoft.com/office/drawing/2014/main" id="{A6448052-D570-4749-8333-3A4FACDA1905}"/>
              </a:ext>
            </a:extLst>
          </p:cNvPr>
          <p:cNvGrpSpPr/>
          <p:nvPr/>
        </p:nvGrpSpPr>
        <p:grpSpPr>
          <a:xfrm>
            <a:off x="1643379" y="4108714"/>
            <a:ext cx="4403939" cy="1789073"/>
            <a:chOff x="4266021" y="3692564"/>
            <a:chExt cx="4403939" cy="1789073"/>
          </a:xfrm>
        </p:grpSpPr>
        <p:grpSp>
          <p:nvGrpSpPr>
            <p:cNvPr id="57" name="Group 3">
              <a:extLst>
                <a:ext uri="{FF2B5EF4-FFF2-40B4-BE49-F238E27FC236}">
                  <a16:creationId xmlns:a16="http://schemas.microsoft.com/office/drawing/2014/main" id="{B2D1F4DD-C0B5-496D-BF19-79820C5EAC5C}"/>
                </a:ext>
              </a:extLst>
            </p:cNvPr>
            <p:cNvGrpSpPr>
              <a:grpSpLocks/>
            </p:cNvGrpSpPr>
            <p:nvPr/>
          </p:nvGrpSpPr>
          <p:grpSpPr bwMode="auto">
            <a:xfrm>
              <a:off x="4266021" y="3719674"/>
              <a:ext cx="4403939" cy="1761963"/>
              <a:chOff x="2830" y="2278"/>
              <a:chExt cx="2013" cy="936"/>
            </a:xfrm>
          </p:grpSpPr>
          <p:sp>
            <p:nvSpPr>
              <p:cNvPr id="59" name="AutoShape 4" descr="25%">
                <a:extLst>
                  <a:ext uri="{FF2B5EF4-FFF2-40B4-BE49-F238E27FC236}">
                    <a16:creationId xmlns:a16="http://schemas.microsoft.com/office/drawing/2014/main" id="{0A27FEEB-C4AC-4686-A640-55C760E08B92}"/>
                  </a:ext>
                </a:extLst>
              </p:cNvPr>
              <p:cNvSpPr>
                <a:spLocks noChangeArrowheads="1"/>
              </p:cNvSpPr>
              <p:nvPr/>
            </p:nvSpPr>
            <p:spPr bwMode="auto">
              <a:xfrm flipH="1" flipV="1">
                <a:off x="2830" y="2343"/>
                <a:ext cx="1261" cy="315"/>
              </a:xfrm>
              <a:prstGeom prst="triangle">
                <a:avLst>
                  <a:gd name="adj" fmla="val 50000"/>
                </a:avLst>
              </a:prstGeom>
              <a:pattFill prst="pct25">
                <a:fgClr>
                  <a:schemeClr val="tx1"/>
                </a:fgClr>
                <a:bgClr>
                  <a:srgbClr val="C2C2C2"/>
                </a:bgClr>
              </a:pattFill>
              <a:ln w="12700">
                <a:solidFill>
                  <a:schemeClr val="tx1"/>
                </a:solidFill>
                <a:miter lim="800000"/>
                <a:headEnd type="none" w="sm" len="sm"/>
                <a:tailEnd type="none" w="sm" len="sm"/>
              </a:ln>
            </p:spPr>
            <p:txBody>
              <a:bodyPr rot="10800000" wrap="none" anchor="ctr"/>
              <a:lstStyle/>
              <a:p>
                <a:pPr algn="ctr">
                  <a:lnSpc>
                    <a:spcPct val="85000"/>
                  </a:lnSpc>
                  <a:spcBef>
                    <a:spcPct val="50000"/>
                  </a:spcBef>
                </a:pPr>
                <a:endParaRPr kumimoji="0" lang="en-US" altLang="zh-CN" sz="2200">
                  <a:latin typeface="Arial" charset="0"/>
                </a:endParaRPr>
              </a:p>
            </p:txBody>
          </p:sp>
          <p:sp>
            <p:nvSpPr>
              <p:cNvPr id="60" name="Text Box 7">
                <a:extLst>
                  <a:ext uri="{FF2B5EF4-FFF2-40B4-BE49-F238E27FC236}">
                    <a16:creationId xmlns:a16="http://schemas.microsoft.com/office/drawing/2014/main" id="{0F569C3E-16A7-48CC-9E31-284ADA78DCC6}"/>
                  </a:ext>
                </a:extLst>
              </p:cNvPr>
              <p:cNvSpPr txBox="1">
                <a:spLocks noChangeArrowheads="1"/>
              </p:cNvSpPr>
              <p:nvPr/>
            </p:nvSpPr>
            <p:spPr bwMode="auto">
              <a:xfrm>
                <a:off x="3391" y="2633"/>
                <a:ext cx="136" cy="202"/>
              </a:xfrm>
              <a:prstGeom prst="rect">
                <a:avLst/>
              </a:prstGeom>
              <a:solidFill>
                <a:schemeClr val="accent1"/>
              </a:solidFill>
              <a:ln w="9525">
                <a:noFill/>
                <a:miter lim="800000"/>
                <a:headEnd/>
                <a:tailEnd/>
              </a:ln>
            </p:spPr>
            <p:txBody>
              <a:bodyPr wrap="square">
                <a:spAutoFit/>
              </a:bodyPr>
              <a:lstStyle/>
              <a:p>
                <a:pPr algn="ctr">
                  <a:lnSpc>
                    <a:spcPct val="85000"/>
                  </a:lnSpc>
                  <a:spcBef>
                    <a:spcPct val="50000"/>
                  </a:spcBef>
                </a:pPr>
                <a:r>
                  <a:rPr kumimoji="0" lang="en-US" altLang="zh-CN" sz="2200" dirty="0">
                    <a:solidFill>
                      <a:schemeClr val="bg2"/>
                    </a:solidFill>
                    <a:latin typeface="Arial" charset="0"/>
                  </a:rPr>
                  <a:t>A</a:t>
                </a:r>
              </a:p>
            </p:txBody>
          </p:sp>
          <p:grpSp>
            <p:nvGrpSpPr>
              <p:cNvPr id="61" name="Group 8">
                <a:extLst>
                  <a:ext uri="{FF2B5EF4-FFF2-40B4-BE49-F238E27FC236}">
                    <a16:creationId xmlns:a16="http://schemas.microsoft.com/office/drawing/2014/main" id="{1654DC9E-EC66-4F17-A919-6ED94BA61FB1}"/>
                  </a:ext>
                </a:extLst>
              </p:cNvPr>
              <p:cNvGrpSpPr>
                <a:grpSpLocks/>
              </p:cNvGrpSpPr>
              <p:nvPr/>
            </p:nvGrpSpPr>
            <p:grpSpPr bwMode="auto">
              <a:xfrm>
                <a:off x="4108" y="2655"/>
                <a:ext cx="221" cy="207"/>
                <a:chOff x="3866" y="1286"/>
                <a:chExt cx="221" cy="207"/>
              </a:xfrm>
            </p:grpSpPr>
            <p:sp>
              <p:nvSpPr>
                <p:cNvPr id="74" name="Freeform 9">
                  <a:extLst>
                    <a:ext uri="{FF2B5EF4-FFF2-40B4-BE49-F238E27FC236}">
                      <a16:creationId xmlns:a16="http://schemas.microsoft.com/office/drawing/2014/main" id="{B730890F-BA69-49B8-8643-D21D9DE6A14B}"/>
                    </a:ext>
                  </a:extLst>
                </p:cNvPr>
                <p:cNvSpPr>
                  <a:spLocks/>
                </p:cNvSpPr>
                <p:nvPr/>
              </p:nvSpPr>
              <p:spPr bwMode="auto">
                <a:xfrm>
                  <a:off x="3866" y="1286"/>
                  <a:ext cx="221" cy="207"/>
                </a:xfrm>
                <a:custGeom>
                  <a:avLst/>
                  <a:gdLst>
                    <a:gd name="T0" fmla="*/ 100 w 288"/>
                    <a:gd name="T1" fmla="*/ 39 h 287"/>
                    <a:gd name="T2" fmla="*/ 97 w 288"/>
                    <a:gd name="T3" fmla="*/ 23 h 287"/>
                    <a:gd name="T4" fmla="*/ 86 w 288"/>
                    <a:gd name="T5" fmla="*/ 11 h 287"/>
                    <a:gd name="T6" fmla="*/ 69 w 288"/>
                    <a:gd name="T7" fmla="*/ 2 h 287"/>
                    <a:gd name="T8" fmla="*/ 50 w 288"/>
                    <a:gd name="T9" fmla="*/ 0 h 287"/>
                    <a:gd name="T10" fmla="*/ 31 w 288"/>
                    <a:gd name="T11" fmla="*/ 2 h 287"/>
                    <a:gd name="T12" fmla="*/ 14 w 288"/>
                    <a:gd name="T13" fmla="*/ 11 h 287"/>
                    <a:gd name="T14" fmla="*/ 3 w 288"/>
                    <a:gd name="T15" fmla="*/ 23 h 287"/>
                    <a:gd name="T16" fmla="*/ 0 w 288"/>
                    <a:gd name="T17" fmla="*/ 39 h 287"/>
                    <a:gd name="T18" fmla="*/ 3 w 288"/>
                    <a:gd name="T19" fmla="*/ 54 h 287"/>
                    <a:gd name="T20" fmla="*/ 14 w 288"/>
                    <a:gd name="T21" fmla="*/ 66 h 287"/>
                    <a:gd name="T22" fmla="*/ 31 w 288"/>
                    <a:gd name="T23" fmla="*/ 76 h 287"/>
                    <a:gd name="T24" fmla="*/ 50 w 288"/>
                    <a:gd name="T25" fmla="*/ 77 h 287"/>
                    <a:gd name="T26" fmla="*/ 69 w 288"/>
                    <a:gd name="T27" fmla="*/ 76 h 287"/>
                    <a:gd name="T28" fmla="*/ 86 w 288"/>
                    <a:gd name="T29" fmla="*/ 66 h 287"/>
                    <a:gd name="T30" fmla="*/ 97 w 288"/>
                    <a:gd name="T31" fmla="*/ 54 h 287"/>
                    <a:gd name="T32" fmla="*/ 100 w 288"/>
                    <a:gd name="T33" fmla="*/ 39 h 2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8"/>
                    <a:gd name="T52" fmla="*/ 0 h 287"/>
                    <a:gd name="T53" fmla="*/ 288 w 288"/>
                    <a:gd name="T54" fmla="*/ 287 h 2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8" h="287">
                      <a:moveTo>
                        <a:pt x="288" y="144"/>
                      </a:moveTo>
                      <a:lnTo>
                        <a:pt x="280" y="88"/>
                      </a:lnTo>
                      <a:lnTo>
                        <a:pt x="248" y="40"/>
                      </a:lnTo>
                      <a:lnTo>
                        <a:pt x="200" y="8"/>
                      </a:lnTo>
                      <a:lnTo>
                        <a:pt x="144" y="0"/>
                      </a:lnTo>
                      <a:lnTo>
                        <a:pt x="88" y="8"/>
                      </a:lnTo>
                      <a:lnTo>
                        <a:pt x="40" y="40"/>
                      </a:lnTo>
                      <a:lnTo>
                        <a:pt x="8" y="88"/>
                      </a:lnTo>
                      <a:lnTo>
                        <a:pt x="0" y="144"/>
                      </a:lnTo>
                      <a:lnTo>
                        <a:pt x="8" y="199"/>
                      </a:lnTo>
                      <a:lnTo>
                        <a:pt x="40" y="247"/>
                      </a:lnTo>
                      <a:lnTo>
                        <a:pt x="88" y="279"/>
                      </a:lnTo>
                      <a:lnTo>
                        <a:pt x="144" y="287"/>
                      </a:lnTo>
                      <a:lnTo>
                        <a:pt x="200" y="279"/>
                      </a:lnTo>
                      <a:lnTo>
                        <a:pt x="248" y="247"/>
                      </a:lnTo>
                      <a:lnTo>
                        <a:pt x="280" y="199"/>
                      </a:lnTo>
                      <a:lnTo>
                        <a:pt x="288" y="144"/>
                      </a:lnTo>
                      <a:close/>
                    </a:path>
                  </a:pathLst>
                </a:custGeom>
                <a:solidFill>
                  <a:schemeClr val="tx1"/>
                </a:solidFill>
                <a:ln w="9525">
                  <a:noFill/>
                  <a:round/>
                  <a:headEnd/>
                  <a:tailEnd/>
                </a:ln>
              </p:spPr>
              <p:txBody>
                <a:bodyPr/>
                <a:lstStyle/>
                <a:p>
                  <a:endParaRPr lang="zh-CN" altLang="en-US"/>
                </a:p>
              </p:txBody>
            </p:sp>
            <p:sp>
              <p:nvSpPr>
                <p:cNvPr id="75" name="Text Box 10">
                  <a:extLst>
                    <a:ext uri="{FF2B5EF4-FFF2-40B4-BE49-F238E27FC236}">
                      <a16:creationId xmlns:a16="http://schemas.microsoft.com/office/drawing/2014/main" id="{F5AE5CFF-FFFA-48C3-A9E7-7E26FB5F8753}"/>
                    </a:ext>
                  </a:extLst>
                </p:cNvPr>
                <p:cNvSpPr txBox="1">
                  <a:spLocks noChangeArrowheads="1"/>
                </p:cNvSpPr>
                <p:nvPr/>
              </p:nvSpPr>
              <p:spPr bwMode="auto">
                <a:xfrm>
                  <a:off x="3917" y="1304"/>
                  <a:ext cx="137" cy="142"/>
                </a:xfrm>
                <a:prstGeom prst="rect">
                  <a:avLst/>
                </a:prstGeom>
                <a:noFill/>
                <a:ln w="9525">
                  <a:noFill/>
                  <a:miter lim="800000"/>
                  <a:headEnd/>
                  <a:tailEnd/>
                </a:ln>
              </p:spPr>
              <p:txBody>
                <a:bodyPr wrap="none">
                  <a:spAutoFit/>
                </a:bodyPr>
                <a:lstStyle/>
                <a:p>
                  <a:pPr algn="ctr">
                    <a:lnSpc>
                      <a:spcPct val="85000"/>
                    </a:lnSpc>
                    <a:spcBef>
                      <a:spcPct val="50000"/>
                    </a:spcBef>
                  </a:pPr>
                  <a:r>
                    <a:rPr kumimoji="0" lang="en-US" altLang="zh-CN" sz="2200">
                      <a:solidFill>
                        <a:schemeClr val="bg2"/>
                      </a:solidFill>
                      <a:latin typeface="Arial" charset="0"/>
                    </a:rPr>
                    <a:t>B</a:t>
                  </a:r>
                </a:p>
              </p:txBody>
            </p:sp>
          </p:grpSp>
          <p:sp>
            <p:nvSpPr>
              <p:cNvPr id="62" name="Text Box 13">
                <a:extLst>
                  <a:ext uri="{FF2B5EF4-FFF2-40B4-BE49-F238E27FC236}">
                    <a16:creationId xmlns:a16="http://schemas.microsoft.com/office/drawing/2014/main" id="{A315F9AE-DC89-4129-ABAE-52BCB236401F}"/>
                  </a:ext>
                </a:extLst>
              </p:cNvPr>
              <p:cNvSpPr txBox="1">
                <a:spLocks noChangeArrowheads="1"/>
              </p:cNvSpPr>
              <p:nvPr/>
            </p:nvSpPr>
            <p:spPr bwMode="auto">
              <a:xfrm flipH="1">
                <a:off x="3772" y="3005"/>
                <a:ext cx="132" cy="204"/>
              </a:xfrm>
              <a:prstGeom prst="rect">
                <a:avLst/>
              </a:prstGeom>
              <a:solidFill>
                <a:schemeClr val="accent1"/>
              </a:solidFill>
              <a:ln w="9525">
                <a:noFill/>
                <a:miter lim="800000"/>
                <a:headEnd/>
                <a:tailEnd/>
              </a:ln>
            </p:spPr>
            <p:txBody>
              <a:bodyPr wrap="square">
                <a:spAutoFit/>
              </a:bodyPr>
              <a:lstStyle/>
              <a:p>
                <a:pPr algn="ctr">
                  <a:lnSpc>
                    <a:spcPct val="85000"/>
                  </a:lnSpc>
                  <a:spcBef>
                    <a:spcPct val="50000"/>
                  </a:spcBef>
                </a:pPr>
                <a:r>
                  <a:rPr kumimoji="0" lang="en-US" altLang="zh-CN" sz="2200" dirty="0">
                    <a:solidFill>
                      <a:schemeClr val="bg2"/>
                    </a:solidFill>
                    <a:latin typeface="Arial" charset="0"/>
                  </a:rPr>
                  <a:t>C</a:t>
                </a:r>
              </a:p>
            </p:txBody>
          </p:sp>
          <p:sp>
            <p:nvSpPr>
              <p:cNvPr id="63" name="Line 14">
                <a:extLst>
                  <a:ext uri="{FF2B5EF4-FFF2-40B4-BE49-F238E27FC236}">
                    <a16:creationId xmlns:a16="http://schemas.microsoft.com/office/drawing/2014/main" id="{65DD0923-4853-4106-8723-440C3F6916D2}"/>
                  </a:ext>
                </a:extLst>
              </p:cNvPr>
              <p:cNvSpPr>
                <a:spLocks noChangeShapeType="1"/>
              </p:cNvSpPr>
              <p:nvPr/>
            </p:nvSpPr>
            <p:spPr bwMode="auto">
              <a:xfrm>
                <a:off x="3527" y="2828"/>
                <a:ext cx="232" cy="231"/>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64" name="Line 15">
                <a:extLst>
                  <a:ext uri="{FF2B5EF4-FFF2-40B4-BE49-F238E27FC236}">
                    <a16:creationId xmlns:a16="http://schemas.microsoft.com/office/drawing/2014/main" id="{31CA4E65-BD98-4FA5-B056-7E5BC482817C}"/>
                  </a:ext>
                </a:extLst>
              </p:cNvPr>
              <p:cNvSpPr>
                <a:spLocks noChangeShapeType="1"/>
              </p:cNvSpPr>
              <p:nvPr/>
            </p:nvSpPr>
            <p:spPr bwMode="auto">
              <a:xfrm flipH="1">
                <a:off x="3924" y="2833"/>
                <a:ext cx="227" cy="231"/>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65" name="Line 16">
                <a:extLst>
                  <a:ext uri="{FF2B5EF4-FFF2-40B4-BE49-F238E27FC236}">
                    <a16:creationId xmlns:a16="http://schemas.microsoft.com/office/drawing/2014/main" id="{CFA5B196-1A5F-4F51-927C-9F970DF7DF4F}"/>
                  </a:ext>
                </a:extLst>
              </p:cNvPr>
              <p:cNvSpPr>
                <a:spLocks noChangeShapeType="1"/>
              </p:cNvSpPr>
              <p:nvPr/>
            </p:nvSpPr>
            <p:spPr bwMode="auto">
              <a:xfrm>
                <a:off x="3421" y="2978"/>
                <a:ext cx="231" cy="231"/>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sp>
            <p:nvSpPr>
              <p:cNvPr id="66" name="Line 17">
                <a:extLst>
                  <a:ext uri="{FF2B5EF4-FFF2-40B4-BE49-F238E27FC236}">
                    <a16:creationId xmlns:a16="http://schemas.microsoft.com/office/drawing/2014/main" id="{48BFFA23-7E56-4428-BEF0-BBEC0382BA5E}"/>
                  </a:ext>
                </a:extLst>
              </p:cNvPr>
              <p:cNvSpPr>
                <a:spLocks noChangeShapeType="1"/>
              </p:cNvSpPr>
              <p:nvPr/>
            </p:nvSpPr>
            <p:spPr bwMode="auto">
              <a:xfrm flipH="1">
                <a:off x="4058" y="2983"/>
                <a:ext cx="227" cy="231"/>
              </a:xfrm>
              <a:prstGeom prst="line">
                <a:avLst/>
              </a:prstGeom>
              <a:noFill/>
              <a:ln w="28575" cap="rnd">
                <a:solidFill>
                  <a:schemeClr val="tx1"/>
                </a:solidFill>
                <a:prstDash val="sysDot"/>
                <a:round/>
                <a:headEnd type="none" w="sm" len="sm"/>
                <a:tailEnd type="triangle" w="med" len="med"/>
              </a:ln>
            </p:spPr>
            <p:txBody>
              <a:bodyPr wrap="none" anchor="ctr"/>
              <a:lstStyle/>
              <a:p>
                <a:endParaRPr lang="zh-CN" altLang="en-US"/>
              </a:p>
            </p:txBody>
          </p:sp>
          <p:sp>
            <p:nvSpPr>
              <p:cNvPr id="67" name="Text Box 18">
                <a:extLst>
                  <a:ext uri="{FF2B5EF4-FFF2-40B4-BE49-F238E27FC236}">
                    <a16:creationId xmlns:a16="http://schemas.microsoft.com/office/drawing/2014/main" id="{108DC6ED-EF63-49A6-BC0D-BDFB71F6A854}"/>
                  </a:ext>
                </a:extLst>
              </p:cNvPr>
              <p:cNvSpPr txBox="1">
                <a:spLocks noChangeArrowheads="1"/>
              </p:cNvSpPr>
              <p:nvPr/>
            </p:nvSpPr>
            <p:spPr bwMode="auto">
              <a:xfrm>
                <a:off x="4246" y="2993"/>
                <a:ext cx="214" cy="123"/>
              </a:xfrm>
              <a:prstGeom prst="rect">
                <a:avLst/>
              </a:prstGeom>
              <a:noFill/>
              <a:ln w="9525">
                <a:noFill/>
                <a:miter lim="800000"/>
                <a:headEnd/>
                <a:tailEnd/>
              </a:ln>
            </p:spPr>
            <p:txBody>
              <a:bodyPr wrap="none">
                <a:spAutoFit/>
              </a:bodyPr>
              <a:lstStyle/>
              <a:p>
                <a:pPr algn="ctr">
                  <a:lnSpc>
                    <a:spcPct val="85000"/>
                  </a:lnSpc>
                  <a:spcBef>
                    <a:spcPct val="50000"/>
                  </a:spcBef>
                </a:pPr>
                <a:r>
                  <a:rPr kumimoji="0" lang="en-US" altLang="zh-CN" sz="1800">
                    <a:latin typeface="Arial" charset="0"/>
                  </a:rPr>
                  <a:t>(r,s)</a:t>
                </a:r>
                <a:endParaRPr kumimoji="0" lang="en-US" altLang="zh-CN" sz="2200">
                  <a:latin typeface="Arial" charset="0"/>
                </a:endParaRPr>
              </a:p>
            </p:txBody>
          </p:sp>
          <p:sp>
            <p:nvSpPr>
              <p:cNvPr id="68" name="Text Box 19">
                <a:extLst>
                  <a:ext uri="{FF2B5EF4-FFF2-40B4-BE49-F238E27FC236}">
                    <a16:creationId xmlns:a16="http://schemas.microsoft.com/office/drawing/2014/main" id="{1555155D-229E-4482-8EDC-555A059E0199}"/>
                  </a:ext>
                </a:extLst>
              </p:cNvPr>
              <p:cNvSpPr txBox="1">
                <a:spLocks noChangeArrowheads="1"/>
              </p:cNvSpPr>
              <p:nvPr/>
            </p:nvSpPr>
            <p:spPr bwMode="auto">
              <a:xfrm>
                <a:off x="3241" y="3010"/>
                <a:ext cx="223" cy="123"/>
              </a:xfrm>
              <a:prstGeom prst="rect">
                <a:avLst/>
              </a:prstGeom>
              <a:noFill/>
              <a:ln w="9525">
                <a:noFill/>
                <a:miter lim="800000"/>
                <a:headEnd/>
                <a:tailEnd/>
              </a:ln>
            </p:spPr>
            <p:txBody>
              <a:bodyPr wrap="none">
                <a:spAutoFit/>
              </a:bodyPr>
              <a:lstStyle/>
              <a:p>
                <a:pPr algn="ctr">
                  <a:lnSpc>
                    <a:spcPct val="85000"/>
                  </a:lnSpc>
                  <a:spcBef>
                    <a:spcPct val="50000"/>
                  </a:spcBef>
                </a:pPr>
                <a:r>
                  <a:rPr kumimoji="0" lang="en-US" altLang="zh-CN" sz="1800" dirty="0">
                    <a:latin typeface="Arial" charset="0"/>
                  </a:rPr>
                  <a:t>(</a:t>
                </a:r>
                <a:r>
                  <a:rPr kumimoji="0" lang="en-US" altLang="zh-CN" sz="1800" dirty="0" err="1">
                    <a:latin typeface="Arial" charset="0"/>
                  </a:rPr>
                  <a:t>q,r</a:t>
                </a:r>
                <a:r>
                  <a:rPr kumimoji="0" lang="en-US" altLang="zh-CN" sz="1800" dirty="0">
                    <a:latin typeface="Arial" charset="0"/>
                  </a:rPr>
                  <a:t>)</a:t>
                </a:r>
                <a:endParaRPr kumimoji="0" lang="en-US" altLang="zh-CN" sz="2200" dirty="0">
                  <a:latin typeface="Arial" charset="0"/>
                </a:endParaRPr>
              </a:p>
            </p:txBody>
          </p:sp>
          <p:sp>
            <p:nvSpPr>
              <p:cNvPr id="69" name="AutoShape 20" descr="25%">
                <a:extLst>
                  <a:ext uri="{FF2B5EF4-FFF2-40B4-BE49-F238E27FC236}">
                    <a16:creationId xmlns:a16="http://schemas.microsoft.com/office/drawing/2014/main" id="{B85F9CA7-2B1D-41EA-8FCA-64FF0EB5FA1D}"/>
                  </a:ext>
                </a:extLst>
              </p:cNvPr>
              <p:cNvSpPr>
                <a:spLocks noChangeArrowheads="1"/>
              </p:cNvSpPr>
              <p:nvPr/>
            </p:nvSpPr>
            <p:spPr bwMode="auto">
              <a:xfrm flipH="1" flipV="1">
                <a:off x="3582" y="2345"/>
                <a:ext cx="1261" cy="315"/>
              </a:xfrm>
              <a:prstGeom prst="triangle">
                <a:avLst>
                  <a:gd name="adj" fmla="val 50000"/>
                </a:avLst>
              </a:prstGeom>
              <a:pattFill prst="pct25">
                <a:fgClr>
                  <a:schemeClr val="tx1"/>
                </a:fgClr>
                <a:bgClr>
                  <a:srgbClr val="C2C2C2"/>
                </a:bgClr>
              </a:pattFill>
              <a:ln w="12700">
                <a:solidFill>
                  <a:schemeClr val="tx1"/>
                </a:solidFill>
                <a:miter lim="800000"/>
                <a:headEnd type="none" w="sm" len="sm"/>
                <a:tailEnd type="none" w="sm" len="sm"/>
              </a:ln>
            </p:spPr>
            <p:txBody>
              <a:bodyPr wrap="none" anchor="ctr"/>
              <a:lstStyle/>
              <a:p>
                <a:endParaRPr lang="zh-CN" altLang="en-US"/>
              </a:p>
            </p:txBody>
          </p:sp>
          <p:sp>
            <p:nvSpPr>
              <p:cNvPr id="70" name="AutoShape 21" descr="25%">
                <a:extLst>
                  <a:ext uri="{FF2B5EF4-FFF2-40B4-BE49-F238E27FC236}">
                    <a16:creationId xmlns:a16="http://schemas.microsoft.com/office/drawing/2014/main" id="{2F9C2985-AB27-48F1-85D8-7145D0FF8F61}"/>
                  </a:ext>
                </a:extLst>
              </p:cNvPr>
              <p:cNvSpPr>
                <a:spLocks noChangeArrowheads="1"/>
              </p:cNvSpPr>
              <p:nvPr/>
            </p:nvSpPr>
            <p:spPr bwMode="auto">
              <a:xfrm flipV="1">
                <a:off x="3595" y="2346"/>
                <a:ext cx="445" cy="132"/>
              </a:xfrm>
              <a:prstGeom prst="triangle">
                <a:avLst>
                  <a:gd name="adj" fmla="val 50000"/>
                </a:avLst>
              </a:prstGeom>
              <a:pattFill prst="pct25">
                <a:fgClr>
                  <a:schemeClr val="tx1"/>
                </a:fgClr>
                <a:bgClr>
                  <a:schemeClr val="bg2"/>
                </a:bgClr>
              </a:pattFill>
              <a:ln w="12700">
                <a:solidFill>
                  <a:schemeClr val="tx1"/>
                </a:solidFill>
                <a:miter lim="800000"/>
                <a:headEnd type="none" w="sm" len="sm"/>
                <a:tailEnd type="none" w="sm" len="sm"/>
              </a:ln>
            </p:spPr>
            <p:txBody>
              <a:bodyPr wrap="none" anchor="ctr"/>
              <a:lstStyle/>
              <a:p>
                <a:endParaRPr lang="zh-CN" altLang="en-US"/>
              </a:p>
            </p:txBody>
          </p:sp>
          <p:sp>
            <p:nvSpPr>
              <p:cNvPr id="71" name="Text Box 22">
                <a:extLst>
                  <a:ext uri="{FF2B5EF4-FFF2-40B4-BE49-F238E27FC236}">
                    <a16:creationId xmlns:a16="http://schemas.microsoft.com/office/drawing/2014/main" id="{158F1F78-DA29-4995-9722-4BC1E88FDBD5}"/>
                  </a:ext>
                </a:extLst>
              </p:cNvPr>
              <p:cNvSpPr txBox="1">
                <a:spLocks noChangeArrowheads="1"/>
              </p:cNvSpPr>
              <p:nvPr/>
            </p:nvSpPr>
            <p:spPr bwMode="auto">
              <a:xfrm>
                <a:off x="3349" y="2342"/>
                <a:ext cx="163" cy="216"/>
              </a:xfrm>
              <a:prstGeom prst="rect">
                <a:avLst/>
              </a:prstGeom>
              <a:noFill/>
              <a:ln w="9525">
                <a:noFill/>
                <a:miter lim="800000"/>
                <a:headEnd/>
                <a:tailEnd/>
              </a:ln>
            </p:spPr>
            <p:txBody>
              <a:bodyPr wrap="none">
                <a:spAutoFit/>
              </a:bodyPr>
              <a:lstStyle/>
              <a:p>
                <a:pPr algn="ctr">
                  <a:lnSpc>
                    <a:spcPct val="85000"/>
                  </a:lnSpc>
                  <a:spcBef>
                    <a:spcPct val="50000"/>
                  </a:spcBef>
                </a:pPr>
                <a:r>
                  <a:rPr kumimoji="0" lang="en-US" altLang="zh-CN" sz="2400" dirty="0">
                    <a:latin typeface="Arial" charset="0"/>
                  </a:rPr>
                  <a:t>q</a:t>
                </a:r>
              </a:p>
            </p:txBody>
          </p:sp>
          <p:sp>
            <p:nvSpPr>
              <p:cNvPr id="72" name="Text Box 23">
                <a:extLst>
                  <a:ext uri="{FF2B5EF4-FFF2-40B4-BE49-F238E27FC236}">
                    <a16:creationId xmlns:a16="http://schemas.microsoft.com/office/drawing/2014/main" id="{F681A5F0-20D1-4EFF-84B9-80FB01FAF9F1}"/>
                  </a:ext>
                </a:extLst>
              </p:cNvPr>
              <p:cNvSpPr txBox="1">
                <a:spLocks noChangeArrowheads="1"/>
              </p:cNvSpPr>
              <p:nvPr/>
            </p:nvSpPr>
            <p:spPr bwMode="auto">
              <a:xfrm>
                <a:off x="4165" y="2342"/>
                <a:ext cx="155" cy="216"/>
              </a:xfrm>
              <a:prstGeom prst="rect">
                <a:avLst/>
              </a:prstGeom>
              <a:noFill/>
              <a:ln w="9525">
                <a:noFill/>
                <a:miter lim="800000"/>
                <a:headEnd/>
                <a:tailEnd/>
              </a:ln>
            </p:spPr>
            <p:txBody>
              <a:bodyPr wrap="none">
                <a:spAutoFit/>
              </a:bodyPr>
              <a:lstStyle/>
              <a:p>
                <a:pPr algn="ctr">
                  <a:lnSpc>
                    <a:spcPct val="85000"/>
                  </a:lnSpc>
                  <a:spcBef>
                    <a:spcPct val="50000"/>
                  </a:spcBef>
                </a:pPr>
                <a:r>
                  <a:rPr kumimoji="0" lang="en-US" altLang="zh-CN" sz="2400" dirty="0">
                    <a:latin typeface="Arial" charset="0"/>
                  </a:rPr>
                  <a:t>s</a:t>
                </a:r>
              </a:p>
            </p:txBody>
          </p:sp>
          <p:sp>
            <p:nvSpPr>
              <p:cNvPr id="73" name="Text Box 24">
                <a:extLst>
                  <a:ext uri="{FF2B5EF4-FFF2-40B4-BE49-F238E27FC236}">
                    <a16:creationId xmlns:a16="http://schemas.microsoft.com/office/drawing/2014/main" id="{2A46F3F0-984E-4827-AD62-2F07883442B1}"/>
                  </a:ext>
                </a:extLst>
              </p:cNvPr>
              <p:cNvSpPr txBox="1">
                <a:spLocks noChangeArrowheads="1"/>
              </p:cNvSpPr>
              <p:nvPr/>
            </p:nvSpPr>
            <p:spPr bwMode="auto">
              <a:xfrm>
                <a:off x="3791" y="2278"/>
                <a:ext cx="65" cy="142"/>
              </a:xfrm>
              <a:prstGeom prst="rect">
                <a:avLst/>
              </a:prstGeom>
              <a:noFill/>
              <a:ln w="9525">
                <a:noFill/>
                <a:miter lim="800000"/>
                <a:headEnd/>
                <a:tailEnd/>
              </a:ln>
            </p:spPr>
            <p:txBody>
              <a:bodyPr wrap="none">
                <a:spAutoFit/>
              </a:bodyPr>
              <a:lstStyle/>
              <a:p>
                <a:pPr algn="ctr">
                  <a:lnSpc>
                    <a:spcPct val="85000"/>
                  </a:lnSpc>
                  <a:spcBef>
                    <a:spcPct val="50000"/>
                  </a:spcBef>
                </a:pPr>
                <a:endParaRPr kumimoji="0" lang="en-US" altLang="zh-CN" sz="2200">
                  <a:latin typeface="Arial" charset="0"/>
                </a:endParaRPr>
              </a:p>
            </p:txBody>
          </p:sp>
        </p:grpSp>
        <p:sp>
          <p:nvSpPr>
            <p:cNvPr id="58" name="Text Box 54">
              <a:extLst>
                <a:ext uri="{FF2B5EF4-FFF2-40B4-BE49-F238E27FC236}">
                  <a16:creationId xmlns:a16="http://schemas.microsoft.com/office/drawing/2014/main" id="{F84CCB2B-48E9-4EDA-8508-0FE6A64304BA}"/>
                </a:ext>
              </a:extLst>
            </p:cNvPr>
            <p:cNvSpPr txBox="1">
              <a:spLocks noChangeArrowheads="1"/>
            </p:cNvSpPr>
            <p:nvPr/>
          </p:nvSpPr>
          <p:spPr bwMode="auto">
            <a:xfrm>
              <a:off x="6287037" y="3692564"/>
              <a:ext cx="287258" cy="461665"/>
            </a:xfrm>
            <a:prstGeom prst="rect">
              <a:avLst/>
            </a:prstGeom>
            <a:noFill/>
            <a:ln w="9525">
              <a:noFill/>
              <a:miter lim="800000"/>
              <a:headEnd/>
              <a:tailEnd/>
            </a:ln>
          </p:spPr>
          <p:txBody>
            <a:bodyPr wrap="none">
              <a:spAutoFit/>
            </a:bodyPr>
            <a:lstStyle/>
            <a:p>
              <a:r>
                <a:rPr kumimoji="0" lang="en-US" altLang="zh-CN" sz="2400" b="0" dirty="0">
                  <a:latin typeface="Times New Roman" panose="02020603050405020304" pitchFamily="18" charset="0"/>
                  <a:cs typeface="Times New Roman" panose="02020603050405020304" pitchFamily="18" charset="0"/>
                </a:rPr>
                <a:t>r</a:t>
              </a:r>
            </a:p>
          </p:txBody>
        </p:sp>
      </p:grpSp>
    </p:spTree>
    <p:extLst>
      <p:ext uri="{BB962C8B-B14F-4D97-AF65-F5344CB8AC3E}">
        <p14:creationId xmlns:p14="http://schemas.microsoft.com/office/powerpoint/2010/main" val="18062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92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1482" y="2706470"/>
            <a:ext cx="3204102" cy="235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lstStyle/>
          <a:p>
            <a:fld id="{E663D701-F6D3-45BB-89CD-EE32AA93FC3C}" type="slidenum">
              <a:rPr lang="zh-CN" altLang="en-US" smtClean="0"/>
              <a:t>37</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0377" y="518360"/>
            <a:ext cx="8615594" cy="223138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闲聊法（</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Gossiping</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endParaRPr lang="en-US" altLang="zh-CN" sz="2400" b="1" dirty="0">
              <a:latin typeface="Times New Roman" panose="02020603050405020304" pitchFamily="18" charset="0"/>
              <a:cs typeface="Times New Roman" panose="02020603050405020304" pitchFamily="18" charset="0"/>
            </a:endParaRPr>
          </a:p>
          <a:p>
            <a:pPr>
              <a:spcAft>
                <a:spcPts val="600"/>
              </a:spcAft>
            </a:pPr>
            <a:r>
              <a:rPr lang="zh-CN" altLang="en-US" sz="2400" b="1" dirty="0">
                <a:latin typeface="Times New Roman" panose="02020603050405020304" pitchFamily="18" charset="0"/>
                <a:cs typeface="Times New Roman" panose="02020603050405020304" pitchFamily="18" charset="0"/>
              </a:rPr>
              <a:t>原理：</a:t>
            </a:r>
            <a:r>
              <a:rPr lang="en-US" altLang="zh-CN" sz="2400" b="1" dirty="0">
                <a:latin typeface="Times New Roman" panose="02020603050405020304" pitchFamily="18" charset="0"/>
                <a:cs typeface="Times New Roman" panose="02020603050405020304" pitchFamily="18" charset="0"/>
              </a:rPr>
              <a:t> </a:t>
            </a:r>
          </a:p>
          <a:p>
            <a:pPr>
              <a:spcAft>
                <a:spcPts val="600"/>
              </a:spcAft>
            </a:pPr>
            <a:r>
              <a:rPr lang="zh-CN" altLang="en-US" sz="2400" dirty="0">
                <a:latin typeface="Times New Roman" panose="02020603050405020304" pitchFamily="18" charset="0"/>
                <a:cs typeface="Times New Roman" panose="02020603050405020304" pitchFamily="18" charset="0"/>
              </a:rPr>
              <a:t>泛洪法的改进算法，即接收节点</a:t>
            </a:r>
            <a:r>
              <a:rPr lang="zh-CN" altLang="en-US" sz="2400" dirty="0">
                <a:solidFill>
                  <a:srgbClr val="FF0000"/>
                </a:solidFill>
                <a:latin typeface="Times New Roman" panose="02020603050405020304" pitchFamily="18" charset="0"/>
                <a:cs typeface="Times New Roman" panose="02020603050405020304" pitchFamily="18" charset="0"/>
              </a:rPr>
              <a:t>随机选择</a:t>
            </a:r>
            <a:r>
              <a:rPr lang="zh-CN" altLang="en-US" sz="2400" dirty="0">
                <a:latin typeface="Times New Roman" panose="02020603050405020304" pitchFamily="18" charset="0"/>
                <a:cs typeface="Times New Roman" panose="02020603050405020304" pitchFamily="18" charset="0"/>
              </a:rPr>
              <a:t>一个邻居节点转发数据包。</a:t>
            </a:r>
            <a:endParaRPr lang="en-US" altLang="zh-CN" sz="2400" dirty="0">
              <a:latin typeface="Times New Roman" panose="02020603050405020304" pitchFamily="18" charset="0"/>
              <a:cs typeface="Times New Roman" panose="02020603050405020304" pitchFamily="18" charset="0"/>
            </a:endParaRPr>
          </a:p>
        </p:txBody>
      </p:sp>
      <p:sp>
        <p:nvSpPr>
          <p:cNvPr id="104" name="文本框 103">
            <a:extLst>
              <a:ext uri="{FF2B5EF4-FFF2-40B4-BE49-F238E27FC236}">
                <a16:creationId xmlns:a16="http://schemas.microsoft.com/office/drawing/2014/main" id="{24A329A3-A95B-4165-B0F5-906C8FE97AAB}"/>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106" name="文本框 105">
            <a:extLst>
              <a:ext uri="{FF2B5EF4-FFF2-40B4-BE49-F238E27FC236}">
                <a16:creationId xmlns:a16="http://schemas.microsoft.com/office/drawing/2014/main" id="{D93FDF28-DB07-4ECA-A2D9-DC473AB74E6B}"/>
              </a:ext>
            </a:extLst>
          </p:cNvPr>
          <p:cNvSpPr txBox="1"/>
          <p:nvPr/>
        </p:nvSpPr>
        <p:spPr>
          <a:xfrm>
            <a:off x="270377" y="5184695"/>
            <a:ext cx="8615594" cy="1354217"/>
          </a:xfrm>
          <a:prstGeom prst="rect">
            <a:avLst/>
          </a:prstGeom>
          <a:noFill/>
        </p:spPr>
        <p:txBody>
          <a:bodyPr wrap="square" rtlCol="0">
            <a:spAutoFit/>
          </a:bodyPr>
          <a:lstStyle/>
          <a:p>
            <a:pPr>
              <a:spcAft>
                <a:spcPts val="600"/>
              </a:spcAft>
            </a:pPr>
            <a:r>
              <a:rPr lang="zh-CN" altLang="en-US" sz="2400" b="1" dirty="0">
                <a:latin typeface="Times New Roman" panose="02020603050405020304" pitchFamily="18" charset="0"/>
                <a:cs typeface="Times New Roman" panose="02020603050405020304" pitchFamily="18" charset="0"/>
              </a:rPr>
              <a:t>特点：</a:t>
            </a:r>
            <a:endParaRPr lang="en-US" altLang="zh-CN" sz="2400" b="1" dirty="0">
              <a:latin typeface="Times New Roman" panose="02020603050405020304" pitchFamily="18" charset="0"/>
              <a:cs typeface="Times New Roman" panose="02020603050405020304" pitchFamily="18" charset="0"/>
            </a:endParaRPr>
          </a:p>
          <a:p>
            <a:pPr>
              <a:spcAft>
                <a:spcPts val="600"/>
              </a:spcAft>
            </a:pPr>
            <a:r>
              <a:rPr lang="zh-CN" altLang="en-US" sz="2400" dirty="0">
                <a:solidFill>
                  <a:srgbClr val="FF0000"/>
                </a:solidFill>
                <a:latin typeface="Times New Roman" panose="02020603050405020304" pitchFamily="18" charset="0"/>
                <a:cs typeface="Times New Roman" panose="02020603050405020304" pitchFamily="18" charset="0"/>
              </a:rPr>
              <a:t>优点</a:t>
            </a:r>
            <a:r>
              <a:rPr lang="zh-CN" altLang="en-US" sz="2400" dirty="0">
                <a:latin typeface="Times New Roman" panose="02020603050405020304" pitchFamily="18" charset="0"/>
                <a:cs typeface="Times New Roman" panose="02020603050405020304" pitchFamily="18" charset="0"/>
              </a:rPr>
              <a:t>：避免信息爆炸</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zh-CN" altLang="en-US" sz="2400" dirty="0">
                <a:solidFill>
                  <a:srgbClr val="FF0000"/>
                </a:solidFill>
                <a:latin typeface="Times New Roman" panose="02020603050405020304" pitchFamily="18" charset="0"/>
                <a:cs typeface="Times New Roman" panose="02020603050405020304" pitchFamily="18" charset="0"/>
              </a:rPr>
              <a:t>缺点</a:t>
            </a:r>
            <a:r>
              <a:rPr lang="zh-CN" altLang="en-US" sz="2400" dirty="0">
                <a:latin typeface="Times New Roman" panose="02020603050405020304" pitchFamily="18" charset="0"/>
                <a:cs typeface="Times New Roman" panose="02020603050405020304" pitchFamily="18" charset="0"/>
              </a:rPr>
              <a:t>：存在传输延迟，存在数据重叠</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par>
                                <p:cTn id="13" presetID="31" presetClass="entr" presetSubtype="0" fill="hold" nodeType="withEffect">
                                  <p:stCondLst>
                                    <p:cond delay="0"/>
                                  </p:stCondLst>
                                  <p:childTnLst>
                                    <p:set>
                                      <p:cBhvr>
                                        <p:cTn id="14" dur="1" fill="hold">
                                          <p:stCondLst>
                                            <p:cond delay="0"/>
                                          </p:stCondLst>
                                        </p:cTn>
                                        <p:tgtEl>
                                          <p:spTgt spid="103"/>
                                        </p:tgtEl>
                                        <p:attrNameLst>
                                          <p:attrName>style.visibility</p:attrName>
                                        </p:attrNameLst>
                                      </p:cBhvr>
                                      <p:to>
                                        <p:strVal val="visible"/>
                                      </p:to>
                                    </p:set>
                                    <p:anim calcmode="lin" valueType="num">
                                      <p:cBhvr>
                                        <p:cTn id="15" dur="1000" fill="hold"/>
                                        <p:tgtEl>
                                          <p:spTgt spid="103"/>
                                        </p:tgtEl>
                                        <p:attrNameLst>
                                          <p:attrName>ppt_w</p:attrName>
                                        </p:attrNameLst>
                                      </p:cBhvr>
                                      <p:tavLst>
                                        <p:tav tm="0">
                                          <p:val>
                                            <p:fltVal val="0"/>
                                          </p:val>
                                        </p:tav>
                                        <p:tav tm="100000">
                                          <p:val>
                                            <p:strVal val="#ppt_w"/>
                                          </p:val>
                                        </p:tav>
                                      </p:tavLst>
                                    </p:anim>
                                    <p:anim calcmode="lin" valueType="num">
                                      <p:cBhvr>
                                        <p:cTn id="16" dur="1000" fill="hold"/>
                                        <p:tgtEl>
                                          <p:spTgt spid="103"/>
                                        </p:tgtEl>
                                        <p:attrNameLst>
                                          <p:attrName>ppt_h</p:attrName>
                                        </p:attrNameLst>
                                      </p:cBhvr>
                                      <p:tavLst>
                                        <p:tav tm="0">
                                          <p:val>
                                            <p:fltVal val="0"/>
                                          </p:val>
                                        </p:tav>
                                        <p:tav tm="100000">
                                          <p:val>
                                            <p:strVal val="#ppt_h"/>
                                          </p:val>
                                        </p:tav>
                                      </p:tavLst>
                                    </p:anim>
                                    <p:anim calcmode="lin" valueType="num">
                                      <p:cBhvr>
                                        <p:cTn id="17" dur="1000" fill="hold"/>
                                        <p:tgtEl>
                                          <p:spTgt spid="103"/>
                                        </p:tgtEl>
                                        <p:attrNameLst>
                                          <p:attrName>style.rotation</p:attrName>
                                        </p:attrNameLst>
                                      </p:cBhvr>
                                      <p:tavLst>
                                        <p:tav tm="0">
                                          <p:val>
                                            <p:fltVal val="90"/>
                                          </p:val>
                                        </p:tav>
                                        <p:tav tm="100000">
                                          <p:val>
                                            <p:fltVal val="0"/>
                                          </p:val>
                                        </p:tav>
                                      </p:tavLst>
                                    </p:anim>
                                    <p:animEffect transition="in" filter="fade">
                                      <p:cBhvr>
                                        <p:cTn id="18" dur="1000"/>
                                        <p:tgtEl>
                                          <p:spTgt spid="10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6">
                                            <p:txEl>
                                              <p:pRg st="0" end="0"/>
                                            </p:txEl>
                                          </p:spTgt>
                                        </p:tgtEl>
                                        <p:attrNameLst>
                                          <p:attrName>style.visibility</p:attrName>
                                        </p:attrNameLst>
                                      </p:cBhvr>
                                      <p:to>
                                        <p:strVal val="visible"/>
                                      </p:to>
                                    </p:set>
                                    <p:animEffect transition="in" filter="fade">
                                      <p:cBhvr>
                                        <p:cTn id="23" dur="500"/>
                                        <p:tgtEl>
                                          <p:spTgt spid="10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6">
                                            <p:txEl>
                                              <p:pRg st="1" end="1"/>
                                            </p:txEl>
                                          </p:spTgt>
                                        </p:tgtEl>
                                        <p:attrNameLst>
                                          <p:attrName>style.visibility</p:attrName>
                                        </p:attrNameLst>
                                      </p:cBhvr>
                                      <p:to>
                                        <p:strVal val="visible"/>
                                      </p:to>
                                    </p:set>
                                    <p:animEffect transition="in" filter="fade">
                                      <p:cBhvr>
                                        <p:cTn id="28" dur="500"/>
                                        <p:tgtEl>
                                          <p:spTgt spid="106">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6">
                                            <p:txEl>
                                              <p:pRg st="2" end="2"/>
                                            </p:txEl>
                                          </p:spTgt>
                                        </p:tgtEl>
                                        <p:attrNameLst>
                                          <p:attrName>style.visibility</p:attrName>
                                        </p:attrNameLst>
                                      </p:cBhvr>
                                      <p:to>
                                        <p:strVal val="visible"/>
                                      </p:to>
                                    </p:set>
                                    <p:animEffect transition="in" filter="fade">
                                      <p:cBhvr>
                                        <p:cTn id="33" dur="500"/>
                                        <p:tgtEl>
                                          <p:spTgt spid="1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38</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0377" y="518360"/>
            <a:ext cx="8617592" cy="5266442"/>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2. SPIN</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协议</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800" b="1" dirty="0">
                <a:latin typeface="Times New Roman" panose="02020603050405020304" pitchFamily="18" charset="0"/>
                <a:cs typeface="Times New Roman" panose="02020603050405020304" pitchFamily="18" charset="0"/>
              </a:rPr>
              <a:t>SPIN: </a:t>
            </a:r>
            <a:r>
              <a:rPr lang="en-US" altLang="zh-CN" sz="2800" dirty="0">
                <a:solidFill>
                  <a:srgbClr val="FF0000"/>
                </a:solidFill>
                <a:latin typeface="Times New Roman" panose="02020603050405020304" pitchFamily="18" charset="0"/>
                <a:cs typeface="Times New Roman" panose="02020603050405020304" pitchFamily="18" charset="0"/>
              </a:rPr>
              <a:t>S</a:t>
            </a:r>
            <a:r>
              <a:rPr lang="en-US" altLang="zh-CN" sz="2800" dirty="0">
                <a:latin typeface="Times New Roman" panose="02020603050405020304" pitchFamily="18" charset="0"/>
                <a:cs typeface="Times New Roman" panose="02020603050405020304" pitchFamily="18" charset="0"/>
              </a:rPr>
              <a:t>ensor </a:t>
            </a:r>
            <a:r>
              <a:rPr lang="en-US" altLang="zh-CN" sz="2800" dirty="0">
                <a:solidFill>
                  <a:srgbClr val="FF0000"/>
                </a:solidFill>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rPr>
              <a:t>rotocol for </a:t>
            </a:r>
            <a:r>
              <a:rPr lang="en-US" altLang="zh-CN" sz="2800" dirty="0">
                <a:solidFill>
                  <a:srgbClr val="FF0000"/>
                </a:solidFill>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nformation via </a:t>
            </a:r>
            <a:r>
              <a:rPr lang="en-US" altLang="zh-CN" sz="2800" dirty="0">
                <a:solidFill>
                  <a:srgbClr val="FF0000"/>
                </a:solidFill>
                <a:latin typeface="Times New Roman" panose="02020603050405020304" pitchFamily="18" charset="0"/>
                <a:cs typeface="Times New Roman" panose="02020603050405020304" pitchFamily="18" charset="0"/>
              </a:rPr>
              <a:t>N</a:t>
            </a:r>
            <a:r>
              <a:rPr lang="en-US" altLang="zh-CN" sz="2800" dirty="0">
                <a:latin typeface="Times New Roman" panose="02020603050405020304" pitchFamily="18" charset="0"/>
                <a:cs typeface="Times New Roman" panose="02020603050405020304" pitchFamily="18" charset="0"/>
              </a:rPr>
              <a:t>egotiation</a:t>
            </a:r>
          </a:p>
          <a:p>
            <a:pPr>
              <a:lnSpc>
                <a:spcPct val="130000"/>
              </a:lnSpc>
              <a:spcAft>
                <a:spcPts val="600"/>
              </a:spcAft>
            </a:pPr>
            <a:r>
              <a:rPr lang="zh-CN" altLang="en-US" sz="2800" b="1" u="sng" dirty="0">
                <a:latin typeface="Times New Roman" panose="02020603050405020304" pitchFamily="18" charset="0"/>
                <a:cs typeface="Times New Roman" panose="02020603050405020304" pitchFamily="18" charset="0"/>
              </a:rPr>
              <a:t>基本思想</a:t>
            </a:r>
            <a:r>
              <a:rPr lang="zh-CN" altLang="en-US" sz="2800" b="1"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通过</a:t>
            </a:r>
            <a:r>
              <a:rPr lang="zh-CN" altLang="en-US" sz="2800" dirty="0">
                <a:solidFill>
                  <a:srgbClr val="FF0000"/>
                </a:solidFill>
                <a:latin typeface="Times New Roman" panose="02020603050405020304" pitchFamily="18" charset="0"/>
                <a:cs typeface="Times New Roman" panose="02020603050405020304" pitchFamily="18" charset="0"/>
              </a:rPr>
              <a:t>节点间协商</a:t>
            </a:r>
            <a:r>
              <a:rPr lang="zh-CN" altLang="en-US" sz="2800" dirty="0">
                <a:latin typeface="Times New Roman" panose="02020603050405020304" pitchFamily="18" charset="0"/>
                <a:cs typeface="Times New Roman" panose="02020603050405020304" pitchFamily="18" charset="0"/>
              </a:rPr>
              <a:t>方式减少数据传输量，只广播其他节点没有的数据。</a:t>
            </a:r>
          </a:p>
          <a:p>
            <a:pPr>
              <a:lnSpc>
                <a:spcPct val="130000"/>
              </a:lnSpc>
              <a:spcAft>
                <a:spcPts val="600"/>
              </a:spcAft>
            </a:pPr>
            <a:r>
              <a:rPr lang="zh-CN" altLang="en-US" sz="2800" b="1" u="sng" dirty="0">
                <a:latin typeface="Times New Roman" panose="02020603050405020304" pitchFamily="18" charset="0"/>
                <a:cs typeface="Times New Roman" panose="02020603050405020304" pitchFamily="18" charset="0"/>
              </a:rPr>
              <a:t>目的</a:t>
            </a:r>
            <a:r>
              <a:rPr lang="zh-CN" altLang="en-US" sz="2800" b="1"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考虑到邻近节点所感知的数据具有相似性， 因而可以通过协商</a:t>
            </a:r>
            <a:r>
              <a:rPr lang="zh-CN" altLang="en-US" sz="2800" dirty="0">
                <a:solidFill>
                  <a:srgbClr val="FF0000"/>
                </a:solidFill>
                <a:latin typeface="Times New Roman" panose="02020603050405020304" pitchFamily="18" charset="0"/>
                <a:cs typeface="Times New Roman" panose="02020603050405020304" pitchFamily="18" charset="0"/>
              </a:rPr>
              <a:t>减少</a:t>
            </a:r>
            <a:r>
              <a:rPr lang="en-US" altLang="zh-CN" sz="2800" dirty="0">
                <a:solidFill>
                  <a:srgbClr val="FF0000"/>
                </a:solidFill>
                <a:latin typeface="Times New Roman" panose="02020603050405020304" pitchFamily="18" charset="0"/>
                <a:cs typeface="Times New Roman" panose="02020603050405020304" pitchFamily="18" charset="0"/>
              </a:rPr>
              <a:t>WSN</a:t>
            </a:r>
            <a:r>
              <a:rPr lang="zh-CN" altLang="en-US" sz="2800" dirty="0">
                <a:solidFill>
                  <a:srgbClr val="FF0000"/>
                </a:solidFill>
                <a:latin typeface="Times New Roman" panose="02020603050405020304" pitchFamily="18" charset="0"/>
                <a:cs typeface="Times New Roman" panose="02020603050405020304" pitchFamily="18" charset="0"/>
              </a:rPr>
              <a:t>数据的冗余性</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SPIN</a:t>
            </a:r>
            <a:r>
              <a:rPr lang="zh-CN" altLang="en-US" sz="2800" dirty="0">
                <a:latin typeface="Times New Roman" panose="02020603050405020304" pitchFamily="18" charset="0"/>
                <a:cs typeface="Times New Roman" panose="02020603050405020304" pitchFamily="18" charset="0"/>
              </a:rPr>
              <a:t>是对泛洪</a:t>
            </a:r>
            <a:r>
              <a:rPr lang="en-US" altLang="zh-CN" sz="2800" dirty="0">
                <a:latin typeface="Times New Roman" panose="02020603050405020304" pitchFamily="18" charset="0"/>
                <a:cs typeface="Times New Roman" panose="02020603050405020304" pitchFamily="18" charset="0"/>
              </a:rPr>
              <a:t>(flooding)</a:t>
            </a:r>
            <a:r>
              <a:rPr lang="zh-CN" altLang="en-US" sz="2800" dirty="0">
                <a:latin typeface="Times New Roman" panose="02020603050405020304" pitchFamily="18" charset="0"/>
                <a:cs typeface="Times New Roman" panose="02020603050405020304" pitchFamily="18" charset="0"/>
              </a:rPr>
              <a:t>协议的一种改进。</a:t>
            </a:r>
            <a:endParaRPr lang="en-US" altLang="zh-CN" sz="2800" dirty="0">
              <a:latin typeface="Times New Roman" panose="02020603050405020304" pitchFamily="18" charset="0"/>
              <a:cs typeface="Times New Roman" panose="02020603050405020304" pitchFamily="18" charset="0"/>
            </a:endParaRPr>
          </a:p>
          <a:p>
            <a:pPr>
              <a:lnSpc>
                <a:spcPct val="130000"/>
              </a:lnSpc>
              <a:spcAft>
                <a:spcPts val="600"/>
              </a:spcAft>
            </a:pPr>
            <a:r>
              <a:rPr lang="zh-CN" altLang="en-US" sz="2800" b="1" u="sng" dirty="0">
                <a:latin typeface="Times New Roman" panose="02020603050405020304" pitchFamily="18" charset="0"/>
                <a:cs typeface="Times New Roman" panose="02020603050405020304" pitchFamily="18" charset="0"/>
              </a:rPr>
              <a:t>工作模式</a:t>
            </a:r>
            <a:r>
              <a:rPr lang="zh-CN" altLang="en-US" sz="28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a:p>
            <a:pPr>
              <a:lnSpc>
                <a:spcPct val="130000"/>
              </a:lnSpc>
              <a:spcAft>
                <a:spcPts val="600"/>
              </a:spcAft>
            </a:pPr>
            <a:r>
              <a:rPr lang="en-US" altLang="zh-CN" sz="2800" dirty="0">
                <a:latin typeface="Times New Roman" panose="02020603050405020304" pitchFamily="18" charset="0"/>
                <a:cs typeface="Times New Roman" panose="02020603050405020304" pitchFamily="18" charset="0"/>
              </a:rPr>
              <a:t>SPIN-PP</a:t>
            </a:r>
            <a:r>
              <a:rPr lang="zh-CN" altLang="en-US" sz="2800" dirty="0">
                <a:latin typeface="Times New Roman" panose="02020603050405020304" pitchFamily="18" charset="0"/>
                <a:cs typeface="Times New Roman" panose="02020603050405020304" pitchFamily="18" charset="0"/>
              </a:rPr>
              <a:t>和</a:t>
            </a:r>
            <a:r>
              <a:rPr lang="en-US" altLang="zh-CN" sz="2800" dirty="0">
                <a:latin typeface="Times New Roman" panose="02020603050405020304" pitchFamily="18" charset="0"/>
                <a:cs typeface="Times New Roman" panose="02020603050405020304" pitchFamily="18" charset="0"/>
              </a:rPr>
              <a:t>SPIN-EC</a:t>
            </a:r>
          </a:p>
        </p:txBody>
      </p:sp>
      <p:sp>
        <p:nvSpPr>
          <p:cNvPr id="6" name="文本框 5">
            <a:extLst>
              <a:ext uri="{FF2B5EF4-FFF2-40B4-BE49-F238E27FC236}">
                <a16:creationId xmlns:a16="http://schemas.microsoft.com/office/drawing/2014/main" id="{94820814-84DF-4620-AD40-413E18E5C378}"/>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7" name="文本框 6">
            <a:extLst>
              <a:ext uri="{FF2B5EF4-FFF2-40B4-BE49-F238E27FC236}">
                <a16:creationId xmlns:a16="http://schemas.microsoft.com/office/drawing/2014/main" id="{A1E31D04-35E5-4C61-8AAA-21928371D66B}"/>
              </a:ext>
            </a:extLst>
          </p:cNvPr>
          <p:cNvSpPr txBox="1"/>
          <p:nvPr/>
        </p:nvSpPr>
        <p:spPr>
          <a:xfrm>
            <a:off x="150931" y="5833130"/>
            <a:ext cx="8120148" cy="523220"/>
          </a:xfrm>
          <a:prstGeom prst="rect">
            <a:avLst/>
          </a:prstGeom>
          <a:noFill/>
        </p:spPr>
        <p:txBody>
          <a:bodyPr wrap="square">
            <a:spAutoFit/>
          </a:bodyPr>
          <a:lstStyle/>
          <a:p>
            <a:r>
              <a:rPr lang="en-US" altLang="zh-CN" sz="2800" dirty="0">
                <a:solidFill>
                  <a:srgbClr val="C00000"/>
                </a:solidFill>
                <a:latin typeface="Times New Roman" panose="02020603050405020304" pitchFamily="18" charset="0"/>
                <a:cs typeface="Times New Roman" panose="02020603050405020304" pitchFamily="18" charset="0"/>
              </a:rPr>
              <a:t> SPIN-EC</a:t>
            </a:r>
            <a:r>
              <a:rPr lang="zh-CN" altLang="en-US" sz="2800" dirty="0">
                <a:solidFill>
                  <a:srgbClr val="C00000"/>
                </a:solidFill>
                <a:latin typeface="Times New Roman" panose="02020603050405020304" pitchFamily="18" charset="0"/>
                <a:cs typeface="Times New Roman" panose="02020603050405020304" pitchFamily="18" charset="0"/>
              </a:rPr>
              <a:t>在</a:t>
            </a:r>
            <a:r>
              <a:rPr lang="en-US" altLang="zh-CN" sz="2800" dirty="0">
                <a:solidFill>
                  <a:srgbClr val="C00000"/>
                </a:solidFill>
                <a:latin typeface="Times New Roman" panose="02020603050405020304" pitchFamily="18" charset="0"/>
                <a:cs typeface="Times New Roman" panose="02020603050405020304" pitchFamily="18" charset="0"/>
              </a:rPr>
              <a:t>SPIN-PP </a:t>
            </a:r>
            <a:r>
              <a:rPr lang="zh-CN" altLang="en-US" sz="2800" dirty="0">
                <a:solidFill>
                  <a:srgbClr val="C00000"/>
                </a:solidFill>
                <a:latin typeface="Times New Roman" panose="02020603050405020304" pitchFamily="18" charset="0"/>
                <a:cs typeface="Times New Roman" panose="02020603050405020304" pitchFamily="18" charset="0"/>
              </a:rPr>
              <a:t>的基础上考虑了节点剩余能量</a:t>
            </a:r>
            <a:endParaRPr lang="zh-CN" altLang="en-US" sz="2800" dirty="0">
              <a:solidFill>
                <a:srgbClr val="C00000"/>
              </a:solidFill>
            </a:endParaRPr>
          </a:p>
        </p:txBody>
      </p:sp>
    </p:spTree>
    <p:extLst>
      <p:ext uri="{BB962C8B-B14F-4D97-AF65-F5344CB8AC3E}">
        <p14:creationId xmlns:p14="http://schemas.microsoft.com/office/powerpoint/2010/main" val="127326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fade">
                                      <p:cBhvr>
                                        <p:cTn id="25" dur="500"/>
                                        <p:tgtEl>
                                          <p:spTgt spid="2">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39</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0377" y="518360"/>
            <a:ext cx="8617592" cy="1031051"/>
          </a:xfrm>
          <a:prstGeom prst="rect">
            <a:avLst/>
          </a:prstGeom>
          <a:noFill/>
        </p:spPr>
        <p:txBody>
          <a:bodyPr wrap="square" rtlCol="0">
            <a:spAutoFit/>
          </a:bodyPr>
          <a:lstStyle/>
          <a:p>
            <a:pPr>
              <a:spcAft>
                <a:spcPts val="600"/>
              </a:spcAft>
            </a:pPr>
            <a:r>
              <a:rPr lang="en-US" altLang="zh-CN" sz="2800" b="1" u="sng" dirty="0">
                <a:latin typeface="Times New Roman" panose="02020603050405020304" pitchFamily="18" charset="0"/>
                <a:cs typeface="Times New Roman" panose="02020603050405020304" pitchFamily="18" charset="0"/>
              </a:rPr>
              <a:t>SPIN</a:t>
            </a:r>
            <a:r>
              <a:rPr lang="zh-CN" altLang="en-US" sz="2800" b="1" u="sng" dirty="0">
                <a:latin typeface="Times New Roman" panose="02020603050405020304" pitchFamily="18" charset="0"/>
                <a:cs typeface="Times New Roman" panose="02020603050405020304" pitchFamily="18" charset="0"/>
              </a:rPr>
              <a:t>工作流程</a:t>
            </a:r>
            <a:r>
              <a:rPr lang="zh-CN" altLang="en-US" sz="28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a:p>
            <a:pPr>
              <a:spcAft>
                <a:spcPts val="600"/>
              </a:spcAft>
            </a:pPr>
            <a:r>
              <a:rPr lang="en-US" altLang="zh-CN" sz="2800" dirty="0">
                <a:latin typeface="Times New Roman" panose="02020603050405020304" pitchFamily="18" charset="0"/>
                <a:cs typeface="Times New Roman" panose="02020603050405020304" pitchFamily="18" charset="0"/>
              </a:rPr>
              <a:t>① SPIN</a:t>
            </a:r>
            <a:r>
              <a:rPr lang="zh-CN" altLang="en-US" sz="2800" dirty="0">
                <a:latin typeface="Times New Roman" panose="02020603050405020304" pitchFamily="18" charset="0"/>
                <a:cs typeface="Times New Roman" panose="02020603050405020304" pitchFamily="18" charset="0"/>
              </a:rPr>
              <a:t>的三次握手机制，采用如下的三种协议消息</a:t>
            </a:r>
            <a:endParaRPr lang="en-US" altLang="zh-CN" sz="2800" dirty="0">
              <a:latin typeface="Times New Roman" panose="02020603050405020304" pitchFamily="18" charset="0"/>
              <a:cs typeface="Times New Roman" panose="02020603050405020304" pitchFamily="18" charset="0"/>
            </a:endParaRPr>
          </a:p>
        </p:txBody>
      </p:sp>
      <p:sp>
        <p:nvSpPr>
          <p:cNvPr id="6" name="Oval 4" descr="50%"/>
          <p:cNvSpPr>
            <a:spLocks noChangeArrowheads="1"/>
          </p:cNvSpPr>
          <p:nvPr/>
        </p:nvSpPr>
        <p:spPr bwMode="auto">
          <a:xfrm>
            <a:off x="601182" y="1996699"/>
            <a:ext cx="666750" cy="609600"/>
          </a:xfrm>
          <a:prstGeom prst="ellipse">
            <a:avLst/>
          </a:prstGeom>
          <a:pattFill prst="pct50">
            <a:fgClr>
              <a:schemeClr val="accent1"/>
            </a:fgClr>
            <a:bgClr>
              <a:schemeClr val="bg1"/>
            </a:bgClr>
          </a:pattFill>
          <a:ln w="9525">
            <a:solidFill>
              <a:schemeClr val="tx1"/>
            </a:solidFill>
            <a:round/>
            <a:headEnd/>
            <a:tailEnd/>
          </a:ln>
        </p:spPr>
        <p:txBody>
          <a:bodyPr wrap="none" anchor="ctr"/>
          <a:lstStyle/>
          <a:p>
            <a:pPr algn="ctr"/>
            <a:r>
              <a:rPr lang="en-US" altLang="zh-CN" sz="2400" b="0">
                <a:latin typeface="Times New Roman" pitchFamily="18" charset="0"/>
              </a:rPr>
              <a:t>A</a:t>
            </a:r>
          </a:p>
        </p:txBody>
      </p:sp>
      <p:sp>
        <p:nvSpPr>
          <p:cNvPr id="9" name="Oval 5" descr="50%"/>
          <p:cNvSpPr>
            <a:spLocks noChangeArrowheads="1"/>
          </p:cNvSpPr>
          <p:nvPr/>
        </p:nvSpPr>
        <p:spPr bwMode="auto">
          <a:xfrm>
            <a:off x="2982432" y="1996699"/>
            <a:ext cx="666750" cy="609600"/>
          </a:xfrm>
          <a:prstGeom prst="ellipse">
            <a:avLst/>
          </a:prstGeom>
          <a:pattFill prst="pct50">
            <a:fgClr>
              <a:schemeClr val="accent1"/>
            </a:fgClr>
            <a:bgClr>
              <a:schemeClr val="bg1"/>
            </a:bgClr>
          </a:pattFill>
          <a:ln w="9525">
            <a:solidFill>
              <a:schemeClr val="tx1"/>
            </a:solidFill>
            <a:round/>
            <a:headEnd/>
            <a:tailEnd/>
          </a:ln>
        </p:spPr>
        <p:txBody>
          <a:bodyPr wrap="none" anchor="ctr"/>
          <a:lstStyle/>
          <a:p>
            <a:pPr algn="ctr"/>
            <a:r>
              <a:rPr lang="en-US" altLang="zh-CN" sz="2400" b="0">
                <a:latin typeface="Times New Roman" pitchFamily="18" charset="0"/>
              </a:rPr>
              <a:t>B</a:t>
            </a:r>
          </a:p>
        </p:txBody>
      </p:sp>
      <p:cxnSp>
        <p:nvCxnSpPr>
          <p:cNvPr id="10" name="AutoShape 6"/>
          <p:cNvCxnSpPr>
            <a:cxnSpLocks noChangeShapeType="1"/>
            <a:stCxn id="6" idx="6"/>
            <a:endCxn id="9" idx="2"/>
          </p:cNvCxnSpPr>
          <p:nvPr/>
        </p:nvCxnSpPr>
        <p:spPr bwMode="auto">
          <a:xfrm>
            <a:off x="1267932" y="2301499"/>
            <a:ext cx="1714500" cy="0"/>
          </a:xfrm>
          <a:prstGeom prst="straightConnector1">
            <a:avLst/>
          </a:prstGeom>
          <a:noFill/>
          <a:ln w="28575">
            <a:solidFill>
              <a:schemeClr val="tx1"/>
            </a:solidFill>
            <a:round/>
            <a:headEnd/>
            <a:tailEnd type="triangle" w="med" len="med"/>
          </a:ln>
        </p:spPr>
      </p:cxnSp>
      <p:sp>
        <p:nvSpPr>
          <p:cNvPr id="11" name="Rectangle 7" descr="50%"/>
          <p:cNvSpPr>
            <a:spLocks noChangeArrowheads="1"/>
          </p:cNvSpPr>
          <p:nvPr/>
        </p:nvSpPr>
        <p:spPr bwMode="auto">
          <a:xfrm>
            <a:off x="1664807" y="1698249"/>
            <a:ext cx="920750" cy="381000"/>
          </a:xfrm>
          <a:prstGeom prst="rect">
            <a:avLst/>
          </a:prstGeom>
          <a:pattFill prst="pct50">
            <a:fgClr>
              <a:schemeClr val="hlink"/>
            </a:fgClr>
            <a:bgClr>
              <a:srgbClr val="FFFFFF"/>
            </a:bgClr>
          </a:pattFill>
          <a:ln w="9525">
            <a:solidFill>
              <a:schemeClr val="tx1"/>
            </a:solidFill>
            <a:miter lim="800000"/>
            <a:headEnd/>
            <a:tailEnd/>
          </a:ln>
        </p:spPr>
        <p:txBody>
          <a:bodyPr wrap="none" anchor="ctr"/>
          <a:lstStyle/>
          <a:p>
            <a:pPr algn="ctr"/>
            <a:r>
              <a:rPr lang="en-US" altLang="zh-CN" sz="2000" b="1" dirty="0">
                <a:solidFill>
                  <a:srgbClr val="FF0000"/>
                </a:solidFill>
                <a:latin typeface="微软雅黑" panose="020B0503020204020204" pitchFamily="34" charset="-122"/>
                <a:ea typeface="微软雅黑" panose="020B0503020204020204" pitchFamily="34" charset="-122"/>
              </a:rPr>
              <a:t>ADV</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
        <p:nvSpPr>
          <p:cNvPr id="12" name="Oval 8" descr="50%"/>
          <p:cNvSpPr>
            <a:spLocks noChangeArrowheads="1"/>
          </p:cNvSpPr>
          <p:nvPr/>
        </p:nvSpPr>
        <p:spPr bwMode="auto">
          <a:xfrm>
            <a:off x="601182" y="3638555"/>
            <a:ext cx="666750" cy="609600"/>
          </a:xfrm>
          <a:prstGeom prst="ellipse">
            <a:avLst/>
          </a:prstGeom>
          <a:pattFill prst="pct50">
            <a:fgClr>
              <a:schemeClr val="accent1"/>
            </a:fgClr>
            <a:bgClr>
              <a:schemeClr val="bg1"/>
            </a:bgClr>
          </a:pattFill>
          <a:ln w="9525">
            <a:solidFill>
              <a:schemeClr val="tx1"/>
            </a:solidFill>
            <a:round/>
            <a:headEnd/>
            <a:tailEnd/>
          </a:ln>
        </p:spPr>
        <p:txBody>
          <a:bodyPr wrap="none" anchor="ctr"/>
          <a:lstStyle/>
          <a:p>
            <a:pPr algn="ctr"/>
            <a:r>
              <a:rPr lang="en-US" altLang="zh-CN" sz="2400" b="0">
                <a:latin typeface="Times New Roman" pitchFamily="18" charset="0"/>
              </a:rPr>
              <a:t>A</a:t>
            </a:r>
          </a:p>
        </p:txBody>
      </p:sp>
      <p:sp>
        <p:nvSpPr>
          <p:cNvPr id="13" name="Oval 9" descr="50%"/>
          <p:cNvSpPr>
            <a:spLocks noChangeArrowheads="1"/>
          </p:cNvSpPr>
          <p:nvPr/>
        </p:nvSpPr>
        <p:spPr bwMode="auto">
          <a:xfrm>
            <a:off x="2982432" y="3638555"/>
            <a:ext cx="666750" cy="609600"/>
          </a:xfrm>
          <a:prstGeom prst="ellipse">
            <a:avLst/>
          </a:prstGeom>
          <a:pattFill prst="pct50">
            <a:fgClr>
              <a:schemeClr val="accent1"/>
            </a:fgClr>
            <a:bgClr>
              <a:schemeClr val="bg1"/>
            </a:bgClr>
          </a:pattFill>
          <a:ln w="9525">
            <a:solidFill>
              <a:schemeClr val="tx1"/>
            </a:solidFill>
            <a:round/>
            <a:headEnd/>
            <a:tailEnd/>
          </a:ln>
        </p:spPr>
        <p:txBody>
          <a:bodyPr wrap="none" anchor="ctr"/>
          <a:lstStyle/>
          <a:p>
            <a:pPr algn="ctr"/>
            <a:r>
              <a:rPr lang="en-US" altLang="zh-CN" sz="2400" b="0">
                <a:latin typeface="Times New Roman" pitchFamily="18" charset="0"/>
              </a:rPr>
              <a:t>B</a:t>
            </a:r>
          </a:p>
        </p:txBody>
      </p:sp>
      <p:sp>
        <p:nvSpPr>
          <p:cNvPr id="14" name="Rectangle 10" descr="50%"/>
          <p:cNvSpPr>
            <a:spLocks noChangeArrowheads="1"/>
          </p:cNvSpPr>
          <p:nvPr/>
        </p:nvSpPr>
        <p:spPr bwMode="auto">
          <a:xfrm>
            <a:off x="1704495" y="3257555"/>
            <a:ext cx="841375" cy="381000"/>
          </a:xfrm>
          <a:prstGeom prst="rect">
            <a:avLst/>
          </a:prstGeom>
          <a:pattFill prst="pct50">
            <a:fgClr>
              <a:schemeClr val="hlink"/>
            </a:fgClr>
            <a:bgClr>
              <a:srgbClr val="FFFFFF"/>
            </a:bgClr>
          </a:pattFill>
          <a:ln w="9525">
            <a:solidFill>
              <a:schemeClr val="tx1"/>
            </a:solidFill>
            <a:miter lim="800000"/>
            <a:headEnd/>
            <a:tailEnd/>
          </a:ln>
        </p:spPr>
        <p:txBody>
          <a:bodyPr wrap="none" anchor="ctr"/>
          <a:lstStyle/>
          <a:p>
            <a:pPr algn="ctr"/>
            <a:r>
              <a:rPr lang="en-US" altLang="zh-CN" sz="2000" b="1" dirty="0">
                <a:solidFill>
                  <a:srgbClr val="FF0000"/>
                </a:solidFill>
                <a:latin typeface="微软雅黑" panose="020B0503020204020204" pitchFamily="34" charset="-122"/>
                <a:ea typeface="微软雅黑" panose="020B0503020204020204" pitchFamily="34" charset="-122"/>
              </a:rPr>
              <a:t>REQ</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cxnSp>
        <p:nvCxnSpPr>
          <p:cNvPr id="15" name="AutoShape 11"/>
          <p:cNvCxnSpPr>
            <a:cxnSpLocks noChangeShapeType="1"/>
            <a:stCxn id="13" idx="2"/>
            <a:endCxn id="12" idx="6"/>
          </p:cNvCxnSpPr>
          <p:nvPr/>
        </p:nvCxnSpPr>
        <p:spPr bwMode="auto">
          <a:xfrm flipH="1">
            <a:off x="1267932" y="3943355"/>
            <a:ext cx="1714500" cy="0"/>
          </a:xfrm>
          <a:prstGeom prst="straightConnector1">
            <a:avLst/>
          </a:prstGeom>
          <a:noFill/>
          <a:ln w="28575">
            <a:solidFill>
              <a:schemeClr val="tx1"/>
            </a:solidFill>
            <a:round/>
            <a:headEnd/>
            <a:tailEnd type="triangle" w="med" len="med"/>
          </a:ln>
        </p:spPr>
      </p:cxnSp>
      <p:sp>
        <p:nvSpPr>
          <p:cNvPr id="16" name="Oval 12" descr="50%"/>
          <p:cNvSpPr>
            <a:spLocks noChangeArrowheads="1"/>
          </p:cNvSpPr>
          <p:nvPr/>
        </p:nvSpPr>
        <p:spPr bwMode="auto">
          <a:xfrm>
            <a:off x="601182" y="5381503"/>
            <a:ext cx="666750" cy="609600"/>
          </a:xfrm>
          <a:prstGeom prst="ellipse">
            <a:avLst/>
          </a:prstGeom>
          <a:pattFill prst="pct50">
            <a:fgClr>
              <a:schemeClr val="accent1"/>
            </a:fgClr>
            <a:bgClr>
              <a:schemeClr val="bg1"/>
            </a:bgClr>
          </a:pattFill>
          <a:ln w="9525">
            <a:solidFill>
              <a:schemeClr val="tx1"/>
            </a:solidFill>
            <a:round/>
            <a:headEnd/>
            <a:tailEnd/>
          </a:ln>
        </p:spPr>
        <p:txBody>
          <a:bodyPr wrap="none" anchor="ctr"/>
          <a:lstStyle/>
          <a:p>
            <a:pPr algn="ctr"/>
            <a:r>
              <a:rPr lang="en-US" altLang="zh-CN" sz="2400" b="0">
                <a:latin typeface="Times New Roman" pitchFamily="18" charset="0"/>
              </a:rPr>
              <a:t>A</a:t>
            </a:r>
          </a:p>
        </p:txBody>
      </p:sp>
      <p:sp>
        <p:nvSpPr>
          <p:cNvPr id="17" name="Oval 13" descr="50%"/>
          <p:cNvSpPr>
            <a:spLocks noChangeArrowheads="1"/>
          </p:cNvSpPr>
          <p:nvPr/>
        </p:nvSpPr>
        <p:spPr bwMode="auto">
          <a:xfrm>
            <a:off x="2982432" y="5381503"/>
            <a:ext cx="666750" cy="609600"/>
          </a:xfrm>
          <a:prstGeom prst="ellipse">
            <a:avLst/>
          </a:prstGeom>
          <a:pattFill prst="pct50">
            <a:fgClr>
              <a:schemeClr val="accent1"/>
            </a:fgClr>
            <a:bgClr>
              <a:schemeClr val="bg1"/>
            </a:bgClr>
          </a:pattFill>
          <a:ln w="9525">
            <a:solidFill>
              <a:schemeClr val="tx1"/>
            </a:solidFill>
            <a:round/>
            <a:headEnd/>
            <a:tailEnd/>
          </a:ln>
        </p:spPr>
        <p:txBody>
          <a:bodyPr wrap="none" anchor="ctr"/>
          <a:lstStyle/>
          <a:p>
            <a:pPr algn="ctr"/>
            <a:r>
              <a:rPr lang="en-US" altLang="zh-CN" sz="2400" b="0">
                <a:latin typeface="Times New Roman" pitchFamily="18" charset="0"/>
              </a:rPr>
              <a:t>B</a:t>
            </a:r>
          </a:p>
        </p:txBody>
      </p:sp>
      <p:sp>
        <p:nvSpPr>
          <p:cNvPr id="18" name="Rectangle 14" descr="50%"/>
          <p:cNvSpPr>
            <a:spLocks noChangeArrowheads="1"/>
          </p:cNvSpPr>
          <p:nvPr/>
        </p:nvSpPr>
        <p:spPr bwMode="auto">
          <a:xfrm>
            <a:off x="1506057" y="5000503"/>
            <a:ext cx="1238250" cy="381000"/>
          </a:xfrm>
          <a:prstGeom prst="rect">
            <a:avLst/>
          </a:prstGeom>
          <a:pattFill prst="pct50">
            <a:fgClr>
              <a:schemeClr val="hlink"/>
            </a:fgClr>
            <a:bgClr>
              <a:srgbClr val="FFFFFF"/>
            </a:bgClr>
          </a:pattFill>
          <a:ln w="9525">
            <a:solidFill>
              <a:schemeClr val="tx1"/>
            </a:solidFill>
            <a:miter lim="800000"/>
            <a:headEnd/>
            <a:tailEnd/>
          </a:ln>
        </p:spPr>
        <p:txBody>
          <a:bodyPr wrap="none" anchor="ctr"/>
          <a:lstStyle/>
          <a:p>
            <a:pPr algn="ctr"/>
            <a:r>
              <a:rPr lang="en-US" altLang="zh-CN" sz="2400" b="1" dirty="0">
                <a:solidFill>
                  <a:srgbClr val="FF0000"/>
                </a:solidFill>
                <a:latin typeface="微软雅黑" panose="020B0503020204020204" pitchFamily="34" charset="-122"/>
                <a:ea typeface="微软雅黑" panose="020B0503020204020204" pitchFamily="34" charset="-122"/>
              </a:rPr>
              <a:t>DATA</a:t>
            </a:r>
          </a:p>
        </p:txBody>
      </p:sp>
      <p:sp>
        <p:nvSpPr>
          <p:cNvPr id="19" name="AutoShape 15"/>
          <p:cNvSpPr>
            <a:spLocks noChangeArrowheads="1"/>
          </p:cNvSpPr>
          <p:nvPr/>
        </p:nvSpPr>
        <p:spPr bwMode="auto">
          <a:xfrm>
            <a:off x="1267932" y="5610103"/>
            <a:ext cx="1714500" cy="152400"/>
          </a:xfrm>
          <a:prstGeom prst="rightArrow">
            <a:avLst>
              <a:gd name="adj1" fmla="val 50000"/>
              <a:gd name="adj2" fmla="val 225000"/>
            </a:avLst>
          </a:prstGeom>
          <a:solidFill>
            <a:schemeClr val="tx1"/>
          </a:solidFill>
          <a:ln w="9525">
            <a:solidFill>
              <a:schemeClr val="tx1"/>
            </a:solidFill>
            <a:miter lim="800000"/>
            <a:headEnd/>
            <a:tailEnd/>
          </a:ln>
        </p:spPr>
        <p:txBody>
          <a:bodyPr wrap="none" anchor="ctr"/>
          <a:lstStyle/>
          <a:p>
            <a:endParaRPr lang="zh-CN" altLang="en-US"/>
          </a:p>
        </p:txBody>
      </p:sp>
      <p:sp>
        <p:nvSpPr>
          <p:cNvPr id="22" name="文本框 21">
            <a:extLst>
              <a:ext uri="{FF2B5EF4-FFF2-40B4-BE49-F238E27FC236}">
                <a16:creationId xmlns:a16="http://schemas.microsoft.com/office/drawing/2014/main" id="{D603D1AC-61DB-4D9C-A56B-BB9EE2BE55CB}"/>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
        <p:nvSpPr>
          <p:cNvPr id="3" name="文本框 2">
            <a:extLst>
              <a:ext uri="{FF2B5EF4-FFF2-40B4-BE49-F238E27FC236}">
                <a16:creationId xmlns:a16="http://schemas.microsoft.com/office/drawing/2014/main" id="{BBACCDBD-8CCF-42C9-A443-DA7494DCE37C}"/>
              </a:ext>
            </a:extLst>
          </p:cNvPr>
          <p:cNvSpPr txBox="1"/>
          <p:nvPr/>
        </p:nvSpPr>
        <p:spPr>
          <a:xfrm>
            <a:off x="4046057" y="1663750"/>
            <a:ext cx="4017125" cy="830997"/>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消息广播包：</a:t>
            </a:r>
            <a:endParaRPr lang="en-US" altLang="zh-CN" sz="2400" b="1"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ADV-advertise/name data</a:t>
            </a:r>
            <a:endParaRPr lang="zh-CN" altLang="en-US" sz="24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DC29FF97-3877-4782-82E5-F11340EB2E7D}"/>
              </a:ext>
            </a:extLst>
          </p:cNvPr>
          <p:cNvSpPr txBox="1"/>
          <p:nvPr/>
        </p:nvSpPr>
        <p:spPr>
          <a:xfrm>
            <a:off x="4085744" y="3514781"/>
            <a:ext cx="3973011" cy="830997"/>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数据请求包：</a:t>
            </a:r>
            <a:endParaRPr lang="en-US" altLang="zh-CN" sz="2400" b="1"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REQ-request specific</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data</a:t>
            </a:r>
            <a:endParaRPr lang="zh-CN" altLang="en-US" sz="2400"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1568B901-618B-4BF4-A50D-AAD79AEE54EE}"/>
              </a:ext>
            </a:extLst>
          </p:cNvPr>
          <p:cNvSpPr txBox="1"/>
          <p:nvPr/>
        </p:nvSpPr>
        <p:spPr>
          <a:xfrm>
            <a:off x="4014830" y="5347004"/>
            <a:ext cx="3326295" cy="830997"/>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数据包传输：</a:t>
            </a:r>
            <a:endParaRPr lang="en-US" altLang="zh-CN" sz="2400" b="1"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DATA-requested data</a:t>
            </a:r>
            <a:endParaRPr lang="zh-CN" altLang="en-US" sz="24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B3C3882F-FA1D-4DD5-9B8A-C8B618DEC625}"/>
              </a:ext>
            </a:extLst>
          </p:cNvPr>
          <p:cNvSpPr txBox="1"/>
          <p:nvPr/>
        </p:nvSpPr>
        <p:spPr>
          <a:xfrm>
            <a:off x="4077265" y="2513555"/>
            <a:ext cx="3973011" cy="430887"/>
          </a:xfrm>
          <a:prstGeom prst="rect">
            <a:avLst/>
          </a:prstGeom>
          <a:noFill/>
        </p:spPr>
        <p:txBody>
          <a:bodyPr wrap="square">
            <a:spAutoFit/>
          </a:bodyPr>
          <a:lstStyle/>
          <a:p>
            <a:r>
              <a:rPr lang="zh-CN" altLang="en-US" sz="2200" b="1" dirty="0">
                <a:solidFill>
                  <a:srgbClr val="0070C0"/>
                </a:solidFill>
                <a:latin typeface="微软雅黑" panose="020B0503020204020204" pitchFamily="34" charset="-122"/>
                <a:ea typeface="微软雅黑" panose="020B0503020204020204" pitchFamily="34" charset="-122"/>
              </a:rPr>
              <a:t>元数据：数据的数据</a:t>
            </a:r>
            <a:endParaRPr lang="zh-CN" altLang="en-US" sz="2200" dirty="0">
              <a:solidFill>
                <a:srgbClr val="0070C0"/>
              </a:solidFill>
            </a:endParaRPr>
          </a:p>
        </p:txBody>
      </p:sp>
      <p:sp>
        <p:nvSpPr>
          <p:cNvPr id="26" name="文本框 25">
            <a:extLst>
              <a:ext uri="{FF2B5EF4-FFF2-40B4-BE49-F238E27FC236}">
                <a16:creationId xmlns:a16="http://schemas.microsoft.com/office/drawing/2014/main" id="{87DEC416-7BE1-4609-815D-EBEB5723C44B}"/>
              </a:ext>
            </a:extLst>
          </p:cNvPr>
          <p:cNvSpPr txBox="1"/>
          <p:nvPr/>
        </p:nvSpPr>
        <p:spPr>
          <a:xfrm>
            <a:off x="4085744" y="2905545"/>
            <a:ext cx="4331308" cy="430887"/>
          </a:xfrm>
          <a:prstGeom prst="rect">
            <a:avLst/>
          </a:prstGeom>
          <a:noFill/>
        </p:spPr>
        <p:txBody>
          <a:bodyPr wrap="square">
            <a:spAutoFit/>
          </a:bodyPr>
          <a:lstStyle/>
          <a:p>
            <a:r>
              <a:rPr lang="zh-CN" altLang="en-US" sz="2200" b="1" dirty="0">
                <a:solidFill>
                  <a:srgbClr val="0070C0"/>
                </a:solidFill>
                <a:latin typeface="微软雅黑" panose="020B0503020204020204" pitchFamily="34" charset="-122"/>
                <a:ea typeface="微软雅黑" panose="020B0503020204020204" pitchFamily="34" charset="-122"/>
              </a:rPr>
              <a:t>元数据的数据量远小于真实数据</a:t>
            </a:r>
            <a:endParaRPr lang="zh-CN" altLang="en-US" sz="2200" dirty="0">
              <a:solidFill>
                <a:srgbClr val="0070C0"/>
              </a:solidFill>
            </a:endParaRPr>
          </a:p>
        </p:txBody>
      </p:sp>
      <p:sp>
        <p:nvSpPr>
          <p:cNvPr id="27" name="文本框 26">
            <a:extLst>
              <a:ext uri="{FF2B5EF4-FFF2-40B4-BE49-F238E27FC236}">
                <a16:creationId xmlns:a16="http://schemas.microsoft.com/office/drawing/2014/main" id="{011C8B08-6F9C-42F5-BE44-1F5359238F52}"/>
              </a:ext>
            </a:extLst>
          </p:cNvPr>
          <p:cNvSpPr txBox="1"/>
          <p:nvPr/>
        </p:nvSpPr>
        <p:spPr>
          <a:xfrm>
            <a:off x="4014830" y="6124196"/>
            <a:ext cx="3973011" cy="430887"/>
          </a:xfrm>
          <a:prstGeom prst="rect">
            <a:avLst/>
          </a:prstGeom>
          <a:noFill/>
        </p:spPr>
        <p:txBody>
          <a:bodyPr wrap="square">
            <a:spAutoFit/>
          </a:bodyPr>
          <a:lstStyle/>
          <a:p>
            <a:r>
              <a:rPr lang="zh-CN" altLang="en-US" sz="2200" b="1" dirty="0">
                <a:solidFill>
                  <a:srgbClr val="0070C0"/>
                </a:solidFill>
                <a:latin typeface="微软雅黑" panose="020B0503020204020204" pitchFamily="34" charset="-122"/>
                <a:ea typeface="微软雅黑" panose="020B0503020204020204" pitchFamily="34" charset="-122"/>
              </a:rPr>
              <a:t>真实数据传输</a:t>
            </a:r>
            <a:endParaRPr lang="zh-CN" altLang="en-US" sz="2200" dirty="0">
              <a:solidFill>
                <a:srgbClr val="0070C0"/>
              </a:solidFill>
            </a:endParaRPr>
          </a:p>
        </p:txBody>
      </p:sp>
    </p:spTree>
    <p:extLst>
      <p:ext uri="{BB962C8B-B14F-4D97-AF65-F5344CB8AC3E}">
        <p14:creationId xmlns:p14="http://schemas.microsoft.com/office/powerpoint/2010/main" val="125226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par>
                                <p:cTn id="17" presetID="3" presetClass="entr" presetSubtype="1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blinds(horizontal)">
                                      <p:cBhvr>
                                        <p:cTn id="40" dur="500"/>
                                        <p:tgtEl>
                                          <p:spTgt spid="12"/>
                                        </p:tgtEl>
                                      </p:cBhvr>
                                    </p:animEffect>
                                  </p:childTnLst>
                                </p:cTn>
                              </p:par>
                              <p:par>
                                <p:cTn id="41" presetID="3" presetClass="entr" presetSubtype="1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linds(horizontal)">
                                      <p:cBhvr>
                                        <p:cTn id="46" dur="500"/>
                                        <p:tgtEl>
                                          <p:spTgt spid="1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linds(horizontal)">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linds(horizontal)">
                                      <p:cBhvr>
                                        <p:cTn id="58" dur="500"/>
                                        <p:tgtEl>
                                          <p:spTgt spid="16"/>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blinds(horizontal)">
                                      <p:cBhvr>
                                        <p:cTn id="61" dur="500"/>
                                        <p:tgtEl>
                                          <p:spTgt spid="18"/>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blinds(horizontal)">
                                      <p:cBhvr>
                                        <p:cTn id="64" dur="500"/>
                                        <p:tgtEl>
                                          <p:spTgt spid="19"/>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blinds(horizontal)">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2" grpId="0" animBg="1"/>
      <p:bldP spid="13" grpId="0" animBg="1"/>
      <p:bldP spid="14" grpId="0" animBg="1"/>
      <p:bldP spid="16" grpId="0" animBg="1"/>
      <p:bldP spid="17" grpId="0" animBg="1"/>
      <p:bldP spid="18" grpId="0" animBg="1"/>
      <p:bldP spid="19" grpId="0" animBg="1"/>
      <p:bldP spid="3" grpId="0"/>
      <p:bldP spid="23" grpId="0"/>
      <p:bldP spid="24" grpId="0"/>
      <p:bldP spid="25" grpId="0"/>
      <p:bldP spid="26" grpId="0"/>
      <p:bldP spid="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40</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0377" y="518360"/>
            <a:ext cx="8617592" cy="523220"/>
          </a:xfrm>
          <a:prstGeom prst="rect">
            <a:avLst/>
          </a:prstGeom>
          <a:noFill/>
        </p:spPr>
        <p:txBody>
          <a:bodyPr wrap="square" rtlCol="0">
            <a:spAutoFit/>
          </a:bodyPr>
          <a:lstStyle/>
          <a:p>
            <a:pPr>
              <a:spcAft>
                <a:spcPts val="600"/>
              </a:spcAft>
            </a:pPr>
            <a:r>
              <a:rPr lang="en-US" altLang="zh-CN" sz="2800" dirty="0">
                <a:latin typeface="Times New Roman" panose="02020603050405020304" pitchFamily="18" charset="0"/>
                <a:cs typeface="Times New Roman" panose="02020603050405020304" pitchFamily="18" charset="0"/>
              </a:rPr>
              <a:t>② SPIN-PP</a:t>
            </a:r>
            <a:r>
              <a:rPr lang="zh-CN" altLang="en-US" sz="2800" dirty="0">
                <a:latin typeface="Times New Roman" panose="02020603050405020304" pitchFamily="18" charset="0"/>
                <a:cs typeface="Times New Roman" panose="02020603050405020304" pitchFamily="18" charset="0"/>
              </a:rPr>
              <a:t>的工作流程</a:t>
            </a:r>
            <a:endParaRPr lang="en-US" altLang="zh-CN" sz="2800" dirty="0">
              <a:latin typeface="Times New Roman" panose="02020603050405020304" pitchFamily="18" charset="0"/>
              <a:cs typeface="Times New Roman" panose="02020603050405020304" pitchFamily="18" charset="0"/>
            </a:endParaRPr>
          </a:p>
        </p:txBody>
      </p:sp>
      <p:sp>
        <p:nvSpPr>
          <p:cNvPr id="22" name="Oval 4"/>
          <p:cNvSpPr>
            <a:spLocks noChangeArrowheads="1"/>
          </p:cNvSpPr>
          <p:nvPr/>
        </p:nvSpPr>
        <p:spPr bwMode="auto">
          <a:xfrm>
            <a:off x="2444712" y="3026228"/>
            <a:ext cx="365137" cy="337456"/>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A</a:t>
            </a:r>
            <a:endParaRPr lang="zh-CN" altLang="en-US" b="1" dirty="0">
              <a:latin typeface="Times New Roman" panose="02020603050405020304" pitchFamily="18" charset="0"/>
              <a:cs typeface="Times New Roman" panose="02020603050405020304" pitchFamily="18" charset="0"/>
            </a:endParaRPr>
          </a:p>
        </p:txBody>
      </p:sp>
      <p:sp>
        <p:nvSpPr>
          <p:cNvPr id="23" name="Oval 5"/>
          <p:cNvSpPr>
            <a:spLocks noChangeArrowheads="1"/>
          </p:cNvSpPr>
          <p:nvPr/>
        </p:nvSpPr>
        <p:spPr bwMode="auto">
          <a:xfrm>
            <a:off x="4466383" y="2993572"/>
            <a:ext cx="425242" cy="435428"/>
          </a:xfrm>
          <a:prstGeom prst="ellipse">
            <a:avLst/>
          </a:prstGeom>
          <a:solidFill>
            <a:schemeClr val="folHlink"/>
          </a:solidFill>
          <a:ln w="25400">
            <a:solidFill>
              <a:schemeClr val="tx1"/>
            </a:solidFill>
            <a:round/>
            <a:headEnd/>
            <a:tailEnd/>
          </a:ln>
        </p:spPr>
        <p:txBody>
          <a:bodyPr wrap="none" anchor="ctr"/>
          <a:lstStyle/>
          <a:p>
            <a:r>
              <a:rPr lang="en-US" altLang="zh-CN" b="1" dirty="0">
                <a:latin typeface="Times New Roman" panose="02020603050405020304" pitchFamily="18" charset="0"/>
                <a:cs typeface="Times New Roman" panose="02020603050405020304" pitchFamily="18" charset="0"/>
              </a:rPr>
              <a:t>S</a:t>
            </a:r>
            <a:endParaRPr lang="zh-CN" altLang="en-US" b="1" dirty="0">
              <a:latin typeface="Times New Roman" panose="02020603050405020304" pitchFamily="18" charset="0"/>
              <a:cs typeface="Times New Roman" panose="02020603050405020304" pitchFamily="18" charset="0"/>
            </a:endParaRPr>
          </a:p>
        </p:txBody>
      </p:sp>
      <p:sp>
        <p:nvSpPr>
          <p:cNvPr id="24" name="Oval 6"/>
          <p:cNvSpPr>
            <a:spLocks noChangeArrowheads="1"/>
          </p:cNvSpPr>
          <p:nvPr/>
        </p:nvSpPr>
        <p:spPr bwMode="auto">
          <a:xfrm>
            <a:off x="1232868" y="4307167"/>
            <a:ext cx="426842" cy="346868"/>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D</a:t>
            </a:r>
            <a:endParaRPr lang="zh-CN" altLang="en-US" b="1" dirty="0">
              <a:latin typeface="Times New Roman" panose="02020603050405020304" pitchFamily="18" charset="0"/>
              <a:cs typeface="Times New Roman" panose="02020603050405020304" pitchFamily="18" charset="0"/>
            </a:endParaRPr>
          </a:p>
        </p:txBody>
      </p:sp>
      <p:sp>
        <p:nvSpPr>
          <p:cNvPr id="25" name="Oval 7"/>
          <p:cNvSpPr>
            <a:spLocks noChangeArrowheads="1"/>
          </p:cNvSpPr>
          <p:nvPr/>
        </p:nvSpPr>
        <p:spPr bwMode="auto">
          <a:xfrm>
            <a:off x="375842" y="3020611"/>
            <a:ext cx="405815" cy="343073"/>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C</a:t>
            </a:r>
            <a:endParaRPr lang="zh-CN" altLang="en-US" b="1" dirty="0">
              <a:latin typeface="Times New Roman" panose="02020603050405020304" pitchFamily="18" charset="0"/>
              <a:cs typeface="Times New Roman" panose="02020603050405020304" pitchFamily="18" charset="0"/>
            </a:endParaRPr>
          </a:p>
        </p:txBody>
      </p:sp>
      <p:sp>
        <p:nvSpPr>
          <p:cNvPr id="26" name="Oval 8"/>
          <p:cNvSpPr>
            <a:spLocks noChangeArrowheads="1"/>
          </p:cNvSpPr>
          <p:nvPr/>
        </p:nvSpPr>
        <p:spPr bwMode="auto">
          <a:xfrm>
            <a:off x="1371373" y="1676400"/>
            <a:ext cx="376651" cy="330875"/>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B</a:t>
            </a:r>
            <a:endParaRPr lang="zh-CN" altLang="en-US" b="1" dirty="0">
              <a:latin typeface="Times New Roman" panose="02020603050405020304" pitchFamily="18" charset="0"/>
              <a:cs typeface="Times New Roman" panose="02020603050405020304" pitchFamily="18" charset="0"/>
            </a:endParaRPr>
          </a:p>
        </p:txBody>
      </p:sp>
      <p:grpSp>
        <p:nvGrpSpPr>
          <p:cNvPr id="27" name="Group 9"/>
          <p:cNvGrpSpPr>
            <a:grpSpLocks/>
          </p:cNvGrpSpPr>
          <p:nvPr/>
        </p:nvGrpSpPr>
        <p:grpSpPr bwMode="auto">
          <a:xfrm>
            <a:off x="2834802" y="2797010"/>
            <a:ext cx="1616075" cy="420688"/>
            <a:chOff x="2657" y="2392"/>
            <a:chExt cx="814" cy="265"/>
          </a:xfrm>
        </p:grpSpPr>
        <p:sp>
          <p:nvSpPr>
            <p:cNvPr id="28" name="Line 10"/>
            <p:cNvSpPr>
              <a:spLocks noChangeShapeType="1"/>
            </p:cNvSpPr>
            <p:nvPr/>
          </p:nvSpPr>
          <p:spPr bwMode="auto">
            <a:xfrm flipH="1">
              <a:off x="2657" y="2657"/>
              <a:ext cx="814" cy="0"/>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29" name="Text Box 11"/>
            <p:cNvSpPr txBox="1">
              <a:spLocks noChangeArrowheads="1"/>
            </p:cNvSpPr>
            <p:nvPr/>
          </p:nvSpPr>
          <p:spPr bwMode="auto">
            <a:xfrm>
              <a:off x="2879" y="2392"/>
              <a:ext cx="374"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ADV</a:t>
              </a:r>
            </a:p>
          </p:txBody>
        </p:sp>
      </p:grpSp>
      <p:grpSp>
        <p:nvGrpSpPr>
          <p:cNvPr id="30" name="Group 12"/>
          <p:cNvGrpSpPr>
            <a:grpSpLocks/>
          </p:cNvGrpSpPr>
          <p:nvPr/>
        </p:nvGrpSpPr>
        <p:grpSpPr bwMode="auto">
          <a:xfrm>
            <a:off x="2888854" y="3200506"/>
            <a:ext cx="1616075" cy="434975"/>
            <a:chOff x="2657" y="2650"/>
            <a:chExt cx="814" cy="274"/>
          </a:xfrm>
        </p:grpSpPr>
        <p:sp>
          <p:nvSpPr>
            <p:cNvPr id="31" name="Line 13"/>
            <p:cNvSpPr>
              <a:spLocks noChangeShapeType="1"/>
            </p:cNvSpPr>
            <p:nvPr/>
          </p:nvSpPr>
          <p:spPr bwMode="auto">
            <a:xfrm flipV="1">
              <a:off x="2657" y="2650"/>
              <a:ext cx="814" cy="7"/>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a:lstStyle/>
            <a:p>
              <a:endParaRPr lang="zh-CN" altLang="en-US" b="1">
                <a:latin typeface="Times New Roman" panose="02020603050405020304" pitchFamily="18" charset="0"/>
                <a:cs typeface="Times New Roman" panose="02020603050405020304" pitchFamily="18" charset="0"/>
              </a:endParaRPr>
            </a:p>
          </p:txBody>
        </p:sp>
        <p:sp>
          <p:nvSpPr>
            <p:cNvPr id="32" name="Text Box 14"/>
            <p:cNvSpPr txBox="1">
              <a:spLocks noChangeArrowheads="1"/>
            </p:cNvSpPr>
            <p:nvPr/>
          </p:nvSpPr>
          <p:spPr bwMode="auto">
            <a:xfrm>
              <a:off x="2887" y="2672"/>
              <a:ext cx="373"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REQ</a:t>
              </a:r>
            </a:p>
          </p:txBody>
        </p:sp>
      </p:grpSp>
      <p:grpSp>
        <p:nvGrpSpPr>
          <p:cNvPr id="33" name="Group 15"/>
          <p:cNvGrpSpPr>
            <a:grpSpLocks/>
          </p:cNvGrpSpPr>
          <p:nvPr/>
        </p:nvGrpSpPr>
        <p:grpSpPr bwMode="auto">
          <a:xfrm>
            <a:off x="2846265" y="2397452"/>
            <a:ext cx="1584325" cy="811213"/>
            <a:chOff x="2673" y="2146"/>
            <a:chExt cx="798" cy="511"/>
          </a:xfrm>
        </p:grpSpPr>
        <p:sp>
          <p:nvSpPr>
            <p:cNvPr id="34" name="Line 16"/>
            <p:cNvSpPr>
              <a:spLocks noChangeShapeType="1"/>
            </p:cNvSpPr>
            <p:nvPr/>
          </p:nvSpPr>
          <p:spPr bwMode="auto">
            <a:xfrm flipH="1">
              <a:off x="2673" y="2657"/>
              <a:ext cx="798" cy="0"/>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35" name="Text Box 17"/>
            <p:cNvSpPr txBox="1">
              <a:spLocks noChangeArrowheads="1"/>
            </p:cNvSpPr>
            <p:nvPr/>
          </p:nvSpPr>
          <p:spPr bwMode="auto">
            <a:xfrm>
              <a:off x="2858" y="2146"/>
              <a:ext cx="441"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DATA</a:t>
              </a:r>
            </a:p>
          </p:txBody>
        </p:sp>
      </p:grpSp>
      <p:grpSp>
        <p:nvGrpSpPr>
          <p:cNvPr id="36" name="Group 18"/>
          <p:cNvGrpSpPr>
            <a:grpSpLocks/>
          </p:cNvGrpSpPr>
          <p:nvPr/>
        </p:nvGrpSpPr>
        <p:grpSpPr bwMode="auto">
          <a:xfrm>
            <a:off x="778465" y="1983634"/>
            <a:ext cx="1709737" cy="2352675"/>
            <a:chOff x="1689" y="1905"/>
            <a:chExt cx="861" cy="1482"/>
          </a:xfrm>
        </p:grpSpPr>
        <p:sp>
          <p:nvSpPr>
            <p:cNvPr id="38" name="Line 20"/>
            <p:cNvSpPr>
              <a:spLocks noChangeShapeType="1"/>
            </p:cNvSpPr>
            <p:nvPr/>
          </p:nvSpPr>
          <p:spPr bwMode="auto">
            <a:xfrm flipH="1" flipV="1">
              <a:off x="1689" y="2672"/>
              <a:ext cx="807" cy="1"/>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39" name="Line 21"/>
            <p:cNvSpPr>
              <a:spLocks noChangeShapeType="1"/>
            </p:cNvSpPr>
            <p:nvPr/>
          </p:nvSpPr>
          <p:spPr bwMode="auto">
            <a:xfrm flipH="1">
              <a:off x="2097" y="2749"/>
              <a:ext cx="453" cy="638"/>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40" name="Text Box 22"/>
            <p:cNvSpPr txBox="1">
              <a:spLocks noChangeArrowheads="1"/>
            </p:cNvSpPr>
            <p:nvPr/>
          </p:nvSpPr>
          <p:spPr bwMode="auto">
            <a:xfrm>
              <a:off x="1843" y="2880"/>
              <a:ext cx="374"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ADV</a:t>
              </a:r>
            </a:p>
          </p:txBody>
        </p:sp>
        <p:sp>
          <p:nvSpPr>
            <p:cNvPr id="37" name="Line 19"/>
            <p:cNvSpPr>
              <a:spLocks noChangeShapeType="1"/>
            </p:cNvSpPr>
            <p:nvPr/>
          </p:nvSpPr>
          <p:spPr bwMode="auto">
            <a:xfrm flipH="1" flipV="1">
              <a:off x="2135" y="1905"/>
              <a:ext cx="392" cy="706"/>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grpSp>
      <p:grpSp>
        <p:nvGrpSpPr>
          <p:cNvPr id="41" name="Group 23"/>
          <p:cNvGrpSpPr>
            <a:grpSpLocks/>
          </p:cNvGrpSpPr>
          <p:nvPr/>
        </p:nvGrpSpPr>
        <p:grpSpPr bwMode="auto">
          <a:xfrm>
            <a:off x="773681" y="3196484"/>
            <a:ext cx="1654175" cy="1116013"/>
            <a:chOff x="1705" y="2680"/>
            <a:chExt cx="833" cy="703"/>
          </a:xfrm>
        </p:grpSpPr>
        <p:sp>
          <p:nvSpPr>
            <p:cNvPr id="42" name="Line 24"/>
            <p:cNvSpPr>
              <a:spLocks noChangeShapeType="1"/>
            </p:cNvSpPr>
            <p:nvPr/>
          </p:nvSpPr>
          <p:spPr bwMode="auto">
            <a:xfrm>
              <a:off x="1705" y="2680"/>
              <a:ext cx="791" cy="0"/>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a:lstStyle/>
            <a:p>
              <a:endParaRPr lang="zh-CN" altLang="en-US" b="1">
                <a:latin typeface="Times New Roman" panose="02020603050405020304" pitchFamily="18" charset="0"/>
                <a:cs typeface="Times New Roman" panose="02020603050405020304" pitchFamily="18" charset="0"/>
              </a:endParaRPr>
            </a:p>
          </p:txBody>
        </p:sp>
        <p:sp>
          <p:nvSpPr>
            <p:cNvPr id="43" name="Line 25"/>
            <p:cNvSpPr>
              <a:spLocks noChangeShapeType="1"/>
            </p:cNvSpPr>
            <p:nvPr/>
          </p:nvSpPr>
          <p:spPr bwMode="auto">
            <a:xfrm flipV="1">
              <a:off x="2107" y="2760"/>
              <a:ext cx="431" cy="623"/>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a:lstStyle/>
            <a:p>
              <a:endParaRPr lang="zh-CN" altLang="en-US" b="1">
                <a:latin typeface="Times New Roman" panose="02020603050405020304" pitchFamily="18" charset="0"/>
                <a:cs typeface="Times New Roman" panose="02020603050405020304" pitchFamily="18" charset="0"/>
              </a:endParaRPr>
            </a:p>
          </p:txBody>
        </p:sp>
        <p:sp>
          <p:nvSpPr>
            <p:cNvPr id="44" name="Text Box 26"/>
            <p:cNvSpPr txBox="1">
              <a:spLocks noChangeArrowheads="1"/>
            </p:cNvSpPr>
            <p:nvPr/>
          </p:nvSpPr>
          <p:spPr bwMode="auto">
            <a:xfrm>
              <a:off x="1869" y="2727"/>
              <a:ext cx="373"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REQ</a:t>
              </a:r>
            </a:p>
          </p:txBody>
        </p:sp>
      </p:grpSp>
      <p:grpSp>
        <p:nvGrpSpPr>
          <p:cNvPr id="45" name="Group 27"/>
          <p:cNvGrpSpPr>
            <a:grpSpLocks/>
          </p:cNvGrpSpPr>
          <p:nvPr/>
        </p:nvGrpSpPr>
        <p:grpSpPr bwMode="auto">
          <a:xfrm>
            <a:off x="801533" y="2659512"/>
            <a:ext cx="1670050" cy="1655763"/>
            <a:chOff x="1693" y="2352"/>
            <a:chExt cx="841" cy="1043"/>
          </a:xfrm>
        </p:grpSpPr>
        <p:sp>
          <p:nvSpPr>
            <p:cNvPr id="46" name="Line 28"/>
            <p:cNvSpPr>
              <a:spLocks noChangeShapeType="1"/>
            </p:cNvSpPr>
            <p:nvPr/>
          </p:nvSpPr>
          <p:spPr bwMode="auto">
            <a:xfrm flipH="1">
              <a:off x="1693" y="2684"/>
              <a:ext cx="814" cy="0"/>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47" name="Text Box 29"/>
            <p:cNvSpPr txBox="1">
              <a:spLocks noChangeArrowheads="1"/>
            </p:cNvSpPr>
            <p:nvPr/>
          </p:nvSpPr>
          <p:spPr bwMode="auto">
            <a:xfrm>
              <a:off x="1843" y="2352"/>
              <a:ext cx="441"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DATA</a:t>
              </a:r>
            </a:p>
          </p:txBody>
        </p:sp>
        <p:sp>
          <p:nvSpPr>
            <p:cNvPr id="48" name="Line 30"/>
            <p:cNvSpPr>
              <a:spLocks noChangeShapeType="1"/>
            </p:cNvSpPr>
            <p:nvPr/>
          </p:nvSpPr>
          <p:spPr bwMode="auto">
            <a:xfrm flipH="1">
              <a:off x="2097" y="2749"/>
              <a:ext cx="437" cy="646"/>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grpSp>
      <p:sp>
        <p:nvSpPr>
          <p:cNvPr id="49" name="Text Box 14"/>
          <p:cNvSpPr txBox="1">
            <a:spLocks noChangeArrowheads="1"/>
          </p:cNvSpPr>
          <p:nvPr/>
        </p:nvSpPr>
        <p:spPr bwMode="auto">
          <a:xfrm>
            <a:off x="5125931" y="1332018"/>
            <a:ext cx="3816901"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spcBef>
                <a:spcPct val="500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节点</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有新数据，通过</a:t>
            </a:r>
            <a:r>
              <a:rPr lang="en-US" altLang="zh-CN" sz="2000" dirty="0">
                <a:latin typeface="Times New Roman" panose="02020603050405020304" pitchFamily="18" charset="0"/>
                <a:cs typeface="Times New Roman" panose="02020603050405020304" pitchFamily="18" charset="0"/>
              </a:rPr>
              <a:t>ADV</a:t>
            </a:r>
            <a:r>
              <a:rPr lang="zh-CN" altLang="en-US" sz="2000" dirty="0">
                <a:latin typeface="Times New Roman" panose="02020603050405020304" pitchFamily="18" charset="0"/>
                <a:cs typeface="Times New Roman" panose="02020603050405020304" pitchFamily="18" charset="0"/>
              </a:rPr>
              <a:t>发布新数据信息，使用元数据</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节点收到</a:t>
            </a:r>
            <a:r>
              <a:rPr lang="en-US" altLang="zh-CN" sz="2000" dirty="0">
                <a:latin typeface="Times New Roman" panose="02020603050405020304" pitchFamily="18" charset="0"/>
                <a:cs typeface="Times New Roman" panose="02020603050405020304" pitchFamily="18" charset="0"/>
              </a:rPr>
              <a:t>ADV</a:t>
            </a:r>
            <a:r>
              <a:rPr lang="zh-CN" altLang="en-US" sz="2000" dirty="0">
                <a:latin typeface="Times New Roman" panose="02020603050405020304" pitchFamily="18" charset="0"/>
                <a:cs typeface="Times New Roman" panose="02020603050405020304" pitchFamily="18" charset="0"/>
              </a:rPr>
              <a:t>后，发现自己没有该数据，通过</a:t>
            </a:r>
            <a:r>
              <a:rPr lang="en-US" altLang="zh-CN" sz="2000" dirty="0">
                <a:latin typeface="Times New Roman" panose="02020603050405020304" pitchFamily="18" charset="0"/>
                <a:cs typeface="Times New Roman" panose="02020603050405020304" pitchFamily="18" charset="0"/>
              </a:rPr>
              <a:t>REQ</a:t>
            </a:r>
            <a:r>
              <a:rPr lang="zh-CN" altLang="en-US" sz="2000" dirty="0">
                <a:latin typeface="Times New Roman" panose="02020603050405020304" pitchFamily="18" charset="0"/>
                <a:cs typeface="Times New Roman" panose="02020603050405020304" pitchFamily="18" charset="0"/>
              </a:rPr>
              <a:t>向</a:t>
            </a:r>
            <a:r>
              <a:rPr lang="en-US" altLang="zh-CN" sz="2000" dirty="0">
                <a:latin typeface="Times New Roman" panose="02020603050405020304" pitchFamily="18" charset="0"/>
                <a:cs typeface="Times New Roman" panose="02020603050405020304" pitchFamily="18" charset="0"/>
              </a:rPr>
              <a:t>S</a:t>
            </a:r>
            <a:r>
              <a:rPr lang="zh-CN" altLang="en-US" sz="2000" dirty="0">
                <a:solidFill>
                  <a:srgbClr val="FF000A"/>
                </a:solidFill>
                <a:latin typeface="Times New Roman" panose="02020603050405020304" pitchFamily="18" charset="0"/>
                <a:cs typeface="Times New Roman" panose="02020603050405020304" pitchFamily="18" charset="0"/>
              </a:rPr>
              <a:t>请求</a:t>
            </a:r>
            <a:r>
              <a:rPr lang="zh-CN" altLang="en-US" sz="2000" dirty="0">
                <a:latin typeface="Times New Roman" panose="02020603050405020304" pitchFamily="18" charset="0"/>
                <a:cs typeface="Times New Roman" panose="02020603050405020304" pitchFamily="18" charset="0"/>
              </a:rPr>
              <a:t>新数据</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 S</a:t>
            </a:r>
            <a:r>
              <a:rPr lang="zh-CN" altLang="en-US" sz="2000" dirty="0">
                <a:latin typeface="Times New Roman" panose="02020603050405020304" pitchFamily="18" charset="0"/>
                <a:cs typeface="Times New Roman" panose="02020603050405020304" pitchFamily="18" charset="0"/>
              </a:rPr>
              <a:t>节点向</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节点传送源数据</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节点融合新数据，并通过</a:t>
            </a:r>
            <a:r>
              <a:rPr lang="en-US" altLang="zh-CN" sz="2000" dirty="0">
                <a:latin typeface="Times New Roman" panose="02020603050405020304" pitchFamily="18" charset="0"/>
                <a:cs typeface="Times New Roman" panose="02020603050405020304" pitchFamily="18" charset="0"/>
              </a:rPr>
              <a:t>ADV</a:t>
            </a:r>
            <a:r>
              <a:rPr lang="zh-CN" altLang="en-US" sz="2000" dirty="0">
                <a:latin typeface="Times New Roman" panose="02020603050405020304" pitchFamily="18" charset="0"/>
                <a:cs typeface="Times New Roman" panose="02020603050405020304" pitchFamily="18" charset="0"/>
              </a:rPr>
              <a:t>发布新数据消息</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zh-CN" altLang="en-US" sz="2000" dirty="0">
                <a:solidFill>
                  <a:srgbClr val="0070C0"/>
                </a:solidFill>
                <a:latin typeface="Times New Roman" panose="02020603050405020304" pitchFamily="18" charset="0"/>
                <a:cs typeface="Times New Roman" panose="02020603050405020304" pitchFamily="18" charset="0"/>
              </a:rPr>
              <a:t>如果节点有</a:t>
            </a:r>
            <a:r>
              <a:rPr lang="en-US" altLang="zh-CN" sz="2000" dirty="0">
                <a:solidFill>
                  <a:srgbClr val="0070C0"/>
                </a:solidFill>
                <a:latin typeface="Times New Roman" panose="02020603050405020304" pitchFamily="18" charset="0"/>
                <a:cs typeface="Times New Roman" panose="02020603050405020304" pitchFamily="18" charset="0"/>
              </a:rPr>
              <a:t>ADV</a:t>
            </a:r>
            <a:r>
              <a:rPr lang="zh-CN" altLang="en-US" sz="2000" dirty="0">
                <a:solidFill>
                  <a:srgbClr val="0070C0"/>
                </a:solidFill>
                <a:latin typeface="Times New Roman" panose="02020603050405020304" pitchFamily="18" charset="0"/>
                <a:cs typeface="Times New Roman" panose="02020603050405020304" pitchFamily="18" charset="0"/>
              </a:rPr>
              <a:t>中描述的数据的副本就忽略该消息</a:t>
            </a:r>
          </a:p>
        </p:txBody>
      </p:sp>
      <p:sp>
        <p:nvSpPr>
          <p:cNvPr id="50" name="文本框 49">
            <a:extLst>
              <a:ext uri="{FF2B5EF4-FFF2-40B4-BE49-F238E27FC236}">
                <a16:creationId xmlns:a16="http://schemas.microsoft.com/office/drawing/2014/main" id="{EAAF7C9A-A376-4C36-B65B-55645A8B955F}"/>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3780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9">
                                            <p:txEl>
                                              <p:pRg st="0" end="0"/>
                                            </p:txEl>
                                          </p:spTgt>
                                        </p:tgtEl>
                                        <p:attrNameLst>
                                          <p:attrName>style.visibility</p:attrName>
                                        </p:attrNameLst>
                                      </p:cBhvr>
                                      <p:to>
                                        <p:strVal val="visible"/>
                                      </p:to>
                                    </p:set>
                                    <p:animEffect transition="in" filter="fade">
                                      <p:cBhvr>
                                        <p:cTn id="24" dur="500"/>
                                        <p:tgtEl>
                                          <p:spTgt spid="4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9">
                                            <p:txEl>
                                              <p:pRg st="1" end="1"/>
                                            </p:txEl>
                                          </p:spTgt>
                                        </p:tgtEl>
                                        <p:attrNameLst>
                                          <p:attrName>style.visibility</p:attrName>
                                        </p:attrNameLst>
                                      </p:cBhvr>
                                      <p:to>
                                        <p:strVal val="visible"/>
                                      </p:to>
                                    </p:set>
                                    <p:animEffect transition="in" filter="fade">
                                      <p:cBhvr>
                                        <p:cTn id="29" dur="500"/>
                                        <p:tgtEl>
                                          <p:spTgt spid="4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9">
                                            <p:txEl>
                                              <p:pRg st="2" end="2"/>
                                            </p:txEl>
                                          </p:spTgt>
                                        </p:tgtEl>
                                        <p:attrNameLst>
                                          <p:attrName>style.visibility</p:attrName>
                                        </p:attrNameLst>
                                      </p:cBhvr>
                                      <p:to>
                                        <p:strVal val="visible"/>
                                      </p:to>
                                    </p:set>
                                    <p:animEffect transition="in" filter="fade">
                                      <p:cBhvr>
                                        <p:cTn id="34" dur="500"/>
                                        <p:tgtEl>
                                          <p:spTgt spid="49">
                                            <p:txEl>
                                              <p:pRg st="2" end="2"/>
                                            </p:txEl>
                                          </p:spTgt>
                                        </p:tgtEl>
                                      </p:cBhvr>
                                    </p:animEffect>
                                  </p:childTnLst>
                                </p:cTn>
                              </p:par>
                              <p:par>
                                <p:cTn id="35" presetID="22" presetClass="entr" presetSubtype="2"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righ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27"/>
                                        </p:tgtEl>
                                        <p:attrNameLst>
                                          <p:attrName>style.visibility</p:attrName>
                                        </p:attrNameLst>
                                      </p:cBhvr>
                                      <p:to>
                                        <p:strVal val="hidden"/>
                                      </p:to>
                                    </p:set>
                                  </p:childTnLst>
                                </p:cTn>
                              </p:par>
                              <p:par>
                                <p:cTn id="42" presetID="22" presetClass="entr" presetSubtype="8"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left)">
                                      <p:cBhvr>
                                        <p:cTn id="44" dur="5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30"/>
                                        </p:tgtEl>
                                        <p:attrNameLst>
                                          <p:attrName>style.visibility</p:attrName>
                                        </p:attrNameLst>
                                      </p:cBhvr>
                                      <p:to>
                                        <p:strVal val="hidden"/>
                                      </p:to>
                                    </p:set>
                                  </p:childTnLst>
                                </p:cTn>
                              </p:par>
                              <p:par>
                                <p:cTn id="49" presetID="22" presetClass="entr" presetSubtype="2"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right)">
                                      <p:cBhvr>
                                        <p:cTn id="51" dur="5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3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9">
                                            <p:txEl>
                                              <p:pRg st="3" end="3"/>
                                            </p:txEl>
                                          </p:spTgt>
                                        </p:tgtEl>
                                        <p:attrNameLst>
                                          <p:attrName>style.visibility</p:attrName>
                                        </p:attrNameLst>
                                      </p:cBhvr>
                                      <p:to>
                                        <p:strVal val="visible"/>
                                      </p:to>
                                    </p:set>
                                    <p:animEffect transition="in" filter="fade">
                                      <p:cBhvr>
                                        <p:cTn id="60" dur="500"/>
                                        <p:tgtEl>
                                          <p:spTgt spid="49">
                                            <p:txEl>
                                              <p:pRg st="3" end="3"/>
                                            </p:txEl>
                                          </p:spTgt>
                                        </p:tgtEl>
                                      </p:cBhvr>
                                    </p:animEffect>
                                  </p:childTnLst>
                                </p:cTn>
                              </p:par>
                              <p:par>
                                <p:cTn id="61" presetID="22" presetClass="entr" presetSubtype="2"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wipe(right)">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nodeType="clickEffect">
                                  <p:stCondLst>
                                    <p:cond delay="0"/>
                                  </p:stCondLst>
                                  <p:childTnLst>
                                    <p:set>
                                      <p:cBhvr>
                                        <p:cTn id="67" dur="1" fill="hold">
                                          <p:stCondLst>
                                            <p:cond delay="0"/>
                                          </p:stCondLst>
                                        </p:cTn>
                                        <p:tgtEl>
                                          <p:spTgt spid="3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9">
                                            <p:txEl>
                                              <p:pRg st="4" end="4"/>
                                            </p:txEl>
                                          </p:spTgt>
                                        </p:tgtEl>
                                        <p:attrNameLst>
                                          <p:attrName>style.visibility</p:attrName>
                                        </p:attrNameLst>
                                      </p:cBhvr>
                                      <p:to>
                                        <p:strVal val="visible"/>
                                      </p:to>
                                    </p:set>
                                    <p:animEffect transition="in" filter="fade">
                                      <p:cBhvr>
                                        <p:cTn id="72" dur="500"/>
                                        <p:tgtEl>
                                          <p:spTgt spid="49">
                                            <p:txEl>
                                              <p:pRg st="4" end="4"/>
                                            </p:txEl>
                                          </p:spTgt>
                                        </p:tgtEl>
                                      </p:cBhvr>
                                    </p:animEffect>
                                  </p:childTnLst>
                                </p:cTn>
                              </p:par>
                              <p:par>
                                <p:cTn id="73" presetID="22" presetClass="entr" presetSubtype="8"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500"/>
                                        <p:tgtEl>
                                          <p:spTgt spid="41"/>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41"/>
                                        </p:tgtEl>
                                        <p:attrNameLst>
                                          <p:attrName>style.visibility</p:attrName>
                                        </p:attrNameLst>
                                      </p:cBhvr>
                                      <p:to>
                                        <p:strVal val="hidden"/>
                                      </p:to>
                                    </p:set>
                                  </p:childTnLst>
                                </p:cTn>
                              </p:par>
                              <p:par>
                                <p:cTn id="80" presetID="22" presetClass="entr" presetSubtype="2" fill="hold"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right)">
                                      <p:cBhvr>
                                        <p:cTn id="8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41</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0377" y="518360"/>
            <a:ext cx="8617592" cy="523220"/>
          </a:xfrm>
          <a:prstGeom prst="rect">
            <a:avLst/>
          </a:prstGeom>
          <a:noFill/>
        </p:spPr>
        <p:txBody>
          <a:bodyPr wrap="square" rtlCol="0">
            <a:spAutoFit/>
          </a:bodyPr>
          <a:lstStyle/>
          <a:p>
            <a:pPr>
              <a:spcAft>
                <a:spcPts val="600"/>
              </a:spcAft>
            </a:pPr>
            <a:r>
              <a:rPr lang="en-US" altLang="zh-CN" sz="2800" dirty="0">
                <a:latin typeface="Times New Roman" panose="02020603050405020304" pitchFamily="18" charset="0"/>
                <a:cs typeface="Times New Roman" panose="02020603050405020304" pitchFamily="18" charset="0"/>
              </a:rPr>
              <a:t>② SPIN-EC</a:t>
            </a:r>
            <a:r>
              <a:rPr lang="zh-CN" altLang="en-US" sz="2800" dirty="0">
                <a:latin typeface="Times New Roman" panose="02020603050405020304" pitchFamily="18" charset="0"/>
                <a:cs typeface="Times New Roman" panose="02020603050405020304" pitchFamily="18" charset="0"/>
              </a:rPr>
              <a:t>的工作流程</a:t>
            </a:r>
            <a:endParaRPr lang="en-US" altLang="zh-CN" sz="2800" dirty="0">
              <a:latin typeface="Times New Roman" panose="02020603050405020304" pitchFamily="18" charset="0"/>
              <a:cs typeface="Times New Roman" panose="02020603050405020304" pitchFamily="18" charset="0"/>
            </a:endParaRPr>
          </a:p>
        </p:txBody>
      </p:sp>
      <p:sp>
        <p:nvSpPr>
          <p:cNvPr id="22" name="Oval 4"/>
          <p:cNvSpPr>
            <a:spLocks noChangeArrowheads="1"/>
          </p:cNvSpPr>
          <p:nvPr/>
        </p:nvSpPr>
        <p:spPr bwMode="auto">
          <a:xfrm>
            <a:off x="2444712" y="3026228"/>
            <a:ext cx="365137" cy="337456"/>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A</a:t>
            </a:r>
            <a:endParaRPr lang="zh-CN" altLang="en-US" b="1" dirty="0">
              <a:latin typeface="Times New Roman" panose="02020603050405020304" pitchFamily="18" charset="0"/>
              <a:cs typeface="Times New Roman" panose="02020603050405020304" pitchFamily="18" charset="0"/>
            </a:endParaRPr>
          </a:p>
        </p:txBody>
      </p:sp>
      <p:sp>
        <p:nvSpPr>
          <p:cNvPr id="23" name="Oval 5"/>
          <p:cNvSpPr>
            <a:spLocks noChangeArrowheads="1"/>
          </p:cNvSpPr>
          <p:nvPr/>
        </p:nvSpPr>
        <p:spPr bwMode="auto">
          <a:xfrm>
            <a:off x="4466383" y="2993572"/>
            <a:ext cx="425242" cy="435428"/>
          </a:xfrm>
          <a:prstGeom prst="ellipse">
            <a:avLst/>
          </a:prstGeom>
          <a:solidFill>
            <a:schemeClr val="folHlink"/>
          </a:solidFill>
          <a:ln w="25400">
            <a:solidFill>
              <a:schemeClr val="tx1"/>
            </a:solidFill>
            <a:round/>
            <a:headEnd/>
            <a:tailEnd/>
          </a:ln>
        </p:spPr>
        <p:txBody>
          <a:bodyPr wrap="none" anchor="ctr"/>
          <a:lstStyle/>
          <a:p>
            <a:r>
              <a:rPr lang="en-US" altLang="zh-CN" b="1" dirty="0">
                <a:latin typeface="Times New Roman" panose="02020603050405020304" pitchFamily="18" charset="0"/>
                <a:cs typeface="Times New Roman" panose="02020603050405020304" pitchFamily="18" charset="0"/>
              </a:rPr>
              <a:t>S</a:t>
            </a:r>
            <a:endParaRPr lang="zh-CN" altLang="en-US" b="1" dirty="0">
              <a:latin typeface="Times New Roman" panose="02020603050405020304" pitchFamily="18" charset="0"/>
              <a:cs typeface="Times New Roman" panose="02020603050405020304" pitchFamily="18" charset="0"/>
            </a:endParaRPr>
          </a:p>
        </p:txBody>
      </p:sp>
      <p:sp>
        <p:nvSpPr>
          <p:cNvPr id="24" name="Oval 6"/>
          <p:cNvSpPr>
            <a:spLocks noChangeArrowheads="1"/>
          </p:cNvSpPr>
          <p:nvPr/>
        </p:nvSpPr>
        <p:spPr bwMode="auto">
          <a:xfrm>
            <a:off x="1232868" y="4307167"/>
            <a:ext cx="426842" cy="346868"/>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D</a:t>
            </a:r>
            <a:endParaRPr lang="zh-CN" altLang="en-US" b="1" dirty="0">
              <a:latin typeface="Times New Roman" panose="02020603050405020304" pitchFamily="18" charset="0"/>
              <a:cs typeface="Times New Roman" panose="02020603050405020304" pitchFamily="18" charset="0"/>
            </a:endParaRPr>
          </a:p>
        </p:txBody>
      </p:sp>
      <p:sp>
        <p:nvSpPr>
          <p:cNvPr id="25" name="Oval 7"/>
          <p:cNvSpPr>
            <a:spLocks noChangeArrowheads="1"/>
          </p:cNvSpPr>
          <p:nvPr/>
        </p:nvSpPr>
        <p:spPr bwMode="auto">
          <a:xfrm>
            <a:off x="375842" y="3020611"/>
            <a:ext cx="405815" cy="343073"/>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C</a:t>
            </a:r>
            <a:endParaRPr lang="zh-CN" altLang="en-US" b="1" dirty="0">
              <a:latin typeface="Times New Roman" panose="02020603050405020304" pitchFamily="18" charset="0"/>
              <a:cs typeface="Times New Roman" panose="02020603050405020304" pitchFamily="18" charset="0"/>
            </a:endParaRPr>
          </a:p>
        </p:txBody>
      </p:sp>
      <p:sp>
        <p:nvSpPr>
          <p:cNvPr id="26" name="Oval 8"/>
          <p:cNvSpPr>
            <a:spLocks noChangeArrowheads="1"/>
          </p:cNvSpPr>
          <p:nvPr/>
        </p:nvSpPr>
        <p:spPr bwMode="auto">
          <a:xfrm>
            <a:off x="1371373" y="1676400"/>
            <a:ext cx="376651" cy="330875"/>
          </a:xfrm>
          <a:prstGeom prst="ellipse">
            <a:avLst/>
          </a:prstGeom>
          <a:noFill/>
          <a:ln w="25400">
            <a:solidFill>
              <a:schemeClr val="tx1"/>
            </a:solidFill>
            <a:round/>
            <a:headEnd/>
            <a:tailEnd/>
          </a:ln>
        </p:spPr>
        <p:txBody>
          <a:bodyPr wrap="none" anchor="ctr"/>
          <a:lstStyle/>
          <a:p>
            <a:pPr algn="ctr"/>
            <a:r>
              <a:rPr lang="en-US" altLang="zh-CN" b="1" dirty="0">
                <a:latin typeface="Times New Roman" panose="02020603050405020304" pitchFamily="18" charset="0"/>
                <a:cs typeface="Times New Roman" panose="02020603050405020304" pitchFamily="18" charset="0"/>
              </a:rPr>
              <a:t>B</a:t>
            </a:r>
            <a:endParaRPr lang="zh-CN" altLang="en-US" b="1" dirty="0">
              <a:latin typeface="Times New Roman" panose="02020603050405020304" pitchFamily="18" charset="0"/>
              <a:cs typeface="Times New Roman" panose="02020603050405020304" pitchFamily="18" charset="0"/>
            </a:endParaRPr>
          </a:p>
        </p:txBody>
      </p:sp>
      <p:grpSp>
        <p:nvGrpSpPr>
          <p:cNvPr id="27" name="Group 9"/>
          <p:cNvGrpSpPr>
            <a:grpSpLocks/>
          </p:cNvGrpSpPr>
          <p:nvPr/>
        </p:nvGrpSpPr>
        <p:grpSpPr bwMode="auto">
          <a:xfrm>
            <a:off x="2834802" y="2797010"/>
            <a:ext cx="1616075" cy="420688"/>
            <a:chOff x="2657" y="2392"/>
            <a:chExt cx="814" cy="265"/>
          </a:xfrm>
        </p:grpSpPr>
        <p:sp>
          <p:nvSpPr>
            <p:cNvPr id="28" name="Line 10"/>
            <p:cNvSpPr>
              <a:spLocks noChangeShapeType="1"/>
            </p:cNvSpPr>
            <p:nvPr/>
          </p:nvSpPr>
          <p:spPr bwMode="auto">
            <a:xfrm flipH="1">
              <a:off x="2657" y="2657"/>
              <a:ext cx="814" cy="0"/>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29" name="Text Box 11"/>
            <p:cNvSpPr txBox="1">
              <a:spLocks noChangeArrowheads="1"/>
            </p:cNvSpPr>
            <p:nvPr/>
          </p:nvSpPr>
          <p:spPr bwMode="auto">
            <a:xfrm>
              <a:off x="2879" y="2392"/>
              <a:ext cx="374"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ADV</a:t>
              </a:r>
            </a:p>
          </p:txBody>
        </p:sp>
      </p:grpSp>
      <p:grpSp>
        <p:nvGrpSpPr>
          <p:cNvPr id="30" name="Group 12"/>
          <p:cNvGrpSpPr>
            <a:grpSpLocks/>
          </p:cNvGrpSpPr>
          <p:nvPr/>
        </p:nvGrpSpPr>
        <p:grpSpPr bwMode="auto">
          <a:xfrm>
            <a:off x="2888854" y="3200506"/>
            <a:ext cx="1616075" cy="434975"/>
            <a:chOff x="2657" y="2650"/>
            <a:chExt cx="814" cy="274"/>
          </a:xfrm>
        </p:grpSpPr>
        <p:sp>
          <p:nvSpPr>
            <p:cNvPr id="31" name="Line 13"/>
            <p:cNvSpPr>
              <a:spLocks noChangeShapeType="1"/>
            </p:cNvSpPr>
            <p:nvPr/>
          </p:nvSpPr>
          <p:spPr bwMode="auto">
            <a:xfrm flipV="1">
              <a:off x="2657" y="2650"/>
              <a:ext cx="814" cy="7"/>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a:lstStyle/>
            <a:p>
              <a:endParaRPr lang="zh-CN" altLang="en-US" b="1">
                <a:latin typeface="Times New Roman" panose="02020603050405020304" pitchFamily="18" charset="0"/>
                <a:cs typeface="Times New Roman" panose="02020603050405020304" pitchFamily="18" charset="0"/>
              </a:endParaRPr>
            </a:p>
          </p:txBody>
        </p:sp>
        <p:sp>
          <p:nvSpPr>
            <p:cNvPr id="32" name="Text Box 14"/>
            <p:cNvSpPr txBox="1">
              <a:spLocks noChangeArrowheads="1"/>
            </p:cNvSpPr>
            <p:nvPr/>
          </p:nvSpPr>
          <p:spPr bwMode="auto">
            <a:xfrm>
              <a:off x="2887" y="2672"/>
              <a:ext cx="373"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REQ</a:t>
              </a:r>
            </a:p>
          </p:txBody>
        </p:sp>
      </p:grpSp>
      <p:grpSp>
        <p:nvGrpSpPr>
          <p:cNvPr id="33" name="Group 15"/>
          <p:cNvGrpSpPr>
            <a:grpSpLocks/>
          </p:cNvGrpSpPr>
          <p:nvPr/>
        </p:nvGrpSpPr>
        <p:grpSpPr bwMode="auto">
          <a:xfrm>
            <a:off x="2846265" y="2397452"/>
            <a:ext cx="1584325" cy="811213"/>
            <a:chOff x="2673" y="2146"/>
            <a:chExt cx="798" cy="511"/>
          </a:xfrm>
        </p:grpSpPr>
        <p:sp>
          <p:nvSpPr>
            <p:cNvPr id="34" name="Line 16"/>
            <p:cNvSpPr>
              <a:spLocks noChangeShapeType="1"/>
            </p:cNvSpPr>
            <p:nvPr/>
          </p:nvSpPr>
          <p:spPr bwMode="auto">
            <a:xfrm flipH="1">
              <a:off x="2673" y="2657"/>
              <a:ext cx="798" cy="0"/>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35" name="Text Box 17"/>
            <p:cNvSpPr txBox="1">
              <a:spLocks noChangeArrowheads="1"/>
            </p:cNvSpPr>
            <p:nvPr/>
          </p:nvSpPr>
          <p:spPr bwMode="auto">
            <a:xfrm>
              <a:off x="2858" y="2146"/>
              <a:ext cx="441"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DATA</a:t>
              </a:r>
            </a:p>
          </p:txBody>
        </p:sp>
      </p:grpSp>
      <p:grpSp>
        <p:nvGrpSpPr>
          <p:cNvPr id="36" name="Group 18"/>
          <p:cNvGrpSpPr>
            <a:grpSpLocks/>
          </p:cNvGrpSpPr>
          <p:nvPr/>
        </p:nvGrpSpPr>
        <p:grpSpPr bwMode="auto">
          <a:xfrm>
            <a:off x="778465" y="1983634"/>
            <a:ext cx="1709737" cy="2352675"/>
            <a:chOff x="1689" y="1905"/>
            <a:chExt cx="861" cy="1482"/>
          </a:xfrm>
        </p:grpSpPr>
        <p:sp>
          <p:nvSpPr>
            <p:cNvPr id="38" name="Line 20"/>
            <p:cNvSpPr>
              <a:spLocks noChangeShapeType="1"/>
            </p:cNvSpPr>
            <p:nvPr/>
          </p:nvSpPr>
          <p:spPr bwMode="auto">
            <a:xfrm flipH="1" flipV="1">
              <a:off x="1689" y="2672"/>
              <a:ext cx="807" cy="1"/>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39" name="Line 21"/>
            <p:cNvSpPr>
              <a:spLocks noChangeShapeType="1"/>
            </p:cNvSpPr>
            <p:nvPr/>
          </p:nvSpPr>
          <p:spPr bwMode="auto">
            <a:xfrm flipH="1">
              <a:off x="2097" y="2749"/>
              <a:ext cx="453" cy="638"/>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40" name="Text Box 22"/>
            <p:cNvSpPr txBox="1">
              <a:spLocks noChangeArrowheads="1"/>
            </p:cNvSpPr>
            <p:nvPr/>
          </p:nvSpPr>
          <p:spPr bwMode="auto">
            <a:xfrm>
              <a:off x="1843" y="2880"/>
              <a:ext cx="374"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ADV</a:t>
              </a:r>
            </a:p>
          </p:txBody>
        </p:sp>
        <p:sp>
          <p:nvSpPr>
            <p:cNvPr id="37" name="Line 19"/>
            <p:cNvSpPr>
              <a:spLocks noChangeShapeType="1"/>
            </p:cNvSpPr>
            <p:nvPr/>
          </p:nvSpPr>
          <p:spPr bwMode="auto">
            <a:xfrm flipH="1" flipV="1">
              <a:off x="2135" y="1905"/>
              <a:ext cx="392" cy="706"/>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grpSp>
      <p:grpSp>
        <p:nvGrpSpPr>
          <p:cNvPr id="41" name="Group 23"/>
          <p:cNvGrpSpPr>
            <a:grpSpLocks/>
          </p:cNvGrpSpPr>
          <p:nvPr/>
        </p:nvGrpSpPr>
        <p:grpSpPr bwMode="auto">
          <a:xfrm>
            <a:off x="773681" y="3196484"/>
            <a:ext cx="1654175" cy="1116013"/>
            <a:chOff x="1705" y="2680"/>
            <a:chExt cx="833" cy="703"/>
          </a:xfrm>
        </p:grpSpPr>
        <p:sp>
          <p:nvSpPr>
            <p:cNvPr id="42" name="Line 24"/>
            <p:cNvSpPr>
              <a:spLocks noChangeShapeType="1"/>
            </p:cNvSpPr>
            <p:nvPr/>
          </p:nvSpPr>
          <p:spPr bwMode="auto">
            <a:xfrm>
              <a:off x="1705" y="2680"/>
              <a:ext cx="791" cy="0"/>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a:lstStyle/>
            <a:p>
              <a:endParaRPr lang="zh-CN" altLang="en-US" b="1">
                <a:latin typeface="Times New Roman" panose="02020603050405020304" pitchFamily="18" charset="0"/>
                <a:cs typeface="Times New Roman" panose="02020603050405020304" pitchFamily="18" charset="0"/>
              </a:endParaRPr>
            </a:p>
          </p:txBody>
        </p:sp>
        <p:sp>
          <p:nvSpPr>
            <p:cNvPr id="43" name="Line 25"/>
            <p:cNvSpPr>
              <a:spLocks noChangeShapeType="1"/>
            </p:cNvSpPr>
            <p:nvPr/>
          </p:nvSpPr>
          <p:spPr bwMode="auto">
            <a:xfrm flipV="1">
              <a:off x="2107" y="2760"/>
              <a:ext cx="431" cy="623"/>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a:lstStyle/>
            <a:p>
              <a:endParaRPr lang="zh-CN" altLang="en-US" b="1">
                <a:latin typeface="Times New Roman" panose="02020603050405020304" pitchFamily="18" charset="0"/>
                <a:cs typeface="Times New Roman" panose="02020603050405020304" pitchFamily="18" charset="0"/>
              </a:endParaRPr>
            </a:p>
          </p:txBody>
        </p:sp>
        <p:sp>
          <p:nvSpPr>
            <p:cNvPr id="44" name="Text Box 26"/>
            <p:cNvSpPr txBox="1">
              <a:spLocks noChangeArrowheads="1"/>
            </p:cNvSpPr>
            <p:nvPr/>
          </p:nvSpPr>
          <p:spPr bwMode="auto">
            <a:xfrm>
              <a:off x="1869" y="2727"/>
              <a:ext cx="373"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REQ</a:t>
              </a:r>
            </a:p>
          </p:txBody>
        </p:sp>
      </p:grpSp>
      <p:grpSp>
        <p:nvGrpSpPr>
          <p:cNvPr id="45" name="Group 27"/>
          <p:cNvGrpSpPr>
            <a:grpSpLocks/>
          </p:cNvGrpSpPr>
          <p:nvPr/>
        </p:nvGrpSpPr>
        <p:grpSpPr bwMode="auto">
          <a:xfrm>
            <a:off x="801533" y="2659512"/>
            <a:ext cx="1670050" cy="1655763"/>
            <a:chOff x="1693" y="2352"/>
            <a:chExt cx="841" cy="1043"/>
          </a:xfrm>
        </p:grpSpPr>
        <p:sp>
          <p:nvSpPr>
            <p:cNvPr id="46" name="Line 28"/>
            <p:cNvSpPr>
              <a:spLocks noChangeShapeType="1"/>
            </p:cNvSpPr>
            <p:nvPr/>
          </p:nvSpPr>
          <p:spPr bwMode="auto">
            <a:xfrm flipH="1">
              <a:off x="1693" y="2684"/>
              <a:ext cx="814" cy="0"/>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47" name="Text Box 29"/>
            <p:cNvSpPr txBox="1">
              <a:spLocks noChangeArrowheads="1"/>
            </p:cNvSpPr>
            <p:nvPr/>
          </p:nvSpPr>
          <p:spPr bwMode="auto">
            <a:xfrm>
              <a:off x="1843" y="2352"/>
              <a:ext cx="441" cy="252"/>
            </a:xfrm>
            <a:prstGeom prst="rect">
              <a:avLst/>
            </a:prstGeom>
            <a:noFill/>
            <a:ln>
              <a:noFill/>
            </a:ln>
            <a:effectLst/>
            <a:extLst>
              <a:ext uri="{909E8E84-426E-40dd-AFC4-6F175D3DCCD1}"/>
              <a:ext uri="{91240B29-F687-4f45-9708-019B960494DF}"/>
              <a:ext uri="{AF507438-7753-43e0-B8FC-AC1667EBCBE1}"/>
            </a:extLst>
          </p:spPr>
          <p:txBody>
            <a:bodyPr wrap="none">
              <a:spAutoFit/>
            </a:bodyPr>
            <a:lstStyle/>
            <a:p>
              <a:pPr>
                <a:buFont typeface="Monotype Sorts" charset="0"/>
                <a:buNone/>
                <a:defRPr/>
              </a:pPr>
              <a:r>
                <a:rPr lang="en-US" sz="2000" b="1" dirty="0">
                  <a:latin typeface="Times New Roman" panose="02020603050405020304" pitchFamily="18" charset="0"/>
                  <a:ea typeface="宋体" charset="0"/>
                  <a:cs typeface="Times New Roman" panose="02020603050405020304" pitchFamily="18" charset="0"/>
                </a:rPr>
                <a:t>DATA</a:t>
              </a:r>
            </a:p>
          </p:txBody>
        </p:sp>
        <p:sp>
          <p:nvSpPr>
            <p:cNvPr id="48" name="Line 30"/>
            <p:cNvSpPr>
              <a:spLocks noChangeShapeType="1"/>
            </p:cNvSpPr>
            <p:nvPr/>
          </p:nvSpPr>
          <p:spPr bwMode="auto">
            <a:xfrm flipH="1">
              <a:off x="2097" y="2749"/>
              <a:ext cx="437" cy="646"/>
            </a:xfrm>
            <a:prstGeom prst="line">
              <a:avLst/>
            </a:prstGeom>
            <a:noFill/>
            <a:ln w="25400">
              <a:solidFill>
                <a:srgbClr val="FF0000"/>
              </a:solidFill>
              <a:round/>
              <a:headEnd/>
              <a:tailEnd type="triangle" w="med" len="med"/>
            </a:ln>
          </p:spPr>
          <p:txBody>
            <a:bodyPr/>
            <a:lstStyle/>
            <a:p>
              <a:endParaRPr lang="zh-CN" altLang="en-US" b="1">
                <a:latin typeface="Times New Roman" panose="02020603050405020304" pitchFamily="18" charset="0"/>
                <a:cs typeface="Times New Roman" panose="02020603050405020304" pitchFamily="18" charset="0"/>
              </a:endParaRPr>
            </a:p>
          </p:txBody>
        </p:sp>
      </p:grpSp>
      <p:sp>
        <p:nvSpPr>
          <p:cNvPr id="49" name="Text Box 14"/>
          <p:cNvSpPr txBox="1">
            <a:spLocks noChangeArrowheads="1"/>
          </p:cNvSpPr>
          <p:nvPr/>
        </p:nvSpPr>
        <p:spPr bwMode="auto">
          <a:xfrm>
            <a:off x="5125931" y="1332018"/>
            <a:ext cx="3816901"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spcBef>
                <a:spcPct val="500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节点</a:t>
            </a:r>
            <a:r>
              <a:rPr lang="en-US" altLang="zh-CN" sz="2000" dirty="0">
                <a:latin typeface="Times New Roman" panose="02020603050405020304" pitchFamily="18" charset="0"/>
                <a:cs typeface="Times New Roman" panose="02020603050405020304" pitchFamily="18" charset="0"/>
              </a:rPr>
              <a:t>S</a:t>
            </a:r>
            <a:r>
              <a:rPr lang="zh-CN" altLang="en-US" sz="2000" dirty="0">
                <a:latin typeface="Times New Roman" panose="02020603050405020304" pitchFamily="18" charset="0"/>
                <a:cs typeface="Times New Roman" panose="02020603050405020304" pitchFamily="18" charset="0"/>
              </a:rPr>
              <a:t>有新数据，通过</a:t>
            </a:r>
            <a:r>
              <a:rPr lang="en-US" altLang="zh-CN" sz="2000" dirty="0">
                <a:latin typeface="Times New Roman" panose="02020603050405020304" pitchFamily="18" charset="0"/>
                <a:cs typeface="Times New Roman" panose="02020603050405020304" pitchFamily="18" charset="0"/>
              </a:rPr>
              <a:t>ADV</a:t>
            </a:r>
            <a:r>
              <a:rPr lang="zh-CN" altLang="en-US" sz="2000" dirty="0">
                <a:latin typeface="Times New Roman" panose="02020603050405020304" pitchFamily="18" charset="0"/>
                <a:cs typeface="Times New Roman" panose="02020603050405020304" pitchFamily="18" charset="0"/>
              </a:rPr>
              <a:t>发布新数据信息，使用元数据</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节点收到</a:t>
            </a:r>
            <a:r>
              <a:rPr lang="en-US" altLang="zh-CN" sz="2000" dirty="0">
                <a:latin typeface="Times New Roman" panose="02020603050405020304" pitchFamily="18" charset="0"/>
                <a:cs typeface="Times New Roman" panose="02020603050405020304" pitchFamily="18" charset="0"/>
              </a:rPr>
              <a:t>ADV</a:t>
            </a:r>
            <a:r>
              <a:rPr lang="zh-CN" altLang="en-US" sz="2000" dirty="0">
                <a:latin typeface="Times New Roman" panose="02020603050405020304" pitchFamily="18" charset="0"/>
                <a:cs typeface="Times New Roman" panose="02020603050405020304" pitchFamily="18" charset="0"/>
              </a:rPr>
              <a:t>后，发现自己没有该数据</a:t>
            </a:r>
            <a:r>
              <a:rPr lang="zh-CN" altLang="en-US" sz="2000" b="1" dirty="0">
                <a:solidFill>
                  <a:srgbClr val="C00000"/>
                </a:solidFill>
                <a:latin typeface="Times New Roman" panose="02020603050405020304" pitchFamily="18" charset="0"/>
                <a:cs typeface="Times New Roman" panose="02020603050405020304" pitchFamily="18" charset="0"/>
              </a:rPr>
              <a:t>且自身能量超过一定阈值</a:t>
            </a:r>
            <a:r>
              <a:rPr lang="zh-CN" altLang="en-US" sz="2000" dirty="0">
                <a:latin typeface="Times New Roman" panose="02020603050405020304" pitchFamily="18" charset="0"/>
                <a:cs typeface="Times New Roman" panose="02020603050405020304" pitchFamily="18" charset="0"/>
              </a:rPr>
              <a:t>，通过</a:t>
            </a:r>
            <a:r>
              <a:rPr lang="en-US" altLang="zh-CN" sz="2000" dirty="0">
                <a:latin typeface="Times New Roman" panose="02020603050405020304" pitchFamily="18" charset="0"/>
                <a:cs typeface="Times New Roman" panose="02020603050405020304" pitchFamily="18" charset="0"/>
              </a:rPr>
              <a:t>REQ</a:t>
            </a:r>
            <a:r>
              <a:rPr lang="zh-CN" altLang="en-US" sz="2000" dirty="0">
                <a:latin typeface="Times New Roman" panose="02020603050405020304" pitchFamily="18" charset="0"/>
                <a:cs typeface="Times New Roman" panose="02020603050405020304" pitchFamily="18" charset="0"/>
              </a:rPr>
              <a:t>向</a:t>
            </a:r>
            <a:r>
              <a:rPr lang="en-US" altLang="zh-CN" sz="2000" dirty="0">
                <a:latin typeface="Times New Roman" panose="02020603050405020304" pitchFamily="18" charset="0"/>
                <a:cs typeface="Times New Roman" panose="02020603050405020304" pitchFamily="18" charset="0"/>
              </a:rPr>
              <a:t>S</a:t>
            </a:r>
            <a:r>
              <a:rPr lang="zh-CN" altLang="en-US" sz="2000" dirty="0">
                <a:solidFill>
                  <a:srgbClr val="FF000A"/>
                </a:solidFill>
                <a:latin typeface="Times New Roman" panose="02020603050405020304" pitchFamily="18" charset="0"/>
                <a:cs typeface="Times New Roman" panose="02020603050405020304" pitchFamily="18" charset="0"/>
              </a:rPr>
              <a:t>请求</a:t>
            </a:r>
            <a:r>
              <a:rPr lang="zh-CN" altLang="en-US" sz="2000" dirty="0">
                <a:latin typeface="Times New Roman" panose="02020603050405020304" pitchFamily="18" charset="0"/>
                <a:cs typeface="Times New Roman" panose="02020603050405020304" pitchFamily="18" charset="0"/>
              </a:rPr>
              <a:t>新数据</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 S</a:t>
            </a:r>
            <a:r>
              <a:rPr lang="zh-CN" altLang="en-US" sz="2000" dirty="0">
                <a:latin typeface="Times New Roman" panose="02020603050405020304" pitchFamily="18" charset="0"/>
                <a:cs typeface="Times New Roman" panose="02020603050405020304" pitchFamily="18" charset="0"/>
              </a:rPr>
              <a:t>节点向</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节点传送源数据</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节点融合新数据，并通过</a:t>
            </a:r>
            <a:r>
              <a:rPr lang="en-US" altLang="zh-CN" sz="2000" dirty="0">
                <a:latin typeface="Times New Roman" panose="02020603050405020304" pitchFamily="18" charset="0"/>
                <a:cs typeface="Times New Roman" panose="02020603050405020304" pitchFamily="18" charset="0"/>
              </a:rPr>
              <a:t>ADV</a:t>
            </a:r>
            <a:r>
              <a:rPr lang="zh-CN" altLang="en-US" sz="2000" dirty="0">
                <a:latin typeface="Times New Roman" panose="02020603050405020304" pitchFamily="18" charset="0"/>
                <a:cs typeface="Times New Roman" panose="02020603050405020304" pitchFamily="18" charset="0"/>
              </a:rPr>
              <a:t>发布新数据消息</a:t>
            </a:r>
            <a:endParaRPr lang="en-US" altLang="zh-CN" sz="2000" dirty="0">
              <a:latin typeface="Times New Roman" panose="02020603050405020304" pitchFamily="18" charset="0"/>
              <a:cs typeface="Times New Roman" panose="02020603050405020304" pitchFamily="18" charset="0"/>
            </a:endParaRPr>
          </a:p>
          <a:p>
            <a:pPr marL="342900" indent="-342900" eaLnBrk="1" hangingPunct="1">
              <a:spcBef>
                <a:spcPct val="50000"/>
              </a:spcBef>
              <a:buFont typeface="Wingdings" panose="05000000000000000000" pitchFamily="2" charset="2"/>
              <a:buChar char="l"/>
            </a:pPr>
            <a:r>
              <a:rPr lang="zh-CN" altLang="en-US" sz="2000" dirty="0">
                <a:solidFill>
                  <a:srgbClr val="0070C0"/>
                </a:solidFill>
                <a:latin typeface="Times New Roman" panose="02020603050405020304" pitchFamily="18" charset="0"/>
                <a:cs typeface="Times New Roman" panose="02020603050405020304" pitchFamily="18" charset="0"/>
              </a:rPr>
              <a:t>如果节点有</a:t>
            </a:r>
            <a:r>
              <a:rPr lang="en-US" altLang="zh-CN" sz="2000" dirty="0">
                <a:solidFill>
                  <a:srgbClr val="0070C0"/>
                </a:solidFill>
                <a:latin typeface="Times New Roman" panose="02020603050405020304" pitchFamily="18" charset="0"/>
                <a:cs typeface="Times New Roman" panose="02020603050405020304" pitchFamily="18" charset="0"/>
              </a:rPr>
              <a:t>ADV</a:t>
            </a:r>
            <a:r>
              <a:rPr lang="zh-CN" altLang="en-US" sz="2000" dirty="0">
                <a:solidFill>
                  <a:srgbClr val="0070C0"/>
                </a:solidFill>
                <a:latin typeface="Times New Roman" panose="02020603050405020304" pitchFamily="18" charset="0"/>
                <a:cs typeface="Times New Roman" panose="02020603050405020304" pitchFamily="18" charset="0"/>
              </a:rPr>
              <a:t>中描述的数据的副本</a:t>
            </a:r>
            <a:r>
              <a:rPr lang="zh-CN" altLang="en-US" sz="2000" b="1" dirty="0">
                <a:solidFill>
                  <a:srgbClr val="0070C0"/>
                </a:solidFill>
                <a:latin typeface="Times New Roman" panose="02020603050405020304" pitchFamily="18" charset="0"/>
                <a:cs typeface="Times New Roman" panose="02020603050405020304" pitchFamily="18" charset="0"/>
              </a:rPr>
              <a:t>或本身能量低于阈值</a:t>
            </a:r>
            <a:r>
              <a:rPr lang="zh-CN" altLang="en-US" sz="2000" dirty="0">
                <a:solidFill>
                  <a:srgbClr val="0070C0"/>
                </a:solidFill>
                <a:latin typeface="Times New Roman" panose="02020603050405020304" pitchFamily="18" charset="0"/>
                <a:cs typeface="Times New Roman" panose="02020603050405020304" pitchFamily="18" charset="0"/>
              </a:rPr>
              <a:t>就忽略该消息</a:t>
            </a:r>
          </a:p>
        </p:txBody>
      </p:sp>
      <p:sp>
        <p:nvSpPr>
          <p:cNvPr id="50" name="文本框 49">
            <a:extLst>
              <a:ext uri="{FF2B5EF4-FFF2-40B4-BE49-F238E27FC236}">
                <a16:creationId xmlns:a16="http://schemas.microsoft.com/office/drawing/2014/main" id="{EAAF7C9A-A376-4C36-B65B-55645A8B955F}"/>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314658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9">
                                            <p:txEl>
                                              <p:pRg st="0" end="0"/>
                                            </p:txEl>
                                          </p:spTgt>
                                        </p:tgtEl>
                                        <p:attrNameLst>
                                          <p:attrName>style.visibility</p:attrName>
                                        </p:attrNameLst>
                                      </p:cBhvr>
                                      <p:to>
                                        <p:strVal val="visible"/>
                                      </p:to>
                                    </p:set>
                                    <p:animEffect transition="in" filter="fade">
                                      <p:cBhvr>
                                        <p:cTn id="24" dur="500"/>
                                        <p:tgtEl>
                                          <p:spTgt spid="4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9">
                                            <p:txEl>
                                              <p:pRg st="1" end="1"/>
                                            </p:txEl>
                                          </p:spTgt>
                                        </p:tgtEl>
                                        <p:attrNameLst>
                                          <p:attrName>style.visibility</p:attrName>
                                        </p:attrNameLst>
                                      </p:cBhvr>
                                      <p:to>
                                        <p:strVal val="visible"/>
                                      </p:to>
                                    </p:set>
                                    <p:animEffect transition="in" filter="fade">
                                      <p:cBhvr>
                                        <p:cTn id="29" dur="500"/>
                                        <p:tgtEl>
                                          <p:spTgt spid="4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9">
                                            <p:txEl>
                                              <p:pRg st="2" end="2"/>
                                            </p:txEl>
                                          </p:spTgt>
                                        </p:tgtEl>
                                        <p:attrNameLst>
                                          <p:attrName>style.visibility</p:attrName>
                                        </p:attrNameLst>
                                      </p:cBhvr>
                                      <p:to>
                                        <p:strVal val="visible"/>
                                      </p:to>
                                    </p:set>
                                    <p:animEffect transition="in" filter="fade">
                                      <p:cBhvr>
                                        <p:cTn id="34" dur="500"/>
                                        <p:tgtEl>
                                          <p:spTgt spid="49">
                                            <p:txEl>
                                              <p:pRg st="2" end="2"/>
                                            </p:txEl>
                                          </p:spTgt>
                                        </p:tgtEl>
                                      </p:cBhvr>
                                    </p:animEffect>
                                  </p:childTnLst>
                                </p:cTn>
                              </p:par>
                              <p:par>
                                <p:cTn id="35" presetID="22" presetClass="entr" presetSubtype="2"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righ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27"/>
                                        </p:tgtEl>
                                        <p:attrNameLst>
                                          <p:attrName>style.visibility</p:attrName>
                                        </p:attrNameLst>
                                      </p:cBhvr>
                                      <p:to>
                                        <p:strVal val="hidden"/>
                                      </p:to>
                                    </p:set>
                                  </p:childTnLst>
                                </p:cTn>
                              </p:par>
                              <p:par>
                                <p:cTn id="42" presetID="22" presetClass="entr" presetSubtype="8"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left)">
                                      <p:cBhvr>
                                        <p:cTn id="44" dur="5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30"/>
                                        </p:tgtEl>
                                        <p:attrNameLst>
                                          <p:attrName>style.visibility</p:attrName>
                                        </p:attrNameLst>
                                      </p:cBhvr>
                                      <p:to>
                                        <p:strVal val="hidden"/>
                                      </p:to>
                                    </p:set>
                                  </p:childTnLst>
                                </p:cTn>
                              </p:par>
                              <p:par>
                                <p:cTn id="49" presetID="22" presetClass="entr" presetSubtype="2"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right)">
                                      <p:cBhvr>
                                        <p:cTn id="51" dur="5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3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9">
                                            <p:txEl>
                                              <p:pRg st="3" end="3"/>
                                            </p:txEl>
                                          </p:spTgt>
                                        </p:tgtEl>
                                        <p:attrNameLst>
                                          <p:attrName>style.visibility</p:attrName>
                                        </p:attrNameLst>
                                      </p:cBhvr>
                                      <p:to>
                                        <p:strVal val="visible"/>
                                      </p:to>
                                    </p:set>
                                    <p:animEffect transition="in" filter="fade">
                                      <p:cBhvr>
                                        <p:cTn id="60" dur="500"/>
                                        <p:tgtEl>
                                          <p:spTgt spid="49">
                                            <p:txEl>
                                              <p:pRg st="3" end="3"/>
                                            </p:txEl>
                                          </p:spTgt>
                                        </p:tgtEl>
                                      </p:cBhvr>
                                    </p:animEffect>
                                  </p:childTnLst>
                                </p:cTn>
                              </p:par>
                              <p:par>
                                <p:cTn id="61" presetID="22" presetClass="entr" presetSubtype="2"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wipe(right)">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nodeType="clickEffect">
                                  <p:stCondLst>
                                    <p:cond delay="0"/>
                                  </p:stCondLst>
                                  <p:childTnLst>
                                    <p:set>
                                      <p:cBhvr>
                                        <p:cTn id="67" dur="1" fill="hold">
                                          <p:stCondLst>
                                            <p:cond delay="0"/>
                                          </p:stCondLst>
                                        </p:cTn>
                                        <p:tgtEl>
                                          <p:spTgt spid="3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9">
                                            <p:txEl>
                                              <p:pRg st="4" end="4"/>
                                            </p:txEl>
                                          </p:spTgt>
                                        </p:tgtEl>
                                        <p:attrNameLst>
                                          <p:attrName>style.visibility</p:attrName>
                                        </p:attrNameLst>
                                      </p:cBhvr>
                                      <p:to>
                                        <p:strVal val="visible"/>
                                      </p:to>
                                    </p:set>
                                    <p:animEffect transition="in" filter="fade">
                                      <p:cBhvr>
                                        <p:cTn id="72" dur="500"/>
                                        <p:tgtEl>
                                          <p:spTgt spid="49">
                                            <p:txEl>
                                              <p:pRg st="4" end="4"/>
                                            </p:txEl>
                                          </p:spTgt>
                                        </p:tgtEl>
                                      </p:cBhvr>
                                    </p:animEffect>
                                  </p:childTnLst>
                                </p:cTn>
                              </p:par>
                              <p:par>
                                <p:cTn id="73" presetID="22" presetClass="entr" presetSubtype="8"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500"/>
                                        <p:tgtEl>
                                          <p:spTgt spid="41"/>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41"/>
                                        </p:tgtEl>
                                        <p:attrNameLst>
                                          <p:attrName>style.visibility</p:attrName>
                                        </p:attrNameLst>
                                      </p:cBhvr>
                                      <p:to>
                                        <p:strVal val="hidden"/>
                                      </p:to>
                                    </p:set>
                                  </p:childTnLst>
                                </p:cTn>
                              </p:par>
                              <p:par>
                                <p:cTn id="80" presetID="22" presetClass="entr" presetSubtype="2" fill="hold"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right)">
                                      <p:cBhvr>
                                        <p:cTn id="8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42</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0377" y="497094"/>
            <a:ext cx="8617592" cy="5426101"/>
          </a:xfrm>
          <a:prstGeom prst="rect">
            <a:avLst/>
          </a:prstGeom>
          <a:noFill/>
        </p:spPr>
        <p:txBody>
          <a:bodyPr wrap="square" rtlCol="0">
            <a:spAutoFit/>
          </a:bodyPr>
          <a:lstStyle/>
          <a:p>
            <a:pPr>
              <a:spcAft>
                <a:spcPts val="600"/>
              </a:spcAft>
            </a:pPr>
            <a:r>
              <a:rPr lang="en-US" altLang="zh-CN" sz="2800" b="1" u="sng" dirty="0">
                <a:latin typeface="Times New Roman" panose="02020603050405020304" pitchFamily="18" charset="0"/>
                <a:cs typeface="Times New Roman" panose="02020603050405020304" pitchFamily="18" charset="0"/>
              </a:rPr>
              <a:t>SPIN</a:t>
            </a:r>
            <a:r>
              <a:rPr lang="zh-CN" altLang="en-US" sz="2800" b="1" u="sng" dirty="0">
                <a:latin typeface="Times New Roman" panose="02020603050405020304" pitchFamily="18" charset="0"/>
                <a:cs typeface="Times New Roman" panose="02020603050405020304" pitchFamily="18" charset="0"/>
              </a:rPr>
              <a:t>协议总结</a:t>
            </a:r>
            <a:endParaRPr lang="en-US" altLang="zh-CN" sz="2800" b="1" u="sng" dirty="0">
              <a:latin typeface="Times New Roman" panose="02020603050405020304" pitchFamily="18" charset="0"/>
              <a:cs typeface="Times New Roman" panose="02020603050405020304" pitchFamily="18" charset="0"/>
            </a:endParaRPr>
          </a:p>
          <a:p>
            <a:pPr marL="514350" indent="-514350">
              <a:spcBef>
                <a:spcPct val="30000"/>
              </a:spcBef>
              <a:buFont typeface="+mj-ea"/>
              <a:buAutoNum type="circleNumDbPlain"/>
            </a:pPr>
            <a:r>
              <a:rPr lang="zh-CN" altLang="en-US" sz="2800" dirty="0">
                <a:latin typeface="Times New Roman" panose="02020603050405020304" pitchFamily="18" charset="0"/>
                <a:cs typeface="Times New Roman" panose="02020603050405020304" pitchFamily="18" charset="0"/>
              </a:rPr>
              <a:t>通过和邻居节点的协商来</a:t>
            </a:r>
            <a:r>
              <a:rPr lang="zh-CN" altLang="en-US" sz="2800" dirty="0">
                <a:solidFill>
                  <a:srgbClr val="FF000A"/>
                </a:solidFill>
                <a:latin typeface="Times New Roman" panose="02020603050405020304" pitchFamily="18" charset="0"/>
                <a:cs typeface="Times New Roman" panose="02020603050405020304" pitchFamily="18" charset="0"/>
              </a:rPr>
              <a:t>减少</a:t>
            </a:r>
            <a:r>
              <a:rPr lang="zh-CN" altLang="en-US" sz="2800" dirty="0">
                <a:latin typeface="Times New Roman" panose="02020603050405020304" pitchFamily="18" charset="0"/>
                <a:cs typeface="Times New Roman" panose="02020603050405020304" pitchFamily="18" charset="0"/>
              </a:rPr>
              <a:t>泛洪路由带来的</a:t>
            </a:r>
            <a:r>
              <a:rPr lang="zh-CN" altLang="en-US" sz="2800" dirty="0">
                <a:solidFill>
                  <a:srgbClr val="FF000A"/>
                </a:solidFill>
                <a:latin typeface="Times New Roman" panose="02020603050405020304" pitchFamily="18" charset="0"/>
                <a:cs typeface="Times New Roman" panose="02020603050405020304" pitchFamily="18" charset="0"/>
              </a:rPr>
              <a:t>信息爆炸和重叠</a:t>
            </a:r>
            <a:r>
              <a:rPr lang="zh-CN" altLang="en-US" sz="2800" dirty="0">
                <a:latin typeface="Times New Roman" panose="02020603050405020304" pitchFamily="18" charset="0"/>
                <a:cs typeface="Times New Roman" panose="02020603050405020304" pitchFamily="18" charset="0"/>
              </a:rPr>
              <a:t>的影响</a:t>
            </a:r>
          </a:p>
          <a:p>
            <a:pPr marL="514350" indent="-514350">
              <a:spcBef>
                <a:spcPct val="30000"/>
              </a:spcBef>
              <a:buFont typeface="+mj-ea"/>
              <a:buAutoNum type="circleNumDbPlain"/>
            </a:pPr>
            <a:r>
              <a:rPr lang="zh-CN" altLang="en-US" sz="2800" dirty="0">
                <a:latin typeface="Times New Roman" panose="02020603050405020304" pitchFamily="18" charset="0"/>
                <a:cs typeface="Times New Roman" panose="02020603050405020304" pitchFamily="18" charset="0"/>
              </a:rPr>
              <a:t>通过</a:t>
            </a:r>
            <a:r>
              <a:rPr lang="zh-CN" altLang="en-US" sz="2800" dirty="0">
                <a:solidFill>
                  <a:srgbClr val="FF000A"/>
                </a:solidFill>
                <a:latin typeface="Times New Roman" panose="02020603050405020304" pitchFamily="18" charset="0"/>
                <a:cs typeface="Times New Roman" panose="02020603050405020304" pitchFamily="18" charset="0"/>
              </a:rPr>
              <a:t>元数据</a:t>
            </a:r>
            <a:r>
              <a:rPr lang="zh-CN" altLang="en-US" sz="2800" dirty="0">
                <a:latin typeface="Times New Roman" panose="02020603050405020304" pitchFamily="18" charset="0"/>
                <a:cs typeface="Times New Roman" panose="02020603050405020304" pitchFamily="18" charset="0"/>
              </a:rPr>
              <a:t>来完成协商过程</a:t>
            </a:r>
            <a:endParaRPr lang="en-US" altLang="zh-CN" sz="2800" dirty="0">
              <a:latin typeface="Times New Roman" panose="02020603050405020304" pitchFamily="18" charset="0"/>
              <a:cs typeface="Times New Roman" panose="02020603050405020304" pitchFamily="18" charset="0"/>
            </a:endParaRPr>
          </a:p>
          <a:p>
            <a:pPr marL="514350" indent="-514350">
              <a:spcBef>
                <a:spcPct val="30000"/>
              </a:spcBef>
              <a:buFont typeface="+mj-ea"/>
              <a:buAutoNum type="circleNumDbPlain"/>
            </a:pPr>
            <a:r>
              <a:rPr lang="en-US" altLang="zh-CN" sz="2800" dirty="0">
                <a:latin typeface="Times New Roman" panose="02020603050405020304" pitchFamily="18" charset="0"/>
                <a:cs typeface="Times New Roman" panose="02020603050405020304" pitchFamily="18" charset="0"/>
              </a:rPr>
              <a:t>SPIN-PP</a:t>
            </a:r>
            <a:r>
              <a:rPr lang="zh-CN" altLang="en-US" sz="2800" dirty="0">
                <a:latin typeface="Times New Roman" panose="02020603050405020304" pitchFamily="18" charset="0"/>
                <a:cs typeface="Times New Roman" panose="02020603050405020304" pitchFamily="18" charset="0"/>
              </a:rPr>
              <a:t>协议：三步握手机制</a:t>
            </a:r>
            <a:r>
              <a:rPr lang="en-US" altLang="zh-CN" sz="2800" dirty="0">
                <a:latin typeface="Times New Roman" panose="02020603050405020304" pitchFamily="18" charset="0"/>
                <a:cs typeface="Times New Roman" panose="02020603050405020304" pitchFamily="18" charset="0"/>
              </a:rPr>
              <a:t>(ADV-REQ-DATA)</a:t>
            </a:r>
            <a:br>
              <a:rPr lang="en-US" altLang="zh-CN" sz="2800" dirty="0">
                <a:latin typeface="Times New Roman" panose="02020603050405020304" pitchFamily="18" charset="0"/>
                <a:cs typeface="Times New Roman" panose="02020603050405020304" pitchFamily="18" charset="0"/>
              </a:rPr>
            </a:br>
            <a:r>
              <a:rPr lang="zh-CN" altLang="en-US" sz="2800" dirty="0">
                <a:solidFill>
                  <a:srgbClr val="FF0000"/>
                </a:solidFill>
                <a:latin typeface="Times New Roman" panose="02020603050405020304" pitchFamily="18" charset="0"/>
                <a:cs typeface="Times New Roman" panose="02020603050405020304" pitchFamily="18" charset="0"/>
              </a:rPr>
              <a:t>优点</a:t>
            </a:r>
            <a:r>
              <a:rPr lang="zh-CN" altLang="en-US" sz="2800" dirty="0">
                <a:latin typeface="Times New Roman" panose="02020603050405020304" pitchFamily="18" charset="0"/>
                <a:cs typeface="Times New Roman" panose="02020603050405020304" pitchFamily="18" charset="0"/>
              </a:rPr>
              <a:t>：简单，每个节点仅需知道下一跳节点；相比泛洪路由可以有效减少能耗。</a:t>
            </a:r>
            <a:br>
              <a:rPr lang="en-US" altLang="zh-CN" sz="2800" dirty="0">
                <a:latin typeface="Times New Roman" panose="02020603050405020304" pitchFamily="18" charset="0"/>
                <a:cs typeface="Times New Roman" panose="02020603050405020304" pitchFamily="18" charset="0"/>
              </a:rPr>
            </a:br>
            <a:r>
              <a:rPr lang="zh-CN" altLang="en-US" sz="2800" dirty="0">
                <a:solidFill>
                  <a:srgbClr val="FF0000"/>
                </a:solidFill>
                <a:latin typeface="Times New Roman" panose="02020603050405020304" pitchFamily="18" charset="0"/>
                <a:cs typeface="Times New Roman" panose="02020603050405020304" pitchFamily="18" charset="0"/>
              </a:rPr>
              <a:t>缺点</a:t>
            </a:r>
            <a:r>
              <a:rPr lang="zh-CN" altLang="en-US" sz="2800" dirty="0">
                <a:latin typeface="Times New Roman" panose="02020603050405020304" pitchFamily="18" charset="0"/>
                <a:cs typeface="Times New Roman" panose="02020603050405020304" pitchFamily="18" charset="0"/>
              </a:rPr>
              <a:t>：没有考虑节点能耗和多种信道下的数据传输</a:t>
            </a:r>
            <a:endParaRPr lang="en-US" altLang="zh-CN" sz="2800" dirty="0">
              <a:latin typeface="Times New Roman" panose="02020603050405020304" pitchFamily="18" charset="0"/>
              <a:cs typeface="Times New Roman" panose="02020603050405020304" pitchFamily="18" charset="0"/>
            </a:endParaRPr>
          </a:p>
          <a:p>
            <a:pPr marL="514350" indent="-514350">
              <a:spcBef>
                <a:spcPct val="30000"/>
              </a:spcBef>
              <a:buFont typeface="+mj-ea"/>
              <a:buAutoNum type="circleNumDbPlain"/>
            </a:pPr>
            <a:r>
              <a:rPr lang="en-US" altLang="zh-CN" sz="2800" dirty="0">
                <a:latin typeface="Times New Roman" panose="02020603050405020304" pitchFamily="18" charset="0"/>
                <a:cs typeface="Times New Roman" panose="02020603050405020304" pitchFamily="18" charset="0"/>
              </a:rPr>
              <a:t>SPIN-EC</a:t>
            </a:r>
            <a:r>
              <a:rPr lang="zh-CN" altLang="en-US" sz="2800" dirty="0">
                <a:latin typeface="Times New Roman" panose="02020603050405020304" pitchFamily="18" charset="0"/>
                <a:cs typeface="Times New Roman" panose="02020603050405020304" pitchFamily="18" charset="0"/>
              </a:rPr>
              <a:t>协议：</a:t>
            </a:r>
            <a:r>
              <a:rPr lang="en-US" altLang="zh-CN" sz="2800" dirty="0">
                <a:latin typeface="Times New Roman" panose="02020603050405020304" pitchFamily="18" charset="0"/>
                <a:cs typeface="Times New Roman" panose="02020603050405020304" pitchFamily="18" charset="0"/>
              </a:rPr>
              <a:t>SPIN-PP + </a:t>
            </a:r>
            <a:r>
              <a:rPr lang="zh-CN" altLang="en-US" sz="2800" dirty="0">
                <a:latin typeface="Times New Roman" panose="02020603050405020304" pitchFamily="18" charset="0"/>
                <a:cs typeface="Times New Roman" panose="02020603050405020304" pitchFamily="18" charset="0"/>
              </a:rPr>
              <a:t>低能量阈值</a:t>
            </a:r>
            <a:br>
              <a:rPr lang="en-US" altLang="zh-CN" sz="2800" dirty="0">
                <a:latin typeface="Times New Roman" panose="02020603050405020304" pitchFamily="18" charset="0"/>
                <a:cs typeface="Times New Roman" panose="02020603050405020304" pitchFamily="18" charset="0"/>
              </a:rPr>
            </a:br>
            <a:r>
              <a:rPr lang="zh-CN" altLang="en-US" sz="2800" dirty="0">
                <a:latin typeface="+mn-ea"/>
              </a:rPr>
              <a:t>当一个节点的剩余能量低于能量阈值后，减少其在协议中参与的活动</a:t>
            </a:r>
            <a:r>
              <a:rPr lang="zh-CN" altLang="en-US" sz="2800" b="1" dirty="0">
                <a:latin typeface="+mn-ea"/>
              </a:rPr>
              <a:t>。</a:t>
            </a:r>
            <a:endParaRPr lang="en-US" altLang="zh-CN" sz="2800" b="1" dirty="0">
              <a:latin typeface="+mn-ea"/>
            </a:endParaRPr>
          </a:p>
        </p:txBody>
      </p:sp>
      <p:sp>
        <p:nvSpPr>
          <p:cNvPr id="6" name="文本框 5">
            <a:extLst>
              <a:ext uri="{FF2B5EF4-FFF2-40B4-BE49-F238E27FC236}">
                <a16:creationId xmlns:a16="http://schemas.microsoft.com/office/drawing/2014/main" id="{BA56956F-2DAB-46AF-AAB3-71BF5772A763}"/>
              </a:ext>
            </a:extLst>
          </p:cNvPr>
          <p:cNvSpPr txBox="1"/>
          <p:nvPr/>
        </p:nvSpPr>
        <p:spPr>
          <a:xfrm>
            <a:off x="7428541" y="0"/>
            <a:ext cx="1685077"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2.4 </a:t>
            </a:r>
            <a:r>
              <a:rPr lang="zh-CN" altLang="en-US" b="1" dirty="0">
                <a:latin typeface="Times New Roman" panose="02020603050405020304" pitchFamily="18" charset="0"/>
                <a:cs typeface="Times New Roman" panose="02020603050405020304" pitchFamily="18" charset="0"/>
              </a:rPr>
              <a:t>网络层协议</a:t>
            </a:r>
          </a:p>
        </p:txBody>
      </p:sp>
    </p:spTree>
    <p:extLst>
      <p:ext uri="{BB962C8B-B14F-4D97-AF65-F5344CB8AC3E}">
        <p14:creationId xmlns:p14="http://schemas.microsoft.com/office/powerpoint/2010/main" val="130807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43</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10" name="文本框 9"/>
          <p:cNvSpPr txBox="1"/>
          <p:nvPr/>
        </p:nvSpPr>
        <p:spPr>
          <a:xfrm>
            <a:off x="272374" y="501947"/>
            <a:ext cx="8615593" cy="707886"/>
          </a:xfrm>
          <a:prstGeom prst="rect">
            <a:avLst/>
          </a:prstGeom>
          <a:noFill/>
        </p:spPr>
        <p:txBody>
          <a:bodyPr wrap="square" rtlCol="0">
            <a:spAutoFit/>
          </a:bodyPr>
          <a:lstStyle/>
          <a:p>
            <a:r>
              <a:rPr lang="en-US" altLang="zh-CN" sz="4000" b="1"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4000" b="1" dirty="0">
                <a:latin typeface="微软雅黑" panose="020B0503020204020204" pitchFamily="34" charset="-122"/>
                <a:ea typeface="微软雅黑" panose="020B0503020204020204" pitchFamily="34" charset="-122"/>
                <a:cs typeface="Times New Roman" panose="02020603050405020304" pitchFamily="18" charset="0"/>
              </a:rPr>
              <a:t>层次路由协议</a:t>
            </a:r>
          </a:p>
        </p:txBody>
      </p:sp>
      <p:sp>
        <p:nvSpPr>
          <p:cNvPr id="2" name="文本框 1"/>
          <p:cNvSpPr txBox="1"/>
          <p:nvPr/>
        </p:nvSpPr>
        <p:spPr>
          <a:xfrm>
            <a:off x="272374" y="1198845"/>
            <a:ext cx="8615594" cy="1400383"/>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LEACH</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路由协议</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400" dirty="0">
                <a:latin typeface="Times New Roman" panose="02020603050405020304" pitchFamily="18" charset="0"/>
                <a:cs typeface="Times New Roman" panose="02020603050405020304" pitchFamily="18" charset="0"/>
              </a:rPr>
              <a:t>低功耗自适应聚类分级（</a:t>
            </a:r>
            <a:r>
              <a:rPr lang="en-US" altLang="zh-CN" sz="2400" dirty="0">
                <a:latin typeface="Times New Roman" panose="02020603050405020304" pitchFamily="18" charset="0"/>
                <a:cs typeface="Times New Roman" panose="02020603050405020304" pitchFamily="18" charset="0"/>
              </a:rPr>
              <a:t>Low Energy Adaptive Clustering Hierarchy, LEACH</a:t>
            </a:r>
            <a:r>
              <a:rPr lang="zh-CN" altLang="en-US" sz="2400" dirty="0">
                <a:latin typeface="Times New Roman" panose="02020603050405020304" pitchFamily="18" charset="0"/>
                <a:cs typeface="Times New Roman" panose="02020603050405020304" pitchFamily="18" charset="0"/>
              </a:rPr>
              <a:t>）协议</a:t>
            </a:r>
            <a:endParaRPr lang="en-US" altLang="zh-CN" sz="2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6468434" y="0"/>
            <a:ext cx="2531462"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层次路由</a:t>
            </a:r>
          </a:p>
        </p:txBody>
      </p:sp>
      <p:sp>
        <p:nvSpPr>
          <p:cNvPr id="3" name="矩形 2"/>
          <p:cNvSpPr/>
          <p:nvPr/>
        </p:nvSpPr>
        <p:spPr>
          <a:xfrm>
            <a:off x="226654" y="3890827"/>
            <a:ext cx="3433953" cy="461665"/>
          </a:xfrm>
          <a:prstGeom prst="rect">
            <a:avLst/>
          </a:prstGeom>
        </p:spPr>
        <p:txBody>
          <a:bodyPr wrap="none">
            <a:spAutoFit/>
          </a:bodyPr>
          <a:lstStyle/>
          <a:p>
            <a:r>
              <a:rPr lang="en-US" altLang="zh-CN" sz="2400" b="1" u="sng" dirty="0">
                <a:latin typeface="Times New Roman" panose="02020603050405020304" pitchFamily="18" charset="0"/>
                <a:cs typeface="Times New Roman" panose="02020603050405020304" pitchFamily="18" charset="0"/>
              </a:rPr>
              <a:t>LEACH</a:t>
            </a:r>
            <a:r>
              <a:rPr lang="zh-CN" altLang="en-US" sz="2400" b="1" u="sng" dirty="0">
                <a:latin typeface="Times New Roman" panose="02020603050405020304" pitchFamily="18" charset="0"/>
                <a:cs typeface="Times New Roman" panose="02020603050405020304" pitchFamily="18" charset="0"/>
              </a:rPr>
              <a:t>协议工作过程</a:t>
            </a:r>
            <a:r>
              <a:rPr lang="zh-CN" altLang="en-US" sz="2400" b="1" dirty="0">
                <a:latin typeface="Times New Roman" panose="02020603050405020304" pitchFamily="18" charset="0"/>
                <a:cs typeface="Times New Roman" panose="02020603050405020304" pitchFamily="18" charset="0"/>
              </a:rPr>
              <a:t>：</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1607A0B1-75AB-4A0A-9F26-BF2C9F1A4E87}"/>
              </a:ext>
            </a:extLst>
          </p:cNvPr>
          <p:cNvSpPr txBox="1"/>
          <p:nvPr/>
        </p:nvSpPr>
        <p:spPr>
          <a:xfrm>
            <a:off x="194553" y="2644863"/>
            <a:ext cx="8313844" cy="1200329"/>
          </a:xfrm>
          <a:prstGeom prst="rect">
            <a:avLst/>
          </a:prstGeom>
          <a:noFill/>
        </p:spPr>
        <p:txBody>
          <a:bodyPr wrap="square">
            <a:spAutoFit/>
          </a:bodyPr>
          <a:lstStyle/>
          <a:p>
            <a:pPr>
              <a:spcAft>
                <a:spcPts val="600"/>
              </a:spcAft>
            </a:pPr>
            <a:r>
              <a:rPr lang="zh-CN" altLang="en-US" sz="2400" b="1" u="sng" dirty="0"/>
              <a:t>基本思想</a:t>
            </a:r>
            <a:r>
              <a:rPr lang="zh-CN" altLang="en-US" sz="2400" b="1" dirty="0"/>
              <a:t>：</a:t>
            </a:r>
            <a:r>
              <a:rPr lang="zh-CN" altLang="en-US" sz="2400" dirty="0"/>
              <a:t>通过随机循环地</a:t>
            </a:r>
            <a:r>
              <a:rPr lang="zh-CN" altLang="en-US" sz="2400" dirty="0">
                <a:solidFill>
                  <a:srgbClr val="FF0000"/>
                </a:solidFill>
              </a:rPr>
              <a:t>选择簇头节点</a:t>
            </a:r>
            <a:r>
              <a:rPr lang="zh-CN" altLang="en-US" sz="2400" dirty="0"/>
              <a:t>将整个网络的能量负载平均分配到每个传感器节点中，从而</a:t>
            </a:r>
            <a:r>
              <a:rPr lang="zh-CN" altLang="en-US" sz="2400" dirty="0">
                <a:solidFill>
                  <a:srgbClr val="FF0000"/>
                </a:solidFill>
              </a:rPr>
              <a:t>降低网络能源消耗</a:t>
            </a:r>
            <a:r>
              <a:rPr lang="zh-CN" altLang="en-US" sz="2400" dirty="0"/>
              <a:t>，提高</a:t>
            </a:r>
            <a:r>
              <a:rPr lang="zh-CN" altLang="en-US" sz="2400" dirty="0">
                <a:solidFill>
                  <a:srgbClr val="FF0000"/>
                </a:solidFill>
              </a:rPr>
              <a:t>网络整体生存时间</a:t>
            </a:r>
            <a:r>
              <a:rPr lang="zh-CN" altLang="en-US" sz="2400" dirty="0"/>
              <a:t>。</a:t>
            </a:r>
            <a:endParaRPr lang="en-US" altLang="zh-CN" sz="2400" dirty="0"/>
          </a:p>
        </p:txBody>
      </p:sp>
      <p:cxnSp>
        <p:nvCxnSpPr>
          <p:cNvPr id="18" name="直接连接符 17">
            <a:extLst>
              <a:ext uri="{FF2B5EF4-FFF2-40B4-BE49-F238E27FC236}">
                <a16:creationId xmlns:a16="http://schemas.microsoft.com/office/drawing/2014/main" id="{448F3217-4A0E-412A-8667-636787759D25}"/>
              </a:ext>
            </a:extLst>
          </p:cNvPr>
          <p:cNvCxnSpPr>
            <a:cxnSpLocks/>
          </p:cNvCxnSpPr>
          <p:nvPr/>
        </p:nvCxnSpPr>
        <p:spPr>
          <a:xfrm>
            <a:off x="370332" y="5806440"/>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E9AEB73-134A-4E1D-AC61-10BDCA6BAA70}"/>
              </a:ext>
            </a:extLst>
          </p:cNvPr>
          <p:cNvCxnSpPr>
            <a:cxnSpLocks/>
          </p:cNvCxnSpPr>
          <p:nvPr/>
        </p:nvCxnSpPr>
        <p:spPr>
          <a:xfrm>
            <a:off x="4430268" y="5806440"/>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8C737C0-0C5A-4B49-94D9-A5FBAA5205A2}"/>
              </a:ext>
            </a:extLst>
          </p:cNvPr>
          <p:cNvCxnSpPr>
            <a:cxnSpLocks/>
          </p:cNvCxnSpPr>
          <p:nvPr/>
        </p:nvCxnSpPr>
        <p:spPr>
          <a:xfrm>
            <a:off x="8293608" y="5819394"/>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08F322B3-8A4C-4F2D-A94C-305E84E4E637}"/>
              </a:ext>
            </a:extLst>
          </p:cNvPr>
          <p:cNvGrpSpPr/>
          <p:nvPr/>
        </p:nvGrpSpPr>
        <p:grpSpPr>
          <a:xfrm>
            <a:off x="365760" y="4713924"/>
            <a:ext cx="7923276" cy="479868"/>
            <a:chOff x="365760" y="4713924"/>
            <a:chExt cx="7923276" cy="479868"/>
          </a:xfrm>
        </p:grpSpPr>
        <p:cxnSp>
          <p:nvCxnSpPr>
            <p:cNvPr id="9" name="直接连接符 8">
              <a:extLst>
                <a:ext uri="{FF2B5EF4-FFF2-40B4-BE49-F238E27FC236}">
                  <a16:creationId xmlns:a16="http://schemas.microsoft.com/office/drawing/2014/main" id="{79D96018-D67E-45D8-94B0-5810D55EF1D6}"/>
                </a:ext>
              </a:extLst>
            </p:cNvPr>
            <p:cNvCxnSpPr>
              <a:cxnSpLocks/>
            </p:cNvCxnSpPr>
            <p:nvPr/>
          </p:nvCxnSpPr>
          <p:spPr>
            <a:xfrm>
              <a:off x="370332" y="4850892"/>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57796911-5027-45A7-BE95-6969B57FC6B3}"/>
                </a:ext>
              </a:extLst>
            </p:cNvPr>
            <p:cNvCxnSpPr>
              <a:cxnSpLocks/>
            </p:cNvCxnSpPr>
            <p:nvPr/>
          </p:nvCxnSpPr>
          <p:spPr>
            <a:xfrm>
              <a:off x="8289036" y="4850892"/>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84453EE6-2F82-400E-AE12-00A9C8D6482A}"/>
                </a:ext>
              </a:extLst>
            </p:cNvPr>
            <p:cNvSpPr txBox="1"/>
            <p:nvPr/>
          </p:nvSpPr>
          <p:spPr>
            <a:xfrm>
              <a:off x="3290559" y="4713924"/>
              <a:ext cx="2117355"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固定长度周期</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5" name="直接连接符 24">
              <a:extLst>
                <a:ext uri="{FF2B5EF4-FFF2-40B4-BE49-F238E27FC236}">
                  <a16:creationId xmlns:a16="http://schemas.microsoft.com/office/drawing/2014/main" id="{A18EB306-3EF2-43EC-B207-388F08EECE31}"/>
                </a:ext>
              </a:extLst>
            </p:cNvPr>
            <p:cNvCxnSpPr>
              <a:cxnSpLocks/>
            </p:cNvCxnSpPr>
            <p:nvPr/>
          </p:nvCxnSpPr>
          <p:spPr>
            <a:xfrm>
              <a:off x="5408676" y="4983480"/>
              <a:ext cx="2878836" cy="0"/>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2AD3F36-765E-4ED2-B787-0176C581A2EB}"/>
                </a:ext>
              </a:extLst>
            </p:cNvPr>
            <p:cNvCxnSpPr>
              <a:cxnSpLocks/>
            </p:cNvCxnSpPr>
            <p:nvPr/>
          </p:nvCxnSpPr>
          <p:spPr>
            <a:xfrm>
              <a:off x="365760" y="4983480"/>
              <a:ext cx="2878836" cy="0"/>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9" name="直接连接符 28">
            <a:extLst>
              <a:ext uri="{FF2B5EF4-FFF2-40B4-BE49-F238E27FC236}">
                <a16:creationId xmlns:a16="http://schemas.microsoft.com/office/drawing/2014/main" id="{FC3BFE11-1273-4A78-B5F9-A464554986D8}"/>
              </a:ext>
            </a:extLst>
          </p:cNvPr>
          <p:cNvCxnSpPr>
            <a:cxnSpLocks/>
            <a:endCxn id="31" idx="1"/>
          </p:cNvCxnSpPr>
          <p:nvPr/>
        </p:nvCxnSpPr>
        <p:spPr>
          <a:xfrm>
            <a:off x="365760" y="6021883"/>
            <a:ext cx="1243115" cy="1"/>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6D1F721-BFCE-4FB5-8157-ED60E57445AE}"/>
              </a:ext>
            </a:extLst>
          </p:cNvPr>
          <p:cNvSpPr txBox="1"/>
          <p:nvPr/>
        </p:nvSpPr>
        <p:spPr>
          <a:xfrm>
            <a:off x="1608875" y="5806440"/>
            <a:ext cx="1618958"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簇建立阶段</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34" name="直接连接符 33">
            <a:extLst>
              <a:ext uri="{FF2B5EF4-FFF2-40B4-BE49-F238E27FC236}">
                <a16:creationId xmlns:a16="http://schemas.microsoft.com/office/drawing/2014/main" id="{A990D65D-2978-4EAF-9443-449DBA3A2BD4}"/>
              </a:ext>
            </a:extLst>
          </p:cNvPr>
          <p:cNvCxnSpPr>
            <a:cxnSpLocks/>
          </p:cNvCxnSpPr>
          <p:nvPr/>
        </p:nvCxnSpPr>
        <p:spPr>
          <a:xfrm>
            <a:off x="3205207" y="6013543"/>
            <a:ext cx="1243115" cy="1"/>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10696832-4AA4-4221-AC7C-6D2EC464CDE7}"/>
              </a:ext>
            </a:extLst>
          </p:cNvPr>
          <p:cNvSpPr txBox="1"/>
          <p:nvPr/>
        </p:nvSpPr>
        <p:spPr>
          <a:xfrm>
            <a:off x="5088636" y="5798097"/>
            <a:ext cx="2468879"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数据传输稳定阶段</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36" name="直接连接符 35">
            <a:extLst>
              <a:ext uri="{FF2B5EF4-FFF2-40B4-BE49-F238E27FC236}">
                <a16:creationId xmlns:a16="http://schemas.microsoft.com/office/drawing/2014/main" id="{4E5EE440-D2D5-45BD-BFB2-B85BBEBC269A}"/>
              </a:ext>
            </a:extLst>
          </p:cNvPr>
          <p:cNvCxnSpPr>
            <a:cxnSpLocks/>
          </p:cNvCxnSpPr>
          <p:nvPr/>
        </p:nvCxnSpPr>
        <p:spPr>
          <a:xfrm>
            <a:off x="4431449" y="6013541"/>
            <a:ext cx="657187" cy="0"/>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ACF9D9D-C2B3-4EBF-88EE-4E4249B3FCB3}"/>
              </a:ext>
            </a:extLst>
          </p:cNvPr>
          <p:cNvCxnSpPr>
            <a:cxnSpLocks/>
            <a:stCxn id="35" idx="3"/>
          </p:cNvCxnSpPr>
          <p:nvPr/>
        </p:nvCxnSpPr>
        <p:spPr>
          <a:xfrm>
            <a:off x="7557515" y="6013541"/>
            <a:ext cx="729997" cy="8342"/>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1B8AA346-76B7-4546-AA99-62022160F58E}"/>
              </a:ext>
            </a:extLst>
          </p:cNvPr>
          <p:cNvSpPr/>
          <p:nvPr/>
        </p:nvSpPr>
        <p:spPr>
          <a:xfrm>
            <a:off x="365760" y="5196880"/>
            <a:ext cx="7921749" cy="6012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898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31" grpId="0"/>
      <p:bldP spid="35" grpId="0"/>
      <p:bldP spid="4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44</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10" name="文本框 9"/>
          <p:cNvSpPr txBox="1"/>
          <p:nvPr/>
        </p:nvSpPr>
        <p:spPr>
          <a:xfrm>
            <a:off x="272374" y="501947"/>
            <a:ext cx="8615593" cy="707886"/>
          </a:xfrm>
          <a:prstGeom prst="rect">
            <a:avLst/>
          </a:prstGeom>
          <a:noFill/>
        </p:spPr>
        <p:txBody>
          <a:bodyPr wrap="square" rtlCol="0">
            <a:spAutoFit/>
          </a:bodyPr>
          <a:lstStyle/>
          <a:p>
            <a:r>
              <a:rPr lang="en-US" altLang="zh-CN" sz="4000" b="1"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4000" b="1" dirty="0">
                <a:latin typeface="微软雅黑" panose="020B0503020204020204" pitchFamily="34" charset="-122"/>
                <a:ea typeface="微软雅黑" panose="020B0503020204020204" pitchFamily="34" charset="-122"/>
                <a:cs typeface="Times New Roman" panose="02020603050405020304" pitchFamily="18" charset="0"/>
              </a:rPr>
              <a:t>层次路由协议</a:t>
            </a:r>
          </a:p>
        </p:txBody>
      </p:sp>
      <p:sp>
        <p:nvSpPr>
          <p:cNvPr id="2" name="文本框 1"/>
          <p:cNvSpPr txBox="1"/>
          <p:nvPr/>
        </p:nvSpPr>
        <p:spPr>
          <a:xfrm>
            <a:off x="272374" y="1198845"/>
            <a:ext cx="8615594" cy="1400383"/>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LEACH</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路由协议</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400" dirty="0">
                <a:latin typeface="Times New Roman" panose="02020603050405020304" pitchFamily="18" charset="0"/>
                <a:cs typeface="Times New Roman" panose="02020603050405020304" pitchFamily="18" charset="0"/>
              </a:rPr>
              <a:t>低功耗自适应聚类分级（</a:t>
            </a:r>
            <a:r>
              <a:rPr lang="en-US" altLang="zh-CN" sz="2400" dirty="0">
                <a:latin typeface="Times New Roman" panose="02020603050405020304" pitchFamily="18" charset="0"/>
                <a:cs typeface="Times New Roman" panose="02020603050405020304" pitchFamily="18" charset="0"/>
              </a:rPr>
              <a:t>Low Energy Adaptive Clustering Hierarchy, LEACH</a:t>
            </a:r>
            <a:r>
              <a:rPr lang="zh-CN" altLang="en-US" sz="2400" dirty="0">
                <a:latin typeface="Times New Roman" panose="02020603050405020304" pitchFamily="18" charset="0"/>
                <a:cs typeface="Times New Roman" panose="02020603050405020304" pitchFamily="18" charset="0"/>
              </a:rPr>
              <a:t>）协议</a:t>
            </a:r>
            <a:endParaRPr lang="en-US" altLang="zh-CN" sz="2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6468434" y="0"/>
            <a:ext cx="2531462"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层次路由</a:t>
            </a:r>
          </a:p>
        </p:txBody>
      </p:sp>
      <p:sp>
        <p:nvSpPr>
          <p:cNvPr id="3" name="矩形 2"/>
          <p:cNvSpPr/>
          <p:nvPr/>
        </p:nvSpPr>
        <p:spPr>
          <a:xfrm>
            <a:off x="226654" y="3890827"/>
            <a:ext cx="3433953" cy="461665"/>
          </a:xfrm>
          <a:prstGeom prst="rect">
            <a:avLst/>
          </a:prstGeom>
        </p:spPr>
        <p:txBody>
          <a:bodyPr wrap="none">
            <a:spAutoFit/>
          </a:bodyPr>
          <a:lstStyle/>
          <a:p>
            <a:r>
              <a:rPr lang="en-US" altLang="zh-CN" sz="2400" b="1" u="sng" dirty="0">
                <a:latin typeface="Times New Roman" panose="02020603050405020304" pitchFamily="18" charset="0"/>
                <a:cs typeface="Times New Roman" panose="02020603050405020304" pitchFamily="18" charset="0"/>
              </a:rPr>
              <a:t>LEACH</a:t>
            </a:r>
            <a:r>
              <a:rPr lang="zh-CN" altLang="en-US" sz="2400" b="1" u="sng" dirty="0">
                <a:latin typeface="Times New Roman" panose="02020603050405020304" pitchFamily="18" charset="0"/>
                <a:cs typeface="Times New Roman" panose="02020603050405020304" pitchFamily="18" charset="0"/>
              </a:rPr>
              <a:t>协议工作过程</a:t>
            </a:r>
            <a:r>
              <a:rPr lang="zh-CN" altLang="en-US" sz="2400" b="1" dirty="0">
                <a:latin typeface="Times New Roman" panose="02020603050405020304" pitchFamily="18" charset="0"/>
                <a:cs typeface="Times New Roman" panose="02020603050405020304" pitchFamily="18" charset="0"/>
              </a:rPr>
              <a:t>：</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1607A0B1-75AB-4A0A-9F26-BF2C9F1A4E87}"/>
              </a:ext>
            </a:extLst>
          </p:cNvPr>
          <p:cNvSpPr txBox="1"/>
          <p:nvPr/>
        </p:nvSpPr>
        <p:spPr>
          <a:xfrm>
            <a:off x="194553" y="2644863"/>
            <a:ext cx="8313844" cy="1200329"/>
          </a:xfrm>
          <a:prstGeom prst="rect">
            <a:avLst/>
          </a:prstGeom>
          <a:noFill/>
        </p:spPr>
        <p:txBody>
          <a:bodyPr wrap="square">
            <a:spAutoFit/>
          </a:bodyPr>
          <a:lstStyle/>
          <a:p>
            <a:pPr>
              <a:spcAft>
                <a:spcPts val="600"/>
              </a:spcAft>
            </a:pPr>
            <a:r>
              <a:rPr lang="zh-CN" altLang="en-US" sz="2400" b="1" u="sng" dirty="0"/>
              <a:t>基本思想</a:t>
            </a:r>
            <a:r>
              <a:rPr lang="zh-CN" altLang="en-US" sz="2400" b="1" dirty="0"/>
              <a:t>：</a:t>
            </a:r>
            <a:r>
              <a:rPr lang="zh-CN" altLang="en-US" sz="2400" dirty="0"/>
              <a:t>通过随机循环地</a:t>
            </a:r>
            <a:r>
              <a:rPr lang="zh-CN" altLang="en-US" sz="2400" dirty="0">
                <a:solidFill>
                  <a:srgbClr val="FF0000"/>
                </a:solidFill>
              </a:rPr>
              <a:t>选择簇头节点</a:t>
            </a:r>
            <a:r>
              <a:rPr lang="zh-CN" altLang="en-US" sz="2400" dirty="0"/>
              <a:t>将整个网络的能量负载平均分配到每个传感器节点中，从而</a:t>
            </a:r>
            <a:r>
              <a:rPr lang="zh-CN" altLang="en-US" sz="2400" dirty="0">
                <a:solidFill>
                  <a:srgbClr val="FF0000"/>
                </a:solidFill>
              </a:rPr>
              <a:t>降低网络能源消耗</a:t>
            </a:r>
            <a:r>
              <a:rPr lang="zh-CN" altLang="en-US" sz="2400" dirty="0"/>
              <a:t>，提高</a:t>
            </a:r>
            <a:r>
              <a:rPr lang="zh-CN" altLang="en-US" sz="2400" dirty="0">
                <a:solidFill>
                  <a:srgbClr val="FF0000"/>
                </a:solidFill>
              </a:rPr>
              <a:t>网络整体生存时间</a:t>
            </a:r>
            <a:r>
              <a:rPr lang="zh-CN" altLang="en-US" sz="2400" dirty="0"/>
              <a:t>。</a:t>
            </a:r>
            <a:endParaRPr lang="en-US" altLang="zh-CN" sz="2400" dirty="0"/>
          </a:p>
        </p:txBody>
      </p:sp>
      <p:sp>
        <p:nvSpPr>
          <p:cNvPr id="5" name="矩形 4">
            <a:extLst>
              <a:ext uri="{FF2B5EF4-FFF2-40B4-BE49-F238E27FC236}">
                <a16:creationId xmlns:a16="http://schemas.microsoft.com/office/drawing/2014/main" id="{E65BDFF9-C9E8-4AE1-B395-B95C52852247}"/>
              </a:ext>
            </a:extLst>
          </p:cNvPr>
          <p:cNvSpPr/>
          <p:nvPr/>
        </p:nvSpPr>
        <p:spPr>
          <a:xfrm>
            <a:off x="365760" y="5193792"/>
            <a:ext cx="1353312"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B9D39F7F-FC92-4091-9FE9-EEC40624AA99}"/>
              </a:ext>
            </a:extLst>
          </p:cNvPr>
          <p:cNvSpPr/>
          <p:nvPr/>
        </p:nvSpPr>
        <p:spPr>
          <a:xfrm>
            <a:off x="1719072" y="5193792"/>
            <a:ext cx="1353312"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53FA312-CE3A-4D5C-B566-8B61565B6113}"/>
              </a:ext>
            </a:extLst>
          </p:cNvPr>
          <p:cNvSpPr/>
          <p:nvPr/>
        </p:nvSpPr>
        <p:spPr>
          <a:xfrm>
            <a:off x="3072384" y="5193792"/>
            <a:ext cx="1353312"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3A9516B-2003-4310-A390-713C96C8A098}"/>
              </a:ext>
            </a:extLst>
          </p:cNvPr>
          <p:cNvSpPr/>
          <p:nvPr/>
        </p:nvSpPr>
        <p:spPr>
          <a:xfrm>
            <a:off x="4425696" y="5195316"/>
            <a:ext cx="3861816"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79D96018-D67E-45D8-94B0-5810D55EF1D6}"/>
              </a:ext>
            </a:extLst>
          </p:cNvPr>
          <p:cNvCxnSpPr>
            <a:cxnSpLocks/>
          </p:cNvCxnSpPr>
          <p:nvPr/>
        </p:nvCxnSpPr>
        <p:spPr>
          <a:xfrm>
            <a:off x="370332" y="4850892"/>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57796911-5027-45A7-BE95-6969B57FC6B3}"/>
              </a:ext>
            </a:extLst>
          </p:cNvPr>
          <p:cNvCxnSpPr>
            <a:cxnSpLocks/>
          </p:cNvCxnSpPr>
          <p:nvPr/>
        </p:nvCxnSpPr>
        <p:spPr>
          <a:xfrm>
            <a:off x="8289036" y="4850892"/>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48F3217-4A0E-412A-8667-636787759D25}"/>
              </a:ext>
            </a:extLst>
          </p:cNvPr>
          <p:cNvCxnSpPr>
            <a:cxnSpLocks/>
          </p:cNvCxnSpPr>
          <p:nvPr/>
        </p:nvCxnSpPr>
        <p:spPr>
          <a:xfrm>
            <a:off x="370332" y="5806440"/>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E9AEB73-134A-4E1D-AC61-10BDCA6BAA70}"/>
              </a:ext>
            </a:extLst>
          </p:cNvPr>
          <p:cNvCxnSpPr>
            <a:cxnSpLocks/>
          </p:cNvCxnSpPr>
          <p:nvPr/>
        </p:nvCxnSpPr>
        <p:spPr>
          <a:xfrm>
            <a:off x="4430268" y="5806440"/>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8C737C0-0C5A-4B49-94D9-A5FBAA5205A2}"/>
              </a:ext>
            </a:extLst>
          </p:cNvPr>
          <p:cNvCxnSpPr>
            <a:cxnSpLocks/>
          </p:cNvCxnSpPr>
          <p:nvPr/>
        </p:nvCxnSpPr>
        <p:spPr>
          <a:xfrm>
            <a:off x="8293608" y="5819394"/>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84453EE6-2F82-400E-AE12-00A9C8D6482A}"/>
              </a:ext>
            </a:extLst>
          </p:cNvPr>
          <p:cNvSpPr txBox="1"/>
          <p:nvPr/>
        </p:nvSpPr>
        <p:spPr>
          <a:xfrm>
            <a:off x="3290559" y="4713924"/>
            <a:ext cx="2117355"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固定长度周期</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5" name="直接连接符 24">
            <a:extLst>
              <a:ext uri="{FF2B5EF4-FFF2-40B4-BE49-F238E27FC236}">
                <a16:creationId xmlns:a16="http://schemas.microsoft.com/office/drawing/2014/main" id="{A18EB306-3EF2-43EC-B207-388F08EECE31}"/>
              </a:ext>
            </a:extLst>
          </p:cNvPr>
          <p:cNvCxnSpPr>
            <a:cxnSpLocks/>
          </p:cNvCxnSpPr>
          <p:nvPr/>
        </p:nvCxnSpPr>
        <p:spPr>
          <a:xfrm>
            <a:off x="5408676" y="4983480"/>
            <a:ext cx="2878836" cy="0"/>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2AD3F36-765E-4ED2-B787-0176C581A2EB}"/>
              </a:ext>
            </a:extLst>
          </p:cNvPr>
          <p:cNvCxnSpPr>
            <a:cxnSpLocks/>
          </p:cNvCxnSpPr>
          <p:nvPr/>
        </p:nvCxnSpPr>
        <p:spPr>
          <a:xfrm>
            <a:off x="365760" y="4983480"/>
            <a:ext cx="2878836" cy="0"/>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C3BFE11-1273-4A78-B5F9-A464554986D8}"/>
              </a:ext>
            </a:extLst>
          </p:cNvPr>
          <p:cNvCxnSpPr>
            <a:cxnSpLocks/>
            <a:endCxn id="31" idx="1"/>
          </p:cNvCxnSpPr>
          <p:nvPr/>
        </p:nvCxnSpPr>
        <p:spPr>
          <a:xfrm>
            <a:off x="365760" y="6021883"/>
            <a:ext cx="1243115" cy="1"/>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6D1F721-BFCE-4FB5-8157-ED60E57445AE}"/>
              </a:ext>
            </a:extLst>
          </p:cNvPr>
          <p:cNvSpPr txBox="1"/>
          <p:nvPr/>
        </p:nvSpPr>
        <p:spPr>
          <a:xfrm>
            <a:off x="1608875" y="5806440"/>
            <a:ext cx="1618958"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簇建立阶段</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34" name="直接连接符 33">
            <a:extLst>
              <a:ext uri="{FF2B5EF4-FFF2-40B4-BE49-F238E27FC236}">
                <a16:creationId xmlns:a16="http://schemas.microsoft.com/office/drawing/2014/main" id="{A990D65D-2978-4EAF-9443-449DBA3A2BD4}"/>
              </a:ext>
            </a:extLst>
          </p:cNvPr>
          <p:cNvCxnSpPr>
            <a:cxnSpLocks/>
          </p:cNvCxnSpPr>
          <p:nvPr/>
        </p:nvCxnSpPr>
        <p:spPr>
          <a:xfrm>
            <a:off x="3205207" y="6013543"/>
            <a:ext cx="1243115" cy="1"/>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10696832-4AA4-4221-AC7C-6D2EC464CDE7}"/>
              </a:ext>
            </a:extLst>
          </p:cNvPr>
          <p:cNvSpPr txBox="1"/>
          <p:nvPr/>
        </p:nvSpPr>
        <p:spPr>
          <a:xfrm>
            <a:off x="5088636" y="5798097"/>
            <a:ext cx="2468879"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数据传输稳定阶段</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36" name="直接连接符 35">
            <a:extLst>
              <a:ext uri="{FF2B5EF4-FFF2-40B4-BE49-F238E27FC236}">
                <a16:creationId xmlns:a16="http://schemas.microsoft.com/office/drawing/2014/main" id="{4E5EE440-D2D5-45BD-BFB2-B85BBEBC269A}"/>
              </a:ext>
            </a:extLst>
          </p:cNvPr>
          <p:cNvCxnSpPr>
            <a:cxnSpLocks/>
          </p:cNvCxnSpPr>
          <p:nvPr/>
        </p:nvCxnSpPr>
        <p:spPr>
          <a:xfrm>
            <a:off x="4431449" y="6013541"/>
            <a:ext cx="657187" cy="0"/>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ACF9D9D-C2B3-4EBF-88EE-4E4249B3FCB3}"/>
              </a:ext>
            </a:extLst>
          </p:cNvPr>
          <p:cNvCxnSpPr>
            <a:cxnSpLocks/>
            <a:stCxn id="35" idx="3"/>
          </p:cNvCxnSpPr>
          <p:nvPr/>
        </p:nvCxnSpPr>
        <p:spPr>
          <a:xfrm>
            <a:off x="7557515" y="6013541"/>
            <a:ext cx="729997" cy="8342"/>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23268585-69C3-4B8D-9406-48B2131A406A}"/>
              </a:ext>
            </a:extLst>
          </p:cNvPr>
          <p:cNvSpPr txBox="1"/>
          <p:nvPr/>
        </p:nvSpPr>
        <p:spPr>
          <a:xfrm>
            <a:off x="350901" y="5295898"/>
            <a:ext cx="1363218" cy="430887"/>
          </a:xfrm>
          <a:prstGeom prst="rect">
            <a:avLst/>
          </a:prstGeom>
          <a:noFill/>
        </p:spPr>
        <p:txBody>
          <a:bodyPr wrap="square">
            <a:spAutoFit/>
          </a:bodyPr>
          <a:lstStyle/>
          <a:p>
            <a:pPr algn="ctr">
              <a:spcAft>
                <a:spcPts val="600"/>
              </a:spcAft>
            </a:pPr>
            <a:r>
              <a:rPr lang="zh-CN" altLang="en-US" sz="2200" b="1" dirty="0">
                <a:latin typeface="微软雅黑" panose="020B0503020204020204" pitchFamily="34" charset="-122"/>
                <a:ea typeface="微软雅黑" panose="020B0503020204020204" pitchFamily="34" charset="-122"/>
              </a:rPr>
              <a:t>广播阶段</a:t>
            </a:r>
            <a:endParaRPr lang="en-US" altLang="zh-CN" sz="2200"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ECBE61F-1B13-498D-993C-585E637664AA}"/>
              </a:ext>
            </a:extLst>
          </p:cNvPr>
          <p:cNvSpPr txBox="1"/>
          <p:nvPr/>
        </p:nvSpPr>
        <p:spPr>
          <a:xfrm>
            <a:off x="1699640" y="5290969"/>
            <a:ext cx="1363218" cy="430887"/>
          </a:xfrm>
          <a:prstGeom prst="rect">
            <a:avLst/>
          </a:prstGeom>
          <a:noFill/>
        </p:spPr>
        <p:txBody>
          <a:bodyPr wrap="square">
            <a:spAutoFit/>
          </a:bodyPr>
          <a:lstStyle/>
          <a:p>
            <a:pPr algn="ctr">
              <a:spcAft>
                <a:spcPts val="600"/>
              </a:spcAft>
            </a:pPr>
            <a:r>
              <a:rPr lang="zh-CN" altLang="en-US" sz="2200" b="1" dirty="0">
                <a:latin typeface="微软雅黑" panose="020B0503020204020204" pitchFamily="34" charset="-122"/>
                <a:ea typeface="微软雅黑" panose="020B0503020204020204" pitchFamily="34" charset="-122"/>
              </a:rPr>
              <a:t>分簇建立</a:t>
            </a:r>
            <a:endParaRPr lang="en-US" altLang="zh-CN" sz="22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69FD3674-B3AB-426F-A343-5F3F0DF92BA1}"/>
              </a:ext>
            </a:extLst>
          </p:cNvPr>
          <p:cNvSpPr txBox="1"/>
          <p:nvPr/>
        </p:nvSpPr>
        <p:spPr>
          <a:xfrm>
            <a:off x="3076078" y="5153955"/>
            <a:ext cx="1363218" cy="707886"/>
          </a:xfrm>
          <a:prstGeom prst="rect">
            <a:avLst/>
          </a:prstGeom>
          <a:noFill/>
        </p:spPr>
        <p:txBody>
          <a:bodyPr wrap="square">
            <a:spAutoFit/>
          </a:bodyPr>
          <a:lstStyle/>
          <a:p>
            <a:pPr algn="ctr">
              <a:spcAft>
                <a:spcPts val="600"/>
              </a:spcAft>
            </a:pPr>
            <a:r>
              <a:rPr lang="zh-CN" altLang="en-US" sz="2000" b="1" dirty="0">
                <a:latin typeface="微软雅黑" panose="020B0503020204020204" pitchFamily="34" charset="-122"/>
                <a:ea typeface="微软雅黑" panose="020B0503020204020204" pitchFamily="34" charset="-122"/>
              </a:rPr>
              <a:t>簇内成员调度建立</a:t>
            </a:r>
            <a:endParaRPr lang="en-US" altLang="zh-CN" sz="20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0EC3BD79-32E2-47ED-9D44-4F13001DB928}"/>
              </a:ext>
            </a:extLst>
          </p:cNvPr>
          <p:cNvSpPr txBox="1"/>
          <p:nvPr/>
        </p:nvSpPr>
        <p:spPr>
          <a:xfrm>
            <a:off x="5641466" y="5303527"/>
            <a:ext cx="1363218" cy="430887"/>
          </a:xfrm>
          <a:prstGeom prst="rect">
            <a:avLst/>
          </a:prstGeom>
          <a:noFill/>
        </p:spPr>
        <p:txBody>
          <a:bodyPr wrap="square">
            <a:spAutoFit/>
          </a:bodyPr>
          <a:lstStyle/>
          <a:p>
            <a:pPr algn="ctr">
              <a:spcAft>
                <a:spcPts val="600"/>
              </a:spcAft>
            </a:pPr>
            <a:r>
              <a:rPr lang="zh-CN" altLang="en-US" sz="2200" b="1" dirty="0">
                <a:latin typeface="微软雅黑" panose="020B0503020204020204" pitchFamily="34" charset="-122"/>
                <a:ea typeface="微软雅黑" panose="020B0503020204020204" pitchFamily="34" charset="-122"/>
              </a:rPr>
              <a:t>数据收发</a:t>
            </a:r>
            <a:endParaRPr lang="en-US" altLang="zh-CN"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576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P spid="33" grpId="0"/>
      <p:bldP spid="3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45</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61741" y="497103"/>
            <a:ext cx="8615594" cy="969496"/>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广播阶段</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基于</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自我选举</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的方法生成</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簇头</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6468434" y="0"/>
            <a:ext cx="2531462"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层次路由</a:t>
            </a:r>
          </a:p>
        </p:txBody>
      </p:sp>
      <p:sp>
        <p:nvSpPr>
          <p:cNvPr id="10" name="文本框 9">
            <a:extLst>
              <a:ext uri="{FF2B5EF4-FFF2-40B4-BE49-F238E27FC236}">
                <a16:creationId xmlns:a16="http://schemas.microsoft.com/office/drawing/2014/main" id="{F93034B7-8FB0-4723-AA2A-D4880C91BC43}"/>
              </a:ext>
            </a:extLst>
          </p:cNvPr>
          <p:cNvSpPr txBox="1"/>
          <p:nvPr/>
        </p:nvSpPr>
        <p:spPr>
          <a:xfrm>
            <a:off x="698192" y="1558158"/>
            <a:ext cx="7258050" cy="2042675"/>
          </a:xfrm>
          <a:prstGeom prst="rect">
            <a:avLst/>
          </a:prstGeom>
          <a:noFill/>
        </p:spPr>
        <p:txBody>
          <a:bodyPr wrap="square">
            <a:spAutoFit/>
          </a:bodyPr>
          <a:lstStyle/>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每个节点生成一个随机数，并与阈值作比较，若小于阈值则为簇头，否则为簇成员。</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当选为簇头的节点基于</a:t>
            </a:r>
            <a:r>
              <a:rPr lang="en-US" altLang="zh-CN" sz="2400" dirty="0">
                <a:latin typeface="Times New Roman" panose="02020603050405020304" pitchFamily="18" charset="0"/>
                <a:cs typeface="Times New Roman" panose="02020603050405020304" pitchFamily="18" charset="0"/>
              </a:rPr>
              <a:t>CSMA</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MAC</a:t>
            </a:r>
            <a:r>
              <a:rPr lang="zh-CN" altLang="en-US" sz="2400" dirty="0">
                <a:latin typeface="Times New Roman" panose="02020603050405020304" pitchFamily="18" charset="0"/>
                <a:cs typeface="Times New Roman" panose="02020603050405020304" pitchFamily="18" charset="0"/>
              </a:rPr>
              <a:t>协议发送簇头广播公告。</a:t>
            </a:r>
            <a:endParaRPr lang="en-US" altLang="zh-CN" sz="24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805DB321-F3A9-422C-8376-A18B2B6CDCF1}"/>
              </a:ext>
            </a:extLst>
          </p:cNvPr>
          <p:cNvSpPr txBox="1"/>
          <p:nvPr/>
        </p:nvSpPr>
        <p:spPr>
          <a:xfrm>
            <a:off x="256032" y="3756174"/>
            <a:ext cx="3773093" cy="969496"/>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分簇建立阶段</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各非簇头节点加入簇</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文本框 14">
            <a:extLst>
              <a:ext uri="{FF2B5EF4-FFF2-40B4-BE49-F238E27FC236}">
                <a16:creationId xmlns:a16="http://schemas.microsoft.com/office/drawing/2014/main" id="{E70AFD97-A06A-42E6-9D7D-BA410D28C1F3}"/>
              </a:ext>
            </a:extLst>
          </p:cNvPr>
          <p:cNvSpPr txBox="1"/>
          <p:nvPr/>
        </p:nvSpPr>
        <p:spPr>
          <a:xfrm>
            <a:off x="786038" y="4759367"/>
            <a:ext cx="7258050" cy="1562544"/>
          </a:xfrm>
          <a:prstGeom prst="rect">
            <a:avLst/>
          </a:prstGeom>
          <a:noFill/>
        </p:spPr>
        <p:txBody>
          <a:bodyPr wrap="square">
            <a:spAutoFit/>
          </a:bodyPr>
          <a:lstStyle/>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非簇头节点基于簇头广播的信号强度或距离，决定加入该簇。</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通过</a:t>
            </a:r>
            <a:r>
              <a:rPr lang="en-US" altLang="zh-CN" sz="2400" dirty="0">
                <a:latin typeface="Times New Roman" panose="02020603050405020304" pitchFamily="18" charset="0"/>
                <a:cs typeface="Times New Roman" panose="02020603050405020304" pitchFamily="18" charset="0"/>
              </a:rPr>
              <a:t>CSMA</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MAC</a:t>
            </a:r>
            <a:r>
              <a:rPr lang="zh-CN" altLang="en-US" sz="2400" dirty="0">
                <a:latin typeface="Times New Roman" panose="02020603050405020304" pitchFamily="18" charset="0"/>
                <a:cs typeface="Times New Roman" panose="02020603050405020304" pitchFamily="18" charset="0"/>
              </a:rPr>
              <a:t>协议通知相应簇头节点。</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676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46</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7" name="文本框 6"/>
          <p:cNvSpPr txBox="1"/>
          <p:nvPr/>
        </p:nvSpPr>
        <p:spPr>
          <a:xfrm>
            <a:off x="6468434" y="0"/>
            <a:ext cx="2531462"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层次路由</a:t>
            </a:r>
          </a:p>
        </p:txBody>
      </p:sp>
      <p:sp>
        <p:nvSpPr>
          <p:cNvPr id="15" name="文本框 14">
            <a:extLst>
              <a:ext uri="{FF2B5EF4-FFF2-40B4-BE49-F238E27FC236}">
                <a16:creationId xmlns:a16="http://schemas.microsoft.com/office/drawing/2014/main" id="{214EEDF9-3090-4467-8D79-791DF7FE8158}"/>
              </a:ext>
            </a:extLst>
          </p:cNvPr>
          <p:cNvSpPr txBox="1"/>
          <p:nvPr/>
        </p:nvSpPr>
        <p:spPr>
          <a:xfrm>
            <a:off x="310683" y="737648"/>
            <a:ext cx="4645577" cy="969496"/>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簇内成员调度创建阶段</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协调簇内成员资源利用</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572917E9-E1A8-47D3-B406-2CD3BEFBD786}"/>
              </a:ext>
            </a:extLst>
          </p:cNvPr>
          <p:cNvSpPr txBox="1"/>
          <p:nvPr/>
        </p:nvSpPr>
        <p:spPr>
          <a:xfrm>
            <a:off x="798202" y="1740376"/>
            <a:ext cx="7258050" cy="1081643"/>
          </a:xfrm>
          <a:prstGeom prst="rect">
            <a:avLst/>
          </a:prstGeom>
          <a:noFill/>
        </p:spPr>
        <p:txBody>
          <a:bodyPr wrap="square">
            <a:spAutoFit/>
          </a:bodyPr>
          <a:lstStyle/>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簇头基于簇中节点数量建立</a:t>
            </a:r>
            <a:r>
              <a:rPr lang="en-US" altLang="zh-CN" sz="2400" dirty="0">
                <a:latin typeface="Times New Roman" panose="02020603050405020304" pitchFamily="18" charset="0"/>
                <a:cs typeface="Times New Roman" panose="02020603050405020304" pitchFamily="18" charset="0"/>
              </a:rPr>
              <a:t>TDMA</a:t>
            </a:r>
            <a:r>
              <a:rPr lang="zh-CN" altLang="en-US" sz="2400" dirty="0">
                <a:latin typeface="Times New Roman" panose="02020603050405020304" pitchFamily="18" charset="0"/>
                <a:cs typeface="Times New Roman" panose="02020603050405020304" pitchFamily="18" charset="0"/>
              </a:rPr>
              <a:t>调度策略；</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组内广播该策略至所有簇内成员。</a:t>
            </a:r>
            <a:endParaRPr lang="en-US" altLang="zh-CN" sz="24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B0EF0902-6F3F-465A-AE71-5B1984198266}"/>
              </a:ext>
            </a:extLst>
          </p:cNvPr>
          <p:cNvSpPr txBox="1"/>
          <p:nvPr/>
        </p:nvSpPr>
        <p:spPr>
          <a:xfrm>
            <a:off x="310682" y="3013678"/>
            <a:ext cx="4645577"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数据传输稳定阶段</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1367B527-8830-451D-A027-FDB1748BE06D}"/>
              </a:ext>
            </a:extLst>
          </p:cNvPr>
          <p:cNvSpPr txBox="1"/>
          <p:nvPr/>
        </p:nvSpPr>
        <p:spPr>
          <a:xfrm>
            <a:off x="798202" y="3652241"/>
            <a:ext cx="7258050" cy="1638718"/>
          </a:xfrm>
          <a:prstGeom prst="rect">
            <a:avLst/>
          </a:prstGeom>
          <a:noFill/>
        </p:spPr>
        <p:txBody>
          <a:bodyPr wrap="square">
            <a:spAutoFit/>
          </a:bodyPr>
          <a:lstStyle/>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簇头基于</a:t>
            </a:r>
            <a:r>
              <a:rPr lang="en-US" altLang="zh-CN" sz="2400" dirty="0">
                <a:latin typeface="Times New Roman" panose="02020603050405020304" pitchFamily="18" charset="0"/>
                <a:cs typeface="Times New Roman" panose="02020603050405020304" pitchFamily="18" charset="0"/>
              </a:rPr>
              <a:t>TDMA</a:t>
            </a:r>
            <a:r>
              <a:rPr lang="zh-CN" altLang="en-US" sz="2400" dirty="0">
                <a:latin typeface="Times New Roman" panose="02020603050405020304" pitchFamily="18" charset="0"/>
                <a:cs typeface="Times New Roman" panose="02020603050405020304" pitchFamily="18" charset="0"/>
              </a:rPr>
              <a:t>策略收集簇内信息；</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对数据进行融合减少数据量；</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通过单跳或多跳形式上传数据。</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727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47</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7" name="文本框 6"/>
          <p:cNvSpPr txBox="1"/>
          <p:nvPr/>
        </p:nvSpPr>
        <p:spPr>
          <a:xfrm>
            <a:off x="6468434" y="0"/>
            <a:ext cx="2531462"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层次路由</a:t>
            </a:r>
          </a:p>
        </p:txBody>
      </p:sp>
      <p:sp>
        <p:nvSpPr>
          <p:cNvPr id="15" name="文本框 14">
            <a:extLst>
              <a:ext uri="{FF2B5EF4-FFF2-40B4-BE49-F238E27FC236}">
                <a16:creationId xmlns:a16="http://schemas.microsoft.com/office/drawing/2014/main" id="{214EEDF9-3090-4467-8D79-791DF7FE8158}"/>
              </a:ext>
            </a:extLst>
          </p:cNvPr>
          <p:cNvSpPr txBox="1"/>
          <p:nvPr/>
        </p:nvSpPr>
        <p:spPr>
          <a:xfrm>
            <a:off x="310682" y="608696"/>
            <a:ext cx="4645577" cy="969496"/>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簇内成员调度创建阶段</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协调簇内成员资源利用</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572917E9-E1A8-47D3-B406-2CD3BEFBD786}"/>
              </a:ext>
            </a:extLst>
          </p:cNvPr>
          <p:cNvSpPr txBox="1"/>
          <p:nvPr/>
        </p:nvSpPr>
        <p:spPr>
          <a:xfrm>
            <a:off x="798202" y="1543540"/>
            <a:ext cx="7258050" cy="1081643"/>
          </a:xfrm>
          <a:prstGeom prst="rect">
            <a:avLst/>
          </a:prstGeom>
          <a:noFill/>
        </p:spPr>
        <p:txBody>
          <a:bodyPr wrap="square">
            <a:spAutoFit/>
          </a:bodyPr>
          <a:lstStyle/>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簇头基于簇中节点数量建立</a:t>
            </a:r>
            <a:r>
              <a:rPr lang="en-US" altLang="zh-CN" sz="2400" dirty="0">
                <a:latin typeface="Times New Roman" panose="02020603050405020304" pitchFamily="18" charset="0"/>
                <a:cs typeface="Times New Roman" panose="02020603050405020304" pitchFamily="18" charset="0"/>
              </a:rPr>
              <a:t>TDMA</a:t>
            </a:r>
            <a:r>
              <a:rPr lang="zh-CN" altLang="en-US" sz="2400" dirty="0">
                <a:latin typeface="Times New Roman" panose="02020603050405020304" pitchFamily="18" charset="0"/>
                <a:cs typeface="Times New Roman" panose="02020603050405020304" pitchFamily="18" charset="0"/>
              </a:rPr>
              <a:t>调度策略；</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组内广播该策略至所有簇内成员。</a:t>
            </a:r>
            <a:endParaRPr lang="en-US" altLang="zh-CN" sz="24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B0EF0902-6F3F-465A-AE71-5B1984198266}"/>
              </a:ext>
            </a:extLst>
          </p:cNvPr>
          <p:cNvSpPr txBox="1"/>
          <p:nvPr/>
        </p:nvSpPr>
        <p:spPr>
          <a:xfrm>
            <a:off x="316825" y="2644201"/>
            <a:ext cx="4645577"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数据传输稳定阶段</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1367B527-8830-451D-A027-FDB1748BE06D}"/>
              </a:ext>
            </a:extLst>
          </p:cNvPr>
          <p:cNvSpPr txBox="1"/>
          <p:nvPr/>
        </p:nvSpPr>
        <p:spPr>
          <a:xfrm>
            <a:off x="825183" y="3140613"/>
            <a:ext cx="7258050" cy="1638718"/>
          </a:xfrm>
          <a:prstGeom prst="rect">
            <a:avLst/>
          </a:prstGeom>
          <a:noFill/>
        </p:spPr>
        <p:txBody>
          <a:bodyPr wrap="square">
            <a:spAutoFit/>
          </a:bodyPr>
          <a:lstStyle/>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簇头基于</a:t>
            </a:r>
            <a:r>
              <a:rPr lang="en-US" altLang="zh-CN" sz="2400" dirty="0">
                <a:latin typeface="Times New Roman" panose="02020603050405020304" pitchFamily="18" charset="0"/>
                <a:cs typeface="Times New Roman" panose="02020603050405020304" pitchFamily="18" charset="0"/>
              </a:rPr>
              <a:t>TDMA</a:t>
            </a:r>
            <a:r>
              <a:rPr lang="zh-CN" altLang="en-US" sz="2400" dirty="0">
                <a:latin typeface="Times New Roman" panose="02020603050405020304" pitchFamily="18" charset="0"/>
                <a:cs typeface="Times New Roman" panose="02020603050405020304" pitchFamily="18" charset="0"/>
              </a:rPr>
              <a:t>策略收集簇内信息；</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对数据进行融合减少数据量；</a:t>
            </a:r>
            <a:endParaRPr lang="en-US" altLang="zh-CN" sz="2400" dirty="0">
              <a:latin typeface="Times New Roman" panose="02020603050405020304" pitchFamily="18" charset="0"/>
              <a:cs typeface="Times New Roman" panose="02020603050405020304" pitchFamily="18" charset="0"/>
            </a:endParaRPr>
          </a:p>
          <a:p>
            <a:pPr marL="285750" indent="-285750">
              <a:lnSpc>
                <a:spcPct val="13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通过单跳或多跳形式上传数据。</a:t>
            </a:r>
            <a:endParaRPr lang="en-US" altLang="zh-CN" sz="2400" dirty="0">
              <a:latin typeface="Times New Roman" panose="02020603050405020304" pitchFamily="18" charset="0"/>
              <a:cs typeface="Times New Roman" panose="02020603050405020304" pitchFamily="18" charset="0"/>
            </a:endParaRPr>
          </a:p>
        </p:txBody>
      </p:sp>
      <p:grpSp>
        <p:nvGrpSpPr>
          <p:cNvPr id="2" name="组合 1">
            <a:extLst>
              <a:ext uri="{FF2B5EF4-FFF2-40B4-BE49-F238E27FC236}">
                <a16:creationId xmlns:a16="http://schemas.microsoft.com/office/drawing/2014/main" id="{AA8F8D3A-F983-4A96-A778-4918376A7D77}"/>
              </a:ext>
            </a:extLst>
          </p:cNvPr>
          <p:cNvGrpSpPr/>
          <p:nvPr/>
        </p:nvGrpSpPr>
        <p:grpSpPr>
          <a:xfrm>
            <a:off x="482854" y="4873460"/>
            <a:ext cx="7942707" cy="1523403"/>
            <a:chOff x="350901" y="4713924"/>
            <a:chExt cx="7942707" cy="1523403"/>
          </a:xfrm>
        </p:grpSpPr>
        <p:sp>
          <p:nvSpPr>
            <p:cNvPr id="9" name="矩形 8">
              <a:extLst>
                <a:ext uri="{FF2B5EF4-FFF2-40B4-BE49-F238E27FC236}">
                  <a16:creationId xmlns:a16="http://schemas.microsoft.com/office/drawing/2014/main" id="{9F793FF7-FE0C-4ED8-964A-D67F9BC5FEF2}"/>
                </a:ext>
              </a:extLst>
            </p:cNvPr>
            <p:cNvSpPr/>
            <p:nvPr/>
          </p:nvSpPr>
          <p:spPr>
            <a:xfrm>
              <a:off x="365760" y="5193792"/>
              <a:ext cx="1353312"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61A085F-01C3-4BE6-902E-816F7B165467}"/>
                </a:ext>
              </a:extLst>
            </p:cNvPr>
            <p:cNvSpPr/>
            <p:nvPr/>
          </p:nvSpPr>
          <p:spPr>
            <a:xfrm>
              <a:off x="1719072" y="5193792"/>
              <a:ext cx="1353312"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E574E63A-56EB-429B-8F8E-5B703AB20CB3}"/>
                </a:ext>
              </a:extLst>
            </p:cNvPr>
            <p:cNvSpPr/>
            <p:nvPr/>
          </p:nvSpPr>
          <p:spPr>
            <a:xfrm>
              <a:off x="3072384" y="5193792"/>
              <a:ext cx="1353312"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41805A5-92D5-4804-9639-C5B77BD0E719}"/>
                </a:ext>
              </a:extLst>
            </p:cNvPr>
            <p:cNvSpPr/>
            <p:nvPr/>
          </p:nvSpPr>
          <p:spPr>
            <a:xfrm>
              <a:off x="4425696" y="5195316"/>
              <a:ext cx="3861816" cy="6126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E5FBCF41-9FEC-4088-9299-E28F11B891F7}"/>
                </a:ext>
              </a:extLst>
            </p:cNvPr>
            <p:cNvCxnSpPr>
              <a:cxnSpLocks/>
            </p:cNvCxnSpPr>
            <p:nvPr/>
          </p:nvCxnSpPr>
          <p:spPr>
            <a:xfrm>
              <a:off x="370332" y="4850892"/>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294A1A3-C002-447C-8268-90AC2CDB187B}"/>
                </a:ext>
              </a:extLst>
            </p:cNvPr>
            <p:cNvCxnSpPr>
              <a:cxnSpLocks/>
            </p:cNvCxnSpPr>
            <p:nvPr/>
          </p:nvCxnSpPr>
          <p:spPr>
            <a:xfrm>
              <a:off x="8289036" y="4850892"/>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C3A30F8-586D-4CAD-9145-E08569CDE50E}"/>
                </a:ext>
              </a:extLst>
            </p:cNvPr>
            <p:cNvCxnSpPr>
              <a:cxnSpLocks/>
            </p:cNvCxnSpPr>
            <p:nvPr/>
          </p:nvCxnSpPr>
          <p:spPr>
            <a:xfrm>
              <a:off x="370332" y="5806440"/>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702ECB0-11BA-4FA3-BC37-D0C47EBD3E45}"/>
                </a:ext>
              </a:extLst>
            </p:cNvPr>
            <p:cNvCxnSpPr>
              <a:cxnSpLocks/>
            </p:cNvCxnSpPr>
            <p:nvPr/>
          </p:nvCxnSpPr>
          <p:spPr>
            <a:xfrm>
              <a:off x="4430268" y="5806440"/>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6EB66DA-D4F9-462C-ABDE-ACD37F8F2196}"/>
                </a:ext>
              </a:extLst>
            </p:cNvPr>
            <p:cNvCxnSpPr>
              <a:cxnSpLocks/>
            </p:cNvCxnSpPr>
            <p:nvPr/>
          </p:nvCxnSpPr>
          <p:spPr>
            <a:xfrm>
              <a:off x="8293608" y="5819394"/>
              <a:ext cx="0" cy="34290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75E4081-4EF4-4DD8-ABD2-1026C7CBD3C5}"/>
                </a:ext>
              </a:extLst>
            </p:cNvPr>
            <p:cNvSpPr txBox="1"/>
            <p:nvPr/>
          </p:nvSpPr>
          <p:spPr>
            <a:xfrm>
              <a:off x="3290559" y="4713924"/>
              <a:ext cx="2117355"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固定长度周期</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a16="http://schemas.microsoft.com/office/drawing/2014/main" id="{DAA6E878-CD5E-4A47-9EFA-AA74F8401294}"/>
                </a:ext>
              </a:extLst>
            </p:cNvPr>
            <p:cNvCxnSpPr>
              <a:cxnSpLocks/>
            </p:cNvCxnSpPr>
            <p:nvPr/>
          </p:nvCxnSpPr>
          <p:spPr>
            <a:xfrm>
              <a:off x="5408676" y="4983480"/>
              <a:ext cx="2878836" cy="0"/>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EBF01E22-1F3E-486C-9221-6295B36041E5}"/>
                </a:ext>
              </a:extLst>
            </p:cNvPr>
            <p:cNvCxnSpPr>
              <a:cxnSpLocks/>
            </p:cNvCxnSpPr>
            <p:nvPr/>
          </p:nvCxnSpPr>
          <p:spPr>
            <a:xfrm>
              <a:off x="365760" y="4983480"/>
              <a:ext cx="2878836" cy="0"/>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C0B0990-E483-44C2-9E35-9436487289D8}"/>
                </a:ext>
              </a:extLst>
            </p:cNvPr>
            <p:cNvCxnSpPr>
              <a:cxnSpLocks/>
              <a:endCxn id="26" idx="1"/>
            </p:cNvCxnSpPr>
            <p:nvPr/>
          </p:nvCxnSpPr>
          <p:spPr>
            <a:xfrm>
              <a:off x="365760" y="6021883"/>
              <a:ext cx="1243115" cy="1"/>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FD1D6E8B-42A7-40BA-AF5D-CC0714BF7A99}"/>
                </a:ext>
              </a:extLst>
            </p:cNvPr>
            <p:cNvSpPr txBox="1"/>
            <p:nvPr/>
          </p:nvSpPr>
          <p:spPr>
            <a:xfrm>
              <a:off x="1608875" y="5806440"/>
              <a:ext cx="1618958"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簇建立阶段</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7" name="直接连接符 26">
              <a:extLst>
                <a:ext uri="{FF2B5EF4-FFF2-40B4-BE49-F238E27FC236}">
                  <a16:creationId xmlns:a16="http://schemas.microsoft.com/office/drawing/2014/main" id="{4C5CAC56-0C7D-406E-BCEE-13E85BA18E51}"/>
                </a:ext>
              </a:extLst>
            </p:cNvPr>
            <p:cNvCxnSpPr>
              <a:cxnSpLocks/>
            </p:cNvCxnSpPr>
            <p:nvPr/>
          </p:nvCxnSpPr>
          <p:spPr>
            <a:xfrm>
              <a:off x="3205207" y="6013543"/>
              <a:ext cx="1243115" cy="1"/>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C98DFD4-3059-4458-99A9-BA1CFA837672}"/>
                </a:ext>
              </a:extLst>
            </p:cNvPr>
            <p:cNvSpPr txBox="1"/>
            <p:nvPr/>
          </p:nvSpPr>
          <p:spPr>
            <a:xfrm>
              <a:off x="5088636" y="5798097"/>
              <a:ext cx="2468879" cy="430887"/>
            </a:xfrm>
            <a:prstGeom prst="rect">
              <a:avLst/>
            </a:prstGeom>
            <a:noFill/>
          </p:spPr>
          <p:txBody>
            <a:bodyPr wrap="square">
              <a:spAutoFit/>
            </a:bodyPr>
            <a:lstStyle/>
            <a:p>
              <a:pPr algn="ctr">
                <a:spcAft>
                  <a:spcPts val="600"/>
                </a:spcAft>
              </a:pPr>
              <a:r>
                <a:rPr lang="zh-CN" altLang="en-US" sz="2200" b="1" dirty="0">
                  <a:solidFill>
                    <a:schemeClr val="accent5">
                      <a:lumMod val="75000"/>
                    </a:schemeClr>
                  </a:solidFill>
                  <a:latin typeface="微软雅黑" panose="020B0503020204020204" pitchFamily="34" charset="-122"/>
                  <a:ea typeface="微软雅黑" panose="020B0503020204020204" pitchFamily="34" charset="-122"/>
                </a:rPr>
                <a:t>数据传输稳定阶段</a:t>
              </a:r>
              <a:endParaRPr lang="en-US" altLang="zh-CN" sz="22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9" name="直接连接符 28">
              <a:extLst>
                <a:ext uri="{FF2B5EF4-FFF2-40B4-BE49-F238E27FC236}">
                  <a16:creationId xmlns:a16="http://schemas.microsoft.com/office/drawing/2014/main" id="{8AB14ED8-5ABB-49C3-85E8-2DDFF3E507E2}"/>
                </a:ext>
              </a:extLst>
            </p:cNvPr>
            <p:cNvCxnSpPr>
              <a:cxnSpLocks/>
            </p:cNvCxnSpPr>
            <p:nvPr/>
          </p:nvCxnSpPr>
          <p:spPr>
            <a:xfrm>
              <a:off x="4431449" y="6013541"/>
              <a:ext cx="657187" cy="0"/>
            </a:xfrm>
            <a:prstGeom prst="line">
              <a:avLst/>
            </a:prstGeom>
            <a:ln w="19050">
              <a:solidFill>
                <a:schemeClr val="accent5">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4F594817-3682-4C08-978A-5E8BD30F90B3}"/>
                </a:ext>
              </a:extLst>
            </p:cNvPr>
            <p:cNvCxnSpPr>
              <a:cxnSpLocks/>
              <a:stCxn id="28" idx="3"/>
            </p:cNvCxnSpPr>
            <p:nvPr/>
          </p:nvCxnSpPr>
          <p:spPr>
            <a:xfrm>
              <a:off x="7557515" y="6013541"/>
              <a:ext cx="729997" cy="8342"/>
            </a:xfrm>
            <a:prstGeom prst="line">
              <a:avLst/>
            </a:prstGeom>
            <a:ln w="19050">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94FA9FC-A427-4C79-B010-6469D8A1CC55}"/>
                </a:ext>
              </a:extLst>
            </p:cNvPr>
            <p:cNvSpPr txBox="1"/>
            <p:nvPr/>
          </p:nvSpPr>
          <p:spPr>
            <a:xfrm>
              <a:off x="350901" y="5295898"/>
              <a:ext cx="1363218" cy="430887"/>
            </a:xfrm>
            <a:prstGeom prst="rect">
              <a:avLst/>
            </a:prstGeom>
            <a:noFill/>
          </p:spPr>
          <p:txBody>
            <a:bodyPr wrap="square">
              <a:spAutoFit/>
            </a:bodyPr>
            <a:lstStyle/>
            <a:p>
              <a:pPr algn="ctr">
                <a:spcAft>
                  <a:spcPts val="600"/>
                </a:spcAft>
              </a:pPr>
              <a:r>
                <a:rPr lang="zh-CN" altLang="en-US" sz="2200" b="1" dirty="0">
                  <a:latin typeface="微软雅黑" panose="020B0503020204020204" pitchFamily="34" charset="-122"/>
                  <a:ea typeface="微软雅黑" panose="020B0503020204020204" pitchFamily="34" charset="-122"/>
                </a:rPr>
                <a:t>广播阶段</a:t>
              </a:r>
              <a:endParaRPr lang="en-US" altLang="zh-CN" sz="2200"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1E82914D-B27A-49BC-9E72-ABFB0465818E}"/>
                </a:ext>
              </a:extLst>
            </p:cNvPr>
            <p:cNvSpPr txBox="1"/>
            <p:nvPr/>
          </p:nvSpPr>
          <p:spPr>
            <a:xfrm>
              <a:off x="1699640" y="5290969"/>
              <a:ext cx="1363218" cy="430887"/>
            </a:xfrm>
            <a:prstGeom prst="rect">
              <a:avLst/>
            </a:prstGeom>
            <a:noFill/>
          </p:spPr>
          <p:txBody>
            <a:bodyPr wrap="square">
              <a:spAutoFit/>
            </a:bodyPr>
            <a:lstStyle/>
            <a:p>
              <a:pPr algn="ctr">
                <a:spcAft>
                  <a:spcPts val="600"/>
                </a:spcAft>
              </a:pPr>
              <a:r>
                <a:rPr lang="zh-CN" altLang="en-US" sz="2200" b="1" dirty="0">
                  <a:latin typeface="微软雅黑" panose="020B0503020204020204" pitchFamily="34" charset="-122"/>
                  <a:ea typeface="微软雅黑" panose="020B0503020204020204" pitchFamily="34" charset="-122"/>
                </a:rPr>
                <a:t>分簇建立</a:t>
              </a:r>
              <a:endParaRPr lang="en-US" altLang="zh-CN" sz="22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450E970E-9AE4-4D02-9022-BEA38BAD21F8}"/>
                </a:ext>
              </a:extLst>
            </p:cNvPr>
            <p:cNvSpPr txBox="1"/>
            <p:nvPr/>
          </p:nvSpPr>
          <p:spPr>
            <a:xfrm>
              <a:off x="3076078" y="5153955"/>
              <a:ext cx="1363218" cy="707886"/>
            </a:xfrm>
            <a:prstGeom prst="rect">
              <a:avLst/>
            </a:prstGeom>
            <a:noFill/>
          </p:spPr>
          <p:txBody>
            <a:bodyPr wrap="square">
              <a:spAutoFit/>
            </a:bodyPr>
            <a:lstStyle/>
            <a:p>
              <a:pPr algn="ctr">
                <a:spcAft>
                  <a:spcPts val="600"/>
                </a:spcAft>
              </a:pPr>
              <a:r>
                <a:rPr lang="zh-CN" altLang="en-US" sz="2000" b="1" dirty="0">
                  <a:latin typeface="微软雅黑" panose="020B0503020204020204" pitchFamily="34" charset="-122"/>
                  <a:ea typeface="微软雅黑" panose="020B0503020204020204" pitchFamily="34" charset="-122"/>
                </a:rPr>
                <a:t>簇内成员调度建立</a:t>
              </a:r>
              <a:endParaRPr lang="en-US" altLang="zh-CN" sz="20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709A892F-044D-45D1-BFC2-C67F0F111568}"/>
                </a:ext>
              </a:extLst>
            </p:cNvPr>
            <p:cNvSpPr txBox="1"/>
            <p:nvPr/>
          </p:nvSpPr>
          <p:spPr>
            <a:xfrm>
              <a:off x="5641466" y="5303527"/>
              <a:ext cx="1363218" cy="430887"/>
            </a:xfrm>
            <a:prstGeom prst="rect">
              <a:avLst/>
            </a:prstGeom>
            <a:noFill/>
          </p:spPr>
          <p:txBody>
            <a:bodyPr wrap="square">
              <a:spAutoFit/>
            </a:bodyPr>
            <a:lstStyle/>
            <a:p>
              <a:pPr algn="ctr">
                <a:spcAft>
                  <a:spcPts val="600"/>
                </a:spcAft>
              </a:pPr>
              <a:r>
                <a:rPr lang="zh-CN" altLang="en-US" sz="2200" b="1" dirty="0">
                  <a:latin typeface="微软雅黑" panose="020B0503020204020204" pitchFamily="34" charset="-122"/>
                  <a:ea typeface="微软雅黑" panose="020B0503020204020204" pitchFamily="34" charset="-122"/>
                </a:rPr>
                <a:t>数据收发</a:t>
              </a:r>
              <a:endParaRPr lang="en-US" altLang="zh-CN" sz="2200" dirty="0">
                <a:latin typeface="微软雅黑" panose="020B0503020204020204" pitchFamily="34" charset="-122"/>
                <a:ea typeface="微软雅黑" panose="020B0503020204020204" pitchFamily="34" charset="-122"/>
              </a:endParaRPr>
            </a:p>
          </p:txBody>
        </p:sp>
      </p:grpSp>
      <p:sp>
        <p:nvSpPr>
          <p:cNvPr id="35" name="文本框 34">
            <a:extLst>
              <a:ext uri="{FF2B5EF4-FFF2-40B4-BE49-F238E27FC236}">
                <a16:creationId xmlns:a16="http://schemas.microsoft.com/office/drawing/2014/main" id="{4916F000-C0C3-42FF-862E-42063460D40C}"/>
              </a:ext>
            </a:extLst>
          </p:cNvPr>
          <p:cNvSpPr txBox="1"/>
          <p:nvPr/>
        </p:nvSpPr>
        <p:spPr>
          <a:xfrm>
            <a:off x="5669321" y="3735743"/>
            <a:ext cx="2750144" cy="1200329"/>
          </a:xfrm>
          <a:prstGeom prst="rect">
            <a:avLst/>
          </a:prstGeom>
          <a:solidFill>
            <a:schemeClr val="accent5">
              <a:lumMod val="60000"/>
              <a:lumOff val="40000"/>
            </a:schemeClr>
          </a:solidFill>
          <a:ln>
            <a:solidFill>
              <a:schemeClr val="tx1"/>
            </a:solidFill>
          </a:ln>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簇头会周期性重选，避免节点电量消耗过快</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71020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48</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2" name="文本框 1"/>
          <p:cNvSpPr txBox="1"/>
          <p:nvPr/>
        </p:nvSpPr>
        <p:spPr>
          <a:xfrm>
            <a:off x="272374" y="486470"/>
            <a:ext cx="8615594" cy="4874219"/>
          </a:xfrm>
          <a:prstGeom prst="rect">
            <a:avLst/>
          </a:prstGeom>
          <a:noFill/>
        </p:spPr>
        <p:txBody>
          <a:bodyPr wrap="square" rtlCol="0">
            <a:spAutoFit/>
          </a:bodyPr>
          <a:lstStyle/>
          <a:p>
            <a:pPr>
              <a:spcAft>
                <a:spcPts val="600"/>
              </a:spcAft>
            </a:pPr>
            <a:r>
              <a:rPr lang="en-US" altLang="zh-CN" sz="2800" b="1" u="sng" dirty="0">
                <a:latin typeface="Times New Roman" panose="02020603050405020304" pitchFamily="18" charset="0"/>
                <a:cs typeface="Times New Roman" panose="02020603050405020304" pitchFamily="18" charset="0"/>
              </a:rPr>
              <a:t>LEACH</a:t>
            </a:r>
            <a:r>
              <a:rPr lang="zh-CN" altLang="en-US" sz="2800" b="1" u="sng" dirty="0">
                <a:latin typeface="Times New Roman" panose="02020603050405020304" pitchFamily="18" charset="0"/>
                <a:cs typeface="Times New Roman" panose="02020603050405020304" pitchFamily="18" charset="0"/>
              </a:rPr>
              <a:t>协议特点</a:t>
            </a:r>
            <a:r>
              <a:rPr lang="zh-CN" altLang="en-US" sz="28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a:p>
            <a:pPr>
              <a:lnSpc>
                <a:spcPct val="150000"/>
              </a:lnSpc>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）优点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簇头采用数据融合技术，</a:t>
            </a:r>
            <a:r>
              <a:rPr lang="zh-CN" altLang="en-US" sz="2400" dirty="0">
                <a:solidFill>
                  <a:srgbClr val="FF0000"/>
                </a:solidFill>
                <a:latin typeface="Times New Roman" panose="02020603050405020304" pitchFamily="18" charset="0"/>
                <a:cs typeface="Times New Roman" panose="02020603050405020304" pitchFamily="18" charset="0"/>
              </a:rPr>
              <a:t>减少发送消息数量和能量</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延长网络时间，有</a:t>
            </a:r>
            <a:r>
              <a:rPr lang="zh-CN" altLang="en-US" sz="2400" dirty="0">
                <a:solidFill>
                  <a:srgbClr val="FF0000"/>
                </a:solidFill>
                <a:latin typeface="Times New Roman" panose="02020603050405020304" pitchFamily="18" charset="0"/>
                <a:cs typeface="Times New Roman" panose="02020603050405020304" pitchFamily="18" charset="0"/>
              </a:rPr>
              <a:t>很好的可扩展性</a:t>
            </a:r>
            <a:r>
              <a:rPr lang="zh-CN" altLang="en-US" sz="2400" dirty="0"/>
              <a:t>。</a:t>
            </a:r>
            <a:endParaRPr lang="en-US" altLang="zh-CN" sz="2400" dirty="0"/>
          </a:p>
          <a:p>
            <a:pPr>
              <a:lnSpc>
                <a:spcPct val="150000"/>
              </a:lnSpc>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）缺点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簇头选择具有随机性</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受限于网络规模</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未考虑节点剩余能量</a:t>
            </a:r>
            <a:endParaRPr lang="en-US" altLang="zh-CN" sz="2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6468434" y="0"/>
            <a:ext cx="2531462"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层次路由</a:t>
            </a:r>
          </a:p>
        </p:txBody>
      </p:sp>
    </p:spTree>
    <p:extLst>
      <p:ext uri="{BB962C8B-B14F-4D97-AF65-F5344CB8AC3E}">
        <p14:creationId xmlns:p14="http://schemas.microsoft.com/office/powerpoint/2010/main" val="7930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49</a:t>
            </a:fld>
            <a:endParaRPr lang="zh-CN" altLang="en-US"/>
          </a:p>
        </p:txBody>
      </p:sp>
      <p:sp>
        <p:nvSpPr>
          <p:cNvPr id="8" name="文本框 7"/>
          <p:cNvSpPr txBox="1"/>
          <p:nvPr/>
        </p:nvSpPr>
        <p:spPr>
          <a:xfrm>
            <a:off x="194553" y="0"/>
            <a:ext cx="3820277"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章 传感器网络的通信与组网技术</a:t>
            </a:r>
          </a:p>
        </p:txBody>
      </p:sp>
      <p:sp>
        <p:nvSpPr>
          <p:cNvPr id="10" name="文本框 9"/>
          <p:cNvSpPr txBox="1"/>
          <p:nvPr/>
        </p:nvSpPr>
        <p:spPr>
          <a:xfrm>
            <a:off x="272374" y="501947"/>
            <a:ext cx="8615593"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rPr>
              <a:t>5. </a:t>
            </a:r>
            <a:r>
              <a:rPr lang="zh-CN" altLang="en-US" sz="4000" b="1" dirty="0">
                <a:latin typeface="Times New Roman" panose="02020603050405020304" pitchFamily="18" charset="0"/>
                <a:cs typeface="Times New Roman" panose="02020603050405020304" pitchFamily="18" charset="0"/>
              </a:rPr>
              <a:t>小结</a:t>
            </a:r>
          </a:p>
        </p:txBody>
      </p:sp>
      <p:sp>
        <p:nvSpPr>
          <p:cNvPr id="2" name="文本框 1"/>
          <p:cNvSpPr txBox="1"/>
          <p:nvPr/>
        </p:nvSpPr>
        <p:spPr>
          <a:xfrm>
            <a:off x="272374" y="1252010"/>
            <a:ext cx="8615594" cy="3552576"/>
          </a:xfrm>
          <a:prstGeom prst="rect">
            <a:avLst/>
          </a:prstGeom>
          <a:noFill/>
        </p:spPr>
        <p:txBody>
          <a:bodyPr wrap="square" rtlCol="0">
            <a:spAutoFit/>
          </a:bodyPr>
          <a:lstStyle/>
          <a:p>
            <a:pPr algn="just">
              <a:lnSpc>
                <a:spcPct val="130000"/>
              </a:lnSpc>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正确理解</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路由和路由协议的基本概念，路由是一种选择传输路径的服务，通过路由协议来实现。</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了解</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传统网络中的路由和传感器网络中路由的差异。</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30000"/>
              </a:lnSpc>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熟悉</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传感器网络中的路由分类，</a:t>
            </a: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重点掌握</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平面路由协议泛洪</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flooding</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、闲聊</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gossiping</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SPIN</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和层次路由协议</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LEACH</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的基本思想及其工作原理。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6914569" y="0"/>
            <a:ext cx="2069797"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2.4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路由协议</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小结</a:t>
            </a:r>
          </a:p>
        </p:txBody>
      </p:sp>
    </p:spTree>
    <p:extLst>
      <p:ext uri="{BB962C8B-B14F-4D97-AF65-F5344CB8AC3E}">
        <p14:creationId xmlns:p14="http://schemas.microsoft.com/office/powerpoint/2010/main" val="297119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A215B86-822C-41B0-A1EA-ACC3DC3471EF}"/>
              </a:ext>
            </a:extLst>
          </p:cNvPr>
          <p:cNvSpPr>
            <a:spLocks noGrp="1"/>
          </p:cNvSpPr>
          <p:nvPr>
            <p:ph type="sldNum" sz="quarter" idx="12"/>
          </p:nvPr>
        </p:nvSpPr>
        <p:spPr/>
        <p:txBody>
          <a:bodyPr/>
          <a:lstStyle/>
          <a:p>
            <a:fld id="{E663D701-F6D3-45BB-89CD-EE32AA93FC3C}" type="slidenum">
              <a:rPr lang="zh-CN" altLang="en-US" smtClean="0"/>
              <a:t>50</a:t>
            </a:fld>
            <a:endParaRPr lang="zh-CN" altLang="en-US"/>
          </a:p>
        </p:txBody>
      </p:sp>
      <p:sp>
        <p:nvSpPr>
          <p:cNvPr id="6" name="文本框 5">
            <a:extLst>
              <a:ext uri="{FF2B5EF4-FFF2-40B4-BE49-F238E27FC236}">
                <a16:creationId xmlns:a16="http://schemas.microsoft.com/office/drawing/2014/main" id="{744A3726-C6CB-447C-957B-B5B415AE575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泛洪路由的特点不包括</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02C76160-B0E2-4101-A3FE-091EBAB86FD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路由思想简单，容易实现</a:t>
            </a:r>
          </a:p>
        </p:txBody>
      </p:sp>
      <p:sp>
        <p:nvSpPr>
          <p:cNvPr id="8" name="文本框 7">
            <a:extLst>
              <a:ext uri="{FF2B5EF4-FFF2-40B4-BE49-F238E27FC236}">
                <a16:creationId xmlns:a16="http://schemas.microsoft.com/office/drawing/2014/main" id="{AEF42C29-EB49-42A2-A2AE-856535BD961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节能</a:t>
            </a:r>
          </a:p>
        </p:txBody>
      </p:sp>
      <p:sp>
        <p:nvSpPr>
          <p:cNvPr id="9" name="文本框 8">
            <a:extLst>
              <a:ext uri="{FF2B5EF4-FFF2-40B4-BE49-F238E27FC236}">
                <a16:creationId xmlns:a16="http://schemas.microsoft.com/office/drawing/2014/main" id="{B23D6A0B-297E-4775-8A17-AA4753BF101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数据爆炸</a:t>
            </a:r>
          </a:p>
        </p:txBody>
      </p:sp>
      <p:sp>
        <p:nvSpPr>
          <p:cNvPr id="10" name="文本框 9">
            <a:extLst>
              <a:ext uri="{FF2B5EF4-FFF2-40B4-BE49-F238E27FC236}">
                <a16:creationId xmlns:a16="http://schemas.microsoft.com/office/drawing/2014/main" id="{F2551545-0B0B-4783-B242-646458112EC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数据重叠</a:t>
            </a:r>
          </a:p>
        </p:txBody>
      </p:sp>
      <p:sp>
        <p:nvSpPr>
          <p:cNvPr id="11" name="椭圆 10">
            <a:extLst>
              <a:ext uri="{FF2B5EF4-FFF2-40B4-BE49-F238E27FC236}">
                <a16:creationId xmlns:a16="http://schemas.microsoft.com/office/drawing/2014/main" id="{8DB75AC2-ADB1-45F4-A39A-8B7DE87D808E}"/>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F4328D9D-ED30-4EDD-92DE-D727BCE53232}"/>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46F6B62-642F-453A-AEAE-9338BACBB418}"/>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2D20CBB3-DC86-43E4-B2F4-BCDBCDF32466}"/>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8CEF5A0-D4A9-4352-AB6B-C73D3EA53FB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4CF680CB-55DB-4D96-8AC7-80526BF208C0}"/>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AE03DC3-A78F-4C90-96D7-47C5E77F62C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8C7D43C0-3E25-4213-964A-817A1B7B964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35DFFE0-68B5-45E3-85D7-058FAF6F47A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3326E6BB-5706-494D-827E-6BA421CF10D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5E82A51A-2DBC-434B-9A0E-F1951E4F1E2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52994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A215B86-822C-41B0-A1EA-ACC3DC3471EF}"/>
              </a:ext>
            </a:extLst>
          </p:cNvPr>
          <p:cNvSpPr>
            <a:spLocks noGrp="1"/>
          </p:cNvSpPr>
          <p:nvPr>
            <p:ph type="sldNum" sz="quarter" idx="12"/>
          </p:nvPr>
        </p:nvSpPr>
        <p:spPr/>
        <p:txBody>
          <a:bodyPr/>
          <a:lstStyle/>
          <a:p>
            <a:fld id="{E663D701-F6D3-45BB-89CD-EE32AA93FC3C}" type="slidenum">
              <a:rPr lang="zh-CN" altLang="en-US" smtClean="0"/>
              <a:t>51</a:t>
            </a:fld>
            <a:endParaRPr lang="zh-CN" altLang="en-US"/>
          </a:p>
        </p:txBody>
      </p:sp>
      <p:sp>
        <p:nvSpPr>
          <p:cNvPr id="6" name="文本框 5">
            <a:extLst>
              <a:ext uri="{FF2B5EF4-FFF2-40B4-BE49-F238E27FC236}">
                <a16:creationId xmlns:a16="http://schemas.microsoft.com/office/drawing/2014/main" id="{744A3726-C6CB-447C-957B-B5B415AE575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闲聊路由协议解决了泛洪路由协议的</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问题。</a:t>
            </a:r>
          </a:p>
        </p:txBody>
      </p:sp>
      <p:sp>
        <p:nvSpPr>
          <p:cNvPr id="7" name="文本框 6">
            <a:extLst>
              <a:ext uri="{FF2B5EF4-FFF2-40B4-BE49-F238E27FC236}">
                <a16:creationId xmlns:a16="http://schemas.microsoft.com/office/drawing/2014/main" id="{02C76160-B0E2-4101-A3FE-091EBAB86FD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路由协议复杂</a:t>
            </a:r>
          </a:p>
        </p:txBody>
      </p:sp>
      <p:sp>
        <p:nvSpPr>
          <p:cNvPr id="8" name="文本框 7">
            <a:extLst>
              <a:ext uri="{FF2B5EF4-FFF2-40B4-BE49-F238E27FC236}">
                <a16:creationId xmlns:a16="http://schemas.microsoft.com/office/drawing/2014/main" id="{AEF42C29-EB49-42A2-A2AE-856535BD961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节能</a:t>
            </a:r>
          </a:p>
        </p:txBody>
      </p:sp>
      <p:sp>
        <p:nvSpPr>
          <p:cNvPr id="9" name="文本框 8">
            <a:extLst>
              <a:ext uri="{FF2B5EF4-FFF2-40B4-BE49-F238E27FC236}">
                <a16:creationId xmlns:a16="http://schemas.microsoft.com/office/drawing/2014/main" id="{B23D6A0B-297E-4775-8A17-AA4753BF101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数据爆炸</a:t>
            </a:r>
          </a:p>
        </p:txBody>
      </p:sp>
      <p:sp>
        <p:nvSpPr>
          <p:cNvPr id="10" name="文本框 9">
            <a:extLst>
              <a:ext uri="{FF2B5EF4-FFF2-40B4-BE49-F238E27FC236}">
                <a16:creationId xmlns:a16="http://schemas.microsoft.com/office/drawing/2014/main" id="{F2551545-0B0B-4783-B242-646458112EC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数据重叠</a:t>
            </a:r>
          </a:p>
        </p:txBody>
      </p:sp>
      <p:sp>
        <p:nvSpPr>
          <p:cNvPr id="11" name="椭圆 10">
            <a:extLst>
              <a:ext uri="{FF2B5EF4-FFF2-40B4-BE49-F238E27FC236}">
                <a16:creationId xmlns:a16="http://schemas.microsoft.com/office/drawing/2014/main" id="{8DB75AC2-ADB1-45F4-A39A-8B7DE87D808E}"/>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F4328D9D-ED30-4EDD-92DE-D727BCE53232}"/>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46F6B62-642F-453A-AEAE-9338BACBB418}"/>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2D20CBB3-DC86-43E4-B2F4-BCDBCDF32466}"/>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8CEF5A0-D4A9-4352-AB6B-C73D3EA53FB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4CF680CB-55DB-4D96-8AC7-80526BF208C0}"/>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AE03DC3-A78F-4C90-96D7-47C5E77F62C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8C7D43C0-3E25-4213-964A-817A1B7B964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35DFFE0-68B5-45E3-85D7-058FAF6F47A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3326E6BB-5706-494D-827E-6BA421CF10D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5E82A51A-2DBC-434B-9A0E-F1951E4F1E2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393413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A215B86-822C-41B0-A1EA-ACC3DC3471EF}"/>
              </a:ext>
            </a:extLst>
          </p:cNvPr>
          <p:cNvSpPr>
            <a:spLocks noGrp="1"/>
          </p:cNvSpPr>
          <p:nvPr>
            <p:ph type="sldNum" sz="quarter" idx="12"/>
          </p:nvPr>
        </p:nvSpPr>
        <p:spPr/>
        <p:txBody>
          <a:bodyPr/>
          <a:lstStyle/>
          <a:p>
            <a:fld id="{E663D701-F6D3-45BB-89CD-EE32AA93FC3C}" type="slidenum">
              <a:rPr lang="zh-CN" altLang="en-US" smtClean="0"/>
              <a:t>52</a:t>
            </a:fld>
            <a:endParaRPr lang="zh-CN" altLang="en-US"/>
          </a:p>
        </p:txBody>
      </p:sp>
      <p:sp>
        <p:nvSpPr>
          <p:cNvPr id="6" name="文本框 5">
            <a:extLst>
              <a:ext uri="{FF2B5EF4-FFF2-40B4-BE49-F238E27FC236}">
                <a16:creationId xmlns:a16="http://schemas.microsoft.com/office/drawing/2014/main" id="{744A3726-C6CB-447C-957B-B5B415AE575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SPIN</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路由协议采用三次握手机制主要是为了解决泛洪协议的</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问题。</a:t>
            </a:r>
          </a:p>
        </p:txBody>
      </p:sp>
      <p:sp>
        <p:nvSpPr>
          <p:cNvPr id="7" name="文本框 6">
            <a:extLst>
              <a:ext uri="{FF2B5EF4-FFF2-40B4-BE49-F238E27FC236}">
                <a16:creationId xmlns:a16="http://schemas.microsoft.com/office/drawing/2014/main" id="{02C76160-B0E2-4101-A3FE-091EBAB86FD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路由协议复杂</a:t>
            </a:r>
          </a:p>
        </p:txBody>
      </p:sp>
      <p:sp>
        <p:nvSpPr>
          <p:cNvPr id="8" name="文本框 7">
            <a:extLst>
              <a:ext uri="{FF2B5EF4-FFF2-40B4-BE49-F238E27FC236}">
                <a16:creationId xmlns:a16="http://schemas.microsoft.com/office/drawing/2014/main" id="{AEF42C29-EB49-42A2-A2AE-856535BD961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节能</a:t>
            </a:r>
          </a:p>
        </p:txBody>
      </p:sp>
      <p:sp>
        <p:nvSpPr>
          <p:cNvPr id="9" name="文本框 8">
            <a:extLst>
              <a:ext uri="{FF2B5EF4-FFF2-40B4-BE49-F238E27FC236}">
                <a16:creationId xmlns:a16="http://schemas.microsoft.com/office/drawing/2014/main" id="{B23D6A0B-297E-4775-8A17-AA4753BF101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数据爆炸</a:t>
            </a:r>
          </a:p>
        </p:txBody>
      </p:sp>
      <p:sp>
        <p:nvSpPr>
          <p:cNvPr id="10" name="文本框 9">
            <a:extLst>
              <a:ext uri="{FF2B5EF4-FFF2-40B4-BE49-F238E27FC236}">
                <a16:creationId xmlns:a16="http://schemas.microsoft.com/office/drawing/2014/main" id="{F2551545-0B0B-4783-B242-646458112EC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数据重叠</a:t>
            </a:r>
          </a:p>
        </p:txBody>
      </p:sp>
      <p:sp>
        <p:nvSpPr>
          <p:cNvPr id="11" name="矩形 10">
            <a:extLst>
              <a:ext uri="{FF2B5EF4-FFF2-40B4-BE49-F238E27FC236}">
                <a16:creationId xmlns:a16="http://schemas.microsoft.com/office/drawing/2014/main" id="{8DB75AC2-ADB1-45F4-A39A-8B7DE87D808E}"/>
              </a:ext>
            </a:extLst>
          </p:cNvPr>
          <p:cNvSpPr>
            <a:spLocks noChangeAspect="1"/>
          </p:cNvSpPr>
          <p:nvPr>
            <p:custDataLst>
              <p:tags r:id="rId7"/>
            </p:custDataLst>
          </p:nvPr>
        </p:nvSpPr>
        <p:spPr>
          <a:xfrm>
            <a:off x="1114425"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F4328D9D-ED30-4EDD-92DE-D727BCE53232}"/>
              </a:ext>
            </a:extLst>
          </p:cNvPr>
          <p:cNvSpPr>
            <a:spLocks noChangeAspect="1"/>
          </p:cNvSpPr>
          <p:nvPr>
            <p:custDataLst>
              <p:tags r:id="rId8"/>
            </p:custDataLst>
          </p:nvPr>
        </p:nvSpPr>
        <p:spPr>
          <a:xfrm>
            <a:off x="1114425" y="37076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E46F6B62-642F-453A-AEAE-9338BACBB418}"/>
              </a:ext>
            </a:extLst>
          </p:cNvPr>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2D20CBB3-DC86-43E4-B2F4-BCDBCDF32466}"/>
              </a:ext>
            </a:extLst>
          </p:cNvPr>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8CEF5A0-D4A9-4352-AB6B-C73D3EA53FB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4" name="组合 3">
            <a:extLst>
              <a:ext uri="{FF2B5EF4-FFF2-40B4-BE49-F238E27FC236}">
                <a16:creationId xmlns:a16="http://schemas.microsoft.com/office/drawing/2014/main" id="{89A9CFCA-FD9A-4923-85A4-44D155E9793D}"/>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AE03DC3-A78F-4C90-96D7-47C5E77F62C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8C7D43C0-3E25-4213-964A-817A1B7B964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35DFFE0-68B5-45E3-85D7-058FAF6F47A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 name="TipText">
              <a:extLst>
                <a:ext uri="{FF2B5EF4-FFF2-40B4-BE49-F238E27FC236}">
                  <a16:creationId xmlns:a16="http://schemas.microsoft.com/office/drawing/2014/main" id="{C379EED3-7755-4E08-BA4B-340D8AC8676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5E82A51A-2DBC-434B-9A0E-F1951E4F1E2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477387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A215B86-822C-41B0-A1EA-ACC3DC3471EF}"/>
              </a:ext>
            </a:extLst>
          </p:cNvPr>
          <p:cNvSpPr>
            <a:spLocks noGrp="1"/>
          </p:cNvSpPr>
          <p:nvPr>
            <p:ph type="sldNum" sz="quarter" idx="12"/>
          </p:nvPr>
        </p:nvSpPr>
        <p:spPr/>
        <p:txBody>
          <a:bodyPr/>
          <a:lstStyle/>
          <a:p>
            <a:fld id="{E663D701-F6D3-45BB-89CD-EE32AA93FC3C}" type="slidenum">
              <a:rPr lang="zh-CN" altLang="en-US" smtClean="0"/>
              <a:t>53</a:t>
            </a:fld>
            <a:endParaRPr lang="zh-CN" altLang="en-US"/>
          </a:p>
        </p:txBody>
      </p:sp>
      <p:sp>
        <p:nvSpPr>
          <p:cNvPr id="6" name="文本框 5">
            <a:extLst>
              <a:ext uri="{FF2B5EF4-FFF2-40B4-BE49-F238E27FC236}">
                <a16:creationId xmlns:a16="http://schemas.microsoft.com/office/drawing/2014/main" id="{744A3726-C6CB-447C-957B-B5B415AE575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SPIN-PP</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路由协议中某节点</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不会响应发送端</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ADV</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请求的情况包括</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02C76160-B0E2-4101-A3FE-091EBAB86FD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节点</a:t>
            </a:r>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B</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电量不足</a:t>
            </a:r>
          </a:p>
        </p:txBody>
      </p:sp>
      <p:sp>
        <p:nvSpPr>
          <p:cNvPr id="8" name="文本框 7">
            <a:extLst>
              <a:ext uri="{FF2B5EF4-FFF2-40B4-BE49-F238E27FC236}">
                <a16:creationId xmlns:a16="http://schemas.microsoft.com/office/drawing/2014/main" id="{AEF42C29-EB49-42A2-A2AE-856535BD961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节点</a:t>
            </a:r>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B</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已经拥有发送的数据</a:t>
            </a:r>
          </a:p>
        </p:txBody>
      </p:sp>
      <p:sp>
        <p:nvSpPr>
          <p:cNvPr id="9" name="文本框 8">
            <a:extLst>
              <a:ext uri="{FF2B5EF4-FFF2-40B4-BE49-F238E27FC236}">
                <a16:creationId xmlns:a16="http://schemas.microsoft.com/office/drawing/2014/main" id="{B23D6A0B-297E-4775-8A17-AA4753BF101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节点</a:t>
            </a:r>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B</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的信道条件不好</a:t>
            </a:r>
          </a:p>
        </p:txBody>
      </p:sp>
      <p:sp>
        <p:nvSpPr>
          <p:cNvPr id="10" name="文本框 9">
            <a:extLst>
              <a:ext uri="{FF2B5EF4-FFF2-40B4-BE49-F238E27FC236}">
                <a16:creationId xmlns:a16="http://schemas.microsoft.com/office/drawing/2014/main" id="{F2551545-0B0B-4783-B242-646458112EC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节点</a:t>
            </a:r>
            <a:r>
              <a:rPr lang="en-US" altLang="zh-CN"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B</a:t>
            </a:r>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对发送的数据不感兴趣</a:t>
            </a:r>
          </a:p>
        </p:txBody>
      </p:sp>
      <p:sp>
        <p:nvSpPr>
          <p:cNvPr id="11" name="椭圆 10">
            <a:extLst>
              <a:ext uri="{FF2B5EF4-FFF2-40B4-BE49-F238E27FC236}">
                <a16:creationId xmlns:a16="http://schemas.microsoft.com/office/drawing/2014/main" id="{8DB75AC2-ADB1-45F4-A39A-8B7DE87D808E}"/>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F4328D9D-ED30-4EDD-92DE-D727BCE53232}"/>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46F6B62-642F-453A-AEAE-9338BACBB418}"/>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2D20CBB3-DC86-43E4-B2F4-BCDBCDF32466}"/>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8CEF5A0-D4A9-4352-AB6B-C73D3EA53FB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2A413F1B-D498-449E-A420-8FB87D844282}"/>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AE03DC3-A78F-4C90-96D7-47C5E77F62C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8C7D43C0-3E25-4213-964A-817A1B7B964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35DFFE0-68B5-45E3-85D7-058FAF6F47A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F78F79C8-9217-478B-B27F-79B3F6346B2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5E82A51A-2DBC-434B-9A0E-F1951E4F1E2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4022940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A215B86-822C-41B0-A1EA-ACC3DC3471EF}"/>
              </a:ext>
            </a:extLst>
          </p:cNvPr>
          <p:cNvSpPr>
            <a:spLocks noGrp="1"/>
          </p:cNvSpPr>
          <p:nvPr>
            <p:ph type="sldNum" sz="quarter" idx="12"/>
          </p:nvPr>
        </p:nvSpPr>
        <p:spPr/>
        <p:txBody>
          <a:bodyPr/>
          <a:lstStyle/>
          <a:p>
            <a:fld id="{E663D701-F6D3-45BB-89CD-EE32AA93FC3C}" type="slidenum">
              <a:rPr lang="zh-CN" altLang="en-US" smtClean="0"/>
              <a:t>54</a:t>
            </a:fld>
            <a:endParaRPr lang="zh-CN" altLang="en-US"/>
          </a:p>
        </p:txBody>
      </p:sp>
      <p:sp>
        <p:nvSpPr>
          <p:cNvPr id="6" name="文本框 5">
            <a:extLst>
              <a:ext uri="{FF2B5EF4-FFF2-40B4-BE49-F238E27FC236}">
                <a16:creationId xmlns:a16="http://schemas.microsoft.com/office/drawing/2014/main" id="{744A3726-C6CB-447C-957B-B5B415AE575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LEACH</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协议的特点不包括</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02C76160-B0E2-4101-A3FE-091EBAB86FD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通过数据融合降低整体能耗</a:t>
            </a:r>
          </a:p>
        </p:txBody>
      </p:sp>
      <p:sp>
        <p:nvSpPr>
          <p:cNvPr id="8" name="文本框 7">
            <a:extLst>
              <a:ext uri="{FF2B5EF4-FFF2-40B4-BE49-F238E27FC236}">
                <a16:creationId xmlns:a16="http://schemas.microsoft.com/office/drawing/2014/main" id="{AEF42C29-EB49-42A2-A2AE-856535BD961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簇头选取会周期改变</a:t>
            </a:r>
          </a:p>
        </p:txBody>
      </p:sp>
      <p:sp>
        <p:nvSpPr>
          <p:cNvPr id="9" name="文本框 8">
            <a:extLst>
              <a:ext uri="{FF2B5EF4-FFF2-40B4-BE49-F238E27FC236}">
                <a16:creationId xmlns:a16="http://schemas.microsoft.com/office/drawing/2014/main" id="{B23D6A0B-297E-4775-8A17-AA4753BF101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簇头选取未考虑节点剩余能量</a:t>
            </a:r>
          </a:p>
        </p:txBody>
      </p:sp>
      <p:sp>
        <p:nvSpPr>
          <p:cNvPr id="10" name="文本框 9">
            <a:extLst>
              <a:ext uri="{FF2B5EF4-FFF2-40B4-BE49-F238E27FC236}">
                <a16:creationId xmlns:a16="http://schemas.microsoft.com/office/drawing/2014/main" id="{F2551545-0B0B-4783-B242-646458112EC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每个节点都有可能会被选为簇头</a:t>
            </a:r>
          </a:p>
        </p:txBody>
      </p:sp>
      <p:sp>
        <p:nvSpPr>
          <p:cNvPr id="11" name="椭圆 10">
            <a:extLst>
              <a:ext uri="{FF2B5EF4-FFF2-40B4-BE49-F238E27FC236}">
                <a16:creationId xmlns:a16="http://schemas.microsoft.com/office/drawing/2014/main" id="{8DB75AC2-ADB1-45F4-A39A-8B7DE87D808E}"/>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F4328D9D-ED30-4EDD-92DE-D727BCE53232}"/>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46F6B62-642F-453A-AEAE-9338BACBB418}"/>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2D20CBB3-DC86-43E4-B2F4-BCDBCDF32466}"/>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8CEF5A0-D4A9-4352-AB6B-C73D3EA53FB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2A413F1B-D498-449E-A420-8FB87D844282}"/>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AE03DC3-A78F-4C90-96D7-47C5E77F62C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8C7D43C0-3E25-4213-964A-817A1B7B964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35DFFE0-68B5-45E3-85D7-058FAF6F47A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F78F79C8-9217-478B-B27F-79B3F6346B2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5E82A51A-2DBC-434B-9A0E-F1951E4F1E2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7429591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278"/>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1.0,&quot;answers&quot;:[&quot;15&quot;]},{&quot;num&quot;:2,&quot;caseSensitive&quot;:false,&quot;fuzzyMatch&quot;:false,&quot;Score&quot;:1.0,&quot;answers&quot;:[&quot;3&quot;]}]"/>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3.0"/>
  <p:tag name="PROBLEMBLANK" val="[{&quot;num&quot;:1,&quot;caseSensitive&quot;:false,&quot;fuzzyMatch&quot;:false,&quot;Score&quot;:1.0,&quot;answers&quot;:[&quot;A&quot;]},{&quot;num&quot;:2,&quot;caseSensitive&quot;:false,&quot;fuzzyMatch&quot;:false,&quot;Score&quot;:1.0,&quot;answers&quot;:[&quot;D&quot;]},{&quot;num&quot;:3,&quot;caseSensitive&quot;:false,&quot;fuzzyMatch&quot;:false,&quot;Score&quot;:1.0,&quot;answers&quot;:[&quot;G&quot;]}]"/>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MultipleChoiceMA"/>
  <p:tag name="RAINPROBLEM" val="MultipleChoiceMA"/>
  <p:tag name="PROBLEMSCORE_HALF" val="0.0"/>
  <p:tag name="PROBLEMSCORE" val="2.0"/>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BULLET" val="Correct"/>
  <p:tag name="RAINPROBLEMTYPE" val="MultipleChoiceMA"/>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PROBLEMSCORE_HALF" val="0.0"/>
  <p:tag name="RAINPROBLEMTYPE" val="MultipleChoice"/>
  <p:tag name="RAINPROBLEM" val="MultipleChoice"/>
  <p:tag name="PROBLEMSCORE" val="1.0"/>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xml><?xml version="1.0" encoding="utf-8"?>
<p:tagLst xmlns:a="http://schemas.openxmlformats.org/drawingml/2006/main" xmlns:r="http://schemas.openxmlformats.org/officeDocument/2006/relationships" xmlns:p="http://schemas.openxmlformats.org/presentationml/2006/main">
  <p:tag name="PROBLEMSCORE_HALF" val="0.0"/>
  <p:tag name="RAINPROBLEMTYPE" val="MultipleChoice"/>
  <p:tag name="RAINPROBLEM" val="MultipleChoice"/>
  <p:tag name="PROBLEMSCORE" val="1.0"/>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28189</TotalTime>
  <Words>6275</Words>
  <Application>Microsoft Office PowerPoint</Application>
  <PresentationFormat>全屏显示(4:3)</PresentationFormat>
  <Paragraphs>1338</Paragraphs>
  <Slides>54</Slides>
  <Notes>44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54</vt:i4>
      </vt:variant>
    </vt:vector>
  </HeadingPairs>
  <TitlesOfParts>
    <vt:vector size="69" baseType="lpstr">
      <vt:lpstr>Inter</vt:lpstr>
      <vt:lpstr>Monotype Sorts</vt:lpstr>
      <vt:lpstr>等线</vt:lpstr>
      <vt:lpstr>华文中宋</vt:lpstr>
      <vt:lpstr>楷体_GB2312</vt:lpstr>
      <vt:lpstr>微软雅黑</vt:lpstr>
      <vt:lpstr>微软雅黑</vt:lpstr>
      <vt:lpstr>Arial</vt:lpstr>
      <vt:lpstr>Comic Sans MS</vt:lpstr>
      <vt:lpstr>Gill Sans MT</vt:lpstr>
      <vt:lpstr>Tahoma</vt:lpstr>
      <vt:lpstr>Times New Roman</vt:lpstr>
      <vt:lpstr>Verdana</vt:lpstr>
      <vt:lpstr>Wingdings</vt:lpstr>
      <vt:lpstr>Office 主题​​</vt:lpstr>
      <vt:lpstr>数据链路层小结</vt:lpstr>
      <vt:lpstr>PowerPoint 演示文稿</vt:lpstr>
      <vt:lpstr>PowerPoint 演示文稿</vt:lpstr>
      <vt:lpstr>PowerPoint 演示文稿</vt:lpstr>
      <vt:lpstr>第2章 传感器网络的 协议架构及关键技术</vt:lpstr>
      <vt:lpstr>第2章 传感器网络的 协议架构及关键技术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dc:creator>
  <cp:lastModifiedBy>JunchaoMa</cp:lastModifiedBy>
  <cp:revision>2049</cp:revision>
  <dcterms:created xsi:type="dcterms:W3CDTF">2022-06-15T01:28:12Z</dcterms:created>
  <dcterms:modified xsi:type="dcterms:W3CDTF">2025-05-26T02:04:11Z</dcterms:modified>
</cp:coreProperties>
</file>