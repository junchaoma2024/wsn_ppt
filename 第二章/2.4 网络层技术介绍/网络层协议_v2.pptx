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9"/>
  </p:notesMasterIdLst>
  <p:sldIdLst>
    <p:sldId id="636" r:id="rId3"/>
    <p:sldId id="285" r:id="rId4"/>
    <p:sldId id="450" r:id="rId5"/>
    <p:sldId id="321" r:id="rId6"/>
    <p:sldId id="284" r:id="rId7"/>
    <p:sldId id="545" r:id="rId8"/>
    <p:sldId id="454" r:id="rId9"/>
    <p:sldId id="325" r:id="rId10"/>
    <p:sldId id="375" r:id="rId11"/>
    <p:sldId id="378" r:id="rId12"/>
    <p:sldId id="455" r:id="rId13"/>
    <p:sldId id="371" r:id="rId14"/>
    <p:sldId id="379" r:id="rId15"/>
    <p:sldId id="380" r:id="rId16"/>
    <p:sldId id="456" r:id="rId17"/>
    <p:sldId id="457" r:id="rId18"/>
    <p:sldId id="458" r:id="rId19"/>
    <p:sldId id="376" r:id="rId20"/>
    <p:sldId id="382" r:id="rId21"/>
    <p:sldId id="459" r:id="rId22"/>
    <p:sldId id="383" r:id="rId23"/>
    <p:sldId id="460" r:id="rId24"/>
    <p:sldId id="373" r:id="rId25"/>
    <p:sldId id="384" r:id="rId26"/>
    <p:sldId id="374" r:id="rId27"/>
    <p:sldId id="461" r:id="rId28"/>
    <p:sldId id="385" r:id="rId29"/>
    <p:sldId id="462" r:id="rId30"/>
    <p:sldId id="386" r:id="rId31"/>
    <p:sldId id="451" r:id="rId32"/>
    <p:sldId id="331" r:id="rId33"/>
    <p:sldId id="387" r:id="rId34"/>
    <p:sldId id="388" r:id="rId35"/>
    <p:sldId id="389" r:id="rId36"/>
    <p:sldId id="390" r:id="rId37"/>
    <p:sldId id="391" r:id="rId38"/>
    <p:sldId id="392" r:id="rId39"/>
    <p:sldId id="393" r:id="rId40"/>
    <p:sldId id="394" r:id="rId41"/>
    <p:sldId id="395" r:id="rId42"/>
    <p:sldId id="469" r:id="rId43"/>
    <p:sldId id="396" r:id="rId44"/>
    <p:sldId id="401" r:id="rId45"/>
    <p:sldId id="470" r:id="rId46"/>
    <p:sldId id="452" r:id="rId47"/>
    <p:sldId id="402" r:id="rId48"/>
    <p:sldId id="404" r:id="rId49"/>
    <p:sldId id="407" r:id="rId50"/>
    <p:sldId id="406" r:id="rId51"/>
    <p:sldId id="463" r:id="rId52"/>
    <p:sldId id="405" r:id="rId53"/>
    <p:sldId id="464" r:id="rId54"/>
    <p:sldId id="408" r:id="rId55"/>
    <p:sldId id="410" r:id="rId56"/>
    <p:sldId id="411" r:id="rId57"/>
    <p:sldId id="413" r:id="rId58"/>
    <p:sldId id="412" r:id="rId59"/>
    <p:sldId id="414" r:id="rId60"/>
    <p:sldId id="409" r:id="rId61"/>
    <p:sldId id="415" r:id="rId62"/>
    <p:sldId id="465" r:id="rId63"/>
    <p:sldId id="416" r:id="rId64"/>
    <p:sldId id="417" r:id="rId65"/>
    <p:sldId id="418" r:id="rId66"/>
    <p:sldId id="466" r:id="rId67"/>
    <p:sldId id="420" r:id="rId68"/>
    <p:sldId id="421" r:id="rId69"/>
    <p:sldId id="467" r:id="rId70"/>
    <p:sldId id="422" r:id="rId71"/>
    <p:sldId id="453" r:id="rId72"/>
    <p:sldId id="423" r:id="rId73"/>
    <p:sldId id="424" r:id="rId74"/>
    <p:sldId id="427" r:id="rId75"/>
    <p:sldId id="425" r:id="rId76"/>
    <p:sldId id="426" r:id="rId77"/>
    <p:sldId id="428" r:id="rId78"/>
    <p:sldId id="429" r:id="rId79"/>
    <p:sldId id="431" r:id="rId80"/>
    <p:sldId id="430" r:id="rId81"/>
    <p:sldId id="432" r:id="rId82"/>
    <p:sldId id="433" r:id="rId83"/>
    <p:sldId id="434" r:id="rId84"/>
    <p:sldId id="435" r:id="rId85"/>
    <p:sldId id="436" r:id="rId86"/>
    <p:sldId id="437" r:id="rId87"/>
    <p:sldId id="438" r:id="rId88"/>
    <p:sldId id="439" r:id="rId89"/>
    <p:sldId id="440" r:id="rId90"/>
    <p:sldId id="441" r:id="rId91"/>
    <p:sldId id="442" r:id="rId92"/>
    <p:sldId id="444" r:id="rId93"/>
    <p:sldId id="448" r:id="rId94"/>
    <p:sldId id="449" r:id="rId95"/>
    <p:sldId id="447" r:id="rId96"/>
    <p:sldId id="543" r:id="rId97"/>
    <p:sldId id="320" r:id="rId98"/>
  </p:sldIdLst>
  <p:sldSz cx="12192000" cy="6858000"/>
  <p:notesSz cx="6858000" cy="9144000"/>
  <p:custDataLst>
    <p:tags r:id="rId10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16AAB"/>
    <a:srgbClr val="F2F2F2"/>
    <a:srgbClr val="E6E6E6"/>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78" autoAdjust="0"/>
    <p:restoredTop sz="93773" autoAdjust="0"/>
  </p:normalViewPr>
  <p:slideViewPr>
    <p:cSldViewPr snapToGrid="0">
      <p:cViewPr varScale="1">
        <p:scale>
          <a:sx n="68" d="100"/>
          <a:sy n="68" d="100"/>
        </p:scale>
        <p:origin x="288" y="72"/>
      </p:cViewPr>
      <p:guideLst/>
    </p:cSldViewPr>
  </p:slideViewPr>
  <p:outlineViewPr>
    <p:cViewPr>
      <p:scale>
        <a:sx n="33" d="100"/>
        <a:sy n="33" d="100"/>
      </p:scale>
      <p:origin x="0" y="-14314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notesMaster" Target="notesMasters/notesMaster1.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4" Type="http://schemas.openxmlformats.org/officeDocument/2006/relationships/tags" Target="tags/tag8.xml"/><Relationship Id="rId103" Type="http://schemas.openxmlformats.org/officeDocument/2006/relationships/commentAuthors" Target="commentAuthors.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755B6-0C3E-4F0C-BF6C-16E867B5A9B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2432D-7D6E-451E-9D5A-7906F4008F1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汉仪中宋简" panose="02010600000101010101" charset="-122"/>
                <a:ea typeface="汉仪中宋简" panose="02010600000101010101" charset="-122"/>
              </a:defRPr>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7" name="弧形 6"/>
          <p:cNvSpPr/>
          <p:nvPr userDrawn="1"/>
        </p:nvSpPr>
        <p:spPr>
          <a:xfrm>
            <a:off x="-342900" y="4635500"/>
            <a:ext cx="12534900" cy="4762500"/>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userDrawn="1"/>
        </p:nvSpPr>
        <p:spPr>
          <a:xfrm>
            <a:off x="3556000" y="4279900"/>
            <a:ext cx="6261100" cy="5118100"/>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userDrawn="1"/>
        </p:nvSpPr>
        <p:spPr>
          <a:xfrm>
            <a:off x="-723900" y="4457700"/>
            <a:ext cx="7645400" cy="5118100"/>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p:cNvSpPr/>
          <p:nvPr userDrawn="1"/>
        </p:nvSpPr>
        <p:spPr>
          <a:xfrm>
            <a:off x="609600" y="4279900"/>
            <a:ext cx="7950200" cy="5118100"/>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userDrawn="1"/>
        </p:nvSpPr>
        <p:spPr>
          <a:xfrm rot="20669223">
            <a:off x="4802771" y="4781083"/>
            <a:ext cx="7645400" cy="4627022"/>
          </a:xfrm>
          <a:prstGeom prst="arc">
            <a:avLst>
              <a:gd name="adj1" fmla="val 11936525"/>
              <a:gd name="adj2" fmla="val 21351808"/>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a:off x="2863850" y="4781083"/>
            <a:ext cx="7645400" cy="4627022"/>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userDrawn="1"/>
        </p:nvSpPr>
        <p:spPr>
          <a:xfrm>
            <a:off x="1530350" y="5003800"/>
            <a:ext cx="7645400" cy="4394200"/>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userDrawn="1"/>
        </p:nvSpPr>
        <p:spPr>
          <a:xfrm>
            <a:off x="2329369" y="5435600"/>
            <a:ext cx="4357181" cy="4224048"/>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userDrawn="1"/>
        </p:nvSpPr>
        <p:spPr>
          <a:xfrm rot="814006">
            <a:off x="-400500" y="4962915"/>
            <a:ext cx="5030602" cy="4224048"/>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 name="直接连接符 15"/>
          <p:cNvCxnSpPr/>
          <p:nvPr userDrawn="1"/>
        </p:nvCxnSpPr>
        <p:spPr>
          <a:xfrm>
            <a:off x="1162050" y="5003800"/>
            <a:ext cx="857250" cy="1854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1181100" y="5003800"/>
            <a:ext cx="2952750" cy="1397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flipV="1">
            <a:off x="299531" y="5003800"/>
            <a:ext cx="5290304" cy="1473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5603882" y="5010755"/>
            <a:ext cx="2009768" cy="139004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flipV="1">
            <a:off x="2600709" y="4524678"/>
            <a:ext cx="3909876" cy="195232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nvCxnSpPr>
        <p:spPr>
          <a:xfrm flipH="1">
            <a:off x="4107972" y="4493233"/>
            <a:ext cx="1074026" cy="19456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7444474" y="4577081"/>
            <a:ext cx="2060574" cy="196689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flipH="1">
            <a:off x="7961228" y="5200650"/>
            <a:ext cx="160047" cy="12001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341109" y="5435600"/>
            <a:ext cx="253476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同心圆 31"/>
          <p:cNvSpPr/>
          <p:nvPr userDrawn="1"/>
        </p:nvSpPr>
        <p:spPr>
          <a:xfrm>
            <a:off x="10472156" y="5328228"/>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同心圆 32"/>
          <p:cNvSpPr/>
          <p:nvPr userDrawn="1"/>
        </p:nvSpPr>
        <p:spPr>
          <a:xfrm>
            <a:off x="1074231" y="48450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同心圆 34"/>
          <p:cNvSpPr/>
          <p:nvPr userDrawn="1"/>
        </p:nvSpPr>
        <p:spPr>
          <a:xfrm>
            <a:off x="3551852" y="6076950"/>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同心圆 38"/>
          <p:cNvSpPr/>
          <p:nvPr userDrawn="1"/>
        </p:nvSpPr>
        <p:spPr>
          <a:xfrm>
            <a:off x="9427767" y="6494285"/>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椭圆 39"/>
          <p:cNvSpPr/>
          <p:nvPr userDrawn="1"/>
        </p:nvSpPr>
        <p:spPr>
          <a:xfrm>
            <a:off x="11301745" y="678685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userDrawn="1"/>
        </p:nvSpPr>
        <p:spPr>
          <a:xfrm>
            <a:off x="4015364" y="6306255"/>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userDrawn="1"/>
        </p:nvSpPr>
        <p:spPr>
          <a:xfrm>
            <a:off x="4536712" y="529806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a:off x="4987961" y="4474082"/>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userDrawn="1"/>
        </p:nvSpPr>
        <p:spPr>
          <a:xfrm>
            <a:off x="7311685" y="4457700"/>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a:off x="6396327" y="441007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a:off x="3085919" y="4381601"/>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a:off x="3315074" y="526209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userDrawn="1"/>
        </p:nvSpPr>
        <p:spPr>
          <a:xfrm>
            <a:off x="3813606" y="562987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a:off x="7977379" y="558976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a:off x="8437465" y="464920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a:off x="6327587" y="5477477"/>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a:off x="6347789" y="6527596"/>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userDrawn="1"/>
        </p:nvSpPr>
        <p:spPr>
          <a:xfrm>
            <a:off x="5419168" y="6226223"/>
            <a:ext cx="168832" cy="16006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a:off x="2159550" y="5854699"/>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userDrawn="1"/>
        </p:nvSpPr>
        <p:spPr>
          <a:xfrm>
            <a:off x="217198" y="6405724"/>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userDrawn="1"/>
        </p:nvSpPr>
        <p:spPr>
          <a:xfrm>
            <a:off x="4575037" y="4632928"/>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userDrawn="1"/>
        </p:nvSpPr>
        <p:spPr>
          <a:xfrm>
            <a:off x="10274506" y="6336182"/>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userDrawn="1"/>
        </p:nvSpPr>
        <p:spPr>
          <a:xfrm>
            <a:off x="10816535" y="5338590"/>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userDrawn="1"/>
        </p:nvSpPr>
        <p:spPr>
          <a:xfrm>
            <a:off x="9925121" y="4593523"/>
            <a:ext cx="162796" cy="15240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同心圆 63"/>
          <p:cNvSpPr/>
          <p:nvPr userDrawn="1"/>
        </p:nvSpPr>
        <p:spPr>
          <a:xfrm>
            <a:off x="11276519" y="4926907"/>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同心圆 66"/>
          <p:cNvSpPr/>
          <p:nvPr userDrawn="1"/>
        </p:nvSpPr>
        <p:spPr>
          <a:xfrm>
            <a:off x="7910497" y="6361402"/>
            <a:ext cx="188022" cy="20449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椭圆 67"/>
          <p:cNvSpPr/>
          <p:nvPr userDrawn="1"/>
        </p:nvSpPr>
        <p:spPr>
          <a:xfrm>
            <a:off x="602169" y="6228939"/>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userDrawn="1"/>
        </p:nvSpPr>
        <p:spPr>
          <a:xfrm>
            <a:off x="1704597" y="6283732"/>
            <a:ext cx="178843" cy="2099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连接符 70"/>
          <p:cNvCxnSpPr>
            <a:stCxn id="32" idx="5"/>
          </p:cNvCxnSpPr>
          <p:nvPr userDrawn="1"/>
        </p:nvCxnSpPr>
        <p:spPr>
          <a:xfrm>
            <a:off x="10664742" y="5524101"/>
            <a:ext cx="705788" cy="13338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椭圆 71"/>
          <p:cNvSpPr/>
          <p:nvPr userDrawn="1"/>
        </p:nvSpPr>
        <p:spPr>
          <a:xfrm>
            <a:off x="8434046" y="6735585"/>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userDrawn="1"/>
        </p:nvSpPr>
        <p:spPr>
          <a:xfrm>
            <a:off x="4978649" y="6690468"/>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userDrawn="1"/>
        </p:nvSpPr>
        <p:spPr>
          <a:xfrm>
            <a:off x="2845352" y="6703346"/>
            <a:ext cx="261431" cy="25964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userDrawn="1"/>
        </p:nvSpPr>
        <p:spPr>
          <a:xfrm>
            <a:off x="11025222" y="61874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userDrawn="1"/>
        </p:nvSpPr>
        <p:spPr>
          <a:xfrm>
            <a:off x="7905379" y="44751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userDrawn="1"/>
        </p:nvSpPr>
        <p:spPr>
          <a:xfrm>
            <a:off x="9484750" y="503703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userDrawn="1"/>
        </p:nvSpPr>
        <p:spPr>
          <a:xfrm>
            <a:off x="4375615" y="5038494"/>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userDrawn="1"/>
        </p:nvSpPr>
        <p:spPr>
          <a:xfrm>
            <a:off x="2563250" y="564129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userDrawn="1"/>
        </p:nvSpPr>
        <p:spPr>
          <a:xfrm>
            <a:off x="5702540" y="435784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userDrawn="1"/>
        </p:nvSpPr>
        <p:spPr>
          <a:xfrm>
            <a:off x="5872891" y="5894899"/>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userDrawn="1"/>
        </p:nvSpPr>
        <p:spPr>
          <a:xfrm>
            <a:off x="397635" y="5390515"/>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userDrawn="1"/>
        </p:nvSpPr>
        <p:spPr>
          <a:xfrm>
            <a:off x="9776753" y="6809767"/>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userDrawn="1"/>
        </p:nvSpPr>
        <p:spPr>
          <a:xfrm>
            <a:off x="1909653" y="4577081"/>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userDrawn="1"/>
        </p:nvSpPr>
        <p:spPr>
          <a:xfrm>
            <a:off x="4631427" y="4256446"/>
            <a:ext cx="72000" cy="72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弧形 90"/>
          <p:cNvSpPr/>
          <p:nvPr userDrawn="1"/>
        </p:nvSpPr>
        <p:spPr>
          <a:xfrm>
            <a:off x="1181100" y="5057065"/>
            <a:ext cx="9694773" cy="4762500"/>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同心圆 33"/>
          <p:cNvSpPr/>
          <p:nvPr userDrawn="1"/>
        </p:nvSpPr>
        <p:spPr>
          <a:xfrm>
            <a:off x="2489001" y="4914799"/>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同心圆 35"/>
          <p:cNvSpPr/>
          <p:nvPr userDrawn="1"/>
        </p:nvSpPr>
        <p:spPr>
          <a:xfrm>
            <a:off x="5380034" y="4926907"/>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同心圆 36"/>
          <p:cNvSpPr/>
          <p:nvPr userDrawn="1"/>
        </p:nvSpPr>
        <p:spPr>
          <a:xfrm>
            <a:off x="6858718" y="5086350"/>
            <a:ext cx="266700" cy="241300"/>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同心圆 37"/>
          <p:cNvSpPr/>
          <p:nvPr userDrawn="1"/>
        </p:nvSpPr>
        <p:spPr>
          <a:xfrm>
            <a:off x="8152574" y="5322584"/>
            <a:ext cx="266700" cy="24130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椭圆 40"/>
          <p:cNvSpPr/>
          <p:nvPr userDrawn="1"/>
        </p:nvSpPr>
        <p:spPr>
          <a:xfrm>
            <a:off x="1136130" y="5279799"/>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userDrawn="1"/>
        </p:nvSpPr>
        <p:spPr>
          <a:xfrm>
            <a:off x="2490748" y="6363872"/>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a:off x="7549031" y="6329396"/>
            <a:ext cx="261431" cy="259645"/>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a:off x="9207696" y="5338297"/>
            <a:ext cx="162796" cy="15240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同心圆 65"/>
          <p:cNvSpPr/>
          <p:nvPr userDrawn="1"/>
        </p:nvSpPr>
        <p:spPr>
          <a:xfrm>
            <a:off x="8064687" y="5027531"/>
            <a:ext cx="225629" cy="22947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
        <p:nvSpPr>
          <p:cNvPr id="10" name="弧形 9"/>
          <p:cNvSpPr/>
          <p:nvPr userDrawn="1"/>
        </p:nvSpPr>
        <p:spPr>
          <a:xfrm rot="10800000">
            <a:off x="5553840" y="-1648521"/>
            <a:ext cx="4248702" cy="3366642"/>
          </a:xfrm>
          <a:prstGeom prst="arc">
            <a:avLst>
              <a:gd name="adj1" fmla="val 1159520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rot="10800000">
            <a:off x="7518757" y="-1765476"/>
            <a:ext cx="5188070" cy="3366642"/>
          </a:xfrm>
          <a:prstGeom prst="arc">
            <a:avLst>
              <a:gd name="adj1" fmla="val 12281735"/>
              <a:gd name="adj2" fmla="val 2147566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userDrawn="1"/>
        </p:nvSpPr>
        <p:spPr>
          <a:xfrm rot="10800000">
            <a:off x="6407028" y="-1648521"/>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userDrawn="1"/>
        </p:nvSpPr>
        <p:spPr>
          <a:xfrm rot="9869223">
            <a:off x="3768429" y="-1655168"/>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p:cNvSpPr/>
          <p:nvPr userDrawn="1"/>
        </p:nvSpPr>
        <p:spPr>
          <a:xfrm rot="10800000">
            <a:off x="5084156" y="-1655168"/>
            <a:ext cx="5188070" cy="3043615"/>
          </a:xfrm>
          <a:prstGeom prst="arc">
            <a:avLst>
              <a:gd name="adj1" fmla="val 10996067"/>
              <a:gd name="adj2" fmla="val 2135180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弧形 18"/>
          <p:cNvSpPr/>
          <p:nvPr userDrawn="1"/>
        </p:nvSpPr>
        <p:spPr>
          <a:xfrm rot="10800000">
            <a:off x="5989052" y="-1648521"/>
            <a:ext cx="5188070" cy="2890467"/>
          </a:xfrm>
          <a:prstGeom prst="arc">
            <a:avLst>
              <a:gd name="adj1" fmla="val 11069650"/>
              <a:gd name="adj2" fmla="val 21351808"/>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弧形 19"/>
          <p:cNvSpPr/>
          <p:nvPr userDrawn="1"/>
        </p:nvSpPr>
        <p:spPr>
          <a:xfrm rot="10800000">
            <a:off x="7678191" y="-1820631"/>
            <a:ext cx="2956727" cy="2778543"/>
          </a:xfrm>
          <a:prstGeom prst="arc">
            <a:avLst>
              <a:gd name="adj1" fmla="val 11895690"/>
              <a:gd name="adj2" fmla="val 20468634"/>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弧形 21"/>
          <p:cNvSpPr/>
          <p:nvPr userDrawn="1"/>
        </p:nvSpPr>
        <p:spPr>
          <a:xfrm rot="11614006">
            <a:off x="9073670" y="-1509703"/>
            <a:ext cx="3413702" cy="2778543"/>
          </a:xfrm>
          <a:prstGeom prst="arc">
            <a:avLst>
              <a:gd name="adj1" fmla="val 11895690"/>
              <a:gd name="adj2" fmla="val 20468634"/>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3" name="直接连接符 22"/>
          <p:cNvCxnSpPr/>
          <p:nvPr userDrawn="1"/>
        </p:nvCxnSpPr>
        <p:spPr>
          <a:xfrm rot="10800000">
            <a:off x="10845327" y="22269"/>
            <a:ext cx="581719" cy="121967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rot="10800000">
            <a:off x="9410420" y="323011"/>
            <a:ext cx="2003698" cy="91893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rot="10800000" flipV="1">
            <a:off x="8422408" y="272888"/>
            <a:ext cx="3589932" cy="969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rot="10800000">
            <a:off x="7049073" y="323011"/>
            <a:ext cx="1363803" cy="9143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rot="10800000" flipV="1">
            <a:off x="7797598" y="272888"/>
            <a:ext cx="2653192" cy="128422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rot="10800000" flipH="1">
            <a:off x="8699161" y="297949"/>
            <a:ext cx="728820" cy="127984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rot="10800000">
            <a:off x="5765594" y="228830"/>
            <a:ext cx="1398279" cy="12938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rot="10800000" flipH="1">
            <a:off x="6704605" y="323011"/>
            <a:ext cx="108606" cy="78944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同心圆 34"/>
          <p:cNvSpPr/>
          <p:nvPr userDrawn="1"/>
        </p:nvSpPr>
        <p:spPr>
          <a:xfrm rot="10800000">
            <a:off x="4956218" y="877591"/>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同心圆 35"/>
          <p:cNvSpPr/>
          <p:nvPr userDrawn="1"/>
        </p:nvSpPr>
        <p:spPr>
          <a:xfrm rot="10800000">
            <a:off x="11305659" y="1187645"/>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同心圆 36"/>
          <p:cNvSpPr/>
          <p:nvPr userDrawn="1"/>
        </p:nvSpPr>
        <p:spPr>
          <a:xfrm rot="10800000">
            <a:off x="9624377" y="377312"/>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同心圆 37"/>
          <p:cNvSpPr/>
          <p:nvPr userDrawn="1"/>
        </p:nvSpPr>
        <p:spPr>
          <a:xfrm rot="10800000">
            <a:off x="5637057" y="102793"/>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椭圆 38"/>
          <p:cNvSpPr/>
          <p:nvPr userDrawn="1"/>
        </p:nvSpPr>
        <p:spPr>
          <a:xfrm rot="10800000">
            <a:off x="4435908" y="-3117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userDrawn="1"/>
        </p:nvSpPr>
        <p:spPr>
          <a:xfrm rot="10800000">
            <a:off x="9313420" y="2144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userDrawn="1"/>
        </p:nvSpPr>
        <p:spPr>
          <a:xfrm rot="10800000">
            <a:off x="8959640" y="877591"/>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userDrawn="1"/>
        </p:nvSpPr>
        <p:spPr>
          <a:xfrm rot="10800000">
            <a:off x="8653428" y="1419598"/>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userDrawn="1"/>
        </p:nvSpPr>
        <p:spPr>
          <a:xfrm rot="10800000">
            <a:off x="7076579" y="1430374"/>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userDrawn="1"/>
        </p:nvSpPr>
        <p:spPr>
          <a:xfrm rot="10800000">
            <a:off x="7697729" y="146169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rot="10800000">
            <a:off x="10011062" y="15509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rot="10800000">
            <a:off x="9855560" y="971792"/>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userDrawn="1"/>
        </p:nvSpPr>
        <p:spPr>
          <a:xfrm rot="10800000">
            <a:off x="9517262" y="72986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rot="10800000">
            <a:off x="6691780" y="756256"/>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rot="10800000">
            <a:off x="6379571" y="1374949"/>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rot="10800000">
            <a:off x="7811307" y="830117"/>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userDrawn="1"/>
        </p:nvSpPr>
        <p:spPr>
          <a:xfrm rot="10800000">
            <a:off x="7797598" y="13935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rot="10800000">
            <a:off x="8423653" y="332558"/>
            <a:ext cx="114567" cy="1052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rot="10800000">
            <a:off x="10639684" y="58198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rot="10800000">
            <a:off x="11957739" y="21952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rot="10800000">
            <a:off x="9000565" y="1385654"/>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rot="10800000">
            <a:off x="5132979" y="265268"/>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userDrawn="1"/>
        </p:nvSpPr>
        <p:spPr>
          <a:xfrm rot="10800000">
            <a:off x="4765165" y="921476"/>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userDrawn="1"/>
        </p:nvSpPr>
        <p:spPr>
          <a:xfrm rot="10800000">
            <a:off x="5370067" y="1411575"/>
            <a:ext cx="110471" cy="10024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同心圆 58"/>
          <p:cNvSpPr/>
          <p:nvPr userDrawn="1"/>
        </p:nvSpPr>
        <p:spPr>
          <a:xfrm rot="10800000">
            <a:off x="4435908" y="1158008"/>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同心圆 59"/>
          <p:cNvSpPr/>
          <p:nvPr userDrawn="1"/>
        </p:nvSpPr>
        <p:spPr>
          <a:xfrm rot="10800000">
            <a:off x="6720047" y="214410"/>
            <a:ext cx="127589" cy="1345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椭圆 60"/>
          <p:cNvSpPr/>
          <p:nvPr userDrawn="1"/>
        </p:nvSpPr>
        <p:spPr>
          <a:xfrm rot="10800000">
            <a:off x="11685613" y="297949"/>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userDrawn="1"/>
        </p:nvSpPr>
        <p:spPr>
          <a:xfrm rot="10800000">
            <a:off x="10937520" y="261906"/>
            <a:ext cx="121361" cy="13811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a:stCxn id="35" idx="5"/>
          </p:cNvCxnSpPr>
          <p:nvPr userDrawn="1"/>
        </p:nvCxnSpPr>
        <p:spPr>
          <a:xfrm rot="10800000">
            <a:off x="4499702" y="22269"/>
            <a:ext cx="478939" cy="8774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椭圆 63"/>
          <p:cNvSpPr/>
          <p:nvPr userDrawn="1"/>
        </p:nvSpPr>
        <p:spPr>
          <a:xfrm rot="10800000">
            <a:off x="6314959" y="-68000"/>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userDrawn="1"/>
        </p:nvSpPr>
        <p:spPr>
          <a:xfrm rot="10800000">
            <a:off x="8659747" y="-38322"/>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userDrawn="1"/>
        </p:nvSpPr>
        <p:spPr>
          <a:xfrm rot="10800000">
            <a:off x="10107375" y="-46793"/>
            <a:ext cx="177404" cy="17079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userDrawn="1"/>
        </p:nvSpPr>
        <p:spPr>
          <a:xfrm rot="10800000">
            <a:off x="4685166" y="41595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userDrawn="1"/>
        </p:nvSpPr>
        <p:spPr>
          <a:xfrm rot="10800000">
            <a:off x="6802251" y="1542332"/>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userDrawn="1"/>
        </p:nvSpPr>
        <p:spPr>
          <a:xfrm rot="10800000">
            <a:off x="5730510" y="117272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userDrawn="1"/>
        </p:nvSpPr>
        <p:spPr>
          <a:xfrm rot="10800000">
            <a:off x="9197503" y="1171764"/>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userDrawn="1"/>
        </p:nvSpPr>
        <p:spPr>
          <a:xfrm rot="10800000">
            <a:off x="10427351" y="775249"/>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userDrawn="1"/>
        </p:nvSpPr>
        <p:spPr>
          <a:xfrm rot="10800000">
            <a:off x="8297069" y="1619491"/>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userDrawn="1"/>
        </p:nvSpPr>
        <p:spPr>
          <a:xfrm rot="10800000">
            <a:off x="8181471" y="60842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userDrawn="1"/>
        </p:nvSpPr>
        <p:spPr>
          <a:xfrm rot="10800000">
            <a:off x="11896909" y="94020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userDrawn="1"/>
        </p:nvSpPr>
        <p:spPr>
          <a:xfrm rot="10800000">
            <a:off x="5532361" y="6635"/>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userDrawn="1"/>
        </p:nvSpPr>
        <p:spPr>
          <a:xfrm rot="10800000">
            <a:off x="10870874" y="1475277"/>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userDrawn="1"/>
        </p:nvSpPr>
        <p:spPr>
          <a:xfrm rot="10800000">
            <a:off x="9023913" y="1686188"/>
            <a:ext cx="48858" cy="4736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弧形 77"/>
          <p:cNvSpPr/>
          <p:nvPr userDrawn="1"/>
        </p:nvSpPr>
        <p:spPr>
          <a:xfrm rot="10800000">
            <a:off x="4835370" y="-1925823"/>
            <a:ext cx="6578748" cy="3132732"/>
          </a:xfrm>
          <a:prstGeom prst="arc">
            <a:avLst>
              <a:gd name="adj1" fmla="val 11204256"/>
              <a:gd name="adj2" fmla="val 2118665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 name="同心圆 78"/>
          <p:cNvSpPr/>
          <p:nvPr userDrawn="1"/>
        </p:nvSpPr>
        <p:spPr>
          <a:xfrm rot="10800000">
            <a:off x="10345614" y="1141765"/>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0" name="同心圆 79"/>
          <p:cNvSpPr/>
          <p:nvPr userDrawn="1"/>
        </p:nvSpPr>
        <p:spPr>
          <a:xfrm rot="10800000">
            <a:off x="8383797" y="113380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1" name="同心圆 80"/>
          <p:cNvSpPr/>
          <p:nvPr userDrawn="1"/>
        </p:nvSpPr>
        <p:spPr>
          <a:xfrm rot="10800000">
            <a:off x="7380381" y="1028920"/>
            <a:ext cx="180979" cy="158725"/>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2" name="同心圆 81"/>
          <p:cNvSpPr/>
          <p:nvPr userDrawn="1"/>
        </p:nvSpPr>
        <p:spPr>
          <a:xfrm rot="10800000">
            <a:off x="6502387" y="873527"/>
            <a:ext cx="180979" cy="158725"/>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3" name="椭圆 82"/>
          <p:cNvSpPr/>
          <p:nvPr userDrawn="1"/>
        </p:nvSpPr>
        <p:spPr>
          <a:xfrm rot="10800000">
            <a:off x="11267231" y="889604"/>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userDrawn="1"/>
        </p:nvSpPr>
        <p:spPr>
          <a:xfrm rot="10800000">
            <a:off x="10348004" y="176510"/>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userDrawn="1"/>
        </p:nvSpPr>
        <p:spPr>
          <a:xfrm rot="10800000">
            <a:off x="6915519" y="199188"/>
            <a:ext cx="177404" cy="17079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userDrawn="1"/>
        </p:nvSpPr>
        <p:spPr>
          <a:xfrm rot="10800000">
            <a:off x="5856902" y="921669"/>
            <a:ext cx="110471" cy="100248"/>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同心圆 86"/>
          <p:cNvSpPr/>
          <p:nvPr userDrawn="1"/>
        </p:nvSpPr>
        <p:spPr>
          <a:xfrm rot="10800000">
            <a:off x="6589896" y="1075387"/>
            <a:ext cx="153109" cy="150949"/>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8" name="弧形 87"/>
          <p:cNvSpPr/>
          <p:nvPr userDrawn="1"/>
        </p:nvSpPr>
        <p:spPr>
          <a:xfrm rot="10800000">
            <a:off x="3008051" y="-1685964"/>
            <a:ext cx="8506022" cy="3132732"/>
          </a:xfrm>
          <a:prstGeom prst="arc">
            <a:avLst>
              <a:gd name="adj1" fmla="val 11204256"/>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 name="弧形 88"/>
          <p:cNvSpPr/>
          <p:nvPr userDrawn="1"/>
        </p:nvSpPr>
        <p:spPr>
          <a:xfrm rot="10800000">
            <a:off x="1997806" y="-1704415"/>
            <a:ext cx="8506022" cy="3495228"/>
          </a:xfrm>
          <a:prstGeom prst="arc">
            <a:avLst>
              <a:gd name="adj1" fmla="val 11204256"/>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 name="弧形 89"/>
          <p:cNvSpPr/>
          <p:nvPr userDrawn="1"/>
        </p:nvSpPr>
        <p:spPr>
          <a:xfrm rot="9869223">
            <a:off x="453150" y="-1642239"/>
            <a:ext cx="5188070" cy="3043615"/>
          </a:xfrm>
          <a:prstGeom prst="arc">
            <a:avLst>
              <a:gd name="adj1" fmla="val 11936525"/>
              <a:gd name="adj2" fmla="val 779036"/>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 name="弧形 90"/>
          <p:cNvSpPr/>
          <p:nvPr userDrawn="1"/>
        </p:nvSpPr>
        <p:spPr>
          <a:xfrm rot="10800000">
            <a:off x="196057" y="-1705670"/>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 name="弧形 91"/>
          <p:cNvSpPr/>
          <p:nvPr userDrawn="1"/>
        </p:nvSpPr>
        <p:spPr>
          <a:xfrm rot="10800000">
            <a:off x="1267293" y="-1648522"/>
            <a:ext cx="4927086" cy="3327946"/>
          </a:xfrm>
          <a:prstGeom prst="arc">
            <a:avLst>
              <a:gd name="adj1" fmla="val 10777915"/>
              <a:gd name="adj2" fmla="val 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 name="弧形 92"/>
          <p:cNvSpPr/>
          <p:nvPr userDrawn="1"/>
        </p:nvSpPr>
        <p:spPr>
          <a:xfrm rot="10800000">
            <a:off x="1617080" y="-1668393"/>
            <a:ext cx="7297959" cy="3090723"/>
          </a:xfrm>
          <a:prstGeom prst="arc">
            <a:avLst>
              <a:gd name="adj1" fmla="val 11165493"/>
              <a:gd name="adj2" fmla="val 2149693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 name="弧形 93"/>
          <p:cNvSpPr/>
          <p:nvPr userDrawn="1"/>
        </p:nvSpPr>
        <p:spPr>
          <a:xfrm rot="10800000">
            <a:off x="606835" y="-1686844"/>
            <a:ext cx="7297959" cy="3448358"/>
          </a:xfrm>
          <a:prstGeom prst="arc">
            <a:avLst>
              <a:gd name="adj1" fmla="val 10981041"/>
              <a:gd name="adj2" fmla="val 3585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 name="弧形 94"/>
          <p:cNvSpPr/>
          <p:nvPr userDrawn="1"/>
        </p:nvSpPr>
        <p:spPr>
          <a:xfrm rot="10800000">
            <a:off x="2711185" y="-1626823"/>
            <a:ext cx="5394904" cy="3366642"/>
          </a:xfrm>
          <a:prstGeom prst="arc">
            <a:avLst>
              <a:gd name="adj1" fmla="val 10777915"/>
              <a:gd name="adj2" fmla="val 43240"/>
            </a:avLst>
          </a:prstGeom>
          <a:noFill/>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6" name="直接连接符 95"/>
          <p:cNvCxnSpPr/>
          <p:nvPr userDrawn="1"/>
        </p:nvCxnSpPr>
        <p:spPr>
          <a:xfrm>
            <a:off x="460650" y="311134"/>
            <a:ext cx="1916869" cy="8508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endCxn id="112" idx="4"/>
          </p:cNvCxnSpPr>
          <p:nvPr userDrawn="1"/>
        </p:nvCxnSpPr>
        <p:spPr>
          <a:xfrm flipV="1">
            <a:off x="-16592" y="24995"/>
            <a:ext cx="1766656" cy="151473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a:off x="3331835" y="315370"/>
            <a:ext cx="1304703" cy="84663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userDrawn="1"/>
        </p:nvCxnSpPr>
        <p:spPr>
          <a:xfrm flipV="1">
            <a:off x="1382233" y="19316"/>
            <a:ext cx="2538216" cy="118909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a:off x="4526712" y="51233"/>
            <a:ext cx="1337685" cy="119797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userDrawn="1"/>
        </p:nvCxnSpPr>
        <p:spPr>
          <a:xfrm flipH="1">
            <a:off x="4862179" y="431029"/>
            <a:ext cx="103899" cy="7309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同心圆 101"/>
          <p:cNvSpPr/>
          <p:nvPr userDrawn="1"/>
        </p:nvSpPr>
        <p:spPr>
          <a:xfrm>
            <a:off x="6492225" y="508732"/>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同心圆 102"/>
          <p:cNvSpPr/>
          <p:nvPr userDrawn="1"/>
        </p:nvSpPr>
        <p:spPr>
          <a:xfrm>
            <a:off x="391272" y="214444"/>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 name="同心圆 103"/>
          <p:cNvSpPr/>
          <p:nvPr userDrawn="1"/>
        </p:nvSpPr>
        <p:spPr>
          <a:xfrm>
            <a:off x="1999696" y="96475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5" name="同心圆 104"/>
          <p:cNvSpPr/>
          <p:nvPr userDrawn="1"/>
        </p:nvSpPr>
        <p:spPr>
          <a:xfrm>
            <a:off x="5814227" y="1218940"/>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6" name="椭圆 105"/>
          <p:cNvSpPr/>
          <p:nvPr userDrawn="1"/>
        </p:nvSpPr>
        <p:spPr>
          <a:xfrm>
            <a:off x="7030778" y="1397133"/>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userDrawn="1"/>
        </p:nvSpPr>
        <p:spPr>
          <a:xfrm>
            <a:off x="2300599" y="1104417"/>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userDrawn="1"/>
        </p:nvSpPr>
        <p:spPr>
          <a:xfrm>
            <a:off x="2639049" y="49035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userDrawn="1"/>
        </p:nvSpPr>
        <p:spPr>
          <a:xfrm>
            <a:off x="2931991" y="-11500"/>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userDrawn="1"/>
        </p:nvSpPr>
        <p:spPr>
          <a:xfrm>
            <a:off x="4440508" y="-2147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userDrawn="1"/>
        </p:nvSpPr>
        <p:spPr>
          <a:xfrm>
            <a:off x="3794933" y="-37984"/>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userDrawn="1"/>
        </p:nvSpPr>
        <p:spPr>
          <a:xfrm>
            <a:off x="1697222" y="-67827"/>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userDrawn="1"/>
        </p:nvSpPr>
        <p:spPr>
          <a:xfrm>
            <a:off x="1845985" y="46845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userDrawn="1"/>
        </p:nvSpPr>
        <p:spPr>
          <a:xfrm>
            <a:off x="2169622" y="69245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userDrawn="1"/>
        </p:nvSpPr>
        <p:spPr>
          <a:xfrm>
            <a:off x="4872663" y="66802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userDrawn="1"/>
        </p:nvSpPr>
        <p:spPr>
          <a:xfrm>
            <a:off x="5171342" y="95160"/>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userDrawn="1"/>
        </p:nvSpPr>
        <p:spPr>
          <a:xfrm>
            <a:off x="3801650" y="599635"/>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userDrawn="1"/>
        </p:nvSpPr>
        <p:spPr>
          <a:xfrm>
            <a:off x="3814765" y="123922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userDrawn="1"/>
        </p:nvSpPr>
        <p:spPr>
          <a:xfrm>
            <a:off x="3211922" y="1055672"/>
            <a:ext cx="109602" cy="9749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userDrawn="1"/>
        </p:nvSpPr>
        <p:spPr>
          <a:xfrm>
            <a:off x="1095841" y="829389"/>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userDrawn="1"/>
        </p:nvSpPr>
        <p:spPr>
          <a:xfrm>
            <a:off x="2663928" y="85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userDrawn="1"/>
        </p:nvSpPr>
        <p:spPr>
          <a:xfrm>
            <a:off x="6363914" y="1122644"/>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userDrawn="1"/>
        </p:nvSpPr>
        <p:spPr>
          <a:xfrm>
            <a:off x="6715789" y="515044"/>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userDrawn="1"/>
        </p:nvSpPr>
        <p:spPr>
          <a:xfrm>
            <a:off x="6137100" y="61248"/>
            <a:ext cx="105684" cy="928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同心圆 124"/>
          <p:cNvSpPr/>
          <p:nvPr userDrawn="1"/>
        </p:nvSpPr>
        <p:spPr>
          <a:xfrm>
            <a:off x="7014402" y="264301"/>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6" name="同心圆 125"/>
          <p:cNvSpPr/>
          <p:nvPr userDrawn="1"/>
        </p:nvSpPr>
        <p:spPr>
          <a:xfrm>
            <a:off x="4829245" y="1138005"/>
            <a:ext cx="122060" cy="124553"/>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7" name="椭圆 126"/>
          <p:cNvSpPr/>
          <p:nvPr userDrawn="1"/>
        </p:nvSpPr>
        <p:spPr>
          <a:xfrm>
            <a:off x="800494" y="1090699"/>
            <a:ext cx="116101" cy="1278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8" name="直接连接符 127"/>
          <p:cNvCxnSpPr>
            <a:stCxn id="102" idx="5"/>
          </p:cNvCxnSpPr>
          <p:nvPr userDrawn="1"/>
        </p:nvCxnSpPr>
        <p:spPr>
          <a:xfrm>
            <a:off x="6617248" y="628032"/>
            <a:ext cx="458184" cy="81243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9" name="椭圆 128"/>
          <p:cNvSpPr/>
          <p:nvPr userDrawn="1"/>
        </p:nvSpPr>
        <p:spPr>
          <a:xfrm>
            <a:off x="5169123" y="136590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userDrawn="1"/>
        </p:nvSpPr>
        <p:spPr>
          <a:xfrm>
            <a:off x="2925946" y="1338428"/>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userDrawn="1"/>
        </p:nvSpPr>
        <p:spPr>
          <a:xfrm>
            <a:off x="1541050" y="1346272"/>
            <a:ext cx="169716" cy="15814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userDrawn="1"/>
        </p:nvSpPr>
        <p:spPr>
          <a:xfrm>
            <a:off x="6851265" y="103208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userDrawn="1"/>
        </p:nvSpPr>
        <p:spPr>
          <a:xfrm>
            <a:off x="4825922" y="-108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userDrawn="1"/>
        </p:nvSpPr>
        <p:spPr>
          <a:xfrm>
            <a:off x="5851220" y="331376"/>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userDrawn="1"/>
        </p:nvSpPr>
        <p:spPr>
          <a:xfrm>
            <a:off x="2534467" y="33226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userDrawn="1"/>
        </p:nvSpPr>
        <p:spPr>
          <a:xfrm>
            <a:off x="1357915" y="69940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userDrawn="1"/>
        </p:nvSpPr>
        <p:spPr>
          <a:xfrm>
            <a:off x="3395882" y="-8229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userDrawn="1"/>
        </p:nvSpPr>
        <p:spPr>
          <a:xfrm>
            <a:off x="3506470" y="85387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userDrawn="1"/>
        </p:nvSpPr>
        <p:spPr>
          <a:xfrm>
            <a:off x="-47961" y="546669"/>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userDrawn="1"/>
        </p:nvSpPr>
        <p:spPr>
          <a:xfrm>
            <a:off x="6040782" y="1411090"/>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userDrawn="1"/>
        </p:nvSpPr>
        <p:spPr>
          <a:xfrm>
            <a:off x="933612" y="51233"/>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userDrawn="1"/>
        </p:nvSpPr>
        <p:spPr>
          <a:xfrm>
            <a:off x="2700536" y="-144055"/>
            <a:ext cx="46741" cy="4385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同心圆 142"/>
          <p:cNvSpPr/>
          <p:nvPr userDrawn="1"/>
        </p:nvSpPr>
        <p:spPr>
          <a:xfrm>
            <a:off x="1309714" y="256926"/>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4" name="同心圆 143"/>
          <p:cNvSpPr/>
          <p:nvPr userDrawn="1"/>
        </p:nvSpPr>
        <p:spPr>
          <a:xfrm>
            <a:off x="3186517" y="264301"/>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5" name="同心圆 144"/>
          <p:cNvSpPr/>
          <p:nvPr userDrawn="1"/>
        </p:nvSpPr>
        <p:spPr>
          <a:xfrm>
            <a:off x="4146772" y="411338"/>
            <a:ext cx="173137" cy="14696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6" name="同心圆 145"/>
          <p:cNvSpPr/>
          <p:nvPr userDrawn="1"/>
        </p:nvSpPr>
        <p:spPr>
          <a:xfrm>
            <a:off x="4986397" y="505295"/>
            <a:ext cx="173137" cy="1469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7" name="椭圆 146"/>
          <p:cNvSpPr/>
          <p:nvPr userDrawn="1"/>
        </p:nvSpPr>
        <p:spPr>
          <a:xfrm>
            <a:off x="431456" y="479236"/>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userDrawn="1"/>
        </p:nvSpPr>
        <p:spPr>
          <a:xfrm>
            <a:off x="1310848" y="1139509"/>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椭圆 148"/>
          <p:cNvSpPr/>
          <p:nvPr userDrawn="1"/>
        </p:nvSpPr>
        <p:spPr>
          <a:xfrm>
            <a:off x="4594588" y="1118511"/>
            <a:ext cx="169716" cy="15814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p:cNvSpPr/>
          <p:nvPr userDrawn="1"/>
        </p:nvSpPr>
        <p:spPr>
          <a:xfrm>
            <a:off x="5671362" y="514865"/>
            <a:ext cx="105684" cy="928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同心圆 150"/>
          <p:cNvSpPr/>
          <p:nvPr userDrawn="1"/>
        </p:nvSpPr>
        <p:spPr>
          <a:xfrm>
            <a:off x="4929342" y="325588"/>
            <a:ext cx="146474" cy="13976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52" name="组合 151"/>
          <p:cNvGrpSpPr/>
          <p:nvPr userDrawn="1"/>
        </p:nvGrpSpPr>
        <p:grpSpPr>
          <a:xfrm>
            <a:off x="0" y="5921828"/>
            <a:ext cx="12192000" cy="1024160"/>
            <a:chOff x="0" y="5921828"/>
            <a:chExt cx="12192000" cy="1024160"/>
          </a:xfrm>
        </p:grpSpPr>
        <p:sp>
          <p:nvSpPr>
            <p:cNvPr id="299" name="同心圆 298"/>
            <p:cNvSpPr/>
            <p:nvPr/>
          </p:nvSpPr>
          <p:spPr>
            <a:xfrm>
              <a:off x="7478496" y="6761391"/>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0" name="同心圆 299"/>
            <p:cNvSpPr/>
            <p:nvPr/>
          </p:nvSpPr>
          <p:spPr>
            <a:xfrm>
              <a:off x="502249" y="6382902"/>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5" name="椭圆 304"/>
            <p:cNvSpPr/>
            <p:nvPr/>
          </p:nvSpPr>
          <p:spPr>
            <a:xfrm>
              <a:off x="3072509" y="6737761"/>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6" name="椭圆 305"/>
            <p:cNvSpPr/>
            <p:nvPr/>
          </p:nvSpPr>
          <p:spPr>
            <a:xfrm>
              <a:off x="3407479" y="6092309"/>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椭圆 306"/>
            <p:cNvSpPr/>
            <p:nvPr/>
          </p:nvSpPr>
          <p:spPr>
            <a:xfrm>
              <a:off x="5132421" y="6079477"/>
              <a:ext cx="194065" cy="20338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8" name="椭圆 307"/>
            <p:cNvSpPr/>
            <p:nvPr/>
          </p:nvSpPr>
          <p:spPr>
            <a:xfrm>
              <a:off x="4452934" y="604217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9" name="椭圆 308"/>
            <p:cNvSpPr/>
            <p:nvPr/>
          </p:nvSpPr>
          <p:spPr>
            <a:xfrm>
              <a:off x="1995560" y="6019866"/>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0" name="椭圆 309"/>
            <p:cNvSpPr/>
            <p:nvPr/>
          </p:nvSpPr>
          <p:spPr>
            <a:xfrm>
              <a:off x="2165667" y="67095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3" name="椭圆 312"/>
            <p:cNvSpPr/>
            <p:nvPr/>
          </p:nvSpPr>
          <p:spPr>
            <a:xfrm>
              <a:off x="5968109" y="6229488"/>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椭圆 318"/>
            <p:cNvSpPr/>
            <p:nvPr/>
          </p:nvSpPr>
          <p:spPr>
            <a:xfrm>
              <a:off x="3100959" y="6216739"/>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1" name="椭圆 320"/>
            <p:cNvSpPr/>
            <p:nvPr/>
          </p:nvSpPr>
          <p:spPr>
            <a:xfrm>
              <a:off x="7734134" y="676950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椭圆 321"/>
            <p:cNvSpPr/>
            <p:nvPr/>
          </p:nvSpPr>
          <p:spPr>
            <a:xfrm>
              <a:off x="7072422" y="6185871"/>
              <a:ext cx="120846" cy="1193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3" name="同心圆 322"/>
            <p:cNvSpPr/>
            <p:nvPr/>
          </p:nvSpPr>
          <p:spPr>
            <a:xfrm>
              <a:off x="8075589" y="6447023"/>
              <a:ext cx="139571" cy="160190"/>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2" name="椭圆 331"/>
            <p:cNvSpPr/>
            <p:nvPr/>
          </p:nvSpPr>
          <p:spPr>
            <a:xfrm>
              <a:off x="5573131" y="609313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3" name="椭圆 332"/>
            <p:cNvSpPr/>
            <p:nvPr/>
          </p:nvSpPr>
          <p:spPr>
            <a:xfrm>
              <a:off x="6745527" y="6533289"/>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4" name="椭圆 333"/>
            <p:cNvSpPr/>
            <p:nvPr/>
          </p:nvSpPr>
          <p:spPr>
            <a:xfrm>
              <a:off x="2952926" y="653443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椭圆 335"/>
            <p:cNvSpPr/>
            <p:nvPr/>
          </p:nvSpPr>
          <p:spPr>
            <a:xfrm>
              <a:off x="3937926" y="6001255"/>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 name="椭圆 337"/>
            <p:cNvSpPr/>
            <p:nvPr/>
          </p:nvSpPr>
          <p:spPr>
            <a:xfrm>
              <a:off x="0" y="681018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椭圆 339"/>
            <p:cNvSpPr/>
            <p:nvPr/>
          </p:nvSpPr>
          <p:spPr>
            <a:xfrm>
              <a:off x="1122397" y="6172992"/>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椭圆 340"/>
            <p:cNvSpPr/>
            <p:nvPr/>
          </p:nvSpPr>
          <p:spPr>
            <a:xfrm>
              <a:off x="3142818" y="5921828"/>
              <a:ext cx="53447" cy="564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同心圆 342"/>
            <p:cNvSpPr/>
            <p:nvPr/>
          </p:nvSpPr>
          <p:spPr>
            <a:xfrm>
              <a:off x="1552458" y="6437538"/>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4" name="同心圆 343"/>
            <p:cNvSpPr/>
            <p:nvPr/>
          </p:nvSpPr>
          <p:spPr>
            <a:xfrm>
              <a:off x="3698523" y="6447023"/>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5" name="同心圆 344"/>
            <p:cNvSpPr/>
            <p:nvPr/>
          </p:nvSpPr>
          <p:spPr>
            <a:xfrm>
              <a:off x="4796176" y="6571920"/>
              <a:ext cx="197976" cy="189018"/>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6" name="同心圆 345"/>
            <p:cNvSpPr/>
            <p:nvPr/>
          </p:nvSpPr>
          <p:spPr>
            <a:xfrm>
              <a:off x="5756628" y="6756970"/>
              <a:ext cx="197976" cy="18901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7" name="椭圆 346"/>
            <p:cNvSpPr/>
            <p:nvPr/>
          </p:nvSpPr>
          <p:spPr>
            <a:xfrm>
              <a:off x="548197" y="6723455"/>
              <a:ext cx="194065" cy="203389"/>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0" name="椭圆 349"/>
            <p:cNvSpPr/>
            <p:nvPr/>
          </p:nvSpPr>
          <p:spPr>
            <a:xfrm>
              <a:off x="6539864" y="6769278"/>
              <a:ext cx="120846" cy="119381"/>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1" name="同心圆 350"/>
            <p:cNvSpPr/>
            <p:nvPr/>
          </p:nvSpPr>
          <p:spPr>
            <a:xfrm>
              <a:off x="5691388" y="6525844"/>
              <a:ext cx="167489" cy="179758"/>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9" name="同心圆 368"/>
            <p:cNvSpPr/>
            <p:nvPr/>
          </p:nvSpPr>
          <p:spPr>
            <a:xfrm rot="10800000">
              <a:off x="10690775" y="6662332"/>
              <a:ext cx="189397" cy="175017"/>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0" name="同心圆 369"/>
            <p:cNvSpPr/>
            <p:nvPr/>
          </p:nvSpPr>
          <p:spPr>
            <a:xfrm rot="10800000">
              <a:off x="6517997" y="6359634"/>
              <a:ext cx="189397" cy="175017"/>
            </a:xfrm>
            <a:prstGeom prst="donut">
              <a:avLst>
                <a:gd name="adj" fmla="val 1973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1" name="椭圆 370"/>
            <p:cNvSpPr/>
            <p:nvPr/>
          </p:nvSpPr>
          <p:spPr>
            <a:xfrm rot="10800000">
              <a:off x="5260979" y="6211913"/>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2" name="椭圆 371"/>
            <p:cNvSpPr/>
            <p:nvPr/>
          </p:nvSpPr>
          <p:spPr>
            <a:xfrm rot="10800000">
              <a:off x="10365355" y="648271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椭圆 382"/>
            <p:cNvSpPr/>
            <p:nvPr/>
          </p:nvSpPr>
          <p:spPr>
            <a:xfrm rot="10800000">
              <a:off x="8779029" y="6399954"/>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椭圆 383"/>
            <p:cNvSpPr/>
            <p:nvPr/>
          </p:nvSpPr>
          <p:spPr>
            <a:xfrm rot="10800000">
              <a:off x="9434203" y="6612984"/>
              <a:ext cx="119895" cy="116096"/>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7" name="椭圆 386"/>
            <p:cNvSpPr/>
            <p:nvPr/>
          </p:nvSpPr>
          <p:spPr>
            <a:xfrm rot="10800000">
              <a:off x="5990473" y="6538789"/>
              <a:ext cx="115609" cy="11053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1" name="同心圆 390"/>
            <p:cNvSpPr/>
            <p:nvPr/>
          </p:nvSpPr>
          <p:spPr>
            <a:xfrm rot="10800000">
              <a:off x="7651358" y="6482710"/>
              <a:ext cx="133523" cy="148324"/>
            </a:xfrm>
            <a:prstGeom prst="donut">
              <a:avLst>
                <a:gd name="adj" fmla="val 1973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2" name="椭圆 391"/>
            <p:cNvSpPr/>
            <p:nvPr/>
          </p:nvSpPr>
          <p:spPr>
            <a:xfrm rot="10800000">
              <a:off x="12064995" y="6535080"/>
              <a:ext cx="127005" cy="1522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4" name="椭圆 393"/>
            <p:cNvSpPr/>
            <p:nvPr/>
          </p:nvSpPr>
          <p:spPr>
            <a:xfrm rot="10800000">
              <a:off x="7227429" y="6171312"/>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5" name="椭圆 394"/>
            <p:cNvSpPr/>
            <p:nvPr/>
          </p:nvSpPr>
          <p:spPr>
            <a:xfrm rot="10800000">
              <a:off x="9681277" y="6204037"/>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6" name="椭圆 395"/>
            <p:cNvSpPr/>
            <p:nvPr/>
          </p:nvSpPr>
          <p:spPr>
            <a:xfrm rot="10800000">
              <a:off x="11196238" y="6194696"/>
              <a:ext cx="185655" cy="1883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椭圆 396"/>
            <p:cNvSpPr/>
            <p:nvPr/>
          </p:nvSpPr>
          <p:spPr>
            <a:xfrm rot="10800000">
              <a:off x="5521830" y="6704945"/>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椭圆 404"/>
            <p:cNvSpPr/>
            <p:nvPr/>
          </p:nvSpPr>
          <p:spPr>
            <a:xfrm rot="10800000">
              <a:off x="6408430" y="6253607"/>
              <a:ext cx="51131" cy="5222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椭圆 412"/>
            <p:cNvSpPr/>
            <p:nvPr/>
          </p:nvSpPr>
          <p:spPr>
            <a:xfrm rot="10800000">
              <a:off x="11448059" y="6440920"/>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4" name="椭圆 413"/>
            <p:cNvSpPr/>
            <p:nvPr/>
          </p:nvSpPr>
          <p:spPr>
            <a:xfrm rot="10800000">
              <a:off x="7855923" y="6465925"/>
              <a:ext cx="185655" cy="188322"/>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236" name="组合 235"/>
          <p:cNvGrpSpPr/>
          <p:nvPr userDrawn="1"/>
        </p:nvGrpSpPr>
        <p:grpSpPr>
          <a:xfrm>
            <a:off x="0" y="-187198"/>
            <a:ext cx="1307732" cy="1733935"/>
            <a:chOff x="0" y="-187198"/>
            <a:chExt cx="1307732" cy="1733935"/>
          </a:xfrm>
        </p:grpSpPr>
        <p:sp>
          <p:nvSpPr>
            <p:cNvPr id="22" name="同心圆 21"/>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0" name="直接连接符 109"/>
            <p:cNvCxnSpPr>
              <a:stCxn id="23"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3" name="椭圆 112"/>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5" name="直接连接符 114"/>
            <p:cNvCxnSpPr>
              <a:endCxn id="114"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stCxn id="113"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椭圆 12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6" name="直接连接符 125"/>
            <p:cNvCxnSpPr>
              <a:stCxn id="113"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9" name="同心圆 128"/>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30" name="直接连接符 129"/>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2" name="椭圆 131"/>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4" name="直接连接符 133"/>
            <p:cNvCxnSpPr>
              <a:stCxn id="132"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8" name="椭圆 137"/>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0" name="直接连接符 139"/>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3" name="椭圆 14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同心圆 208"/>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0" name="同心圆 209"/>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1" name="同心圆 210"/>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22" name="直接连接符 221"/>
            <p:cNvCxnSpPr>
              <a:stCxn id="209" idx="4"/>
              <a:endCxn id="208"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a:endCxn id="22"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a:endCxn id="209"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a:endCxn id="23"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1" name="弧形 40"/>
          <p:cNvSpPr/>
          <p:nvPr userDrawn="1"/>
        </p:nvSpPr>
        <p:spPr>
          <a:xfrm rot="558798">
            <a:off x="3672565" y="1011395"/>
            <a:ext cx="7590690" cy="5671237"/>
          </a:xfrm>
          <a:prstGeom prst="arc">
            <a:avLst>
              <a:gd name="adj1" fmla="val 14287010"/>
              <a:gd name="adj2" fmla="val 558308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弧形 11"/>
          <p:cNvSpPr/>
          <p:nvPr userDrawn="1"/>
        </p:nvSpPr>
        <p:spPr>
          <a:xfrm rot="558798">
            <a:off x="3412680" y="1604745"/>
            <a:ext cx="7885748" cy="5260588"/>
          </a:xfrm>
          <a:prstGeom prst="arc">
            <a:avLst>
              <a:gd name="adj1" fmla="val 14287010"/>
              <a:gd name="adj2" fmla="val 287274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userDrawn="1"/>
        </p:nvSpPr>
        <p:spPr>
          <a:xfrm>
            <a:off x="3683000" y="810922"/>
            <a:ext cx="6426200" cy="7164677"/>
          </a:xfrm>
          <a:prstGeom prst="arc">
            <a:avLst>
              <a:gd name="adj1" fmla="val 16921666"/>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弧形 44"/>
          <p:cNvSpPr/>
          <p:nvPr userDrawn="1"/>
        </p:nvSpPr>
        <p:spPr>
          <a:xfrm>
            <a:off x="3326530" y="1362427"/>
            <a:ext cx="6998570" cy="5594309"/>
          </a:xfrm>
          <a:prstGeom prst="arc">
            <a:avLst>
              <a:gd name="adj1" fmla="val 16904781"/>
              <a:gd name="adj2" fmla="val 3894020"/>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弧形 98"/>
          <p:cNvSpPr/>
          <p:nvPr userDrawn="1"/>
        </p:nvSpPr>
        <p:spPr>
          <a:xfrm>
            <a:off x="4095365" y="644886"/>
            <a:ext cx="6251437" cy="5745214"/>
          </a:xfrm>
          <a:prstGeom prst="arc">
            <a:avLst>
              <a:gd name="adj1" fmla="val 16577328"/>
              <a:gd name="adj2" fmla="val 5195692"/>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弧形 8"/>
          <p:cNvSpPr/>
          <p:nvPr userDrawn="1"/>
        </p:nvSpPr>
        <p:spPr>
          <a:xfrm>
            <a:off x="4153770" y="1562411"/>
            <a:ext cx="6426200" cy="6007099"/>
          </a:xfrm>
          <a:prstGeom prst="arc">
            <a:avLst>
              <a:gd name="adj1" fmla="val 16921666"/>
              <a:gd name="adj2" fmla="val 2917494"/>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p:cNvSpPr/>
          <p:nvPr userDrawn="1"/>
        </p:nvSpPr>
        <p:spPr>
          <a:xfrm>
            <a:off x="3918385" y="836322"/>
            <a:ext cx="6426200" cy="7164677"/>
          </a:xfrm>
          <a:prstGeom prst="arc">
            <a:avLst>
              <a:gd name="adj1" fmla="val 18114793"/>
              <a:gd name="adj2" fmla="val 2824751"/>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userDrawn="1"/>
        </p:nvSpPr>
        <p:spPr>
          <a:xfrm>
            <a:off x="4376455" y="1993900"/>
            <a:ext cx="6426200" cy="5004247"/>
          </a:xfrm>
          <a:prstGeom prst="arc">
            <a:avLst>
              <a:gd name="adj1" fmla="val 16098721"/>
              <a:gd name="adj2" fmla="val 356132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userDrawn="1"/>
        </p:nvSpPr>
        <p:spPr>
          <a:xfrm>
            <a:off x="4376455" y="1255679"/>
            <a:ext cx="6426200" cy="5908998"/>
          </a:xfrm>
          <a:prstGeom prst="arc">
            <a:avLst>
              <a:gd name="adj1" fmla="val 16577328"/>
              <a:gd name="adj2" fmla="val 2581678"/>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弧形 51"/>
          <p:cNvSpPr/>
          <p:nvPr userDrawn="1"/>
        </p:nvSpPr>
        <p:spPr>
          <a:xfrm>
            <a:off x="3869259" y="1729370"/>
            <a:ext cx="6055219" cy="4319100"/>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弧形 28"/>
          <p:cNvSpPr/>
          <p:nvPr userDrawn="1"/>
        </p:nvSpPr>
        <p:spPr>
          <a:xfrm>
            <a:off x="1206500" y="355881"/>
            <a:ext cx="10423323" cy="6362419"/>
          </a:xfrm>
          <a:prstGeom prst="arc">
            <a:avLst>
              <a:gd name="adj1" fmla="val 16064175"/>
              <a:gd name="adj2" fmla="val 4954661"/>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 name="弧形 68"/>
          <p:cNvSpPr/>
          <p:nvPr userDrawn="1"/>
        </p:nvSpPr>
        <p:spPr>
          <a:xfrm>
            <a:off x="2374457" y="1030416"/>
            <a:ext cx="6426200" cy="5585898"/>
          </a:xfrm>
          <a:prstGeom prst="arc">
            <a:avLst>
              <a:gd name="adj1" fmla="val 16953004"/>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弧形 69"/>
          <p:cNvSpPr/>
          <p:nvPr userDrawn="1"/>
        </p:nvSpPr>
        <p:spPr>
          <a:xfrm>
            <a:off x="1893707" y="1944457"/>
            <a:ext cx="7008622" cy="4645627"/>
          </a:xfrm>
          <a:prstGeom prst="arc">
            <a:avLst>
              <a:gd name="adj1" fmla="val 16577328"/>
              <a:gd name="adj2" fmla="val 3071978"/>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7" name="弧形 146"/>
          <p:cNvSpPr/>
          <p:nvPr userDrawn="1"/>
        </p:nvSpPr>
        <p:spPr>
          <a:xfrm rot="3143922">
            <a:off x="3372114" y="-313091"/>
            <a:ext cx="7581465" cy="8403771"/>
          </a:xfrm>
          <a:prstGeom prst="arc">
            <a:avLst>
              <a:gd name="adj1" fmla="val 1461411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5" name="组合 234"/>
          <p:cNvGrpSpPr/>
          <p:nvPr userDrawn="1"/>
        </p:nvGrpSpPr>
        <p:grpSpPr>
          <a:xfrm>
            <a:off x="2545440" y="-1106457"/>
            <a:ext cx="9580914" cy="8284758"/>
            <a:chOff x="2545440" y="-1106457"/>
            <a:chExt cx="9580914" cy="8284758"/>
          </a:xfrm>
        </p:grpSpPr>
        <p:sp>
          <p:nvSpPr>
            <p:cNvPr id="14" name="弧形 13"/>
            <p:cNvSpPr/>
            <p:nvPr/>
          </p:nvSpPr>
          <p:spPr>
            <a:xfrm>
              <a:off x="4908114" y="987936"/>
              <a:ext cx="6426200" cy="5492242"/>
            </a:xfrm>
            <a:prstGeom prst="arc">
              <a:avLst>
                <a:gd name="adj1" fmla="val 16577328"/>
                <a:gd name="adj2" fmla="val 6691245"/>
              </a:avLst>
            </a:prstGeom>
            <a:noFill/>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3" name="弧形 212"/>
            <p:cNvSpPr/>
            <p:nvPr/>
          </p:nvSpPr>
          <p:spPr>
            <a:xfrm rot="3529314">
              <a:off x="3663168" y="-974312"/>
              <a:ext cx="7996456" cy="8308770"/>
            </a:xfrm>
            <a:prstGeom prst="arc">
              <a:avLst>
                <a:gd name="adj1" fmla="val 15039599"/>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5" name="弧形 214"/>
            <p:cNvSpPr/>
            <p:nvPr/>
          </p:nvSpPr>
          <p:spPr>
            <a:xfrm rot="2317648">
              <a:off x="3184124" y="762409"/>
              <a:ext cx="6426200" cy="5585898"/>
            </a:xfrm>
            <a:prstGeom prst="arc">
              <a:avLst>
                <a:gd name="adj1" fmla="val 14395450"/>
                <a:gd name="adj2" fmla="val 3533047"/>
              </a:avLst>
            </a:prstGeom>
            <a:noFill/>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3" name="组合 232"/>
            <p:cNvGrpSpPr/>
            <p:nvPr/>
          </p:nvGrpSpPr>
          <p:grpSpPr>
            <a:xfrm>
              <a:off x="2545440" y="-1106457"/>
              <a:ext cx="9580914" cy="8016380"/>
              <a:chOff x="2545440" y="-1106457"/>
              <a:chExt cx="9580914" cy="8016380"/>
            </a:xfrm>
          </p:grpSpPr>
          <p:sp>
            <p:nvSpPr>
              <p:cNvPr id="214" name="弧形 213"/>
              <p:cNvSpPr/>
              <p:nvPr/>
            </p:nvSpPr>
            <p:spPr>
              <a:xfrm rot="4850840">
                <a:off x="3337669" y="-1898686"/>
                <a:ext cx="7996456" cy="9580914"/>
              </a:xfrm>
              <a:prstGeom prst="arc">
                <a:avLst>
                  <a:gd name="adj1" fmla="val 14371226"/>
                  <a:gd name="adj2" fmla="val 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32" name="组合 231"/>
              <p:cNvGrpSpPr/>
              <p:nvPr/>
            </p:nvGrpSpPr>
            <p:grpSpPr>
              <a:xfrm>
                <a:off x="5488329" y="129986"/>
                <a:ext cx="6213010" cy="6779937"/>
                <a:chOff x="5488329" y="129986"/>
                <a:chExt cx="6213010" cy="6779937"/>
              </a:xfrm>
            </p:grpSpPr>
            <p:cxnSp>
              <p:nvCxnSpPr>
                <p:cNvPr id="219" name="直接连接符 218"/>
                <p:cNvCxnSpPr>
                  <a:stCxn id="60" idx="3"/>
                  <a:endCxn id="216" idx="7"/>
                </p:cNvCxnSpPr>
                <p:nvPr/>
              </p:nvCxnSpPr>
              <p:spPr>
                <a:xfrm flipH="1">
                  <a:off x="6063315" y="3532442"/>
                  <a:ext cx="2167276" cy="28153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7581464" y="872296"/>
                  <a:ext cx="81680" cy="7966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6" name="直接连接符 55"/>
                <p:cNvCxnSpPr>
                  <a:stCxn id="30" idx="7"/>
                  <a:endCxn id="60" idx="3"/>
                </p:cNvCxnSpPr>
                <p:nvPr/>
              </p:nvCxnSpPr>
              <p:spPr>
                <a:xfrm flipV="1">
                  <a:off x="7114116" y="3532442"/>
                  <a:ext cx="1116475" cy="27548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7" idx="5"/>
                  <a:endCxn id="60" idx="1"/>
                </p:cNvCxnSpPr>
                <p:nvPr/>
              </p:nvCxnSpPr>
              <p:spPr>
                <a:xfrm>
                  <a:off x="7388842" y="1462032"/>
                  <a:ext cx="841749" cy="19685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8327768" y="94111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8892918" y="138976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同心圆 18"/>
                <p:cNvSpPr/>
                <p:nvPr/>
              </p:nvSpPr>
              <p:spPr>
                <a:xfrm>
                  <a:off x="7812057" y="123027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7971023" y="1599782"/>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同心圆 20"/>
                <p:cNvSpPr/>
                <p:nvPr/>
              </p:nvSpPr>
              <p:spPr>
                <a:xfrm>
                  <a:off x="7445553" y="1947052"/>
                  <a:ext cx="82549" cy="91298"/>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椭圆 29"/>
                <p:cNvSpPr/>
                <p:nvPr/>
              </p:nvSpPr>
              <p:spPr>
                <a:xfrm>
                  <a:off x="7012884" y="6269637"/>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8933160" y="6751955"/>
                  <a:ext cx="54000" cy="54000"/>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5529605" y="229178"/>
                  <a:ext cx="426694" cy="418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5488329" y="181419"/>
                  <a:ext cx="57151" cy="63079"/>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a:stCxn id="28" idx="7"/>
                  <a:endCxn id="36" idx="3"/>
                </p:cNvCxnSpPr>
                <p:nvPr/>
              </p:nvCxnSpPr>
              <p:spPr>
                <a:xfrm flipV="1">
                  <a:off x="5998231" y="375935"/>
                  <a:ext cx="247151" cy="23297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同心圆 35"/>
                <p:cNvSpPr/>
                <p:nvPr/>
              </p:nvSpPr>
              <p:spPr>
                <a:xfrm>
                  <a:off x="6236215" y="323293"/>
                  <a:ext cx="62599" cy="61674"/>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7" name="直接连接符 36"/>
                <p:cNvCxnSpPr/>
                <p:nvPr/>
              </p:nvCxnSpPr>
              <p:spPr>
                <a:xfrm>
                  <a:off x="5998231" y="668607"/>
                  <a:ext cx="593504" cy="1932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5896999" y="59127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581308" y="836885"/>
                  <a:ext cx="54000" cy="5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同心圆 43"/>
                <p:cNvSpPr/>
                <p:nvPr/>
              </p:nvSpPr>
              <p:spPr>
                <a:xfrm>
                  <a:off x="6121806" y="1014382"/>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7" name="椭圆 46"/>
                <p:cNvSpPr/>
                <p:nvPr/>
              </p:nvSpPr>
              <p:spPr>
                <a:xfrm>
                  <a:off x="7287610" y="135921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48"/>
                <p:cNvCxnSpPr>
                  <a:stCxn id="28" idx="5"/>
                  <a:endCxn id="44" idx="0"/>
                </p:cNvCxnSpPr>
                <p:nvPr/>
              </p:nvCxnSpPr>
              <p:spPr>
                <a:xfrm>
                  <a:off x="5998231" y="694092"/>
                  <a:ext cx="175150" cy="3202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同心圆 50"/>
                <p:cNvSpPr/>
                <p:nvPr/>
              </p:nvSpPr>
              <p:spPr>
                <a:xfrm>
                  <a:off x="7954214" y="6769523"/>
                  <a:ext cx="139193" cy="140400"/>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椭圆 52"/>
                <p:cNvSpPr/>
                <p:nvPr/>
              </p:nvSpPr>
              <p:spPr>
                <a:xfrm>
                  <a:off x="7091234" y="1711609"/>
                  <a:ext cx="59301" cy="7041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8387068" y="5696403"/>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8209667" y="340953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8618095" y="2992948"/>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8668886" y="2091556"/>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9541264" y="249252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9725915" y="2732072"/>
                  <a:ext cx="64471" cy="63353"/>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9784641" y="2432291"/>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8892918" y="194314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189788" y="2078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9975611" y="279542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11083598" y="4157031"/>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10723002" y="4303204"/>
                  <a:ext cx="153242" cy="146876"/>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同心圆 86"/>
                <p:cNvSpPr/>
                <p:nvPr/>
              </p:nvSpPr>
              <p:spPr>
                <a:xfrm>
                  <a:off x="11098929" y="4830868"/>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8" name="同心圆 87"/>
                <p:cNvSpPr/>
                <p:nvPr/>
              </p:nvSpPr>
              <p:spPr>
                <a:xfrm>
                  <a:off x="10535225" y="309010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9" name="同心圆 88"/>
                <p:cNvSpPr/>
                <p:nvPr/>
              </p:nvSpPr>
              <p:spPr>
                <a:xfrm>
                  <a:off x="9543175" y="4824270"/>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0" name="同心圆 89"/>
                <p:cNvSpPr/>
                <p:nvPr/>
              </p:nvSpPr>
              <p:spPr>
                <a:xfrm>
                  <a:off x="10198096" y="3531834"/>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0" name="椭圆 99"/>
                <p:cNvSpPr/>
                <p:nvPr/>
              </p:nvSpPr>
              <p:spPr>
                <a:xfrm>
                  <a:off x="7388842" y="6332104"/>
                  <a:ext cx="97062" cy="117533"/>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同心圆 100"/>
                <p:cNvSpPr/>
                <p:nvPr/>
              </p:nvSpPr>
              <p:spPr>
                <a:xfrm>
                  <a:off x="6727330" y="625516"/>
                  <a:ext cx="104400" cy="102902"/>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 name="椭圆 101"/>
                <p:cNvSpPr/>
                <p:nvPr/>
              </p:nvSpPr>
              <p:spPr>
                <a:xfrm>
                  <a:off x="10356722" y="2309985"/>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9940291" y="1447307"/>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同心圆 103"/>
                <p:cNvSpPr/>
                <p:nvPr/>
              </p:nvSpPr>
              <p:spPr>
                <a:xfrm>
                  <a:off x="9553540" y="1666276"/>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5" name="同心圆 104"/>
                <p:cNvSpPr/>
                <p:nvPr/>
              </p:nvSpPr>
              <p:spPr>
                <a:xfrm>
                  <a:off x="11201304" y="3098489"/>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8" name="椭圆 107"/>
                <p:cNvSpPr/>
                <p:nvPr/>
              </p:nvSpPr>
              <p:spPr>
                <a:xfrm>
                  <a:off x="10727128" y="5197250"/>
                  <a:ext cx="118601" cy="120462"/>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a:off x="8891236" y="129986"/>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同心圆 205"/>
                <p:cNvSpPr/>
                <p:nvPr/>
              </p:nvSpPr>
              <p:spPr>
                <a:xfrm>
                  <a:off x="8458505" y="567595"/>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椭圆 30"/>
                <p:cNvSpPr/>
                <p:nvPr/>
              </p:nvSpPr>
              <p:spPr>
                <a:xfrm>
                  <a:off x="6753225" y="6563665"/>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p:cNvSpPr/>
                <p:nvPr/>
              </p:nvSpPr>
              <p:spPr>
                <a:xfrm>
                  <a:off x="5941364" y="6326740"/>
                  <a:ext cx="142875" cy="144000"/>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p:cNvSpPr/>
                <p:nvPr/>
              </p:nvSpPr>
              <p:spPr>
                <a:xfrm>
                  <a:off x="8721363" y="3606935"/>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同心圆 228"/>
                <p:cNvSpPr/>
                <p:nvPr/>
              </p:nvSpPr>
              <p:spPr>
                <a:xfrm>
                  <a:off x="9195330" y="2822191"/>
                  <a:ext cx="103150" cy="93696"/>
                </a:xfrm>
                <a:prstGeom prst="donut">
                  <a:avLst>
                    <a:gd name="adj" fmla="val 6460"/>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0" name="同心圆 229"/>
                <p:cNvSpPr/>
                <p:nvPr/>
              </p:nvSpPr>
              <p:spPr>
                <a:xfrm>
                  <a:off x="10618224" y="5858663"/>
                  <a:ext cx="103150" cy="93696"/>
                </a:xfrm>
                <a:prstGeom prst="donut">
                  <a:avLst>
                    <a:gd name="adj" fmla="val 6460"/>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2" name="椭圆 241"/>
                <p:cNvSpPr/>
                <p:nvPr/>
              </p:nvSpPr>
              <p:spPr>
                <a:xfrm>
                  <a:off x="7479559" y="597449"/>
                  <a:ext cx="118601" cy="120462"/>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11066277" y="2091556"/>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11548097" y="3741919"/>
                  <a:ext cx="153242" cy="146876"/>
                </a:xfrm>
                <a:prstGeom prst="ellipse">
                  <a:avLst/>
                </a:prstGeom>
                <a:solidFill>
                  <a:schemeClr val="bg2">
                    <a:lumMod val="2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40" name="同心圆 39"/>
          <p:cNvSpPr/>
          <p:nvPr userDrawn="1"/>
        </p:nvSpPr>
        <p:spPr>
          <a:xfrm>
            <a:off x="3203378" y="1068464"/>
            <a:ext cx="1023708" cy="1021839"/>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77" name="直接连接符 76"/>
          <p:cNvCxnSpPr>
            <a:stCxn id="76" idx="2"/>
            <a:endCxn id="69" idx="2"/>
          </p:cNvCxnSpPr>
          <p:nvPr userDrawn="1"/>
        </p:nvCxnSpPr>
        <p:spPr>
          <a:xfrm flipH="1">
            <a:off x="4953582" y="1068464"/>
            <a:ext cx="5531666" cy="501023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9" idx="2"/>
            <a:endCxn id="11" idx="4"/>
          </p:cNvCxnSpPr>
          <p:nvPr userDrawn="1"/>
        </p:nvCxnSpPr>
        <p:spPr>
          <a:xfrm flipH="1" flipV="1">
            <a:off x="115950" y="289419"/>
            <a:ext cx="4837632" cy="578928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饼形 68"/>
          <p:cNvSpPr/>
          <p:nvPr userDrawn="1"/>
        </p:nvSpPr>
        <p:spPr>
          <a:xfrm rot="5400000">
            <a:off x="4148039" y="6107730"/>
            <a:ext cx="1611086" cy="1553029"/>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连接符 63"/>
          <p:cNvCxnSpPr>
            <a:stCxn id="14" idx="3"/>
            <a:endCxn id="30" idx="0"/>
          </p:cNvCxnSpPr>
          <p:nvPr userDrawn="1"/>
        </p:nvCxnSpPr>
        <p:spPr>
          <a:xfrm>
            <a:off x="521376" y="553761"/>
            <a:ext cx="122477" cy="229783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endCxn id="30" idx="7"/>
          </p:cNvCxnSpPr>
          <p:nvPr userDrawn="1"/>
        </p:nvCxnSpPr>
        <p:spPr>
          <a:xfrm flipH="1">
            <a:off x="706605" y="716813"/>
            <a:ext cx="6362403" cy="21590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42" idx="3"/>
          </p:cNvCxnSpPr>
          <p:nvPr userDrawn="1"/>
        </p:nvCxnSpPr>
        <p:spPr>
          <a:xfrm flipH="1" flipV="1">
            <a:off x="1120991" y="410248"/>
            <a:ext cx="9642602" cy="61474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2080112" y="4613014"/>
            <a:ext cx="446760" cy="3933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同心圆 10"/>
          <p:cNvSpPr/>
          <p:nvPr userDrawn="1"/>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p:cNvSpPr/>
          <p:nvPr userDrawn="1"/>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a:stCxn id="12" idx="5"/>
          </p:cNvCxnSpPr>
          <p:nvPr userDrawn="1"/>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nvSpPr>
        <p:spPr>
          <a:xfrm>
            <a:off x="5275971" y="568643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5"/>
            <a:endCxn id="15" idx="0"/>
          </p:cNvCxnSpPr>
          <p:nvPr userDrawn="1"/>
        </p:nvCxnSpPr>
        <p:spPr>
          <a:xfrm>
            <a:off x="636540" y="553761"/>
            <a:ext cx="4720864" cy="513267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4" idx="3"/>
          </p:cNvCxnSpPr>
          <p:nvPr userDrawn="1"/>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椭圆 17"/>
          <p:cNvSpPr/>
          <p:nvPr userDrawn="1"/>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a:stCxn id="14" idx="5"/>
          </p:cNvCxnSpPr>
          <p:nvPr userDrawn="1"/>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同心圆 19"/>
          <p:cNvSpPr/>
          <p:nvPr userDrawn="1"/>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1" name="直接连接符 20"/>
          <p:cNvCxnSpPr/>
          <p:nvPr userDrawn="1"/>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userDrawn="1"/>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22" idx="3"/>
          </p:cNvCxnSpPr>
          <p:nvPr userDrawn="1"/>
        </p:nvCxnSpPr>
        <p:spPr>
          <a:xfrm flipH="1">
            <a:off x="7894" y="477151"/>
            <a:ext cx="1001400" cy="639617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userDrawn="1"/>
        </p:nvSpPr>
        <p:spPr>
          <a:xfrm>
            <a:off x="11420247" y="3599824"/>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a:endCxn id="26" idx="7"/>
          </p:cNvCxnSpPr>
          <p:nvPr userDrawn="1"/>
        </p:nvCxnSpPr>
        <p:spPr>
          <a:xfrm flipH="1">
            <a:off x="606774" y="461826"/>
            <a:ext cx="392086" cy="7775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userDrawn="1"/>
        </p:nvSpPr>
        <p:spPr>
          <a:xfrm>
            <a:off x="505542" y="1221689"/>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userDrawn="1"/>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同心圆 28"/>
          <p:cNvSpPr/>
          <p:nvPr userDrawn="1"/>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同心圆 29"/>
          <p:cNvSpPr/>
          <p:nvPr userDrawn="1"/>
        </p:nvSpPr>
        <p:spPr>
          <a:xfrm>
            <a:off x="555107" y="2851595"/>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同心圆 30"/>
          <p:cNvSpPr/>
          <p:nvPr userDrawn="1"/>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2" name="直接连接符 31"/>
          <p:cNvCxnSpPr>
            <a:stCxn id="29" idx="4"/>
            <a:endCxn id="28" idx="1"/>
          </p:cNvCxnSpPr>
          <p:nvPr userDrawn="1"/>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1" idx="6"/>
          </p:cNvCxnSpPr>
          <p:nvPr userDrawn="1"/>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4" idx="2"/>
          </p:cNvCxnSpPr>
          <p:nvPr userDrawn="1"/>
        </p:nvCxnSpPr>
        <p:spPr>
          <a:xfrm flipH="1" flipV="1">
            <a:off x="1062436" y="373933"/>
            <a:ext cx="10357811" cy="328612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45" idx="0"/>
            <a:endCxn id="29" idx="0"/>
          </p:cNvCxnSpPr>
          <p:nvPr userDrawn="1"/>
        </p:nvCxnSpPr>
        <p:spPr>
          <a:xfrm flipH="1" flipV="1">
            <a:off x="522318" y="136498"/>
            <a:ext cx="1781174" cy="447651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2" idx="1"/>
          </p:cNvCxnSpPr>
          <p:nvPr userDrawn="1"/>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椭圆 41"/>
          <p:cNvSpPr/>
          <p:nvPr userDrawn="1"/>
        </p:nvSpPr>
        <p:spPr>
          <a:xfrm>
            <a:off x="10746224" y="645491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连接符 42"/>
          <p:cNvCxnSpPr>
            <a:stCxn id="42" idx="5"/>
            <a:endCxn id="48" idx="5"/>
          </p:cNvCxnSpPr>
          <p:nvPr userDrawn="1"/>
        </p:nvCxnSpPr>
        <p:spPr>
          <a:xfrm flipH="1" flipV="1">
            <a:off x="7151834" y="716813"/>
            <a:ext cx="3695622" cy="584092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椭圆 47"/>
          <p:cNvSpPr/>
          <p:nvPr userDrawn="1"/>
        </p:nvSpPr>
        <p:spPr>
          <a:xfrm>
            <a:off x="7050602" y="613992"/>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48"/>
          <p:cNvCxnSpPr>
            <a:stCxn id="48" idx="2"/>
            <a:endCxn id="29" idx="5"/>
          </p:cNvCxnSpPr>
          <p:nvPr userDrawn="1"/>
        </p:nvCxnSpPr>
        <p:spPr>
          <a:xfrm flipH="1" flipV="1">
            <a:off x="560502" y="228682"/>
            <a:ext cx="6490100" cy="44554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6" idx="1"/>
            <a:endCxn id="18" idx="6"/>
          </p:cNvCxnSpPr>
          <p:nvPr userDrawn="1"/>
        </p:nvCxnSpPr>
        <p:spPr>
          <a:xfrm flipH="1" flipV="1">
            <a:off x="273827" y="1017586"/>
            <a:ext cx="249084" cy="22174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26" idx="6"/>
            <a:endCxn id="28" idx="3"/>
          </p:cNvCxnSpPr>
          <p:nvPr userDrawn="1"/>
        </p:nvCxnSpPr>
        <p:spPr>
          <a:xfrm flipV="1">
            <a:off x="624143" y="950851"/>
            <a:ext cx="572540" cy="33106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6" name="饼形 75"/>
          <p:cNvSpPr/>
          <p:nvPr userDrawn="1"/>
        </p:nvSpPr>
        <p:spPr>
          <a:xfrm rot="16200000" flipV="1">
            <a:off x="9411401" y="-989509"/>
            <a:ext cx="2147694" cy="1968252"/>
          </a:xfrm>
          <a:prstGeom prst="pie">
            <a:avLst>
              <a:gd name="adj1" fmla="val 5366942"/>
              <a:gd name="adj2" fmla="val 16200000"/>
            </a:avLst>
          </a:prstGeom>
          <a:solidFill>
            <a:schemeClr val="bg2">
              <a:lumMod val="50000"/>
              <a:alpha val="3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835" y="374015"/>
            <a:ext cx="10515600" cy="1325563"/>
          </a:xfrm>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4" name="组合 3"/>
          <p:cNvGrpSpPr/>
          <p:nvPr userDrawn="1"/>
        </p:nvGrpSpPr>
        <p:grpSpPr>
          <a:xfrm>
            <a:off x="0" y="-187198"/>
            <a:ext cx="1307732" cy="1733935"/>
            <a:chOff x="0" y="-187198"/>
            <a:chExt cx="1307732" cy="1733935"/>
          </a:xfrm>
        </p:grpSpPr>
        <p:sp>
          <p:nvSpPr>
            <p:cNvPr id="8" name="同心圆 7"/>
            <p:cNvSpPr/>
            <p:nvPr/>
          </p:nvSpPr>
          <p:spPr>
            <a:xfrm>
              <a:off x="61950" y="181419"/>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椭圆 8"/>
            <p:cNvSpPr/>
            <p:nvPr/>
          </p:nvSpPr>
          <p:spPr>
            <a:xfrm>
              <a:off x="168613" y="6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9" idx="5"/>
            </p:cNvCxnSpPr>
            <p:nvPr/>
          </p:nvCxnSpPr>
          <p:spPr>
            <a:xfrm>
              <a:off x="269845" y="170176"/>
              <a:ext cx="267268" cy="2643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497525" y="409161"/>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78191" y="1377327"/>
              <a:ext cx="162866" cy="169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a:endCxn id="12" idx="0"/>
            </p:cNvCxnSpPr>
            <p:nvPr/>
          </p:nvCxnSpPr>
          <p:spPr>
            <a:xfrm flipH="1">
              <a:off x="259624" y="553171"/>
              <a:ext cx="289776" cy="8241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1" idx="3"/>
            </p:cNvCxnSpPr>
            <p:nvPr/>
          </p:nvCxnSpPr>
          <p:spPr>
            <a:xfrm flipH="1">
              <a:off x="259625" y="553761"/>
              <a:ext cx="261751" cy="4262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155226" y="957355"/>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1" idx="5"/>
            </p:cNvCxnSpPr>
            <p:nvPr/>
          </p:nvCxnSpPr>
          <p:spPr>
            <a:xfrm>
              <a:off x="636540" y="553761"/>
              <a:ext cx="97779" cy="33712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同心圆 16"/>
            <p:cNvSpPr/>
            <p:nvPr/>
          </p:nvSpPr>
          <p:spPr>
            <a:xfrm>
              <a:off x="683711" y="866937"/>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8" name="直接连接符 17"/>
            <p:cNvCxnSpPr/>
            <p:nvPr/>
          </p:nvCxnSpPr>
          <p:spPr>
            <a:xfrm flipH="1">
              <a:off x="647179" y="445576"/>
              <a:ext cx="362115" cy="1240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991925" y="3743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a:stCxn id="19" idx="3"/>
            </p:cNvCxnSpPr>
            <p:nvPr/>
          </p:nvCxnSpPr>
          <p:spPr>
            <a:xfrm flipH="1">
              <a:off x="916537" y="477151"/>
              <a:ext cx="92757" cy="7531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865753" y="1205131"/>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flipH="1">
              <a:off x="578958" y="461826"/>
              <a:ext cx="419902" cy="38620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482997" y="820653"/>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22607" y="445576"/>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179314" y="848030"/>
              <a:ext cx="118601" cy="120462"/>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同心圆 25"/>
            <p:cNvSpPr/>
            <p:nvPr/>
          </p:nvSpPr>
          <p:spPr>
            <a:xfrm>
              <a:off x="468318" y="136498"/>
              <a:ext cx="108000" cy="108000"/>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同心圆 26"/>
            <p:cNvSpPr/>
            <p:nvPr/>
          </p:nvSpPr>
          <p:spPr>
            <a:xfrm>
              <a:off x="407318" y="1122761"/>
              <a:ext cx="177491" cy="165451"/>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同心圆 27"/>
            <p:cNvSpPr/>
            <p:nvPr/>
          </p:nvSpPr>
          <p:spPr>
            <a:xfrm>
              <a:off x="968370" y="349531"/>
              <a:ext cx="167237" cy="163978"/>
            </a:xfrm>
            <a:prstGeom prst="donut">
              <a:avLst>
                <a:gd name="adj" fmla="val 64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9" name="直接连接符 28"/>
            <p:cNvCxnSpPr>
              <a:stCxn id="26" idx="4"/>
              <a:endCxn id="25" idx="1"/>
            </p:cNvCxnSpPr>
            <p:nvPr/>
          </p:nvCxnSpPr>
          <p:spPr>
            <a:xfrm>
              <a:off x="522318" y="244498"/>
              <a:ext cx="674365" cy="62117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8" idx="6"/>
            </p:cNvCxnSpPr>
            <p:nvPr/>
          </p:nvCxnSpPr>
          <p:spPr>
            <a:xfrm flipH="1">
              <a:off x="169950" y="201688"/>
              <a:ext cx="298714" cy="3373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062435" y="-60434"/>
              <a:ext cx="245297" cy="4343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6" idx="0"/>
            </p:cNvCxnSpPr>
            <p:nvPr/>
          </p:nvCxnSpPr>
          <p:spPr>
            <a:xfrm>
              <a:off x="403479" y="-187198"/>
              <a:ext cx="118839" cy="32369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9" idx="1"/>
            </p:cNvCxnSpPr>
            <p:nvPr/>
          </p:nvCxnSpPr>
          <p:spPr>
            <a:xfrm>
              <a:off x="0" y="12636"/>
              <a:ext cx="185982" cy="723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4" name="饼形 63"/>
          <p:cNvSpPr/>
          <p:nvPr userDrawn="1"/>
        </p:nvSpPr>
        <p:spPr>
          <a:xfrm rot="10800000" flipH="1">
            <a:off x="10541157" y="5189537"/>
            <a:ext cx="3331829" cy="3336925"/>
          </a:xfrm>
          <a:prstGeom prst="pie">
            <a:avLst>
              <a:gd name="adj1" fmla="val 5387752"/>
              <a:gd name="adj2" fmla="val 10811571"/>
            </a:avLst>
          </a:prstGeom>
          <a:solidFill>
            <a:schemeClr val="tx2">
              <a:lumMod val="5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3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atin typeface="黑体" panose="02010609060101010101" charset="-122"/>
                <a:ea typeface="黑体" panose="02010609060101010101" charset="-122"/>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10516235" cy="4351655"/>
          </a:xfrm>
        </p:spPr>
        <p:txBody>
          <a:bodyPr/>
          <a:lstStyle>
            <a:lvl1pPr>
              <a:defRPr>
                <a:latin typeface="黑体" panose="02010609060101010101" charset="-122"/>
                <a:ea typeface="黑体" panose="02010609060101010101" charset="-122"/>
              </a:defRPr>
            </a:lvl1pPr>
            <a:lvl2pPr>
              <a:defRPr>
                <a:latin typeface="黑体" panose="02010609060101010101" charset="-122"/>
                <a:ea typeface="黑体" panose="02010609060101010101" charset="-122"/>
              </a:defRPr>
            </a:lvl2pPr>
            <a:lvl3pPr>
              <a:defRPr>
                <a:latin typeface="黑体" panose="02010609060101010101" charset="-122"/>
                <a:ea typeface="黑体" panose="02010609060101010101" charset="-122"/>
              </a:defRPr>
            </a:lvl3pPr>
            <a:lvl4pPr>
              <a:defRPr>
                <a:latin typeface="黑体" panose="02010609060101010101" charset="-122"/>
                <a:ea typeface="黑体" panose="02010609060101010101" charset="-122"/>
              </a:defRPr>
            </a:lvl4pPr>
            <a:lvl5pPr>
              <a:defRPr>
                <a:latin typeface="黑体" panose="02010609060101010101" charset="-122"/>
                <a:ea typeface="黑体" panose="02010609060101010101"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65" name="直接连接符 64"/>
          <p:cNvCxnSpPr/>
          <p:nvPr userDrawn="1"/>
        </p:nvCxnSpPr>
        <p:spPr>
          <a:xfrm flipV="1">
            <a:off x="1" y="-10700"/>
            <a:ext cx="150147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userDrawn="1"/>
        </p:nvCxnSpPr>
        <p:spPr>
          <a:xfrm>
            <a:off x="2" y="348476"/>
            <a:ext cx="1403167"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userDrawn="1"/>
        </p:nvCxnSpPr>
        <p:spPr>
          <a:xfrm flipV="1">
            <a:off x="2" y="-10700"/>
            <a:ext cx="3628569"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userDrawn="1"/>
        </p:nvCxnSpPr>
        <p:spPr>
          <a:xfrm>
            <a:off x="2" y="506163"/>
            <a:ext cx="1850033"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userDrawn="1"/>
        </p:nvCxnSpPr>
        <p:spPr>
          <a:xfrm flipV="1">
            <a:off x="2" y="-6320"/>
            <a:ext cx="2323714"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userDrawn="1"/>
        </p:nvCxnSpPr>
        <p:spPr>
          <a:xfrm flipV="1">
            <a:off x="1" y="414179"/>
            <a:ext cx="2466714"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userDrawn="1"/>
        </p:nvCxnSpPr>
        <p:spPr>
          <a:xfrm>
            <a:off x="0" y="212691"/>
            <a:ext cx="1689163"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userDrawn="1"/>
        </p:nvCxnSpPr>
        <p:spPr>
          <a:xfrm>
            <a:off x="2" y="-10700"/>
            <a:ext cx="1398696"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userDrawn="1"/>
        </p:nvCxnSpPr>
        <p:spPr>
          <a:xfrm flipH="1" flipV="1">
            <a:off x="339621" y="-28220"/>
            <a:ext cx="71945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userDrawn="1"/>
        </p:nvCxnSpPr>
        <p:spPr>
          <a:xfrm flipH="1" flipV="1">
            <a:off x="625617" y="-6319"/>
            <a:ext cx="283202"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userDrawn="1"/>
        </p:nvCxnSpPr>
        <p:spPr>
          <a:xfrm flipV="1">
            <a:off x="621146" y="-6319"/>
            <a:ext cx="25750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userDrawn="1"/>
        </p:nvCxnSpPr>
        <p:spPr>
          <a:xfrm flipV="1">
            <a:off x="256386" y="-6320"/>
            <a:ext cx="910778"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椭圆 102"/>
          <p:cNvSpPr/>
          <p:nvPr userDrawn="1"/>
        </p:nvSpPr>
        <p:spPr>
          <a:xfrm>
            <a:off x="678648" y="5357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userDrawn="1"/>
        </p:nvSpPr>
        <p:spPr>
          <a:xfrm>
            <a:off x="197116" y="1202613"/>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userDrawn="1"/>
        </p:nvSpPr>
        <p:spPr>
          <a:xfrm>
            <a:off x="2405023" y="352859"/>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userDrawn="1"/>
        </p:nvSpPr>
        <p:spPr>
          <a:xfrm>
            <a:off x="1313549" y="712030"/>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userDrawn="1"/>
        </p:nvSpPr>
        <p:spPr>
          <a:xfrm>
            <a:off x="1007623" y="1060791"/>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userDrawn="1"/>
        </p:nvSpPr>
        <p:spPr>
          <a:xfrm>
            <a:off x="222677" y="947976"/>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userDrawn="1"/>
        </p:nvSpPr>
        <p:spPr>
          <a:xfrm>
            <a:off x="85240" y="648442"/>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userDrawn="1"/>
        </p:nvSpPr>
        <p:spPr>
          <a:xfrm>
            <a:off x="440531" y="1480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userDrawn="1"/>
        </p:nvSpPr>
        <p:spPr>
          <a:xfrm>
            <a:off x="1141518" y="455257"/>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userDrawn="1"/>
        </p:nvSpPr>
        <p:spPr>
          <a:xfrm>
            <a:off x="1186287" y="981950"/>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userDrawn="1"/>
        </p:nvSpPr>
        <p:spPr>
          <a:xfrm>
            <a:off x="1272797" y="142049"/>
            <a:ext cx="5700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同心圆 113"/>
          <p:cNvSpPr/>
          <p:nvPr userDrawn="1"/>
        </p:nvSpPr>
        <p:spPr>
          <a:xfrm>
            <a:off x="820552" y="1334020"/>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5" name="同心圆 114"/>
          <p:cNvSpPr/>
          <p:nvPr userDrawn="1"/>
        </p:nvSpPr>
        <p:spPr>
          <a:xfrm>
            <a:off x="1812696" y="579252"/>
            <a:ext cx="241147"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6" name="同心圆 115"/>
          <p:cNvSpPr/>
          <p:nvPr userDrawn="1"/>
        </p:nvSpPr>
        <p:spPr>
          <a:xfrm>
            <a:off x="1354356" y="1143483"/>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7" name="同心圆 116"/>
          <p:cNvSpPr/>
          <p:nvPr userDrawn="1"/>
        </p:nvSpPr>
        <p:spPr>
          <a:xfrm>
            <a:off x="549996" y="116209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8" name="同心圆 117"/>
          <p:cNvSpPr/>
          <p:nvPr userDrawn="1"/>
        </p:nvSpPr>
        <p:spPr>
          <a:xfrm>
            <a:off x="352847" y="427318"/>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9" name="同心圆 118"/>
          <p:cNvSpPr/>
          <p:nvPr userDrawn="1"/>
        </p:nvSpPr>
        <p:spPr>
          <a:xfrm>
            <a:off x="1992359" y="68145"/>
            <a:ext cx="11753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1" name="椭圆 120"/>
          <p:cNvSpPr/>
          <p:nvPr userDrawn="1"/>
        </p:nvSpPr>
        <p:spPr>
          <a:xfrm>
            <a:off x="1632705" y="1119388"/>
            <a:ext cx="14250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28" name="直接连接符 27"/>
          <p:cNvCxnSpPr/>
          <p:nvPr userDrawn="1"/>
        </p:nvCxnSpPr>
        <p:spPr>
          <a:xfrm flipH="1" flipV="1">
            <a:off x="10660490" y="17520"/>
            <a:ext cx="1531507" cy="119141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flipH="1">
            <a:off x="10760766" y="376696"/>
            <a:ext cx="1431231" cy="4380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flipH="1" flipV="1">
            <a:off x="8490855" y="-58446"/>
            <a:ext cx="3701141" cy="797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flipH="1">
            <a:off x="10304962" y="534383"/>
            <a:ext cx="1887035" cy="1500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flipH="1" flipV="1">
            <a:off x="9821808" y="21900"/>
            <a:ext cx="2370189" cy="95926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flipH="1" flipV="1">
            <a:off x="9675950" y="442399"/>
            <a:ext cx="2516048" cy="26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flipH="1">
            <a:off x="10469053" y="240911"/>
            <a:ext cx="1722946" cy="96802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flipH="1">
            <a:off x="10765326" y="17520"/>
            <a:ext cx="1426670" cy="11826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userDrawn="1"/>
        </p:nvCxnSpPr>
        <p:spPr>
          <a:xfrm flipV="1">
            <a:off x="11111738" y="0"/>
            <a:ext cx="733848" cy="112570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flipV="1">
            <a:off x="11265003" y="21901"/>
            <a:ext cx="288867" cy="1340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flipH="1" flipV="1">
            <a:off x="11295771" y="21901"/>
            <a:ext cx="262659" cy="12045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flipV="1">
            <a:off x="11001492" y="21900"/>
            <a:ext cx="928993" cy="12790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userDrawn="1"/>
        </p:nvSpPr>
        <p:spPr>
          <a:xfrm flipH="1">
            <a:off x="11354422" y="5639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userDrawn="1"/>
        </p:nvSpPr>
        <p:spPr>
          <a:xfrm flipH="1">
            <a:off x="11845585" y="1230833"/>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userDrawn="1"/>
        </p:nvSpPr>
        <p:spPr>
          <a:xfrm flipH="1">
            <a:off x="9593520" y="381079"/>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userDrawn="1"/>
        </p:nvSpPr>
        <p:spPr>
          <a:xfrm flipH="1">
            <a:off x="10706824" y="740250"/>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userDrawn="1"/>
        </p:nvSpPr>
        <p:spPr>
          <a:xfrm flipH="1">
            <a:off x="11106081" y="1089011"/>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userDrawn="1"/>
        </p:nvSpPr>
        <p:spPr>
          <a:xfrm flipH="1">
            <a:off x="11906726" y="976196"/>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userDrawn="1"/>
        </p:nvSpPr>
        <p:spPr>
          <a:xfrm flipH="1">
            <a:off x="12046912" y="676662"/>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userDrawn="1"/>
        </p:nvSpPr>
        <p:spPr>
          <a:xfrm flipH="1">
            <a:off x="11684515" y="1762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userDrawn="1"/>
        </p:nvSpPr>
        <p:spPr>
          <a:xfrm flipH="1">
            <a:off x="10969508" y="483477"/>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userDrawn="1"/>
        </p:nvSpPr>
        <p:spPr>
          <a:xfrm flipH="1">
            <a:off x="10923844" y="1010170"/>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userDrawn="1"/>
        </p:nvSpPr>
        <p:spPr>
          <a:xfrm flipH="1">
            <a:off x="10835603" y="170269"/>
            <a:ext cx="58142" cy="55873"/>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同心圆 56"/>
          <p:cNvSpPr/>
          <p:nvPr userDrawn="1"/>
        </p:nvSpPr>
        <p:spPr>
          <a:xfrm flipH="1">
            <a:off x="11109065" y="1362240"/>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同心圆 57"/>
          <p:cNvSpPr/>
          <p:nvPr userDrawn="1"/>
        </p:nvSpPr>
        <p:spPr>
          <a:xfrm flipH="1">
            <a:off x="10097079" y="607472"/>
            <a:ext cx="245970" cy="219010"/>
          </a:xfrm>
          <a:prstGeom prst="donut">
            <a:avLst>
              <a:gd name="adj" fmla="val 12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同心圆 58"/>
          <p:cNvSpPr/>
          <p:nvPr userDrawn="1"/>
        </p:nvSpPr>
        <p:spPr>
          <a:xfrm flipH="1">
            <a:off x="10690671" y="1171703"/>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同心圆 59"/>
          <p:cNvSpPr/>
          <p:nvPr userDrawn="1"/>
        </p:nvSpPr>
        <p:spPr>
          <a:xfrm flipH="1">
            <a:off x="11511119" y="119031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同心圆 60"/>
          <p:cNvSpPr/>
          <p:nvPr userDrawn="1"/>
        </p:nvSpPr>
        <p:spPr>
          <a:xfrm flipH="1">
            <a:off x="11712210" y="455538"/>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2" name="同心圆 61"/>
          <p:cNvSpPr/>
          <p:nvPr userDrawn="1"/>
        </p:nvSpPr>
        <p:spPr>
          <a:xfrm flipH="1">
            <a:off x="10039908" y="96365"/>
            <a:ext cx="119884" cy="101840"/>
          </a:xfrm>
          <a:prstGeom prst="donut">
            <a:avLst>
              <a:gd name="adj" fmla="val 28238"/>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3" name="椭圆 62"/>
          <p:cNvSpPr/>
          <p:nvPr userDrawn="1"/>
        </p:nvSpPr>
        <p:spPr>
          <a:xfrm flipH="1">
            <a:off x="10381282" y="1147608"/>
            <a:ext cx="145355" cy="140167"/>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cxnSp>
        <p:nvCxnSpPr>
          <p:cNvPr id="40" name="曲线连接符 39"/>
          <p:cNvCxnSpPr/>
          <p:nvPr userDrawn="1"/>
        </p:nvCxnSpPr>
        <p:spPr>
          <a:xfrm flipV="1">
            <a:off x="-104130" y="381000"/>
            <a:ext cx="12296130" cy="60484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曲线连接符 41"/>
          <p:cNvCxnSpPr/>
          <p:nvPr userDrawn="1"/>
        </p:nvCxnSpPr>
        <p:spPr>
          <a:xfrm flipV="1">
            <a:off x="-39365" y="927100"/>
            <a:ext cx="12231365" cy="4912834"/>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曲线连接符 43"/>
          <p:cNvCxnSpPr/>
          <p:nvPr userDrawn="1"/>
        </p:nvCxnSpPr>
        <p:spPr>
          <a:xfrm flipV="1">
            <a:off x="-104130" y="1466334"/>
            <a:ext cx="12335495" cy="3720608"/>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曲线连接符 46"/>
          <p:cNvCxnSpPr/>
          <p:nvPr userDrawn="1"/>
        </p:nvCxnSpPr>
        <p:spPr>
          <a:xfrm flipV="1">
            <a:off x="-104130" y="2016630"/>
            <a:ext cx="12249125" cy="2509381"/>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曲线连接符 50"/>
          <p:cNvCxnSpPr/>
          <p:nvPr userDrawn="1"/>
        </p:nvCxnSpPr>
        <p:spPr>
          <a:xfrm flipV="1">
            <a:off x="-151135" y="2629929"/>
            <a:ext cx="12421865" cy="1331423"/>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曲线连接符 32"/>
          <p:cNvCxnSpPr/>
          <p:nvPr userDrawn="1"/>
        </p:nvCxnSpPr>
        <p:spPr>
          <a:xfrm flipV="1">
            <a:off x="0" y="0"/>
            <a:ext cx="12192000" cy="6858000"/>
          </a:xfrm>
          <a:prstGeom prst="curved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grpSp>
        <p:nvGrpSpPr>
          <p:cNvPr id="19" name="组合 18"/>
          <p:cNvGrpSpPr/>
          <p:nvPr userDrawn="1"/>
        </p:nvGrpSpPr>
        <p:grpSpPr>
          <a:xfrm>
            <a:off x="-12211664" y="-4006524"/>
            <a:ext cx="26155384" cy="22501629"/>
            <a:chOff x="-12211664" y="-3975409"/>
            <a:chExt cx="26155384" cy="22501629"/>
          </a:xfrm>
        </p:grpSpPr>
        <p:sp>
          <p:nvSpPr>
            <p:cNvPr id="10" name="弧形 9"/>
            <p:cNvSpPr/>
            <p:nvPr/>
          </p:nvSpPr>
          <p:spPr>
            <a:xfrm>
              <a:off x="-12211664" y="0"/>
              <a:ext cx="24403664" cy="13804490"/>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p:cNvSpPr/>
            <p:nvPr/>
          </p:nvSpPr>
          <p:spPr>
            <a:xfrm rot="265175">
              <a:off x="-7079806" y="-872249"/>
              <a:ext cx="19293260" cy="13549928"/>
            </a:xfrm>
            <a:prstGeom prst="arc">
              <a:avLst>
                <a:gd name="adj1" fmla="val 16200000"/>
                <a:gd name="adj2" fmla="val 2157960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p:nvSpPr>
          <p:spPr>
            <a:xfrm rot="667039">
              <a:off x="-6949177" y="-239648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p:nvSpPr>
          <p:spPr>
            <a:xfrm rot="848162">
              <a:off x="-6949177" y="-3975409"/>
              <a:ext cx="19293260" cy="13549928"/>
            </a:xfrm>
            <a:prstGeom prst="arc">
              <a:avLst>
                <a:gd name="adj1" fmla="val 16200000"/>
                <a:gd name="adj2" fmla="val 21024993"/>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p:nvSpPr>
          <p:spPr>
            <a:xfrm rot="1054644">
              <a:off x="-5969282" y="1756851"/>
              <a:ext cx="19293260" cy="13549928"/>
            </a:xfrm>
            <a:prstGeom prst="arc">
              <a:avLst>
                <a:gd name="adj1" fmla="val 13454952"/>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p:cNvSpPr/>
            <p:nvPr/>
          </p:nvSpPr>
          <p:spPr>
            <a:xfrm rot="21253924">
              <a:off x="-5349540" y="4976292"/>
              <a:ext cx="19293260" cy="13549928"/>
            </a:xfrm>
            <a:prstGeom prst="arc">
              <a:avLst>
                <a:gd name="adj1" fmla="val 14350323"/>
                <a:gd name="adj2" fmla="val 19905496"/>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p:cNvSpPr/>
            <p:nvPr/>
          </p:nvSpPr>
          <p:spPr>
            <a:xfrm rot="1083825">
              <a:off x="-5465221" y="3020774"/>
              <a:ext cx="19293260" cy="13549928"/>
            </a:xfrm>
            <a:prstGeom prst="arc">
              <a:avLst>
                <a:gd name="adj1" fmla="val 13225388"/>
                <a:gd name="adj2" fmla="val 19275869"/>
              </a:avLst>
            </a:prstGeom>
            <a:noFill/>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0" name="饼形 19"/>
          <p:cNvSpPr/>
          <p:nvPr userDrawn="1"/>
        </p:nvSpPr>
        <p:spPr>
          <a:xfrm>
            <a:off x="10331560" y="5208741"/>
            <a:ext cx="3687097" cy="3298518"/>
          </a:xfrm>
          <a:prstGeom prst="pie">
            <a:avLst>
              <a:gd name="adj1" fmla="val 10807598"/>
              <a:gd name="adj2" fmla="val 16250147"/>
            </a:avLst>
          </a:prstGeom>
          <a:solidFill>
            <a:schemeClr val="tx2">
              <a:lumMod val="50000"/>
            </a:schemeClr>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1E5F3F-DE72-47CF-93F5-4A6B2262A42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66F381-4499-4D1C-B5DB-A965A1487270}"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B6BCB2B-05B8-410B-8A11-AEB50A980F3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990694-8966-4915-898A-318595EC17E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E5F3F-DE72-47CF-93F5-4A6B2262A42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66F381-4499-4D1C-B5DB-A965A148727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slide" Target="slide70.xml"/><Relationship Id="rId4" Type="http://schemas.openxmlformats.org/officeDocument/2006/relationships/slide" Target="slide45.xml"/><Relationship Id="rId3" Type="http://schemas.openxmlformats.org/officeDocument/2006/relationships/slide" Target="slide30.xml"/><Relationship Id="rId2" Type="http://schemas.openxmlformats.org/officeDocument/2006/relationships/slide" Target="slide5.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9" Type="http://schemas.openxmlformats.org/officeDocument/2006/relationships/slide" Target="slide70.xml"/><Relationship Id="rId8" Type="http://schemas.openxmlformats.org/officeDocument/2006/relationships/slide" Target="slide45.xml"/><Relationship Id="rId7" Type="http://schemas.openxmlformats.org/officeDocument/2006/relationships/slide" Target="slide30.xml"/><Relationship Id="rId6" Type="http://schemas.openxmlformats.org/officeDocument/2006/relationships/slide" Target="slide25.xml"/><Relationship Id="rId5" Type="http://schemas.openxmlformats.org/officeDocument/2006/relationships/slide" Target="slide23.xml"/><Relationship Id="rId4" Type="http://schemas.openxmlformats.org/officeDocument/2006/relationships/slide" Target="slide13.xml"/><Relationship Id="rId3" Type="http://schemas.openxmlformats.org/officeDocument/2006/relationships/slide" Target="slide12.xml"/><Relationship Id="rId2" Type="http://schemas.openxmlformats.org/officeDocument/2006/relationships/slide" Target="slide8.xml"/><Relationship Id="rId11" Type="http://schemas.openxmlformats.org/officeDocument/2006/relationships/slideLayout" Target="../slideLayouts/slideLayout3.xml"/><Relationship Id="rId10" Type="http://schemas.openxmlformats.org/officeDocument/2006/relationships/slide" Target="slide95.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_Toc12122 "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slide" Target="slide42.xml"/><Relationship Id="rId4" Type="http://schemas.openxmlformats.org/officeDocument/2006/relationships/slide" Target="slide38.xml"/><Relationship Id="rId3" Type="http://schemas.openxmlformats.org/officeDocument/2006/relationships/slide" Target="slide34.xml"/><Relationship Id="rId2" Type="http://schemas.openxmlformats.org/officeDocument/2006/relationships/slide" Target="slide31.xml"/><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slide" Target="slide63.xml"/><Relationship Id="rId6" Type="http://schemas.openxmlformats.org/officeDocument/2006/relationships/slide" Target="slide59.xml"/><Relationship Id="rId5" Type="http://schemas.openxmlformats.org/officeDocument/2006/relationships/slide" Target="slide55.xml"/><Relationship Id="rId4" Type="http://schemas.openxmlformats.org/officeDocument/2006/relationships/slide" Target="slide53.xml"/><Relationship Id="rId3" Type="http://schemas.openxmlformats.org/officeDocument/2006/relationships/slide" Target="slide47.xml"/><Relationship Id="rId2" Type="http://schemas.openxmlformats.org/officeDocument/2006/relationships/slide" Target="slide45.xml"/><Relationship Id="rId1" Type="http://schemas.openxmlformats.org/officeDocument/2006/relationships/tags" Target="../tags/tag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9" Type="http://schemas.openxmlformats.org/officeDocument/2006/relationships/slide" Target="slide86.xml"/><Relationship Id="rId8" Type="http://schemas.openxmlformats.org/officeDocument/2006/relationships/slide" Target="slide85.xml"/><Relationship Id="rId7" Type="http://schemas.openxmlformats.org/officeDocument/2006/relationships/slide" Target="slide82.xml"/><Relationship Id="rId6" Type="http://schemas.openxmlformats.org/officeDocument/2006/relationships/slide" Target="slide81.xml"/><Relationship Id="rId5" Type="http://schemas.openxmlformats.org/officeDocument/2006/relationships/slide" Target="slide79.xml"/><Relationship Id="rId4" Type="http://schemas.openxmlformats.org/officeDocument/2006/relationships/slide" Target="slide77.xml"/><Relationship Id="rId3" Type="http://schemas.openxmlformats.org/officeDocument/2006/relationships/slide" Target="slide72.xml"/><Relationship Id="rId2" Type="http://schemas.openxmlformats.org/officeDocument/2006/relationships/slide" Target="slide71.xml"/><Relationship Id="rId12" Type="http://schemas.openxmlformats.org/officeDocument/2006/relationships/slideLayout" Target="../slideLayouts/slideLayout3.xml"/><Relationship Id="rId11" Type="http://schemas.openxmlformats.org/officeDocument/2006/relationships/slide" Target="slide89.xml"/><Relationship Id="rId10" Type="http://schemas.openxmlformats.org/officeDocument/2006/relationships/slide" Target="slide87.xml"/><Relationship Id="rId1" Type="http://schemas.openxmlformats.org/officeDocument/2006/relationships/tags" Target="../tags/tag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6.x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2.wmf"/><Relationship Id="rId3" Type="http://schemas.openxmlformats.org/officeDocument/2006/relationships/oleObject" Target="../embeddings/oleObject3.bin"/><Relationship Id="rId2" Type="http://schemas.openxmlformats.org/officeDocument/2006/relationships/image" Target="../media/image11.wmf"/><Relationship Id="rId1" Type="http://schemas.openxmlformats.org/officeDocument/2006/relationships/oleObject" Target="../embeddings/oleObject2.bin"/></Relationships>
</file>

<file path=ppt/slides/_rels/slide76.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6.xml"/><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image" Target="../media/image12.wmf"/><Relationship Id="rId3" Type="http://schemas.openxmlformats.org/officeDocument/2006/relationships/oleObject" Target="../embeddings/oleObject6.bin"/><Relationship Id="rId2" Type="http://schemas.openxmlformats.org/officeDocument/2006/relationships/image" Target="../media/image11.wmf"/><Relationship Id="rId1" Type="http://schemas.openxmlformats.org/officeDocument/2006/relationships/oleObject" Target="../embeddings/oleObject5.bin"/></Relationships>
</file>

<file path=ppt/slides/_rels/slide77.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6.xml"/><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 Id="rId3" Type="http://schemas.openxmlformats.org/officeDocument/2006/relationships/oleObject" Target="../embeddings/oleObject9.bin"/><Relationship Id="rId2" Type="http://schemas.openxmlformats.org/officeDocument/2006/relationships/image" Target="../media/image11.wmf"/><Relationship Id="rId1" Type="http://schemas.openxmlformats.org/officeDocument/2006/relationships/oleObject" Target="../embeddings/oleObject8.bin"/></Relationships>
</file>

<file path=ppt/slides/_rels/slide78.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6.xml"/><Relationship Id="rId6" Type="http://schemas.openxmlformats.org/officeDocument/2006/relationships/image" Target="../media/image13.wmf"/><Relationship Id="rId5" Type="http://schemas.openxmlformats.org/officeDocument/2006/relationships/oleObject" Target="../embeddings/oleObject13.bin"/><Relationship Id="rId4" Type="http://schemas.openxmlformats.org/officeDocument/2006/relationships/image" Target="../media/image12.wmf"/><Relationship Id="rId3" Type="http://schemas.openxmlformats.org/officeDocument/2006/relationships/oleObject" Target="../embeddings/oleObject12.bin"/><Relationship Id="rId2" Type="http://schemas.openxmlformats.org/officeDocument/2006/relationships/image" Target="../media/image11.wmf"/><Relationship Id="rId1" Type="http://schemas.openxmlformats.org/officeDocument/2006/relationships/oleObject" Target="../embeddings/oleObject11.bin"/></Relationships>
</file>

<file path=ppt/slides/_rels/slide79.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6.xml"/><Relationship Id="rId6" Type="http://schemas.openxmlformats.org/officeDocument/2006/relationships/image" Target="../media/image13.wmf"/><Relationship Id="rId5" Type="http://schemas.openxmlformats.org/officeDocument/2006/relationships/oleObject" Target="../embeddings/oleObject16.bin"/><Relationship Id="rId4" Type="http://schemas.openxmlformats.org/officeDocument/2006/relationships/image" Target="../media/image12.wmf"/><Relationship Id="rId3" Type="http://schemas.openxmlformats.org/officeDocument/2006/relationships/oleObject" Target="../embeddings/oleObject15.bin"/><Relationship Id="rId2" Type="http://schemas.openxmlformats.org/officeDocument/2006/relationships/image" Target="../media/image11.wmf"/><Relationship Id="rId1" Type="http://schemas.openxmlformats.org/officeDocument/2006/relationships/oleObject" Target="../embeddings/oleObject14.bin"/></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6.xml"/><Relationship Id="rId6" Type="http://schemas.openxmlformats.org/officeDocument/2006/relationships/image" Target="../media/image13.wmf"/><Relationship Id="rId5" Type="http://schemas.openxmlformats.org/officeDocument/2006/relationships/oleObject" Target="../embeddings/oleObject19.bin"/><Relationship Id="rId4" Type="http://schemas.openxmlformats.org/officeDocument/2006/relationships/image" Target="../media/image12.wmf"/><Relationship Id="rId3" Type="http://schemas.openxmlformats.org/officeDocument/2006/relationships/oleObject" Target="../embeddings/oleObject18.bin"/><Relationship Id="rId2" Type="http://schemas.openxmlformats.org/officeDocument/2006/relationships/image" Target="../media/image11.wmf"/><Relationship Id="rId1" Type="http://schemas.openxmlformats.org/officeDocument/2006/relationships/oleObject" Target="../embeddings/oleObject17.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047750" y="1078230"/>
            <a:ext cx="10704195" cy="1428750"/>
          </a:xfrm>
        </p:spPr>
        <p:txBody>
          <a:bodyPr>
            <a:noAutofit/>
          </a:bodyPr>
          <a:p>
            <a:r>
              <a:rPr lang="zh-CN" altLang="en-US" sz="6600" b="1">
                <a:solidFill>
                  <a:srgbClr val="0000FF"/>
                </a:solidFill>
                <a:latin typeface="等线" panose="02010600030101010101" charset="-122"/>
                <a:ea typeface="等线" panose="02010600030101010101" charset="-122"/>
              </a:rPr>
              <a:t>无线传感器网络（</a:t>
            </a:r>
            <a:r>
              <a:rPr lang="zh-CN" altLang="en-US" b="1">
                <a:solidFill>
                  <a:srgbClr val="0000FF"/>
                </a:solidFill>
                <a:latin typeface="等线" panose="02010600030101010101" charset="-122"/>
                <a:ea typeface="等线" panose="02010600030101010101" charset="-122"/>
              </a:rPr>
              <a:t>微课视频版）</a:t>
            </a:r>
            <a:endParaRPr lang="zh-CN" altLang="en-US" b="1">
              <a:solidFill>
                <a:srgbClr val="0000FF"/>
              </a:solidFill>
              <a:latin typeface="等线" panose="02010600030101010101" charset="-122"/>
              <a:ea typeface="等线" panose="02010600030101010101" charset="-122"/>
            </a:endParaRPr>
          </a:p>
        </p:txBody>
      </p:sp>
      <p:sp>
        <p:nvSpPr>
          <p:cNvPr id="3" name="副标题 2"/>
          <p:cNvSpPr>
            <a:spLocks noGrp="1"/>
          </p:cNvSpPr>
          <p:nvPr>
            <p:ph type="subTitle" idx="1"/>
          </p:nvPr>
        </p:nvSpPr>
        <p:spPr>
          <a:xfrm>
            <a:off x="2994025" y="3651885"/>
            <a:ext cx="6203315" cy="701675"/>
          </a:xfrm>
        </p:spPr>
        <p:txBody>
          <a:bodyPr/>
          <a:p>
            <a:r>
              <a:rPr lang="zh-CN" altLang="en-US" sz="3200" b="1">
                <a:solidFill>
                  <a:schemeClr val="accent2">
                    <a:lumMod val="75000"/>
                  </a:schemeClr>
                </a:solidFill>
                <a:latin typeface="黑体" panose="02010609060101010101" charset="-122"/>
                <a:ea typeface="黑体" panose="02010609060101010101" charset="-122"/>
              </a:rPr>
              <a:t>清华大学出版社</a:t>
            </a:r>
            <a:endParaRPr lang="zh-CN" altLang="en-US" sz="3200" b="1">
              <a:solidFill>
                <a:schemeClr val="accent2">
                  <a:lumMod val="75000"/>
                </a:schemeClr>
              </a:solidFill>
              <a:latin typeface="黑体" panose="02010609060101010101" charset="-122"/>
              <a:ea typeface="黑体" panose="02010609060101010101" charset="-122"/>
            </a:endParaRPr>
          </a:p>
        </p:txBody>
      </p:sp>
      <p:sp>
        <p:nvSpPr>
          <p:cNvPr id="4" name="文本框 3"/>
          <p:cNvSpPr txBox="1"/>
          <p:nvPr/>
        </p:nvSpPr>
        <p:spPr>
          <a:xfrm>
            <a:off x="3161030" y="2756535"/>
            <a:ext cx="7414260" cy="645160"/>
          </a:xfrm>
          <a:prstGeom prst="rect">
            <a:avLst/>
          </a:prstGeom>
          <a:noFill/>
        </p:spPr>
        <p:txBody>
          <a:bodyPr wrap="square" rtlCol="0">
            <a:spAutoFit/>
          </a:bodyPr>
          <a:p>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乔建华</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田启川</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黑体" panose="02010609060101010101" charset="-122"/>
                <a:ea typeface="黑体" panose="02010609060101010101" charset="-122"/>
                <a:cs typeface="黑体" panose="02010609060101010101" charset="-122"/>
              </a:rPr>
              <a:t>谢维成</a:t>
            </a:r>
            <a:r>
              <a:rPr lang="en-US" altLang="zh-CN" sz="3600" b="1">
                <a:solidFill>
                  <a:schemeClr val="accent2">
                    <a:lumMod val="75000"/>
                  </a:schemeClr>
                </a:solidFill>
                <a:latin typeface="黑体" panose="02010609060101010101" charset="-122"/>
                <a:ea typeface="黑体" panose="02010609060101010101" charset="-122"/>
                <a:cs typeface="黑体" panose="02010609060101010101" charset="-122"/>
              </a:rPr>
              <a:t>  </a:t>
            </a:r>
            <a:r>
              <a:rPr lang="zh-CN" altLang="en-US" sz="3600" b="1">
                <a:solidFill>
                  <a:schemeClr val="accent2">
                    <a:lumMod val="75000"/>
                  </a:schemeClr>
                </a:solidFill>
                <a:latin typeface="楷体" panose="02010609060101010101" charset="-122"/>
                <a:ea typeface="楷体" panose="02010609060101010101" charset="-122"/>
                <a:cs typeface="黑体" panose="02010609060101010101" charset="-122"/>
              </a:rPr>
              <a:t>主编</a:t>
            </a:r>
            <a:endParaRPr lang="zh-CN" altLang="en-US" sz="3600" b="1">
              <a:solidFill>
                <a:schemeClr val="accent2">
                  <a:lumMod val="75000"/>
                </a:schemeClr>
              </a:solidFill>
              <a:latin typeface="楷体" panose="02010609060101010101" charset="-122"/>
              <a:ea typeface="楷体" panose="02010609060101010101" charset="-122"/>
              <a:cs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57395" y="1505585"/>
            <a:ext cx="3077210" cy="1297305"/>
          </a:xfrm>
        </p:spPr>
        <p:txBody>
          <a:bodyPr/>
          <a:lstStyle/>
          <a:p>
            <a:pPr algn="ctr"/>
            <a:r>
              <a:rPr lang="zh-CN" altLang="en-US" sz="5400" b="1">
                <a:solidFill>
                  <a:srgbClr val="0000FF"/>
                </a:solidFill>
              </a:rPr>
              <a:t>第5章</a:t>
            </a:r>
            <a:endParaRPr lang="zh-CN" altLang="en-US" sz="5400" b="1">
              <a:solidFill>
                <a:srgbClr val="0000FF"/>
              </a:solidFill>
            </a:endParaRPr>
          </a:p>
        </p:txBody>
      </p:sp>
      <p:sp>
        <p:nvSpPr>
          <p:cNvPr id="4" name="文本框 3"/>
          <p:cNvSpPr txBox="1"/>
          <p:nvPr/>
        </p:nvSpPr>
        <p:spPr>
          <a:xfrm>
            <a:off x="1998345" y="3081655"/>
            <a:ext cx="8195310" cy="1106805"/>
          </a:xfrm>
          <a:prstGeom prst="rect">
            <a:avLst/>
          </a:prstGeom>
          <a:noFill/>
        </p:spPr>
        <p:txBody>
          <a:bodyPr wrap="square" rtlCol="0">
            <a:spAutoFit/>
          </a:bodyPr>
          <a:lstStyle/>
          <a:p>
            <a:pPr algn="ctr"/>
            <a:r>
              <a:rPr lang="zh-CN" altLang="en-US" sz="6600" b="1" dirty="0" smtClean="0">
                <a:solidFill>
                  <a:srgbClr val="0000FF"/>
                </a:solidFill>
                <a:latin typeface="黑体" panose="02010609060101010101" charset="-122"/>
                <a:ea typeface="黑体" panose="02010609060101010101" charset="-122"/>
              </a:rPr>
              <a:t>网络层协议</a:t>
            </a:r>
            <a:endParaRPr lang="zh-CN" altLang="en-US" sz="6600" b="1" dirty="0" smtClean="0">
              <a:solidFill>
                <a:srgbClr val="0000FF"/>
              </a:solidFill>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1902460" y="331470"/>
            <a:ext cx="1733550" cy="855980"/>
          </a:xfrm>
          <a:prstGeom prst="rect">
            <a:avLst/>
          </a:prstGeom>
          <a:noFill/>
        </p:spPr>
        <p:txBody>
          <a:bodyPr wrap="square" lIns="91440" tIns="45720" rIns="91440" bIns="0" rtlCol="0" anchor="b" anchorCtr="0">
            <a:norm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目录</a:t>
            </a:r>
            <a:endPar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546050" y="1307807"/>
            <a:ext cx="5535930" cy="5509200"/>
          </a:xfrm>
          <a:prstGeom prst="rect">
            <a:avLst/>
          </a:prstGeom>
          <a:noFill/>
          <a:ln w="9525">
            <a:noFill/>
          </a:ln>
        </p:spPr>
        <p:txBody>
          <a:bodyPr wrap="square">
            <a:spAutoFit/>
          </a:bodyPr>
          <a:lstStyle/>
          <a:p>
            <a:pPr indent="0"/>
            <a:r>
              <a:rPr lang="en-US" sz="2200" b="1" dirty="0">
                <a:latin typeface="Times New Roman" panose="02020603050405020304" charset="0"/>
                <a:ea typeface="宋体" panose="02010600030101010101" pitchFamily="2" charset="-122"/>
                <a:hlinkClick r:id="rId2" action="ppaction://hlinksldjump"/>
              </a:rPr>
              <a:t>5</a:t>
            </a:r>
            <a:r>
              <a:rPr lang="en-US" sz="2200" b="1" dirty="0" smtClean="0">
                <a:solidFill>
                  <a:schemeClr val="tx1"/>
                </a:solidFill>
                <a:uFillTx/>
                <a:latin typeface="Times New Roman" panose="02020603050405020304" charset="0"/>
                <a:ea typeface="宋体" panose="02010600030101010101" pitchFamily="2" charset="-122"/>
                <a:hlinkClick r:id="rId2" action="ppaction://hlinksldjump"/>
              </a:rPr>
              <a:t>.1</a:t>
            </a:r>
            <a:r>
              <a:rPr lang="zh-CN" altLang="en-US" sz="2200" b="1" dirty="0">
                <a:latin typeface="Times New Roman" panose="02020603050405020304" charset="0"/>
                <a:ea typeface="宋体" panose="02010600030101010101" pitchFamily="2" charset="-122"/>
                <a:hlinkClick r:id="rId2" action="ppaction://hlinksldjump"/>
              </a:rPr>
              <a:t>路由协议概述</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5.1.1   </a:t>
            </a:r>
            <a:r>
              <a:rPr lang="zh-CN" altLang="en-US" sz="2200" b="1" dirty="0" smtClean="0">
                <a:latin typeface="Times New Roman" panose="02020603050405020304" charset="0"/>
                <a:ea typeface="宋体" panose="02010600030101010101" pitchFamily="2" charset="-122"/>
              </a:rPr>
              <a:t>网络层</a:t>
            </a:r>
            <a:r>
              <a:rPr lang="zh-CN" altLang="en-US" sz="2200" b="1" dirty="0">
                <a:latin typeface="Times New Roman" panose="02020603050405020304" charset="0"/>
                <a:ea typeface="宋体" panose="02010600030101010101" pitchFamily="2" charset="-122"/>
              </a:rPr>
              <a:t>的服务实体</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5.1.2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协议的基本问题</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5.1.3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的</a:t>
            </a:r>
            <a:r>
              <a:rPr lang="zh-CN" altLang="en-US" sz="2200" b="1" dirty="0" smtClean="0">
                <a:latin typeface="Times New Roman" panose="02020603050405020304" charset="0"/>
                <a:ea typeface="宋体" panose="02010600030101010101" pitchFamily="2" charset="-122"/>
              </a:rPr>
              <a:t>过程</a:t>
            </a:r>
            <a:endParaRPr lang="en-US" altLang="zh-CN" sz="2200" b="1" dirty="0" smtClean="0">
              <a:latin typeface="Times New Roman" panose="02020603050405020304" charset="0"/>
              <a:ea typeface="宋体" panose="02010600030101010101" pitchFamily="2" charset="-122"/>
            </a:endParaRPr>
          </a:p>
          <a:p>
            <a:pPr indent="0"/>
            <a:r>
              <a:rPr lang="zh-CN" altLang="en-US"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5.1.4   </a:t>
            </a:r>
            <a:r>
              <a:rPr lang="zh-CN" altLang="en-US" sz="2200" b="1" dirty="0" smtClean="0">
                <a:latin typeface="Times New Roman" panose="02020603050405020304" charset="0"/>
                <a:ea typeface="宋体" panose="02010600030101010101" pitchFamily="2" charset="-122"/>
              </a:rPr>
              <a:t>传感器</a:t>
            </a:r>
            <a:r>
              <a:rPr lang="zh-CN" altLang="en-US" sz="2200" b="1" dirty="0">
                <a:latin typeface="Times New Roman" panose="02020603050405020304" charset="0"/>
                <a:ea typeface="宋体" panose="02010600030101010101" pitchFamily="2" charset="-122"/>
              </a:rPr>
              <a:t>网络路由的评价</a:t>
            </a:r>
            <a:r>
              <a:rPr lang="zh-CN" altLang="en-US" sz="2200" b="1" dirty="0" smtClean="0">
                <a:latin typeface="Times New Roman" panose="02020603050405020304" charset="0"/>
                <a:ea typeface="宋体" panose="02010600030101010101" pitchFamily="2" charset="-122"/>
              </a:rPr>
              <a:t>标准</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5.1.5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协议分类</a:t>
            </a:r>
            <a:endParaRPr lang="en-US" sz="2200" b="1" dirty="0" smtClean="0">
              <a:solidFill>
                <a:schemeClr val="tx1"/>
              </a:solidFill>
              <a:uFillTx/>
              <a:latin typeface="Times New Roman" panose="02020603050405020304" charset="0"/>
              <a:ea typeface="宋体" panose="02010600030101010101" pitchFamily="2" charset="-122"/>
            </a:endParaRPr>
          </a:p>
          <a:p>
            <a:r>
              <a:rPr lang="en-US" sz="2200" b="1" dirty="0">
                <a:latin typeface="Times New Roman" panose="02020603050405020304" charset="0"/>
                <a:ea typeface="宋体" panose="02010600030101010101" pitchFamily="2" charset="-122"/>
                <a:hlinkClick r:id="rId3" action="ppaction://hlinksldjump"/>
              </a:rPr>
              <a:t>5.2</a:t>
            </a:r>
            <a:r>
              <a:rPr lang="zh-CN" altLang="en-US" sz="2200" b="1" dirty="0" smtClean="0">
                <a:latin typeface="宋体" panose="02010600030101010101" pitchFamily="2" charset="-122"/>
                <a:ea typeface="宋体" panose="02010600030101010101" pitchFamily="2" charset="-122"/>
                <a:hlinkClick r:id="rId3" action="ppaction://hlinksldjump"/>
              </a:rPr>
              <a:t>平面</a:t>
            </a:r>
            <a:r>
              <a:rPr lang="zh-CN" altLang="en-US" sz="2200" b="1" dirty="0">
                <a:latin typeface="宋体" panose="02010600030101010101" pitchFamily="2" charset="-122"/>
                <a:ea typeface="宋体" panose="02010600030101010101" pitchFamily="2" charset="-122"/>
                <a:hlinkClick r:id="rId3" action="ppaction://hlinksldjump"/>
              </a:rPr>
              <a:t>路由协议</a:t>
            </a:r>
            <a:endParaRPr lang="zh-CN" altLang="en-US" sz="2200" b="1" dirty="0">
              <a:latin typeface="宋体" panose="02010600030101010101" pitchFamily="2" charset="-122"/>
              <a:ea typeface="宋体" panose="02010600030101010101" pitchFamily="2" charset="-122"/>
            </a:endParaRPr>
          </a:p>
          <a:p>
            <a:r>
              <a:rPr lang="en-US" altLang="zh-CN" sz="2000" b="1" dirty="0" smtClean="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rPr>
              <a:t>5.2.1</a:t>
            </a:r>
            <a:r>
              <a:rPr lang="en-US" altLang="zh-CN" sz="2000" b="1" dirty="0" smtClean="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rPr>
              <a:t>Flooding</a:t>
            </a:r>
            <a:r>
              <a:rPr lang="zh-CN" altLang="en-US" sz="2200" b="1" dirty="0">
                <a:latin typeface="Times New Roman" panose="02020603050405020304" charset="0"/>
                <a:ea typeface="宋体" panose="02010600030101010101" pitchFamily="2" charset="-122"/>
              </a:rPr>
              <a:t>协议和</a:t>
            </a:r>
            <a:r>
              <a:rPr lang="en-US" altLang="zh-CN" sz="2200" b="1" dirty="0">
                <a:latin typeface="Times New Roman" panose="02020603050405020304" charset="0"/>
                <a:ea typeface="宋体" panose="02010600030101010101" pitchFamily="2" charset="-122"/>
              </a:rPr>
              <a:t>Gossiping</a:t>
            </a:r>
            <a:r>
              <a:rPr lang="zh-CN" altLang="en-US" sz="2200" b="1" dirty="0">
                <a:latin typeface="Times New Roman" panose="02020603050405020304" charset="0"/>
                <a:ea typeface="宋体" panose="02010600030101010101" pitchFamily="2" charset="-122"/>
              </a:rPr>
              <a:t>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5.2.2 </a:t>
            </a:r>
            <a:r>
              <a:rPr lang="en-US" altLang="zh-CN" sz="2200" b="1" dirty="0">
                <a:latin typeface="Times New Roman" panose="02020603050405020304" charset="0"/>
                <a:ea typeface="宋体" panose="02010600030101010101" pitchFamily="2" charset="-122"/>
              </a:rPr>
              <a:t>SPIN</a:t>
            </a:r>
            <a:r>
              <a:rPr lang="zh-CN" altLang="en-US" sz="2200" b="1" dirty="0">
                <a:latin typeface="Times New Roman" panose="02020603050405020304" charset="0"/>
                <a:ea typeface="宋体" panose="02010600030101010101" pitchFamily="2" charset="-122"/>
              </a:rPr>
              <a:t>路由协议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5.2.3 </a:t>
            </a:r>
            <a:r>
              <a:rPr lang="en-US" altLang="zh-CN" sz="2200" b="1" dirty="0">
                <a:latin typeface="Times New Roman" panose="02020603050405020304" charset="0"/>
                <a:ea typeface="宋体" panose="02010600030101010101" pitchFamily="2" charset="-122"/>
              </a:rPr>
              <a:t>DD</a:t>
            </a:r>
            <a:r>
              <a:rPr lang="zh-CN" altLang="en-US" sz="2200" b="1" dirty="0">
                <a:latin typeface="Times New Roman" panose="02020603050405020304" charset="0"/>
                <a:ea typeface="宋体" panose="02010600030101010101" pitchFamily="2" charset="-122"/>
              </a:rPr>
              <a:t>定向扩展路由协议</a:t>
            </a:r>
            <a:endParaRPr lang="zh-CN" altLang="en-US" sz="2200" b="1" dirty="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rPr>
              <a:t>    5.2.4  Rumor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hlinkClick r:id="rId4" action="ppaction://hlinksldjump"/>
              </a:rPr>
              <a:t>5.3</a:t>
            </a:r>
            <a:r>
              <a:rPr lang="zh-CN" altLang="zh-CN" sz="2200" b="1" dirty="0">
                <a:ea typeface="宋体" panose="02010600030101010101" pitchFamily="2" charset="-122"/>
                <a:hlinkClick r:id="rId4" action="ppaction://hlinksldjump"/>
              </a:rPr>
              <a:t>　</a:t>
            </a:r>
            <a:r>
              <a:rPr lang="zh-CN" altLang="en-US" sz="2200" b="1" dirty="0">
                <a:latin typeface="Times New Roman" panose="02020603050405020304" charset="0"/>
                <a:ea typeface="宋体" panose="02010600030101010101" pitchFamily="2" charset="-122"/>
                <a:hlinkClick r:id="rId4" action="ppaction://hlinksldjump"/>
              </a:rPr>
              <a:t>层次型路由协议</a:t>
            </a:r>
            <a:endParaRPr lang="zh-CN" altLang="en-US"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5.3.1  </a:t>
            </a:r>
            <a:r>
              <a:rPr lang="en-US" altLang="zh-CN" sz="2200" b="1" dirty="0">
                <a:ea typeface="宋体" panose="02010600030101010101" pitchFamily="2" charset="-122"/>
              </a:rPr>
              <a:t>LEACH</a:t>
            </a:r>
            <a:r>
              <a:rPr lang="zh-CN" altLang="en-US" sz="2200" b="1" dirty="0">
                <a:ea typeface="宋体" panose="02010600030101010101" pitchFamily="2" charset="-122"/>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5.3.2  </a:t>
            </a:r>
            <a:r>
              <a:rPr lang="en-US" altLang="zh-CN" sz="2200" b="1" dirty="0">
                <a:ea typeface="宋体" panose="02010600030101010101" pitchFamily="2" charset="-122"/>
              </a:rPr>
              <a:t>HEED</a:t>
            </a:r>
            <a:r>
              <a:rPr lang="zh-CN" altLang="en-US" sz="2200" b="1" dirty="0">
                <a:ea typeface="宋体" panose="02010600030101010101" pitchFamily="2" charset="-122"/>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5.3.3  TEEN</a:t>
            </a:r>
            <a:r>
              <a:rPr lang="zh-CN" altLang="en-US" sz="2200" b="1" dirty="0">
                <a:latin typeface="Times New Roman" panose="02020603050405020304" charset="0"/>
                <a:ea typeface="宋体" panose="02010600030101010101" pitchFamily="2" charset="-122"/>
              </a:rPr>
              <a:t>协议</a:t>
            </a:r>
            <a:endParaRPr lang="en-US" altLang="zh-CN" sz="2200" b="1" dirty="0">
              <a:latin typeface="Times New Roman" panose="02020603050405020304" charset="0"/>
              <a:ea typeface="宋体" panose="02010600030101010101" pitchFamily="2" charset="-122"/>
            </a:endParaRPr>
          </a:p>
          <a:p>
            <a:endParaRPr lang="zh-CN" altLang="en-US" sz="2200" b="1" dirty="0">
              <a:latin typeface="Times New Roman" panose="02020603050405020304" charset="0"/>
              <a:ea typeface="宋体" panose="02010600030101010101" pitchFamily="2" charset="-122"/>
            </a:endParaRPr>
          </a:p>
        </p:txBody>
      </p:sp>
      <p:sp>
        <p:nvSpPr>
          <p:cNvPr id="4" name="文本框 3"/>
          <p:cNvSpPr txBox="1"/>
          <p:nvPr/>
        </p:nvSpPr>
        <p:spPr>
          <a:xfrm>
            <a:off x="6081980" y="1307806"/>
            <a:ext cx="5535930" cy="4832092"/>
          </a:xfrm>
          <a:prstGeom prst="rect">
            <a:avLst/>
          </a:prstGeom>
          <a:noFill/>
          <a:ln w="9525">
            <a:noFill/>
          </a:ln>
        </p:spPr>
        <p:txBody>
          <a:bodyPr wrap="square">
            <a:spAutoFit/>
          </a:bodyPr>
          <a:lstStyle/>
          <a:p>
            <a:pPr indent="0"/>
            <a:r>
              <a:rPr lang="en-US" altLang="zh-CN" sz="2200" b="1" dirty="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  5.3.4  </a:t>
            </a:r>
            <a:r>
              <a:rPr lang="en-US" altLang="zh-CN" sz="2200" b="1" dirty="0">
                <a:latin typeface="Times New Roman" panose="02020603050405020304" charset="0"/>
                <a:ea typeface="宋体" panose="02010600030101010101" pitchFamily="2" charset="-122"/>
              </a:rPr>
              <a:t>TTDD</a:t>
            </a:r>
            <a:r>
              <a:rPr lang="zh-CN" altLang="en-US" sz="2200" b="1" dirty="0">
                <a:latin typeface="Times New Roman" panose="02020603050405020304" charset="0"/>
                <a:ea typeface="宋体" panose="02010600030101010101" pitchFamily="2" charset="-122"/>
              </a:rPr>
              <a:t>协议</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5.3.5  PEGASIS</a:t>
            </a:r>
            <a:r>
              <a:rPr lang="zh-CN" altLang="en-US" sz="2200" b="1" dirty="0">
                <a:latin typeface="Times New Roman" panose="02020603050405020304" charset="0"/>
                <a:ea typeface="宋体" panose="02010600030101010101" pitchFamily="2" charset="-122"/>
              </a:rPr>
              <a:t>协议</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hlinkClick r:id="rId5" action="ppaction://hlinksldjump"/>
              </a:rPr>
              <a:t>5.4</a:t>
            </a:r>
            <a:r>
              <a:rPr lang="zh-CN" altLang="en-US" sz="2200" b="1" dirty="0">
                <a:latin typeface="Times New Roman" panose="02020603050405020304" charset="0"/>
                <a:ea typeface="宋体" panose="02010600030101010101" pitchFamily="2" charset="-122"/>
                <a:hlinkClick r:id="rId5" action="ppaction://hlinksldjump"/>
              </a:rPr>
              <a:t>其他路由</a:t>
            </a:r>
            <a:r>
              <a:rPr lang="zh-CN" altLang="en-US" sz="2200" b="1" dirty="0" smtClean="0">
                <a:latin typeface="Times New Roman" panose="02020603050405020304" charset="0"/>
                <a:ea typeface="宋体" panose="02010600030101010101" pitchFamily="2" charset="-122"/>
                <a:hlinkClick r:id="rId5" action="ppaction://hlinksldjump"/>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  </a:t>
            </a:r>
            <a:r>
              <a:rPr lang="zh-CN" altLang="en-US" sz="2200" b="1" dirty="0">
                <a:latin typeface="Times New Roman" panose="02020603050405020304" charset="0"/>
                <a:ea typeface="宋体" panose="02010600030101010101" pitchFamily="2" charset="-122"/>
              </a:rPr>
              <a:t>地理位置</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5.4.1.1  </a:t>
            </a:r>
            <a:r>
              <a:rPr lang="en-US" altLang="zh-CN" sz="2200" b="1" dirty="0">
                <a:latin typeface="Times New Roman" panose="02020603050405020304" charset="0"/>
                <a:ea typeface="宋体" panose="02010600030101010101" pitchFamily="2" charset="-122"/>
              </a:rPr>
              <a:t>GAF</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5.4.1.2  </a:t>
            </a:r>
            <a:r>
              <a:rPr lang="en-US" altLang="zh-CN" sz="2200" b="1" dirty="0">
                <a:latin typeface="Times New Roman" panose="02020603050405020304" charset="0"/>
                <a:ea typeface="宋体" panose="02010600030101010101" pitchFamily="2" charset="-122"/>
              </a:rPr>
              <a:t>GEAR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5.4.1.3  </a:t>
            </a:r>
            <a:r>
              <a:rPr lang="en-US" altLang="zh-CN" sz="2200" b="1" dirty="0">
                <a:latin typeface="Times New Roman" panose="02020603050405020304" charset="0"/>
                <a:ea typeface="宋体" panose="02010600030101010101" pitchFamily="2" charset="-122"/>
              </a:rPr>
              <a:t>GPSR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  </a:t>
            </a:r>
            <a:r>
              <a:rPr lang="en-US" altLang="zh-CN" sz="2200" b="1" dirty="0" err="1">
                <a:latin typeface="Times New Roman" panose="02020603050405020304" charset="0"/>
                <a:ea typeface="宋体" panose="02010600030101010101" pitchFamily="2" charset="-122"/>
              </a:rPr>
              <a:t>QoS</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5.4.2.1  </a:t>
            </a:r>
            <a:r>
              <a:rPr lang="en-US" altLang="zh-CN" sz="2200" b="1" dirty="0">
                <a:latin typeface="Times New Roman" panose="02020603050405020304" charset="0"/>
                <a:ea typeface="宋体" panose="02010600030101010101" pitchFamily="2" charset="-122"/>
              </a:rPr>
              <a:t>SPEED</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5.4.2.2  </a:t>
            </a:r>
            <a:r>
              <a:rPr lang="en-US" altLang="zh-CN" sz="2200" b="1" dirty="0">
                <a:latin typeface="Times New Roman" panose="02020603050405020304" charset="0"/>
                <a:ea typeface="宋体" panose="02010600030101010101" pitchFamily="2" charset="-122"/>
              </a:rPr>
              <a:t>SAR</a:t>
            </a:r>
            <a:r>
              <a:rPr lang="zh-CN" altLang="en-US" sz="2200" b="1" dirty="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5.4.3  </a:t>
            </a:r>
            <a:r>
              <a:rPr lang="zh-CN" altLang="en-US" sz="2200" b="1" dirty="0">
                <a:latin typeface="Times New Roman" panose="02020603050405020304" charset="0"/>
                <a:ea typeface="宋体" panose="02010600030101010101" pitchFamily="2" charset="-122"/>
              </a:rPr>
              <a:t>多径</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sz="2200" b="1" dirty="0" smtClean="0">
                <a:latin typeface="Times New Roman" panose="02020603050405020304" charset="0"/>
                <a:ea typeface="宋体" panose="02010600030101010101" pitchFamily="2" charset="-122"/>
              </a:rPr>
              <a:t>     5.4.3.1  </a:t>
            </a:r>
            <a:r>
              <a:rPr lang="en-US" sz="2200" b="1" dirty="0">
                <a:latin typeface="Times New Roman" panose="02020603050405020304" charset="0"/>
                <a:ea typeface="宋体" panose="02010600030101010101" pitchFamily="2" charset="-122"/>
              </a:rPr>
              <a:t>MMSPEED</a:t>
            </a:r>
            <a:r>
              <a:rPr lang="zh-CN" altLang="en-US" sz="2200" b="1" dirty="0" smtClean="0">
                <a:latin typeface="Times New Roman" panose="02020603050405020304" charset="0"/>
                <a:ea typeface="宋体" panose="02010600030101010101" pitchFamily="2" charset="-122"/>
              </a:rPr>
              <a:t>路由</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5.4.3.2  </a:t>
            </a:r>
            <a:r>
              <a:rPr lang="zh-CN" altLang="en-US" sz="2200" b="1" dirty="0">
                <a:latin typeface="Times New Roman" panose="02020603050405020304" charset="0"/>
                <a:ea typeface="宋体" panose="02010600030101010101" pitchFamily="2" charset="-122"/>
              </a:rPr>
              <a:t>能量多路径路由</a:t>
            </a:r>
            <a:endParaRPr lang="en-US" altLang="zh-CN" sz="2200" b="1" dirty="0" smtClean="0">
              <a:latin typeface="Times New Roman" panose="02020603050405020304" charset="0"/>
              <a:ea typeface="宋体" panose="02010600030101010101" pitchFamily="2" charset="-122"/>
            </a:endParaRPr>
          </a:p>
          <a:p>
            <a:pPr indent="0"/>
            <a:r>
              <a:rPr lang="zh-CN" sz="2200" b="1" dirty="0" smtClean="0">
                <a:solidFill>
                  <a:schemeClr val="tx1"/>
                </a:solidFill>
                <a:uFillTx/>
                <a:ea typeface="宋体" panose="02010600030101010101" pitchFamily="2" charset="-122"/>
              </a:rPr>
              <a:t>习题</a:t>
            </a:r>
            <a:r>
              <a:rPr lang="en-US" sz="2200" b="1" dirty="0" smtClean="0">
                <a:solidFill>
                  <a:schemeClr val="tx1"/>
                </a:solidFill>
                <a:uFillTx/>
                <a:latin typeface="Times New Roman" panose="02020603050405020304" charset="0"/>
                <a:ea typeface="宋体" panose="02010600030101010101" pitchFamily="2" charset="-122"/>
              </a:rPr>
              <a:t>5</a:t>
            </a:r>
            <a:r>
              <a:rPr lang="en-US" sz="2200" b="1" dirty="0">
                <a:solidFill>
                  <a:srgbClr val="0000FF"/>
                </a:solidFill>
                <a:latin typeface="Times New Roman" panose="02020603050405020304" charset="0"/>
                <a:ea typeface="宋体" panose="02010600030101010101" pitchFamily="2" charset="-122"/>
              </a:rPr>
              <a:t>	</a:t>
            </a:r>
            <a:endParaRPr lang="zh-CN" altLang="en-US" sz="22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1963420" y="463550"/>
            <a:ext cx="3264535" cy="855980"/>
          </a:xfrm>
          <a:prstGeom prst="rect">
            <a:avLst/>
          </a:prstGeom>
          <a:noFill/>
        </p:spPr>
        <p:txBody>
          <a:bodyPr wrap="square" lIns="91440" tIns="45720" rIns="91440" bIns="0" rtlCol="0" anchor="b" anchorCtr="0">
            <a:no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sz="5400"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重难点</a:t>
            </a:r>
            <a:endParaRPr lang="zh-CN" altLang="en-US" sz="5400"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979805" y="1721485"/>
            <a:ext cx="6863715" cy="3754874"/>
          </a:xfrm>
          <a:prstGeom prst="rect">
            <a:avLst/>
          </a:prstGeom>
          <a:noFill/>
          <a:ln w="9525">
            <a:noFill/>
          </a:ln>
        </p:spPr>
        <p:txBody>
          <a:bodyPr wrap="square">
            <a:spAutoFit/>
          </a:bodyPr>
          <a:lstStyle/>
          <a:p>
            <a:pPr indent="0"/>
            <a:r>
              <a:rPr lang="en-US" sz="3600" b="1" dirty="0">
                <a:solidFill>
                  <a:schemeClr val="tx1"/>
                </a:solidFill>
                <a:uFillTx/>
                <a:latin typeface="Times New Roman" panose="02020603050405020304" charset="0"/>
                <a:ea typeface="宋体" panose="02010600030101010101" pitchFamily="2" charset="-122"/>
              </a:rPr>
              <a:t>1.  </a:t>
            </a:r>
            <a:r>
              <a:rPr lang="en-US" sz="3600" b="1" dirty="0" smtClean="0">
                <a:solidFill>
                  <a:schemeClr val="tx1"/>
                </a:solidFill>
                <a:uFillTx/>
                <a:latin typeface="Times New Roman" panose="02020603050405020304" charset="0"/>
                <a:ea typeface="宋体" panose="02010600030101010101" pitchFamily="2" charset="-122"/>
              </a:rPr>
              <a:t> </a:t>
            </a:r>
            <a:r>
              <a:rPr lang="zh-CN" altLang="en-US" sz="3600" b="1" dirty="0" smtClean="0">
                <a:solidFill>
                  <a:schemeClr val="tx1"/>
                </a:solidFill>
                <a:uFillTx/>
                <a:latin typeface="Times New Roman" panose="02020603050405020304" charset="0"/>
                <a:ea typeface="宋体" panose="02010600030101010101" pitchFamily="2" charset="-122"/>
              </a:rPr>
              <a:t>路由及</a:t>
            </a:r>
            <a:r>
              <a:rPr lang="zh-CN" altLang="en-US" sz="3600" b="1" dirty="0" smtClean="0">
                <a:solidFill>
                  <a:schemeClr val="tx1"/>
                </a:solidFill>
                <a:uFillTx/>
                <a:ea typeface="宋体" panose="02010600030101010101" pitchFamily="2" charset="-122"/>
              </a:rPr>
              <a:t>路由过程</a:t>
            </a:r>
            <a:r>
              <a:rPr lang="en-US" sz="3600" b="1" dirty="0">
                <a:solidFill>
                  <a:schemeClr val="tx1"/>
                </a:solidFill>
                <a:uFillTx/>
                <a:latin typeface="Times New Roman" panose="02020603050405020304" charset="0"/>
                <a:ea typeface="宋体" panose="02010600030101010101" pitchFamily="2" charset="-122"/>
              </a:rPr>
              <a:t>	</a:t>
            </a:r>
            <a:endParaRPr lang="en-US" sz="3600" b="1" dirty="0">
              <a:solidFill>
                <a:schemeClr val="tx1"/>
              </a:solidFill>
              <a:uFillTx/>
              <a:latin typeface="Times New Roman" panose="02020603050405020304" charset="0"/>
              <a:ea typeface="宋体" panose="02010600030101010101" pitchFamily="2" charset="-122"/>
            </a:endParaRPr>
          </a:p>
          <a:p>
            <a:pPr marL="742950" indent="-742950">
              <a:buAutoNum type="arabicPeriod" startAt="2"/>
            </a:pPr>
            <a:r>
              <a:rPr lang="zh-CN" altLang="en-US" sz="3600" b="1" dirty="0" smtClean="0">
                <a:solidFill>
                  <a:schemeClr val="tx1"/>
                </a:solidFill>
                <a:uFillTx/>
                <a:ea typeface="宋体" panose="02010600030101010101" pitchFamily="2" charset="-122"/>
              </a:rPr>
              <a:t>路由评价标准</a:t>
            </a:r>
            <a:endParaRPr lang="en-US" altLang="zh-CN" sz="3600" b="1" dirty="0" smtClean="0">
              <a:solidFill>
                <a:schemeClr val="tx1"/>
              </a:solidFill>
              <a:uFillTx/>
              <a:ea typeface="宋体" panose="02010600030101010101" pitchFamily="2" charset="-122"/>
            </a:endParaRPr>
          </a:p>
          <a:p>
            <a:pPr marL="742950" indent="-742950">
              <a:buAutoNum type="arabicPeriod" startAt="2"/>
            </a:pPr>
            <a:r>
              <a:rPr lang="zh-CN" altLang="en-US" sz="3600" b="1" dirty="0">
                <a:ea typeface="宋体" panose="02010600030101010101" pitchFamily="2" charset="-122"/>
              </a:rPr>
              <a:t>平面路由</a:t>
            </a:r>
            <a:r>
              <a:rPr lang="zh-CN" altLang="en-US" sz="3600" b="1" dirty="0" smtClean="0">
                <a:ea typeface="宋体" panose="02010600030101010101" pitchFamily="2" charset="-122"/>
              </a:rPr>
              <a:t>协议：</a:t>
            </a:r>
            <a:r>
              <a:rPr lang="en-US" altLang="zh-CN" sz="3600" b="1" dirty="0">
                <a:latin typeface="Times New Roman" panose="02020603050405020304" charset="0"/>
                <a:ea typeface="宋体" panose="02010600030101010101" pitchFamily="2" charset="-122"/>
              </a:rPr>
              <a:t> </a:t>
            </a:r>
            <a:endParaRPr lang="en-US" altLang="zh-CN" sz="3600" b="1" dirty="0" smtClean="0">
              <a:latin typeface="Times New Roman" panose="02020603050405020304" charset="0"/>
              <a:ea typeface="宋体" panose="02010600030101010101" pitchFamily="2" charset="-122"/>
            </a:endParaRPr>
          </a:p>
          <a:p>
            <a:r>
              <a:rPr lang="en-US" altLang="zh-CN" sz="3600" b="1" dirty="0">
                <a:latin typeface="Times New Roman" panose="02020603050405020304" charset="0"/>
                <a:ea typeface="宋体" panose="02010600030101010101" pitchFamily="2" charset="-122"/>
              </a:rPr>
              <a:t> </a:t>
            </a:r>
            <a:r>
              <a:rPr lang="en-US" altLang="zh-CN" sz="3600" b="1" dirty="0" smtClean="0">
                <a:latin typeface="Times New Roman" panose="02020603050405020304" charset="0"/>
                <a:ea typeface="宋体" panose="02010600030101010101" pitchFamily="2" charset="-122"/>
              </a:rPr>
              <a:t> Flooding</a:t>
            </a:r>
            <a:r>
              <a:rPr lang="zh-CN" altLang="en-US" sz="3600" b="1" dirty="0" smtClean="0">
                <a:latin typeface="Times New Roman" panose="02020603050405020304" charset="0"/>
                <a:ea typeface="宋体" panose="02010600030101010101" pitchFamily="2" charset="-122"/>
              </a:rPr>
              <a:t>、</a:t>
            </a:r>
            <a:r>
              <a:rPr lang="en-US" altLang="zh-CN" sz="3600" b="1" dirty="0">
                <a:latin typeface="Times New Roman" panose="02020603050405020304" charset="0"/>
                <a:ea typeface="宋体" panose="02010600030101010101" pitchFamily="2" charset="-122"/>
              </a:rPr>
              <a:t> </a:t>
            </a:r>
            <a:r>
              <a:rPr lang="en-US" altLang="zh-CN" sz="3600" b="1" dirty="0" smtClean="0">
                <a:latin typeface="Times New Roman" panose="02020603050405020304" charset="0"/>
                <a:ea typeface="宋体" panose="02010600030101010101" pitchFamily="2" charset="-122"/>
              </a:rPr>
              <a:t>SPIN</a:t>
            </a:r>
            <a:r>
              <a:rPr lang="zh-CN" altLang="en-US" sz="3600" b="1" dirty="0" smtClean="0">
                <a:latin typeface="Times New Roman" panose="02020603050405020304" charset="0"/>
                <a:ea typeface="宋体" panose="02010600030101010101" pitchFamily="2" charset="-122"/>
              </a:rPr>
              <a:t>、</a:t>
            </a:r>
            <a:r>
              <a:rPr lang="en-US" altLang="zh-CN" sz="3600" b="1" dirty="0">
                <a:latin typeface="Times New Roman" panose="02020603050405020304" charset="0"/>
                <a:ea typeface="宋体" panose="02010600030101010101" pitchFamily="2" charset="-122"/>
              </a:rPr>
              <a:t> DD</a:t>
            </a:r>
            <a:r>
              <a:rPr lang="zh-CN" altLang="en-US" sz="3600" b="1" dirty="0">
                <a:latin typeface="Times New Roman" panose="02020603050405020304" charset="0"/>
                <a:ea typeface="宋体" panose="02010600030101010101" pitchFamily="2" charset="-122"/>
              </a:rPr>
              <a:t>定向扩展</a:t>
            </a:r>
            <a:endParaRPr lang="zh-CN" altLang="en-US" sz="3600" b="1" dirty="0">
              <a:ea typeface="宋体" panose="02010600030101010101" pitchFamily="2" charset="-122"/>
            </a:endParaRPr>
          </a:p>
          <a:p>
            <a:pPr marL="742950" indent="-742950">
              <a:buAutoNum type="arabicPeriod" startAt="4"/>
            </a:pPr>
            <a:r>
              <a:rPr lang="zh-CN" altLang="en-US" sz="3600" b="1" dirty="0" smtClean="0">
                <a:latin typeface="Times New Roman" panose="02020603050405020304" charset="0"/>
                <a:ea typeface="宋体" panose="02010600030101010101" pitchFamily="2" charset="-122"/>
              </a:rPr>
              <a:t>层次型</a:t>
            </a:r>
            <a:r>
              <a:rPr lang="zh-CN" altLang="en-US" sz="3600" b="1" dirty="0">
                <a:latin typeface="Times New Roman" panose="02020603050405020304" charset="0"/>
                <a:ea typeface="宋体" panose="02010600030101010101" pitchFamily="2" charset="-122"/>
              </a:rPr>
              <a:t>路由</a:t>
            </a:r>
            <a:r>
              <a:rPr lang="zh-CN" altLang="en-US" sz="3600" b="1" dirty="0" smtClean="0">
                <a:latin typeface="Times New Roman" panose="02020603050405020304" charset="0"/>
                <a:ea typeface="宋体" panose="02010600030101010101" pitchFamily="2" charset="-122"/>
              </a:rPr>
              <a:t>协议</a:t>
            </a:r>
            <a:endParaRPr lang="en-US" altLang="zh-CN" sz="3600" b="1" dirty="0" smtClean="0">
              <a:latin typeface="Times New Roman" panose="02020603050405020304" charset="0"/>
              <a:ea typeface="宋体" panose="02010600030101010101" pitchFamily="2" charset="-122"/>
            </a:endParaRPr>
          </a:p>
          <a:p>
            <a:pPr indent="0"/>
            <a:r>
              <a:rPr lang="en-US" altLang="zh-CN" sz="3600" b="1" dirty="0" smtClean="0">
                <a:latin typeface="Times New Roman" panose="02020603050405020304" charset="0"/>
                <a:ea typeface="宋体" panose="02010600030101010101" pitchFamily="2" charset="-122"/>
              </a:rPr>
              <a:t>  </a:t>
            </a:r>
            <a:r>
              <a:rPr lang="en-US" altLang="zh-CN" sz="3600" b="1" dirty="0" smtClean="0">
                <a:ea typeface="宋体" panose="02010600030101010101" pitchFamily="2" charset="-122"/>
              </a:rPr>
              <a:t>LEACH</a:t>
            </a:r>
            <a:r>
              <a:rPr lang="zh-CN" altLang="en-US" sz="3600" b="1" dirty="0" smtClean="0">
                <a:ea typeface="宋体" panose="02010600030101010101" pitchFamily="2" charset="-122"/>
              </a:rPr>
              <a:t>、</a:t>
            </a:r>
            <a:r>
              <a:rPr lang="en-US" altLang="zh-CN" sz="3600" b="1" dirty="0" smtClean="0">
                <a:ea typeface="宋体" panose="02010600030101010101" pitchFamily="2" charset="-122"/>
              </a:rPr>
              <a:t>HEED</a:t>
            </a:r>
            <a:endParaRPr lang="en-US" altLang="zh-CN" sz="3600" b="1" dirty="0" smtClean="0">
              <a:ea typeface="宋体" panose="02010600030101010101" pitchFamily="2" charset="-122"/>
            </a:endParaRPr>
          </a:p>
          <a:p>
            <a:pPr indent="0"/>
            <a:r>
              <a:rPr lang="en-US" sz="2200" b="1" dirty="0">
                <a:solidFill>
                  <a:schemeClr val="tx1"/>
                </a:solidFill>
                <a:uFillTx/>
                <a:latin typeface="Times New Roman" panose="02020603050405020304" charset="0"/>
                <a:ea typeface="宋体" panose="02010600030101010101" pitchFamily="2" charset="-122"/>
              </a:rPr>
              <a:t>	</a:t>
            </a:r>
            <a:endParaRPr lang="zh-CN" altLang="en-US" sz="22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1902460" y="331470"/>
            <a:ext cx="1733550" cy="855980"/>
          </a:xfrm>
          <a:prstGeom prst="rect">
            <a:avLst/>
          </a:prstGeom>
          <a:noFill/>
        </p:spPr>
        <p:txBody>
          <a:bodyPr wrap="square" lIns="91440" tIns="45720" rIns="91440" bIns="0" rtlCol="0" anchor="b" anchorCtr="0">
            <a:norm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目录</a:t>
            </a:r>
            <a:endPar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546050" y="1307807"/>
            <a:ext cx="5535930" cy="5509200"/>
          </a:xfrm>
          <a:prstGeom prst="rect">
            <a:avLst/>
          </a:prstGeom>
          <a:noFill/>
          <a:ln w="9525">
            <a:noFill/>
          </a:ln>
        </p:spPr>
        <p:txBody>
          <a:bodyPr wrap="square">
            <a:spAutoFit/>
          </a:bodyPr>
          <a:lstStyle/>
          <a:p>
            <a:pPr indent="0"/>
            <a:r>
              <a:rPr lang="en-US" sz="2200" b="1" dirty="0">
                <a:latin typeface="Times New Roman" panose="02020603050405020304" charset="0"/>
                <a:ea typeface="宋体" panose="02010600030101010101" pitchFamily="2" charset="-122"/>
                <a:hlinkClick r:id="rId2" action="ppaction://hlinksldjump"/>
              </a:rPr>
              <a:t>5</a:t>
            </a:r>
            <a:r>
              <a:rPr lang="en-US" sz="2200" b="1" dirty="0" smtClean="0">
                <a:solidFill>
                  <a:schemeClr val="tx1"/>
                </a:solidFill>
                <a:uFillTx/>
                <a:latin typeface="Times New Roman" panose="02020603050405020304" charset="0"/>
                <a:ea typeface="宋体" panose="02010600030101010101" pitchFamily="2" charset="-122"/>
                <a:hlinkClick r:id="rId2" action="ppaction://hlinksldjump"/>
              </a:rPr>
              <a:t>.1</a:t>
            </a:r>
            <a:r>
              <a:rPr lang="zh-CN" altLang="en-US" sz="2200" b="1" dirty="0">
                <a:latin typeface="Times New Roman" panose="02020603050405020304" charset="0"/>
                <a:ea typeface="宋体" panose="02010600030101010101" pitchFamily="2" charset="-122"/>
                <a:hlinkClick r:id="rId2" action="ppaction://hlinksldjump"/>
              </a:rPr>
              <a:t>路由协议概述</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a:t>
            </a:r>
            <a:r>
              <a:rPr lang="en-US" sz="2200" b="1" dirty="0" smtClean="0">
                <a:solidFill>
                  <a:schemeClr val="tx1"/>
                </a:solidFill>
                <a:uFillTx/>
                <a:latin typeface="Times New Roman" panose="02020603050405020304" charset="0"/>
                <a:ea typeface="宋体" panose="02010600030101010101" pitchFamily="2" charset="-122"/>
                <a:hlinkClick r:id="rId2" action="ppaction://hlinksldjump"/>
              </a:rPr>
              <a:t>5.1.1   </a:t>
            </a:r>
            <a:r>
              <a:rPr lang="zh-CN" altLang="en-US" sz="2200" b="1" dirty="0" smtClean="0">
                <a:latin typeface="Times New Roman" panose="02020603050405020304" charset="0"/>
                <a:ea typeface="宋体" panose="02010600030101010101" pitchFamily="2" charset="-122"/>
                <a:hlinkClick r:id="rId2" action="ppaction://hlinksldjump"/>
              </a:rPr>
              <a:t>网络层</a:t>
            </a:r>
            <a:r>
              <a:rPr lang="zh-CN" altLang="en-US" sz="2200" b="1" dirty="0">
                <a:latin typeface="Times New Roman" panose="02020603050405020304" charset="0"/>
                <a:ea typeface="宋体" panose="02010600030101010101" pitchFamily="2" charset="-122"/>
                <a:hlinkClick r:id="rId2" action="ppaction://hlinksldjump"/>
              </a:rPr>
              <a:t>的服务实体</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a:t>
            </a:r>
            <a:r>
              <a:rPr lang="en-US" sz="2200" b="1" dirty="0" smtClean="0">
                <a:solidFill>
                  <a:schemeClr val="tx1"/>
                </a:solidFill>
                <a:uFillTx/>
                <a:latin typeface="Times New Roman" panose="02020603050405020304" charset="0"/>
                <a:ea typeface="宋体" panose="02010600030101010101" pitchFamily="2" charset="-122"/>
                <a:hlinkClick r:id="rId3" action="ppaction://hlinksldjump"/>
              </a:rPr>
              <a:t>5.1.2   </a:t>
            </a:r>
            <a:r>
              <a:rPr lang="zh-CN" altLang="en-US" sz="2200" b="1" dirty="0" smtClean="0">
                <a:latin typeface="Times New Roman" panose="02020603050405020304" charset="0"/>
                <a:ea typeface="宋体" panose="02010600030101010101" pitchFamily="2" charset="-122"/>
                <a:hlinkClick r:id="rId3" action="ppaction://hlinksldjump"/>
              </a:rPr>
              <a:t>路由</a:t>
            </a:r>
            <a:r>
              <a:rPr lang="zh-CN" altLang="en-US" sz="2200" b="1" dirty="0">
                <a:latin typeface="Times New Roman" panose="02020603050405020304" charset="0"/>
                <a:ea typeface="宋体" panose="02010600030101010101" pitchFamily="2" charset="-122"/>
                <a:hlinkClick r:id="rId3" action="ppaction://hlinksldjump"/>
              </a:rPr>
              <a:t>协议的基本问题</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hlinkClick r:id="rId4" action="ppaction://hlinksldjump"/>
              </a:rPr>
              <a:t>   5.1.3   </a:t>
            </a:r>
            <a:r>
              <a:rPr lang="zh-CN" altLang="en-US" sz="2200" b="1" dirty="0" smtClean="0">
                <a:latin typeface="Times New Roman" panose="02020603050405020304" charset="0"/>
                <a:ea typeface="宋体" panose="02010600030101010101" pitchFamily="2" charset="-122"/>
                <a:hlinkClick r:id="rId4" action="ppaction://hlinksldjump"/>
              </a:rPr>
              <a:t>路由</a:t>
            </a:r>
            <a:r>
              <a:rPr lang="zh-CN" altLang="en-US" sz="2200" b="1" dirty="0">
                <a:latin typeface="Times New Roman" panose="02020603050405020304" charset="0"/>
                <a:ea typeface="宋体" panose="02010600030101010101" pitchFamily="2" charset="-122"/>
                <a:hlinkClick r:id="rId4" action="ppaction://hlinksldjump"/>
              </a:rPr>
              <a:t>的</a:t>
            </a:r>
            <a:r>
              <a:rPr lang="zh-CN" altLang="en-US" sz="2200" b="1" dirty="0" smtClean="0">
                <a:latin typeface="Times New Roman" panose="02020603050405020304" charset="0"/>
                <a:ea typeface="宋体" panose="02010600030101010101" pitchFamily="2" charset="-122"/>
                <a:hlinkClick r:id="rId4" action="ppaction://hlinksldjump"/>
              </a:rPr>
              <a:t>过程</a:t>
            </a:r>
            <a:endParaRPr lang="en-US" altLang="zh-CN" sz="2200" b="1" dirty="0" smtClean="0">
              <a:latin typeface="Times New Roman" panose="02020603050405020304" charset="0"/>
              <a:ea typeface="宋体" panose="02010600030101010101" pitchFamily="2" charset="-122"/>
            </a:endParaRPr>
          </a:p>
          <a:p>
            <a:pPr indent="0"/>
            <a:r>
              <a:rPr lang="zh-CN" altLang="en-US"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5" action="ppaction://hlinksldjump"/>
              </a:rPr>
              <a:t>5.1.4   </a:t>
            </a:r>
            <a:r>
              <a:rPr lang="zh-CN" altLang="en-US" sz="2200" b="1" dirty="0" smtClean="0">
                <a:latin typeface="Times New Roman" panose="02020603050405020304" charset="0"/>
                <a:ea typeface="宋体" panose="02010600030101010101" pitchFamily="2" charset="-122"/>
                <a:hlinkClick r:id="rId5" action="ppaction://hlinksldjump"/>
              </a:rPr>
              <a:t>传感器</a:t>
            </a:r>
            <a:r>
              <a:rPr lang="zh-CN" altLang="en-US" sz="2200" b="1" dirty="0">
                <a:latin typeface="Times New Roman" panose="02020603050405020304" charset="0"/>
                <a:ea typeface="宋体" panose="02010600030101010101" pitchFamily="2" charset="-122"/>
                <a:hlinkClick r:id="rId5" action="ppaction://hlinksldjump"/>
              </a:rPr>
              <a:t>网络路由的评价</a:t>
            </a:r>
            <a:r>
              <a:rPr lang="zh-CN" altLang="en-US" sz="2200" b="1" dirty="0" smtClean="0">
                <a:latin typeface="Times New Roman" panose="02020603050405020304" charset="0"/>
                <a:ea typeface="宋体" panose="02010600030101010101" pitchFamily="2" charset="-122"/>
                <a:hlinkClick r:id="rId5" action="ppaction://hlinksldjump"/>
              </a:rPr>
              <a:t>标准</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6" action="ppaction://hlinksldjump"/>
              </a:rPr>
              <a:t>5.1.5   </a:t>
            </a:r>
            <a:r>
              <a:rPr lang="zh-CN" altLang="en-US" sz="2200" b="1" dirty="0" smtClean="0">
                <a:latin typeface="Times New Roman" panose="02020603050405020304" charset="0"/>
                <a:ea typeface="宋体" panose="02010600030101010101" pitchFamily="2" charset="-122"/>
                <a:hlinkClick r:id="rId6" action="ppaction://hlinksldjump"/>
              </a:rPr>
              <a:t>路由</a:t>
            </a:r>
            <a:r>
              <a:rPr lang="zh-CN" altLang="en-US" sz="2200" b="1" dirty="0">
                <a:latin typeface="Times New Roman" panose="02020603050405020304" charset="0"/>
                <a:ea typeface="宋体" panose="02010600030101010101" pitchFamily="2" charset="-122"/>
                <a:hlinkClick r:id="rId6" action="ppaction://hlinksldjump"/>
              </a:rPr>
              <a:t>协议分类</a:t>
            </a:r>
            <a:endParaRPr lang="en-US" sz="2200" b="1" dirty="0" smtClean="0">
              <a:solidFill>
                <a:schemeClr val="tx1"/>
              </a:solidFill>
              <a:uFillTx/>
              <a:latin typeface="Times New Roman" panose="02020603050405020304" charset="0"/>
              <a:ea typeface="宋体" panose="02010600030101010101" pitchFamily="2" charset="-122"/>
            </a:endParaRPr>
          </a:p>
          <a:p>
            <a:r>
              <a:rPr lang="en-US" sz="2200" b="1" dirty="0">
                <a:latin typeface="Times New Roman" panose="02020603050405020304" charset="0"/>
                <a:ea typeface="宋体" panose="02010600030101010101" pitchFamily="2" charset="-122"/>
                <a:hlinkClick r:id="rId7" action="ppaction://hlinksldjump"/>
              </a:rPr>
              <a:t>5.2</a:t>
            </a:r>
            <a:r>
              <a:rPr lang="zh-CN" altLang="en-US" sz="2200" b="1" dirty="0" smtClean="0">
                <a:latin typeface="宋体" panose="02010600030101010101" pitchFamily="2" charset="-122"/>
                <a:ea typeface="宋体" panose="02010600030101010101" pitchFamily="2" charset="-122"/>
                <a:hlinkClick r:id="rId7" action="ppaction://hlinksldjump"/>
              </a:rPr>
              <a:t>平面</a:t>
            </a:r>
            <a:r>
              <a:rPr lang="zh-CN" altLang="en-US" sz="2200" b="1" dirty="0">
                <a:latin typeface="宋体" panose="02010600030101010101" pitchFamily="2" charset="-122"/>
                <a:ea typeface="宋体" panose="02010600030101010101" pitchFamily="2" charset="-122"/>
                <a:hlinkClick r:id="rId7" action="ppaction://hlinksldjump"/>
              </a:rPr>
              <a:t>路由协议</a:t>
            </a:r>
            <a:endParaRPr lang="zh-CN" altLang="en-US" sz="2200" b="1" dirty="0">
              <a:latin typeface="宋体" panose="02010600030101010101" pitchFamily="2" charset="-122"/>
              <a:ea typeface="宋体" panose="02010600030101010101" pitchFamily="2" charset="-122"/>
            </a:endParaRPr>
          </a:p>
          <a:p>
            <a:r>
              <a:rPr lang="en-US" altLang="zh-CN" sz="2000" b="1" dirty="0" smtClean="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rPr>
              <a:t>5.2.1</a:t>
            </a:r>
            <a:r>
              <a:rPr lang="en-US" altLang="zh-CN" sz="2000" b="1" dirty="0" smtClean="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rPr>
              <a:t>Flooding</a:t>
            </a:r>
            <a:r>
              <a:rPr lang="zh-CN" altLang="en-US" sz="2200" b="1" dirty="0">
                <a:latin typeface="Times New Roman" panose="02020603050405020304" charset="0"/>
                <a:ea typeface="宋体" panose="02010600030101010101" pitchFamily="2" charset="-122"/>
              </a:rPr>
              <a:t>协议和</a:t>
            </a:r>
            <a:r>
              <a:rPr lang="en-US" altLang="zh-CN" sz="2200" b="1" dirty="0">
                <a:latin typeface="Times New Roman" panose="02020603050405020304" charset="0"/>
                <a:ea typeface="宋体" panose="02010600030101010101" pitchFamily="2" charset="-122"/>
              </a:rPr>
              <a:t>Gossiping</a:t>
            </a:r>
            <a:r>
              <a:rPr lang="zh-CN" altLang="en-US" sz="2200" b="1" dirty="0">
                <a:latin typeface="Times New Roman" panose="02020603050405020304" charset="0"/>
                <a:ea typeface="宋体" panose="02010600030101010101" pitchFamily="2" charset="-122"/>
              </a:rPr>
              <a:t>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5.2.2 </a:t>
            </a:r>
            <a:r>
              <a:rPr lang="en-US" altLang="zh-CN" sz="2200" b="1" dirty="0">
                <a:latin typeface="Times New Roman" panose="02020603050405020304" charset="0"/>
                <a:ea typeface="宋体" panose="02010600030101010101" pitchFamily="2" charset="-122"/>
              </a:rPr>
              <a:t>SPIN</a:t>
            </a:r>
            <a:r>
              <a:rPr lang="zh-CN" altLang="en-US" sz="2200" b="1" dirty="0">
                <a:latin typeface="Times New Roman" panose="02020603050405020304" charset="0"/>
                <a:ea typeface="宋体" panose="02010600030101010101" pitchFamily="2" charset="-122"/>
              </a:rPr>
              <a:t>路由协议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5.2.3 </a:t>
            </a:r>
            <a:r>
              <a:rPr lang="en-US" altLang="zh-CN" sz="2200" b="1" dirty="0">
                <a:latin typeface="Times New Roman" panose="02020603050405020304" charset="0"/>
                <a:ea typeface="宋体" panose="02010600030101010101" pitchFamily="2" charset="-122"/>
              </a:rPr>
              <a:t>DD</a:t>
            </a:r>
            <a:r>
              <a:rPr lang="zh-CN" altLang="en-US" sz="2200" b="1" dirty="0">
                <a:latin typeface="Times New Roman" panose="02020603050405020304" charset="0"/>
                <a:ea typeface="宋体" panose="02010600030101010101" pitchFamily="2" charset="-122"/>
              </a:rPr>
              <a:t>定向扩展路由协议</a:t>
            </a:r>
            <a:endParaRPr lang="zh-CN" altLang="en-US" sz="2200" b="1" dirty="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rPr>
              <a:t>    5.2.4  Rumor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hlinkClick r:id="rId8" action="ppaction://hlinksldjump"/>
              </a:rPr>
              <a:t>5.3</a:t>
            </a:r>
            <a:r>
              <a:rPr lang="zh-CN" altLang="zh-CN" sz="2200" b="1" dirty="0">
                <a:ea typeface="宋体" panose="02010600030101010101" pitchFamily="2" charset="-122"/>
                <a:hlinkClick r:id="rId8" action="ppaction://hlinksldjump"/>
              </a:rPr>
              <a:t>　</a:t>
            </a:r>
            <a:r>
              <a:rPr lang="zh-CN" altLang="en-US" sz="2200" b="1" dirty="0">
                <a:latin typeface="Times New Roman" panose="02020603050405020304" charset="0"/>
                <a:ea typeface="宋体" panose="02010600030101010101" pitchFamily="2" charset="-122"/>
                <a:hlinkClick r:id="rId8" action="ppaction://hlinksldjump"/>
              </a:rPr>
              <a:t>层次型</a:t>
            </a:r>
            <a:r>
              <a:rPr lang="zh-CN" altLang="en-US" sz="2200" b="1" dirty="0">
                <a:latin typeface="Times New Roman" panose="02020603050405020304" charset="0"/>
                <a:ea typeface="宋体" panose="02010600030101010101" pitchFamily="2" charset="-122"/>
                <a:hlinkClick r:id="rId8" action="ppaction://hlinksldjump"/>
              </a:rPr>
              <a:t>路由协议</a:t>
            </a:r>
            <a:endParaRPr lang="zh-CN" altLang="en-US"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5.3.1  </a:t>
            </a:r>
            <a:r>
              <a:rPr lang="en-US" altLang="zh-CN" sz="2200" b="1" dirty="0">
                <a:ea typeface="宋体" panose="02010600030101010101" pitchFamily="2" charset="-122"/>
              </a:rPr>
              <a:t>LEACH</a:t>
            </a:r>
            <a:r>
              <a:rPr lang="zh-CN" altLang="en-US" sz="2200" b="1" dirty="0">
                <a:ea typeface="宋体" panose="02010600030101010101" pitchFamily="2" charset="-122"/>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5.3.2  </a:t>
            </a:r>
            <a:r>
              <a:rPr lang="en-US" altLang="zh-CN" sz="2200" b="1" dirty="0">
                <a:ea typeface="宋体" panose="02010600030101010101" pitchFamily="2" charset="-122"/>
              </a:rPr>
              <a:t>HEED</a:t>
            </a:r>
            <a:r>
              <a:rPr lang="zh-CN" altLang="en-US" sz="2200" b="1" dirty="0">
                <a:ea typeface="宋体" panose="02010600030101010101" pitchFamily="2" charset="-122"/>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5.3.3  TEEN</a:t>
            </a:r>
            <a:r>
              <a:rPr lang="zh-CN" altLang="en-US" sz="2200" b="1" dirty="0">
                <a:latin typeface="Times New Roman" panose="02020603050405020304" charset="0"/>
                <a:ea typeface="宋体" panose="02010600030101010101" pitchFamily="2" charset="-122"/>
              </a:rPr>
              <a:t>协议</a:t>
            </a:r>
            <a:endParaRPr lang="en-US" altLang="zh-CN" sz="2200" b="1" dirty="0">
              <a:latin typeface="Times New Roman" panose="02020603050405020304" charset="0"/>
              <a:ea typeface="宋体" panose="02010600030101010101" pitchFamily="2" charset="-122"/>
            </a:endParaRPr>
          </a:p>
          <a:p>
            <a:endParaRPr lang="zh-CN" altLang="en-US" sz="2200" b="1" dirty="0">
              <a:latin typeface="Times New Roman" panose="02020603050405020304" charset="0"/>
              <a:ea typeface="宋体" panose="02010600030101010101" pitchFamily="2" charset="-122"/>
            </a:endParaRPr>
          </a:p>
        </p:txBody>
      </p:sp>
      <p:sp>
        <p:nvSpPr>
          <p:cNvPr id="4" name="文本框 3"/>
          <p:cNvSpPr txBox="1"/>
          <p:nvPr/>
        </p:nvSpPr>
        <p:spPr>
          <a:xfrm>
            <a:off x="6081980" y="1307806"/>
            <a:ext cx="5535930" cy="4832092"/>
          </a:xfrm>
          <a:prstGeom prst="rect">
            <a:avLst/>
          </a:prstGeom>
          <a:noFill/>
          <a:ln w="9525">
            <a:noFill/>
          </a:ln>
        </p:spPr>
        <p:txBody>
          <a:bodyPr wrap="square">
            <a:spAutoFit/>
          </a:bodyPr>
          <a:lstStyle/>
          <a:p>
            <a:pPr indent="0"/>
            <a:r>
              <a:rPr lang="en-US" altLang="zh-CN" sz="2200" b="1" dirty="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  5.3.4  </a:t>
            </a:r>
            <a:r>
              <a:rPr lang="en-US" altLang="zh-CN" sz="2200" b="1" dirty="0">
                <a:latin typeface="Times New Roman" panose="02020603050405020304" charset="0"/>
                <a:ea typeface="宋体" panose="02010600030101010101" pitchFamily="2" charset="-122"/>
              </a:rPr>
              <a:t>TTDD</a:t>
            </a:r>
            <a:r>
              <a:rPr lang="zh-CN" altLang="en-US" sz="2200" b="1" dirty="0">
                <a:latin typeface="Times New Roman" panose="02020603050405020304" charset="0"/>
                <a:ea typeface="宋体" panose="02010600030101010101" pitchFamily="2" charset="-122"/>
              </a:rPr>
              <a:t>协议</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5.3.5  PEGASIS</a:t>
            </a:r>
            <a:r>
              <a:rPr lang="zh-CN" altLang="en-US" sz="2200" b="1" dirty="0">
                <a:latin typeface="Times New Roman" panose="02020603050405020304" charset="0"/>
                <a:ea typeface="宋体" panose="02010600030101010101" pitchFamily="2" charset="-122"/>
              </a:rPr>
              <a:t>协议</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hlinkClick r:id="rId9" action="ppaction://hlinksldjump"/>
              </a:rPr>
              <a:t>5.4</a:t>
            </a:r>
            <a:r>
              <a:rPr lang="zh-CN" altLang="en-US" sz="2200" b="1" dirty="0">
                <a:latin typeface="Times New Roman" panose="02020603050405020304" charset="0"/>
                <a:ea typeface="宋体" panose="02010600030101010101" pitchFamily="2" charset="-122"/>
                <a:hlinkClick r:id="rId9" action="ppaction://hlinksldjump"/>
              </a:rPr>
              <a:t>其他路由</a:t>
            </a:r>
            <a:r>
              <a:rPr lang="zh-CN" altLang="en-US" sz="2200" b="1" dirty="0" smtClean="0">
                <a:latin typeface="Times New Roman" panose="02020603050405020304" charset="0"/>
                <a:ea typeface="宋体" panose="02010600030101010101" pitchFamily="2" charset="-122"/>
                <a:hlinkClick r:id="rId9" action="ppaction://hlinksldjump"/>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  </a:t>
            </a:r>
            <a:r>
              <a:rPr lang="zh-CN" altLang="en-US" sz="2200" b="1" dirty="0">
                <a:latin typeface="Times New Roman" panose="02020603050405020304" charset="0"/>
                <a:ea typeface="宋体" panose="02010600030101010101" pitchFamily="2" charset="-122"/>
              </a:rPr>
              <a:t>地理位置</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5.4.1.1  </a:t>
            </a:r>
            <a:r>
              <a:rPr lang="en-US" altLang="zh-CN" sz="2200" b="1" dirty="0">
                <a:latin typeface="Times New Roman" panose="02020603050405020304" charset="0"/>
                <a:ea typeface="宋体" panose="02010600030101010101" pitchFamily="2" charset="-122"/>
              </a:rPr>
              <a:t>GAF</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5.4.1.2  </a:t>
            </a:r>
            <a:r>
              <a:rPr lang="en-US" altLang="zh-CN" sz="2200" b="1" dirty="0">
                <a:latin typeface="Times New Roman" panose="02020603050405020304" charset="0"/>
                <a:ea typeface="宋体" panose="02010600030101010101" pitchFamily="2" charset="-122"/>
              </a:rPr>
              <a:t>GEAR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5.4.1.3  </a:t>
            </a:r>
            <a:r>
              <a:rPr lang="en-US" altLang="zh-CN" sz="2200" b="1" dirty="0">
                <a:latin typeface="Times New Roman" panose="02020603050405020304" charset="0"/>
                <a:ea typeface="宋体" panose="02010600030101010101" pitchFamily="2" charset="-122"/>
              </a:rPr>
              <a:t>GPSR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  </a:t>
            </a:r>
            <a:r>
              <a:rPr lang="en-US" altLang="zh-CN" sz="2200" b="1" dirty="0" err="1">
                <a:latin typeface="Times New Roman" panose="02020603050405020304" charset="0"/>
                <a:ea typeface="宋体" panose="02010600030101010101" pitchFamily="2" charset="-122"/>
              </a:rPr>
              <a:t>QoS</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5.4.2.1  </a:t>
            </a:r>
            <a:r>
              <a:rPr lang="en-US" altLang="zh-CN" sz="2200" b="1" dirty="0">
                <a:latin typeface="Times New Roman" panose="02020603050405020304" charset="0"/>
                <a:ea typeface="宋体" panose="02010600030101010101" pitchFamily="2" charset="-122"/>
              </a:rPr>
              <a:t>SPEED</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5.4.2.2  </a:t>
            </a:r>
            <a:r>
              <a:rPr lang="en-US" altLang="zh-CN" sz="2200" b="1" dirty="0">
                <a:latin typeface="Times New Roman" panose="02020603050405020304" charset="0"/>
                <a:ea typeface="宋体" panose="02010600030101010101" pitchFamily="2" charset="-122"/>
              </a:rPr>
              <a:t>SAR</a:t>
            </a:r>
            <a:r>
              <a:rPr lang="zh-CN" altLang="en-US" sz="2200" b="1" dirty="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5.4.3  </a:t>
            </a:r>
            <a:r>
              <a:rPr lang="zh-CN" altLang="en-US" sz="2200" b="1" dirty="0">
                <a:latin typeface="Times New Roman" panose="02020603050405020304" charset="0"/>
                <a:ea typeface="宋体" panose="02010600030101010101" pitchFamily="2" charset="-122"/>
              </a:rPr>
              <a:t>多径</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sz="2200" b="1" dirty="0" smtClean="0">
                <a:latin typeface="Times New Roman" panose="02020603050405020304" charset="0"/>
                <a:ea typeface="宋体" panose="02010600030101010101" pitchFamily="2" charset="-122"/>
              </a:rPr>
              <a:t>     5.4.3.1  </a:t>
            </a:r>
            <a:r>
              <a:rPr lang="en-US" sz="2200" b="1" dirty="0">
                <a:latin typeface="Times New Roman" panose="02020603050405020304" charset="0"/>
                <a:ea typeface="宋体" panose="02010600030101010101" pitchFamily="2" charset="-122"/>
              </a:rPr>
              <a:t>MMSPEED</a:t>
            </a:r>
            <a:r>
              <a:rPr lang="zh-CN" altLang="en-US" sz="2200" b="1" dirty="0" smtClean="0">
                <a:latin typeface="Times New Roman" panose="02020603050405020304" charset="0"/>
                <a:ea typeface="宋体" panose="02010600030101010101" pitchFamily="2" charset="-122"/>
              </a:rPr>
              <a:t>路由</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5.4.3.2  </a:t>
            </a:r>
            <a:r>
              <a:rPr lang="zh-CN" altLang="en-US" sz="2200" b="1" dirty="0">
                <a:latin typeface="Times New Roman" panose="02020603050405020304" charset="0"/>
                <a:ea typeface="宋体" panose="02010600030101010101" pitchFamily="2" charset="-122"/>
              </a:rPr>
              <a:t>能量多路径路由</a:t>
            </a:r>
            <a:endParaRPr lang="en-US" altLang="zh-CN" sz="2200" b="1" dirty="0" smtClean="0">
              <a:latin typeface="Times New Roman" panose="02020603050405020304" charset="0"/>
              <a:ea typeface="宋体" panose="02010600030101010101" pitchFamily="2" charset="-122"/>
            </a:endParaRPr>
          </a:p>
          <a:p>
            <a:pPr indent="0"/>
            <a:r>
              <a:rPr lang="zh-CN" sz="2200" b="1" dirty="0" smtClean="0">
                <a:solidFill>
                  <a:schemeClr val="tx1"/>
                </a:solidFill>
                <a:uFillTx/>
                <a:ea typeface="宋体" panose="02010600030101010101" pitchFamily="2" charset="-122"/>
                <a:hlinkClick r:id="rId10" action="ppaction://hlinksldjump"/>
              </a:rPr>
              <a:t>习题</a:t>
            </a:r>
            <a:r>
              <a:rPr lang="en-US" sz="2200" b="1" dirty="0" smtClean="0">
                <a:solidFill>
                  <a:schemeClr val="tx1"/>
                </a:solidFill>
                <a:uFillTx/>
                <a:latin typeface="Times New Roman" panose="02020603050405020304" charset="0"/>
                <a:ea typeface="宋体" panose="02010600030101010101" pitchFamily="2" charset="-122"/>
                <a:hlinkClick r:id="rId10" action="ppaction://hlinksldjump"/>
              </a:rPr>
              <a:t>5</a:t>
            </a:r>
            <a:r>
              <a:rPr lang="en-US" sz="2200" b="1" dirty="0">
                <a:solidFill>
                  <a:srgbClr val="0000FF"/>
                </a:solidFill>
                <a:latin typeface="Times New Roman" panose="02020603050405020304" charset="0"/>
                <a:ea typeface="宋体" panose="02010600030101010101" pitchFamily="2" charset="-122"/>
              </a:rPr>
              <a:t>	</a:t>
            </a:r>
            <a:endParaRPr lang="zh-CN" altLang="en-US" sz="2200"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21815" y="324485"/>
            <a:ext cx="8548370" cy="1325880"/>
          </a:xfrm>
        </p:spPr>
        <p:txBody>
          <a:bodyPr>
            <a:normAutofit/>
          </a:bodyPr>
          <a:p>
            <a:r>
              <a:rPr lang="zh-CN" altLang="en-US" b="1">
                <a:uFillTx/>
                <a:latin typeface="Times New Roman" panose="02020603050405020304" charset="0"/>
                <a:ea typeface="宋体" panose="02010600030101010101" pitchFamily="2" charset="-122"/>
                <a:sym typeface="+mn-ea"/>
                <a:hlinkClick r:id="rId1"/>
              </a:rPr>
              <a:t>第</a:t>
            </a:r>
            <a:r>
              <a:rPr lang="en-US" b="1">
                <a:uFillTx/>
                <a:latin typeface="Times New Roman" panose="02020603050405020304" charset="0"/>
                <a:ea typeface="宋体" panose="02010600030101010101" pitchFamily="2" charset="-122"/>
                <a:sym typeface="+mn-ea"/>
                <a:hlinkClick r:id="rId1"/>
              </a:rPr>
              <a:t>5</a:t>
            </a:r>
            <a:r>
              <a:rPr lang="zh-CN" altLang="en-US" b="1">
                <a:uFillTx/>
                <a:latin typeface="Times New Roman" panose="02020603050405020304" charset="0"/>
                <a:ea typeface="宋体" panose="02010600030101010101" pitchFamily="2" charset="-122"/>
                <a:sym typeface="+mn-ea"/>
                <a:hlinkClick r:id="rId1"/>
              </a:rPr>
              <a:t>章</a:t>
            </a:r>
            <a:r>
              <a:rPr lang="en-US" b="1">
                <a:uFillTx/>
                <a:latin typeface="Times New Roman" panose="02020603050405020304" charset="0"/>
                <a:ea typeface="宋体" panose="02010600030101010101" pitchFamily="2" charset="-122"/>
                <a:sym typeface="+mn-ea"/>
                <a:hlinkClick r:id="rId1"/>
              </a:rPr>
              <a:t>  </a:t>
            </a:r>
            <a:r>
              <a:rPr lang="zh-CN" b="1">
                <a:uFillTx/>
                <a:ea typeface="宋体" panose="02010600030101010101" pitchFamily="2" charset="-122"/>
                <a:sym typeface="+mn-ea"/>
                <a:hlinkClick r:id="rId1"/>
              </a:rPr>
              <a:t>网络层协议</a:t>
            </a:r>
            <a:endParaRPr lang="zh-CN" altLang="en-US"/>
          </a:p>
        </p:txBody>
      </p:sp>
      <p:sp>
        <p:nvSpPr>
          <p:cNvPr id="3" name="内容占位符 2"/>
          <p:cNvSpPr>
            <a:spLocks noGrp="1"/>
          </p:cNvSpPr>
          <p:nvPr>
            <p:ph sz="half" idx="1"/>
          </p:nvPr>
        </p:nvSpPr>
        <p:spPr>
          <a:xfrm>
            <a:off x="429260" y="1903730"/>
            <a:ext cx="11332845" cy="4293870"/>
          </a:xfrm>
        </p:spPr>
        <p:txBody>
          <a:bodyPr>
            <a:noAutofit/>
          </a:bodyPr>
          <a:p>
            <a:pPr marL="0" indent="0">
              <a:buNone/>
            </a:pPr>
            <a:r>
              <a:rPr lang="en-US" altLang="zh-CN" sz="2400" b="1">
                <a:latin typeface="等线" panose="02010600030101010101" charset="-122"/>
                <a:ea typeface="等线" panose="02010600030101010101" charset="-122"/>
              </a:rPr>
              <a:t>       </a:t>
            </a:r>
            <a:r>
              <a:rPr lang="zh-CN" altLang="en-US" sz="2400" b="1">
                <a:latin typeface="等线" panose="02010600030101010101" charset="-122"/>
                <a:ea typeface="等线" panose="02010600030101010101" charset="-122"/>
              </a:rPr>
              <a:t>网络层是位于MAC层之上与应用层交互的一个协议层。网络层的主要功能是设备的发现和配置、网络的建立与维护、路由的选择以及广播通信，并具有自我组网与自我修复功能。路由是指通过网络把信息从源（source）传递到目的地的行为，是网络层的基本问题。路由技术由两项最基本的活动组成，即决定最优路径和传输数据包。在各种路由协议的设计中数据包的传输路径选择比较复杂，路径选择优化是路由设计的主要任务，而数据交换相对比较简单。按照不同依据，路由算法可以分为很多种，例如静态与动态、平面与分层、单路与多路等。本章重点讨论平面路由协议和分层路由协议。</a:t>
            </a:r>
            <a:endParaRPr lang="zh-CN" altLang="en-US" sz="2400" b="1">
              <a:latin typeface="等线" panose="02010600030101010101" charset="-122"/>
              <a:ea typeface="等线" panose="0201060003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
        <p:nvSpPr>
          <p:cNvPr id="3" name="文本占位符 2"/>
          <p:cNvSpPr>
            <a:spLocks noGrp="1"/>
          </p:cNvSpPr>
          <p:nvPr>
            <p:ph sz="half" idx="1"/>
          </p:nvPr>
        </p:nvSpPr>
        <p:spPr>
          <a:xfrm>
            <a:off x="458373" y="2022572"/>
            <a:ext cx="10516235" cy="4351655"/>
          </a:xfrm>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黑体" panose="02010609060101010101" charset="-122"/>
              </a:rPr>
              <a:t>5.1.1  </a:t>
            </a:r>
            <a:r>
              <a:rPr lang="zh-CN" altLang="en-US" b="1" i="0" u="none" strike="noStrike" kern="100" baseline="0" dirty="0" smtClean="0">
                <a:solidFill>
                  <a:prstClr val="black"/>
                </a:solidFill>
                <a:latin typeface="Times New Roman" panose="02020603050405020304" charset="0"/>
                <a:ea typeface="黑体" panose="02010609060101010101" charset="-122"/>
              </a:rPr>
              <a:t>网络层的服务实体</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a:p>
            <a:pPr lvl="1"/>
            <a:r>
              <a:rPr lang="zh-CN" altLang="zh-CN" dirty="0" smtClean="0"/>
              <a:t>逻辑</a:t>
            </a:r>
            <a:r>
              <a:rPr lang="zh-CN" altLang="zh-CN" dirty="0"/>
              <a:t>上包含两个服务实体</a:t>
            </a:r>
            <a:r>
              <a:rPr lang="zh-CN" altLang="zh-CN" dirty="0" smtClean="0"/>
              <a:t>：</a:t>
            </a:r>
            <a:endParaRPr lang="en-US" altLang="zh-CN" dirty="0" smtClean="0"/>
          </a:p>
          <a:p>
            <a:pPr lvl="2"/>
            <a:r>
              <a:rPr lang="zh-CN" altLang="zh-CN" dirty="0" smtClean="0">
                <a:solidFill>
                  <a:srgbClr val="FF0000"/>
                </a:solidFill>
              </a:rPr>
              <a:t>数据</a:t>
            </a:r>
            <a:r>
              <a:rPr lang="zh-CN" altLang="zh-CN" dirty="0">
                <a:solidFill>
                  <a:srgbClr val="FF0000"/>
                </a:solidFill>
              </a:rPr>
              <a:t>服务实体</a:t>
            </a:r>
            <a:r>
              <a:rPr lang="zh-CN" altLang="zh-CN" dirty="0"/>
              <a:t>（</a:t>
            </a:r>
            <a:r>
              <a:rPr lang="en-US" altLang="zh-CN" dirty="0"/>
              <a:t>NLDE</a:t>
            </a:r>
            <a:r>
              <a:rPr lang="zh-CN" altLang="zh-CN" dirty="0" smtClean="0"/>
              <a:t>）</a:t>
            </a:r>
            <a:endParaRPr lang="en-US" altLang="zh-CN" dirty="0" smtClean="0"/>
          </a:p>
          <a:p>
            <a:pPr lvl="2"/>
            <a:r>
              <a:rPr lang="zh-CN" altLang="zh-CN" dirty="0" smtClean="0">
                <a:solidFill>
                  <a:srgbClr val="FF0000"/>
                </a:solidFill>
              </a:rPr>
              <a:t>管理</a:t>
            </a:r>
            <a:r>
              <a:rPr lang="zh-CN" altLang="zh-CN" dirty="0">
                <a:solidFill>
                  <a:srgbClr val="FF0000"/>
                </a:solidFill>
              </a:rPr>
              <a:t>服务实体</a:t>
            </a:r>
            <a:r>
              <a:rPr lang="zh-CN" altLang="zh-CN" dirty="0"/>
              <a:t>（</a:t>
            </a:r>
            <a:r>
              <a:rPr lang="en-US" altLang="zh-CN" dirty="0"/>
              <a:t>NLME</a:t>
            </a:r>
            <a:r>
              <a:rPr lang="zh-CN" altLang="zh-CN" dirty="0" smtClean="0"/>
              <a:t>）</a:t>
            </a:r>
            <a:r>
              <a:rPr lang="zh-CN" altLang="en-US" dirty="0" smtClean="0"/>
              <a:t>。</a:t>
            </a:r>
            <a:endParaRPr lang="en-US" altLang="zh-CN" dirty="0" smtClean="0"/>
          </a:p>
          <a:p>
            <a:pPr lvl="1"/>
            <a:r>
              <a:rPr lang="en-US" altLang="zh-CN" dirty="0" smtClean="0"/>
              <a:t>NLDE-SAP</a:t>
            </a:r>
            <a:r>
              <a:rPr lang="zh-CN" altLang="en-US" dirty="0" smtClean="0"/>
              <a:t>：</a:t>
            </a:r>
            <a:r>
              <a:rPr lang="zh-CN" altLang="zh-CN" dirty="0" smtClean="0"/>
              <a:t>网络层</a:t>
            </a:r>
            <a:r>
              <a:rPr lang="zh-CN" altLang="zh-CN" dirty="0"/>
              <a:t>提供给应用层的数据服务</a:t>
            </a:r>
            <a:r>
              <a:rPr lang="zh-CN" altLang="zh-CN" dirty="0" smtClean="0"/>
              <a:t>接口</a:t>
            </a:r>
            <a:endParaRPr lang="en-US" altLang="zh-CN" dirty="0" smtClean="0"/>
          </a:p>
          <a:p>
            <a:pPr lvl="2"/>
            <a:r>
              <a:rPr lang="zh-CN" altLang="zh-CN" dirty="0" smtClean="0"/>
              <a:t>将</a:t>
            </a:r>
            <a:r>
              <a:rPr lang="zh-CN" altLang="zh-CN" dirty="0"/>
              <a:t>应用层提供的数据</a:t>
            </a:r>
            <a:r>
              <a:rPr lang="zh-CN" altLang="zh-CN" dirty="0">
                <a:solidFill>
                  <a:srgbClr val="FF0000"/>
                </a:solidFill>
              </a:rPr>
              <a:t>打包</a:t>
            </a:r>
            <a:r>
              <a:rPr lang="zh-CN" altLang="zh-CN" dirty="0"/>
              <a:t>成应用层协议数据单元，并将其传输给相应节点的网络层</a:t>
            </a:r>
            <a:r>
              <a:rPr lang="zh-CN" altLang="zh-CN" dirty="0" smtClean="0"/>
              <a:t>；</a:t>
            </a:r>
            <a:endParaRPr lang="en-US" altLang="zh-CN" dirty="0" smtClean="0"/>
          </a:p>
          <a:p>
            <a:pPr lvl="2"/>
            <a:r>
              <a:rPr lang="zh-CN" altLang="zh-CN" dirty="0" smtClean="0"/>
              <a:t>将</a:t>
            </a:r>
            <a:r>
              <a:rPr lang="zh-CN" altLang="zh-CN" dirty="0"/>
              <a:t>接收到的应用层协议数据单元进行</a:t>
            </a:r>
            <a:r>
              <a:rPr lang="zh-CN" altLang="zh-CN" dirty="0">
                <a:solidFill>
                  <a:srgbClr val="FF0000"/>
                </a:solidFill>
              </a:rPr>
              <a:t>解包</a:t>
            </a:r>
            <a:r>
              <a:rPr lang="zh-CN" altLang="zh-CN" dirty="0"/>
              <a:t>，并将解包后得到的数据传送给本节点的</a:t>
            </a:r>
            <a:r>
              <a:rPr lang="zh-CN" altLang="zh-CN" dirty="0" smtClean="0"/>
              <a:t>应用层</a:t>
            </a:r>
            <a:endParaRPr lang="en-US" altLang="zh-CN" dirty="0"/>
          </a:p>
          <a:p>
            <a:pPr lvl="1"/>
            <a:r>
              <a:rPr lang="en-US" altLang="zh-CN" dirty="0" smtClean="0"/>
              <a:t>NLDE-SAP</a:t>
            </a:r>
            <a:r>
              <a:rPr lang="zh-CN" altLang="zh-CN" dirty="0"/>
              <a:t>实现</a:t>
            </a:r>
            <a:r>
              <a:rPr lang="zh-CN" altLang="zh-CN" dirty="0">
                <a:solidFill>
                  <a:srgbClr val="FF0000"/>
                </a:solidFill>
              </a:rPr>
              <a:t>两个应用层之间的数据</a:t>
            </a:r>
            <a:r>
              <a:rPr lang="zh-CN" altLang="zh-CN" dirty="0" smtClean="0">
                <a:solidFill>
                  <a:srgbClr val="FF0000"/>
                </a:solidFill>
              </a:rPr>
              <a:t>传输</a:t>
            </a:r>
            <a:endParaRPr lang="en-US" altLang="zh-CN" dirty="0" smtClean="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黑体" panose="02010609060101010101" charset="-122"/>
              </a:rPr>
              <a:t>5.1.1  </a:t>
            </a:r>
            <a:r>
              <a:rPr lang="zh-CN" altLang="en-US" b="1" i="0" u="none" strike="noStrike" kern="100" baseline="0" dirty="0" smtClean="0">
                <a:solidFill>
                  <a:prstClr val="black"/>
                </a:solidFill>
                <a:latin typeface="Times New Roman" panose="02020603050405020304" charset="0"/>
                <a:ea typeface="黑体" panose="02010609060101010101" charset="-122"/>
              </a:rPr>
              <a:t>网络层的服务实体</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a:p>
            <a:pPr lvl="1"/>
            <a:r>
              <a:rPr lang="en-US" altLang="zh-CN" dirty="0" smtClean="0"/>
              <a:t>NLDE-SAP</a:t>
            </a:r>
            <a:r>
              <a:rPr lang="zh-CN" altLang="zh-CN" dirty="0" smtClean="0">
                <a:solidFill>
                  <a:srgbClr val="FF0000"/>
                </a:solidFill>
              </a:rPr>
              <a:t>主要任务</a:t>
            </a:r>
            <a:r>
              <a:rPr lang="en-US" altLang="zh-CN" dirty="0" smtClean="0"/>
              <a:t>:</a:t>
            </a:r>
            <a:endParaRPr lang="zh-CN" altLang="zh-CN" dirty="0" smtClean="0"/>
          </a:p>
          <a:p>
            <a:pPr lvl="2"/>
            <a:r>
              <a:rPr lang="zh-CN" altLang="zh-CN" dirty="0" smtClean="0"/>
              <a:t>（</a:t>
            </a:r>
            <a:r>
              <a:rPr lang="en-US" altLang="zh-CN" dirty="0" smtClean="0"/>
              <a:t>1</a:t>
            </a:r>
            <a:r>
              <a:rPr lang="zh-CN" altLang="zh-CN" dirty="0" smtClean="0"/>
              <a:t>）发起一个网络并且分配网络地址</a:t>
            </a:r>
            <a:r>
              <a:rPr lang="en-US" altLang="zh-CN" dirty="0" smtClean="0"/>
              <a:t>(</a:t>
            </a:r>
            <a:r>
              <a:rPr lang="zh-CN" altLang="zh-CN" dirty="0" smtClean="0"/>
              <a:t>网络协调器</a:t>
            </a:r>
            <a:r>
              <a:rPr lang="en-US" altLang="zh-CN" dirty="0" smtClean="0"/>
              <a:t>)</a:t>
            </a:r>
            <a:r>
              <a:rPr lang="zh-CN" altLang="zh-CN" dirty="0" smtClean="0"/>
              <a:t>。</a:t>
            </a:r>
            <a:endParaRPr lang="zh-CN" altLang="zh-CN" dirty="0" smtClean="0"/>
          </a:p>
          <a:p>
            <a:pPr lvl="2"/>
            <a:r>
              <a:rPr lang="zh-CN" altLang="zh-CN" dirty="0" smtClean="0"/>
              <a:t>（</a:t>
            </a:r>
            <a:r>
              <a:rPr lang="en-US" altLang="zh-CN" dirty="0" smtClean="0"/>
              <a:t>2</a:t>
            </a:r>
            <a:r>
              <a:rPr lang="zh-CN" altLang="zh-CN" dirty="0" smtClean="0"/>
              <a:t>）向网络中添加设备或者从网络中移除设备。</a:t>
            </a:r>
            <a:endParaRPr lang="zh-CN" altLang="zh-CN" dirty="0" smtClean="0"/>
          </a:p>
          <a:p>
            <a:pPr lvl="2"/>
            <a:r>
              <a:rPr lang="zh-CN" altLang="zh-CN" dirty="0" smtClean="0"/>
              <a:t>（</a:t>
            </a:r>
            <a:r>
              <a:rPr lang="en-US" altLang="zh-CN" dirty="0" smtClean="0"/>
              <a:t>3</a:t>
            </a:r>
            <a:r>
              <a:rPr lang="zh-CN" altLang="zh-CN" dirty="0" smtClean="0"/>
              <a:t>）将消息路由到目的节点。</a:t>
            </a:r>
            <a:endParaRPr lang="zh-CN" altLang="zh-CN" dirty="0" smtClean="0"/>
          </a:p>
          <a:p>
            <a:pPr lvl="2"/>
            <a:r>
              <a:rPr lang="zh-CN" altLang="zh-CN" dirty="0" smtClean="0"/>
              <a:t>（</a:t>
            </a:r>
            <a:r>
              <a:rPr lang="en-US" altLang="zh-CN" dirty="0" smtClean="0"/>
              <a:t>4</a:t>
            </a:r>
            <a:r>
              <a:rPr lang="zh-CN" altLang="zh-CN" dirty="0" smtClean="0"/>
              <a:t>）对发送的数据进行加密。</a:t>
            </a:r>
            <a:endParaRPr lang="zh-CN" altLang="zh-CN" dirty="0" smtClean="0"/>
          </a:p>
          <a:p>
            <a:pPr lvl="2"/>
            <a:r>
              <a:rPr lang="zh-CN" altLang="zh-CN" dirty="0" smtClean="0"/>
              <a:t>（</a:t>
            </a:r>
            <a:r>
              <a:rPr lang="en-US" altLang="zh-CN" dirty="0" smtClean="0"/>
              <a:t>5</a:t>
            </a:r>
            <a:r>
              <a:rPr lang="zh-CN" altLang="zh-CN" dirty="0" smtClean="0"/>
              <a:t>）在网状网络中执行路由寻址并存储路由表。</a:t>
            </a:r>
            <a:endParaRPr lang="zh-CN" altLang="zh-CN" dirty="0" smtClean="0"/>
          </a:p>
          <a:p>
            <a:pPr lvl="1"/>
            <a:endParaRPr lang="zh-CN" altLang="en-US" b="1" i="0" u="none" strike="noStrike" kern="100" baseline="0" dirty="0" smtClean="0">
              <a:solidFill>
                <a:prstClr val="black"/>
              </a:solidFill>
              <a:latin typeface="Times New Roman" panose="02020603050405020304" charset="0"/>
              <a:ea typeface="黑体" panose="02010609060101010101" charset="-122"/>
            </a:endParaRPr>
          </a:p>
        </p:txBody>
      </p:sp>
      <p:sp>
        <p:nvSpPr>
          <p:cNvPr id="5" name="标题 4"/>
          <p:cNvSpPr>
            <a:spLocks noGrp="1"/>
          </p:cNvSpPr>
          <p:nvPr>
            <p:ph type="title"/>
          </p:nvPr>
        </p:nvSpPr>
        <p:spPr/>
        <p:txBody>
          <a:bodyPr/>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黑体" panose="02010609060101010101" charset="-122"/>
              </a:rPr>
              <a:t>5.1.1  </a:t>
            </a:r>
            <a:r>
              <a:rPr lang="zh-CN" altLang="en-US" b="1" i="0" u="none" strike="noStrike" kern="100" baseline="0" dirty="0" smtClean="0">
                <a:solidFill>
                  <a:prstClr val="black"/>
                </a:solidFill>
                <a:latin typeface="Times New Roman" panose="02020603050405020304" charset="0"/>
                <a:ea typeface="黑体" panose="02010609060101010101" charset="-122"/>
              </a:rPr>
              <a:t>网络层的服务实体</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a:p>
            <a:pPr lvl="1"/>
            <a:r>
              <a:rPr lang="zh-CN" altLang="zh-CN" dirty="0">
                <a:solidFill>
                  <a:srgbClr val="FF0000"/>
                </a:solidFill>
              </a:rPr>
              <a:t>网络层帧</a:t>
            </a:r>
            <a:r>
              <a:rPr lang="zh-CN" altLang="zh-CN" dirty="0"/>
              <a:t>即网络协议数据单元（</a:t>
            </a:r>
            <a:r>
              <a:rPr lang="en-US" altLang="zh-CN" dirty="0"/>
              <a:t>NPDU</a:t>
            </a:r>
            <a:r>
              <a:rPr lang="zh-CN" altLang="zh-CN" dirty="0"/>
              <a:t>），由两个部分组成：</a:t>
            </a:r>
            <a:r>
              <a:rPr lang="en-US" altLang="zh-CN" dirty="0">
                <a:solidFill>
                  <a:srgbClr val="FF0000"/>
                </a:solidFill>
              </a:rPr>
              <a:t>NWK</a:t>
            </a:r>
            <a:r>
              <a:rPr lang="zh-CN" altLang="zh-CN" dirty="0">
                <a:solidFill>
                  <a:srgbClr val="FF0000"/>
                </a:solidFill>
              </a:rPr>
              <a:t>头</a:t>
            </a:r>
            <a:r>
              <a:rPr lang="zh-CN" altLang="zh-CN" dirty="0"/>
              <a:t>和</a:t>
            </a:r>
            <a:r>
              <a:rPr lang="en-US" altLang="zh-CN" dirty="0">
                <a:solidFill>
                  <a:srgbClr val="FF0000"/>
                </a:solidFill>
              </a:rPr>
              <a:t>NWK</a:t>
            </a:r>
            <a:r>
              <a:rPr lang="zh-CN" altLang="zh-CN" dirty="0">
                <a:solidFill>
                  <a:srgbClr val="FF0000"/>
                </a:solidFill>
              </a:rPr>
              <a:t>有效载荷</a:t>
            </a:r>
            <a:r>
              <a:rPr lang="zh-CN" altLang="zh-CN" dirty="0"/>
              <a:t>。</a:t>
            </a:r>
            <a:r>
              <a:rPr lang="en-US" altLang="zh-CN" dirty="0"/>
              <a:t>NWK</a:t>
            </a:r>
            <a:r>
              <a:rPr lang="zh-CN" altLang="zh-CN" dirty="0"/>
              <a:t>头部分包含帧控制、地址和序号信息；</a:t>
            </a:r>
            <a:r>
              <a:rPr lang="en-US" altLang="zh-CN" dirty="0"/>
              <a:t>NWK</a:t>
            </a:r>
            <a:r>
              <a:rPr lang="zh-CN" altLang="zh-CN" dirty="0"/>
              <a:t>有效载荷部分包含的信息因帧类型的不同而不同，长度可变</a:t>
            </a:r>
            <a:r>
              <a:rPr lang="zh-CN" altLang="zh-CN" dirty="0" smtClean="0"/>
              <a:t>。</a:t>
            </a:r>
            <a:endParaRPr lang="en-US" altLang="zh-CN" dirty="0" smtClean="0"/>
          </a:p>
          <a:p>
            <a:pPr lvl="1"/>
            <a:endParaRPr lang="en-US" altLang="zh-CN" dirty="0" smtClean="0"/>
          </a:p>
          <a:p>
            <a:pPr marL="457200" lvl="1" indent="0" algn="ctr">
              <a:buNone/>
            </a:pPr>
            <a:r>
              <a:rPr lang="zh-CN" altLang="zh-CN" dirty="0"/>
              <a:t>表</a:t>
            </a:r>
            <a:r>
              <a:rPr lang="en-US" altLang="zh-CN" dirty="0"/>
              <a:t>5-1-1  NWK </a:t>
            </a:r>
            <a:r>
              <a:rPr lang="zh-CN" altLang="zh-CN" dirty="0"/>
              <a:t>帧结构</a:t>
            </a:r>
            <a:endParaRPr lang="zh-CN" altLang="en-US" b="1" i="0" u="none" strike="noStrike" kern="100" baseline="0" dirty="0" smtClean="0">
              <a:solidFill>
                <a:prstClr val="black"/>
              </a:solidFill>
              <a:latin typeface="Times New Roman" panose="02020603050405020304" charset="0"/>
              <a:ea typeface="黑体" panose="02010609060101010101" charset="-122"/>
            </a:endParaRPr>
          </a:p>
        </p:txBody>
      </p:sp>
      <p:graphicFrame>
        <p:nvGraphicFramePr>
          <p:cNvPr id="6" name="表格 5"/>
          <p:cNvGraphicFramePr>
            <a:graphicFrameLocks noGrp="1"/>
          </p:cNvGraphicFramePr>
          <p:nvPr/>
        </p:nvGraphicFramePr>
        <p:xfrm>
          <a:off x="3137095" y="4403187"/>
          <a:ext cx="7202659" cy="1773776"/>
        </p:xfrm>
        <a:graphic>
          <a:graphicData uri="http://schemas.openxmlformats.org/drawingml/2006/table">
            <a:tbl>
              <a:tblPr firstRow="1" firstCol="1" bandRow="1">
                <a:tableStyleId>{5C22544A-7EE6-4342-B048-85BDC9FD1C3A}</a:tableStyleId>
              </a:tblPr>
              <a:tblGrid>
                <a:gridCol w="1365814"/>
                <a:gridCol w="1220633"/>
                <a:gridCol w="976506"/>
                <a:gridCol w="1032915"/>
                <a:gridCol w="657477"/>
                <a:gridCol w="1949314"/>
              </a:tblGrid>
              <a:tr h="443444">
                <a:tc>
                  <a:txBody>
                    <a:bodyPr/>
                    <a:lstStyle/>
                    <a:p>
                      <a:pPr algn="ctr">
                        <a:spcAft>
                          <a:spcPts val="0"/>
                        </a:spcAft>
                      </a:pPr>
                      <a:r>
                        <a:rPr lang="en-US" dirty="0"/>
                        <a:t>2B</a:t>
                      </a:r>
                      <a:endParaRPr lang="zh-CN" dirty="0"/>
                    </a:p>
                  </a:txBody>
                  <a:tcPr marL="68580" marR="68580" marT="0" marB="0" anchor="ctr"/>
                </a:tc>
                <a:tc>
                  <a:txBody>
                    <a:bodyPr/>
                    <a:lstStyle/>
                    <a:p>
                      <a:pPr algn="ctr">
                        <a:spcAft>
                          <a:spcPts val="0"/>
                        </a:spcAft>
                      </a:pPr>
                      <a:r>
                        <a:rPr lang="en-US"/>
                        <a:t>2B</a:t>
                      </a:r>
                      <a:endParaRPr lang="zh-CN"/>
                    </a:p>
                  </a:txBody>
                  <a:tcPr marL="68580" marR="68580" marT="0" marB="0" anchor="ctr"/>
                </a:tc>
                <a:tc>
                  <a:txBody>
                    <a:bodyPr/>
                    <a:lstStyle/>
                    <a:p>
                      <a:pPr algn="ctr">
                        <a:spcAft>
                          <a:spcPts val="0"/>
                        </a:spcAft>
                      </a:pPr>
                      <a:r>
                        <a:rPr lang="en-US"/>
                        <a:t>2B</a:t>
                      </a:r>
                      <a:endParaRPr lang="zh-CN"/>
                    </a:p>
                  </a:txBody>
                  <a:tcPr marL="68580" marR="68580" marT="0" marB="0" anchor="ctr"/>
                </a:tc>
                <a:tc>
                  <a:txBody>
                    <a:bodyPr/>
                    <a:lstStyle/>
                    <a:p>
                      <a:pPr algn="ctr">
                        <a:spcAft>
                          <a:spcPts val="0"/>
                        </a:spcAft>
                      </a:pPr>
                      <a:r>
                        <a:rPr lang="en-US" dirty="0"/>
                        <a:t>1B</a:t>
                      </a:r>
                      <a:endParaRPr lang="zh-CN" dirty="0"/>
                    </a:p>
                  </a:txBody>
                  <a:tcPr marL="68580" marR="68580" marT="0" marB="0" anchor="ctr"/>
                </a:tc>
                <a:tc>
                  <a:txBody>
                    <a:bodyPr/>
                    <a:lstStyle/>
                    <a:p>
                      <a:pPr algn="ctr">
                        <a:spcAft>
                          <a:spcPts val="0"/>
                        </a:spcAft>
                      </a:pPr>
                      <a:r>
                        <a:rPr lang="en-US"/>
                        <a:t>1B</a:t>
                      </a:r>
                      <a:endParaRPr lang="zh-CN"/>
                    </a:p>
                  </a:txBody>
                  <a:tcPr marL="68580" marR="68580" marT="0" marB="0" anchor="ctr"/>
                </a:tc>
                <a:tc>
                  <a:txBody>
                    <a:bodyPr/>
                    <a:lstStyle/>
                    <a:p>
                      <a:pPr algn="ctr">
                        <a:spcAft>
                          <a:spcPts val="0"/>
                        </a:spcAft>
                      </a:pPr>
                      <a:r>
                        <a:rPr lang="zh-CN"/>
                        <a:t>可变长度</a:t>
                      </a:r>
                      <a:endParaRPr lang="zh-CN"/>
                    </a:p>
                  </a:txBody>
                  <a:tcPr marL="68580" marR="68580" marT="0" marB="0" anchor="ctr"/>
                </a:tc>
              </a:tr>
              <a:tr h="443444">
                <a:tc rowSpan="2">
                  <a:txBody>
                    <a:bodyPr/>
                    <a:lstStyle/>
                    <a:p>
                      <a:pPr algn="ctr">
                        <a:spcAft>
                          <a:spcPts val="0"/>
                        </a:spcAft>
                      </a:pPr>
                      <a:r>
                        <a:rPr lang="zh-CN"/>
                        <a:t>帧控制域</a:t>
                      </a:r>
                      <a:endParaRPr lang="zh-CN"/>
                    </a:p>
                  </a:txBody>
                  <a:tcPr marL="68580" marR="68580" marT="0" marB="0" anchor="ctr"/>
                </a:tc>
                <a:tc>
                  <a:txBody>
                    <a:bodyPr/>
                    <a:lstStyle/>
                    <a:p>
                      <a:pPr algn="ctr">
                        <a:spcAft>
                          <a:spcPts val="0"/>
                        </a:spcAft>
                      </a:pPr>
                      <a:r>
                        <a:rPr lang="zh-CN"/>
                        <a:t>目的地址</a:t>
                      </a:r>
                      <a:endParaRPr lang="zh-CN"/>
                    </a:p>
                  </a:txBody>
                  <a:tcPr marL="68580" marR="68580" marT="0" marB="0" anchor="ctr"/>
                </a:tc>
                <a:tc>
                  <a:txBody>
                    <a:bodyPr/>
                    <a:lstStyle/>
                    <a:p>
                      <a:pPr algn="ctr">
                        <a:spcAft>
                          <a:spcPts val="0"/>
                        </a:spcAft>
                      </a:pPr>
                      <a:r>
                        <a:rPr lang="zh-CN"/>
                        <a:t>源地址</a:t>
                      </a:r>
                      <a:endParaRPr lang="zh-CN"/>
                    </a:p>
                  </a:txBody>
                  <a:tcPr marL="68580" marR="68580" marT="0" marB="0" anchor="ctr"/>
                </a:tc>
                <a:tc>
                  <a:txBody>
                    <a:bodyPr/>
                    <a:lstStyle/>
                    <a:p>
                      <a:pPr algn="ctr">
                        <a:spcAft>
                          <a:spcPts val="0"/>
                        </a:spcAft>
                      </a:pPr>
                      <a:r>
                        <a:rPr lang="zh-CN"/>
                        <a:t>半径域</a:t>
                      </a:r>
                      <a:endParaRPr lang="zh-CN"/>
                    </a:p>
                  </a:txBody>
                  <a:tcPr marL="68580" marR="68580" marT="0" marB="0" anchor="ctr"/>
                </a:tc>
                <a:tc>
                  <a:txBody>
                    <a:bodyPr/>
                    <a:lstStyle/>
                    <a:p>
                      <a:pPr algn="ctr">
                        <a:spcAft>
                          <a:spcPts val="0"/>
                        </a:spcAft>
                      </a:pPr>
                      <a:r>
                        <a:rPr lang="zh-CN"/>
                        <a:t>序号</a:t>
                      </a:r>
                      <a:endParaRPr lang="zh-CN"/>
                    </a:p>
                  </a:txBody>
                  <a:tcPr marL="68580" marR="68580" marT="0" marB="0" anchor="ctr"/>
                </a:tc>
                <a:tc rowSpan="2">
                  <a:txBody>
                    <a:bodyPr/>
                    <a:lstStyle/>
                    <a:p>
                      <a:pPr algn="ctr">
                        <a:spcAft>
                          <a:spcPts val="0"/>
                        </a:spcAft>
                      </a:pPr>
                      <a:r>
                        <a:rPr lang="zh-CN"/>
                        <a:t>帧有效载荷</a:t>
                      </a:r>
                      <a:endParaRPr lang="zh-CN"/>
                    </a:p>
                  </a:txBody>
                  <a:tcPr marL="68580" marR="68580" marT="0" marB="0" anchor="ctr"/>
                </a:tc>
              </a:tr>
              <a:tr h="443444">
                <a:tc vMerge="1">
                  <a:tcPr/>
                </a:tc>
                <a:tc gridSpan="4">
                  <a:txBody>
                    <a:bodyPr/>
                    <a:lstStyle/>
                    <a:p>
                      <a:pPr algn="ctr">
                        <a:spcAft>
                          <a:spcPts val="0"/>
                        </a:spcAft>
                      </a:pPr>
                      <a:r>
                        <a:rPr lang="zh-CN"/>
                        <a:t>路由域</a:t>
                      </a:r>
                      <a:endParaRPr lang="zh-CN"/>
                    </a:p>
                  </a:txBody>
                  <a:tcPr marL="68580" marR="68580" marT="0" marB="0" anchor="ctr"/>
                </a:tc>
                <a:tc hMerge="1">
                  <a:tcPr/>
                </a:tc>
                <a:tc hMerge="1">
                  <a:tcPr/>
                </a:tc>
                <a:tc hMerge="1">
                  <a:tcPr/>
                </a:tc>
                <a:tc vMerge="1">
                  <a:tcPr/>
                </a:tc>
              </a:tr>
              <a:tr h="443444">
                <a:tc gridSpan="5">
                  <a:txBody>
                    <a:bodyPr/>
                    <a:lstStyle/>
                    <a:p>
                      <a:pPr algn="ctr">
                        <a:spcAft>
                          <a:spcPts val="0"/>
                        </a:spcAft>
                      </a:pPr>
                      <a:r>
                        <a:rPr lang="en-US"/>
                        <a:t>NWK</a:t>
                      </a:r>
                      <a:r>
                        <a:rPr lang="zh-CN"/>
                        <a:t>头</a:t>
                      </a:r>
                      <a:endParaRPr lang="zh-CN"/>
                    </a:p>
                  </a:txBody>
                  <a:tcPr marL="68580" marR="68580" marT="0" marB="0" anchor="ctr"/>
                </a:tc>
                <a:tc hMerge="1">
                  <a:tcPr/>
                </a:tc>
                <a:tc hMerge="1">
                  <a:tcPr/>
                </a:tc>
                <a:tc hMerge="1">
                  <a:tcPr/>
                </a:tc>
                <a:tc hMerge="1">
                  <a:tcPr/>
                </a:tc>
                <a:tc>
                  <a:txBody>
                    <a:bodyPr/>
                    <a:lstStyle/>
                    <a:p>
                      <a:pPr algn="ctr">
                        <a:spcAft>
                          <a:spcPts val="0"/>
                        </a:spcAft>
                      </a:pPr>
                      <a:r>
                        <a:rPr lang="en-US" dirty="0"/>
                        <a:t>NWK</a:t>
                      </a:r>
                      <a:r>
                        <a:rPr lang="zh-CN" dirty="0"/>
                        <a:t>有效载荷</a:t>
                      </a:r>
                      <a:endParaRPr lang="zh-CN" dirty="0"/>
                    </a:p>
                  </a:txBody>
                  <a:tcPr marL="68580" marR="68580" marT="0" marB="0" anchor="ctr"/>
                </a:tc>
              </a:tr>
            </a:tbl>
          </a:graphicData>
        </a:graphic>
      </p:graphicFrame>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黑体" panose="02010609060101010101" charset="-122"/>
              </a:rPr>
              <a:t>5.1.1  </a:t>
            </a:r>
            <a:r>
              <a:rPr lang="zh-CN" altLang="en-US" b="1" i="0" u="none" strike="noStrike" kern="100" baseline="0" dirty="0" smtClean="0">
                <a:solidFill>
                  <a:prstClr val="black"/>
                </a:solidFill>
                <a:latin typeface="Times New Roman" panose="02020603050405020304" charset="0"/>
                <a:ea typeface="黑体" panose="02010609060101010101" charset="-122"/>
              </a:rPr>
              <a:t>网络层的服务实体</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a:p>
            <a:pPr lvl="1"/>
            <a:r>
              <a:rPr lang="zh-CN" altLang="zh-CN" dirty="0"/>
              <a:t> </a:t>
            </a:r>
            <a:r>
              <a:rPr lang="zh-CN" altLang="zh-CN" dirty="0" smtClean="0"/>
              <a:t>两种类型设备：</a:t>
            </a:r>
            <a:endParaRPr lang="en-US" altLang="zh-CN" dirty="0" smtClean="0"/>
          </a:p>
          <a:p>
            <a:pPr lvl="2"/>
            <a:r>
              <a:rPr lang="zh-CN" altLang="zh-CN" dirty="0" smtClean="0">
                <a:solidFill>
                  <a:srgbClr val="FF0000"/>
                </a:solidFill>
              </a:rPr>
              <a:t>全</a:t>
            </a:r>
            <a:r>
              <a:rPr lang="zh-CN" altLang="zh-CN" dirty="0">
                <a:solidFill>
                  <a:srgbClr val="FF0000"/>
                </a:solidFill>
              </a:rPr>
              <a:t>功能设备</a:t>
            </a:r>
            <a:r>
              <a:rPr lang="zh-CN" altLang="zh-CN" dirty="0"/>
              <a:t>（</a:t>
            </a:r>
            <a:r>
              <a:rPr lang="en-US" altLang="zh-CN" dirty="0"/>
              <a:t>Full Function Device</a:t>
            </a:r>
            <a:r>
              <a:rPr lang="zh-CN" altLang="zh-CN" dirty="0"/>
              <a:t>，</a:t>
            </a:r>
            <a:r>
              <a:rPr lang="en-US" altLang="zh-CN" dirty="0"/>
              <a:t>FFD</a:t>
            </a:r>
            <a:r>
              <a:rPr lang="zh-CN" altLang="zh-CN" dirty="0" smtClean="0"/>
              <a:t>）</a:t>
            </a:r>
            <a:endParaRPr lang="en-US" altLang="zh-CN" dirty="0" smtClean="0"/>
          </a:p>
          <a:p>
            <a:pPr lvl="2"/>
            <a:r>
              <a:rPr lang="zh-CN" altLang="zh-CN" dirty="0" smtClean="0">
                <a:solidFill>
                  <a:srgbClr val="FF0000"/>
                </a:solidFill>
              </a:rPr>
              <a:t>简化</a:t>
            </a:r>
            <a:r>
              <a:rPr lang="zh-CN" altLang="zh-CN" dirty="0">
                <a:solidFill>
                  <a:srgbClr val="FF0000"/>
                </a:solidFill>
              </a:rPr>
              <a:t>功能设备</a:t>
            </a:r>
            <a:r>
              <a:rPr lang="zh-CN" altLang="zh-CN" dirty="0"/>
              <a:t>（</a:t>
            </a:r>
            <a:r>
              <a:rPr lang="en-US" altLang="zh-CN" dirty="0"/>
              <a:t>Reduced Function Device</a:t>
            </a:r>
            <a:r>
              <a:rPr lang="zh-CN" altLang="zh-CN" dirty="0"/>
              <a:t>，</a:t>
            </a:r>
            <a:r>
              <a:rPr lang="en-US" altLang="zh-CN" dirty="0"/>
              <a:t>RFD</a:t>
            </a:r>
            <a:r>
              <a:rPr lang="zh-CN" altLang="zh-CN" dirty="0"/>
              <a:t>）</a:t>
            </a:r>
            <a:r>
              <a:rPr lang="zh-CN" altLang="zh-CN" dirty="0" smtClean="0"/>
              <a:t>。</a:t>
            </a:r>
            <a:endParaRPr lang="en-US" altLang="zh-CN" dirty="0" smtClean="0"/>
          </a:p>
          <a:p>
            <a:pPr lvl="1"/>
            <a:r>
              <a:rPr lang="en-US" altLang="zh-CN" dirty="0" smtClean="0"/>
              <a:t>FFD</a:t>
            </a:r>
            <a:r>
              <a:rPr lang="zh-CN" altLang="zh-CN" dirty="0"/>
              <a:t>作为网络的协调器，支持各种拓扑结构的网络的建立，也可以有效地降低成本和功耗</a:t>
            </a:r>
            <a:r>
              <a:rPr lang="zh-CN" altLang="zh-CN" dirty="0" smtClean="0"/>
              <a:t>。</a:t>
            </a:r>
            <a:endParaRPr lang="en-US" altLang="zh-CN" dirty="0" smtClean="0"/>
          </a:p>
          <a:p>
            <a:pPr lvl="1"/>
            <a:endParaRPr lang="en-US" altLang="zh-CN" dirty="0" smtClean="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黑体" panose="02010609060101010101" charset="-122"/>
              </a:rPr>
              <a:t>5.1.1  </a:t>
            </a:r>
            <a:r>
              <a:rPr lang="zh-CN" altLang="en-US" b="1" i="0" u="none" strike="noStrike" kern="100" baseline="0" dirty="0" smtClean="0">
                <a:solidFill>
                  <a:prstClr val="black"/>
                </a:solidFill>
                <a:latin typeface="Times New Roman" panose="02020603050405020304" charset="0"/>
                <a:ea typeface="黑体" panose="02010609060101010101" charset="-122"/>
              </a:rPr>
              <a:t>网络层的服务实体</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a:p>
            <a:pPr lvl="1"/>
            <a:r>
              <a:rPr lang="en-US" altLang="zh-CN" dirty="0" smtClean="0"/>
              <a:t>3</a:t>
            </a:r>
            <a:r>
              <a:rPr lang="zh-CN" altLang="zh-CN" dirty="0"/>
              <a:t>种</a:t>
            </a:r>
            <a:r>
              <a:rPr lang="zh-CN" altLang="zh-CN" dirty="0" smtClean="0"/>
              <a:t>网络拓扑结构：</a:t>
            </a:r>
            <a:endParaRPr lang="en-US" altLang="zh-CN" dirty="0" smtClean="0"/>
          </a:p>
          <a:p>
            <a:pPr lvl="2"/>
            <a:r>
              <a:rPr lang="zh-CN" altLang="zh-CN" dirty="0" smtClean="0">
                <a:solidFill>
                  <a:srgbClr val="FF0000"/>
                </a:solidFill>
              </a:rPr>
              <a:t>星形</a:t>
            </a:r>
            <a:r>
              <a:rPr lang="zh-CN" altLang="zh-CN" dirty="0">
                <a:solidFill>
                  <a:srgbClr val="FF0000"/>
                </a:solidFill>
              </a:rPr>
              <a:t>结构</a:t>
            </a:r>
            <a:r>
              <a:rPr lang="zh-CN" altLang="zh-CN" dirty="0"/>
              <a:t>（</a:t>
            </a:r>
            <a:r>
              <a:rPr lang="en-US" altLang="zh-CN" dirty="0"/>
              <a:t>Star</a:t>
            </a:r>
            <a:r>
              <a:rPr lang="zh-CN" altLang="zh-CN" dirty="0" smtClean="0"/>
              <a:t>）</a:t>
            </a:r>
            <a:endParaRPr lang="en-US" altLang="zh-CN" dirty="0" smtClean="0"/>
          </a:p>
          <a:p>
            <a:pPr lvl="2"/>
            <a:r>
              <a:rPr lang="zh-CN" altLang="zh-CN" dirty="0" smtClean="0">
                <a:solidFill>
                  <a:srgbClr val="FF0000"/>
                </a:solidFill>
              </a:rPr>
              <a:t>树形</a:t>
            </a:r>
            <a:r>
              <a:rPr lang="zh-CN" altLang="zh-CN" dirty="0">
                <a:solidFill>
                  <a:srgbClr val="FF0000"/>
                </a:solidFill>
              </a:rPr>
              <a:t>结构</a:t>
            </a:r>
            <a:r>
              <a:rPr lang="zh-CN" altLang="zh-CN" dirty="0"/>
              <a:t>（</a:t>
            </a:r>
            <a:r>
              <a:rPr lang="en-US" altLang="zh-CN" dirty="0"/>
              <a:t>Cluster tree</a:t>
            </a:r>
            <a:r>
              <a:rPr lang="zh-CN" altLang="zh-CN" dirty="0" smtClean="0"/>
              <a:t>）</a:t>
            </a:r>
            <a:endParaRPr lang="en-US" altLang="zh-CN" dirty="0" smtClean="0"/>
          </a:p>
          <a:p>
            <a:pPr lvl="2"/>
            <a:r>
              <a:rPr lang="zh-CN" altLang="zh-CN" dirty="0" smtClean="0">
                <a:solidFill>
                  <a:srgbClr val="FF0000"/>
                </a:solidFill>
              </a:rPr>
              <a:t>网状结构</a:t>
            </a:r>
            <a:r>
              <a:rPr lang="zh-CN" altLang="zh-CN" dirty="0"/>
              <a:t>（</a:t>
            </a:r>
            <a:r>
              <a:rPr lang="en-US" altLang="zh-CN" dirty="0" smtClean="0"/>
              <a:t>Mesh</a:t>
            </a:r>
            <a:r>
              <a:rPr lang="zh-CN" altLang="en-US" dirty="0" smtClean="0"/>
              <a:t>）</a:t>
            </a:r>
            <a:endParaRPr lang="en-US" altLang="zh-CN" dirty="0" smtClean="0"/>
          </a:p>
        </p:txBody>
      </p:sp>
      <p:pic>
        <p:nvPicPr>
          <p:cNvPr id="4" name="图片 3"/>
          <p:cNvPicPr>
            <a:picLocks noChangeAspect="1"/>
          </p:cNvPicPr>
          <p:nvPr/>
        </p:nvPicPr>
        <p:blipFill>
          <a:blip r:embed="rId1"/>
          <a:stretch>
            <a:fillRect/>
          </a:stretch>
        </p:blipFill>
        <p:spPr>
          <a:xfrm>
            <a:off x="4949589" y="3798094"/>
            <a:ext cx="5684545" cy="2776701"/>
          </a:xfrm>
          <a:prstGeom prst="rect">
            <a:avLst/>
          </a:prstGeom>
        </p:spPr>
      </p:pic>
      <p:sp>
        <p:nvSpPr>
          <p:cNvPr id="6" name="标题 5"/>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5.1.2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路由协议的基本问题</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zh-CN" altLang="en-US" b="1" kern="100" dirty="0" smtClean="0">
                <a:solidFill>
                  <a:srgbClr val="FF0000"/>
                </a:solidFill>
                <a:latin typeface="Times New Roman" panose="02020603050405020304" charset="0"/>
                <a:ea typeface="宋体" panose="02010600030101010101" pitchFamily="2" charset="-122"/>
              </a:rPr>
              <a:t>路由选择</a:t>
            </a:r>
            <a:r>
              <a:rPr lang="en-US" altLang="zh-CN" b="1" kern="100" dirty="0" smtClean="0">
                <a:solidFill>
                  <a:prstClr val="black"/>
                </a:solidFill>
                <a:latin typeface="Times New Roman" panose="02020603050405020304" charset="0"/>
                <a:ea typeface="宋体" panose="02010600030101010101" pitchFamily="2" charset="-122"/>
              </a:rPr>
              <a:t>:</a:t>
            </a:r>
            <a:r>
              <a:rPr lang="zh-CN" altLang="en-US" b="1" kern="100" dirty="0" smtClean="0">
                <a:solidFill>
                  <a:prstClr val="black"/>
                </a:solidFill>
                <a:latin typeface="Times New Roman" panose="02020603050405020304" charset="0"/>
                <a:ea typeface="宋体" panose="02010600030101010101" pitchFamily="2" charset="-122"/>
              </a:rPr>
              <a:t>寻找</a:t>
            </a:r>
            <a:r>
              <a:rPr lang="zh-CN" altLang="en-US" b="1" kern="100" dirty="0">
                <a:solidFill>
                  <a:prstClr val="black"/>
                </a:solidFill>
                <a:latin typeface="Times New Roman" panose="02020603050405020304" charset="0"/>
                <a:ea typeface="宋体" panose="02010600030101010101" pitchFamily="2" charset="-122"/>
              </a:rPr>
              <a:t>一条符合一定条件的路径作为从源节点到目的节点的传输</a:t>
            </a:r>
            <a:r>
              <a:rPr lang="zh-CN" altLang="en-US" b="1" kern="100" dirty="0" smtClean="0">
                <a:solidFill>
                  <a:prstClr val="black"/>
                </a:solidFill>
                <a:latin typeface="Times New Roman" panose="02020603050405020304" charset="0"/>
                <a:ea typeface="宋体" panose="02010600030101010101" pitchFamily="2" charset="-122"/>
              </a:rPr>
              <a:t>路径</a:t>
            </a:r>
            <a:endParaRPr lang="en-US" altLang="zh-CN" b="1" kern="100" dirty="0" smtClean="0">
              <a:solidFill>
                <a:prstClr val="black"/>
              </a:solidFill>
              <a:latin typeface="Times New Roman" panose="02020603050405020304" charset="0"/>
              <a:ea typeface="宋体" panose="02010600030101010101" pitchFamily="2" charset="-122"/>
            </a:endParaRPr>
          </a:p>
          <a:p>
            <a:pPr lvl="1"/>
            <a:r>
              <a:rPr lang="zh-CN" altLang="zh-CN" dirty="0" smtClean="0">
                <a:solidFill>
                  <a:srgbClr val="FF0000"/>
                </a:solidFill>
              </a:rPr>
              <a:t>路由算法</a:t>
            </a:r>
            <a:r>
              <a:rPr lang="zh-CN" altLang="zh-CN" dirty="0"/>
              <a:t>初始化并维护包含路径信息的</a:t>
            </a:r>
            <a:r>
              <a:rPr lang="zh-CN" altLang="zh-CN" dirty="0">
                <a:solidFill>
                  <a:srgbClr val="FF0000"/>
                </a:solidFill>
              </a:rPr>
              <a:t>路由表</a:t>
            </a:r>
            <a:r>
              <a:rPr lang="zh-CN" altLang="zh-CN" dirty="0"/>
              <a:t>。路由算法根据目的地址和下一跳地址等诸多信息填充路由表。节点在通信过程中通过</a:t>
            </a:r>
            <a:r>
              <a:rPr lang="zh-CN" altLang="zh-CN" dirty="0">
                <a:solidFill>
                  <a:srgbClr val="FF0000"/>
                </a:solidFill>
              </a:rPr>
              <a:t>交换路由信息</a:t>
            </a:r>
            <a:r>
              <a:rPr lang="zh-CN" altLang="zh-CN" dirty="0"/>
              <a:t>各自维护自身的路由表，路由更新信息通常包含全部或者部分路由表信息，通过分析来自其他节点的路由更新信息来进行优化分析，</a:t>
            </a:r>
            <a:r>
              <a:rPr lang="zh-CN" altLang="zh-CN" dirty="0">
                <a:solidFill>
                  <a:srgbClr val="FF0000"/>
                </a:solidFill>
              </a:rPr>
              <a:t>选择最优路径</a:t>
            </a:r>
            <a:r>
              <a:rPr lang="zh-CN" altLang="zh-CN" dirty="0" smtClean="0"/>
              <a:t>。</a:t>
            </a:r>
            <a:endParaRPr lang="en-US" altLang="zh-CN" dirty="0" smtClean="0"/>
          </a:p>
          <a:p>
            <a:pPr lvl="1"/>
            <a:r>
              <a:rPr lang="zh-CN" altLang="zh-CN" dirty="0" smtClean="0"/>
              <a:t>每个</a:t>
            </a:r>
            <a:r>
              <a:rPr lang="zh-CN" altLang="zh-CN" dirty="0"/>
              <a:t>节点可以建立一个网络拓扑图，节点之间还发送</a:t>
            </a:r>
            <a:r>
              <a:rPr lang="zh-CN" altLang="zh-CN" dirty="0">
                <a:solidFill>
                  <a:srgbClr val="FF0000"/>
                </a:solidFill>
              </a:rPr>
              <a:t>链接状态广播信息</a:t>
            </a:r>
            <a:r>
              <a:rPr lang="zh-CN" altLang="zh-CN" dirty="0"/>
              <a:t>来通知其他节点数据源的链路状态，根据链接信息来</a:t>
            </a:r>
            <a:r>
              <a:rPr lang="zh-CN" altLang="zh-CN" dirty="0">
                <a:solidFill>
                  <a:srgbClr val="FF0000"/>
                </a:solidFill>
              </a:rPr>
              <a:t>构建完整可靠的网络拓扑图</a:t>
            </a:r>
            <a:r>
              <a:rPr lang="zh-CN" altLang="zh-CN" dirty="0"/>
              <a:t>，使节点路由算法能够选择最优路径。</a:t>
            </a:r>
            <a:endParaRPr lang="zh-CN" altLang="zh-CN" dirty="0"/>
          </a:p>
          <a:p>
            <a:pPr lvl="1"/>
            <a:endParaRPr lang="zh-CN" altLang="en-US" b="1" i="0" u="none" strike="noStrike" kern="100" baseline="0" dirty="0" smtClean="0">
              <a:solidFill>
                <a:prstClr val="black"/>
              </a:solidFill>
              <a:latin typeface="Times New Roman" panose="02020603050405020304" charset="0"/>
              <a:ea typeface="宋体" panose="02010600030101010101" pitchFamily="2" charset="-122"/>
            </a:endParaRPr>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5.1.2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路由协议的基本问题</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zh-CN" altLang="zh-CN" dirty="0">
                <a:solidFill>
                  <a:srgbClr val="FF0000"/>
                </a:solidFill>
              </a:rPr>
              <a:t>数据</a:t>
            </a:r>
            <a:r>
              <a:rPr lang="zh-CN" altLang="zh-CN" dirty="0" smtClean="0">
                <a:solidFill>
                  <a:srgbClr val="FF0000"/>
                </a:solidFill>
              </a:rPr>
              <a:t>转发</a:t>
            </a:r>
            <a:r>
              <a:rPr lang="en-US" altLang="zh-CN" dirty="0" smtClean="0"/>
              <a:t>:</a:t>
            </a:r>
            <a:r>
              <a:rPr lang="zh-CN" altLang="zh-CN" dirty="0" smtClean="0"/>
              <a:t>将</a:t>
            </a:r>
            <a:r>
              <a:rPr lang="zh-CN" altLang="zh-CN" dirty="0"/>
              <a:t>数据分组沿着选择的传输路径进行转发</a:t>
            </a:r>
            <a:r>
              <a:rPr lang="zh-CN" altLang="zh-CN" dirty="0" smtClean="0"/>
              <a:t>。</a:t>
            </a:r>
            <a:endParaRPr lang="en-US" altLang="zh-CN" dirty="0" smtClean="0"/>
          </a:p>
          <a:p>
            <a:pPr lvl="2"/>
            <a:r>
              <a:rPr lang="en-US" altLang="zh-CN" dirty="0" smtClean="0"/>
              <a:t>WSN</a:t>
            </a:r>
            <a:r>
              <a:rPr lang="zh-CN" altLang="en-US" dirty="0" smtClean="0"/>
              <a:t>中的</a:t>
            </a:r>
            <a:r>
              <a:rPr lang="zh-CN" altLang="zh-CN" dirty="0" smtClean="0"/>
              <a:t>数据</a:t>
            </a:r>
            <a:r>
              <a:rPr lang="zh-CN" altLang="zh-CN" dirty="0"/>
              <a:t>交换相对比较简单，而且各种</a:t>
            </a:r>
            <a:r>
              <a:rPr lang="zh-CN" altLang="zh-CN" dirty="0" smtClean="0"/>
              <a:t>不同路由算法</a:t>
            </a:r>
            <a:r>
              <a:rPr lang="zh-CN" altLang="zh-CN" dirty="0"/>
              <a:t>具有相同的数据交换算法</a:t>
            </a:r>
            <a:r>
              <a:rPr lang="zh-CN" altLang="zh-CN" dirty="0" smtClean="0"/>
              <a:t>。</a:t>
            </a:r>
            <a:endParaRPr lang="en-US" altLang="zh-CN" dirty="0" smtClean="0"/>
          </a:p>
          <a:p>
            <a:pPr lvl="1"/>
            <a:r>
              <a:rPr lang="zh-CN" altLang="zh-CN" dirty="0" smtClean="0"/>
              <a:t>源</a:t>
            </a:r>
            <a:r>
              <a:rPr lang="zh-CN" altLang="zh-CN" dirty="0"/>
              <a:t>节点向目的节点发送</a:t>
            </a:r>
            <a:r>
              <a:rPr lang="zh-CN" altLang="zh-CN" dirty="0" smtClean="0"/>
              <a:t>数据</a:t>
            </a:r>
            <a:r>
              <a:rPr lang="zh-CN" altLang="en-US" dirty="0" smtClean="0"/>
              <a:t>：</a:t>
            </a:r>
            <a:endParaRPr lang="en-US" altLang="zh-CN" dirty="0" smtClean="0"/>
          </a:p>
          <a:p>
            <a:pPr lvl="2"/>
            <a:r>
              <a:rPr lang="zh-CN" altLang="zh-CN" dirty="0" smtClean="0"/>
              <a:t>通过</a:t>
            </a:r>
            <a:r>
              <a:rPr lang="zh-CN" altLang="zh-CN" dirty="0"/>
              <a:t>某些方法获得中继节点的地址以后，</a:t>
            </a:r>
            <a:r>
              <a:rPr lang="zh-CN" altLang="zh-CN" dirty="0">
                <a:solidFill>
                  <a:srgbClr val="FF0000"/>
                </a:solidFill>
              </a:rPr>
              <a:t>源节点向中继节点发送数据包</a:t>
            </a:r>
            <a:r>
              <a:rPr lang="zh-CN" altLang="zh-CN" dirty="0"/>
              <a:t>，该数据包中的</a:t>
            </a:r>
            <a:r>
              <a:rPr lang="en-US" altLang="zh-CN" dirty="0"/>
              <a:t>IP</a:t>
            </a:r>
            <a:r>
              <a:rPr lang="zh-CN" altLang="zh-CN" dirty="0"/>
              <a:t>地址指向目的节点</a:t>
            </a:r>
            <a:r>
              <a:rPr lang="zh-CN" altLang="zh-CN" dirty="0" smtClean="0"/>
              <a:t>。</a:t>
            </a:r>
            <a:endParaRPr lang="en-US" altLang="zh-CN" dirty="0" smtClean="0"/>
          </a:p>
          <a:p>
            <a:pPr lvl="2"/>
            <a:r>
              <a:rPr lang="zh-CN" altLang="zh-CN" dirty="0" smtClean="0"/>
              <a:t>中继</a:t>
            </a:r>
            <a:r>
              <a:rPr lang="zh-CN" altLang="zh-CN" dirty="0"/>
              <a:t>节点查看了数据包的目的节点地址后，</a:t>
            </a:r>
            <a:r>
              <a:rPr lang="zh-CN" altLang="zh-CN" dirty="0">
                <a:solidFill>
                  <a:srgbClr val="FF0000"/>
                </a:solidFill>
              </a:rPr>
              <a:t>确定是否知道如何转发该包</a:t>
            </a:r>
            <a:r>
              <a:rPr lang="zh-CN" altLang="zh-CN" dirty="0"/>
              <a:t>；如果</a:t>
            </a:r>
            <a:r>
              <a:rPr lang="zh-CN" altLang="zh-CN" dirty="0" smtClean="0"/>
              <a:t>不知道</a:t>
            </a:r>
            <a:r>
              <a:rPr lang="zh-CN" altLang="zh-CN" dirty="0"/>
              <a:t>，则丢弃该包</a:t>
            </a:r>
            <a:r>
              <a:rPr lang="zh-CN" altLang="zh-CN" dirty="0" smtClean="0"/>
              <a:t>；</a:t>
            </a:r>
            <a:endParaRPr lang="en-US" altLang="zh-CN" dirty="0" smtClean="0"/>
          </a:p>
          <a:p>
            <a:pPr lvl="2"/>
            <a:r>
              <a:rPr lang="zh-CN" altLang="zh-CN" dirty="0" smtClean="0"/>
              <a:t>如果</a:t>
            </a:r>
            <a:r>
              <a:rPr lang="zh-CN" altLang="zh-CN" dirty="0"/>
              <a:t>知道则按照路由表信息进行</a:t>
            </a:r>
            <a:r>
              <a:rPr lang="zh-CN" altLang="zh-CN" dirty="0">
                <a:solidFill>
                  <a:srgbClr val="FF0000"/>
                </a:solidFill>
              </a:rPr>
              <a:t>转发</a:t>
            </a:r>
            <a:r>
              <a:rPr lang="zh-CN" altLang="zh-CN" dirty="0"/>
              <a:t>，把目的物理地址变为下</a:t>
            </a:r>
            <a:r>
              <a:rPr lang="zh-CN" altLang="zh-CN" dirty="0" smtClean="0"/>
              <a:t>一</a:t>
            </a:r>
            <a:r>
              <a:rPr lang="zh-CN" altLang="en-US" dirty="0" smtClean="0"/>
              <a:t>跳</a:t>
            </a:r>
            <a:r>
              <a:rPr lang="zh-CN" altLang="zh-CN" dirty="0" smtClean="0"/>
              <a:t>的</a:t>
            </a:r>
            <a:r>
              <a:rPr lang="zh-CN" altLang="zh-CN" dirty="0"/>
              <a:t>物理地址并向之发送</a:t>
            </a:r>
            <a:r>
              <a:rPr lang="zh-CN" altLang="zh-CN" dirty="0" smtClean="0"/>
              <a:t>。</a:t>
            </a:r>
            <a:endParaRPr lang="en-US" altLang="zh-CN" dirty="0" smtClean="0"/>
          </a:p>
          <a:p>
            <a:pPr lvl="2"/>
            <a:r>
              <a:rPr lang="zh-CN" altLang="zh-CN" dirty="0" smtClean="0"/>
              <a:t>下一</a:t>
            </a:r>
            <a:r>
              <a:rPr lang="zh-CN" altLang="en-US" dirty="0" smtClean="0"/>
              <a:t>跳</a:t>
            </a:r>
            <a:r>
              <a:rPr lang="zh-CN" altLang="zh-CN" dirty="0" smtClean="0"/>
              <a:t>可能</a:t>
            </a:r>
            <a:r>
              <a:rPr lang="zh-CN" altLang="zh-CN" dirty="0"/>
              <a:t>是最终的目的节点，也有可能是下一级中继节点，当数据包在网络中流动时，其</a:t>
            </a:r>
            <a:r>
              <a:rPr lang="zh-CN" altLang="zh-CN" dirty="0">
                <a:solidFill>
                  <a:srgbClr val="FF0000"/>
                </a:solidFill>
              </a:rPr>
              <a:t>物理地址在改变，但是其</a:t>
            </a:r>
            <a:r>
              <a:rPr lang="en-US" altLang="zh-CN" dirty="0">
                <a:solidFill>
                  <a:srgbClr val="FF0000"/>
                </a:solidFill>
              </a:rPr>
              <a:t>IP</a:t>
            </a:r>
            <a:r>
              <a:rPr lang="zh-CN" altLang="zh-CN" dirty="0">
                <a:solidFill>
                  <a:srgbClr val="FF0000"/>
                </a:solidFill>
              </a:rPr>
              <a:t>地址始终不变</a:t>
            </a:r>
            <a:r>
              <a:rPr lang="zh-CN" altLang="zh-CN" dirty="0"/>
              <a:t>。</a:t>
            </a:r>
            <a:endParaRPr lang="zh-CN" altLang="en-US" b="1" i="0" u="none" strike="noStrike" kern="100" baseline="0" dirty="0" smtClean="0">
              <a:solidFill>
                <a:prstClr val="black"/>
              </a:solidFill>
              <a:latin typeface="Times New Roman" panose="02020603050405020304" charset="0"/>
              <a:ea typeface="宋体" panose="02010600030101010101" pitchFamily="2" charset="-122"/>
            </a:endParaRPr>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5.1.2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路由协议的基本问题</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en-US" altLang="zh-CN" dirty="0" smtClean="0"/>
              <a:t>WSN</a:t>
            </a:r>
            <a:r>
              <a:rPr lang="zh-CN" altLang="en-US" dirty="0" smtClean="0"/>
              <a:t>路由</a:t>
            </a:r>
            <a:r>
              <a:rPr lang="zh-CN" altLang="en-US" dirty="0"/>
              <a:t>协议必须考虑以下</a:t>
            </a:r>
            <a:r>
              <a:rPr lang="zh-CN" altLang="en-US" dirty="0" smtClean="0"/>
              <a:t>问题</a:t>
            </a:r>
            <a:r>
              <a:rPr lang="en-US" altLang="zh-CN" dirty="0" smtClean="0"/>
              <a:t>:</a:t>
            </a:r>
            <a:endParaRPr lang="zh-CN" altLang="en-US" dirty="0"/>
          </a:p>
          <a:p>
            <a:pPr lvl="1"/>
            <a:r>
              <a:rPr lang="zh-CN" altLang="en-US" dirty="0"/>
              <a:t>（</a:t>
            </a:r>
            <a:r>
              <a:rPr lang="en-US" altLang="zh-CN" dirty="0"/>
              <a:t>1</a:t>
            </a:r>
            <a:r>
              <a:rPr lang="zh-CN" altLang="en-US" dirty="0"/>
              <a:t>）</a:t>
            </a:r>
            <a:r>
              <a:rPr lang="zh-CN" altLang="en-US" b="1" dirty="0">
                <a:solidFill>
                  <a:srgbClr val="FF0000"/>
                </a:solidFill>
              </a:rPr>
              <a:t>低功耗</a:t>
            </a:r>
            <a:r>
              <a:rPr lang="zh-CN" altLang="en-US" b="1" dirty="0" smtClean="0"/>
              <a:t>：</a:t>
            </a:r>
            <a:r>
              <a:rPr lang="zh-CN" altLang="en-US" dirty="0" smtClean="0"/>
              <a:t>一般</a:t>
            </a:r>
            <a:r>
              <a:rPr lang="zh-CN" altLang="en-US" dirty="0"/>
              <a:t>采用电池供电，通常部署在恶劣环境下很难更换电池。</a:t>
            </a:r>
            <a:endParaRPr lang="zh-CN" altLang="en-US" dirty="0"/>
          </a:p>
          <a:p>
            <a:pPr lvl="1"/>
            <a:r>
              <a:rPr lang="zh-CN" altLang="en-US" dirty="0"/>
              <a:t>（</a:t>
            </a:r>
            <a:r>
              <a:rPr lang="en-US" altLang="zh-CN" dirty="0"/>
              <a:t>2</a:t>
            </a:r>
            <a:r>
              <a:rPr lang="zh-CN" altLang="en-US" dirty="0"/>
              <a:t>）</a:t>
            </a:r>
            <a:r>
              <a:rPr lang="zh-CN" altLang="en-US" b="1" dirty="0">
                <a:solidFill>
                  <a:srgbClr val="FF0000"/>
                </a:solidFill>
              </a:rPr>
              <a:t>可靠性</a:t>
            </a:r>
            <a:r>
              <a:rPr lang="zh-CN" altLang="en-US" b="1" dirty="0" smtClean="0"/>
              <a:t>：</a:t>
            </a:r>
            <a:r>
              <a:rPr lang="zh-CN" altLang="en-US" dirty="0" smtClean="0"/>
              <a:t>通过</a:t>
            </a:r>
            <a:r>
              <a:rPr lang="zh-CN" altLang="en-US" dirty="0"/>
              <a:t>无线信道传输数据容易出错，必须提供可靠的差错控制和校正机制来确保数据在交付时正确无误。</a:t>
            </a:r>
            <a:endParaRPr lang="zh-CN" altLang="en-US" dirty="0"/>
          </a:p>
          <a:p>
            <a:pPr lvl="1"/>
            <a:r>
              <a:rPr lang="zh-CN" altLang="en-US" dirty="0"/>
              <a:t>（</a:t>
            </a:r>
            <a:r>
              <a:rPr lang="en-US" altLang="zh-CN" dirty="0"/>
              <a:t>3</a:t>
            </a:r>
            <a:r>
              <a:rPr lang="zh-CN" altLang="en-US" dirty="0"/>
              <a:t>）</a:t>
            </a:r>
            <a:r>
              <a:rPr lang="zh-CN" altLang="en-US" b="1" dirty="0">
                <a:solidFill>
                  <a:srgbClr val="FF0000"/>
                </a:solidFill>
              </a:rPr>
              <a:t>自组织性</a:t>
            </a:r>
            <a:r>
              <a:rPr lang="zh-CN" altLang="en-US" b="1" dirty="0"/>
              <a:t>：</a:t>
            </a:r>
            <a:r>
              <a:rPr lang="zh-CN" altLang="en-US" dirty="0"/>
              <a:t>传感器节点在部署后自动组织成网络，当发生故障的节点需要退出或补充新的节点时，网络也能适应拓扑结构变化正常运行</a:t>
            </a:r>
            <a:r>
              <a:rPr lang="en-US" altLang="zh-CN" dirty="0"/>
              <a:t>.</a:t>
            </a:r>
            <a:endParaRPr lang="en-US" altLang="zh-CN" dirty="0"/>
          </a:p>
          <a:p>
            <a:pPr lvl="1"/>
            <a:r>
              <a:rPr lang="zh-CN" altLang="en-US" dirty="0"/>
              <a:t>（</a:t>
            </a:r>
            <a:r>
              <a:rPr lang="en-US" altLang="zh-CN" dirty="0"/>
              <a:t>4</a:t>
            </a:r>
            <a:r>
              <a:rPr lang="zh-CN" altLang="en-US" dirty="0"/>
              <a:t>）</a:t>
            </a:r>
            <a:r>
              <a:rPr lang="zh-CN" altLang="en-US" b="1" dirty="0">
                <a:solidFill>
                  <a:srgbClr val="FF0000"/>
                </a:solidFill>
              </a:rPr>
              <a:t>信道利用率</a:t>
            </a:r>
            <a:r>
              <a:rPr lang="zh-CN" altLang="en-US" b="1" dirty="0"/>
              <a:t>：</a:t>
            </a:r>
            <a:r>
              <a:rPr lang="zh-CN" altLang="en-US" dirty="0"/>
              <a:t>无线传感器网络带宽资源有限，</a:t>
            </a:r>
            <a:r>
              <a:rPr lang="zh-CN" altLang="en-US" dirty="0" smtClean="0"/>
              <a:t>应有</a:t>
            </a:r>
            <a:r>
              <a:rPr lang="zh-CN" altLang="en-US" dirty="0"/>
              <a:t>效地利用带宽，提高信道利用率</a:t>
            </a:r>
            <a:r>
              <a:rPr lang="zh-CN" altLang="en-US" dirty="0" smtClean="0"/>
              <a:t>。</a:t>
            </a:r>
            <a:endParaRPr lang="zh-CN" altLang="en-US"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5.1.2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路由协议的基本问题</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en-US" altLang="zh-CN" dirty="0" smtClean="0"/>
              <a:t>WSN</a:t>
            </a:r>
            <a:r>
              <a:rPr lang="zh-CN" altLang="en-US" dirty="0" smtClean="0"/>
              <a:t>路由</a:t>
            </a:r>
            <a:r>
              <a:rPr lang="zh-CN" altLang="en-US" dirty="0"/>
              <a:t>协议必须考虑以下</a:t>
            </a:r>
            <a:r>
              <a:rPr lang="zh-CN" altLang="en-US" dirty="0" smtClean="0"/>
              <a:t>问题</a:t>
            </a:r>
            <a:r>
              <a:rPr lang="en-US" altLang="zh-CN" dirty="0" smtClean="0"/>
              <a:t>:</a:t>
            </a:r>
            <a:endParaRPr lang="zh-CN" altLang="en-US" dirty="0"/>
          </a:p>
          <a:p>
            <a:pPr lvl="1"/>
            <a:r>
              <a:rPr lang="zh-CN" altLang="en-US" dirty="0" smtClean="0"/>
              <a:t>（</a:t>
            </a:r>
            <a:r>
              <a:rPr lang="en-US" altLang="zh-CN" dirty="0"/>
              <a:t>5</a:t>
            </a:r>
            <a:r>
              <a:rPr lang="zh-CN" altLang="en-US" dirty="0"/>
              <a:t>）</a:t>
            </a:r>
            <a:r>
              <a:rPr lang="zh-CN" altLang="en-US" b="1" dirty="0">
                <a:solidFill>
                  <a:srgbClr val="FF0000"/>
                </a:solidFill>
              </a:rPr>
              <a:t>容错性</a:t>
            </a:r>
            <a:r>
              <a:rPr lang="zh-CN" altLang="en-US" b="1" dirty="0"/>
              <a:t>：</a:t>
            </a:r>
            <a:r>
              <a:rPr lang="zh-CN" altLang="en-US" dirty="0"/>
              <a:t>传感器节点由于无人操作和部署环境的恶劣容易发生故障，</a:t>
            </a:r>
            <a:r>
              <a:rPr lang="zh-CN" altLang="en-US" dirty="0" smtClean="0"/>
              <a:t>所以应该</a:t>
            </a:r>
            <a:r>
              <a:rPr lang="zh-CN" altLang="en-US" dirty="0"/>
              <a:t>具有一定的容错能力，允许节点进行自我测试和自我修复。</a:t>
            </a:r>
            <a:endParaRPr lang="zh-CN" altLang="en-US" dirty="0"/>
          </a:p>
          <a:p>
            <a:pPr lvl="1"/>
            <a:r>
              <a:rPr lang="zh-CN" altLang="en-US" dirty="0"/>
              <a:t>（</a:t>
            </a:r>
            <a:r>
              <a:rPr lang="en-US" altLang="zh-CN" dirty="0"/>
              <a:t>6</a:t>
            </a:r>
            <a:r>
              <a:rPr lang="zh-CN" altLang="en-US" dirty="0"/>
              <a:t>）</a:t>
            </a:r>
            <a:r>
              <a:rPr lang="zh-CN" altLang="en-US" b="1" dirty="0">
                <a:solidFill>
                  <a:srgbClr val="FF0000"/>
                </a:solidFill>
              </a:rPr>
              <a:t>安全性</a:t>
            </a:r>
            <a:r>
              <a:rPr lang="zh-CN" altLang="en-US" b="1" dirty="0"/>
              <a:t>：</a:t>
            </a:r>
            <a:r>
              <a:rPr lang="zh-CN" altLang="en-US" dirty="0" smtClean="0"/>
              <a:t>无线传输</a:t>
            </a:r>
            <a:r>
              <a:rPr lang="zh-CN" altLang="en-US" dirty="0"/>
              <a:t>环境很容易被恶意攻击，无人看管的节点很容易被窃取数据，所以无线传感器网络应该提供有效的安全机制确保信息安全。</a:t>
            </a:r>
            <a:endParaRPr lang="zh-CN" altLang="en-US" dirty="0"/>
          </a:p>
          <a:p>
            <a:pPr lvl="1"/>
            <a:r>
              <a:rPr lang="zh-CN" altLang="en-US" dirty="0"/>
              <a:t>（</a:t>
            </a:r>
            <a:r>
              <a:rPr lang="en-US" altLang="zh-CN" dirty="0"/>
              <a:t>7</a:t>
            </a:r>
            <a:r>
              <a:rPr lang="zh-CN" altLang="en-US" dirty="0"/>
              <a:t>）</a:t>
            </a:r>
            <a:r>
              <a:rPr lang="en-US" altLang="zh-CN" b="1" dirty="0" err="1">
                <a:solidFill>
                  <a:srgbClr val="FF0000"/>
                </a:solidFill>
              </a:rPr>
              <a:t>QoS</a:t>
            </a:r>
            <a:r>
              <a:rPr lang="zh-CN" altLang="en-US" b="1" dirty="0">
                <a:solidFill>
                  <a:srgbClr val="FF0000"/>
                </a:solidFill>
              </a:rPr>
              <a:t>保障</a:t>
            </a:r>
            <a:r>
              <a:rPr lang="zh-CN" altLang="en-US" dirty="0"/>
              <a:t>：在无线传感器网络中，针对</a:t>
            </a:r>
            <a:r>
              <a:rPr lang="zh-CN" altLang="en-US" dirty="0" smtClean="0"/>
              <a:t>不同应用</a:t>
            </a:r>
            <a:r>
              <a:rPr lang="zh-CN" altLang="en-US" dirty="0"/>
              <a:t>需求往往要提供</a:t>
            </a:r>
            <a:r>
              <a:rPr lang="zh-CN" altLang="en-US" dirty="0" smtClean="0"/>
              <a:t>不同服务</a:t>
            </a:r>
            <a:r>
              <a:rPr lang="zh-CN" altLang="en-US" dirty="0"/>
              <a:t>质量。</a:t>
            </a:r>
            <a:endParaRPr lang="zh-CN" altLang="en-US"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5.1.3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路由的过程</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zh-CN" altLang="zh-CN" dirty="0" smtClean="0"/>
              <a:t>路由过程：</a:t>
            </a:r>
            <a:endParaRPr lang="zh-CN" altLang="zh-CN" dirty="0"/>
          </a:p>
          <a:p>
            <a:pPr lvl="1"/>
            <a:r>
              <a:rPr lang="zh-CN" altLang="zh-CN" dirty="0"/>
              <a:t>（</a:t>
            </a:r>
            <a:r>
              <a:rPr lang="en-US" altLang="zh-CN" dirty="0"/>
              <a:t>1</a:t>
            </a:r>
            <a:r>
              <a:rPr lang="zh-CN" altLang="zh-CN" dirty="0"/>
              <a:t>）某一个设备</a:t>
            </a:r>
            <a:r>
              <a:rPr lang="zh-CN" altLang="zh-CN" dirty="0">
                <a:solidFill>
                  <a:srgbClr val="FF0000"/>
                </a:solidFill>
              </a:rPr>
              <a:t>发出路由请求</a:t>
            </a:r>
            <a:r>
              <a:rPr lang="zh-CN" altLang="zh-CN" dirty="0"/>
              <a:t>命令帧，启动路由发现过程。</a:t>
            </a:r>
            <a:endParaRPr lang="zh-CN" altLang="zh-CN" dirty="0"/>
          </a:p>
          <a:p>
            <a:pPr lvl="1"/>
            <a:r>
              <a:rPr lang="zh-CN" altLang="zh-CN" dirty="0"/>
              <a:t>（</a:t>
            </a:r>
            <a:r>
              <a:rPr lang="en-US" altLang="zh-CN" dirty="0"/>
              <a:t>2</a:t>
            </a:r>
            <a:r>
              <a:rPr lang="zh-CN" altLang="zh-CN" dirty="0"/>
              <a:t>）对应的接收设备收到该命令后，</a:t>
            </a:r>
            <a:r>
              <a:rPr lang="zh-CN" altLang="zh-CN" dirty="0">
                <a:solidFill>
                  <a:srgbClr val="FF0000"/>
                </a:solidFill>
              </a:rPr>
              <a:t>回复应答</a:t>
            </a:r>
            <a:r>
              <a:rPr lang="zh-CN" altLang="zh-CN" dirty="0"/>
              <a:t>命令帧。</a:t>
            </a:r>
            <a:endParaRPr lang="zh-CN" altLang="zh-CN" dirty="0"/>
          </a:p>
          <a:p>
            <a:pPr lvl="1"/>
            <a:r>
              <a:rPr lang="zh-CN" altLang="zh-CN" dirty="0"/>
              <a:t>（</a:t>
            </a:r>
            <a:r>
              <a:rPr lang="en-US" altLang="zh-CN" dirty="0"/>
              <a:t>3</a:t>
            </a:r>
            <a:r>
              <a:rPr lang="zh-CN" altLang="zh-CN" dirty="0"/>
              <a:t>）对潜在的各条路径开销</a:t>
            </a:r>
            <a:r>
              <a:rPr lang="en-US" altLang="zh-CN" dirty="0"/>
              <a:t>(</a:t>
            </a:r>
            <a:r>
              <a:rPr lang="zh-CN" altLang="zh-CN" dirty="0"/>
              <a:t>跳转次数、延迟时间</a:t>
            </a:r>
            <a:r>
              <a:rPr lang="en-US" altLang="zh-CN" dirty="0"/>
              <a:t>)</a:t>
            </a:r>
            <a:r>
              <a:rPr lang="zh-CN" altLang="zh-CN" dirty="0"/>
              <a:t>，进行</a:t>
            </a:r>
            <a:r>
              <a:rPr lang="zh-CN" altLang="zh-CN" dirty="0">
                <a:solidFill>
                  <a:srgbClr val="FF0000"/>
                </a:solidFill>
              </a:rPr>
              <a:t>评估比较</a:t>
            </a:r>
            <a:r>
              <a:rPr lang="zh-CN" altLang="zh-CN" dirty="0"/>
              <a:t>。</a:t>
            </a:r>
            <a:endParaRPr lang="zh-CN" altLang="zh-CN" dirty="0"/>
          </a:p>
          <a:p>
            <a:pPr lvl="1"/>
            <a:r>
              <a:rPr lang="zh-CN" altLang="zh-CN" dirty="0"/>
              <a:t>（</a:t>
            </a:r>
            <a:r>
              <a:rPr lang="en-US" altLang="zh-CN" dirty="0"/>
              <a:t>4</a:t>
            </a:r>
            <a:r>
              <a:rPr lang="zh-CN" altLang="zh-CN" dirty="0"/>
              <a:t>）将评估确定之后的</a:t>
            </a:r>
            <a:r>
              <a:rPr lang="zh-CN" altLang="zh-CN" dirty="0">
                <a:solidFill>
                  <a:srgbClr val="FF0000"/>
                </a:solidFill>
              </a:rPr>
              <a:t>最佳路由</a:t>
            </a:r>
            <a:r>
              <a:rPr lang="zh-CN" altLang="zh-CN" dirty="0"/>
              <a:t>记录添加到此路径上各个</a:t>
            </a:r>
            <a:r>
              <a:rPr lang="zh-CN" altLang="zh-CN" dirty="0" smtClean="0"/>
              <a:t>设备路由</a:t>
            </a:r>
            <a:r>
              <a:rPr lang="zh-CN" altLang="zh-CN" dirty="0"/>
              <a:t>表中</a:t>
            </a:r>
            <a:r>
              <a:rPr lang="zh-CN" altLang="zh-CN" dirty="0" smtClean="0"/>
              <a:t>。</a:t>
            </a:r>
            <a:endParaRPr lang="zh-CN" altLang="zh-CN"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5.1.3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路由的过程</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zh-CN" altLang="en-US" dirty="0" smtClean="0">
                <a:solidFill>
                  <a:srgbClr val="FF0000"/>
                </a:solidFill>
              </a:rPr>
              <a:t>路由表</a:t>
            </a:r>
            <a:r>
              <a:rPr lang="zh-CN" altLang="en-US" dirty="0" smtClean="0"/>
              <a:t>：</a:t>
            </a:r>
            <a:r>
              <a:rPr lang="zh-CN" altLang="zh-CN" dirty="0" smtClean="0"/>
              <a:t>网络</a:t>
            </a:r>
            <a:r>
              <a:rPr lang="zh-CN" altLang="zh-CN" dirty="0"/>
              <a:t>中的各个节点都会保持一个路由表，该表由目的节点和下一跳地址所组成</a:t>
            </a:r>
            <a:r>
              <a:rPr lang="zh-CN" altLang="zh-CN" dirty="0" smtClean="0"/>
              <a:t>。</a:t>
            </a:r>
            <a:endParaRPr lang="en-US" altLang="zh-CN" dirty="0" smtClean="0"/>
          </a:p>
          <a:p>
            <a:pPr lvl="1"/>
            <a:r>
              <a:rPr lang="zh-CN" altLang="zh-CN" dirty="0"/>
              <a:t>路由器之间会相互通信通过</a:t>
            </a:r>
            <a:r>
              <a:rPr lang="zh-CN" altLang="zh-CN" dirty="0">
                <a:solidFill>
                  <a:srgbClr val="FF0000"/>
                </a:solidFill>
              </a:rPr>
              <a:t>交换路由信息维护其路由表</a:t>
            </a:r>
            <a:r>
              <a:rPr lang="zh-CN" altLang="zh-CN" dirty="0"/>
              <a:t>，路由更新信息通常包含全部或部分路由</a:t>
            </a:r>
            <a:r>
              <a:rPr lang="zh-CN" altLang="zh-CN" dirty="0" smtClean="0"/>
              <a:t>表</a:t>
            </a:r>
            <a:r>
              <a:rPr lang="zh-CN" altLang="en-US" dirty="0" smtClean="0"/>
              <a:t>，</a:t>
            </a:r>
            <a:r>
              <a:rPr lang="zh-CN" altLang="zh-CN" dirty="0" smtClean="0"/>
              <a:t>通过</a:t>
            </a:r>
            <a:r>
              <a:rPr lang="zh-CN" altLang="zh-CN" dirty="0"/>
              <a:t>分析其他路由器的更新信息，此路由器可以建立网络拓扑图。</a:t>
            </a:r>
            <a:r>
              <a:rPr lang="en-US" altLang="zh-CN" dirty="0"/>
              <a:t> </a:t>
            </a:r>
            <a:endParaRPr lang="zh-CN" altLang="en-US" b="1" i="0" u="none" strike="noStrike" kern="100" baseline="0" dirty="0" smtClean="0">
              <a:solidFill>
                <a:prstClr val="black"/>
              </a:solidFill>
              <a:latin typeface="Times New Roman" panose="02020603050405020304" charset="0"/>
              <a:ea typeface="宋体" panose="02010600030101010101" pitchFamily="2" charset="-122"/>
            </a:endParaRPr>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5.1.3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路由的过程</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en-US" altLang="zh-CN" dirty="0"/>
              <a:t>1</a:t>
            </a:r>
            <a:r>
              <a:rPr lang="zh-CN" altLang="zh-CN" dirty="0"/>
              <a:t>）初始化路由</a:t>
            </a:r>
            <a:r>
              <a:rPr lang="zh-CN" altLang="zh-CN" dirty="0" smtClean="0"/>
              <a:t>查找</a:t>
            </a:r>
            <a:endParaRPr lang="zh-CN" altLang="zh-CN" dirty="0"/>
          </a:p>
          <a:p>
            <a:pPr lvl="1"/>
            <a:r>
              <a:rPr lang="zh-CN" altLang="zh-CN" dirty="0"/>
              <a:t>若帧的目的地址不等于当前设备地址或广播地址，将启动路由查找过程，节点将发布</a:t>
            </a:r>
            <a:r>
              <a:rPr lang="zh-CN" altLang="zh-CN" dirty="0">
                <a:solidFill>
                  <a:srgbClr val="FF0000"/>
                </a:solidFill>
              </a:rPr>
              <a:t>路径请求命令</a:t>
            </a:r>
            <a:r>
              <a:rPr lang="zh-CN" altLang="zh-CN" dirty="0" smtClean="0">
                <a:solidFill>
                  <a:srgbClr val="FF0000"/>
                </a:solidFill>
              </a:rPr>
              <a:t>帧</a:t>
            </a:r>
            <a:r>
              <a:rPr lang="zh-CN" altLang="zh-CN" dirty="0" smtClean="0"/>
              <a:t>。</a:t>
            </a:r>
            <a:endParaRPr lang="en-US" altLang="zh-CN" dirty="0" smtClean="0"/>
          </a:p>
          <a:p>
            <a:pPr lvl="1"/>
            <a:r>
              <a:rPr lang="zh-CN" altLang="zh-CN" dirty="0" smtClean="0">
                <a:solidFill>
                  <a:srgbClr val="FF0000"/>
                </a:solidFill>
              </a:rPr>
              <a:t>路径</a:t>
            </a:r>
            <a:r>
              <a:rPr lang="zh-CN" altLang="zh-CN" dirty="0">
                <a:solidFill>
                  <a:srgbClr val="FF0000"/>
                </a:solidFill>
              </a:rPr>
              <a:t>请求</a:t>
            </a:r>
            <a:r>
              <a:rPr lang="zh-CN" altLang="zh-CN" dirty="0" smtClean="0">
                <a:solidFill>
                  <a:srgbClr val="FF0000"/>
                </a:solidFill>
              </a:rPr>
              <a:t>计数器</a:t>
            </a:r>
            <a:r>
              <a:rPr lang="zh-CN" altLang="zh-CN" dirty="0" smtClean="0"/>
              <a:t>被</a:t>
            </a:r>
            <a:r>
              <a:rPr lang="zh-CN" altLang="zh-CN" dirty="0"/>
              <a:t>装载，其值</a:t>
            </a:r>
            <a:r>
              <a:rPr lang="zh-CN" altLang="zh-CN" dirty="0" smtClean="0"/>
              <a:t>存储路径</a:t>
            </a:r>
            <a:r>
              <a:rPr lang="zh-CN" altLang="zh-CN" dirty="0"/>
              <a:t>查找表的</a:t>
            </a:r>
            <a:r>
              <a:rPr lang="zh-CN" altLang="zh-CN" dirty="0">
                <a:solidFill>
                  <a:srgbClr val="FF0000"/>
                </a:solidFill>
              </a:rPr>
              <a:t>路径请求</a:t>
            </a:r>
            <a:r>
              <a:rPr lang="zh-CN" altLang="zh-CN" dirty="0" smtClean="0">
                <a:solidFill>
                  <a:srgbClr val="FF0000"/>
                </a:solidFill>
              </a:rPr>
              <a:t>标识符</a:t>
            </a:r>
            <a:r>
              <a:rPr lang="zh-CN" altLang="en-US" dirty="0" smtClean="0"/>
              <a:t>。</a:t>
            </a:r>
            <a:r>
              <a:rPr lang="en-US" altLang="zh-CN" dirty="0"/>
              <a:t> </a:t>
            </a:r>
            <a:endParaRPr lang="en-US" altLang="zh-CN" dirty="0" smtClean="0"/>
          </a:p>
          <a:p>
            <a:pPr lvl="1"/>
            <a:r>
              <a:rPr lang="zh-CN" altLang="zh-CN" dirty="0" smtClean="0"/>
              <a:t>装载</a:t>
            </a:r>
            <a:r>
              <a:rPr lang="zh-CN" altLang="zh-CN" dirty="0" smtClean="0"/>
              <a:t>一</a:t>
            </a:r>
            <a:r>
              <a:rPr lang="zh-CN" altLang="zh-CN" dirty="0"/>
              <a:t>个</a:t>
            </a:r>
            <a:r>
              <a:rPr lang="zh-CN" altLang="zh-CN" dirty="0">
                <a:solidFill>
                  <a:srgbClr val="FF0000"/>
                </a:solidFill>
              </a:rPr>
              <a:t>路径请求计时器</a:t>
            </a:r>
            <a:r>
              <a:rPr lang="zh-CN" altLang="zh-CN" dirty="0" smtClean="0"/>
              <a:t>，限定</a:t>
            </a:r>
            <a:r>
              <a:rPr lang="zh-CN" altLang="zh-CN" dirty="0"/>
              <a:t>了查找路径可用的时间，当计时器终止时，设备会删除路径查找表中相关的记录。</a:t>
            </a:r>
            <a:endParaRPr lang="zh-CN" altLang="en-US" b="1" i="0" u="none" strike="noStrike" kern="100" baseline="0" dirty="0" smtClean="0">
              <a:solidFill>
                <a:prstClr val="black"/>
              </a:solidFill>
              <a:latin typeface="Times New Roman" panose="02020603050405020304" charset="0"/>
              <a:ea typeface="宋体" panose="02010600030101010101" pitchFamily="2" charset="-122"/>
            </a:endParaRPr>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5.1.3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路由的过程</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en-US" altLang="zh-CN" dirty="0"/>
              <a:t>2</a:t>
            </a:r>
            <a:r>
              <a:rPr lang="zh-CN" altLang="zh-CN" dirty="0"/>
              <a:t>）建立虚拟</a:t>
            </a:r>
            <a:r>
              <a:rPr lang="zh-CN" altLang="zh-CN" dirty="0" smtClean="0"/>
              <a:t>路径</a:t>
            </a:r>
            <a:endParaRPr lang="zh-CN" altLang="zh-CN" dirty="0"/>
          </a:p>
          <a:p>
            <a:pPr lvl="2"/>
            <a:r>
              <a:rPr lang="zh-CN" altLang="zh-CN" dirty="0"/>
              <a:t>接收到路径请求命令帧后，设备首先要</a:t>
            </a:r>
            <a:r>
              <a:rPr lang="zh-CN" altLang="zh-CN" b="1" dirty="0">
                <a:solidFill>
                  <a:srgbClr val="FF0000"/>
                </a:solidFill>
              </a:rPr>
              <a:t>判定自己还有没有路由容量</a:t>
            </a:r>
            <a:r>
              <a:rPr lang="zh-CN" altLang="zh-CN" dirty="0"/>
              <a:t>。</a:t>
            </a:r>
            <a:endParaRPr lang="en-US" altLang="zh-CN" dirty="0" smtClean="0"/>
          </a:p>
          <a:p>
            <a:pPr lvl="2"/>
            <a:r>
              <a:rPr lang="zh-CN" altLang="zh-CN" dirty="0" smtClean="0"/>
              <a:t>帧</a:t>
            </a:r>
            <a:r>
              <a:rPr lang="zh-CN" altLang="zh-CN" dirty="0"/>
              <a:t>由设备的子节点发送后，系统</a:t>
            </a:r>
            <a:r>
              <a:rPr lang="zh-CN" altLang="zh-CN" b="1" dirty="0">
                <a:solidFill>
                  <a:srgbClr val="FF0000"/>
                </a:solidFill>
              </a:rPr>
              <a:t>判定</a:t>
            </a:r>
            <a:r>
              <a:rPr lang="zh-CN" altLang="zh-CN" b="1" dirty="0" smtClean="0">
                <a:solidFill>
                  <a:srgbClr val="FF0000"/>
                </a:solidFill>
              </a:rPr>
              <a:t>路径</a:t>
            </a:r>
            <a:r>
              <a:rPr lang="zh-CN" altLang="en-US" b="1" dirty="0" smtClean="0">
                <a:solidFill>
                  <a:srgbClr val="FF0000"/>
                </a:solidFill>
              </a:rPr>
              <a:t>是否</a:t>
            </a:r>
            <a:r>
              <a:rPr lang="zh-CN" altLang="zh-CN" b="1" dirty="0" smtClean="0">
                <a:solidFill>
                  <a:srgbClr val="FF0000"/>
                </a:solidFill>
              </a:rPr>
              <a:t>有效</a:t>
            </a:r>
            <a:r>
              <a:rPr lang="zh-CN" altLang="en-US" dirty="0" smtClean="0"/>
              <a:t>；</a:t>
            </a:r>
            <a:endParaRPr lang="en-US" altLang="zh-CN" dirty="0" smtClean="0"/>
          </a:p>
          <a:p>
            <a:pPr lvl="2"/>
            <a:r>
              <a:rPr lang="zh-CN" altLang="en-US" dirty="0" smtClean="0"/>
              <a:t>如是</a:t>
            </a:r>
            <a:r>
              <a:rPr lang="zh-CN" altLang="zh-CN" b="1" dirty="0">
                <a:solidFill>
                  <a:srgbClr val="FF0000"/>
                </a:solidFill>
              </a:rPr>
              <a:t>路径请求命令帧的</a:t>
            </a:r>
            <a:r>
              <a:rPr lang="zh-CN" altLang="zh-CN" b="1" dirty="0" smtClean="0">
                <a:solidFill>
                  <a:srgbClr val="FF0000"/>
                </a:solidFill>
              </a:rPr>
              <a:t>目的地</a:t>
            </a:r>
            <a:r>
              <a:rPr lang="zh-CN" altLang="zh-CN" dirty="0" smtClean="0"/>
              <a:t>设备</a:t>
            </a:r>
            <a:r>
              <a:rPr lang="zh-CN" altLang="en-US" dirty="0" smtClean="0"/>
              <a:t>，</a:t>
            </a:r>
            <a:r>
              <a:rPr lang="zh-CN" altLang="zh-CN" dirty="0" smtClean="0"/>
              <a:t>会</a:t>
            </a:r>
            <a:r>
              <a:rPr lang="zh-CN" altLang="zh-CN" dirty="0"/>
              <a:t>对路径查找表进行搜索，查找与路径请求标识符</a:t>
            </a:r>
            <a:r>
              <a:rPr lang="en-US" altLang="zh-CN" dirty="0"/>
              <a:t>(ID)</a:t>
            </a:r>
            <a:r>
              <a:rPr lang="zh-CN" altLang="zh-CN" dirty="0"/>
              <a:t>及源地址一致的记录</a:t>
            </a:r>
            <a:r>
              <a:rPr lang="zh-CN" altLang="zh-CN" dirty="0" smtClean="0"/>
              <a:t>项</a:t>
            </a:r>
            <a:r>
              <a:rPr lang="zh-CN" altLang="en-US" dirty="0" smtClean="0"/>
              <a:t>；</a:t>
            </a:r>
            <a:endParaRPr lang="en-US" altLang="zh-CN" dirty="0" smtClean="0"/>
          </a:p>
          <a:p>
            <a:pPr lvl="3"/>
            <a:r>
              <a:rPr lang="zh-CN" altLang="zh-CN" dirty="0" smtClean="0"/>
              <a:t>若</a:t>
            </a:r>
            <a:r>
              <a:rPr lang="zh-CN" altLang="zh-CN" dirty="0"/>
              <a:t>记录项不存在，路径查找表会为之创建一个新的记录项</a:t>
            </a:r>
            <a:r>
              <a:rPr lang="zh-CN" altLang="zh-CN" dirty="0" smtClean="0"/>
              <a:t>。</a:t>
            </a:r>
            <a:endParaRPr lang="en-US" altLang="zh-CN" dirty="0" smtClean="0"/>
          </a:p>
          <a:p>
            <a:pPr lvl="3"/>
            <a:r>
              <a:rPr lang="zh-CN" altLang="zh-CN" dirty="0" smtClean="0"/>
              <a:t>否则</a:t>
            </a:r>
            <a:r>
              <a:rPr lang="zh-CN" altLang="zh-CN" dirty="0"/>
              <a:t>设备将</a:t>
            </a:r>
            <a:r>
              <a:rPr lang="zh-CN" altLang="zh-CN" dirty="0">
                <a:solidFill>
                  <a:srgbClr val="FF0000"/>
                </a:solidFill>
              </a:rPr>
              <a:t>比较</a:t>
            </a:r>
            <a:r>
              <a:rPr lang="zh-CN" altLang="zh-CN" dirty="0"/>
              <a:t>路径请求命令帧中的路径损耗值与查找表中的向前损耗域值，</a:t>
            </a:r>
            <a:r>
              <a:rPr lang="zh-CN" altLang="zh-CN" dirty="0">
                <a:solidFill>
                  <a:srgbClr val="FF0000"/>
                </a:solidFill>
              </a:rPr>
              <a:t>选择</a:t>
            </a:r>
            <a:r>
              <a:rPr lang="zh-CN" altLang="zh-CN" dirty="0"/>
              <a:t>更合适的路径</a:t>
            </a:r>
            <a:r>
              <a:rPr lang="zh-CN" altLang="zh-CN" dirty="0" smtClean="0"/>
              <a:t>。</a:t>
            </a:r>
            <a:endParaRPr lang="en-US" altLang="zh-CN" dirty="0" smtClean="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5.1.3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路由的过程</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en-US" altLang="zh-CN" dirty="0"/>
              <a:t>2</a:t>
            </a:r>
            <a:r>
              <a:rPr lang="zh-CN" altLang="zh-CN" dirty="0"/>
              <a:t>）建立虚拟</a:t>
            </a:r>
            <a:r>
              <a:rPr lang="zh-CN" altLang="zh-CN" dirty="0" smtClean="0"/>
              <a:t>路径</a:t>
            </a:r>
            <a:endParaRPr lang="zh-CN" altLang="zh-CN" dirty="0"/>
          </a:p>
          <a:p>
            <a:pPr lvl="2"/>
            <a:r>
              <a:rPr lang="zh-CN" altLang="zh-CN" dirty="0" smtClean="0"/>
              <a:t>如果</a:t>
            </a:r>
            <a:r>
              <a:rPr lang="zh-CN" altLang="zh-CN" dirty="0"/>
              <a:t>设备</a:t>
            </a:r>
            <a:r>
              <a:rPr lang="zh-CN" altLang="zh-CN" dirty="0">
                <a:solidFill>
                  <a:srgbClr val="FF0000"/>
                </a:solidFill>
              </a:rPr>
              <a:t>不是路径请求命令帧的目的地</a:t>
            </a:r>
            <a:r>
              <a:rPr lang="zh-CN" altLang="zh-CN" dirty="0" smtClean="0"/>
              <a:t>，将</a:t>
            </a:r>
            <a:r>
              <a:rPr lang="zh-CN" altLang="zh-CN" dirty="0"/>
              <a:t>搜索路径查找表，查找与路径请求</a:t>
            </a:r>
            <a:r>
              <a:rPr lang="en-US" altLang="zh-CN" dirty="0"/>
              <a:t>ID</a:t>
            </a:r>
            <a:r>
              <a:rPr lang="zh-CN" altLang="zh-CN" dirty="0"/>
              <a:t>及源地址域一致的记录</a:t>
            </a:r>
            <a:r>
              <a:rPr lang="zh-CN" altLang="zh-CN" dirty="0" smtClean="0"/>
              <a:t>。</a:t>
            </a:r>
            <a:endParaRPr lang="en-US" altLang="zh-CN" dirty="0" smtClean="0"/>
          </a:p>
          <a:p>
            <a:pPr lvl="2"/>
            <a:r>
              <a:rPr lang="zh-CN" altLang="zh-CN" dirty="0" smtClean="0"/>
              <a:t>如果</a:t>
            </a:r>
            <a:r>
              <a:rPr lang="zh-CN" altLang="zh-CN" dirty="0"/>
              <a:t>查找表中原来就含有与目的地址相对应的记录，</a:t>
            </a:r>
            <a:r>
              <a:rPr lang="zh-CN" altLang="zh-CN" dirty="0" smtClean="0"/>
              <a:t>则</a:t>
            </a:r>
            <a:r>
              <a:rPr lang="zh-CN" altLang="zh-CN" dirty="0">
                <a:solidFill>
                  <a:srgbClr val="FF0000"/>
                </a:solidFill>
              </a:rPr>
              <a:t>比较</a:t>
            </a:r>
            <a:r>
              <a:rPr lang="zh-CN" altLang="zh-CN" dirty="0" smtClean="0"/>
              <a:t>该</a:t>
            </a:r>
            <a:r>
              <a:rPr lang="zh-CN" altLang="zh-CN" dirty="0"/>
              <a:t>记录中的前向损耗</a:t>
            </a:r>
            <a:r>
              <a:rPr lang="zh-CN" altLang="zh-CN" dirty="0" smtClean="0"/>
              <a:t>值与</a:t>
            </a:r>
            <a:r>
              <a:rPr lang="zh-CN" altLang="zh-CN" dirty="0"/>
              <a:t>路径请求命令帧中的路径损耗</a:t>
            </a:r>
            <a:r>
              <a:rPr lang="zh-CN" altLang="zh-CN" dirty="0" smtClean="0"/>
              <a:t>值</a:t>
            </a:r>
            <a:r>
              <a:rPr lang="zh-CN" altLang="en-US" dirty="0" smtClean="0"/>
              <a:t>，并将</a:t>
            </a:r>
            <a:r>
              <a:rPr lang="zh-CN" altLang="zh-CN" dirty="0" smtClean="0"/>
              <a:t>记录</a:t>
            </a:r>
            <a:r>
              <a:rPr lang="zh-CN" altLang="zh-CN" dirty="0"/>
              <a:t>中的前向损耗及上一级发送</a:t>
            </a:r>
            <a:r>
              <a:rPr lang="zh-CN" altLang="zh-CN" dirty="0" smtClean="0"/>
              <a:t>地址</a:t>
            </a:r>
            <a:r>
              <a:rPr lang="zh-CN" altLang="en-US" dirty="0" smtClean="0">
                <a:solidFill>
                  <a:srgbClr val="FF0000"/>
                </a:solidFill>
              </a:rPr>
              <a:t>更新</a:t>
            </a:r>
            <a:r>
              <a:rPr lang="zh-CN" altLang="en-US" dirty="0" smtClean="0"/>
              <a:t>为</a:t>
            </a:r>
            <a:r>
              <a:rPr lang="zh-CN" altLang="zh-CN" dirty="0" smtClean="0"/>
              <a:t>请求</a:t>
            </a:r>
            <a:r>
              <a:rPr lang="zh-CN" altLang="zh-CN" dirty="0"/>
              <a:t>命令帧中的</a:t>
            </a:r>
            <a:r>
              <a:rPr lang="zh-CN" altLang="zh-CN" dirty="0">
                <a:solidFill>
                  <a:srgbClr val="FF0000"/>
                </a:solidFill>
              </a:rPr>
              <a:t>新路径损耗及前一级</a:t>
            </a:r>
            <a:r>
              <a:rPr lang="zh-CN" altLang="zh-CN" dirty="0" smtClean="0">
                <a:solidFill>
                  <a:srgbClr val="FF0000"/>
                </a:solidFill>
              </a:rPr>
              <a:t>设备地址</a:t>
            </a:r>
            <a:r>
              <a:rPr lang="zh-CN" altLang="en-US" dirty="0" smtClean="0"/>
              <a:t>。</a:t>
            </a:r>
            <a:endParaRPr lang="zh-CN" altLang="en-US" b="1" i="0" u="none" strike="noStrike" kern="100" baseline="0" dirty="0" smtClean="0">
              <a:solidFill>
                <a:prstClr val="black"/>
              </a:solidFill>
              <a:latin typeface="Times New Roman" panose="02020603050405020304" charset="0"/>
              <a:ea typeface="宋体" panose="02010600030101010101" pitchFamily="2" charset="-122"/>
            </a:endParaRPr>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5.1.3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路由的过程</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en-US" altLang="zh-CN" dirty="0"/>
              <a:t>3</a:t>
            </a:r>
            <a:r>
              <a:rPr lang="zh-CN" altLang="zh-CN" dirty="0"/>
              <a:t>）确认</a:t>
            </a:r>
            <a:r>
              <a:rPr lang="zh-CN" altLang="zh-CN" dirty="0" smtClean="0"/>
              <a:t>路径</a:t>
            </a:r>
            <a:endParaRPr lang="en-US" altLang="zh-CN" dirty="0" smtClean="0"/>
          </a:p>
          <a:p>
            <a:pPr lvl="2"/>
            <a:r>
              <a:rPr lang="zh-CN" altLang="zh-CN" dirty="0"/>
              <a:t>接收到</a:t>
            </a:r>
            <a:r>
              <a:rPr lang="zh-CN" altLang="zh-CN" dirty="0">
                <a:solidFill>
                  <a:srgbClr val="FF0000"/>
                </a:solidFill>
              </a:rPr>
              <a:t>路径应答帧</a:t>
            </a:r>
            <a:r>
              <a:rPr lang="zh-CN" altLang="zh-CN" dirty="0"/>
              <a:t>后</a:t>
            </a:r>
            <a:r>
              <a:rPr lang="zh-CN" altLang="zh-CN" dirty="0" smtClean="0"/>
              <a:t>，</a:t>
            </a:r>
            <a:r>
              <a:rPr lang="zh-CN" altLang="en-US" dirty="0" smtClean="0"/>
              <a:t>如果设备</a:t>
            </a:r>
            <a:r>
              <a:rPr lang="zh-CN" altLang="zh-CN" dirty="0" smtClean="0"/>
              <a:t>自身</a:t>
            </a:r>
            <a:r>
              <a:rPr lang="zh-CN" altLang="zh-CN" dirty="0"/>
              <a:t>就是路径应答命令帧的</a:t>
            </a:r>
            <a:r>
              <a:rPr lang="zh-CN" altLang="zh-CN" dirty="0" smtClean="0"/>
              <a:t>目的地，</a:t>
            </a:r>
            <a:r>
              <a:rPr lang="zh-CN" altLang="zh-CN" dirty="0"/>
              <a:t>设备将</a:t>
            </a:r>
            <a:r>
              <a:rPr lang="zh-CN" altLang="zh-CN" dirty="0" smtClean="0"/>
              <a:t>搜索路径</a:t>
            </a:r>
            <a:r>
              <a:rPr lang="zh-CN" altLang="zh-CN" dirty="0"/>
              <a:t>查找</a:t>
            </a:r>
            <a:r>
              <a:rPr lang="zh-CN" altLang="zh-CN" dirty="0" smtClean="0"/>
              <a:t>表查找</a:t>
            </a:r>
            <a:r>
              <a:rPr lang="zh-CN" altLang="zh-CN" dirty="0"/>
              <a:t>与应答</a:t>
            </a:r>
            <a:r>
              <a:rPr lang="zh-CN" altLang="zh-CN" dirty="0" smtClean="0"/>
              <a:t>帧路径</a:t>
            </a:r>
            <a:r>
              <a:rPr lang="zh-CN" altLang="zh-CN" dirty="0"/>
              <a:t>请求</a:t>
            </a:r>
            <a:r>
              <a:rPr lang="en-US" altLang="zh-CN" dirty="0"/>
              <a:t>ID</a:t>
            </a:r>
            <a:r>
              <a:rPr lang="zh-CN" altLang="zh-CN" dirty="0"/>
              <a:t>相对应的记录</a:t>
            </a:r>
            <a:r>
              <a:rPr lang="zh-CN" altLang="zh-CN" dirty="0" smtClean="0"/>
              <a:t>；</a:t>
            </a:r>
            <a:endParaRPr lang="en-US" altLang="zh-CN" dirty="0" smtClean="0"/>
          </a:p>
          <a:p>
            <a:pPr lvl="2"/>
            <a:r>
              <a:rPr lang="zh-CN" altLang="zh-CN" dirty="0" smtClean="0"/>
              <a:t>接着</a:t>
            </a:r>
            <a:r>
              <a:rPr lang="zh-CN" altLang="zh-CN" dirty="0"/>
              <a:t>搜索它的路由</a:t>
            </a:r>
            <a:r>
              <a:rPr lang="zh-CN" altLang="zh-CN" dirty="0" smtClean="0"/>
              <a:t>表</a:t>
            </a:r>
            <a:r>
              <a:rPr lang="zh-CN" altLang="zh-CN" dirty="0" smtClean="0">
                <a:solidFill>
                  <a:srgbClr val="FF0000"/>
                </a:solidFill>
              </a:rPr>
              <a:t>查找</a:t>
            </a:r>
            <a:r>
              <a:rPr lang="zh-CN" altLang="zh-CN" dirty="0">
                <a:solidFill>
                  <a:srgbClr val="FF0000"/>
                </a:solidFill>
              </a:rPr>
              <a:t>与应答帧的回应地址相一致的记录</a:t>
            </a:r>
            <a:r>
              <a:rPr lang="zh-CN" altLang="zh-CN" dirty="0" smtClean="0"/>
              <a:t>。</a:t>
            </a:r>
            <a:endParaRPr lang="en-US" altLang="zh-CN" dirty="0" smtClean="0"/>
          </a:p>
          <a:p>
            <a:pPr lvl="2"/>
            <a:r>
              <a:rPr lang="zh-CN" altLang="zh-CN" dirty="0" smtClean="0"/>
              <a:t>若都</a:t>
            </a:r>
            <a:r>
              <a:rPr lang="zh-CN" altLang="zh-CN" dirty="0"/>
              <a:t>存在与应答</a:t>
            </a:r>
            <a:r>
              <a:rPr lang="zh-CN" altLang="zh-CN" dirty="0" smtClean="0"/>
              <a:t>相关记录</a:t>
            </a:r>
            <a:r>
              <a:rPr lang="zh-CN" altLang="zh-CN" dirty="0"/>
              <a:t>，且路由表中相关</a:t>
            </a:r>
            <a:r>
              <a:rPr lang="zh-CN" altLang="zh-CN" dirty="0" smtClean="0"/>
              <a:t>记录状态</a:t>
            </a:r>
            <a:r>
              <a:rPr lang="zh-CN" altLang="zh-CN" dirty="0"/>
              <a:t>域为查找进行中，则该状态将被重置为激活，且路由表中相关记录的下一跳地址即为传输路径应答帧的前一级设备。而路径查找表中相关记录的后向损耗值即为路径应答帧中的路径损耗</a:t>
            </a:r>
            <a:r>
              <a:rPr lang="zh-CN" altLang="zh-CN" dirty="0" smtClean="0"/>
              <a:t>。</a:t>
            </a:r>
            <a:endParaRPr lang="zh-CN" altLang="zh-CN"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5.1.3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路由的过程</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en-US" altLang="zh-CN" dirty="0"/>
              <a:t>3</a:t>
            </a:r>
            <a:r>
              <a:rPr lang="zh-CN" altLang="zh-CN" dirty="0"/>
              <a:t>）确认</a:t>
            </a:r>
            <a:r>
              <a:rPr lang="zh-CN" altLang="zh-CN" dirty="0" smtClean="0"/>
              <a:t>路径</a:t>
            </a:r>
            <a:endParaRPr lang="en-US" altLang="zh-CN" dirty="0" smtClean="0"/>
          </a:p>
          <a:p>
            <a:pPr lvl="2"/>
            <a:r>
              <a:rPr lang="zh-CN" altLang="zh-CN" dirty="0" smtClean="0"/>
              <a:t>若</a:t>
            </a:r>
            <a:r>
              <a:rPr lang="zh-CN" altLang="zh-CN" dirty="0"/>
              <a:t>接收到应答帧的设备</a:t>
            </a:r>
            <a:r>
              <a:rPr lang="zh-CN" altLang="zh-CN" dirty="0">
                <a:solidFill>
                  <a:srgbClr val="FF0000"/>
                </a:solidFill>
              </a:rPr>
              <a:t>并不是应答帧的目的地</a:t>
            </a:r>
            <a:r>
              <a:rPr lang="zh-CN" altLang="zh-CN" dirty="0"/>
              <a:t>，设备将搜索路径查找表，查找与应答帧的源设备地址及路径请求</a:t>
            </a:r>
            <a:r>
              <a:rPr lang="en-US" altLang="zh-CN" dirty="0"/>
              <a:t> ID </a:t>
            </a:r>
            <a:r>
              <a:rPr lang="zh-CN" altLang="zh-CN" dirty="0"/>
              <a:t>相一致的记录项</a:t>
            </a:r>
            <a:r>
              <a:rPr lang="zh-CN" altLang="zh-CN" dirty="0" smtClean="0"/>
              <a:t>。</a:t>
            </a:r>
            <a:endParaRPr lang="en-US" altLang="zh-CN" dirty="0" smtClean="0"/>
          </a:p>
          <a:p>
            <a:pPr lvl="2"/>
            <a:r>
              <a:rPr lang="zh-CN" altLang="zh-CN" dirty="0" smtClean="0"/>
              <a:t>若</a:t>
            </a:r>
            <a:r>
              <a:rPr lang="zh-CN" altLang="zh-CN" dirty="0"/>
              <a:t>查找失败，路径应答帧会被</a:t>
            </a:r>
            <a:r>
              <a:rPr lang="zh-CN" altLang="zh-CN" dirty="0" smtClean="0"/>
              <a:t>抛弃</a:t>
            </a:r>
            <a:r>
              <a:rPr lang="zh-CN" altLang="en-US" dirty="0" smtClean="0"/>
              <a:t>；</a:t>
            </a:r>
            <a:endParaRPr lang="en-US" altLang="zh-CN" dirty="0" smtClean="0"/>
          </a:p>
          <a:p>
            <a:pPr lvl="2"/>
            <a:r>
              <a:rPr lang="zh-CN" altLang="zh-CN" dirty="0" smtClean="0"/>
              <a:t>当</a:t>
            </a:r>
            <a:r>
              <a:rPr lang="zh-CN" altLang="zh-CN" dirty="0">
                <a:solidFill>
                  <a:srgbClr val="FF0000"/>
                </a:solidFill>
              </a:rPr>
              <a:t>后向损耗小于</a:t>
            </a:r>
            <a:r>
              <a:rPr lang="zh-CN" altLang="zh-CN" dirty="0" smtClean="0">
                <a:solidFill>
                  <a:srgbClr val="FF0000"/>
                </a:solidFill>
              </a:rPr>
              <a:t>路径</a:t>
            </a:r>
            <a:r>
              <a:rPr lang="zh-CN" altLang="en-US" dirty="0" smtClean="0">
                <a:solidFill>
                  <a:srgbClr val="FF0000"/>
                </a:solidFill>
              </a:rPr>
              <a:t>损</a:t>
            </a:r>
            <a:r>
              <a:rPr lang="zh-CN" altLang="zh-CN" dirty="0" smtClean="0">
                <a:solidFill>
                  <a:srgbClr val="FF0000"/>
                </a:solidFill>
              </a:rPr>
              <a:t>耗</a:t>
            </a:r>
            <a:r>
              <a:rPr lang="zh-CN" altLang="zh-CN" dirty="0">
                <a:solidFill>
                  <a:srgbClr val="FF0000"/>
                </a:solidFill>
              </a:rPr>
              <a:t>值</a:t>
            </a:r>
            <a:r>
              <a:rPr lang="zh-CN" altLang="zh-CN" dirty="0"/>
              <a:t>时，路径应答帧被</a:t>
            </a:r>
            <a:r>
              <a:rPr lang="zh-CN" altLang="zh-CN" dirty="0">
                <a:solidFill>
                  <a:srgbClr val="FF0000"/>
                </a:solidFill>
              </a:rPr>
              <a:t>抛弃</a:t>
            </a:r>
            <a:r>
              <a:rPr lang="zh-CN" altLang="zh-CN" dirty="0"/>
              <a:t>；当</a:t>
            </a:r>
            <a:r>
              <a:rPr lang="zh-CN" altLang="zh-CN" dirty="0">
                <a:solidFill>
                  <a:srgbClr val="FF0000"/>
                </a:solidFill>
              </a:rPr>
              <a:t>后向损耗大于路径损耗</a:t>
            </a:r>
            <a:r>
              <a:rPr lang="zh-CN" altLang="zh-CN" dirty="0"/>
              <a:t>时，设备将接着在路由表中</a:t>
            </a:r>
            <a:r>
              <a:rPr lang="zh-CN" altLang="zh-CN" dirty="0">
                <a:solidFill>
                  <a:srgbClr val="FF0000"/>
                </a:solidFill>
              </a:rPr>
              <a:t>查找</a:t>
            </a:r>
            <a:r>
              <a:rPr lang="zh-CN" altLang="zh-CN" dirty="0"/>
              <a:t>与应答帧中的回应地址</a:t>
            </a:r>
            <a:r>
              <a:rPr lang="zh-CN" altLang="zh-CN" dirty="0">
                <a:solidFill>
                  <a:srgbClr val="FF0000"/>
                </a:solidFill>
              </a:rPr>
              <a:t>相对应的记录项</a:t>
            </a:r>
            <a:r>
              <a:rPr lang="zh-CN" altLang="zh-CN" dirty="0" smtClean="0"/>
              <a:t>。</a:t>
            </a:r>
            <a:endParaRPr lang="en-US" altLang="zh-CN" dirty="0" smtClean="0"/>
          </a:p>
          <a:p>
            <a:pPr lvl="2"/>
            <a:r>
              <a:rPr lang="zh-CN" altLang="zh-CN" dirty="0" smtClean="0"/>
              <a:t>若</a:t>
            </a:r>
            <a:r>
              <a:rPr lang="zh-CN" altLang="zh-CN" dirty="0"/>
              <a:t>路由查找表中存在相关项，而路由表中不存在，则错误产生，应答帧被抛弃。否则，路由表中相关项的</a:t>
            </a:r>
            <a:r>
              <a:rPr lang="zh-CN" altLang="zh-CN" dirty="0">
                <a:solidFill>
                  <a:srgbClr val="FF0000"/>
                </a:solidFill>
              </a:rPr>
              <a:t>下一跳地址</a:t>
            </a:r>
            <a:r>
              <a:rPr lang="zh-CN" altLang="zh-CN" dirty="0"/>
              <a:t>会被传输应答帧的前一级设备地址所</a:t>
            </a:r>
            <a:r>
              <a:rPr lang="zh-CN" altLang="zh-CN" dirty="0">
                <a:solidFill>
                  <a:srgbClr val="FF0000"/>
                </a:solidFill>
              </a:rPr>
              <a:t>更新</a:t>
            </a:r>
            <a:r>
              <a:rPr lang="zh-CN" altLang="zh-CN" dirty="0"/>
              <a:t>，而路径查找表中相关项的</a:t>
            </a:r>
            <a:r>
              <a:rPr lang="zh-CN" altLang="zh-CN" dirty="0">
                <a:solidFill>
                  <a:srgbClr val="FF0000"/>
                </a:solidFill>
              </a:rPr>
              <a:t>后向损耗域</a:t>
            </a:r>
            <a:r>
              <a:rPr lang="zh-CN" altLang="zh-CN" dirty="0"/>
              <a:t>也会被应答帧中的路径损耗所</a:t>
            </a:r>
            <a:r>
              <a:rPr lang="zh-CN" altLang="zh-CN" dirty="0">
                <a:solidFill>
                  <a:srgbClr val="FF0000"/>
                </a:solidFill>
              </a:rPr>
              <a:t>更新</a:t>
            </a:r>
            <a:r>
              <a:rPr lang="zh-CN" altLang="zh-CN" dirty="0"/>
              <a:t>、对相关记录更新完毕后，设备会继续传输路径应答帧。</a:t>
            </a:r>
            <a:endParaRPr lang="zh-CN" altLang="zh-CN"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5.1.4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传感器网络路由的评价标准</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zh-CN" altLang="en-US" dirty="0" smtClean="0"/>
              <a:t>考虑因素：应用的</a:t>
            </a:r>
            <a:r>
              <a:rPr lang="zh-CN" altLang="zh-CN" dirty="0" smtClean="0"/>
              <a:t>路由提供</a:t>
            </a:r>
            <a:r>
              <a:rPr lang="zh-CN" altLang="zh-CN" dirty="0" smtClean="0">
                <a:solidFill>
                  <a:srgbClr val="FF0000"/>
                </a:solidFill>
              </a:rPr>
              <a:t>服务质量</a:t>
            </a:r>
            <a:r>
              <a:rPr lang="zh-CN" altLang="en-US" dirty="0" smtClean="0">
                <a:solidFill>
                  <a:srgbClr val="FF0000"/>
                </a:solidFill>
              </a:rPr>
              <a:t>要求</a:t>
            </a:r>
            <a:r>
              <a:rPr lang="zh-CN" altLang="zh-CN" dirty="0" smtClean="0"/>
              <a:t>，</a:t>
            </a:r>
            <a:r>
              <a:rPr lang="zh-CN" altLang="zh-CN" dirty="0" smtClean="0">
                <a:solidFill>
                  <a:srgbClr val="FF0000"/>
                </a:solidFill>
              </a:rPr>
              <a:t>传感器</a:t>
            </a:r>
            <a:r>
              <a:rPr lang="zh-CN" altLang="zh-CN" dirty="0">
                <a:solidFill>
                  <a:srgbClr val="FF0000"/>
                </a:solidFill>
              </a:rPr>
              <a:t>网络</a:t>
            </a:r>
            <a:r>
              <a:rPr lang="zh-CN" altLang="zh-CN" dirty="0"/>
              <a:t>、</a:t>
            </a:r>
            <a:r>
              <a:rPr lang="zh-CN" altLang="zh-CN" dirty="0">
                <a:solidFill>
                  <a:srgbClr val="FF0000"/>
                </a:solidFill>
              </a:rPr>
              <a:t>节点</a:t>
            </a:r>
            <a:r>
              <a:rPr lang="zh-CN" altLang="zh-CN" dirty="0" smtClean="0"/>
              <a:t>特性</a:t>
            </a:r>
            <a:endParaRPr lang="en-US" altLang="zh-CN" dirty="0" smtClean="0"/>
          </a:p>
          <a:p>
            <a:pPr lvl="1"/>
            <a:r>
              <a:rPr lang="zh-CN" altLang="en-US" dirty="0" smtClean="0"/>
              <a:t>主要标准：</a:t>
            </a:r>
            <a:endParaRPr lang="en-US" altLang="zh-CN" dirty="0" smtClean="0"/>
          </a:p>
          <a:p>
            <a:pPr lvl="1"/>
            <a:r>
              <a:rPr lang="zh-CN" altLang="zh-CN" dirty="0"/>
              <a:t>（</a:t>
            </a:r>
            <a:r>
              <a:rPr lang="en-US" altLang="zh-CN" dirty="0"/>
              <a:t>1</a:t>
            </a:r>
            <a:r>
              <a:rPr lang="zh-CN" altLang="zh-CN" dirty="0"/>
              <a:t>）</a:t>
            </a:r>
            <a:r>
              <a:rPr lang="zh-CN" altLang="zh-CN" dirty="0">
                <a:solidFill>
                  <a:srgbClr val="FF0000"/>
                </a:solidFill>
              </a:rPr>
              <a:t>能耗</a:t>
            </a:r>
            <a:r>
              <a:rPr lang="zh-CN" altLang="zh-CN" dirty="0"/>
              <a:t>：传感器节点能量受限，路由协议</a:t>
            </a:r>
            <a:r>
              <a:rPr lang="zh-CN" altLang="zh-CN" dirty="0" smtClean="0"/>
              <a:t>应当能量高效</a:t>
            </a:r>
            <a:r>
              <a:rPr lang="zh-CN" altLang="en-US" dirty="0" smtClean="0"/>
              <a:t>，</a:t>
            </a:r>
            <a:r>
              <a:rPr lang="zh-CN" altLang="zh-CN" dirty="0" smtClean="0"/>
              <a:t>路由</a:t>
            </a:r>
            <a:r>
              <a:rPr lang="zh-CN" altLang="zh-CN" dirty="0"/>
              <a:t>协议本身消耗的能量（如邻居发现）不能过大</a:t>
            </a:r>
            <a:r>
              <a:rPr lang="zh-CN" altLang="zh-CN" dirty="0" smtClean="0"/>
              <a:t>；均衡</a:t>
            </a:r>
            <a:r>
              <a:rPr lang="zh-CN" altLang="zh-CN" dirty="0"/>
              <a:t>整个</a:t>
            </a:r>
            <a:r>
              <a:rPr lang="zh-CN" altLang="zh-CN" dirty="0" smtClean="0"/>
              <a:t>网络能量消耗。</a:t>
            </a:r>
            <a:endParaRPr lang="zh-CN" altLang="zh-CN" sz="3200" dirty="0"/>
          </a:p>
          <a:p>
            <a:pPr lvl="1"/>
            <a:r>
              <a:rPr lang="zh-CN" altLang="zh-CN" dirty="0"/>
              <a:t>（</a:t>
            </a:r>
            <a:r>
              <a:rPr lang="en-US" altLang="zh-CN" dirty="0"/>
              <a:t>2</a:t>
            </a:r>
            <a:r>
              <a:rPr lang="zh-CN" altLang="zh-CN" dirty="0"/>
              <a:t>）</a:t>
            </a:r>
            <a:r>
              <a:rPr lang="zh-CN" altLang="zh-CN" dirty="0">
                <a:solidFill>
                  <a:srgbClr val="FF0000"/>
                </a:solidFill>
              </a:rPr>
              <a:t>鲁棒性</a:t>
            </a:r>
            <a:r>
              <a:rPr lang="zh-CN" altLang="zh-CN" dirty="0"/>
              <a:t>：路由机制针对网络拓扑结构变化需要具备一定的容错能力。在实际的部署环境中，由于能量耗尽或环境因素，传感器节点可能提前死亡</a:t>
            </a:r>
            <a:r>
              <a:rPr lang="en-US" altLang="zh-CN" dirty="0"/>
              <a:t>;</a:t>
            </a:r>
            <a:r>
              <a:rPr lang="zh-CN" altLang="zh-CN" dirty="0"/>
              <a:t>由于节点加入、移动或链路变化，导致链路稳定性差、时有时无</a:t>
            </a:r>
            <a:r>
              <a:rPr lang="zh-CN" altLang="zh-CN" dirty="0" smtClean="0"/>
              <a:t>。</a:t>
            </a:r>
            <a:endParaRPr lang="zh-CN" altLang="zh-CN" sz="3200"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marR="0" lvl="0" rt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5.1.4  </a:t>
            </a:r>
            <a:r>
              <a:rPr lang="zh-CN" altLang="en-US" b="1" i="0" u="none" strike="noStrike" kern="100" baseline="0" dirty="0" smtClean="0">
                <a:solidFill>
                  <a:prstClr val="black"/>
                </a:solidFill>
                <a:latin typeface="Times New Roman" panose="02020603050405020304" charset="0"/>
                <a:ea typeface="宋体" panose="02010600030101010101" pitchFamily="2" charset="-122"/>
              </a:rPr>
              <a:t>传感器网络路由的评价标准</a:t>
            </a:r>
            <a:endParaRPr lang="en-US" altLang="zh-CN" b="1" i="0" u="none" strike="noStrike" kern="100" baseline="0" dirty="0" smtClean="0">
              <a:solidFill>
                <a:prstClr val="black"/>
              </a:solidFill>
              <a:latin typeface="Times New Roman" panose="02020603050405020304" charset="0"/>
              <a:ea typeface="宋体" panose="02010600030101010101" pitchFamily="2" charset="-122"/>
            </a:endParaRPr>
          </a:p>
          <a:p>
            <a:pPr lvl="1"/>
            <a:r>
              <a:rPr lang="zh-CN" altLang="zh-CN" dirty="0" smtClean="0"/>
              <a:t>（</a:t>
            </a:r>
            <a:r>
              <a:rPr lang="en-US" altLang="zh-CN" dirty="0"/>
              <a:t>3</a:t>
            </a:r>
            <a:r>
              <a:rPr lang="zh-CN" altLang="zh-CN" dirty="0"/>
              <a:t>）</a:t>
            </a:r>
            <a:r>
              <a:rPr lang="zh-CN" altLang="zh-CN" dirty="0">
                <a:solidFill>
                  <a:srgbClr val="FF0000"/>
                </a:solidFill>
              </a:rPr>
              <a:t>快速收敛性</a:t>
            </a:r>
            <a:r>
              <a:rPr lang="zh-CN" altLang="zh-CN" dirty="0"/>
              <a:t>：由于传感器网络的拓扑结构动态变化，传感器节点能量和通信带宽等资源有限，要求路由机制要能够快速收敛，以适应网络拓扑的动态变化，减少通信开销，提高消息传输的效率。</a:t>
            </a:r>
            <a:endParaRPr lang="zh-CN" altLang="zh-CN" sz="3200" dirty="0"/>
          </a:p>
          <a:p>
            <a:pPr lvl="1"/>
            <a:r>
              <a:rPr lang="zh-CN" altLang="zh-CN" dirty="0"/>
              <a:t>（</a:t>
            </a:r>
            <a:r>
              <a:rPr lang="en-US" altLang="zh-CN" dirty="0"/>
              <a:t>4</a:t>
            </a:r>
            <a:r>
              <a:rPr lang="zh-CN" altLang="zh-CN" dirty="0"/>
              <a:t>）</a:t>
            </a:r>
            <a:r>
              <a:rPr lang="zh-CN" altLang="zh-CN" dirty="0">
                <a:solidFill>
                  <a:srgbClr val="FF0000"/>
                </a:solidFill>
              </a:rPr>
              <a:t>服务质量要求</a:t>
            </a:r>
            <a:r>
              <a:rPr lang="zh-CN" altLang="zh-CN" dirty="0" smtClean="0"/>
              <a:t>：要</a:t>
            </a:r>
            <a:r>
              <a:rPr lang="zh-CN" altLang="zh-CN" dirty="0"/>
              <a:t>满足应用本身的服务质量要求，如端到端延迟、吞吐率、可靠性等方面</a:t>
            </a:r>
            <a:r>
              <a:rPr lang="en-US" altLang="zh-CN" dirty="0"/>
              <a:t>;</a:t>
            </a:r>
            <a:r>
              <a:rPr lang="zh-CN" altLang="zh-CN" dirty="0"/>
              <a:t>网络状态动态变化，因此要求路由协议能够在适应这种变化的同时，保障服务质量。</a:t>
            </a:r>
            <a:endParaRPr lang="zh-CN" altLang="zh-CN" sz="3200" dirty="0"/>
          </a:p>
          <a:p>
            <a:pPr lvl="1"/>
            <a:r>
              <a:rPr lang="zh-CN" altLang="zh-CN" dirty="0"/>
              <a:t>（</a:t>
            </a:r>
            <a:r>
              <a:rPr lang="en-US" altLang="zh-CN" dirty="0"/>
              <a:t>5</a:t>
            </a:r>
            <a:r>
              <a:rPr lang="zh-CN" altLang="zh-CN" dirty="0"/>
              <a:t>）</a:t>
            </a:r>
            <a:r>
              <a:rPr lang="zh-CN" altLang="zh-CN" dirty="0">
                <a:solidFill>
                  <a:srgbClr val="FF0000"/>
                </a:solidFill>
              </a:rPr>
              <a:t>可扩展性</a:t>
            </a:r>
            <a:r>
              <a:rPr lang="zh-CN" altLang="zh-CN" dirty="0"/>
              <a:t>：传感器网络路由应当能适应网络规模、密度的变化。不同的应用中，监测区域范围和节点部署密度不同，要求路由机制具有可扩展性，能够适应网络结构的变化</a:t>
            </a:r>
            <a:r>
              <a:rPr lang="zh-CN" altLang="zh-CN" dirty="0" smtClean="0"/>
              <a:t>。</a:t>
            </a:r>
            <a:endParaRPr lang="zh-CN" altLang="en-US" b="1" i="0" u="none" strike="noStrike" kern="100" baseline="0" dirty="0" smtClean="0">
              <a:solidFill>
                <a:prstClr val="black"/>
              </a:solidFill>
              <a:latin typeface="Times New Roman" panose="02020603050405020304" charset="0"/>
              <a:ea typeface="宋体" panose="02010600030101010101" pitchFamily="2" charset="-122"/>
            </a:endParaRPr>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lstStyle/>
          <a:p>
            <a:pPr lv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5.1.5  </a:t>
            </a:r>
            <a:r>
              <a:rPr lang="en-US" altLang="zh-CN" b="1" dirty="0" err="1"/>
              <a:t>路由协议分类</a:t>
            </a:r>
            <a:endParaRPr lang="zh-CN" altLang="zh-CN" b="1" dirty="0"/>
          </a:p>
          <a:p>
            <a:pPr lvl="1"/>
            <a:r>
              <a:rPr lang="zh-CN" altLang="zh-CN" dirty="0"/>
              <a:t>对路由协议按照不同的标准有不同的</a:t>
            </a:r>
            <a:r>
              <a:rPr lang="zh-CN" altLang="zh-CN" dirty="0" smtClean="0"/>
              <a:t>分类</a:t>
            </a:r>
            <a:endParaRPr lang="en-US" altLang="zh-CN" dirty="0" smtClean="0"/>
          </a:p>
          <a:p>
            <a:pPr lvl="1"/>
            <a:r>
              <a:rPr lang="zh-CN" altLang="en-US" dirty="0" smtClean="0"/>
              <a:t>（</a:t>
            </a:r>
            <a:r>
              <a:rPr lang="en-US" altLang="zh-CN" dirty="0" smtClean="0"/>
              <a:t>1</a:t>
            </a:r>
            <a:r>
              <a:rPr lang="zh-CN" altLang="en-US" dirty="0" smtClean="0"/>
              <a:t>）</a:t>
            </a:r>
            <a:r>
              <a:rPr lang="zh-CN" altLang="zh-CN" dirty="0" smtClean="0">
                <a:solidFill>
                  <a:srgbClr val="FF0000"/>
                </a:solidFill>
              </a:rPr>
              <a:t>拓扑结构</a:t>
            </a:r>
            <a:endParaRPr lang="en-US" altLang="zh-CN" dirty="0" smtClean="0">
              <a:solidFill>
                <a:srgbClr val="FF0000"/>
              </a:solidFill>
            </a:endParaRPr>
          </a:p>
          <a:p>
            <a:pPr lvl="2"/>
            <a:r>
              <a:rPr lang="zh-CN" altLang="zh-CN" dirty="0" smtClean="0">
                <a:solidFill>
                  <a:srgbClr val="FF0000"/>
                </a:solidFill>
              </a:rPr>
              <a:t>平面</a:t>
            </a:r>
            <a:r>
              <a:rPr lang="zh-CN" altLang="zh-CN" dirty="0">
                <a:solidFill>
                  <a:srgbClr val="FF0000"/>
                </a:solidFill>
              </a:rPr>
              <a:t>路由</a:t>
            </a:r>
            <a:r>
              <a:rPr lang="zh-CN" altLang="zh-CN" dirty="0" smtClean="0">
                <a:solidFill>
                  <a:srgbClr val="FF0000"/>
                </a:solidFill>
              </a:rPr>
              <a:t>协议</a:t>
            </a:r>
            <a:r>
              <a:rPr lang="zh-CN" altLang="en-US" dirty="0"/>
              <a:t>：</a:t>
            </a:r>
            <a:r>
              <a:rPr lang="zh-CN" altLang="zh-CN" dirty="0" smtClean="0"/>
              <a:t>节点</a:t>
            </a:r>
            <a:r>
              <a:rPr lang="zh-CN" altLang="zh-CN" dirty="0"/>
              <a:t>对等、功能相同、结构简单、维护容易，但是它仅适合规模小的网络，不能对网络资源进行优化</a:t>
            </a:r>
            <a:r>
              <a:rPr lang="zh-CN" altLang="zh-CN" dirty="0" smtClean="0"/>
              <a:t>管理</a:t>
            </a:r>
            <a:endParaRPr lang="en-US" altLang="zh-CN" dirty="0" smtClean="0"/>
          </a:p>
          <a:p>
            <a:pPr lvl="2"/>
            <a:r>
              <a:rPr lang="zh-CN" altLang="zh-CN" dirty="0" smtClean="0">
                <a:solidFill>
                  <a:srgbClr val="FF0000"/>
                </a:solidFill>
              </a:rPr>
              <a:t>层次</a:t>
            </a:r>
            <a:r>
              <a:rPr lang="zh-CN" altLang="zh-CN" dirty="0">
                <a:solidFill>
                  <a:srgbClr val="FF0000"/>
                </a:solidFill>
              </a:rPr>
              <a:t>路由</a:t>
            </a:r>
            <a:r>
              <a:rPr lang="zh-CN" altLang="zh-CN" dirty="0" smtClean="0">
                <a:solidFill>
                  <a:srgbClr val="FF0000"/>
                </a:solidFill>
              </a:rPr>
              <a:t>协议</a:t>
            </a:r>
            <a:r>
              <a:rPr lang="zh-CN" altLang="en-US" dirty="0"/>
              <a:t>：</a:t>
            </a:r>
            <a:r>
              <a:rPr lang="zh-CN" altLang="zh-CN" dirty="0" smtClean="0"/>
              <a:t>节点</a:t>
            </a:r>
            <a:r>
              <a:rPr lang="zh-CN" altLang="zh-CN" dirty="0"/>
              <a:t>功能不同，各司其职，网络的扩展性好，适合较大规模的</a:t>
            </a:r>
            <a:r>
              <a:rPr lang="zh-CN" altLang="zh-CN" dirty="0" smtClean="0"/>
              <a:t>网络</a:t>
            </a:r>
            <a:endParaRPr lang="en-US" altLang="zh-CN" dirty="0" smtClean="0"/>
          </a:p>
        </p:txBody>
      </p:sp>
      <p:sp>
        <p:nvSpPr>
          <p:cNvPr id="7" name="标题 6"/>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lstStyle/>
          <a:p>
            <a:pPr lv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5.1.5  </a:t>
            </a:r>
            <a:r>
              <a:rPr lang="en-US" altLang="zh-CN" b="1" dirty="0" err="1"/>
              <a:t>路由协议分类</a:t>
            </a:r>
            <a:endParaRPr lang="zh-CN" altLang="zh-CN" b="1" dirty="0"/>
          </a:p>
          <a:p>
            <a:pPr lvl="1"/>
            <a:r>
              <a:rPr lang="zh-CN" altLang="zh-CN" dirty="0"/>
              <a:t>对路由协议按照不同的标准有不同的</a:t>
            </a:r>
            <a:r>
              <a:rPr lang="zh-CN" altLang="zh-CN" dirty="0" smtClean="0"/>
              <a:t>分类</a:t>
            </a:r>
            <a:endParaRPr lang="en-US" altLang="zh-CN" dirty="0" smtClean="0"/>
          </a:p>
          <a:p>
            <a:pPr lvl="1"/>
            <a:r>
              <a:rPr lang="zh-CN" altLang="en-US" dirty="0" smtClean="0"/>
              <a:t>（</a:t>
            </a:r>
            <a:r>
              <a:rPr lang="en-US" altLang="zh-CN" dirty="0" smtClean="0"/>
              <a:t>2</a:t>
            </a:r>
            <a:r>
              <a:rPr lang="zh-CN" altLang="en-US" dirty="0" smtClean="0"/>
              <a:t>）</a:t>
            </a:r>
            <a:r>
              <a:rPr lang="zh-CN" altLang="zh-CN" dirty="0" smtClean="0">
                <a:solidFill>
                  <a:srgbClr val="FF0000"/>
                </a:solidFill>
              </a:rPr>
              <a:t>路径多少</a:t>
            </a:r>
            <a:endParaRPr lang="en-US" altLang="zh-CN" dirty="0" smtClean="0">
              <a:solidFill>
                <a:srgbClr val="FF0000"/>
              </a:solidFill>
            </a:endParaRPr>
          </a:p>
          <a:p>
            <a:pPr lvl="2"/>
            <a:r>
              <a:rPr lang="zh-CN" altLang="zh-CN" dirty="0" smtClean="0">
                <a:solidFill>
                  <a:srgbClr val="FF0000"/>
                </a:solidFill>
              </a:rPr>
              <a:t>单</a:t>
            </a:r>
            <a:r>
              <a:rPr lang="zh-CN" altLang="zh-CN" dirty="0">
                <a:solidFill>
                  <a:srgbClr val="FF0000"/>
                </a:solidFill>
              </a:rPr>
              <a:t>路径路由</a:t>
            </a:r>
            <a:r>
              <a:rPr lang="zh-CN" altLang="zh-CN" dirty="0" smtClean="0">
                <a:solidFill>
                  <a:srgbClr val="FF0000"/>
                </a:solidFill>
              </a:rPr>
              <a:t>协议</a:t>
            </a:r>
            <a:r>
              <a:rPr lang="zh-CN" altLang="en-US" dirty="0"/>
              <a:t>：</a:t>
            </a:r>
            <a:r>
              <a:rPr lang="zh-CN" altLang="zh-CN" dirty="0" smtClean="0"/>
              <a:t>将</a:t>
            </a:r>
            <a:r>
              <a:rPr lang="zh-CN" altLang="zh-CN" dirty="0"/>
              <a:t>数据沿一条路径传递， 数据通道少、消耗低，容易造成丢包且错误率高</a:t>
            </a:r>
            <a:r>
              <a:rPr lang="zh-CN" altLang="zh-CN" dirty="0" smtClean="0"/>
              <a:t>。</a:t>
            </a:r>
            <a:endParaRPr lang="en-US" altLang="zh-CN" dirty="0" smtClean="0"/>
          </a:p>
          <a:p>
            <a:pPr lvl="2"/>
            <a:r>
              <a:rPr lang="zh-CN" altLang="zh-CN" dirty="0" smtClean="0">
                <a:solidFill>
                  <a:srgbClr val="FF0000"/>
                </a:solidFill>
              </a:rPr>
              <a:t>多</a:t>
            </a:r>
            <a:r>
              <a:rPr lang="zh-CN" altLang="zh-CN" dirty="0">
                <a:solidFill>
                  <a:srgbClr val="FF0000"/>
                </a:solidFill>
              </a:rPr>
              <a:t>路径路由</a:t>
            </a:r>
            <a:r>
              <a:rPr lang="zh-CN" altLang="zh-CN" dirty="0" smtClean="0">
                <a:solidFill>
                  <a:srgbClr val="FF0000"/>
                </a:solidFill>
              </a:rPr>
              <a:t>协议</a:t>
            </a:r>
            <a:r>
              <a:rPr lang="zh-CN" altLang="en-US" dirty="0" smtClean="0"/>
              <a:t>：</a:t>
            </a:r>
            <a:r>
              <a:rPr lang="zh-CN" altLang="zh-CN" dirty="0" smtClean="0"/>
              <a:t>将</a:t>
            </a:r>
            <a:r>
              <a:rPr lang="zh-CN" altLang="zh-CN" dirty="0"/>
              <a:t>单个数据分成若干组，沿多条路径进行传递，即便有一条路径报废，数据也会经由其他路径传递，可靠性较好，但重复率高、能量消耗大，适合对传输可靠性要求较高且初始能量高的应用场合。</a:t>
            </a:r>
            <a:endParaRPr lang="zh-CN" altLang="en-US" b="1" i="0" u="none" strike="noStrike" kern="100" baseline="0" dirty="0" smtClean="0">
              <a:solidFill>
                <a:prstClr val="black"/>
              </a:solidFill>
              <a:latin typeface="Times New Roman" panose="02020603050405020304" charset="0"/>
              <a:ea typeface="宋体" panose="02010600030101010101" pitchFamily="2" charset="-122"/>
            </a:endParaRPr>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5.1.5  </a:t>
            </a:r>
            <a:r>
              <a:rPr lang="en-US" altLang="zh-CN" b="1" dirty="0" err="1"/>
              <a:t>路由协议分类</a:t>
            </a:r>
            <a:endParaRPr lang="zh-CN" altLang="zh-CN" b="1" dirty="0"/>
          </a:p>
          <a:p>
            <a:r>
              <a:rPr lang="zh-CN" altLang="en-US" dirty="0" smtClean="0"/>
              <a:t>（</a:t>
            </a:r>
            <a:r>
              <a:rPr lang="en-US" altLang="zh-CN" dirty="0"/>
              <a:t>3</a:t>
            </a:r>
            <a:r>
              <a:rPr lang="zh-CN" altLang="en-US" dirty="0" smtClean="0"/>
              <a:t>）</a:t>
            </a:r>
            <a:r>
              <a:rPr lang="zh-CN" altLang="zh-CN" dirty="0" smtClean="0">
                <a:solidFill>
                  <a:srgbClr val="FF0000"/>
                </a:solidFill>
              </a:rPr>
              <a:t>路由</a:t>
            </a:r>
            <a:r>
              <a:rPr lang="zh-CN" altLang="zh-CN" dirty="0">
                <a:solidFill>
                  <a:srgbClr val="FF0000"/>
                </a:solidFill>
              </a:rPr>
              <a:t>驱动</a:t>
            </a:r>
            <a:r>
              <a:rPr lang="zh-CN" altLang="zh-CN" dirty="0" smtClean="0">
                <a:solidFill>
                  <a:srgbClr val="FF0000"/>
                </a:solidFill>
              </a:rPr>
              <a:t>模式</a:t>
            </a:r>
            <a:endParaRPr lang="en-US" altLang="zh-CN" dirty="0" smtClean="0">
              <a:solidFill>
                <a:srgbClr val="FF0000"/>
              </a:solidFill>
            </a:endParaRPr>
          </a:p>
          <a:p>
            <a:pPr lvl="1"/>
            <a:r>
              <a:rPr lang="zh-CN" altLang="zh-CN" dirty="0" smtClean="0">
                <a:solidFill>
                  <a:srgbClr val="FF0000"/>
                </a:solidFill>
              </a:rPr>
              <a:t>时钟驱动型</a:t>
            </a:r>
            <a:r>
              <a:rPr lang="zh-CN" altLang="en-US" dirty="0" smtClean="0"/>
              <a:t>：</a:t>
            </a:r>
            <a:r>
              <a:rPr lang="zh-CN" altLang="zh-CN" dirty="0" smtClean="0"/>
              <a:t>传感器</a:t>
            </a:r>
            <a:r>
              <a:rPr lang="zh-CN" altLang="zh-CN" dirty="0"/>
              <a:t>节点周期性地主动地把采集到的数据信息报告给汇聚节点，如环境监测类的无线传感器网络</a:t>
            </a:r>
            <a:r>
              <a:rPr lang="zh-CN" altLang="zh-CN" dirty="0" smtClean="0"/>
              <a:t>。</a:t>
            </a:r>
            <a:endParaRPr lang="en-US" altLang="zh-CN" dirty="0" smtClean="0"/>
          </a:p>
          <a:p>
            <a:pPr lvl="1"/>
            <a:r>
              <a:rPr lang="zh-CN" altLang="zh-CN" dirty="0" smtClean="0">
                <a:solidFill>
                  <a:srgbClr val="FF0000"/>
                </a:solidFill>
              </a:rPr>
              <a:t>事件驱动型</a:t>
            </a:r>
            <a:r>
              <a:rPr lang="zh-CN" altLang="en-US" dirty="0" smtClean="0"/>
              <a:t>：</a:t>
            </a:r>
            <a:r>
              <a:rPr lang="zh-CN" altLang="zh-CN" dirty="0" smtClean="0"/>
              <a:t>传感器</a:t>
            </a:r>
            <a:r>
              <a:rPr lang="zh-CN" altLang="zh-CN" dirty="0"/>
              <a:t>节点感应到数据后进行判断，若超过事先设定的阈值，则认为触发了某种事件，需要立即传送数据给汇聚节点，如用于预警的无线传感器网络</a:t>
            </a:r>
            <a:r>
              <a:rPr lang="zh-CN" altLang="zh-CN" dirty="0" smtClean="0"/>
              <a:t>。</a:t>
            </a:r>
            <a:endParaRPr lang="en-US" altLang="zh-CN" dirty="0" smtClean="0"/>
          </a:p>
          <a:p>
            <a:pPr lvl="1"/>
            <a:r>
              <a:rPr lang="zh-CN" altLang="zh-CN" dirty="0" smtClean="0">
                <a:solidFill>
                  <a:srgbClr val="FF0000"/>
                </a:solidFill>
              </a:rPr>
              <a:t>查询驱动型</a:t>
            </a:r>
            <a:r>
              <a:rPr lang="zh-CN" altLang="en-US" dirty="0" smtClean="0">
                <a:solidFill>
                  <a:srgbClr val="FF0000"/>
                </a:solidFill>
              </a:rPr>
              <a:t>：</a:t>
            </a:r>
            <a:r>
              <a:rPr lang="zh-CN" altLang="zh-CN" dirty="0" smtClean="0"/>
              <a:t>仅</a:t>
            </a:r>
            <a:r>
              <a:rPr lang="zh-CN" altLang="zh-CN" dirty="0"/>
              <a:t>当传感器节点收到用户感兴趣的查询时，传感器节点才往汇聚节点发送数据</a:t>
            </a:r>
            <a:r>
              <a:rPr lang="zh-CN" altLang="zh-CN" dirty="0" smtClean="0"/>
              <a:t>。</a:t>
            </a:r>
            <a:endParaRPr lang="zh-CN" altLang="zh-CN"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5.1.5  </a:t>
            </a:r>
            <a:r>
              <a:rPr lang="en-US" altLang="zh-CN" b="1" dirty="0" err="1"/>
              <a:t>路由协议分类</a:t>
            </a:r>
            <a:endParaRPr lang="zh-CN" altLang="zh-CN" b="1" dirty="0"/>
          </a:p>
          <a:p>
            <a:r>
              <a:rPr lang="zh-CN" altLang="zh-CN" dirty="0" smtClean="0"/>
              <a:t>（</a:t>
            </a:r>
            <a:r>
              <a:rPr lang="en-US" altLang="zh-CN" dirty="0"/>
              <a:t>4</a:t>
            </a:r>
            <a:r>
              <a:rPr lang="zh-CN" altLang="zh-CN" dirty="0" smtClean="0"/>
              <a:t>）</a:t>
            </a:r>
            <a:r>
              <a:rPr lang="zh-CN" altLang="zh-CN" dirty="0" smtClean="0">
                <a:solidFill>
                  <a:srgbClr val="FF0000"/>
                </a:solidFill>
              </a:rPr>
              <a:t>目的节点数</a:t>
            </a:r>
            <a:endParaRPr lang="en-US" altLang="zh-CN" dirty="0" smtClean="0">
              <a:solidFill>
                <a:srgbClr val="FF0000"/>
              </a:solidFill>
            </a:endParaRPr>
          </a:p>
          <a:p>
            <a:pPr lvl="1"/>
            <a:r>
              <a:rPr lang="zh-CN" altLang="zh-CN" dirty="0" smtClean="0">
                <a:solidFill>
                  <a:srgbClr val="FF0000"/>
                </a:solidFill>
              </a:rPr>
              <a:t>单</a:t>
            </a:r>
            <a:r>
              <a:rPr lang="zh-CN" altLang="zh-CN" dirty="0">
                <a:solidFill>
                  <a:srgbClr val="FF0000"/>
                </a:solidFill>
              </a:rPr>
              <a:t>播</a:t>
            </a:r>
            <a:r>
              <a:rPr lang="zh-CN" altLang="zh-CN" dirty="0" smtClean="0">
                <a:solidFill>
                  <a:srgbClr val="FF0000"/>
                </a:solidFill>
              </a:rPr>
              <a:t>路由</a:t>
            </a:r>
            <a:r>
              <a:rPr lang="zh-CN" altLang="en-US" dirty="0" smtClean="0"/>
              <a:t>：</a:t>
            </a:r>
            <a:r>
              <a:rPr lang="zh-CN" altLang="zh-CN" dirty="0" smtClean="0"/>
              <a:t>只有</a:t>
            </a:r>
            <a:r>
              <a:rPr lang="zh-CN" altLang="zh-CN" dirty="0"/>
              <a:t>一个发送方和一个目的节点</a:t>
            </a:r>
            <a:r>
              <a:rPr lang="zh-CN" altLang="zh-CN" dirty="0" smtClean="0"/>
              <a:t>。</a:t>
            </a:r>
            <a:endParaRPr lang="en-US" altLang="zh-CN" dirty="0" smtClean="0"/>
          </a:p>
          <a:p>
            <a:pPr lvl="1"/>
            <a:r>
              <a:rPr lang="zh-CN" altLang="zh-CN" dirty="0" smtClean="0">
                <a:solidFill>
                  <a:srgbClr val="FF0000"/>
                </a:solidFill>
              </a:rPr>
              <a:t>多</a:t>
            </a:r>
            <a:r>
              <a:rPr lang="zh-CN" altLang="zh-CN" dirty="0">
                <a:solidFill>
                  <a:srgbClr val="FF0000"/>
                </a:solidFill>
              </a:rPr>
              <a:t>播</a:t>
            </a:r>
            <a:r>
              <a:rPr lang="zh-CN" altLang="zh-CN" dirty="0" smtClean="0">
                <a:solidFill>
                  <a:srgbClr val="FF0000"/>
                </a:solidFill>
              </a:rPr>
              <a:t>路由</a:t>
            </a:r>
            <a:r>
              <a:rPr lang="zh-CN" altLang="en-US" dirty="0" smtClean="0"/>
              <a:t>：</a:t>
            </a:r>
            <a:r>
              <a:rPr lang="zh-CN" altLang="zh-CN" dirty="0" smtClean="0"/>
              <a:t>有</a:t>
            </a:r>
            <a:r>
              <a:rPr lang="zh-CN" altLang="zh-CN" dirty="0"/>
              <a:t>多个目的节点，节点采集到的数据信息并行地以多播树方式进行传播，在树的分叉处复制和转发数据包。多播路由协议数据包发送次数变少，网络带宽的使用效率提高。</a:t>
            </a:r>
            <a:endParaRPr lang="zh-CN" altLang="zh-CN"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b="1" i="0" u="none" strike="noStrike" kern="100" baseline="0" dirty="0" smtClean="0">
                <a:solidFill>
                  <a:prstClr val="black"/>
                </a:solidFill>
                <a:latin typeface="Times New Roman" panose="02020603050405020304" charset="0"/>
                <a:ea typeface="宋体" panose="02010600030101010101" pitchFamily="2" charset="-122"/>
              </a:rPr>
              <a:t>5.1.5  </a:t>
            </a:r>
            <a:r>
              <a:rPr lang="en-US" altLang="zh-CN" b="1" dirty="0" err="1" smtClean="0"/>
              <a:t>路由协议分类</a:t>
            </a:r>
            <a:endParaRPr lang="en-US" altLang="zh-CN" b="1" dirty="0" smtClean="0"/>
          </a:p>
          <a:p>
            <a:r>
              <a:rPr lang="zh-CN" altLang="zh-CN" dirty="0" smtClean="0"/>
              <a:t>（</a:t>
            </a:r>
            <a:r>
              <a:rPr lang="en-US" altLang="zh-CN" dirty="0" smtClean="0"/>
              <a:t>5</a:t>
            </a:r>
            <a:r>
              <a:rPr lang="zh-CN" altLang="zh-CN" dirty="0" smtClean="0"/>
              <a:t>）</a:t>
            </a:r>
            <a:r>
              <a:rPr lang="zh-CN" altLang="zh-CN" dirty="0" smtClean="0">
                <a:solidFill>
                  <a:srgbClr val="FF0000"/>
                </a:solidFill>
              </a:rPr>
              <a:t>数据融合</a:t>
            </a:r>
            <a:endParaRPr lang="en-US" altLang="zh-CN" dirty="0" smtClean="0">
              <a:solidFill>
                <a:srgbClr val="FF0000"/>
              </a:solidFill>
            </a:endParaRPr>
          </a:p>
          <a:p>
            <a:pPr lvl="1"/>
            <a:r>
              <a:rPr lang="zh-CN" altLang="zh-CN" dirty="0" smtClean="0">
                <a:solidFill>
                  <a:srgbClr val="FF0000"/>
                </a:solidFill>
              </a:rPr>
              <a:t>融合路由</a:t>
            </a:r>
            <a:r>
              <a:rPr lang="zh-CN" altLang="en-US" dirty="0" smtClean="0"/>
              <a:t>：</a:t>
            </a:r>
            <a:r>
              <a:rPr lang="zh-CN" altLang="zh-CN" dirty="0" smtClean="0"/>
              <a:t>如果在数据传输过程中，根据预先制定的规则对多个数据包的相关信息进行合并和压缩</a:t>
            </a:r>
            <a:r>
              <a:rPr lang="zh-CN" altLang="en-US" dirty="0" smtClean="0"/>
              <a:t>。</a:t>
            </a:r>
            <a:r>
              <a:rPr lang="zh-CN" altLang="zh-CN" dirty="0" smtClean="0"/>
              <a:t>降低了数据冗余度，减少了网络通信量，节省了能量消耗，但是相应地增加了传输的时延。</a:t>
            </a:r>
            <a:endParaRPr lang="en-US" altLang="zh-CN" dirty="0" smtClean="0"/>
          </a:p>
          <a:p>
            <a:pPr lvl="1"/>
            <a:r>
              <a:rPr lang="zh-CN" altLang="zh-CN" dirty="0" smtClean="0">
                <a:solidFill>
                  <a:srgbClr val="FF0000"/>
                </a:solidFill>
              </a:rPr>
              <a:t>非融合路由</a:t>
            </a:r>
            <a:r>
              <a:rPr lang="zh-CN" altLang="en-US" dirty="0" smtClean="0"/>
              <a:t>：</a:t>
            </a:r>
            <a:r>
              <a:rPr lang="zh-CN" altLang="zh-CN" dirty="0" smtClean="0"/>
              <a:t>在传递过程中，不做任何处理，传递量大，消耗能量大，甚至引起“拥堵”。</a:t>
            </a:r>
            <a:endParaRPr lang="zh-CN" altLang="zh-CN" dirty="0"/>
          </a:p>
        </p:txBody>
      </p:sp>
      <p:sp>
        <p:nvSpPr>
          <p:cNvPr id="5" name="标题 4"/>
          <p:cNvSpPr>
            <a:spLocks noGrp="1"/>
          </p:cNvSpPr>
          <p:nvPr>
            <p:ph type="title"/>
          </p:nvPr>
        </p:nvSpPr>
        <p:spPr/>
        <p:txBody>
          <a:bodyPr/>
          <a:lstStyle/>
          <a:p>
            <a:pPr lvl="0"/>
            <a:r>
              <a:rPr lang="en-US" b="1" u="sng">
                <a:solidFill>
                  <a:srgbClr val="316AAB"/>
                </a:solidFill>
                <a:uFillTx/>
                <a:latin typeface="Times New Roman" panose="02020603050405020304" charset="0"/>
                <a:ea typeface="宋体" panose="02010600030101010101" pitchFamily="2" charset="-122"/>
              </a:rPr>
              <a:t>5.1　路由协议概述</a:t>
            </a:r>
            <a:r>
              <a:rPr lang="zh-CN" altLang="en-US" b="1" kern="100" dirty="0">
                <a:latin typeface="Times New Roman" panose="02020603050405020304" charset="0"/>
                <a:ea typeface="宋体" panose="02010600030101010101" pitchFamily="2" charset="-122"/>
              </a:rPr>
              <a:t> </a:t>
            </a:r>
            <a:endParaRPr lang="zh-CN" altLang="en-US" b="1" i="0" u="none" strike="noStrike" kern="2200" baseline="0" dirty="0" smtClean="0">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1902460" y="331470"/>
            <a:ext cx="1733550" cy="855980"/>
          </a:xfrm>
          <a:prstGeom prst="rect">
            <a:avLst/>
          </a:prstGeom>
          <a:noFill/>
        </p:spPr>
        <p:txBody>
          <a:bodyPr wrap="square" lIns="91440" tIns="45720" rIns="91440" bIns="0" rtlCol="0" anchor="b" anchorCtr="0">
            <a:norm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目录</a:t>
            </a:r>
            <a:endPar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546050" y="1307807"/>
            <a:ext cx="5535930" cy="5509200"/>
          </a:xfrm>
          <a:prstGeom prst="rect">
            <a:avLst/>
          </a:prstGeom>
          <a:noFill/>
          <a:ln w="9525">
            <a:noFill/>
          </a:ln>
        </p:spPr>
        <p:txBody>
          <a:bodyPr wrap="square">
            <a:spAutoFit/>
          </a:bodyPr>
          <a:lstStyle/>
          <a:p>
            <a:pPr indent="0"/>
            <a:r>
              <a:rPr lang="en-US" sz="2200" b="1" dirty="0">
                <a:latin typeface="Times New Roman" panose="02020603050405020304" charset="0"/>
                <a:ea typeface="宋体" panose="02010600030101010101" pitchFamily="2" charset="-122"/>
              </a:rPr>
              <a:t>5</a:t>
            </a:r>
            <a:r>
              <a:rPr lang="en-US" sz="2200" b="1" dirty="0" smtClean="0">
                <a:solidFill>
                  <a:schemeClr val="tx1"/>
                </a:solidFill>
                <a:uFillTx/>
                <a:latin typeface="Times New Roman" panose="02020603050405020304" charset="0"/>
                <a:ea typeface="宋体" panose="02010600030101010101" pitchFamily="2" charset="-122"/>
              </a:rPr>
              <a:t>.1</a:t>
            </a:r>
            <a:r>
              <a:rPr lang="zh-CN" altLang="en-US" sz="2200" b="1" dirty="0">
                <a:latin typeface="Times New Roman" panose="02020603050405020304" charset="0"/>
                <a:ea typeface="宋体" panose="02010600030101010101" pitchFamily="2" charset="-122"/>
              </a:rPr>
              <a:t>路由协议概述</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5.1.1   </a:t>
            </a:r>
            <a:r>
              <a:rPr lang="zh-CN" altLang="en-US" sz="2200" b="1" dirty="0" smtClean="0">
                <a:latin typeface="Times New Roman" panose="02020603050405020304" charset="0"/>
                <a:ea typeface="宋体" panose="02010600030101010101" pitchFamily="2" charset="-122"/>
              </a:rPr>
              <a:t>网络层</a:t>
            </a:r>
            <a:r>
              <a:rPr lang="zh-CN" altLang="en-US" sz="2200" b="1" dirty="0">
                <a:latin typeface="Times New Roman" panose="02020603050405020304" charset="0"/>
                <a:ea typeface="宋体" panose="02010600030101010101" pitchFamily="2" charset="-122"/>
              </a:rPr>
              <a:t>的服务实体</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5.1.2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协议的基本问题</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5.1.3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的</a:t>
            </a:r>
            <a:r>
              <a:rPr lang="zh-CN" altLang="en-US" sz="2200" b="1" dirty="0" smtClean="0">
                <a:latin typeface="Times New Roman" panose="02020603050405020304" charset="0"/>
                <a:ea typeface="宋体" panose="02010600030101010101" pitchFamily="2" charset="-122"/>
              </a:rPr>
              <a:t>过程</a:t>
            </a:r>
            <a:endParaRPr lang="en-US" altLang="zh-CN" sz="2200" b="1" dirty="0" smtClean="0">
              <a:latin typeface="Times New Roman" panose="02020603050405020304" charset="0"/>
              <a:ea typeface="宋体" panose="02010600030101010101" pitchFamily="2" charset="-122"/>
            </a:endParaRPr>
          </a:p>
          <a:p>
            <a:pPr indent="0"/>
            <a:r>
              <a:rPr lang="zh-CN" altLang="en-US"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5.1.4   </a:t>
            </a:r>
            <a:r>
              <a:rPr lang="zh-CN" altLang="en-US" sz="2200" b="1" dirty="0" smtClean="0">
                <a:latin typeface="Times New Roman" panose="02020603050405020304" charset="0"/>
                <a:ea typeface="宋体" panose="02010600030101010101" pitchFamily="2" charset="-122"/>
              </a:rPr>
              <a:t>传感器</a:t>
            </a:r>
            <a:r>
              <a:rPr lang="zh-CN" altLang="en-US" sz="2200" b="1" dirty="0">
                <a:latin typeface="Times New Roman" panose="02020603050405020304" charset="0"/>
                <a:ea typeface="宋体" panose="02010600030101010101" pitchFamily="2" charset="-122"/>
              </a:rPr>
              <a:t>网络路由的评价</a:t>
            </a:r>
            <a:r>
              <a:rPr lang="zh-CN" altLang="en-US" sz="2200" b="1" dirty="0" smtClean="0">
                <a:latin typeface="Times New Roman" panose="02020603050405020304" charset="0"/>
                <a:ea typeface="宋体" panose="02010600030101010101" pitchFamily="2" charset="-122"/>
              </a:rPr>
              <a:t>标准</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5.1.5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协议分类</a:t>
            </a:r>
            <a:endParaRPr lang="en-US" sz="2200" b="1" dirty="0" smtClean="0">
              <a:solidFill>
                <a:schemeClr val="tx1"/>
              </a:solidFill>
              <a:uFillTx/>
              <a:latin typeface="Times New Roman" panose="02020603050405020304" charset="0"/>
              <a:ea typeface="宋体" panose="02010600030101010101" pitchFamily="2" charset="-122"/>
            </a:endParaRPr>
          </a:p>
          <a:p>
            <a:r>
              <a:rPr lang="en-US" sz="2200" b="1" dirty="0">
                <a:latin typeface="Times New Roman" panose="02020603050405020304" charset="0"/>
                <a:ea typeface="宋体" panose="02010600030101010101" pitchFamily="2" charset="-122"/>
                <a:hlinkClick r:id="rId2" action="ppaction://hlinksldjump"/>
              </a:rPr>
              <a:t>5.2</a:t>
            </a:r>
            <a:r>
              <a:rPr lang="zh-CN" altLang="en-US" sz="2200" b="1" dirty="0" smtClean="0">
                <a:latin typeface="宋体" panose="02010600030101010101" pitchFamily="2" charset="-122"/>
                <a:ea typeface="宋体" panose="02010600030101010101" pitchFamily="2" charset="-122"/>
                <a:hlinkClick r:id="rId2" action="ppaction://hlinksldjump"/>
              </a:rPr>
              <a:t>平面</a:t>
            </a:r>
            <a:r>
              <a:rPr lang="zh-CN" altLang="en-US" sz="2200" b="1" dirty="0">
                <a:latin typeface="宋体" panose="02010600030101010101" pitchFamily="2" charset="-122"/>
                <a:ea typeface="宋体" panose="02010600030101010101" pitchFamily="2" charset="-122"/>
                <a:hlinkClick r:id="rId2" action="ppaction://hlinksldjump"/>
              </a:rPr>
              <a:t>路由协议</a:t>
            </a:r>
            <a:endParaRPr lang="zh-CN" altLang="en-US" sz="2200" b="1" dirty="0">
              <a:latin typeface="宋体" panose="02010600030101010101" pitchFamily="2" charset="-122"/>
              <a:ea typeface="宋体" panose="02010600030101010101" pitchFamily="2" charset="-122"/>
            </a:endParaRPr>
          </a:p>
          <a:p>
            <a:r>
              <a:rPr lang="en-US" altLang="zh-CN" sz="2000" b="1" dirty="0" smtClean="0">
                <a:latin typeface="宋体" panose="02010600030101010101" pitchFamily="2" charset="-122"/>
                <a:ea typeface="宋体" panose="02010600030101010101" pitchFamily="2" charset="-122"/>
                <a:hlinkClick r:id="rId2" action="ppaction://hlinksldjump"/>
              </a:rPr>
              <a:t>  </a:t>
            </a:r>
            <a:r>
              <a:rPr lang="en-US" altLang="zh-CN" sz="2200" b="1" dirty="0">
                <a:latin typeface="Times New Roman" panose="02020603050405020304" charset="0"/>
                <a:ea typeface="宋体" panose="02010600030101010101" pitchFamily="2" charset="-122"/>
                <a:hlinkClick r:id="rId2" action="ppaction://hlinksldjump"/>
              </a:rPr>
              <a:t>5.2.1</a:t>
            </a:r>
            <a:r>
              <a:rPr lang="en-US" altLang="zh-CN" sz="2000" b="1" dirty="0" smtClean="0">
                <a:latin typeface="宋体" panose="02010600030101010101" pitchFamily="2" charset="-122"/>
                <a:ea typeface="宋体" panose="02010600030101010101" pitchFamily="2" charset="-122"/>
                <a:hlinkClick r:id="rId2" action="ppaction://hlinksldjump"/>
              </a:rPr>
              <a:t> </a:t>
            </a:r>
            <a:r>
              <a:rPr lang="en-US" altLang="zh-CN" sz="2200" b="1" dirty="0">
                <a:latin typeface="Times New Roman" panose="02020603050405020304" charset="0"/>
                <a:ea typeface="宋体" panose="02010600030101010101" pitchFamily="2" charset="-122"/>
                <a:hlinkClick r:id="rId2" action="ppaction://hlinksldjump"/>
              </a:rPr>
              <a:t>Flooding</a:t>
            </a:r>
            <a:r>
              <a:rPr lang="zh-CN" altLang="en-US" sz="2200" b="1" dirty="0">
                <a:latin typeface="Times New Roman" panose="02020603050405020304" charset="0"/>
                <a:ea typeface="宋体" panose="02010600030101010101" pitchFamily="2" charset="-122"/>
                <a:hlinkClick r:id="rId2" action="ppaction://hlinksldjump"/>
              </a:rPr>
              <a:t>协议和</a:t>
            </a:r>
            <a:r>
              <a:rPr lang="en-US" altLang="zh-CN" sz="2200" b="1" dirty="0">
                <a:latin typeface="Times New Roman" panose="02020603050405020304" charset="0"/>
                <a:ea typeface="宋体" panose="02010600030101010101" pitchFamily="2" charset="-122"/>
                <a:hlinkClick r:id="rId2" action="ppaction://hlinksldjump"/>
              </a:rPr>
              <a:t>Gossiping</a:t>
            </a:r>
            <a:r>
              <a:rPr lang="zh-CN" altLang="en-US" sz="2200" b="1" dirty="0">
                <a:latin typeface="Times New Roman" panose="02020603050405020304" charset="0"/>
                <a:ea typeface="宋体" panose="02010600030101010101" pitchFamily="2" charset="-122"/>
                <a:hlinkClick r:id="rId2" action="ppaction://hlinksldjump"/>
              </a:rPr>
              <a:t>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hlinkClick r:id="rId3" action="ppaction://hlinksldjump"/>
              </a:rPr>
              <a:t>    5.2.2 </a:t>
            </a:r>
            <a:r>
              <a:rPr lang="en-US" altLang="zh-CN" sz="2200" b="1" dirty="0">
                <a:latin typeface="Times New Roman" panose="02020603050405020304" charset="0"/>
                <a:ea typeface="宋体" panose="02010600030101010101" pitchFamily="2" charset="-122"/>
                <a:hlinkClick r:id="rId3" action="ppaction://hlinksldjump"/>
              </a:rPr>
              <a:t>SPIN</a:t>
            </a:r>
            <a:r>
              <a:rPr lang="zh-CN" altLang="en-US" sz="2200" b="1" dirty="0">
                <a:latin typeface="Times New Roman" panose="02020603050405020304" charset="0"/>
                <a:ea typeface="宋体" panose="02010600030101010101" pitchFamily="2" charset="-122"/>
                <a:hlinkClick r:id="rId3" action="ppaction://hlinksldjump"/>
              </a:rPr>
              <a:t>路由协议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4" action="ppaction://hlinksldjump"/>
              </a:rPr>
              <a:t>5.2.3 </a:t>
            </a:r>
            <a:r>
              <a:rPr lang="en-US" altLang="zh-CN" sz="2200" b="1" dirty="0">
                <a:latin typeface="Times New Roman" panose="02020603050405020304" charset="0"/>
                <a:ea typeface="宋体" panose="02010600030101010101" pitchFamily="2" charset="-122"/>
                <a:hlinkClick r:id="rId4" action="ppaction://hlinksldjump"/>
              </a:rPr>
              <a:t>DD</a:t>
            </a:r>
            <a:r>
              <a:rPr lang="zh-CN" altLang="en-US" sz="2200" b="1" dirty="0">
                <a:latin typeface="Times New Roman" panose="02020603050405020304" charset="0"/>
                <a:ea typeface="宋体" panose="02010600030101010101" pitchFamily="2" charset="-122"/>
                <a:hlinkClick r:id="rId4" action="ppaction://hlinksldjump"/>
              </a:rPr>
              <a:t>定向扩展路由协议</a:t>
            </a:r>
            <a:endParaRPr lang="zh-CN" altLang="en-US" sz="2200" b="1" dirty="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5" action="ppaction://hlinksldjump"/>
              </a:rPr>
              <a:t>5.2.4  Rumor</a:t>
            </a:r>
            <a:r>
              <a:rPr lang="zh-CN" altLang="en-US" sz="2200" b="1" dirty="0" smtClean="0">
                <a:latin typeface="Times New Roman" panose="02020603050405020304" charset="0"/>
                <a:ea typeface="宋体" panose="02010600030101010101" pitchFamily="2" charset="-122"/>
                <a:hlinkClick r:id="rId5" action="ppaction://hlinksldjump"/>
              </a:rPr>
              <a:t>协议</a:t>
            </a:r>
            <a:endParaRPr lang="en-US" altLang="zh-CN" sz="2200" b="1" dirty="0" smtClean="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rPr>
              <a:t>5.3</a:t>
            </a:r>
            <a:r>
              <a:rPr lang="zh-CN" altLang="zh-CN" sz="2200" b="1" dirty="0">
                <a:ea typeface="宋体" panose="02010600030101010101" pitchFamily="2" charset="-122"/>
              </a:rPr>
              <a:t>　</a:t>
            </a:r>
            <a:r>
              <a:rPr lang="zh-CN" altLang="en-US" sz="2200" b="1" dirty="0">
                <a:latin typeface="Times New Roman" panose="02020603050405020304" charset="0"/>
                <a:ea typeface="宋体" panose="02010600030101010101" pitchFamily="2" charset="-122"/>
              </a:rPr>
              <a:t>层次型路由协议</a:t>
            </a:r>
            <a:endParaRPr lang="zh-CN" altLang="en-US"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5.3.1  </a:t>
            </a:r>
            <a:r>
              <a:rPr lang="en-US" altLang="zh-CN" sz="2200" b="1" dirty="0">
                <a:ea typeface="宋体" panose="02010600030101010101" pitchFamily="2" charset="-122"/>
              </a:rPr>
              <a:t>LEACH</a:t>
            </a:r>
            <a:r>
              <a:rPr lang="zh-CN" altLang="en-US" sz="2200" b="1" dirty="0">
                <a:ea typeface="宋体" panose="02010600030101010101" pitchFamily="2" charset="-122"/>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5.3.2  </a:t>
            </a:r>
            <a:r>
              <a:rPr lang="en-US" altLang="zh-CN" sz="2200" b="1" dirty="0">
                <a:ea typeface="宋体" panose="02010600030101010101" pitchFamily="2" charset="-122"/>
              </a:rPr>
              <a:t>HEED</a:t>
            </a:r>
            <a:r>
              <a:rPr lang="zh-CN" altLang="en-US" sz="2200" b="1" dirty="0">
                <a:ea typeface="宋体" panose="02010600030101010101" pitchFamily="2" charset="-122"/>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5.3.3  TEEN</a:t>
            </a:r>
            <a:r>
              <a:rPr lang="zh-CN" altLang="en-US" sz="2200" b="1" dirty="0">
                <a:latin typeface="Times New Roman" panose="02020603050405020304" charset="0"/>
                <a:ea typeface="宋体" panose="02010600030101010101" pitchFamily="2" charset="-122"/>
              </a:rPr>
              <a:t>协议</a:t>
            </a:r>
            <a:endParaRPr lang="en-US" altLang="zh-CN" sz="2200" b="1" dirty="0">
              <a:latin typeface="Times New Roman" panose="02020603050405020304" charset="0"/>
              <a:ea typeface="宋体" panose="02010600030101010101" pitchFamily="2" charset="-122"/>
            </a:endParaRPr>
          </a:p>
          <a:p>
            <a:endParaRPr lang="zh-CN" altLang="en-US" sz="2200" b="1" dirty="0">
              <a:latin typeface="Times New Roman" panose="02020603050405020304" charset="0"/>
              <a:ea typeface="宋体" panose="02010600030101010101" pitchFamily="2" charset="-122"/>
            </a:endParaRPr>
          </a:p>
        </p:txBody>
      </p:sp>
      <p:sp>
        <p:nvSpPr>
          <p:cNvPr id="4" name="文本框 3"/>
          <p:cNvSpPr txBox="1"/>
          <p:nvPr/>
        </p:nvSpPr>
        <p:spPr>
          <a:xfrm>
            <a:off x="6081980" y="1307806"/>
            <a:ext cx="5535930" cy="4832092"/>
          </a:xfrm>
          <a:prstGeom prst="rect">
            <a:avLst/>
          </a:prstGeom>
          <a:noFill/>
          <a:ln w="9525">
            <a:noFill/>
          </a:ln>
        </p:spPr>
        <p:txBody>
          <a:bodyPr wrap="square">
            <a:spAutoFit/>
          </a:bodyPr>
          <a:lstStyle/>
          <a:p>
            <a:pPr indent="0"/>
            <a:r>
              <a:rPr lang="en-US" altLang="zh-CN" sz="2200" b="1" dirty="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  5.3.4  </a:t>
            </a:r>
            <a:r>
              <a:rPr lang="en-US" altLang="zh-CN" sz="2200" b="1" dirty="0">
                <a:latin typeface="Times New Roman" panose="02020603050405020304" charset="0"/>
                <a:ea typeface="宋体" panose="02010600030101010101" pitchFamily="2" charset="-122"/>
              </a:rPr>
              <a:t>TTDD</a:t>
            </a:r>
            <a:r>
              <a:rPr lang="zh-CN" altLang="en-US" sz="2200" b="1" dirty="0">
                <a:latin typeface="Times New Roman" panose="02020603050405020304" charset="0"/>
                <a:ea typeface="宋体" panose="02010600030101010101" pitchFamily="2" charset="-122"/>
              </a:rPr>
              <a:t>协议</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5.3.5  PEGASIS</a:t>
            </a:r>
            <a:r>
              <a:rPr lang="zh-CN" altLang="en-US" sz="2200" b="1" dirty="0">
                <a:latin typeface="Times New Roman" panose="02020603050405020304" charset="0"/>
                <a:ea typeface="宋体" panose="02010600030101010101" pitchFamily="2" charset="-122"/>
              </a:rPr>
              <a:t>协议</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5.4</a:t>
            </a:r>
            <a:r>
              <a:rPr lang="zh-CN" altLang="en-US" sz="2200" b="1" dirty="0">
                <a:latin typeface="Times New Roman" panose="02020603050405020304" charset="0"/>
                <a:ea typeface="宋体" panose="02010600030101010101" pitchFamily="2" charset="-122"/>
              </a:rPr>
              <a:t>其他路由</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  </a:t>
            </a:r>
            <a:r>
              <a:rPr lang="zh-CN" altLang="en-US" sz="2200" b="1" dirty="0">
                <a:latin typeface="Times New Roman" panose="02020603050405020304" charset="0"/>
                <a:ea typeface="宋体" panose="02010600030101010101" pitchFamily="2" charset="-122"/>
              </a:rPr>
              <a:t>地理位置</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5.4.1.1  </a:t>
            </a:r>
            <a:r>
              <a:rPr lang="en-US" altLang="zh-CN" sz="2200" b="1" dirty="0">
                <a:latin typeface="Times New Roman" panose="02020603050405020304" charset="0"/>
                <a:ea typeface="宋体" panose="02010600030101010101" pitchFamily="2" charset="-122"/>
              </a:rPr>
              <a:t>GAF</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5.4.1.2  </a:t>
            </a:r>
            <a:r>
              <a:rPr lang="en-US" altLang="zh-CN" sz="2200" b="1" dirty="0">
                <a:latin typeface="Times New Roman" panose="02020603050405020304" charset="0"/>
                <a:ea typeface="宋体" panose="02010600030101010101" pitchFamily="2" charset="-122"/>
              </a:rPr>
              <a:t>GEAR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5.4.1.3  </a:t>
            </a:r>
            <a:r>
              <a:rPr lang="en-US" altLang="zh-CN" sz="2200" b="1" dirty="0">
                <a:latin typeface="Times New Roman" panose="02020603050405020304" charset="0"/>
                <a:ea typeface="宋体" panose="02010600030101010101" pitchFamily="2" charset="-122"/>
              </a:rPr>
              <a:t>GPSR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  </a:t>
            </a:r>
            <a:r>
              <a:rPr lang="en-US" altLang="zh-CN" sz="2200" b="1" dirty="0" err="1">
                <a:latin typeface="Times New Roman" panose="02020603050405020304" charset="0"/>
                <a:ea typeface="宋体" panose="02010600030101010101" pitchFamily="2" charset="-122"/>
              </a:rPr>
              <a:t>QoS</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5.4.2.1  </a:t>
            </a:r>
            <a:r>
              <a:rPr lang="en-US" altLang="zh-CN" sz="2200" b="1" dirty="0">
                <a:latin typeface="Times New Roman" panose="02020603050405020304" charset="0"/>
                <a:ea typeface="宋体" panose="02010600030101010101" pitchFamily="2" charset="-122"/>
              </a:rPr>
              <a:t>SPEED</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5.4.2.2  </a:t>
            </a:r>
            <a:r>
              <a:rPr lang="en-US" altLang="zh-CN" sz="2200" b="1" dirty="0">
                <a:latin typeface="Times New Roman" panose="02020603050405020304" charset="0"/>
                <a:ea typeface="宋体" panose="02010600030101010101" pitchFamily="2" charset="-122"/>
              </a:rPr>
              <a:t>SAR</a:t>
            </a:r>
            <a:r>
              <a:rPr lang="zh-CN" altLang="en-US" sz="2200" b="1" dirty="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5.4.3  </a:t>
            </a:r>
            <a:r>
              <a:rPr lang="zh-CN" altLang="en-US" sz="2200" b="1" dirty="0">
                <a:latin typeface="Times New Roman" panose="02020603050405020304" charset="0"/>
                <a:ea typeface="宋体" panose="02010600030101010101" pitchFamily="2" charset="-122"/>
              </a:rPr>
              <a:t>多径</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sz="2200" b="1" dirty="0" smtClean="0">
                <a:latin typeface="Times New Roman" panose="02020603050405020304" charset="0"/>
                <a:ea typeface="宋体" panose="02010600030101010101" pitchFamily="2" charset="-122"/>
              </a:rPr>
              <a:t>     5.4.3.1  </a:t>
            </a:r>
            <a:r>
              <a:rPr lang="en-US" sz="2200" b="1" dirty="0">
                <a:latin typeface="Times New Roman" panose="02020603050405020304" charset="0"/>
                <a:ea typeface="宋体" panose="02010600030101010101" pitchFamily="2" charset="-122"/>
              </a:rPr>
              <a:t>MMSPEED</a:t>
            </a:r>
            <a:r>
              <a:rPr lang="zh-CN" altLang="en-US" sz="2200" b="1" dirty="0" smtClean="0">
                <a:latin typeface="Times New Roman" panose="02020603050405020304" charset="0"/>
                <a:ea typeface="宋体" panose="02010600030101010101" pitchFamily="2" charset="-122"/>
              </a:rPr>
              <a:t>路由</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5.4.3.2  </a:t>
            </a:r>
            <a:r>
              <a:rPr lang="zh-CN" altLang="en-US" sz="2200" b="1" dirty="0">
                <a:latin typeface="Times New Roman" panose="02020603050405020304" charset="0"/>
                <a:ea typeface="宋体" panose="02010600030101010101" pitchFamily="2" charset="-122"/>
              </a:rPr>
              <a:t>能量多路径路由</a:t>
            </a:r>
            <a:endParaRPr lang="en-US" altLang="zh-CN" sz="2200" b="1" dirty="0" smtClean="0">
              <a:latin typeface="Times New Roman" panose="02020603050405020304" charset="0"/>
              <a:ea typeface="宋体" panose="02010600030101010101" pitchFamily="2" charset="-122"/>
            </a:endParaRPr>
          </a:p>
          <a:p>
            <a:pPr indent="0"/>
            <a:r>
              <a:rPr lang="zh-CN" sz="2200" b="1" dirty="0" smtClean="0">
                <a:solidFill>
                  <a:schemeClr val="tx1"/>
                </a:solidFill>
                <a:uFillTx/>
                <a:ea typeface="宋体" panose="02010600030101010101" pitchFamily="2" charset="-122"/>
              </a:rPr>
              <a:t>习题</a:t>
            </a:r>
            <a:r>
              <a:rPr lang="en-US" sz="2200" b="1" dirty="0" smtClean="0">
                <a:solidFill>
                  <a:schemeClr val="tx1"/>
                </a:solidFill>
                <a:uFillTx/>
                <a:latin typeface="Times New Roman" panose="02020603050405020304" charset="0"/>
                <a:ea typeface="宋体" panose="02010600030101010101" pitchFamily="2" charset="-122"/>
              </a:rPr>
              <a:t>5</a:t>
            </a:r>
            <a:r>
              <a:rPr lang="en-US" sz="2200" b="1" dirty="0">
                <a:solidFill>
                  <a:srgbClr val="0000FF"/>
                </a:solidFill>
                <a:latin typeface="Times New Roman" panose="02020603050405020304" charset="0"/>
                <a:ea typeface="宋体" panose="02010600030101010101" pitchFamily="2" charset="-122"/>
              </a:rPr>
              <a:t>	</a:t>
            </a:r>
            <a:endParaRPr lang="zh-CN" altLang="en-US" sz="2200" b="1"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
        <p:nvSpPr>
          <p:cNvPr id="3" name="文本占位符 2"/>
          <p:cNvSpPr>
            <a:spLocks noGrp="1"/>
          </p:cNvSpPr>
          <p:nvPr>
            <p:ph sz="half" idx="1"/>
          </p:nvPr>
        </p:nvSpPr>
        <p:spPr/>
        <p:txBody>
          <a:bodyPr/>
          <a:lstStyle/>
          <a:p>
            <a:pPr marR="0" lvl="0" rtl="0"/>
            <a:r>
              <a:rPr lang="en-US" altLang="zh-CN" b="1" i="0" u="none" strike="noStrike" kern="100" baseline="0" dirty="0" smtClean="0">
                <a:solidFill>
                  <a:prstClr val="black"/>
                </a:solidFill>
                <a:latin typeface="Times New Roman" panose="02020603050405020304" charset="0"/>
                <a:ea typeface="黑体" panose="02010609060101010101" charset="-122"/>
              </a:rPr>
              <a:t>5.2.1  Flooding</a:t>
            </a:r>
            <a:r>
              <a:rPr lang="zh-CN" altLang="en-US" b="1" i="0" u="none" strike="noStrike" kern="100" baseline="0" dirty="0" smtClean="0">
                <a:solidFill>
                  <a:prstClr val="black"/>
                </a:solidFill>
                <a:latin typeface="Times New Roman" panose="02020603050405020304" charset="0"/>
                <a:ea typeface="黑体" panose="02010609060101010101" charset="-122"/>
              </a:rPr>
              <a:t>协议和</a:t>
            </a:r>
            <a:r>
              <a:rPr lang="en-US" altLang="zh-CN" b="1" i="0" u="none" strike="noStrike" kern="100" baseline="0" dirty="0" smtClean="0">
                <a:solidFill>
                  <a:prstClr val="black"/>
                </a:solidFill>
                <a:latin typeface="Times New Roman" panose="02020603050405020304" charset="0"/>
                <a:ea typeface="黑体" panose="02010609060101010101" charset="-122"/>
              </a:rPr>
              <a:t>Gossiping</a:t>
            </a:r>
            <a:r>
              <a:rPr lang="zh-CN" altLang="en-US" b="1" i="0" u="none" strike="noStrike" kern="100" baseline="0" dirty="0" smtClean="0">
                <a:solidFill>
                  <a:prstClr val="black"/>
                </a:solidFill>
                <a:latin typeface="Times New Roman" panose="02020603050405020304" charset="0"/>
                <a:ea typeface="黑体" panose="02010609060101010101" charset="-122"/>
              </a:rPr>
              <a:t>协议</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a:p>
            <a:pPr lvl="1"/>
            <a:r>
              <a:rPr lang="en-US" altLang="zh-CN" dirty="0">
                <a:solidFill>
                  <a:srgbClr val="FF0000"/>
                </a:solidFill>
              </a:rPr>
              <a:t>Flooding</a:t>
            </a:r>
            <a:r>
              <a:rPr lang="zh-CN" altLang="zh-CN" dirty="0">
                <a:solidFill>
                  <a:srgbClr val="FF0000"/>
                </a:solidFill>
              </a:rPr>
              <a:t>（泛洪）路由</a:t>
            </a:r>
            <a:r>
              <a:rPr lang="zh-CN" altLang="zh-CN" dirty="0" smtClean="0"/>
              <a:t>协议</a:t>
            </a:r>
            <a:r>
              <a:rPr lang="zh-CN" altLang="en-US" dirty="0" smtClean="0"/>
              <a:t>：</a:t>
            </a:r>
            <a:r>
              <a:rPr lang="zh-CN" altLang="zh-CN" dirty="0" smtClean="0"/>
              <a:t>一</a:t>
            </a:r>
            <a:r>
              <a:rPr lang="zh-CN" altLang="zh-CN" dirty="0"/>
              <a:t>种传统的网络路由</a:t>
            </a:r>
            <a:r>
              <a:rPr lang="zh-CN" altLang="zh-CN" dirty="0" smtClean="0"/>
              <a:t>协议</a:t>
            </a:r>
            <a:endParaRPr lang="en-US" altLang="zh-CN" dirty="0" smtClean="0"/>
          </a:p>
          <a:p>
            <a:pPr lvl="1"/>
            <a:r>
              <a:rPr lang="zh-CN" altLang="zh-CN" dirty="0" smtClean="0"/>
              <a:t>网络</a:t>
            </a:r>
            <a:r>
              <a:rPr lang="zh-CN" altLang="zh-CN" dirty="0"/>
              <a:t>中各节点不需要掌握网络拓扑结构和计算的路由算法。节点接收感应消息后，以</a:t>
            </a:r>
            <a:r>
              <a:rPr lang="zh-CN" altLang="zh-CN" dirty="0">
                <a:solidFill>
                  <a:srgbClr val="FF0000"/>
                </a:solidFill>
              </a:rPr>
              <a:t>广播的形式</a:t>
            </a:r>
            <a:r>
              <a:rPr lang="zh-CN" altLang="zh-CN" dirty="0"/>
              <a:t>向所有邻居节点转发消息，直到数据包到达目的节点或预先设定的生命期限变为零为止</a:t>
            </a:r>
            <a:r>
              <a:rPr lang="zh-CN" altLang="zh-CN" dirty="0" smtClean="0"/>
              <a:t>。</a:t>
            </a:r>
            <a:endParaRPr lang="en-US" altLang="zh-CN" dirty="0" smtClean="0"/>
          </a:p>
          <a:p>
            <a:pPr lvl="1"/>
            <a:r>
              <a:rPr lang="zh-CN" altLang="zh-CN" dirty="0" smtClean="0"/>
              <a:t>实现简单</a:t>
            </a:r>
            <a:r>
              <a:rPr lang="zh-CN" altLang="zh-CN" dirty="0"/>
              <a:t>、健壮性高，而且时延短、路径容错能力高，可以作为衡量标准去评价其他路由算法</a:t>
            </a:r>
            <a:r>
              <a:rPr lang="zh-CN" altLang="zh-CN" dirty="0" smtClean="0"/>
              <a:t>，</a:t>
            </a:r>
            <a:endParaRPr lang="en-US" altLang="zh-CN" dirty="0" smtClean="0"/>
          </a:p>
          <a:p>
            <a:pPr lvl="1"/>
            <a:r>
              <a:rPr lang="zh-CN" altLang="en-US" dirty="0" smtClean="0"/>
              <a:t>但</a:t>
            </a:r>
            <a:r>
              <a:rPr lang="zh-CN" altLang="zh-CN" dirty="0" smtClean="0"/>
              <a:t>该</a:t>
            </a:r>
            <a:r>
              <a:rPr lang="zh-CN" altLang="zh-CN" dirty="0"/>
              <a:t>协议很容易出现消息“</a:t>
            </a:r>
            <a:r>
              <a:rPr lang="zh-CN" altLang="zh-CN" dirty="0">
                <a:solidFill>
                  <a:srgbClr val="FF0000"/>
                </a:solidFill>
              </a:rPr>
              <a:t>内爆</a:t>
            </a:r>
            <a:r>
              <a:rPr lang="zh-CN" altLang="zh-CN" dirty="0"/>
              <a:t>”、盲目使用资源和消息重叠的情况，消息传输量大，加之能量浪费严重，这在资源受限的无线传感器网络是非常不利的。</a:t>
            </a:r>
            <a:endParaRPr lang="zh-CN" altLang="en-US" b="1" i="0" u="none" strike="noStrike" kern="100" baseline="0" dirty="0" smtClean="0">
              <a:solidFill>
                <a:prstClr val="black"/>
              </a:solidFill>
              <a:latin typeface="Times New Roman" panose="02020603050405020304" charset="0"/>
              <a:ea typeface="黑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lstStyle/>
          <a:p>
            <a:pPr marR="0" lvl="0" rtl="0"/>
            <a:r>
              <a:rPr lang="en-US" altLang="zh-CN" b="1" i="0" u="none" strike="noStrike" kern="100" baseline="0" dirty="0" smtClean="0">
                <a:solidFill>
                  <a:prstClr val="black"/>
                </a:solidFill>
                <a:latin typeface="Times New Roman" panose="02020603050405020304" charset="0"/>
                <a:ea typeface="黑体" panose="02010609060101010101" charset="-122"/>
              </a:rPr>
              <a:t>5.2.1  Flooding</a:t>
            </a:r>
            <a:r>
              <a:rPr lang="zh-CN" altLang="en-US" b="1" i="0" u="none" strike="noStrike" kern="100" baseline="0" dirty="0" smtClean="0">
                <a:solidFill>
                  <a:prstClr val="black"/>
                </a:solidFill>
                <a:latin typeface="Times New Roman" panose="02020603050405020304" charset="0"/>
                <a:ea typeface="黑体" panose="02010609060101010101" charset="-122"/>
              </a:rPr>
              <a:t>协议和</a:t>
            </a:r>
            <a:r>
              <a:rPr lang="en-US" altLang="zh-CN" b="1" i="0" u="none" strike="noStrike" kern="100" baseline="0" dirty="0" smtClean="0">
                <a:solidFill>
                  <a:prstClr val="black"/>
                </a:solidFill>
                <a:latin typeface="Times New Roman" panose="02020603050405020304" charset="0"/>
                <a:ea typeface="黑体" panose="02010609060101010101" charset="-122"/>
              </a:rPr>
              <a:t>Gossiping</a:t>
            </a:r>
            <a:r>
              <a:rPr lang="zh-CN" altLang="en-US" b="1" i="0" u="none" strike="noStrike" kern="100" baseline="0" dirty="0" smtClean="0">
                <a:solidFill>
                  <a:prstClr val="black"/>
                </a:solidFill>
                <a:latin typeface="Times New Roman" panose="02020603050405020304" charset="0"/>
                <a:ea typeface="黑体" panose="02010609060101010101" charset="-122"/>
              </a:rPr>
              <a:t>协议</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a:p>
            <a:pPr lvl="1"/>
            <a:r>
              <a:rPr lang="zh-CN" altLang="en-US" dirty="0" smtClean="0">
                <a:solidFill>
                  <a:srgbClr val="FF0000"/>
                </a:solidFill>
              </a:rPr>
              <a:t>信息爆炸</a:t>
            </a:r>
            <a:r>
              <a:rPr lang="zh-CN" altLang="en-US" dirty="0" smtClean="0"/>
              <a:t>：</a:t>
            </a:r>
            <a:r>
              <a:rPr lang="zh-CN" altLang="zh-CN" dirty="0" smtClean="0"/>
              <a:t>网络</a:t>
            </a:r>
            <a:r>
              <a:rPr lang="zh-CN" altLang="zh-CN" dirty="0"/>
              <a:t>中的每个节点都参与到每次的数据传输并接收到每次传输的数据，这种可能性将使得网络中无效数据传输急剧</a:t>
            </a:r>
            <a:r>
              <a:rPr lang="zh-CN" altLang="zh-CN" dirty="0" smtClean="0"/>
              <a:t>增加</a:t>
            </a:r>
            <a:endParaRPr lang="en-US" altLang="zh-CN" dirty="0" smtClean="0"/>
          </a:p>
          <a:p>
            <a:pPr lvl="1"/>
            <a:r>
              <a:rPr lang="zh-CN" altLang="zh-CN" dirty="0">
                <a:solidFill>
                  <a:srgbClr val="FF0000"/>
                </a:solidFill>
              </a:rPr>
              <a:t>信息</a:t>
            </a:r>
            <a:r>
              <a:rPr lang="zh-CN" altLang="zh-CN" dirty="0" smtClean="0">
                <a:solidFill>
                  <a:srgbClr val="FF0000"/>
                </a:solidFill>
              </a:rPr>
              <a:t>重叠</a:t>
            </a:r>
            <a:r>
              <a:rPr lang="zh-CN" altLang="en-US" dirty="0" smtClean="0"/>
              <a:t>：</a:t>
            </a:r>
            <a:r>
              <a:rPr lang="zh-CN" altLang="zh-CN" dirty="0"/>
              <a:t>节点</a:t>
            </a:r>
            <a:r>
              <a:rPr lang="en-US" altLang="zh-CN" dirty="0"/>
              <a:t>A</a:t>
            </a:r>
            <a:r>
              <a:rPr lang="zh-CN" altLang="zh-CN" dirty="0"/>
              <a:t>和节点</a:t>
            </a:r>
            <a:r>
              <a:rPr lang="en-US" altLang="zh-CN" dirty="0"/>
              <a:t>B</a:t>
            </a:r>
            <a:r>
              <a:rPr lang="zh-CN" altLang="zh-CN" dirty="0"/>
              <a:t>收集的信息有相同重叠的部分</a:t>
            </a:r>
            <a:r>
              <a:rPr lang="en-US" altLang="zh-CN" dirty="0"/>
              <a:t>Z</a:t>
            </a:r>
            <a:r>
              <a:rPr lang="zh-CN" altLang="zh-CN" dirty="0"/>
              <a:t>，当它们把信息传送给节点</a:t>
            </a:r>
            <a:r>
              <a:rPr lang="en-US" altLang="zh-CN" dirty="0"/>
              <a:t>C</a:t>
            </a:r>
            <a:r>
              <a:rPr lang="zh-CN" altLang="zh-CN" dirty="0"/>
              <a:t>时，节点</a:t>
            </a:r>
            <a:r>
              <a:rPr lang="en-US" altLang="zh-CN" dirty="0"/>
              <a:t>C</a:t>
            </a:r>
            <a:r>
              <a:rPr lang="zh-CN" altLang="zh-CN" dirty="0"/>
              <a:t>会接收到信息</a:t>
            </a:r>
            <a:r>
              <a:rPr lang="en-US" altLang="zh-CN" dirty="0"/>
              <a:t>Z</a:t>
            </a:r>
            <a:r>
              <a:rPr lang="zh-CN" altLang="zh-CN" dirty="0"/>
              <a:t>的两个副本。如果源节点远离目的节点时，这种现象尤其严重，而且收到的副本数量可能会远大于</a:t>
            </a:r>
            <a:r>
              <a:rPr lang="en-US" altLang="zh-CN" dirty="0"/>
              <a:t>2</a:t>
            </a:r>
            <a:r>
              <a:rPr lang="zh-CN" altLang="zh-CN" dirty="0"/>
              <a:t>。</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p:txBody>
      </p:sp>
      <p:pic>
        <p:nvPicPr>
          <p:cNvPr id="4" name="图片 3"/>
          <p:cNvPicPr>
            <a:picLocks noChangeAspect="1"/>
          </p:cNvPicPr>
          <p:nvPr/>
        </p:nvPicPr>
        <p:blipFill>
          <a:blip r:embed="rId1"/>
          <a:stretch>
            <a:fillRect/>
          </a:stretch>
        </p:blipFill>
        <p:spPr>
          <a:xfrm>
            <a:off x="1939431" y="4001294"/>
            <a:ext cx="5780952" cy="2628571"/>
          </a:xfrm>
          <a:prstGeom prst="rect">
            <a:avLst/>
          </a:prstGeom>
        </p:spPr>
      </p:pic>
      <p:sp>
        <p:nvSpPr>
          <p:cNvPr id="6" name="标题 5"/>
          <p:cNvSpPr>
            <a:spLocks noGrp="1"/>
          </p:cNvSpPr>
          <p:nvPr>
            <p:ph type="title"/>
          </p:nvPr>
        </p:nvSpPr>
        <p:spPr/>
        <p:txBody>
          <a:bodyPr>
            <a:normAutofit/>
          </a:bodyPr>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lstStyle/>
          <a:p>
            <a:pPr marR="0" lvl="0" rtl="0"/>
            <a:r>
              <a:rPr lang="en-US" altLang="zh-CN" b="1" i="0" u="none" strike="noStrike" kern="100" baseline="0" dirty="0" smtClean="0">
                <a:solidFill>
                  <a:prstClr val="black"/>
                </a:solidFill>
                <a:latin typeface="Times New Roman" panose="02020603050405020304" charset="0"/>
                <a:ea typeface="黑体" panose="02010609060101010101" charset="-122"/>
              </a:rPr>
              <a:t>5.2.1  Flooding</a:t>
            </a:r>
            <a:r>
              <a:rPr lang="zh-CN" altLang="en-US" b="1" i="0" u="none" strike="noStrike" kern="100" baseline="0" dirty="0" smtClean="0">
                <a:solidFill>
                  <a:prstClr val="black"/>
                </a:solidFill>
                <a:latin typeface="Times New Roman" panose="02020603050405020304" charset="0"/>
                <a:ea typeface="黑体" panose="02010609060101010101" charset="-122"/>
              </a:rPr>
              <a:t>协议和</a:t>
            </a:r>
            <a:r>
              <a:rPr lang="en-US" altLang="zh-CN" b="1" i="0" u="none" strike="noStrike" kern="100" baseline="0" dirty="0" smtClean="0">
                <a:solidFill>
                  <a:prstClr val="black"/>
                </a:solidFill>
                <a:latin typeface="Times New Roman" panose="02020603050405020304" charset="0"/>
                <a:ea typeface="黑体" panose="02010609060101010101" charset="-122"/>
              </a:rPr>
              <a:t>Gossiping</a:t>
            </a:r>
            <a:r>
              <a:rPr lang="zh-CN" altLang="en-US" b="1" i="0" u="none" strike="noStrike" kern="100" baseline="0" dirty="0" smtClean="0">
                <a:solidFill>
                  <a:prstClr val="black"/>
                </a:solidFill>
                <a:latin typeface="Times New Roman" panose="02020603050405020304" charset="0"/>
                <a:ea typeface="黑体" panose="02010609060101010101" charset="-122"/>
              </a:rPr>
              <a:t>协议</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a:p>
            <a:pPr lvl="1"/>
            <a:r>
              <a:rPr lang="en-US" altLang="zh-CN" b="1" dirty="0" smtClean="0">
                <a:solidFill>
                  <a:srgbClr val="FF0000"/>
                </a:solidFill>
              </a:rPr>
              <a:t>Gossiping</a:t>
            </a:r>
            <a:r>
              <a:rPr lang="zh-CN" altLang="en-US" b="1" dirty="0" smtClean="0">
                <a:solidFill>
                  <a:srgbClr val="FF0000"/>
                </a:solidFill>
              </a:rPr>
              <a:t>：</a:t>
            </a:r>
            <a:r>
              <a:rPr lang="zh-CN" altLang="zh-CN" b="1" dirty="0" smtClean="0">
                <a:solidFill>
                  <a:srgbClr val="FF0000"/>
                </a:solidFill>
              </a:rPr>
              <a:t>闲聊路由协议</a:t>
            </a:r>
            <a:r>
              <a:rPr lang="zh-CN" altLang="en-US" dirty="0" smtClean="0"/>
              <a:t>，</a:t>
            </a:r>
            <a:r>
              <a:rPr lang="zh-CN" altLang="zh-CN" dirty="0" smtClean="0"/>
              <a:t>对</a:t>
            </a:r>
            <a:r>
              <a:rPr lang="zh-CN" altLang="zh-CN" dirty="0"/>
              <a:t>泛洪路由协议的</a:t>
            </a:r>
            <a:r>
              <a:rPr lang="zh-CN" altLang="zh-CN" dirty="0" smtClean="0"/>
              <a:t>改进</a:t>
            </a:r>
            <a:r>
              <a:rPr lang="zh-CN" altLang="en-US" dirty="0" smtClean="0"/>
              <a:t>，</a:t>
            </a:r>
            <a:r>
              <a:rPr lang="zh-CN" altLang="zh-CN" dirty="0" smtClean="0"/>
              <a:t>节点</a:t>
            </a:r>
            <a:r>
              <a:rPr lang="zh-CN" altLang="zh-CN" dirty="0"/>
              <a:t>在收到感应数据后不是采用广播形式而是</a:t>
            </a:r>
            <a:r>
              <a:rPr lang="zh-CN" altLang="zh-CN" dirty="0">
                <a:solidFill>
                  <a:srgbClr val="FF0000"/>
                </a:solidFill>
              </a:rPr>
              <a:t>随机选择一个</a:t>
            </a:r>
            <a:r>
              <a:rPr lang="zh-CN" altLang="zh-CN" dirty="0"/>
              <a:t>节点进行转发</a:t>
            </a:r>
            <a:r>
              <a:rPr lang="zh-CN" altLang="zh-CN" dirty="0" smtClean="0"/>
              <a:t>，避免</a:t>
            </a:r>
            <a:r>
              <a:rPr lang="zh-CN" altLang="zh-CN" dirty="0"/>
              <a:t>了消息的</a:t>
            </a:r>
            <a:r>
              <a:rPr lang="zh-CN" altLang="zh-CN" dirty="0" smtClean="0"/>
              <a:t>内爆</a:t>
            </a:r>
            <a:endParaRPr lang="en-US" altLang="zh-CN" dirty="0" smtClean="0"/>
          </a:p>
          <a:p>
            <a:pPr lvl="1"/>
            <a:r>
              <a:rPr lang="zh-CN" altLang="zh-CN" dirty="0" smtClean="0"/>
              <a:t>随机</a:t>
            </a:r>
            <a:r>
              <a:rPr lang="zh-CN" altLang="zh-CN" dirty="0"/>
              <a:t>选取节点会造成路径质量的良莠不齐，</a:t>
            </a:r>
            <a:r>
              <a:rPr lang="zh-CN" altLang="zh-CN" dirty="0">
                <a:solidFill>
                  <a:srgbClr val="FF0000"/>
                </a:solidFill>
              </a:rPr>
              <a:t>增加了数据传输时延</a:t>
            </a:r>
            <a:r>
              <a:rPr lang="zh-CN" altLang="zh-CN" dirty="0"/>
              <a:t>，并且无法解决资源盲目利用和消息重叠的问题</a:t>
            </a:r>
            <a:r>
              <a:rPr lang="zh-CN" altLang="zh-CN" dirty="0" smtClean="0"/>
              <a:t>。</a:t>
            </a:r>
            <a:endParaRPr lang="en-US" altLang="zh-CN" dirty="0" smtClean="0"/>
          </a:p>
          <a:p>
            <a:pPr lvl="1"/>
            <a:r>
              <a:rPr lang="zh-CN" altLang="zh-CN" dirty="0" smtClean="0"/>
              <a:t>随机</a:t>
            </a:r>
            <a:r>
              <a:rPr lang="zh-CN" altLang="zh-CN" dirty="0"/>
              <a:t>选择接收</a:t>
            </a:r>
            <a:r>
              <a:rPr lang="zh-CN" altLang="zh-CN" dirty="0" smtClean="0"/>
              <a:t>节点方式</a:t>
            </a:r>
            <a:r>
              <a:rPr lang="zh-CN" altLang="zh-CN" dirty="0"/>
              <a:t>，使得数据传输不可能按照最短路径进行，甚至会出现南辕北辙的现象，所以数据传输平均时延拉长，传输速度变慢，无谓的资源消耗依然很多</a:t>
            </a:r>
            <a:r>
              <a:rPr lang="zh-CN" altLang="zh-CN" dirty="0" smtClean="0"/>
              <a:t>。</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lstStyle/>
          <a:p>
            <a:pPr lvl="0"/>
            <a:r>
              <a:rPr lang="en-US" altLang="zh-CN" b="1" i="0" u="none" strike="noStrike" kern="100" baseline="0" dirty="0" smtClean="0">
                <a:solidFill>
                  <a:prstClr val="black"/>
                </a:solidFill>
                <a:latin typeface="Times New Roman" panose="02020603050405020304" charset="0"/>
                <a:ea typeface="黑体" panose="02010609060101010101" charset="-122"/>
              </a:rPr>
              <a:t>5.2.2  </a:t>
            </a:r>
            <a:r>
              <a:rPr lang="en-US" altLang="zh-CN" b="1" dirty="0"/>
              <a:t>SPIN</a:t>
            </a:r>
            <a:r>
              <a:rPr lang="zh-CN" altLang="zh-CN" b="1" dirty="0"/>
              <a:t>路由</a:t>
            </a:r>
            <a:r>
              <a:rPr lang="zh-CN" altLang="zh-CN" b="1" dirty="0" smtClean="0"/>
              <a:t>协议</a:t>
            </a:r>
            <a:endParaRPr lang="en-US" altLang="zh-CN" b="1" dirty="0" smtClean="0"/>
          </a:p>
          <a:p>
            <a:pPr lvl="1"/>
            <a:r>
              <a:rPr lang="en-US" altLang="zh-CN" dirty="0" smtClean="0"/>
              <a:t>SPIN</a:t>
            </a:r>
            <a:r>
              <a:rPr lang="zh-CN" altLang="en-US" dirty="0" smtClean="0"/>
              <a:t>：</a:t>
            </a:r>
            <a:r>
              <a:rPr lang="en-US" altLang="zh-CN" dirty="0" smtClean="0"/>
              <a:t>Sensor </a:t>
            </a:r>
            <a:r>
              <a:rPr lang="en-US" altLang="zh-CN" dirty="0"/>
              <a:t>Protocol for Information via Negotiation</a:t>
            </a:r>
            <a:r>
              <a:rPr lang="zh-CN" altLang="zh-CN" dirty="0"/>
              <a:t>，</a:t>
            </a:r>
            <a:r>
              <a:rPr lang="zh-CN" altLang="zh-CN" dirty="0">
                <a:solidFill>
                  <a:srgbClr val="FF0000"/>
                </a:solidFill>
              </a:rPr>
              <a:t>信息协商传感器</a:t>
            </a:r>
            <a:r>
              <a:rPr lang="zh-CN" altLang="zh-CN" dirty="0" smtClean="0">
                <a:solidFill>
                  <a:srgbClr val="FF0000"/>
                </a:solidFill>
              </a:rPr>
              <a:t>协议</a:t>
            </a:r>
            <a:endParaRPr lang="en-US" altLang="zh-CN" dirty="0" smtClean="0">
              <a:solidFill>
                <a:srgbClr val="FF0000"/>
              </a:solidFill>
            </a:endParaRPr>
          </a:p>
          <a:p>
            <a:pPr lvl="1"/>
            <a:r>
              <a:rPr lang="zh-CN" altLang="zh-CN" dirty="0"/>
              <a:t>第一个以</a:t>
            </a:r>
            <a:r>
              <a:rPr lang="zh-CN" altLang="zh-CN" dirty="0">
                <a:solidFill>
                  <a:srgbClr val="FF0000"/>
                </a:solidFill>
              </a:rPr>
              <a:t>数据为中心的自适应路由</a:t>
            </a:r>
            <a:r>
              <a:rPr lang="zh-CN" altLang="zh-CN" dirty="0"/>
              <a:t>协议，针对洪泛算法中的“内爆”和“重叠”问题，它通过</a:t>
            </a:r>
            <a:r>
              <a:rPr lang="zh-CN" altLang="zh-CN" dirty="0">
                <a:solidFill>
                  <a:srgbClr val="FF0000"/>
                </a:solidFill>
              </a:rPr>
              <a:t>协商机制</a:t>
            </a:r>
            <a:r>
              <a:rPr lang="zh-CN" altLang="zh-CN" dirty="0"/>
              <a:t>来</a:t>
            </a:r>
            <a:r>
              <a:rPr lang="zh-CN" altLang="zh-CN" dirty="0" smtClean="0"/>
              <a:t>解决</a:t>
            </a:r>
            <a:endParaRPr lang="en-US" altLang="zh-CN" dirty="0" smtClean="0"/>
          </a:p>
          <a:p>
            <a:pPr lvl="1"/>
            <a:r>
              <a:rPr lang="zh-CN" altLang="zh-CN" dirty="0"/>
              <a:t>传感器节点监控相邻节点各自能量的变化，若能量处于低水平状态，则必须中断操作转而充当路由器的角色，所以在一定程度上</a:t>
            </a:r>
            <a:r>
              <a:rPr lang="zh-CN" altLang="zh-CN" dirty="0">
                <a:solidFill>
                  <a:srgbClr val="FF0000"/>
                </a:solidFill>
              </a:rPr>
              <a:t>避免了资源的盲目使用</a:t>
            </a:r>
            <a:r>
              <a:rPr lang="zh-CN" altLang="zh-CN" dirty="0" smtClean="0"/>
              <a:t>。</a:t>
            </a:r>
            <a:endParaRPr lang="en-US" altLang="zh-CN" dirty="0" smtClean="0"/>
          </a:p>
          <a:p>
            <a:pPr lvl="1"/>
            <a:r>
              <a:rPr lang="zh-CN" altLang="zh-CN" dirty="0" smtClean="0"/>
              <a:t>但</a:t>
            </a:r>
            <a:r>
              <a:rPr lang="zh-CN" altLang="zh-CN" dirty="0"/>
              <a:t>在传输新数据的过程中，没有考虑到邻居节点由于自身能量的限制，只直接向邻近节点广播</a:t>
            </a:r>
            <a:r>
              <a:rPr lang="en-US" altLang="zh-CN" dirty="0"/>
              <a:t>ADV</a:t>
            </a:r>
            <a:r>
              <a:rPr lang="zh-CN" altLang="zh-CN" dirty="0"/>
              <a:t>数据包，不转发任何新数据。如果新数据无法传输，就会出现“</a:t>
            </a:r>
            <a:r>
              <a:rPr lang="zh-CN" altLang="zh-CN" dirty="0">
                <a:solidFill>
                  <a:srgbClr val="FF0000"/>
                </a:solidFill>
              </a:rPr>
              <a:t>数据盲点</a:t>
            </a:r>
            <a:r>
              <a:rPr lang="zh-CN" altLang="zh-CN" dirty="0"/>
              <a:t>”，影响整个网络数据包信息的收集。</a:t>
            </a:r>
            <a:endParaRPr lang="en-US" altLang="zh-CN" b="1" i="0" u="none" strike="noStrike" kern="100" baseline="0" dirty="0" smtClean="0">
              <a:solidFill>
                <a:prstClr val="black"/>
              </a:solidFill>
              <a:latin typeface="Times New Roman" panose="02020603050405020304" charset="0"/>
              <a:ea typeface="黑体" panose="02010609060101010101" charset="-122"/>
            </a:endParaRPr>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lstStyle/>
          <a:p>
            <a:pPr lvl="0"/>
            <a:r>
              <a:rPr lang="en-US" altLang="zh-CN" b="1" i="0" u="none" strike="noStrike" kern="100" baseline="0" dirty="0" smtClean="0">
                <a:solidFill>
                  <a:prstClr val="black"/>
                </a:solidFill>
                <a:latin typeface="Times New Roman" panose="02020603050405020304" charset="0"/>
                <a:ea typeface="黑体" panose="02010609060101010101" charset="-122"/>
              </a:rPr>
              <a:t>5.2.2  </a:t>
            </a:r>
            <a:r>
              <a:rPr lang="en-US" altLang="zh-CN" b="1" dirty="0"/>
              <a:t>SPIN</a:t>
            </a:r>
            <a:r>
              <a:rPr lang="zh-CN" altLang="zh-CN" b="1" dirty="0"/>
              <a:t>路由</a:t>
            </a:r>
            <a:r>
              <a:rPr lang="zh-CN" altLang="zh-CN" b="1" dirty="0" smtClean="0"/>
              <a:t>协议</a:t>
            </a:r>
            <a:endParaRPr lang="en-US" altLang="zh-CN" b="1" dirty="0" smtClean="0"/>
          </a:p>
          <a:p>
            <a:r>
              <a:rPr lang="en-US" altLang="zh-CN" dirty="0" smtClean="0"/>
              <a:t>3</a:t>
            </a:r>
            <a:r>
              <a:rPr lang="zh-CN" altLang="zh-CN" dirty="0"/>
              <a:t>种消息</a:t>
            </a:r>
            <a:r>
              <a:rPr lang="zh-CN" altLang="zh-CN" dirty="0" smtClean="0"/>
              <a:t>类型</a:t>
            </a:r>
            <a:r>
              <a:rPr lang="zh-CN" altLang="en-US" dirty="0" smtClean="0"/>
              <a:t>：</a:t>
            </a:r>
            <a:endParaRPr lang="en-US" altLang="zh-CN" dirty="0" smtClean="0"/>
          </a:p>
          <a:p>
            <a:pPr lvl="1"/>
            <a:r>
              <a:rPr lang="en-US" altLang="zh-CN" dirty="0" smtClean="0">
                <a:solidFill>
                  <a:srgbClr val="FF0000"/>
                </a:solidFill>
              </a:rPr>
              <a:t>ADV</a:t>
            </a:r>
            <a:r>
              <a:rPr lang="zh-CN" altLang="en-US" dirty="0" smtClean="0">
                <a:solidFill>
                  <a:srgbClr val="FF0000"/>
                </a:solidFill>
              </a:rPr>
              <a:t>： </a:t>
            </a:r>
            <a:r>
              <a:rPr lang="en-US" altLang="zh-CN" dirty="0">
                <a:solidFill>
                  <a:srgbClr val="FF0000"/>
                </a:solidFill>
              </a:rPr>
              <a:t> </a:t>
            </a:r>
            <a:r>
              <a:rPr lang="zh-CN" altLang="zh-CN" dirty="0">
                <a:solidFill>
                  <a:srgbClr val="FF0000"/>
                </a:solidFill>
              </a:rPr>
              <a:t>广告</a:t>
            </a:r>
            <a:r>
              <a:rPr lang="zh-CN" altLang="zh-CN" dirty="0" smtClean="0">
                <a:solidFill>
                  <a:srgbClr val="FF0000"/>
                </a:solidFill>
              </a:rPr>
              <a:t>消息</a:t>
            </a:r>
            <a:endParaRPr lang="en-US" altLang="zh-CN" dirty="0" smtClean="0">
              <a:solidFill>
                <a:srgbClr val="FF0000"/>
              </a:solidFill>
            </a:endParaRPr>
          </a:p>
          <a:p>
            <a:pPr lvl="1"/>
            <a:r>
              <a:rPr lang="en-US" altLang="zh-CN" dirty="0" smtClean="0">
                <a:solidFill>
                  <a:srgbClr val="FF0000"/>
                </a:solidFill>
              </a:rPr>
              <a:t>REQ</a:t>
            </a:r>
            <a:r>
              <a:rPr lang="zh-CN" altLang="en-US" dirty="0" smtClean="0">
                <a:solidFill>
                  <a:srgbClr val="FF0000"/>
                </a:solidFill>
              </a:rPr>
              <a:t>： </a:t>
            </a:r>
            <a:r>
              <a:rPr lang="zh-CN" altLang="zh-CN" dirty="0" smtClean="0">
                <a:solidFill>
                  <a:srgbClr val="FF0000"/>
                </a:solidFill>
              </a:rPr>
              <a:t>请求消息</a:t>
            </a:r>
            <a:endParaRPr lang="en-US" altLang="zh-CN" dirty="0" smtClean="0">
              <a:solidFill>
                <a:srgbClr val="FF0000"/>
              </a:solidFill>
            </a:endParaRPr>
          </a:p>
          <a:p>
            <a:pPr lvl="1"/>
            <a:r>
              <a:rPr lang="en-US" altLang="zh-CN" dirty="0" smtClean="0">
                <a:solidFill>
                  <a:srgbClr val="FF0000"/>
                </a:solidFill>
              </a:rPr>
              <a:t>DATA</a:t>
            </a:r>
            <a:r>
              <a:rPr lang="zh-CN" altLang="en-US" dirty="0" smtClean="0">
                <a:solidFill>
                  <a:srgbClr val="FF0000"/>
                </a:solidFill>
              </a:rPr>
              <a:t>：</a:t>
            </a:r>
            <a:r>
              <a:rPr lang="zh-CN" altLang="zh-CN" dirty="0" smtClean="0">
                <a:solidFill>
                  <a:srgbClr val="FF0000"/>
                </a:solidFill>
              </a:rPr>
              <a:t>数据消息</a:t>
            </a:r>
            <a:endParaRPr lang="zh-CN" altLang="zh-CN" dirty="0">
              <a:solidFill>
                <a:srgbClr val="FF0000"/>
              </a:solidFill>
            </a:endParaRPr>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b="1" i="0" u="none" strike="noStrike" kern="100" baseline="0" dirty="0" smtClean="0">
                <a:solidFill>
                  <a:prstClr val="black"/>
                </a:solidFill>
                <a:latin typeface="Times New Roman" panose="02020603050405020304" charset="0"/>
                <a:ea typeface="黑体" panose="02010609060101010101" charset="-122"/>
              </a:rPr>
              <a:t>5.2.2  </a:t>
            </a:r>
            <a:r>
              <a:rPr lang="en-US" altLang="zh-CN" b="1" dirty="0"/>
              <a:t>SPIN</a:t>
            </a:r>
            <a:r>
              <a:rPr lang="zh-CN" altLang="zh-CN" b="1" dirty="0"/>
              <a:t>路由</a:t>
            </a:r>
            <a:r>
              <a:rPr lang="zh-CN" altLang="zh-CN" b="1" dirty="0" smtClean="0"/>
              <a:t>协议</a:t>
            </a:r>
            <a:endParaRPr lang="en-US" altLang="zh-CN" b="1" dirty="0" smtClean="0"/>
          </a:p>
          <a:p>
            <a:r>
              <a:rPr lang="zh-CN" altLang="zh-CN" dirty="0"/>
              <a:t>路由过程</a:t>
            </a:r>
            <a:r>
              <a:rPr lang="zh-CN" altLang="en-US" dirty="0" smtClean="0"/>
              <a:t>：</a:t>
            </a:r>
            <a:endParaRPr lang="en-US" altLang="zh-CN" dirty="0" smtClean="0"/>
          </a:p>
          <a:p>
            <a:pPr lvl="1"/>
            <a:r>
              <a:rPr lang="zh-CN" altLang="zh-CN" dirty="0">
                <a:solidFill>
                  <a:srgbClr val="FF0000"/>
                </a:solidFill>
              </a:rPr>
              <a:t>广告</a:t>
            </a:r>
            <a:r>
              <a:rPr lang="zh-CN" altLang="zh-CN" dirty="0" smtClean="0">
                <a:solidFill>
                  <a:srgbClr val="FF0000"/>
                </a:solidFill>
              </a:rPr>
              <a:t>扩散</a:t>
            </a:r>
            <a:r>
              <a:rPr lang="zh-CN" altLang="en-US" dirty="0" smtClean="0"/>
              <a:t>：</a:t>
            </a:r>
            <a:r>
              <a:rPr lang="zh-CN" altLang="zh-CN" dirty="0" smtClean="0"/>
              <a:t>节点</a:t>
            </a:r>
            <a:r>
              <a:rPr lang="zh-CN" altLang="zh-CN" dirty="0"/>
              <a:t>采集到数据后向邻居节点发送</a:t>
            </a:r>
            <a:r>
              <a:rPr lang="en-US" altLang="zh-CN" dirty="0"/>
              <a:t>ADV</a:t>
            </a:r>
            <a:r>
              <a:rPr lang="zh-CN" altLang="zh-CN" dirty="0" smtClean="0"/>
              <a:t>消息，</a:t>
            </a:r>
            <a:r>
              <a:rPr lang="zh-CN" altLang="zh-CN" dirty="0"/>
              <a:t>其中</a:t>
            </a:r>
            <a:r>
              <a:rPr lang="en-US" altLang="zh-CN" dirty="0"/>
              <a:t>ADV</a:t>
            </a:r>
            <a:r>
              <a:rPr lang="zh-CN" altLang="zh-CN" dirty="0"/>
              <a:t>消息包含</a:t>
            </a:r>
            <a:r>
              <a:rPr lang="zh-CN" altLang="zh-CN" dirty="0">
                <a:solidFill>
                  <a:srgbClr val="FF0000"/>
                </a:solidFill>
              </a:rPr>
              <a:t>数据的描述</a:t>
            </a:r>
            <a:r>
              <a:rPr lang="zh-CN" altLang="zh-CN" dirty="0" smtClean="0">
                <a:solidFill>
                  <a:srgbClr val="FF0000"/>
                </a:solidFill>
              </a:rPr>
              <a:t>信息</a:t>
            </a:r>
            <a:r>
              <a:rPr lang="zh-CN" altLang="en-US" dirty="0" smtClean="0"/>
              <a:t>。</a:t>
            </a:r>
            <a:r>
              <a:rPr lang="zh-CN" altLang="zh-CN" dirty="0" smtClean="0"/>
              <a:t>描述</a:t>
            </a:r>
            <a:r>
              <a:rPr lang="zh-CN" altLang="zh-CN" dirty="0"/>
              <a:t>信息通常比原始信息要短得多，因此广告信息消耗的能量</a:t>
            </a:r>
            <a:r>
              <a:rPr lang="zh-CN" altLang="zh-CN" dirty="0" smtClean="0"/>
              <a:t>较小；</a:t>
            </a:r>
            <a:endParaRPr lang="zh-CN" altLang="zh-CN" sz="3200" dirty="0"/>
          </a:p>
          <a:p>
            <a:pPr lvl="1"/>
            <a:r>
              <a:rPr lang="zh-CN" altLang="en-US" dirty="0" smtClean="0">
                <a:solidFill>
                  <a:srgbClr val="FF0000"/>
                </a:solidFill>
              </a:rPr>
              <a:t>数据</a:t>
            </a:r>
            <a:r>
              <a:rPr lang="zh-CN" altLang="zh-CN" dirty="0" smtClean="0">
                <a:solidFill>
                  <a:srgbClr val="FF0000"/>
                </a:solidFill>
              </a:rPr>
              <a:t>请求</a:t>
            </a:r>
            <a:r>
              <a:rPr lang="zh-CN" altLang="en-US" dirty="0" smtClean="0"/>
              <a:t>：</a:t>
            </a:r>
            <a:r>
              <a:rPr lang="zh-CN" altLang="zh-CN" dirty="0" smtClean="0"/>
              <a:t>邻居</a:t>
            </a:r>
            <a:r>
              <a:rPr lang="zh-CN" altLang="zh-CN" dirty="0"/>
              <a:t>节点接收到</a:t>
            </a:r>
            <a:r>
              <a:rPr lang="en-US" altLang="zh-CN" dirty="0"/>
              <a:t>ADV</a:t>
            </a:r>
            <a:r>
              <a:rPr lang="zh-CN" altLang="zh-CN" dirty="0"/>
              <a:t>消息后，如果</a:t>
            </a:r>
            <a:r>
              <a:rPr lang="zh-CN" altLang="zh-CN" dirty="0">
                <a:solidFill>
                  <a:srgbClr val="FF0000"/>
                </a:solidFill>
              </a:rPr>
              <a:t>对信息感兴趣且尚未收到</a:t>
            </a:r>
            <a:r>
              <a:rPr lang="zh-CN" altLang="zh-CN" dirty="0"/>
              <a:t>过</a:t>
            </a:r>
            <a:r>
              <a:rPr lang="en-US" altLang="zh-CN" dirty="0"/>
              <a:t>ADV</a:t>
            </a:r>
            <a:r>
              <a:rPr lang="zh-CN" altLang="zh-CN" dirty="0"/>
              <a:t>消息中的描述信息所对应的数据，则给发送</a:t>
            </a:r>
            <a:r>
              <a:rPr lang="en-US" altLang="zh-CN" dirty="0"/>
              <a:t>ADV</a:t>
            </a:r>
            <a:r>
              <a:rPr lang="zh-CN" altLang="zh-CN" dirty="0"/>
              <a:t>消息的节点</a:t>
            </a:r>
            <a:r>
              <a:rPr lang="zh-CN" altLang="zh-CN" dirty="0">
                <a:solidFill>
                  <a:srgbClr val="FF0000"/>
                </a:solidFill>
              </a:rPr>
              <a:t>发送数据请求消息</a:t>
            </a:r>
            <a:r>
              <a:rPr lang="en-US" altLang="zh-CN" dirty="0" smtClean="0">
                <a:solidFill>
                  <a:srgbClr val="FF0000"/>
                </a:solidFill>
              </a:rPr>
              <a:t>REQ</a:t>
            </a:r>
            <a:r>
              <a:rPr lang="zh-CN" altLang="zh-CN" dirty="0" smtClean="0"/>
              <a:t>；</a:t>
            </a:r>
            <a:r>
              <a:rPr lang="zh-CN" altLang="zh-CN" dirty="0"/>
              <a:t>如果已经收到或不感兴趣，则丢弃</a:t>
            </a:r>
            <a:r>
              <a:rPr lang="en-US" altLang="zh-CN" dirty="0"/>
              <a:t>ADV</a:t>
            </a:r>
            <a:r>
              <a:rPr lang="zh-CN" altLang="zh-CN" dirty="0"/>
              <a:t>消息，不做处理；</a:t>
            </a:r>
            <a:endParaRPr lang="zh-CN" altLang="zh-CN" sz="3200" dirty="0"/>
          </a:p>
          <a:p>
            <a:pPr lvl="1"/>
            <a:r>
              <a:rPr lang="zh-CN" altLang="en-US" dirty="0" smtClean="0">
                <a:solidFill>
                  <a:srgbClr val="FF0000"/>
                </a:solidFill>
              </a:rPr>
              <a:t>数据</a:t>
            </a:r>
            <a:r>
              <a:rPr lang="zh-CN" altLang="zh-CN" dirty="0" smtClean="0">
                <a:solidFill>
                  <a:srgbClr val="FF0000"/>
                </a:solidFill>
              </a:rPr>
              <a:t>传输</a:t>
            </a:r>
            <a:r>
              <a:rPr lang="zh-CN" altLang="en-US" dirty="0" smtClean="0"/>
              <a:t>：</a:t>
            </a:r>
            <a:r>
              <a:rPr lang="zh-CN" altLang="zh-CN" dirty="0" smtClean="0"/>
              <a:t>当</a:t>
            </a:r>
            <a:r>
              <a:rPr lang="zh-CN" altLang="zh-CN" dirty="0"/>
              <a:t>节点收到邻居节点返回的数据请求消息</a:t>
            </a:r>
            <a:r>
              <a:rPr lang="en-US" altLang="zh-CN" dirty="0"/>
              <a:t>REQ</a:t>
            </a:r>
            <a:r>
              <a:rPr lang="zh-CN" altLang="zh-CN" dirty="0"/>
              <a:t>后，将</a:t>
            </a:r>
            <a:r>
              <a:rPr lang="zh-CN" altLang="zh-CN" dirty="0">
                <a:solidFill>
                  <a:srgbClr val="FF0000"/>
                </a:solidFill>
              </a:rPr>
              <a:t>数据封装到</a:t>
            </a:r>
            <a:r>
              <a:rPr lang="en-US" altLang="zh-CN" dirty="0">
                <a:solidFill>
                  <a:srgbClr val="FF0000"/>
                </a:solidFill>
              </a:rPr>
              <a:t>DATA</a:t>
            </a:r>
            <a:r>
              <a:rPr lang="zh-CN" altLang="zh-CN" dirty="0">
                <a:solidFill>
                  <a:srgbClr val="FF0000"/>
                </a:solidFill>
              </a:rPr>
              <a:t>消息</a:t>
            </a:r>
            <a:r>
              <a:rPr lang="zh-CN" altLang="zh-CN" dirty="0"/>
              <a:t>中发送给该邻居</a:t>
            </a:r>
            <a:r>
              <a:rPr lang="zh-CN" altLang="zh-CN" dirty="0" smtClean="0"/>
              <a:t>节点</a:t>
            </a:r>
            <a:endParaRPr lang="zh-CN" altLang="zh-CN" dirty="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b="1" i="0" u="none" strike="noStrike" kern="100" baseline="0" dirty="0" smtClean="0">
                <a:solidFill>
                  <a:prstClr val="black"/>
                </a:solidFill>
                <a:latin typeface="Times New Roman" panose="02020603050405020304" charset="0"/>
                <a:ea typeface="黑体" panose="02010609060101010101" charset="-122"/>
              </a:rPr>
              <a:t>5.2.2  </a:t>
            </a:r>
            <a:r>
              <a:rPr lang="en-US" altLang="zh-CN" b="1" dirty="0"/>
              <a:t>SPIN</a:t>
            </a:r>
            <a:r>
              <a:rPr lang="zh-CN" altLang="zh-CN" b="1" dirty="0"/>
              <a:t>路由</a:t>
            </a:r>
            <a:r>
              <a:rPr lang="zh-CN" altLang="zh-CN" b="1" dirty="0" smtClean="0"/>
              <a:t>协议</a:t>
            </a:r>
            <a:endParaRPr lang="en-US" altLang="zh-CN" b="1" dirty="0" smtClean="0"/>
          </a:p>
          <a:p>
            <a:r>
              <a:rPr lang="zh-CN" altLang="zh-CN" dirty="0"/>
              <a:t>路由过程</a:t>
            </a:r>
            <a:r>
              <a:rPr lang="zh-CN" altLang="en-US" dirty="0" smtClean="0"/>
              <a:t>：</a:t>
            </a:r>
            <a:endParaRPr lang="en-US" altLang="zh-CN" dirty="0" smtClean="0"/>
          </a:p>
        </p:txBody>
      </p:sp>
      <p:pic>
        <p:nvPicPr>
          <p:cNvPr id="4" name="图片 3"/>
          <p:cNvPicPr/>
          <p:nvPr/>
        </p:nvPicPr>
        <p:blipFill>
          <a:blip r:embed="rId1"/>
          <a:stretch>
            <a:fillRect/>
          </a:stretch>
        </p:blipFill>
        <p:spPr>
          <a:xfrm>
            <a:off x="1866899" y="2872447"/>
            <a:ext cx="6418971" cy="3669030"/>
          </a:xfrm>
          <a:prstGeom prst="rect">
            <a:avLst/>
          </a:prstGeom>
          <a:noFill/>
          <a:ln>
            <a:noFill/>
          </a:ln>
        </p:spPr>
      </p:pic>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dirty="0" smtClean="0"/>
              <a:t>5.2.3  DD</a:t>
            </a:r>
            <a:r>
              <a:rPr lang="zh-CN" altLang="zh-CN" dirty="0" smtClean="0"/>
              <a:t>路由协议</a:t>
            </a:r>
            <a:endParaRPr lang="zh-CN" altLang="zh-CN" dirty="0" smtClean="0"/>
          </a:p>
          <a:p>
            <a:pPr lvl="1"/>
            <a:r>
              <a:rPr lang="en-US" altLang="zh-CN" dirty="0" smtClean="0"/>
              <a:t>DD</a:t>
            </a:r>
            <a:r>
              <a:rPr lang="zh-CN" altLang="en-US" dirty="0" smtClean="0"/>
              <a:t>：</a:t>
            </a:r>
            <a:r>
              <a:rPr lang="en-US" altLang="zh-CN" dirty="0" smtClean="0"/>
              <a:t> Directed Diffusion</a:t>
            </a:r>
            <a:r>
              <a:rPr lang="zh-CN" altLang="zh-CN" dirty="0" smtClean="0"/>
              <a:t>，</a:t>
            </a:r>
            <a:r>
              <a:rPr lang="zh-CN" altLang="zh-CN" dirty="0" smtClean="0">
                <a:solidFill>
                  <a:srgbClr val="FF0000"/>
                </a:solidFill>
              </a:rPr>
              <a:t>定向扩展路由</a:t>
            </a:r>
            <a:r>
              <a:rPr lang="zh-CN" altLang="zh-CN" dirty="0" smtClean="0"/>
              <a:t>协议</a:t>
            </a:r>
            <a:endParaRPr lang="en-US" altLang="zh-CN" dirty="0" smtClean="0"/>
          </a:p>
          <a:p>
            <a:pPr lvl="1"/>
            <a:r>
              <a:rPr lang="zh-CN" altLang="zh-CN" dirty="0" smtClean="0"/>
              <a:t>多用于查询的扩散路由协议</a:t>
            </a:r>
            <a:endParaRPr lang="en-US" altLang="zh-CN" dirty="0" smtClean="0"/>
          </a:p>
          <a:p>
            <a:pPr lvl="1"/>
            <a:r>
              <a:rPr lang="zh-CN" altLang="zh-CN" dirty="0" smtClean="0"/>
              <a:t>最大特点</a:t>
            </a:r>
            <a:r>
              <a:rPr lang="zh-CN" altLang="en-US" dirty="0" smtClean="0"/>
              <a:t>：</a:t>
            </a:r>
            <a:r>
              <a:rPr lang="zh-CN" altLang="zh-CN" dirty="0" smtClean="0"/>
              <a:t>引入</a:t>
            </a:r>
            <a:r>
              <a:rPr lang="zh-CN" altLang="zh-CN" dirty="0" smtClean="0">
                <a:solidFill>
                  <a:srgbClr val="FF0000"/>
                </a:solidFill>
              </a:rPr>
              <a:t>梯度</a:t>
            </a:r>
            <a:r>
              <a:rPr lang="zh-CN" altLang="zh-CN" dirty="0" smtClean="0"/>
              <a:t>的理念，表明网络节点在该方向的深入搜索，来获得匹配数据的概率。</a:t>
            </a:r>
            <a:endParaRPr lang="en-US" altLang="zh-CN" dirty="0" smtClean="0"/>
          </a:p>
          <a:p>
            <a:pPr lvl="1"/>
            <a:r>
              <a:rPr lang="zh-CN" altLang="zh-CN" dirty="0" smtClean="0">
                <a:solidFill>
                  <a:srgbClr val="FF0000"/>
                </a:solidFill>
              </a:rPr>
              <a:t>以数据为中心</a:t>
            </a:r>
            <a:r>
              <a:rPr lang="zh-CN" altLang="zh-CN" dirty="0" smtClean="0"/>
              <a:t>，生成的数据常用一组属性值来为其命名。</a:t>
            </a:r>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dirty="0"/>
              <a:t>5.2.3  DD</a:t>
            </a:r>
            <a:r>
              <a:rPr lang="zh-CN" altLang="zh-CN" dirty="0"/>
              <a:t>路由</a:t>
            </a:r>
            <a:r>
              <a:rPr lang="zh-CN" altLang="zh-CN" dirty="0" smtClean="0"/>
              <a:t>协议</a:t>
            </a:r>
            <a:endParaRPr lang="en-US" altLang="zh-CN" dirty="0" smtClean="0"/>
          </a:p>
          <a:p>
            <a:pPr lvl="0"/>
            <a:r>
              <a:rPr lang="en-US" altLang="zh-CN" dirty="0"/>
              <a:t>DD</a:t>
            </a:r>
            <a:r>
              <a:rPr lang="zh-CN" altLang="zh-CN" dirty="0"/>
              <a:t>路由协议的</a:t>
            </a:r>
            <a:r>
              <a:rPr lang="en-US" altLang="zh-CN" dirty="0"/>
              <a:t>3</a:t>
            </a:r>
            <a:r>
              <a:rPr lang="zh-CN" altLang="zh-CN" dirty="0"/>
              <a:t>个</a:t>
            </a:r>
            <a:r>
              <a:rPr lang="zh-CN" altLang="zh-CN" dirty="0" smtClean="0"/>
              <a:t>阶段</a:t>
            </a:r>
            <a:endParaRPr lang="en-US" altLang="zh-CN" dirty="0" smtClean="0"/>
          </a:p>
          <a:p>
            <a:pPr lvl="1"/>
            <a:r>
              <a:rPr lang="zh-CN" altLang="zh-CN" dirty="0">
                <a:solidFill>
                  <a:srgbClr val="FF0000"/>
                </a:solidFill>
              </a:rPr>
              <a:t>兴趣扩散</a:t>
            </a:r>
            <a:r>
              <a:rPr lang="zh-CN" altLang="zh-CN" dirty="0" smtClean="0"/>
              <a:t>阶段</a:t>
            </a:r>
            <a:r>
              <a:rPr lang="zh-CN" altLang="en-US" dirty="0" smtClean="0"/>
              <a:t>：</a:t>
            </a:r>
            <a:r>
              <a:rPr lang="zh-CN" altLang="zh-CN" dirty="0" smtClean="0"/>
              <a:t>汇聚</a:t>
            </a:r>
            <a:r>
              <a:rPr lang="zh-CN" altLang="zh-CN" dirty="0"/>
              <a:t>节点下达</a:t>
            </a:r>
            <a:r>
              <a:rPr lang="zh-CN" altLang="zh-CN" dirty="0">
                <a:solidFill>
                  <a:srgbClr val="FF0000"/>
                </a:solidFill>
              </a:rPr>
              <a:t>查询命令</a:t>
            </a:r>
            <a:r>
              <a:rPr lang="zh-CN" altLang="zh-CN" dirty="0"/>
              <a:t>多采用泛洪方式，传感器节点在接收到查询命令后对查询消息进行缓存并执行局部数据的</a:t>
            </a:r>
            <a:r>
              <a:rPr lang="zh-CN" altLang="zh-CN" dirty="0" smtClean="0"/>
              <a:t>融合</a:t>
            </a:r>
            <a:endParaRPr lang="zh-CN" altLang="zh-CN" dirty="0"/>
          </a:p>
          <a:p>
            <a:pPr lvl="1"/>
            <a:r>
              <a:rPr lang="zh-CN" altLang="zh-CN" dirty="0">
                <a:solidFill>
                  <a:srgbClr val="FF0000"/>
                </a:solidFill>
              </a:rPr>
              <a:t>初始梯度场</a:t>
            </a:r>
            <a:r>
              <a:rPr lang="zh-CN" altLang="zh-CN" dirty="0" smtClean="0"/>
              <a:t>建立</a:t>
            </a:r>
            <a:r>
              <a:rPr lang="zh-CN" altLang="en-US" dirty="0" smtClean="0"/>
              <a:t>：</a:t>
            </a:r>
            <a:r>
              <a:rPr lang="zh-CN" altLang="zh-CN" dirty="0" smtClean="0"/>
              <a:t>随着</a:t>
            </a:r>
            <a:r>
              <a:rPr lang="zh-CN" altLang="zh-CN" dirty="0"/>
              <a:t>兴趣查询消息遍布全网，梯度场就在传感器节点和汇聚</a:t>
            </a:r>
            <a:r>
              <a:rPr lang="zh-CN" altLang="zh-CN" dirty="0" smtClean="0"/>
              <a:t>节点</a:t>
            </a:r>
            <a:r>
              <a:rPr lang="zh-CN" altLang="en-US" dirty="0" smtClean="0"/>
              <a:t>间</a:t>
            </a:r>
            <a:r>
              <a:rPr lang="zh-CN" altLang="zh-CN" dirty="0" smtClean="0"/>
              <a:t>建立</a:t>
            </a:r>
            <a:r>
              <a:rPr lang="zh-CN" altLang="zh-CN" dirty="0"/>
              <a:t>起来，于是多条通往汇聚节点的路径也相应形成。</a:t>
            </a:r>
            <a:endParaRPr lang="zh-CN" altLang="zh-CN" dirty="0"/>
          </a:p>
          <a:p>
            <a:pPr lvl="1"/>
            <a:r>
              <a:rPr lang="zh-CN" altLang="zh-CN" dirty="0">
                <a:solidFill>
                  <a:srgbClr val="FF0000"/>
                </a:solidFill>
              </a:rPr>
              <a:t>数据传输</a:t>
            </a:r>
            <a:r>
              <a:rPr lang="zh-CN" altLang="zh-CN" dirty="0" smtClean="0"/>
              <a:t>阶段</a:t>
            </a:r>
            <a:r>
              <a:rPr lang="zh-CN" altLang="en-US" dirty="0" smtClean="0"/>
              <a:t>：</a:t>
            </a:r>
            <a:r>
              <a:rPr lang="en-US" altLang="zh-CN" dirty="0" smtClean="0"/>
              <a:t> </a:t>
            </a:r>
            <a:r>
              <a:rPr lang="zh-CN" altLang="zh-CN" dirty="0"/>
              <a:t>通过加强机制发送路径</a:t>
            </a:r>
            <a:r>
              <a:rPr lang="zh-CN" altLang="zh-CN" dirty="0">
                <a:solidFill>
                  <a:srgbClr val="FF0000"/>
                </a:solidFill>
              </a:rPr>
              <a:t>加强消息</a:t>
            </a:r>
            <a:r>
              <a:rPr lang="zh-CN" altLang="zh-CN" dirty="0"/>
              <a:t>给最新发来数据的邻居节点，并且给这条加强信息赋予一个值， 最终</a:t>
            </a:r>
            <a:r>
              <a:rPr lang="zh-CN" altLang="zh-CN" dirty="0">
                <a:solidFill>
                  <a:srgbClr val="FF0000"/>
                </a:solidFill>
              </a:rPr>
              <a:t>梯度值最高的路径</a:t>
            </a:r>
            <a:r>
              <a:rPr lang="zh-CN" altLang="zh-CN" dirty="0"/>
              <a:t>为数据传输的最佳路径</a:t>
            </a:r>
            <a:r>
              <a:rPr lang="zh-CN" altLang="zh-CN" dirty="0" smtClean="0"/>
              <a:t>。</a:t>
            </a:r>
            <a:endParaRPr lang="zh-CN" altLang="zh-CN" dirty="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dirty="0"/>
              <a:t>5.2.3  DD</a:t>
            </a:r>
            <a:r>
              <a:rPr lang="zh-CN" altLang="zh-CN" dirty="0"/>
              <a:t>路由</a:t>
            </a:r>
            <a:r>
              <a:rPr lang="zh-CN" altLang="zh-CN" dirty="0" smtClean="0"/>
              <a:t>协议</a:t>
            </a:r>
            <a:endParaRPr lang="en-US" altLang="zh-CN" dirty="0" smtClean="0"/>
          </a:p>
          <a:p>
            <a:pPr lvl="0"/>
            <a:r>
              <a:rPr lang="en-US" altLang="zh-CN" dirty="0"/>
              <a:t>DD</a:t>
            </a:r>
            <a:r>
              <a:rPr lang="zh-CN" altLang="zh-CN" dirty="0"/>
              <a:t>路由协议的</a:t>
            </a:r>
            <a:r>
              <a:rPr lang="en-US" altLang="zh-CN" dirty="0"/>
              <a:t>3</a:t>
            </a:r>
            <a:r>
              <a:rPr lang="zh-CN" altLang="zh-CN" dirty="0"/>
              <a:t>个</a:t>
            </a:r>
            <a:r>
              <a:rPr lang="zh-CN" altLang="zh-CN" dirty="0" smtClean="0"/>
              <a:t>阶段</a:t>
            </a:r>
            <a:endParaRPr lang="en-US" altLang="zh-CN" dirty="0" smtClean="0"/>
          </a:p>
        </p:txBody>
      </p:sp>
      <p:pic>
        <p:nvPicPr>
          <p:cNvPr id="4" name="图片 3"/>
          <p:cNvPicPr/>
          <p:nvPr/>
        </p:nvPicPr>
        <p:blipFill>
          <a:blip r:embed="rId1"/>
          <a:srcRect b="17828"/>
          <a:stretch>
            <a:fillRect/>
          </a:stretch>
        </p:blipFill>
        <p:spPr>
          <a:xfrm>
            <a:off x="1668195" y="3245265"/>
            <a:ext cx="6828692" cy="2775707"/>
          </a:xfrm>
          <a:prstGeom prst="rect">
            <a:avLst/>
          </a:prstGeom>
          <a:noFill/>
          <a:ln>
            <a:noFill/>
          </a:ln>
        </p:spPr>
      </p:pic>
      <p:sp>
        <p:nvSpPr>
          <p:cNvPr id="5" name="矩形 4"/>
          <p:cNvSpPr/>
          <p:nvPr/>
        </p:nvSpPr>
        <p:spPr>
          <a:xfrm>
            <a:off x="3383999" y="6293460"/>
            <a:ext cx="3397084"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5-2-4   </a:t>
            </a:r>
            <a:r>
              <a:rPr lang="zh-CN" altLang="zh-CN" kern="100" dirty="0">
                <a:latin typeface="Times New Roman" panose="02020603050405020304" charset="0"/>
                <a:ea typeface="宋体" panose="02010600030101010101" pitchFamily="2" charset="-122"/>
                <a:cs typeface="Times New Roman" panose="02020603050405020304" charset="0"/>
              </a:rPr>
              <a:t>定向扩散路由机制图示</a:t>
            </a:r>
            <a:endParaRPr lang="zh-CN" altLang="en-US" dirty="0"/>
          </a:p>
        </p:txBody>
      </p:sp>
      <p:sp>
        <p:nvSpPr>
          <p:cNvPr id="7" name="标题 6"/>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pPr lvl="0"/>
            <a:r>
              <a:rPr lang="en-US" altLang="zh-CN" dirty="0"/>
              <a:t>5.2.3  DD</a:t>
            </a:r>
            <a:r>
              <a:rPr lang="zh-CN" altLang="zh-CN" dirty="0"/>
              <a:t>路由</a:t>
            </a:r>
            <a:r>
              <a:rPr lang="zh-CN" altLang="zh-CN" dirty="0" smtClean="0"/>
              <a:t>协议</a:t>
            </a:r>
            <a:endParaRPr lang="en-US" altLang="zh-CN" dirty="0" smtClean="0"/>
          </a:p>
          <a:p>
            <a:pPr lvl="0"/>
            <a:r>
              <a:rPr lang="zh-CN" altLang="zh-CN" dirty="0" smtClean="0"/>
              <a:t>采用</a:t>
            </a:r>
            <a:r>
              <a:rPr lang="zh-CN" altLang="zh-CN" dirty="0"/>
              <a:t>多路径，</a:t>
            </a:r>
            <a:r>
              <a:rPr lang="zh-CN" altLang="zh-CN" dirty="0">
                <a:solidFill>
                  <a:srgbClr val="FF0000"/>
                </a:solidFill>
              </a:rPr>
              <a:t>健壮性好</a:t>
            </a:r>
            <a:r>
              <a:rPr lang="zh-CN" altLang="zh-CN" dirty="0" smtClean="0"/>
              <a:t>；</a:t>
            </a:r>
            <a:endParaRPr lang="en-US" altLang="zh-CN" dirty="0" smtClean="0"/>
          </a:p>
          <a:p>
            <a:pPr lvl="0"/>
            <a:r>
              <a:rPr lang="zh-CN" altLang="zh-CN" dirty="0" smtClean="0"/>
              <a:t>节点</a:t>
            </a:r>
            <a:r>
              <a:rPr lang="zh-CN" altLang="zh-CN" dirty="0"/>
              <a:t>只需与邻居节点进行数据通信，从而</a:t>
            </a:r>
            <a:r>
              <a:rPr lang="zh-CN" altLang="zh-CN" dirty="0">
                <a:solidFill>
                  <a:srgbClr val="FF0000"/>
                </a:solidFill>
              </a:rPr>
              <a:t>避免保存全网的信息</a:t>
            </a:r>
            <a:r>
              <a:rPr lang="zh-CN" altLang="zh-CN" dirty="0" smtClean="0"/>
              <a:t>；</a:t>
            </a:r>
            <a:endParaRPr lang="en-US" altLang="zh-CN" dirty="0" smtClean="0"/>
          </a:p>
          <a:p>
            <a:pPr lvl="0"/>
            <a:r>
              <a:rPr lang="zh-CN" altLang="zh-CN" dirty="0" smtClean="0"/>
              <a:t>节点</a:t>
            </a:r>
            <a:r>
              <a:rPr lang="zh-CN" altLang="zh-CN" dirty="0"/>
              <a:t>不需要维护网络的拓扑结构，数据的发送是基于需求的，这样就</a:t>
            </a:r>
            <a:r>
              <a:rPr lang="zh-CN" altLang="zh-CN" dirty="0">
                <a:solidFill>
                  <a:srgbClr val="FF0000"/>
                </a:solidFill>
              </a:rPr>
              <a:t>节省了部分能量</a:t>
            </a:r>
            <a:r>
              <a:rPr lang="zh-CN" altLang="zh-CN" dirty="0" smtClean="0"/>
              <a:t>。</a:t>
            </a:r>
            <a:endParaRPr lang="en-US" altLang="zh-CN" dirty="0" smtClean="0"/>
          </a:p>
          <a:p>
            <a:pPr lvl="0"/>
            <a:r>
              <a:rPr lang="zh-CN" altLang="zh-CN" dirty="0" smtClean="0">
                <a:solidFill>
                  <a:srgbClr val="FF0000"/>
                </a:solidFill>
              </a:rPr>
              <a:t>建立</a:t>
            </a:r>
            <a:r>
              <a:rPr lang="zh-CN" altLang="zh-CN" dirty="0">
                <a:solidFill>
                  <a:srgbClr val="FF0000"/>
                </a:solidFill>
              </a:rPr>
              <a:t>梯度时花销大</a:t>
            </a:r>
            <a:r>
              <a:rPr lang="zh-CN" altLang="zh-CN" dirty="0"/>
              <a:t>，多</a:t>
            </a:r>
            <a:r>
              <a:rPr lang="en-US" altLang="zh-CN" dirty="0"/>
              <a:t>Sink</a:t>
            </a:r>
            <a:r>
              <a:rPr lang="zh-CN" altLang="zh-CN" dirty="0"/>
              <a:t>的网络一般不建议使用。</a:t>
            </a:r>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5.2.4  Rumor</a:t>
            </a:r>
            <a:r>
              <a:rPr lang="zh-CN" altLang="zh-CN" b="1" dirty="0"/>
              <a:t>路由</a:t>
            </a:r>
            <a:r>
              <a:rPr lang="en-US" altLang="zh-CN" b="1" dirty="0" err="1"/>
              <a:t>协议</a:t>
            </a:r>
            <a:endParaRPr lang="zh-CN" altLang="zh-CN" b="1" dirty="0"/>
          </a:p>
          <a:p>
            <a:pPr lvl="0"/>
            <a:r>
              <a:rPr lang="en-US" altLang="zh-CN" dirty="0" smtClean="0"/>
              <a:t>Rumor</a:t>
            </a:r>
            <a:r>
              <a:rPr lang="zh-CN" altLang="en-US" dirty="0" smtClean="0"/>
              <a:t>：</a:t>
            </a:r>
            <a:r>
              <a:rPr lang="zh-CN" altLang="zh-CN" dirty="0" smtClean="0">
                <a:solidFill>
                  <a:srgbClr val="FF0000"/>
                </a:solidFill>
              </a:rPr>
              <a:t>谣传路由</a:t>
            </a:r>
            <a:r>
              <a:rPr lang="zh-CN" altLang="zh-CN" dirty="0" smtClean="0"/>
              <a:t>协议</a:t>
            </a:r>
            <a:r>
              <a:rPr lang="zh-CN" altLang="en-US" dirty="0" smtClean="0"/>
              <a:t>，</a:t>
            </a:r>
            <a:r>
              <a:rPr lang="zh-CN" altLang="zh-CN" dirty="0"/>
              <a:t>借鉴了欧氏平面图上任意两条曲线交叉几率很大的</a:t>
            </a:r>
            <a:r>
              <a:rPr lang="zh-CN" altLang="zh-CN" dirty="0" smtClean="0"/>
              <a:t>思想</a:t>
            </a:r>
            <a:r>
              <a:rPr lang="zh-CN" altLang="en-US" dirty="0" smtClean="0"/>
              <a:t>。</a:t>
            </a:r>
            <a:endParaRPr lang="en-US" altLang="zh-CN" dirty="0" smtClean="0"/>
          </a:p>
          <a:p>
            <a:pPr lvl="0"/>
            <a:r>
              <a:rPr lang="zh-CN" altLang="en-US" dirty="0" smtClean="0"/>
              <a:t>基本思想：</a:t>
            </a:r>
            <a:r>
              <a:rPr lang="zh-CN" altLang="zh-CN" dirty="0" smtClean="0"/>
              <a:t>事件</a:t>
            </a:r>
            <a:r>
              <a:rPr lang="zh-CN" altLang="zh-CN" dirty="0"/>
              <a:t>区域中的传感器节点产生</a:t>
            </a:r>
            <a:r>
              <a:rPr lang="zh-CN" altLang="zh-CN" dirty="0">
                <a:solidFill>
                  <a:srgbClr val="FF0000"/>
                </a:solidFill>
              </a:rPr>
              <a:t>代理</a:t>
            </a:r>
            <a:r>
              <a:rPr lang="en-US" altLang="zh-CN" dirty="0">
                <a:solidFill>
                  <a:srgbClr val="FF0000"/>
                </a:solidFill>
              </a:rPr>
              <a:t>(agent)</a:t>
            </a:r>
            <a:r>
              <a:rPr lang="zh-CN" altLang="zh-CN" dirty="0">
                <a:solidFill>
                  <a:srgbClr val="FF0000"/>
                </a:solidFill>
              </a:rPr>
              <a:t>消息</a:t>
            </a:r>
            <a:r>
              <a:rPr lang="zh-CN" altLang="zh-CN" dirty="0"/>
              <a:t>，代理消息沿</a:t>
            </a:r>
            <a:r>
              <a:rPr lang="zh-CN" altLang="zh-CN" dirty="0">
                <a:solidFill>
                  <a:srgbClr val="FF0000"/>
                </a:solidFill>
              </a:rPr>
              <a:t>随机路径</a:t>
            </a:r>
            <a:r>
              <a:rPr lang="zh-CN" altLang="zh-CN" dirty="0"/>
              <a:t>向外扩散传播，同时汇聚节点发送的</a:t>
            </a:r>
            <a:r>
              <a:rPr lang="zh-CN" altLang="zh-CN" dirty="0">
                <a:solidFill>
                  <a:srgbClr val="FF0000"/>
                </a:solidFill>
              </a:rPr>
              <a:t>查询消息</a:t>
            </a:r>
            <a:r>
              <a:rPr lang="zh-CN" altLang="zh-CN" dirty="0"/>
              <a:t>也沿</a:t>
            </a:r>
            <a:r>
              <a:rPr lang="zh-CN" altLang="zh-CN" dirty="0">
                <a:solidFill>
                  <a:srgbClr val="FF0000"/>
                </a:solidFill>
              </a:rPr>
              <a:t>随机路径</a:t>
            </a:r>
            <a:r>
              <a:rPr lang="zh-CN" altLang="zh-CN" dirty="0"/>
              <a:t>在网络中传播。当</a:t>
            </a:r>
            <a:r>
              <a:rPr lang="zh-CN" altLang="zh-CN" dirty="0">
                <a:solidFill>
                  <a:srgbClr val="FF0000"/>
                </a:solidFill>
              </a:rPr>
              <a:t>代理消息和查询消息的传输路径交叉在一起</a:t>
            </a:r>
            <a:r>
              <a:rPr lang="zh-CN" altLang="zh-CN" dirty="0"/>
              <a:t>时，就会形成一条汇聚节点到事件区域的完整</a:t>
            </a:r>
            <a:r>
              <a:rPr lang="zh-CN" altLang="zh-CN" dirty="0" smtClean="0"/>
              <a:t>路径</a:t>
            </a:r>
            <a:r>
              <a:rPr lang="zh-CN" altLang="en-US" dirty="0" smtClean="0"/>
              <a:t>。</a:t>
            </a:r>
            <a:endParaRPr lang="zh-CN" altLang="zh-CN" dirty="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5.2.4  Rumor</a:t>
            </a:r>
            <a:r>
              <a:rPr lang="zh-CN" altLang="zh-CN" b="1" dirty="0"/>
              <a:t>路由</a:t>
            </a:r>
            <a:r>
              <a:rPr lang="en-US" altLang="zh-CN" b="1" dirty="0" err="1" smtClean="0"/>
              <a:t>协议</a:t>
            </a:r>
            <a:endParaRPr lang="en-US" altLang="zh-CN" b="1" dirty="0" smtClean="0"/>
          </a:p>
          <a:p>
            <a:pPr lvl="1"/>
            <a:r>
              <a:rPr lang="zh-CN" altLang="zh-CN" dirty="0"/>
              <a:t>灰色</a:t>
            </a:r>
            <a:r>
              <a:rPr lang="zh-CN" altLang="zh-CN" dirty="0" smtClean="0"/>
              <a:t>区域</a:t>
            </a:r>
            <a:r>
              <a:rPr lang="zh-CN" altLang="en-US" dirty="0" smtClean="0"/>
              <a:t>：</a:t>
            </a:r>
            <a:r>
              <a:rPr lang="zh-CN" altLang="zh-CN" dirty="0" smtClean="0"/>
              <a:t>发生</a:t>
            </a:r>
            <a:r>
              <a:rPr lang="zh-CN" altLang="zh-CN" dirty="0"/>
              <a:t>事件的</a:t>
            </a:r>
            <a:r>
              <a:rPr lang="zh-CN" altLang="zh-CN" dirty="0" smtClean="0"/>
              <a:t>区域</a:t>
            </a:r>
            <a:endParaRPr lang="en-US" altLang="zh-CN" dirty="0" smtClean="0"/>
          </a:p>
          <a:p>
            <a:pPr lvl="1"/>
            <a:r>
              <a:rPr lang="zh-CN" altLang="zh-CN" dirty="0" smtClean="0"/>
              <a:t>点</a:t>
            </a:r>
            <a:r>
              <a:rPr lang="zh-CN" altLang="en-US" dirty="0" smtClean="0"/>
              <a:t>：</a:t>
            </a:r>
            <a:r>
              <a:rPr lang="zh-CN" altLang="zh-CN" dirty="0" smtClean="0"/>
              <a:t>传感器节点</a:t>
            </a:r>
            <a:endParaRPr lang="en-US" altLang="zh-CN" dirty="0" smtClean="0"/>
          </a:p>
          <a:p>
            <a:pPr lvl="1"/>
            <a:r>
              <a:rPr lang="zh-CN" altLang="zh-CN" dirty="0" smtClean="0"/>
              <a:t>黑色圆点</a:t>
            </a:r>
            <a:r>
              <a:rPr lang="zh-CN" altLang="en-US" dirty="0" smtClean="0"/>
              <a:t>：</a:t>
            </a:r>
            <a:r>
              <a:rPr lang="zh-CN" altLang="zh-CN" dirty="0" smtClean="0"/>
              <a:t>代理</a:t>
            </a:r>
            <a:r>
              <a:rPr lang="zh-CN" altLang="zh-CN" dirty="0"/>
              <a:t>消息经过的传感器</a:t>
            </a:r>
            <a:r>
              <a:rPr lang="zh-CN" altLang="zh-CN" dirty="0" smtClean="0"/>
              <a:t>节点</a:t>
            </a:r>
            <a:endParaRPr lang="en-US" altLang="zh-CN" dirty="0" smtClean="0"/>
          </a:p>
          <a:p>
            <a:pPr lvl="1"/>
            <a:r>
              <a:rPr lang="zh-CN" altLang="zh-CN" dirty="0" smtClean="0"/>
              <a:t>灰色节点</a:t>
            </a:r>
            <a:r>
              <a:rPr lang="zh-CN" altLang="en-US" dirty="0" smtClean="0"/>
              <a:t>：</a:t>
            </a:r>
            <a:r>
              <a:rPr lang="zh-CN" altLang="zh-CN" dirty="0" smtClean="0"/>
              <a:t>查询</a:t>
            </a:r>
            <a:r>
              <a:rPr lang="zh-CN" altLang="zh-CN" dirty="0"/>
              <a:t>消息经过的传感器</a:t>
            </a:r>
            <a:r>
              <a:rPr lang="zh-CN" altLang="zh-CN" dirty="0" smtClean="0"/>
              <a:t>节点</a:t>
            </a:r>
            <a:endParaRPr lang="en-US" altLang="zh-CN" dirty="0" smtClean="0"/>
          </a:p>
          <a:p>
            <a:pPr lvl="1"/>
            <a:r>
              <a:rPr lang="zh-CN" altLang="zh-CN" dirty="0" smtClean="0"/>
              <a:t>路径</a:t>
            </a:r>
            <a:r>
              <a:rPr lang="zh-CN" altLang="en-US" dirty="0" smtClean="0"/>
              <a:t>：</a:t>
            </a:r>
            <a:r>
              <a:rPr lang="zh-CN" altLang="zh-CN" dirty="0" smtClean="0"/>
              <a:t>事件</a:t>
            </a:r>
            <a:r>
              <a:rPr lang="zh-CN" altLang="zh-CN" dirty="0"/>
              <a:t>区域到</a:t>
            </a:r>
            <a:r>
              <a:rPr lang="en-US" altLang="zh-CN" dirty="0"/>
              <a:t>sink</a:t>
            </a:r>
            <a:r>
              <a:rPr lang="zh-CN" altLang="zh-CN" dirty="0"/>
              <a:t>的数据传输</a:t>
            </a:r>
            <a:r>
              <a:rPr lang="zh-CN" altLang="zh-CN" dirty="0" smtClean="0"/>
              <a:t>路径</a:t>
            </a:r>
            <a:endParaRPr lang="zh-CN" altLang="zh-CN" b="1" dirty="0"/>
          </a:p>
        </p:txBody>
      </p:sp>
      <p:pic>
        <p:nvPicPr>
          <p:cNvPr id="4" name="图片 3"/>
          <p:cNvPicPr/>
          <p:nvPr/>
        </p:nvPicPr>
        <p:blipFill>
          <a:blip r:embed="rId1"/>
          <a:stretch>
            <a:fillRect/>
          </a:stretch>
        </p:blipFill>
        <p:spPr>
          <a:xfrm>
            <a:off x="7342561" y="2607487"/>
            <a:ext cx="4705854" cy="2787613"/>
          </a:xfrm>
          <a:prstGeom prst="rect">
            <a:avLst/>
          </a:prstGeom>
          <a:noFill/>
          <a:ln>
            <a:noFill/>
          </a:ln>
        </p:spPr>
      </p:pic>
      <p:sp>
        <p:nvSpPr>
          <p:cNvPr id="5" name="矩形 4"/>
          <p:cNvSpPr/>
          <p:nvPr/>
        </p:nvSpPr>
        <p:spPr>
          <a:xfrm>
            <a:off x="8625628" y="5601365"/>
            <a:ext cx="2589170"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5-2-5 </a:t>
            </a:r>
            <a:r>
              <a:rPr lang="zh-CN" altLang="zh-CN" kern="100" dirty="0">
                <a:latin typeface="Times New Roman" panose="02020603050405020304" charset="0"/>
                <a:ea typeface="宋体" panose="02010600030101010101" pitchFamily="2" charset="-122"/>
                <a:cs typeface="Times New Roman" panose="02020603050405020304" charset="0"/>
              </a:rPr>
              <a:t>谣传路由原理图</a:t>
            </a:r>
            <a:endParaRPr lang="zh-CN" altLang="en-US" dirty="0"/>
          </a:p>
        </p:txBody>
      </p:sp>
      <p:sp>
        <p:nvSpPr>
          <p:cNvPr id="7" name="标题 6"/>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5.2.4  Rumor</a:t>
            </a:r>
            <a:r>
              <a:rPr lang="zh-CN" altLang="zh-CN" b="1" dirty="0"/>
              <a:t>路由</a:t>
            </a:r>
            <a:r>
              <a:rPr lang="en-US" altLang="zh-CN" b="1" dirty="0" err="1" smtClean="0"/>
              <a:t>协议</a:t>
            </a:r>
            <a:endParaRPr lang="en-US" altLang="zh-CN" b="1" dirty="0" smtClean="0"/>
          </a:p>
          <a:p>
            <a:pPr lvl="1"/>
            <a:r>
              <a:rPr lang="zh-CN" altLang="zh-CN" dirty="0"/>
              <a:t>在</a:t>
            </a:r>
            <a:r>
              <a:rPr lang="zh-CN" altLang="zh-CN" dirty="0">
                <a:solidFill>
                  <a:srgbClr val="FF0000"/>
                </a:solidFill>
              </a:rPr>
              <a:t>多</a:t>
            </a:r>
            <a:r>
              <a:rPr lang="en-US" altLang="zh-CN" dirty="0">
                <a:solidFill>
                  <a:srgbClr val="FF0000"/>
                </a:solidFill>
              </a:rPr>
              <a:t>sink</a:t>
            </a:r>
            <a:r>
              <a:rPr lang="zh-CN" altLang="zh-CN" dirty="0">
                <a:solidFill>
                  <a:srgbClr val="FF0000"/>
                </a:solidFill>
              </a:rPr>
              <a:t>节点、查询请求数目很大、网络事件很少</a:t>
            </a:r>
            <a:r>
              <a:rPr lang="zh-CN" altLang="zh-CN" dirty="0"/>
              <a:t>的情况下，</a:t>
            </a:r>
            <a:r>
              <a:rPr lang="en-US" altLang="zh-CN" dirty="0"/>
              <a:t>Rumor</a:t>
            </a:r>
            <a:r>
              <a:rPr lang="zh-CN" altLang="zh-CN" dirty="0"/>
              <a:t>协议较为有效</a:t>
            </a:r>
            <a:r>
              <a:rPr lang="zh-CN" altLang="zh-CN" dirty="0" smtClean="0"/>
              <a:t>。</a:t>
            </a:r>
            <a:endParaRPr lang="en-US" altLang="zh-CN" dirty="0" smtClean="0"/>
          </a:p>
          <a:p>
            <a:pPr lvl="1"/>
            <a:r>
              <a:rPr lang="zh-CN" altLang="zh-CN" dirty="0" smtClean="0"/>
              <a:t>但</a:t>
            </a:r>
            <a:r>
              <a:rPr lang="zh-CN" altLang="zh-CN" dirty="0"/>
              <a:t>如果事件非常多，维护事件表和收发</a:t>
            </a:r>
            <a:r>
              <a:rPr lang="en-US" altLang="zh-CN" dirty="0"/>
              <a:t>Agent</a:t>
            </a:r>
            <a:r>
              <a:rPr lang="zh-CN" altLang="zh-CN" dirty="0"/>
              <a:t>带来的</a:t>
            </a:r>
            <a:r>
              <a:rPr lang="zh-CN" altLang="zh-CN" dirty="0">
                <a:solidFill>
                  <a:srgbClr val="FF0000"/>
                </a:solidFill>
              </a:rPr>
              <a:t>开销会很大</a:t>
            </a:r>
            <a:endParaRPr lang="zh-CN" altLang="zh-CN" b="1" dirty="0">
              <a:solidFill>
                <a:srgbClr val="FF0000"/>
              </a:solidFill>
            </a:endParaRPr>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5.2  平面路由协议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1902460" y="331470"/>
            <a:ext cx="1733550" cy="855980"/>
          </a:xfrm>
          <a:prstGeom prst="rect">
            <a:avLst/>
          </a:prstGeom>
          <a:noFill/>
        </p:spPr>
        <p:txBody>
          <a:bodyPr wrap="square" lIns="91440" tIns="45720" rIns="91440" bIns="0" rtlCol="0" anchor="b" anchorCtr="0">
            <a:norm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目录</a:t>
            </a:r>
            <a:endPar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546050" y="1307807"/>
            <a:ext cx="5535930" cy="5509200"/>
          </a:xfrm>
          <a:prstGeom prst="rect">
            <a:avLst/>
          </a:prstGeom>
          <a:noFill/>
          <a:ln w="9525">
            <a:noFill/>
          </a:ln>
        </p:spPr>
        <p:txBody>
          <a:bodyPr wrap="square">
            <a:spAutoFit/>
          </a:bodyPr>
          <a:lstStyle/>
          <a:p>
            <a:pPr indent="0"/>
            <a:r>
              <a:rPr lang="en-US" sz="2200" b="1" dirty="0">
                <a:latin typeface="Times New Roman" panose="02020603050405020304" charset="0"/>
                <a:ea typeface="宋体" panose="02010600030101010101" pitchFamily="2" charset="-122"/>
              </a:rPr>
              <a:t>5</a:t>
            </a:r>
            <a:r>
              <a:rPr lang="en-US" sz="2200" b="1" dirty="0" smtClean="0">
                <a:solidFill>
                  <a:schemeClr val="tx1"/>
                </a:solidFill>
                <a:uFillTx/>
                <a:latin typeface="Times New Roman" panose="02020603050405020304" charset="0"/>
                <a:ea typeface="宋体" panose="02010600030101010101" pitchFamily="2" charset="-122"/>
              </a:rPr>
              <a:t>.1</a:t>
            </a:r>
            <a:r>
              <a:rPr lang="zh-CN" altLang="en-US" sz="2200" b="1" dirty="0">
                <a:latin typeface="Times New Roman" panose="02020603050405020304" charset="0"/>
                <a:ea typeface="宋体" panose="02010600030101010101" pitchFamily="2" charset="-122"/>
              </a:rPr>
              <a:t>路由协议概述</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5.1.1   </a:t>
            </a:r>
            <a:r>
              <a:rPr lang="zh-CN" altLang="en-US" sz="2200" b="1" dirty="0" smtClean="0">
                <a:latin typeface="Times New Roman" panose="02020603050405020304" charset="0"/>
                <a:ea typeface="宋体" panose="02010600030101010101" pitchFamily="2" charset="-122"/>
              </a:rPr>
              <a:t>网络层</a:t>
            </a:r>
            <a:r>
              <a:rPr lang="zh-CN" altLang="en-US" sz="2200" b="1" dirty="0">
                <a:latin typeface="Times New Roman" panose="02020603050405020304" charset="0"/>
                <a:ea typeface="宋体" panose="02010600030101010101" pitchFamily="2" charset="-122"/>
              </a:rPr>
              <a:t>的服务实体</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5.1.2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协议的基本问题</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5.1.3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的</a:t>
            </a:r>
            <a:r>
              <a:rPr lang="zh-CN" altLang="en-US" sz="2200" b="1" dirty="0" smtClean="0">
                <a:latin typeface="Times New Roman" panose="02020603050405020304" charset="0"/>
                <a:ea typeface="宋体" panose="02010600030101010101" pitchFamily="2" charset="-122"/>
              </a:rPr>
              <a:t>过程</a:t>
            </a:r>
            <a:endParaRPr lang="en-US" altLang="zh-CN" sz="2200" b="1" dirty="0" smtClean="0">
              <a:latin typeface="Times New Roman" panose="02020603050405020304" charset="0"/>
              <a:ea typeface="宋体" panose="02010600030101010101" pitchFamily="2" charset="-122"/>
            </a:endParaRPr>
          </a:p>
          <a:p>
            <a:pPr indent="0"/>
            <a:r>
              <a:rPr lang="zh-CN" altLang="en-US"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5.1.4   </a:t>
            </a:r>
            <a:r>
              <a:rPr lang="zh-CN" altLang="en-US" sz="2200" b="1" dirty="0" smtClean="0">
                <a:latin typeface="Times New Roman" panose="02020603050405020304" charset="0"/>
                <a:ea typeface="宋体" panose="02010600030101010101" pitchFamily="2" charset="-122"/>
              </a:rPr>
              <a:t>传感器</a:t>
            </a:r>
            <a:r>
              <a:rPr lang="zh-CN" altLang="en-US" sz="2200" b="1" dirty="0">
                <a:latin typeface="Times New Roman" panose="02020603050405020304" charset="0"/>
                <a:ea typeface="宋体" panose="02010600030101010101" pitchFamily="2" charset="-122"/>
              </a:rPr>
              <a:t>网络路由的评价</a:t>
            </a:r>
            <a:r>
              <a:rPr lang="zh-CN" altLang="en-US" sz="2200" b="1" dirty="0" smtClean="0">
                <a:latin typeface="Times New Roman" panose="02020603050405020304" charset="0"/>
                <a:ea typeface="宋体" panose="02010600030101010101" pitchFamily="2" charset="-122"/>
              </a:rPr>
              <a:t>标准</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5.1.5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协议分类</a:t>
            </a:r>
            <a:endParaRPr lang="en-US" sz="2200" b="1" dirty="0" smtClean="0">
              <a:solidFill>
                <a:schemeClr val="tx1"/>
              </a:solidFill>
              <a:uFillTx/>
              <a:latin typeface="Times New Roman" panose="02020603050405020304" charset="0"/>
              <a:ea typeface="宋体" panose="02010600030101010101" pitchFamily="2" charset="-122"/>
            </a:endParaRPr>
          </a:p>
          <a:p>
            <a:r>
              <a:rPr lang="en-US" sz="2200" b="1" dirty="0">
                <a:latin typeface="Times New Roman" panose="02020603050405020304" charset="0"/>
                <a:ea typeface="宋体" panose="02010600030101010101" pitchFamily="2" charset="-122"/>
              </a:rPr>
              <a:t>5.2</a:t>
            </a:r>
            <a:r>
              <a:rPr lang="zh-CN" altLang="en-US" sz="2200" b="1" dirty="0" smtClean="0">
                <a:latin typeface="宋体" panose="02010600030101010101" pitchFamily="2" charset="-122"/>
                <a:ea typeface="宋体" panose="02010600030101010101" pitchFamily="2" charset="-122"/>
              </a:rPr>
              <a:t>平面</a:t>
            </a:r>
            <a:r>
              <a:rPr lang="zh-CN" altLang="en-US" sz="2200" b="1" dirty="0">
                <a:latin typeface="宋体" panose="02010600030101010101" pitchFamily="2" charset="-122"/>
                <a:ea typeface="宋体" panose="02010600030101010101" pitchFamily="2" charset="-122"/>
              </a:rPr>
              <a:t>路由协议</a:t>
            </a:r>
            <a:endParaRPr lang="zh-CN" altLang="en-US" sz="2200" b="1" dirty="0">
              <a:latin typeface="宋体" panose="02010600030101010101" pitchFamily="2" charset="-122"/>
              <a:ea typeface="宋体" panose="02010600030101010101" pitchFamily="2" charset="-122"/>
            </a:endParaRPr>
          </a:p>
          <a:p>
            <a:r>
              <a:rPr lang="en-US" altLang="zh-CN" sz="2000" b="1" dirty="0" smtClean="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rPr>
              <a:t>5.2.1</a:t>
            </a:r>
            <a:r>
              <a:rPr lang="en-US" altLang="zh-CN" sz="2000" b="1" dirty="0" smtClean="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rPr>
              <a:t>Flooding</a:t>
            </a:r>
            <a:r>
              <a:rPr lang="zh-CN" altLang="en-US" sz="2200" b="1" dirty="0">
                <a:latin typeface="Times New Roman" panose="02020603050405020304" charset="0"/>
                <a:ea typeface="宋体" panose="02010600030101010101" pitchFamily="2" charset="-122"/>
              </a:rPr>
              <a:t>协议和</a:t>
            </a:r>
            <a:r>
              <a:rPr lang="en-US" altLang="zh-CN" sz="2200" b="1" dirty="0">
                <a:latin typeface="Times New Roman" panose="02020603050405020304" charset="0"/>
                <a:ea typeface="宋体" panose="02010600030101010101" pitchFamily="2" charset="-122"/>
              </a:rPr>
              <a:t>Gossiping</a:t>
            </a:r>
            <a:r>
              <a:rPr lang="zh-CN" altLang="en-US" sz="2200" b="1" dirty="0">
                <a:latin typeface="Times New Roman" panose="02020603050405020304" charset="0"/>
                <a:ea typeface="宋体" panose="02010600030101010101" pitchFamily="2" charset="-122"/>
              </a:rPr>
              <a:t>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5.2.2 </a:t>
            </a:r>
            <a:r>
              <a:rPr lang="en-US" altLang="zh-CN" sz="2200" b="1" dirty="0">
                <a:latin typeface="Times New Roman" panose="02020603050405020304" charset="0"/>
                <a:ea typeface="宋体" panose="02010600030101010101" pitchFamily="2" charset="-122"/>
              </a:rPr>
              <a:t>SPIN</a:t>
            </a:r>
            <a:r>
              <a:rPr lang="zh-CN" altLang="en-US" sz="2200" b="1" dirty="0">
                <a:latin typeface="Times New Roman" panose="02020603050405020304" charset="0"/>
                <a:ea typeface="宋体" panose="02010600030101010101" pitchFamily="2" charset="-122"/>
              </a:rPr>
              <a:t>路由协议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5.2.3 </a:t>
            </a:r>
            <a:r>
              <a:rPr lang="en-US" altLang="zh-CN" sz="2200" b="1" dirty="0">
                <a:latin typeface="Times New Roman" panose="02020603050405020304" charset="0"/>
                <a:ea typeface="宋体" panose="02010600030101010101" pitchFamily="2" charset="-122"/>
              </a:rPr>
              <a:t>DD</a:t>
            </a:r>
            <a:r>
              <a:rPr lang="zh-CN" altLang="en-US" sz="2200" b="1" dirty="0">
                <a:latin typeface="Times New Roman" panose="02020603050405020304" charset="0"/>
                <a:ea typeface="宋体" panose="02010600030101010101" pitchFamily="2" charset="-122"/>
              </a:rPr>
              <a:t>定向扩展路由协议</a:t>
            </a:r>
            <a:endParaRPr lang="zh-CN" altLang="en-US" sz="2200" b="1" dirty="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rPr>
              <a:t>    5.2.4  Rumor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hlinkClick r:id="rId2" action="ppaction://hlinksldjump"/>
              </a:rPr>
              <a:t>5.3</a:t>
            </a:r>
            <a:r>
              <a:rPr lang="zh-CN" altLang="zh-CN" sz="2200" b="1" dirty="0">
                <a:ea typeface="宋体" panose="02010600030101010101" pitchFamily="2" charset="-122"/>
                <a:hlinkClick r:id="rId2" action="ppaction://hlinksldjump"/>
              </a:rPr>
              <a:t>　</a:t>
            </a:r>
            <a:r>
              <a:rPr lang="zh-CN" altLang="en-US" sz="2200" b="1" dirty="0">
                <a:latin typeface="Times New Roman" panose="02020603050405020304" charset="0"/>
                <a:ea typeface="宋体" panose="02010600030101010101" pitchFamily="2" charset="-122"/>
                <a:hlinkClick r:id="rId2" action="ppaction://hlinksldjump"/>
              </a:rPr>
              <a:t>层次型路由协议</a:t>
            </a:r>
            <a:endParaRPr lang="zh-CN" altLang="en-US"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3" action="ppaction://hlinksldjump"/>
              </a:rPr>
              <a:t>5.3.1  </a:t>
            </a:r>
            <a:r>
              <a:rPr lang="en-US" altLang="zh-CN" sz="2200" b="1" dirty="0">
                <a:ea typeface="宋体" panose="02010600030101010101" pitchFamily="2" charset="-122"/>
                <a:hlinkClick r:id="rId3" action="ppaction://hlinksldjump"/>
              </a:rPr>
              <a:t>LEACH</a:t>
            </a:r>
            <a:r>
              <a:rPr lang="zh-CN" altLang="en-US" sz="2200" b="1" dirty="0">
                <a:ea typeface="宋体" panose="02010600030101010101" pitchFamily="2" charset="-122"/>
                <a:hlinkClick r:id="rId3" action="ppaction://hlinksldjump"/>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4" action="ppaction://hlinksldjump"/>
              </a:rPr>
              <a:t>5.3.2  </a:t>
            </a:r>
            <a:r>
              <a:rPr lang="en-US" altLang="zh-CN" sz="2200" b="1" dirty="0">
                <a:ea typeface="宋体" panose="02010600030101010101" pitchFamily="2" charset="-122"/>
                <a:hlinkClick r:id="rId4" action="ppaction://hlinksldjump"/>
              </a:rPr>
              <a:t>HEED</a:t>
            </a:r>
            <a:r>
              <a:rPr lang="zh-CN" altLang="en-US" sz="2200" b="1" dirty="0">
                <a:ea typeface="宋体" panose="02010600030101010101" pitchFamily="2" charset="-122"/>
                <a:hlinkClick r:id="rId4" action="ppaction://hlinksldjump"/>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5" action="ppaction://hlinksldjump"/>
              </a:rPr>
              <a:t>5.3.3  TEEN</a:t>
            </a:r>
            <a:r>
              <a:rPr lang="zh-CN" altLang="en-US" sz="2200" b="1" dirty="0">
                <a:latin typeface="Times New Roman" panose="02020603050405020304" charset="0"/>
                <a:ea typeface="宋体" panose="02010600030101010101" pitchFamily="2" charset="-122"/>
                <a:hlinkClick r:id="rId5" action="ppaction://hlinksldjump"/>
              </a:rPr>
              <a:t>协议</a:t>
            </a:r>
            <a:endParaRPr lang="en-US" altLang="zh-CN" sz="2200" b="1" dirty="0">
              <a:latin typeface="Times New Roman" panose="02020603050405020304" charset="0"/>
              <a:ea typeface="宋体" panose="02010600030101010101" pitchFamily="2" charset="-122"/>
            </a:endParaRPr>
          </a:p>
          <a:p>
            <a:endParaRPr lang="zh-CN" altLang="en-US" sz="2200" b="1" dirty="0">
              <a:latin typeface="Times New Roman" panose="02020603050405020304" charset="0"/>
              <a:ea typeface="宋体" panose="02010600030101010101" pitchFamily="2" charset="-122"/>
            </a:endParaRPr>
          </a:p>
        </p:txBody>
      </p:sp>
      <p:sp>
        <p:nvSpPr>
          <p:cNvPr id="4" name="文本框 3"/>
          <p:cNvSpPr txBox="1"/>
          <p:nvPr/>
        </p:nvSpPr>
        <p:spPr>
          <a:xfrm>
            <a:off x="6081980" y="1307806"/>
            <a:ext cx="5535930" cy="4832092"/>
          </a:xfrm>
          <a:prstGeom prst="rect">
            <a:avLst/>
          </a:prstGeom>
          <a:noFill/>
          <a:ln w="9525">
            <a:noFill/>
          </a:ln>
        </p:spPr>
        <p:txBody>
          <a:bodyPr wrap="square">
            <a:spAutoFit/>
          </a:bodyPr>
          <a:lstStyle/>
          <a:p>
            <a:pPr indent="0"/>
            <a:r>
              <a:rPr lang="en-US" altLang="zh-CN" sz="2200" b="1" dirty="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6" action="ppaction://hlinksldjump"/>
              </a:rPr>
              <a:t>5.3.4  </a:t>
            </a:r>
            <a:r>
              <a:rPr lang="en-US" altLang="zh-CN" sz="2200" b="1" dirty="0">
                <a:latin typeface="Times New Roman" panose="02020603050405020304" charset="0"/>
                <a:ea typeface="宋体" panose="02010600030101010101" pitchFamily="2" charset="-122"/>
                <a:hlinkClick r:id="rId6" action="ppaction://hlinksldjump"/>
              </a:rPr>
              <a:t>TTDD</a:t>
            </a:r>
            <a:r>
              <a:rPr lang="zh-CN" altLang="en-US" sz="2200" b="1" dirty="0">
                <a:latin typeface="Times New Roman" panose="02020603050405020304" charset="0"/>
                <a:ea typeface="宋体" panose="02010600030101010101" pitchFamily="2" charset="-122"/>
                <a:hlinkClick r:id="rId6" action="ppaction://hlinksldjump"/>
              </a:rPr>
              <a:t>协议</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a:t>
            </a:r>
            <a:r>
              <a:rPr lang="en-US" altLang="zh-CN" sz="2200" b="1" dirty="0">
                <a:latin typeface="Times New Roman" panose="02020603050405020304" charset="0"/>
                <a:ea typeface="宋体" panose="02010600030101010101" pitchFamily="2" charset="-122"/>
                <a:hlinkClick r:id="rId7" action="ppaction://hlinksldjump"/>
              </a:rPr>
              <a:t>5.3.5  PEGASIS</a:t>
            </a:r>
            <a:r>
              <a:rPr lang="zh-CN" altLang="en-US" sz="2200" b="1" dirty="0">
                <a:latin typeface="Times New Roman" panose="02020603050405020304" charset="0"/>
                <a:ea typeface="宋体" panose="02010600030101010101" pitchFamily="2" charset="-122"/>
                <a:hlinkClick r:id="rId7" action="ppaction://hlinksldjump"/>
              </a:rPr>
              <a:t>协议</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5.4</a:t>
            </a:r>
            <a:r>
              <a:rPr lang="zh-CN" altLang="en-US" sz="2200" b="1" dirty="0">
                <a:latin typeface="Times New Roman" panose="02020603050405020304" charset="0"/>
                <a:ea typeface="宋体" panose="02010600030101010101" pitchFamily="2" charset="-122"/>
              </a:rPr>
              <a:t>其他路由</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  </a:t>
            </a:r>
            <a:r>
              <a:rPr lang="zh-CN" altLang="en-US" sz="2200" b="1" dirty="0">
                <a:latin typeface="Times New Roman" panose="02020603050405020304" charset="0"/>
                <a:ea typeface="宋体" panose="02010600030101010101" pitchFamily="2" charset="-122"/>
              </a:rPr>
              <a:t>地理位置</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5.4.1.1  </a:t>
            </a:r>
            <a:r>
              <a:rPr lang="en-US" altLang="zh-CN" sz="2200" b="1" dirty="0">
                <a:latin typeface="Times New Roman" panose="02020603050405020304" charset="0"/>
                <a:ea typeface="宋体" panose="02010600030101010101" pitchFamily="2" charset="-122"/>
              </a:rPr>
              <a:t>GAF</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5.4.1.2  </a:t>
            </a:r>
            <a:r>
              <a:rPr lang="en-US" altLang="zh-CN" sz="2200" b="1" dirty="0">
                <a:latin typeface="Times New Roman" panose="02020603050405020304" charset="0"/>
                <a:ea typeface="宋体" panose="02010600030101010101" pitchFamily="2" charset="-122"/>
              </a:rPr>
              <a:t>GEAR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5.4.1.3  </a:t>
            </a:r>
            <a:r>
              <a:rPr lang="en-US" altLang="zh-CN" sz="2200" b="1" dirty="0">
                <a:latin typeface="Times New Roman" panose="02020603050405020304" charset="0"/>
                <a:ea typeface="宋体" panose="02010600030101010101" pitchFamily="2" charset="-122"/>
              </a:rPr>
              <a:t>GPSR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  </a:t>
            </a:r>
            <a:r>
              <a:rPr lang="en-US" altLang="zh-CN" sz="2200" b="1" dirty="0" err="1">
                <a:latin typeface="Times New Roman" panose="02020603050405020304" charset="0"/>
                <a:ea typeface="宋体" panose="02010600030101010101" pitchFamily="2" charset="-122"/>
              </a:rPr>
              <a:t>QoS</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5.4.2.1  </a:t>
            </a:r>
            <a:r>
              <a:rPr lang="en-US" altLang="zh-CN" sz="2200" b="1" dirty="0">
                <a:latin typeface="Times New Roman" panose="02020603050405020304" charset="0"/>
                <a:ea typeface="宋体" panose="02010600030101010101" pitchFamily="2" charset="-122"/>
              </a:rPr>
              <a:t>SPEED</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5.4.2.2  </a:t>
            </a:r>
            <a:r>
              <a:rPr lang="en-US" altLang="zh-CN" sz="2200" b="1" dirty="0">
                <a:latin typeface="Times New Roman" panose="02020603050405020304" charset="0"/>
                <a:ea typeface="宋体" panose="02010600030101010101" pitchFamily="2" charset="-122"/>
              </a:rPr>
              <a:t>SAR</a:t>
            </a:r>
            <a:r>
              <a:rPr lang="zh-CN" altLang="en-US" sz="2200" b="1" dirty="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5.4.3  </a:t>
            </a:r>
            <a:r>
              <a:rPr lang="zh-CN" altLang="en-US" sz="2200" b="1" dirty="0">
                <a:latin typeface="Times New Roman" panose="02020603050405020304" charset="0"/>
                <a:ea typeface="宋体" panose="02010600030101010101" pitchFamily="2" charset="-122"/>
              </a:rPr>
              <a:t>多径</a:t>
            </a:r>
            <a:r>
              <a:rPr lang="zh-CN" altLang="en-US" sz="2200" b="1" dirty="0" smtClean="0">
                <a:latin typeface="Times New Roman" panose="02020603050405020304" charset="0"/>
                <a:ea typeface="宋体" panose="02010600030101010101" pitchFamily="2" charset="-122"/>
              </a:rPr>
              <a:t>路由协议</a:t>
            </a:r>
            <a:endParaRPr lang="en-US" altLang="zh-CN" sz="2200" b="1" dirty="0" smtClean="0">
              <a:latin typeface="Times New Roman" panose="02020603050405020304" charset="0"/>
              <a:ea typeface="宋体" panose="02010600030101010101" pitchFamily="2" charset="-122"/>
            </a:endParaRPr>
          </a:p>
          <a:p>
            <a:pPr indent="0"/>
            <a:r>
              <a:rPr lang="en-US" sz="2200" b="1" dirty="0" smtClean="0">
                <a:latin typeface="Times New Roman" panose="02020603050405020304" charset="0"/>
                <a:ea typeface="宋体" panose="02010600030101010101" pitchFamily="2" charset="-122"/>
              </a:rPr>
              <a:t>     5.4.3.1  </a:t>
            </a:r>
            <a:r>
              <a:rPr lang="en-US" sz="2200" b="1" dirty="0">
                <a:latin typeface="Times New Roman" panose="02020603050405020304" charset="0"/>
                <a:ea typeface="宋体" panose="02010600030101010101" pitchFamily="2" charset="-122"/>
              </a:rPr>
              <a:t>MMSPEED</a:t>
            </a:r>
            <a:r>
              <a:rPr lang="zh-CN" altLang="en-US" sz="2200" b="1" dirty="0" smtClean="0">
                <a:latin typeface="Times New Roman" panose="02020603050405020304" charset="0"/>
                <a:ea typeface="宋体" panose="02010600030101010101" pitchFamily="2" charset="-122"/>
              </a:rPr>
              <a:t>路由</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5.4.3.2  </a:t>
            </a:r>
            <a:r>
              <a:rPr lang="zh-CN" altLang="en-US" sz="2200" b="1" dirty="0">
                <a:latin typeface="Times New Roman" panose="02020603050405020304" charset="0"/>
                <a:ea typeface="宋体" panose="02010600030101010101" pitchFamily="2" charset="-122"/>
              </a:rPr>
              <a:t>能量多路径路由</a:t>
            </a:r>
            <a:endParaRPr lang="en-US" altLang="zh-CN" sz="2200" b="1" dirty="0" smtClean="0">
              <a:latin typeface="Times New Roman" panose="02020603050405020304" charset="0"/>
              <a:ea typeface="宋体" panose="02010600030101010101" pitchFamily="2" charset="-122"/>
            </a:endParaRPr>
          </a:p>
          <a:p>
            <a:pPr indent="0"/>
            <a:r>
              <a:rPr lang="zh-CN" sz="2200" b="1" dirty="0" smtClean="0">
                <a:solidFill>
                  <a:schemeClr val="tx1"/>
                </a:solidFill>
                <a:uFillTx/>
                <a:ea typeface="宋体" panose="02010600030101010101" pitchFamily="2" charset="-122"/>
              </a:rPr>
              <a:t>习题</a:t>
            </a:r>
            <a:r>
              <a:rPr lang="en-US" sz="2200" b="1" dirty="0" smtClean="0">
                <a:solidFill>
                  <a:schemeClr val="tx1"/>
                </a:solidFill>
                <a:uFillTx/>
                <a:latin typeface="Times New Roman" panose="02020603050405020304" charset="0"/>
                <a:ea typeface="宋体" panose="02010600030101010101" pitchFamily="2" charset="-122"/>
              </a:rPr>
              <a:t>5</a:t>
            </a:r>
            <a:r>
              <a:rPr lang="en-US" sz="2200" b="1" dirty="0">
                <a:solidFill>
                  <a:srgbClr val="0000FF"/>
                </a:solidFill>
                <a:latin typeface="Times New Roman" panose="02020603050405020304" charset="0"/>
                <a:ea typeface="宋体" panose="02010600030101010101" pitchFamily="2" charset="-122"/>
              </a:rPr>
              <a:t>	</a:t>
            </a:r>
            <a:endParaRPr lang="zh-CN" altLang="en-US" sz="2200" b="1"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
        <p:nvSpPr>
          <p:cNvPr id="3" name="文本占位符 2"/>
          <p:cNvSpPr>
            <a:spLocks noGrp="1"/>
          </p:cNvSpPr>
          <p:nvPr>
            <p:ph sz="half" idx="1"/>
          </p:nvPr>
        </p:nvSpPr>
        <p:spPr/>
        <p:txBody>
          <a:bodyPr>
            <a:normAutofit fontScale="92500" lnSpcReduction="20000"/>
          </a:bodyPr>
          <a:lstStyle/>
          <a:p>
            <a:r>
              <a:rPr lang="zh-CN" altLang="en-US" dirty="0" smtClean="0">
                <a:solidFill>
                  <a:srgbClr val="FF0000"/>
                </a:solidFill>
              </a:rPr>
              <a:t>构成</a:t>
            </a:r>
            <a:r>
              <a:rPr lang="zh-CN" altLang="en-US" dirty="0" smtClean="0"/>
              <a:t>：</a:t>
            </a:r>
            <a:r>
              <a:rPr lang="zh-CN" altLang="zh-CN" dirty="0" smtClean="0"/>
              <a:t>网络</a:t>
            </a:r>
            <a:r>
              <a:rPr lang="zh-CN" altLang="zh-CN" dirty="0"/>
              <a:t>由若干</a:t>
            </a:r>
            <a:r>
              <a:rPr lang="zh-CN" altLang="zh-CN" dirty="0">
                <a:solidFill>
                  <a:srgbClr val="FF0000"/>
                </a:solidFill>
              </a:rPr>
              <a:t>簇</a:t>
            </a:r>
            <a:r>
              <a:rPr lang="zh-CN" altLang="zh-CN" dirty="0"/>
              <a:t>组成，一个簇是一个节点集，包含了簇头和簇</a:t>
            </a:r>
            <a:r>
              <a:rPr lang="zh-CN" altLang="zh-CN" dirty="0" smtClean="0"/>
              <a:t>内节点</a:t>
            </a:r>
            <a:r>
              <a:rPr lang="zh-CN" altLang="en-US" dirty="0" smtClean="0"/>
              <a:t>：</a:t>
            </a:r>
            <a:endParaRPr lang="en-US" altLang="zh-CN" dirty="0" smtClean="0"/>
          </a:p>
          <a:p>
            <a:pPr lvl="1"/>
            <a:r>
              <a:rPr lang="zh-CN" altLang="zh-CN" dirty="0" smtClean="0">
                <a:solidFill>
                  <a:srgbClr val="FF0000"/>
                </a:solidFill>
              </a:rPr>
              <a:t>普通节点</a:t>
            </a:r>
            <a:r>
              <a:rPr lang="zh-CN" altLang="en-US" dirty="0" smtClean="0">
                <a:solidFill>
                  <a:srgbClr val="FF0000"/>
                </a:solidFill>
              </a:rPr>
              <a:t>（</a:t>
            </a:r>
            <a:r>
              <a:rPr lang="zh-CN" altLang="zh-CN" dirty="0" smtClean="0">
                <a:solidFill>
                  <a:srgbClr val="FF0000"/>
                </a:solidFill>
              </a:rPr>
              <a:t>簇内节点</a:t>
            </a:r>
            <a:r>
              <a:rPr lang="zh-CN" altLang="en-US" dirty="0" smtClean="0">
                <a:solidFill>
                  <a:srgbClr val="FF0000"/>
                </a:solidFill>
              </a:rPr>
              <a:t>）</a:t>
            </a:r>
            <a:r>
              <a:rPr lang="zh-CN" altLang="en-US" dirty="0" smtClean="0"/>
              <a:t>：</a:t>
            </a:r>
            <a:r>
              <a:rPr lang="zh-CN" altLang="zh-CN" dirty="0" smtClean="0"/>
              <a:t>把</a:t>
            </a:r>
            <a:r>
              <a:rPr lang="zh-CN" altLang="zh-CN" dirty="0"/>
              <a:t>数据发送给骨干</a:t>
            </a:r>
            <a:r>
              <a:rPr lang="zh-CN" altLang="zh-CN" dirty="0" smtClean="0"/>
              <a:t>节点</a:t>
            </a:r>
            <a:endParaRPr lang="en-US" altLang="zh-CN" dirty="0" smtClean="0"/>
          </a:p>
          <a:p>
            <a:pPr lvl="1"/>
            <a:r>
              <a:rPr lang="zh-CN" altLang="zh-CN" dirty="0" smtClean="0">
                <a:solidFill>
                  <a:srgbClr val="FF0000"/>
                </a:solidFill>
              </a:rPr>
              <a:t>骨干节点</a:t>
            </a:r>
            <a:r>
              <a:rPr lang="zh-CN" altLang="en-US" dirty="0" smtClean="0">
                <a:solidFill>
                  <a:srgbClr val="FF0000"/>
                </a:solidFill>
              </a:rPr>
              <a:t>（</a:t>
            </a:r>
            <a:r>
              <a:rPr lang="zh-CN" altLang="zh-CN" dirty="0">
                <a:solidFill>
                  <a:srgbClr val="FF0000"/>
                </a:solidFill>
              </a:rPr>
              <a:t>簇头</a:t>
            </a:r>
            <a:r>
              <a:rPr lang="zh-CN" altLang="en-US" dirty="0" smtClean="0">
                <a:solidFill>
                  <a:srgbClr val="FF0000"/>
                </a:solidFill>
              </a:rPr>
              <a:t>）</a:t>
            </a:r>
            <a:r>
              <a:rPr lang="zh-CN" altLang="en-US" dirty="0" smtClean="0"/>
              <a:t>：</a:t>
            </a:r>
            <a:r>
              <a:rPr lang="zh-CN" altLang="zh-CN" dirty="0" smtClean="0"/>
              <a:t>负责</a:t>
            </a:r>
            <a:r>
              <a:rPr lang="zh-CN" altLang="zh-CN" dirty="0"/>
              <a:t>协调其区域内的普通节点的通信和进行数据融合等工作</a:t>
            </a:r>
            <a:r>
              <a:rPr lang="zh-CN" altLang="zh-CN" dirty="0" smtClean="0"/>
              <a:t>。能量消耗</a:t>
            </a:r>
            <a:r>
              <a:rPr lang="zh-CN" altLang="zh-CN" dirty="0"/>
              <a:t>相对较大，因而需要经常更换骨干节点</a:t>
            </a:r>
            <a:r>
              <a:rPr lang="zh-CN" altLang="zh-CN" dirty="0" smtClean="0"/>
              <a:t>。</a:t>
            </a:r>
            <a:endParaRPr lang="en-US" altLang="zh-CN" dirty="0" smtClean="0"/>
          </a:p>
          <a:p>
            <a:pPr lvl="1"/>
            <a:r>
              <a:rPr lang="zh-CN" altLang="en-US" dirty="0" smtClean="0">
                <a:solidFill>
                  <a:srgbClr val="FF0000"/>
                </a:solidFill>
              </a:rPr>
              <a:t>多层结构：</a:t>
            </a:r>
            <a:r>
              <a:rPr lang="zh-CN" altLang="zh-CN" dirty="0" smtClean="0"/>
              <a:t>簇</a:t>
            </a:r>
            <a:r>
              <a:rPr lang="zh-CN" altLang="zh-CN" dirty="0"/>
              <a:t>头节点还可以进一步划分成多个更高层次的簇</a:t>
            </a:r>
            <a:endParaRPr lang="en-US" altLang="zh-CN" dirty="0" smtClean="0"/>
          </a:p>
          <a:p>
            <a:r>
              <a:rPr lang="zh-CN" altLang="en-US" dirty="0" smtClean="0">
                <a:solidFill>
                  <a:srgbClr val="FF0000"/>
                </a:solidFill>
              </a:rPr>
              <a:t>关键</a:t>
            </a:r>
            <a:r>
              <a:rPr lang="zh-CN" altLang="en-US" dirty="0" smtClean="0"/>
              <a:t>：</a:t>
            </a:r>
            <a:r>
              <a:rPr lang="zh-CN" altLang="zh-CN" dirty="0" smtClean="0"/>
              <a:t>如何</a:t>
            </a:r>
            <a:r>
              <a:rPr lang="zh-CN" altLang="zh-CN" dirty="0"/>
              <a:t>分族和簇内节点间的</a:t>
            </a:r>
            <a:r>
              <a:rPr lang="zh-CN" altLang="zh-CN" dirty="0" smtClean="0"/>
              <a:t>协同</a:t>
            </a:r>
            <a:endParaRPr lang="en-US" altLang="zh-CN" dirty="0" smtClean="0"/>
          </a:p>
          <a:p>
            <a:r>
              <a:rPr lang="zh-CN" altLang="zh-CN" dirty="0" smtClean="0">
                <a:solidFill>
                  <a:srgbClr val="FF0000"/>
                </a:solidFill>
              </a:rPr>
              <a:t>优点</a:t>
            </a:r>
            <a:r>
              <a:rPr lang="zh-CN" altLang="en-US" dirty="0" smtClean="0"/>
              <a:t>：</a:t>
            </a:r>
            <a:endParaRPr lang="en-US" altLang="zh-CN" dirty="0" smtClean="0"/>
          </a:p>
          <a:p>
            <a:pPr lvl="1"/>
            <a:r>
              <a:rPr lang="zh-CN" altLang="zh-CN" dirty="0" smtClean="0"/>
              <a:t>由</a:t>
            </a:r>
            <a:r>
              <a:rPr lang="zh-CN" altLang="zh-CN" dirty="0"/>
              <a:t>簇头节点担负数据融合的任务，</a:t>
            </a:r>
            <a:r>
              <a:rPr lang="zh-CN" altLang="zh-CN" dirty="0">
                <a:solidFill>
                  <a:srgbClr val="FF0000"/>
                </a:solidFill>
              </a:rPr>
              <a:t>减少了数据通信量</a:t>
            </a:r>
            <a:r>
              <a:rPr lang="zh-CN" altLang="zh-CN" dirty="0" smtClean="0"/>
              <a:t>；</a:t>
            </a:r>
            <a:endParaRPr lang="en-US" altLang="zh-CN" dirty="0" smtClean="0"/>
          </a:p>
          <a:p>
            <a:pPr lvl="1"/>
            <a:r>
              <a:rPr lang="zh-CN" altLang="zh-CN" dirty="0" smtClean="0"/>
              <a:t>有利于</a:t>
            </a:r>
            <a:r>
              <a:rPr lang="zh-CN" altLang="zh-CN" dirty="0">
                <a:solidFill>
                  <a:srgbClr val="FF0000"/>
                </a:solidFill>
              </a:rPr>
              <a:t>分布式算法的应用</a:t>
            </a:r>
            <a:r>
              <a:rPr lang="zh-CN" altLang="zh-CN" dirty="0"/>
              <a:t>，适合大规模部署的网络</a:t>
            </a:r>
            <a:r>
              <a:rPr lang="zh-CN" altLang="zh-CN" dirty="0" smtClean="0"/>
              <a:t>；</a:t>
            </a:r>
            <a:endParaRPr lang="en-US" altLang="zh-CN" dirty="0" smtClean="0"/>
          </a:p>
          <a:p>
            <a:pPr lvl="1"/>
            <a:r>
              <a:rPr lang="zh-CN" altLang="zh-CN" dirty="0" smtClean="0"/>
              <a:t>由于</a:t>
            </a:r>
            <a:r>
              <a:rPr lang="zh-CN" altLang="zh-CN" dirty="0"/>
              <a:t>大部分节点在相当长的时间内关闭了通信模块，所以显著地</a:t>
            </a:r>
            <a:r>
              <a:rPr lang="zh-CN" altLang="zh-CN" dirty="0">
                <a:solidFill>
                  <a:srgbClr val="FF0000"/>
                </a:solidFill>
              </a:rPr>
              <a:t>延长了整个网络的生存时间</a:t>
            </a:r>
            <a:r>
              <a:rPr lang="zh-CN" altLang="zh-CN" dirty="0"/>
              <a:t>等。</a:t>
            </a:r>
            <a:endParaRPr lang="zh-CN" altLang="zh-CN" dirty="0"/>
          </a:p>
          <a:p>
            <a:r>
              <a:rPr lang="zh-CN" altLang="zh-CN" dirty="0" smtClean="0">
                <a:solidFill>
                  <a:srgbClr val="FF0000"/>
                </a:solidFill>
              </a:rPr>
              <a:t>出发点</a:t>
            </a:r>
            <a:r>
              <a:rPr lang="zh-CN" altLang="en-US" dirty="0" smtClean="0"/>
              <a:t>：</a:t>
            </a:r>
            <a:r>
              <a:rPr lang="zh-CN" altLang="zh-CN" dirty="0" smtClean="0"/>
              <a:t>节省能量</a:t>
            </a:r>
            <a:endParaRPr lang="en-US" altLang="zh-CN" dirty="0" smtClean="0"/>
          </a:p>
          <a:p>
            <a:endParaRPr lang="zh-CN" altLang="zh-CN" b="1"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5.3.1  LEACH</a:t>
            </a:r>
            <a:r>
              <a:rPr lang="zh-CN" altLang="zh-CN" dirty="0"/>
              <a:t>路由</a:t>
            </a:r>
            <a:r>
              <a:rPr lang="zh-CN" altLang="zh-CN" dirty="0" smtClean="0"/>
              <a:t>协议</a:t>
            </a:r>
            <a:endParaRPr lang="en-US" altLang="zh-CN" dirty="0" smtClean="0"/>
          </a:p>
          <a:p>
            <a:pPr lvl="1"/>
            <a:r>
              <a:rPr lang="en-US" altLang="zh-CN" dirty="0" smtClean="0"/>
              <a:t>LEACH</a:t>
            </a:r>
            <a:r>
              <a:rPr lang="zh-CN" altLang="en-US" dirty="0"/>
              <a:t>：</a:t>
            </a:r>
            <a:r>
              <a:rPr lang="en-US" altLang="zh-CN" dirty="0" smtClean="0"/>
              <a:t>Low </a:t>
            </a:r>
            <a:r>
              <a:rPr lang="en-US" altLang="zh-CN" dirty="0"/>
              <a:t>Energy Adaptive Clustering Hierarchy</a:t>
            </a:r>
            <a:r>
              <a:rPr lang="zh-CN" altLang="zh-CN" dirty="0"/>
              <a:t>，</a:t>
            </a:r>
            <a:r>
              <a:rPr lang="zh-CN" altLang="zh-CN" dirty="0">
                <a:solidFill>
                  <a:srgbClr val="FF0000"/>
                </a:solidFill>
              </a:rPr>
              <a:t>低功耗自适应集簇分</a:t>
            </a:r>
            <a:r>
              <a:rPr lang="zh-CN" altLang="zh-CN" dirty="0" smtClean="0">
                <a:solidFill>
                  <a:srgbClr val="FF0000"/>
                </a:solidFill>
              </a:rPr>
              <a:t>层型路由协议</a:t>
            </a:r>
            <a:endParaRPr lang="en-US" altLang="zh-CN" dirty="0" smtClean="0">
              <a:solidFill>
                <a:srgbClr val="FF0000"/>
              </a:solidFill>
            </a:endParaRPr>
          </a:p>
          <a:p>
            <a:pPr lvl="1"/>
            <a:r>
              <a:rPr lang="zh-CN" altLang="zh-CN" dirty="0" smtClean="0"/>
              <a:t>一</a:t>
            </a:r>
            <a:r>
              <a:rPr lang="zh-CN" altLang="zh-CN" dirty="0"/>
              <a:t>种经典的基于簇的</a:t>
            </a:r>
            <a:r>
              <a:rPr lang="zh-CN" altLang="zh-CN" dirty="0">
                <a:solidFill>
                  <a:srgbClr val="FF0000"/>
                </a:solidFill>
              </a:rPr>
              <a:t>自适应分簇</a:t>
            </a:r>
            <a:r>
              <a:rPr lang="zh-CN" altLang="zh-CN" dirty="0"/>
              <a:t>拓扑协议，这是第一个提出</a:t>
            </a:r>
            <a:r>
              <a:rPr lang="zh-CN" altLang="zh-CN" dirty="0">
                <a:solidFill>
                  <a:srgbClr val="FF0000"/>
                </a:solidFill>
              </a:rPr>
              <a:t>数据融合的层次路由</a:t>
            </a:r>
            <a:r>
              <a:rPr lang="zh-CN" altLang="zh-CN" dirty="0" smtClean="0"/>
              <a:t>协议</a:t>
            </a:r>
            <a:endParaRPr lang="en-US" altLang="zh-CN" dirty="0" smtClean="0"/>
          </a:p>
          <a:p>
            <a:pPr lvl="1"/>
            <a:r>
              <a:rPr lang="zh-CN" altLang="zh-CN" dirty="0" smtClean="0"/>
              <a:t>为</a:t>
            </a:r>
            <a:r>
              <a:rPr lang="zh-CN" altLang="zh-CN" dirty="0"/>
              <a:t>平衡网络各个节点的能耗，</a:t>
            </a:r>
            <a:r>
              <a:rPr lang="zh-CN" altLang="zh-CN" dirty="0">
                <a:solidFill>
                  <a:srgbClr val="FF0000"/>
                </a:solidFill>
              </a:rPr>
              <a:t>簇头是周期性按轮随机选举</a:t>
            </a:r>
            <a:r>
              <a:rPr lang="zh-CN" altLang="zh-CN" dirty="0"/>
              <a:t>的</a:t>
            </a:r>
            <a:r>
              <a:rPr lang="zh-CN" altLang="zh-CN" dirty="0" smtClean="0"/>
              <a:t>。</a:t>
            </a:r>
            <a:endParaRPr lang="en-US" altLang="zh-CN" dirty="0" smtClean="0"/>
          </a:p>
          <a:p>
            <a:pPr lvl="1"/>
            <a:r>
              <a:rPr lang="zh-CN" altLang="zh-CN" dirty="0" smtClean="0"/>
              <a:t>轮</a:t>
            </a:r>
            <a:r>
              <a:rPr lang="zh-CN" altLang="en-US" dirty="0" smtClean="0"/>
              <a:t>的两个阶段：</a:t>
            </a:r>
            <a:endParaRPr lang="en-US" altLang="zh-CN" dirty="0" smtClean="0"/>
          </a:p>
          <a:p>
            <a:pPr lvl="2"/>
            <a:r>
              <a:rPr lang="zh-CN" altLang="zh-CN" dirty="0" smtClean="0">
                <a:solidFill>
                  <a:srgbClr val="FF0000"/>
                </a:solidFill>
              </a:rPr>
              <a:t>簇</a:t>
            </a:r>
            <a:r>
              <a:rPr lang="zh-CN" altLang="zh-CN" dirty="0">
                <a:solidFill>
                  <a:srgbClr val="FF0000"/>
                </a:solidFill>
              </a:rPr>
              <a:t>的</a:t>
            </a:r>
            <a:r>
              <a:rPr lang="zh-CN" altLang="zh-CN" dirty="0" smtClean="0">
                <a:solidFill>
                  <a:srgbClr val="FF0000"/>
                </a:solidFill>
              </a:rPr>
              <a:t>建立</a:t>
            </a:r>
            <a:r>
              <a:rPr lang="zh-CN" altLang="en-US" dirty="0" smtClean="0"/>
              <a:t>：</a:t>
            </a:r>
            <a:r>
              <a:rPr lang="zh-CN" altLang="zh-CN" dirty="0" smtClean="0">
                <a:solidFill>
                  <a:srgbClr val="FF0000"/>
                </a:solidFill>
              </a:rPr>
              <a:t>相邻</a:t>
            </a:r>
            <a:r>
              <a:rPr lang="zh-CN" altLang="zh-CN" dirty="0">
                <a:solidFill>
                  <a:srgbClr val="FF0000"/>
                </a:solidFill>
              </a:rPr>
              <a:t>节点</a:t>
            </a:r>
            <a:r>
              <a:rPr lang="zh-CN" altLang="zh-CN" dirty="0"/>
              <a:t>动态地形成簇，</a:t>
            </a:r>
            <a:r>
              <a:rPr lang="zh-CN" altLang="zh-CN" dirty="0">
                <a:solidFill>
                  <a:srgbClr val="FF0000"/>
                </a:solidFill>
              </a:rPr>
              <a:t>随机产生簇头</a:t>
            </a:r>
            <a:r>
              <a:rPr lang="zh-CN" altLang="zh-CN" dirty="0" smtClean="0"/>
              <a:t>；</a:t>
            </a:r>
            <a:endParaRPr lang="en-US" altLang="zh-CN" dirty="0" smtClean="0"/>
          </a:p>
          <a:p>
            <a:pPr lvl="2"/>
            <a:r>
              <a:rPr lang="zh-CN" altLang="zh-CN" dirty="0" smtClean="0">
                <a:solidFill>
                  <a:srgbClr val="FF0000"/>
                </a:solidFill>
              </a:rPr>
              <a:t>数据通信</a:t>
            </a:r>
            <a:r>
              <a:rPr lang="zh-CN" altLang="en-US" dirty="0" smtClean="0"/>
              <a:t>：</a:t>
            </a:r>
            <a:r>
              <a:rPr lang="zh-CN" altLang="zh-CN" dirty="0" smtClean="0"/>
              <a:t>簇</a:t>
            </a:r>
            <a:r>
              <a:rPr lang="zh-CN" altLang="zh-CN" dirty="0"/>
              <a:t>内节点把数据发送给簇头，簇头进行数据融合并把结果发送给汇聚节点</a:t>
            </a:r>
            <a:r>
              <a:rPr lang="zh-CN" altLang="zh-CN" dirty="0" smtClean="0"/>
              <a:t>。由于</a:t>
            </a:r>
            <a:r>
              <a:rPr lang="zh-CN" altLang="zh-CN" dirty="0"/>
              <a:t>簇头需要完成数据融合、与汇聚节点通信等工作，所以能量消耗大</a:t>
            </a:r>
            <a:r>
              <a:rPr lang="zh-CN" altLang="zh-CN" dirty="0" smtClean="0"/>
              <a:t>。</a:t>
            </a:r>
            <a:endParaRPr lang="en-US" altLang="zh-CN" dirty="0" smtClean="0"/>
          </a:p>
        </p:txBody>
      </p:sp>
      <p:sp>
        <p:nvSpPr>
          <p:cNvPr id="5" name="标题 4"/>
          <p:cNvSpPr>
            <a:spLocks noGrp="1"/>
          </p:cNvSpPr>
          <p:nvPr>
            <p:ph type="title"/>
          </p:nvPr>
        </p:nvSpPr>
        <p:spPr/>
        <p:txBody>
          <a:bodyPr>
            <a:normAutofit/>
          </a:bodyPr>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5.3.1  LEACH</a:t>
            </a:r>
            <a:r>
              <a:rPr lang="zh-CN" altLang="zh-CN" dirty="0"/>
              <a:t>路由</a:t>
            </a:r>
            <a:r>
              <a:rPr lang="zh-CN" altLang="zh-CN" dirty="0" smtClean="0"/>
              <a:t>协议</a:t>
            </a:r>
            <a:endParaRPr lang="en-US" altLang="zh-CN" dirty="0" smtClean="0"/>
          </a:p>
        </p:txBody>
      </p:sp>
      <p:pic>
        <p:nvPicPr>
          <p:cNvPr id="4" name="图片 3"/>
          <p:cNvPicPr/>
          <p:nvPr/>
        </p:nvPicPr>
        <p:blipFill>
          <a:blip r:embed="rId1"/>
          <a:stretch>
            <a:fillRect/>
          </a:stretch>
        </p:blipFill>
        <p:spPr>
          <a:xfrm>
            <a:off x="3027338" y="2524125"/>
            <a:ext cx="6848182" cy="3478286"/>
          </a:xfrm>
          <a:prstGeom prst="rect">
            <a:avLst/>
          </a:prstGeom>
          <a:noFill/>
          <a:ln>
            <a:noFill/>
          </a:ln>
        </p:spPr>
      </p:pic>
      <p:sp>
        <p:nvSpPr>
          <p:cNvPr id="5" name="矩形 4"/>
          <p:cNvSpPr/>
          <p:nvPr/>
        </p:nvSpPr>
        <p:spPr>
          <a:xfrm>
            <a:off x="4705234" y="6311900"/>
            <a:ext cx="2781531"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5-3-1   LEACH</a:t>
            </a:r>
            <a:r>
              <a:rPr lang="zh-CN" altLang="zh-CN" kern="100" dirty="0">
                <a:latin typeface="Times New Roman" panose="02020603050405020304" charset="0"/>
                <a:ea typeface="宋体" panose="02010600030101010101" pitchFamily="2" charset="-122"/>
                <a:cs typeface="Times New Roman" panose="02020603050405020304" charset="0"/>
              </a:rPr>
              <a:t>路由协议</a:t>
            </a:r>
            <a:endParaRPr lang="zh-CN" altLang="en-US" dirty="0"/>
          </a:p>
        </p:txBody>
      </p:sp>
      <p:sp>
        <p:nvSpPr>
          <p:cNvPr id="7" name="标题 6"/>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5.3.1  LEACH</a:t>
            </a:r>
            <a:r>
              <a:rPr lang="zh-CN" altLang="zh-CN" dirty="0"/>
              <a:t>路由</a:t>
            </a:r>
            <a:r>
              <a:rPr lang="zh-CN" altLang="zh-CN" dirty="0" smtClean="0"/>
              <a:t>协议</a:t>
            </a:r>
            <a:endParaRPr lang="en-US" altLang="zh-CN" dirty="0" smtClean="0"/>
          </a:p>
          <a:p>
            <a:r>
              <a:rPr lang="en-US" altLang="zh-CN" dirty="0" smtClean="0"/>
              <a:t>LEACH</a:t>
            </a:r>
            <a:r>
              <a:rPr lang="zh-CN" altLang="en-US" dirty="0"/>
              <a:t>三个阶段</a:t>
            </a:r>
            <a:r>
              <a:rPr lang="zh-CN" altLang="zh-CN" dirty="0"/>
              <a:t>：</a:t>
            </a:r>
            <a:endParaRPr lang="zh-CN" altLang="zh-CN" dirty="0"/>
          </a:p>
          <a:p>
            <a:r>
              <a:rPr lang="zh-CN" altLang="zh-CN" dirty="0" smtClean="0"/>
              <a:t>（</a:t>
            </a:r>
            <a:r>
              <a:rPr lang="en-US" altLang="zh-CN" dirty="0"/>
              <a:t>1</a:t>
            </a:r>
            <a:r>
              <a:rPr lang="zh-CN" altLang="zh-CN" dirty="0" smtClean="0"/>
              <a:t>）</a:t>
            </a:r>
            <a:r>
              <a:rPr lang="zh-CN" altLang="zh-CN" dirty="0"/>
              <a:t>簇</a:t>
            </a:r>
            <a:r>
              <a:rPr lang="zh-CN" altLang="zh-CN" dirty="0" smtClean="0"/>
              <a:t>头</a:t>
            </a:r>
            <a:r>
              <a:rPr lang="zh-CN" altLang="en-US" dirty="0" smtClean="0"/>
              <a:t>选举：</a:t>
            </a:r>
            <a:r>
              <a:rPr lang="zh-CN" altLang="zh-CN" dirty="0" smtClean="0"/>
              <a:t>节点产生</a:t>
            </a:r>
            <a:r>
              <a:rPr lang="en-US" altLang="zh-CN" dirty="0" smtClean="0"/>
              <a:t>0~1</a:t>
            </a:r>
            <a:r>
              <a:rPr lang="zh-CN" altLang="zh-CN" dirty="0"/>
              <a:t>的随机数，如果这个数小于阈值</a:t>
            </a:r>
            <a:r>
              <a:rPr lang="en-US" altLang="zh-CN" i="1" dirty="0"/>
              <a:t>T(n)</a:t>
            </a:r>
            <a:r>
              <a:rPr lang="zh-CN" altLang="zh-CN" dirty="0"/>
              <a:t>，则该节点成为簇头</a:t>
            </a:r>
            <a:r>
              <a:rPr lang="zh-CN" altLang="zh-CN" dirty="0" smtClean="0"/>
              <a:t>。</a:t>
            </a:r>
            <a:endParaRPr lang="en-US" altLang="zh-CN" dirty="0" smtClean="0"/>
          </a:p>
          <a:p>
            <a:endParaRPr lang="en-US" altLang="zh-CN" dirty="0" smtClean="0"/>
          </a:p>
          <a:p>
            <a:endParaRPr lang="en-US" altLang="zh-CN" i="1" dirty="0" smtClean="0"/>
          </a:p>
          <a:p>
            <a:pPr lvl="1"/>
            <a:r>
              <a:rPr lang="en-US" altLang="zh-CN" i="1" dirty="0" smtClean="0"/>
              <a:t>P</a:t>
            </a:r>
            <a:r>
              <a:rPr lang="zh-CN" altLang="en-US" i="1" dirty="0" smtClean="0"/>
              <a:t>：</a:t>
            </a:r>
            <a:r>
              <a:rPr lang="zh-CN" altLang="zh-CN" dirty="0" smtClean="0"/>
              <a:t>网络</a:t>
            </a:r>
            <a:r>
              <a:rPr lang="zh-CN" altLang="zh-CN" dirty="0"/>
              <a:t>中簇头数与总节点数的百分比，</a:t>
            </a:r>
            <a:r>
              <a:rPr lang="en-US" altLang="zh-CN" i="1" dirty="0" smtClean="0"/>
              <a:t>r</a:t>
            </a:r>
            <a:r>
              <a:rPr lang="zh-CN" altLang="en-US" i="1" dirty="0" smtClean="0"/>
              <a:t>：</a:t>
            </a:r>
            <a:r>
              <a:rPr lang="zh-CN" altLang="zh-CN" dirty="0" smtClean="0"/>
              <a:t>当前</a:t>
            </a:r>
            <a:r>
              <a:rPr lang="zh-CN" altLang="zh-CN" dirty="0"/>
              <a:t>的选举轮数，</a:t>
            </a:r>
            <a:r>
              <a:rPr lang="en-US" altLang="zh-CN" i="1" dirty="0"/>
              <a:t>r</a:t>
            </a:r>
            <a:r>
              <a:rPr lang="en-US" altLang="zh-CN" dirty="0"/>
              <a:t> mod(1/</a:t>
            </a:r>
            <a:r>
              <a:rPr lang="en-US" altLang="zh-CN" i="1" dirty="0"/>
              <a:t>p</a:t>
            </a:r>
            <a:r>
              <a:rPr lang="en-US" altLang="zh-CN" dirty="0"/>
              <a:t>)</a:t>
            </a:r>
            <a:r>
              <a:rPr lang="zh-CN" altLang="zh-CN" dirty="0"/>
              <a:t>表示这一轮循环中当选过簇头的节点个数，</a:t>
            </a:r>
            <a:r>
              <a:rPr lang="en-US" altLang="zh-CN" i="1" dirty="0" smtClean="0"/>
              <a:t>G</a:t>
            </a:r>
            <a:r>
              <a:rPr lang="zh-CN" altLang="en-US" dirty="0"/>
              <a:t>：</a:t>
            </a:r>
            <a:r>
              <a:rPr lang="zh-CN" altLang="zh-CN" dirty="0" smtClean="0"/>
              <a:t>最近</a:t>
            </a:r>
            <a:r>
              <a:rPr lang="en-US" altLang="zh-CN" dirty="0"/>
              <a:t>1/</a:t>
            </a:r>
            <a:r>
              <a:rPr lang="en-US" altLang="zh-CN" i="1" dirty="0"/>
              <a:t>p</a:t>
            </a:r>
            <a:r>
              <a:rPr lang="zh-CN" altLang="zh-CN" dirty="0"/>
              <a:t>轮未当选过簇头的节点集合。</a:t>
            </a:r>
            <a:endParaRPr lang="zh-CN" altLang="zh-CN" dirty="0"/>
          </a:p>
          <a:p>
            <a:endParaRPr lang="en-US" altLang="zh-CN" dirty="0" smtClean="0"/>
          </a:p>
        </p:txBody>
      </p:sp>
      <p:sp>
        <p:nvSpPr>
          <p:cNvPr id="10" name="Rectangle 8"/>
          <p:cNvSpPr>
            <a:spLocks noChangeArrowheads="1"/>
          </p:cNvSpPr>
          <p:nvPr/>
        </p:nvSpPr>
        <p:spPr bwMode="auto">
          <a:xfrm>
            <a:off x="3133299" y="278718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1" name="对象 10"/>
          <p:cNvGraphicFramePr>
            <a:graphicFrameLocks noChangeAspect="1"/>
          </p:cNvGraphicFramePr>
          <p:nvPr/>
        </p:nvGraphicFramePr>
        <p:xfrm>
          <a:off x="3259908" y="3748754"/>
          <a:ext cx="3170024" cy="919444"/>
        </p:xfrm>
        <a:graphic>
          <a:graphicData uri="http://schemas.openxmlformats.org/presentationml/2006/ole">
            <mc:AlternateContent xmlns:mc="http://schemas.openxmlformats.org/markup-compatibility/2006">
              <mc:Choice xmlns:v="urn:schemas-microsoft-com:vml" Requires="v">
                <p:oleObj spid="_x0000_s2129" name="公式" r:id="rId1" imgW="2197100" imgH="634365" progId="Equation.3">
                  <p:embed/>
                </p:oleObj>
              </mc:Choice>
              <mc:Fallback>
                <p:oleObj name="公式" r:id="rId1" imgW="2197100" imgH="634365"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9908" y="3748754"/>
                        <a:ext cx="3170024" cy="919444"/>
                      </a:xfrm>
                      <a:prstGeom prst="rect">
                        <a:avLst/>
                      </a:prstGeom>
                      <a:noFill/>
                    </p:spPr>
                  </p:pic>
                </p:oleObj>
              </mc:Fallback>
            </mc:AlternateContent>
          </a:graphicData>
        </a:graphic>
      </p:graphicFrame>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5.3.1  LEACH</a:t>
            </a:r>
            <a:r>
              <a:rPr lang="zh-CN" altLang="zh-CN" dirty="0"/>
              <a:t>路由</a:t>
            </a:r>
            <a:r>
              <a:rPr lang="zh-CN" altLang="zh-CN" dirty="0" smtClean="0"/>
              <a:t>协议</a:t>
            </a:r>
            <a:endParaRPr lang="en-US" altLang="zh-CN" dirty="0" smtClean="0"/>
          </a:p>
          <a:p>
            <a:r>
              <a:rPr lang="en-US" altLang="zh-CN" dirty="0" smtClean="0"/>
              <a:t>LEACH</a:t>
            </a:r>
            <a:r>
              <a:rPr lang="zh-CN" altLang="en-US" dirty="0"/>
              <a:t>三个阶段</a:t>
            </a:r>
            <a:r>
              <a:rPr lang="zh-CN" altLang="zh-CN" dirty="0"/>
              <a:t>：</a:t>
            </a:r>
            <a:endParaRPr lang="zh-CN" altLang="zh-CN" dirty="0"/>
          </a:p>
          <a:p>
            <a:r>
              <a:rPr lang="zh-CN" altLang="zh-CN" dirty="0" smtClean="0"/>
              <a:t>（</a:t>
            </a:r>
            <a:r>
              <a:rPr lang="en-US" altLang="zh-CN" dirty="0" smtClean="0"/>
              <a:t>2</a:t>
            </a:r>
            <a:r>
              <a:rPr lang="zh-CN" altLang="zh-CN" dirty="0" smtClean="0"/>
              <a:t>）</a:t>
            </a:r>
            <a:r>
              <a:rPr lang="zh-CN" altLang="zh-CN" dirty="0">
                <a:solidFill>
                  <a:srgbClr val="FF0000"/>
                </a:solidFill>
              </a:rPr>
              <a:t>簇</a:t>
            </a:r>
            <a:r>
              <a:rPr lang="zh-CN" altLang="zh-CN" dirty="0" smtClean="0">
                <a:solidFill>
                  <a:srgbClr val="FF0000"/>
                </a:solidFill>
              </a:rPr>
              <a:t>的建立</a:t>
            </a:r>
            <a:r>
              <a:rPr lang="zh-CN" altLang="en-US" dirty="0" smtClean="0"/>
              <a:t>：</a:t>
            </a:r>
            <a:r>
              <a:rPr lang="zh-CN" altLang="zh-CN" dirty="0" smtClean="0"/>
              <a:t>选定</a:t>
            </a:r>
            <a:r>
              <a:rPr lang="zh-CN" altLang="zh-CN" dirty="0"/>
              <a:t>簇头后，通过</a:t>
            </a:r>
            <a:r>
              <a:rPr lang="zh-CN" altLang="zh-CN" dirty="0">
                <a:solidFill>
                  <a:srgbClr val="FF0000"/>
                </a:solidFill>
              </a:rPr>
              <a:t>广播</a:t>
            </a:r>
            <a:r>
              <a:rPr lang="zh-CN" altLang="zh-CN" dirty="0"/>
              <a:t>告知整个网络。网络中的其他节点根据接收信息的信号强度决定从属的簇，并通知相应的簇头节</a:t>
            </a:r>
            <a:r>
              <a:rPr lang="zh-CN" altLang="zh-CN" dirty="0" smtClean="0"/>
              <a:t>点</a:t>
            </a:r>
            <a:r>
              <a:rPr lang="zh-CN" altLang="en-US" dirty="0"/>
              <a:t>。</a:t>
            </a:r>
            <a:r>
              <a:rPr lang="zh-CN" altLang="zh-CN" dirty="0" smtClean="0"/>
              <a:t>簇</a:t>
            </a:r>
            <a:r>
              <a:rPr lang="zh-CN" altLang="zh-CN" dirty="0"/>
              <a:t>头节点采用</a:t>
            </a:r>
            <a:r>
              <a:rPr lang="en-US" altLang="zh-CN" dirty="0"/>
              <a:t>TDMA</a:t>
            </a:r>
            <a:r>
              <a:rPr lang="zh-CN" altLang="zh-CN" dirty="0"/>
              <a:t>方式为簇中每个节点分配向其传送数据的</a:t>
            </a:r>
            <a:r>
              <a:rPr lang="zh-CN" altLang="zh-CN" dirty="0">
                <a:solidFill>
                  <a:srgbClr val="FF0000"/>
                </a:solidFill>
              </a:rPr>
              <a:t>时间片</a:t>
            </a:r>
            <a:r>
              <a:rPr lang="zh-CN" altLang="zh-CN" dirty="0"/>
              <a:t>。</a:t>
            </a:r>
            <a:endParaRPr lang="zh-CN" altLang="zh-CN" dirty="0"/>
          </a:p>
          <a:p>
            <a:r>
              <a:rPr lang="zh-CN" altLang="zh-CN" dirty="0"/>
              <a:t>（</a:t>
            </a:r>
            <a:r>
              <a:rPr lang="en-US" altLang="zh-CN" dirty="0"/>
              <a:t>3</a:t>
            </a:r>
            <a:r>
              <a:rPr lang="zh-CN" altLang="zh-CN" dirty="0"/>
              <a:t>）</a:t>
            </a:r>
            <a:r>
              <a:rPr lang="zh-CN" altLang="zh-CN" dirty="0">
                <a:solidFill>
                  <a:srgbClr val="FF0000"/>
                </a:solidFill>
              </a:rPr>
              <a:t>稳定</a:t>
            </a:r>
            <a:r>
              <a:rPr lang="zh-CN" altLang="zh-CN" dirty="0" smtClean="0">
                <a:solidFill>
                  <a:srgbClr val="FF0000"/>
                </a:solidFill>
              </a:rPr>
              <a:t>阶段</a:t>
            </a:r>
            <a:r>
              <a:rPr lang="zh-CN" altLang="en-US" dirty="0" smtClean="0"/>
              <a:t>：</a:t>
            </a:r>
            <a:r>
              <a:rPr lang="zh-CN" altLang="zh-CN" dirty="0" smtClean="0"/>
              <a:t>传感器</a:t>
            </a:r>
            <a:r>
              <a:rPr lang="zh-CN" altLang="zh-CN" dirty="0"/>
              <a:t>节点将采集的数据传送到簇头，簇头对数据进行融合后再传送至基站</a:t>
            </a:r>
            <a:r>
              <a:rPr lang="zh-CN" altLang="zh-CN" dirty="0" smtClean="0"/>
              <a:t>。</a:t>
            </a:r>
            <a:endParaRPr lang="en-US" altLang="zh-CN" dirty="0" smtClean="0"/>
          </a:p>
        </p:txBody>
      </p:sp>
      <p:sp>
        <p:nvSpPr>
          <p:cNvPr id="10" name="Rectangle 8"/>
          <p:cNvSpPr>
            <a:spLocks noChangeArrowheads="1"/>
          </p:cNvSpPr>
          <p:nvPr/>
        </p:nvSpPr>
        <p:spPr bwMode="auto">
          <a:xfrm>
            <a:off x="3133299" y="278718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5.3.1  LEACH</a:t>
            </a:r>
            <a:r>
              <a:rPr lang="zh-CN" altLang="zh-CN" dirty="0"/>
              <a:t>路由</a:t>
            </a:r>
            <a:r>
              <a:rPr lang="zh-CN" altLang="zh-CN" dirty="0" smtClean="0"/>
              <a:t>协议</a:t>
            </a:r>
            <a:endParaRPr lang="en-US" altLang="zh-CN" dirty="0" smtClean="0"/>
          </a:p>
          <a:p>
            <a:pPr lvl="1"/>
            <a:r>
              <a:rPr lang="zh-CN" altLang="en-US" dirty="0" smtClean="0"/>
              <a:t>优点：</a:t>
            </a:r>
            <a:endParaRPr lang="en-US" altLang="zh-CN" dirty="0" smtClean="0"/>
          </a:p>
          <a:p>
            <a:pPr lvl="2"/>
            <a:r>
              <a:rPr lang="zh-CN" altLang="zh-CN" dirty="0" smtClean="0"/>
              <a:t>实现</a:t>
            </a:r>
            <a:r>
              <a:rPr lang="zh-CN" altLang="zh-CN" dirty="0" smtClean="0">
                <a:solidFill>
                  <a:srgbClr val="FF0000"/>
                </a:solidFill>
              </a:rPr>
              <a:t>简单</a:t>
            </a:r>
            <a:endParaRPr lang="en-US" altLang="zh-CN" dirty="0" smtClean="0">
              <a:solidFill>
                <a:srgbClr val="FF0000"/>
              </a:solidFill>
            </a:endParaRPr>
          </a:p>
          <a:p>
            <a:pPr lvl="2"/>
            <a:r>
              <a:rPr lang="zh-CN" altLang="zh-CN" dirty="0" smtClean="0"/>
              <a:t>数据</a:t>
            </a:r>
            <a:r>
              <a:rPr lang="zh-CN" altLang="zh-CN" dirty="0"/>
              <a:t>融合</a:t>
            </a:r>
            <a:r>
              <a:rPr lang="zh-CN" altLang="zh-CN" dirty="0" smtClean="0"/>
              <a:t>技术减少</a:t>
            </a:r>
            <a:r>
              <a:rPr lang="zh-CN" altLang="zh-CN" dirty="0"/>
              <a:t>了通信流量</a:t>
            </a:r>
            <a:r>
              <a:rPr lang="zh-CN" altLang="zh-CN" dirty="0" smtClean="0"/>
              <a:t>，</a:t>
            </a:r>
            <a:r>
              <a:rPr lang="zh-CN" altLang="en-US" dirty="0" smtClean="0">
                <a:solidFill>
                  <a:srgbClr val="FF0000"/>
                </a:solidFill>
              </a:rPr>
              <a:t>节能</a:t>
            </a:r>
            <a:r>
              <a:rPr lang="zh-CN" altLang="zh-CN" dirty="0" smtClean="0"/>
              <a:t>；</a:t>
            </a:r>
            <a:endParaRPr lang="en-US" altLang="zh-CN" dirty="0" smtClean="0"/>
          </a:p>
          <a:p>
            <a:pPr lvl="2"/>
            <a:r>
              <a:rPr lang="zh-CN" altLang="zh-CN" dirty="0" smtClean="0"/>
              <a:t>随机</a:t>
            </a:r>
            <a:r>
              <a:rPr lang="zh-CN" altLang="zh-CN" dirty="0"/>
              <a:t>选举簇头，平均分担路由任务量，</a:t>
            </a:r>
            <a:r>
              <a:rPr lang="zh-CN" altLang="zh-CN" dirty="0">
                <a:solidFill>
                  <a:srgbClr val="FF0000"/>
                </a:solidFill>
              </a:rPr>
              <a:t>减少了能耗，延长了</a:t>
            </a:r>
            <a:r>
              <a:rPr lang="zh-CN" altLang="zh-CN" dirty="0" smtClean="0">
                <a:solidFill>
                  <a:srgbClr val="FF0000"/>
                </a:solidFill>
              </a:rPr>
              <a:t>系统的寿命</a:t>
            </a:r>
            <a:endParaRPr lang="en-US" altLang="zh-CN" dirty="0" smtClean="0">
              <a:solidFill>
                <a:srgbClr val="FF0000"/>
              </a:solidFill>
            </a:endParaRPr>
          </a:p>
          <a:p>
            <a:pPr lvl="1"/>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5.3.1  LEACH</a:t>
            </a:r>
            <a:r>
              <a:rPr lang="zh-CN" altLang="zh-CN" dirty="0"/>
              <a:t>路由</a:t>
            </a:r>
            <a:r>
              <a:rPr lang="zh-CN" altLang="zh-CN" dirty="0" smtClean="0"/>
              <a:t>协议</a:t>
            </a:r>
            <a:endParaRPr lang="en-US" altLang="zh-CN" dirty="0" smtClean="0"/>
          </a:p>
          <a:p>
            <a:pPr lvl="1"/>
            <a:r>
              <a:rPr lang="zh-CN" altLang="zh-CN" dirty="0" smtClean="0"/>
              <a:t>缺点</a:t>
            </a:r>
            <a:r>
              <a:rPr lang="zh-CN" altLang="en-US" dirty="0" smtClean="0"/>
              <a:t>：</a:t>
            </a:r>
            <a:endParaRPr lang="en-US" altLang="zh-CN" dirty="0" smtClean="0"/>
          </a:p>
          <a:p>
            <a:pPr lvl="2"/>
            <a:r>
              <a:rPr lang="zh-CN" altLang="zh-CN" dirty="0" smtClean="0"/>
              <a:t>簇</a:t>
            </a:r>
            <a:r>
              <a:rPr lang="zh-CN" altLang="zh-CN" dirty="0"/>
              <a:t>头</a:t>
            </a:r>
            <a:r>
              <a:rPr lang="zh-CN" altLang="zh-CN" dirty="0" smtClean="0"/>
              <a:t>选举</a:t>
            </a:r>
            <a:r>
              <a:rPr lang="zh-CN" altLang="en-US" dirty="0" smtClean="0"/>
              <a:t>随机</a:t>
            </a:r>
            <a:r>
              <a:rPr lang="zh-CN" altLang="zh-CN" dirty="0" smtClean="0"/>
              <a:t>避免不了</a:t>
            </a:r>
            <a:r>
              <a:rPr lang="zh-CN" altLang="zh-CN" dirty="0" smtClean="0">
                <a:solidFill>
                  <a:srgbClr val="FF0000"/>
                </a:solidFill>
              </a:rPr>
              <a:t>位置</a:t>
            </a:r>
            <a:r>
              <a:rPr lang="zh-CN" altLang="zh-CN" dirty="0">
                <a:solidFill>
                  <a:srgbClr val="FF0000"/>
                </a:solidFill>
              </a:rPr>
              <a:t>随机、分布不</a:t>
            </a:r>
            <a:r>
              <a:rPr lang="zh-CN" altLang="zh-CN" dirty="0" smtClean="0">
                <a:solidFill>
                  <a:srgbClr val="FF0000"/>
                </a:solidFill>
              </a:rPr>
              <a:t>均</a:t>
            </a:r>
            <a:r>
              <a:rPr lang="zh-CN" altLang="zh-CN" dirty="0" smtClean="0"/>
              <a:t>；</a:t>
            </a:r>
            <a:endParaRPr lang="en-US" altLang="zh-CN" dirty="0" smtClean="0"/>
          </a:p>
          <a:p>
            <a:pPr lvl="2"/>
            <a:r>
              <a:rPr lang="zh-CN" altLang="zh-CN" dirty="0" smtClean="0"/>
              <a:t>每</a:t>
            </a:r>
            <a:r>
              <a:rPr lang="zh-CN" altLang="zh-CN" dirty="0"/>
              <a:t>轮簇头的数量和不同簇中节点数量不同，导致网络整体</a:t>
            </a:r>
            <a:r>
              <a:rPr lang="zh-CN" altLang="zh-CN" dirty="0">
                <a:solidFill>
                  <a:srgbClr val="FF0000"/>
                </a:solidFill>
              </a:rPr>
              <a:t>负载的不均衡</a:t>
            </a:r>
            <a:r>
              <a:rPr lang="zh-CN" altLang="zh-CN" dirty="0" smtClean="0"/>
              <a:t>；</a:t>
            </a:r>
            <a:endParaRPr lang="en-US" altLang="zh-CN" dirty="0" smtClean="0"/>
          </a:p>
          <a:p>
            <a:pPr lvl="2"/>
            <a:r>
              <a:rPr lang="zh-CN" altLang="zh-CN" dirty="0" smtClean="0"/>
              <a:t>多次</a:t>
            </a:r>
            <a:r>
              <a:rPr lang="zh-CN" altLang="zh-CN" dirty="0"/>
              <a:t>分簇带来了</a:t>
            </a:r>
            <a:r>
              <a:rPr lang="zh-CN" altLang="zh-CN" dirty="0">
                <a:solidFill>
                  <a:srgbClr val="FF0000"/>
                </a:solidFill>
              </a:rPr>
              <a:t>额外开销以及覆盖问题</a:t>
            </a:r>
            <a:r>
              <a:rPr lang="zh-CN" altLang="zh-CN" dirty="0" smtClean="0"/>
              <a:t>；</a:t>
            </a:r>
            <a:endParaRPr lang="en-US" altLang="zh-CN" dirty="0" smtClean="0"/>
          </a:p>
          <a:p>
            <a:pPr lvl="2"/>
            <a:r>
              <a:rPr lang="zh-CN" altLang="zh-CN" dirty="0" smtClean="0"/>
              <a:t>簇</a:t>
            </a:r>
            <a:r>
              <a:rPr lang="zh-CN" altLang="zh-CN" dirty="0"/>
              <a:t>头</a:t>
            </a:r>
            <a:r>
              <a:rPr lang="zh-CN" altLang="zh-CN" dirty="0" smtClean="0"/>
              <a:t>选取没有</a:t>
            </a:r>
            <a:r>
              <a:rPr lang="zh-CN" altLang="zh-CN" dirty="0"/>
              <a:t>考虑节点的剩余能量，有可能导致</a:t>
            </a:r>
            <a:r>
              <a:rPr lang="zh-CN" altLang="zh-CN" dirty="0">
                <a:solidFill>
                  <a:srgbClr val="FF0000"/>
                </a:solidFill>
              </a:rPr>
              <a:t>剩余能量很少的节点随机当选成为簇头</a:t>
            </a:r>
            <a:r>
              <a:rPr lang="zh-CN" altLang="zh-CN" dirty="0" smtClean="0"/>
              <a:t>。</a:t>
            </a:r>
            <a:endParaRPr lang="en-US" altLang="zh-CN" dirty="0" smtClean="0"/>
          </a:p>
          <a:p>
            <a:pPr lvl="2"/>
            <a:r>
              <a:rPr lang="zh-CN" altLang="zh-CN" dirty="0" smtClean="0"/>
              <a:t>如果</a:t>
            </a:r>
            <a:r>
              <a:rPr lang="zh-CN" altLang="zh-CN" dirty="0"/>
              <a:t>汇聚节点位置与目标区域有较大的距离，且功率足够大，则通过单跳通信传送数据会造成大量的能量消耗，所以单跳通信模式下的</a:t>
            </a:r>
            <a:r>
              <a:rPr lang="en-US" altLang="zh-CN" dirty="0"/>
              <a:t>LEACH</a:t>
            </a:r>
            <a:r>
              <a:rPr lang="zh-CN" altLang="zh-CN" dirty="0"/>
              <a:t>协议比较适合于小规模网络</a:t>
            </a:r>
            <a:r>
              <a:rPr lang="zh-CN" altLang="zh-CN" dirty="0" smtClean="0"/>
              <a:t>。</a:t>
            </a:r>
            <a:endParaRPr lang="en-US" altLang="zh-CN" dirty="0" smtClean="0"/>
          </a:p>
          <a:p>
            <a:pPr lvl="2"/>
            <a:r>
              <a:rPr lang="zh-CN" altLang="zh-CN" dirty="0" smtClean="0"/>
              <a:t>在</a:t>
            </a:r>
            <a:r>
              <a:rPr lang="zh-CN" altLang="zh-CN" dirty="0"/>
              <a:t>单位时间内一般发送数量基本固定的数据，</a:t>
            </a:r>
            <a:r>
              <a:rPr lang="zh-CN" altLang="zh-CN" dirty="0">
                <a:solidFill>
                  <a:srgbClr val="FF0000"/>
                </a:solidFill>
              </a:rPr>
              <a:t>不适合</a:t>
            </a:r>
            <a:r>
              <a:rPr lang="zh-CN" altLang="zh-CN" dirty="0" smtClean="0">
                <a:solidFill>
                  <a:srgbClr val="FF0000"/>
                </a:solidFill>
              </a:rPr>
              <a:t>突发性通信</a:t>
            </a:r>
            <a:r>
              <a:rPr lang="zh-CN" altLang="zh-CN" dirty="0"/>
              <a:t>场合。</a:t>
            </a:r>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5.3.2  HEED</a:t>
            </a:r>
            <a:r>
              <a:rPr lang="zh-CN" altLang="zh-CN" dirty="0"/>
              <a:t>路由</a:t>
            </a:r>
            <a:r>
              <a:rPr lang="zh-CN" altLang="zh-CN" dirty="0" smtClean="0"/>
              <a:t>协议</a:t>
            </a:r>
            <a:endParaRPr lang="en-US" altLang="zh-CN" dirty="0" smtClean="0"/>
          </a:p>
          <a:p>
            <a:r>
              <a:rPr lang="en-US" altLang="zh-CN" dirty="0"/>
              <a:t>HEED </a:t>
            </a:r>
            <a:r>
              <a:rPr lang="zh-CN" altLang="en-US" dirty="0" smtClean="0"/>
              <a:t>：</a:t>
            </a:r>
            <a:r>
              <a:rPr lang="en-US" altLang="zh-CN" dirty="0" smtClean="0"/>
              <a:t>Hybrid </a:t>
            </a:r>
            <a:r>
              <a:rPr lang="en-US" altLang="zh-CN" dirty="0"/>
              <a:t>Energy- Efficient Distributed clustering</a:t>
            </a:r>
            <a:r>
              <a:rPr lang="zh-CN" altLang="zh-CN" dirty="0">
                <a:solidFill>
                  <a:srgbClr val="FF0000"/>
                </a:solidFill>
              </a:rPr>
              <a:t>混合能量高效分布式分</a:t>
            </a:r>
            <a:r>
              <a:rPr lang="zh-CN" altLang="zh-CN" dirty="0" smtClean="0">
                <a:solidFill>
                  <a:srgbClr val="FF0000"/>
                </a:solidFill>
              </a:rPr>
              <a:t>簇</a:t>
            </a:r>
            <a:r>
              <a:rPr lang="zh-CN" altLang="zh-CN" dirty="0" smtClean="0"/>
              <a:t>路由协议</a:t>
            </a:r>
            <a:endParaRPr lang="en-US" altLang="zh-CN" dirty="0" smtClean="0"/>
          </a:p>
          <a:p>
            <a:r>
              <a:rPr lang="zh-CN" altLang="zh-CN" dirty="0" smtClean="0"/>
              <a:t>有效</a:t>
            </a:r>
            <a:r>
              <a:rPr lang="zh-CN" altLang="zh-CN" dirty="0">
                <a:solidFill>
                  <a:srgbClr val="FF0000"/>
                </a:solidFill>
              </a:rPr>
              <a:t>改善</a:t>
            </a:r>
            <a:r>
              <a:rPr lang="zh-CN" altLang="zh-CN" dirty="0"/>
              <a:t>了</a:t>
            </a:r>
            <a:r>
              <a:rPr lang="en-US" altLang="zh-CN" dirty="0"/>
              <a:t>LEACH</a:t>
            </a:r>
            <a:r>
              <a:rPr lang="zh-CN" altLang="zh-CN" dirty="0"/>
              <a:t>协议中</a:t>
            </a:r>
            <a:r>
              <a:rPr lang="zh-CN" altLang="zh-CN" dirty="0">
                <a:solidFill>
                  <a:srgbClr val="FF0000"/>
                </a:solidFill>
              </a:rPr>
              <a:t>簇头可能分布不均匀</a:t>
            </a:r>
            <a:r>
              <a:rPr lang="zh-CN" altLang="zh-CN" dirty="0"/>
              <a:t>的</a:t>
            </a:r>
            <a:r>
              <a:rPr lang="zh-CN" altLang="zh-CN" dirty="0" smtClean="0"/>
              <a:t>问题</a:t>
            </a:r>
            <a:endParaRPr lang="en-US" altLang="zh-CN" dirty="0" smtClean="0"/>
          </a:p>
          <a:p>
            <a:r>
              <a:rPr lang="zh-CN" altLang="zh-CN" dirty="0" smtClean="0"/>
              <a:t>以</a:t>
            </a:r>
            <a:r>
              <a:rPr lang="zh-CN" altLang="zh-CN" dirty="0"/>
              <a:t>簇内</a:t>
            </a:r>
            <a:r>
              <a:rPr lang="zh-CN" altLang="zh-CN" dirty="0">
                <a:solidFill>
                  <a:srgbClr val="FF0000"/>
                </a:solidFill>
              </a:rPr>
              <a:t>平均可达能量</a:t>
            </a:r>
            <a:r>
              <a:rPr lang="zh-CN" altLang="zh-CN" dirty="0"/>
              <a:t>作为衡量簇内通信成本的标准，节点用不同的初始概率发送竞争</a:t>
            </a:r>
            <a:r>
              <a:rPr lang="zh-CN" altLang="zh-CN" dirty="0" smtClean="0"/>
              <a:t>消息</a:t>
            </a:r>
            <a:r>
              <a:rPr lang="zh-CN" altLang="en-US" dirty="0" smtClean="0"/>
              <a:t>，初始概率确定：</a:t>
            </a:r>
            <a:endParaRPr lang="en-US" altLang="zh-CN" dirty="0" smtClean="0"/>
          </a:p>
          <a:p>
            <a:pPr marL="0" indent="0">
              <a:buNone/>
            </a:pPr>
            <a:r>
              <a:rPr lang="en-US" altLang="zh-CN" i="1" dirty="0" smtClean="0"/>
              <a:t>        </a:t>
            </a:r>
            <a:r>
              <a:rPr lang="en-US" altLang="zh-CN" i="1" dirty="0" err="1" smtClean="0"/>
              <a:t>CH</a:t>
            </a:r>
            <a:r>
              <a:rPr lang="en-US" altLang="zh-CN" baseline="-25000" dirty="0" err="1" smtClean="0"/>
              <a:t>prob</a:t>
            </a:r>
            <a:r>
              <a:rPr lang="en-US" altLang="zh-CN" baseline="-25000" dirty="0" smtClean="0"/>
              <a:t> </a:t>
            </a:r>
            <a:r>
              <a:rPr lang="en-US" altLang="zh-CN" dirty="0"/>
              <a:t>=max(</a:t>
            </a:r>
            <a:r>
              <a:rPr lang="en-US" altLang="zh-CN" dirty="0" err="1"/>
              <a:t>C</a:t>
            </a:r>
            <a:r>
              <a:rPr lang="en-US" altLang="zh-CN" baseline="-25000" dirty="0" err="1"/>
              <a:t>prob</a:t>
            </a:r>
            <a:r>
              <a:rPr lang="en-US" altLang="zh-CN" dirty="0"/>
              <a:t> +</a:t>
            </a:r>
            <a:r>
              <a:rPr lang="en-US" altLang="zh-CN" i="1" dirty="0" err="1"/>
              <a:t>E</a:t>
            </a:r>
            <a:r>
              <a:rPr lang="en-US" altLang="zh-CN" baseline="-25000" dirty="0" err="1"/>
              <a:t>resident</a:t>
            </a:r>
            <a:r>
              <a:rPr lang="en-US" altLang="zh-CN" dirty="0"/>
              <a:t>/</a:t>
            </a:r>
            <a:r>
              <a:rPr lang="en-US" altLang="zh-CN" i="1" dirty="0" err="1"/>
              <a:t>E</a:t>
            </a:r>
            <a:r>
              <a:rPr lang="en-US" altLang="zh-CN" baseline="-25000" dirty="0" err="1"/>
              <a:t>max</a:t>
            </a:r>
            <a:r>
              <a:rPr lang="zh-CN" altLang="zh-CN" dirty="0"/>
              <a:t>，</a:t>
            </a:r>
            <a:r>
              <a:rPr lang="en-US" altLang="zh-CN" dirty="0"/>
              <a:t> </a:t>
            </a:r>
            <a:r>
              <a:rPr lang="en-US" altLang="zh-CN" dirty="0" err="1"/>
              <a:t>P</a:t>
            </a:r>
            <a:r>
              <a:rPr lang="en-US" altLang="zh-CN" baseline="-25000" dirty="0" err="1"/>
              <a:t>min</a:t>
            </a:r>
            <a:r>
              <a:rPr lang="en-US" altLang="zh-CN" dirty="0"/>
              <a:t> ) </a:t>
            </a:r>
            <a:endParaRPr lang="en-US" altLang="zh-CN" dirty="0" smtClean="0"/>
          </a:p>
          <a:p>
            <a:pPr marL="0" indent="0">
              <a:buNone/>
            </a:pPr>
            <a:r>
              <a:rPr lang="en-US" altLang="zh-CN" dirty="0"/>
              <a:t> </a:t>
            </a:r>
            <a:r>
              <a:rPr lang="en-US" altLang="zh-CN" dirty="0" smtClean="0"/>
              <a:t> </a:t>
            </a:r>
            <a:r>
              <a:rPr lang="en-US" altLang="zh-CN" dirty="0" err="1" smtClean="0"/>
              <a:t>C</a:t>
            </a:r>
            <a:r>
              <a:rPr lang="en-US" altLang="zh-CN" baseline="-25000" dirty="0" err="1" smtClean="0"/>
              <a:t>prob</a:t>
            </a:r>
            <a:r>
              <a:rPr lang="zh-CN" altLang="zh-CN" dirty="0"/>
              <a:t>和</a:t>
            </a:r>
            <a:r>
              <a:rPr lang="en-US" altLang="zh-CN" dirty="0" err="1"/>
              <a:t>P</a:t>
            </a:r>
            <a:r>
              <a:rPr lang="en-US" altLang="zh-CN" baseline="-25000" dirty="0" err="1"/>
              <a:t>min</a:t>
            </a:r>
            <a:r>
              <a:rPr lang="zh-CN" altLang="zh-CN" dirty="0"/>
              <a:t>是整个网络统一的参量，它们影响到算法的收敛速度。</a:t>
            </a:r>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5.3.2  HEED</a:t>
            </a:r>
            <a:r>
              <a:rPr lang="zh-CN" altLang="zh-CN" dirty="0"/>
              <a:t>路由</a:t>
            </a:r>
            <a:r>
              <a:rPr lang="zh-CN" altLang="zh-CN" dirty="0" smtClean="0"/>
              <a:t>协议</a:t>
            </a:r>
            <a:endParaRPr lang="en-US" altLang="zh-CN" dirty="0" smtClean="0"/>
          </a:p>
          <a:p>
            <a:r>
              <a:rPr lang="zh-CN" altLang="zh-CN" dirty="0" smtClean="0"/>
              <a:t>在</a:t>
            </a:r>
            <a:r>
              <a:rPr lang="zh-CN" altLang="zh-CN" dirty="0">
                <a:solidFill>
                  <a:srgbClr val="FF0000"/>
                </a:solidFill>
              </a:rPr>
              <a:t>簇头选择标准以及簇头竞争机制</a:t>
            </a:r>
            <a:r>
              <a:rPr lang="zh-CN" altLang="zh-CN" dirty="0"/>
              <a:t>上与</a:t>
            </a:r>
            <a:r>
              <a:rPr lang="en-US" altLang="zh-CN" dirty="0"/>
              <a:t>LEACH</a:t>
            </a:r>
            <a:r>
              <a:rPr lang="zh-CN" altLang="zh-CN" dirty="0"/>
              <a:t>协议不同，</a:t>
            </a:r>
            <a:r>
              <a:rPr lang="zh-CN" altLang="zh-CN" dirty="0">
                <a:solidFill>
                  <a:srgbClr val="FF0000"/>
                </a:solidFill>
              </a:rPr>
              <a:t>成簇的速度</a:t>
            </a:r>
            <a:r>
              <a:rPr lang="zh-CN" altLang="zh-CN" dirty="0"/>
              <a:t>有一定的改进，特别是考虑到成簇后簇内的通信开销，</a:t>
            </a:r>
            <a:r>
              <a:rPr lang="zh-CN" altLang="zh-CN" dirty="0">
                <a:solidFill>
                  <a:srgbClr val="FF0000"/>
                </a:solidFill>
              </a:rPr>
              <a:t>把节点剩余能量</a:t>
            </a:r>
            <a:r>
              <a:rPr lang="zh-CN" altLang="zh-CN" dirty="0"/>
              <a:t>作为一个参量引入算法中，使得选择的簇头更适合担当数据转发的任务，形成的网络拓扑更趋合理，</a:t>
            </a:r>
            <a:r>
              <a:rPr lang="zh-CN" altLang="zh-CN" dirty="0">
                <a:solidFill>
                  <a:srgbClr val="FF0000"/>
                </a:solidFill>
              </a:rPr>
              <a:t>全网的能量消耗更均匀</a:t>
            </a:r>
            <a:r>
              <a:rPr lang="zh-CN" altLang="zh-CN" dirty="0"/>
              <a:t>。</a:t>
            </a:r>
            <a:endParaRPr lang="zh-CN" altLang="zh-CN" dirty="0"/>
          </a:p>
          <a:p>
            <a:r>
              <a:rPr lang="zh-CN" altLang="zh-CN" dirty="0" smtClean="0"/>
              <a:t>综合</a:t>
            </a:r>
            <a:r>
              <a:rPr lang="zh-CN" altLang="zh-CN" dirty="0"/>
              <a:t>考虑了</a:t>
            </a:r>
            <a:r>
              <a:rPr lang="zh-CN" altLang="zh-CN" dirty="0">
                <a:solidFill>
                  <a:srgbClr val="FF0000"/>
                </a:solidFill>
              </a:rPr>
              <a:t>生存时间、可扩展性和负载均衡</a:t>
            </a:r>
            <a:r>
              <a:rPr lang="zh-CN" altLang="zh-CN" dirty="0"/>
              <a:t>，对节点分布和能量也没有特殊要求</a:t>
            </a:r>
            <a:r>
              <a:rPr lang="zh-CN" altLang="zh-CN" dirty="0" smtClean="0"/>
              <a:t>。</a:t>
            </a:r>
            <a:endParaRPr lang="zh-CN" altLang="zh-CN" dirty="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5.3.3  TEEN</a:t>
            </a:r>
            <a:r>
              <a:rPr lang="zh-CN" altLang="zh-CN" b="1" dirty="0"/>
              <a:t>路由</a:t>
            </a:r>
            <a:r>
              <a:rPr lang="en-US" altLang="zh-CN" b="1" dirty="0" err="1"/>
              <a:t>协议</a:t>
            </a:r>
            <a:endParaRPr lang="zh-CN" altLang="zh-CN" b="1" dirty="0"/>
          </a:p>
          <a:p>
            <a:r>
              <a:rPr lang="en-US" altLang="zh-CN" dirty="0" smtClean="0"/>
              <a:t>TEEN</a:t>
            </a:r>
            <a:r>
              <a:rPr lang="zh-CN" altLang="en-US" dirty="0"/>
              <a:t>：</a:t>
            </a:r>
            <a:r>
              <a:rPr lang="en-US" altLang="zh-CN" dirty="0" smtClean="0"/>
              <a:t>Threshold-sensitive </a:t>
            </a:r>
            <a:r>
              <a:rPr lang="en-US" altLang="zh-CN" dirty="0"/>
              <a:t>Energy Efficient sensor Network</a:t>
            </a:r>
            <a:r>
              <a:rPr lang="zh-CN" altLang="zh-CN" dirty="0"/>
              <a:t>，</a:t>
            </a:r>
            <a:r>
              <a:rPr lang="zh-CN" altLang="zh-CN" dirty="0">
                <a:solidFill>
                  <a:srgbClr val="FF0000"/>
                </a:solidFill>
              </a:rPr>
              <a:t>能量有效的阈值</a:t>
            </a:r>
            <a:r>
              <a:rPr lang="zh-CN" altLang="zh-CN" dirty="0" smtClean="0">
                <a:solidFill>
                  <a:srgbClr val="FF0000"/>
                </a:solidFill>
              </a:rPr>
              <a:t>敏感路由</a:t>
            </a:r>
            <a:r>
              <a:rPr lang="zh-CN" altLang="zh-CN" dirty="0" smtClean="0"/>
              <a:t>协议</a:t>
            </a:r>
            <a:endParaRPr lang="en-US" altLang="zh-CN" dirty="0" smtClean="0"/>
          </a:p>
          <a:p>
            <a:r>
              <a:rPr lang="zh-CN" altLang="zh-CN" dirty="0" smtClean="0"/>
              <a:t>第一</a:t>
            </a:r>
            <a:r>
              <a:rPr lang="zh-CN" altLang="zh-CN" dirty="0"/>
              <a:t>个</a:t>
            </a:r>
            <a:r>
              <a:rPr lang="zh-CN" altLang="zh-CN" dirty="0">
                <a:solidFill>
                  <a:srgbClr val="FF0000"/>
                </a:solidFill>
              </a:rPr>
              <a:t>事件驱动的响应型聚类路由</a:t>
            </a:r>
            <a:r>
              <a:rPr lang="zh-CN" altLang="zh-CN" dirty="0" smtClean="0"/>
              <a:t>协议</a:t>
            </a:r>
            <a:endParaRPr lang="en-US" altLang="zh-CN" dirty="0" smtClean="0"/>
          </a:p>
          <a:p>
            <a:r>
              <a:rPr lang="zh-CN" altLang="en-US" dirty="0" smtClean="0">
                <a:solidFill>
                  <a:srgbClr val="FF0000"/>
                </a:solidFill>
              </a:rPr>
              <a:t>多层树状路由，</a:t>
            </a:r>
            <a:r>
              <a:rPr lang="zh-CN" altLang="zh-CN" dirty="0"/>
              <a:t>根据</a:t>
            </a:r>
            <a:r>
              <a:rPr lang="zh-CN" altLang="zh-CN" dirty="0">
                <a:solidFill>
                  <a:srgbClr val="FF0000"/>
                </a:solidFill>
              </a:rPr>
              <a:t>族头与汇聚节点间</a:t>
            </a:r>
            <a:r>
              <a:rPr lang="zh-CN" altLang="zh-CN" dirty="0" smtClean="0">
                <a:solidFill>
                  <a:srgbClr val="FF0000"/>
                </a:solidFill>
              </a:rPr>
              <a:t>距离远近</a:t>
            </a:r>
            <a:r>
              <a:rPr lang="zh-CN" altLang="zh-CN" dirty="0"/>
              <a:t>来搭建层次结构。</a:t>
            </a:r>
            <a:endParaRPr lang="en-US" altLang="zh-CN" dirty="0"/>
          </a:p>
          <a:p>
            <a:endParaRPr lang="en-US" altLang="zh-CN" dirty="0" smtClean="0">
              <a:solidFill>
                <a:srgbClr val="FF0000"/>
              </a:solidFill>
            </a:endParaRPr>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5.3.3  TEEN</a:t>
            </a:r>
            <a:r>
              <a:rPr lang="zh-CN" altLang="zh-CN" b="1" dirty="0"/>
              <a:t>路由</a:t>
            </a:r>
            <a:r>
              <a:rPr lang="en-US" altLang="zh-CN" b="1" dirty="0" err="1" smtClean="0"/>
              <a:t>协议</a:t>
            </a:r>
            <a:endParaRPr lang="zh-CN" altLang="zh-CN" b="1" dirty="0"/>
          </a:p>
        </p:txBody>
      </p:sp>
      <p:sp>
        <p:nvSpPr>
          <p:cNvPr id="4" name="Rectangle 54"/>
          <p:cNvSpPr>
            <a:spLocks noChangeArrowheads="1"/>
          </p:cNvSpPr>
          <p:nvPr/>
        </p:nvSpPr>
        <p:spPr bwMode="auto">
          <a:xfrm>
            <a:off x="2641711" y="2430919"/>
            <a:ext cx="1446194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pSp>
        <p:nvGrpSpPr>
          <p:cNvPr id="5" name="画布 523"/>
          <p:cNvGrpSpPr/>
          <p:nvPr/>
        </p:nvGrpSpPr>
        <p:grpSpPr bwMode="auto">
          <a:xfrm>
            <a:off x="2641711" y="2430919"/>
            <a:ext cx="6734517" cy="3636051"/>
            <a:chOff x="0" y="0"/>
            <a:chExt cx="52743" cy="30721"/>
          </a:xfrm>
        </p:grpSpPr>
        <p:sp>
          <p:nvSpPr>
            <p:cNvPr id="6" name="AutoShape 53"/>
            <p:cNvSpPr>
              <a:spLocks noChangeAspect="1" noChangeArrowheads="1"/>
            </p:cNvSpPr>
            <p:nvPr/>
          </p:nvSpPr>
          <p:spPr bwMode="auto">
            <a:xfrm>
              <a:off x="0" y="0"/>
              <a:ext cx="52743" cy="307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椭圆 468"/>
            <p:cNvSpPr>
              <a:spLocks noChangeArrowheads="1"/>
            </p:cNvSpPr>
            <p:nvPr/>
          </p:nvSpPr>
          <p:spPr bwMode="auto">
            <a:xfrm>
              <a:off x="12020" y="7956"/>
              <a:ext cx="10605" cy="742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8" name="椭圆 467"/>
            <p:cNvSpPr>
              <a:spLocks noChangeArrowheads="1"/>
            </p:cNvSpPr>
            <p:nvPr/>
          </p:nvSpPr>
          <p:spPr bwMode="auto">
            <a:xfrm>
              <a:off x="24085" y="14116"/>
              <a:ext cx="10605" cy="742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9" name="五角星 447"/>
            <p:cNvSpPr/>
            <p:nvPr/>
          </p:nvSpPr>
          <p:spPr bwMode="auto">
            <a:xfrm>
              <a:off x="7486" y="3098"/>
              <a:ext cx="2413" cy="2350"/>
            </a:xfrm>
            <a:custGeom>
              <a:avLst/>
              <a:gdLst>
                <a:gd name="T0" fmla="*/ 0 w 241300"/>
                <a:gd name="T1" fmla="*/ 89743 h 234950"/>
                <a:gd name="T2" fmla="*/ 92169 w 241300"/>
                <a:gd name="T3" fmla="*/ 89743 h 234950"/>
                <a:gd name="T4" fmla="*/ 120650 w 241300"/>
                <a:gd name="T5" fmla="*/ 0 h 234950"/>
                <a:gd name="T6" fmla="*/ 149131 w 241300"/>
                <a:gd name="T7" fmla="*/ 89743 h 234950"/>
                <a:gd name="T8" fmla="*/ 241300 w 241300"/>
                <a:gd name="T9" fmla="*/ 89743 h 234950"/>
                <a:gd name="T10" fmla="*/ 166733 w 241300"/>
                <a:gd name="T11" fmla="*/ 145206 h 234950"/>
                <a:gd name="T12" fmla="*/ 195216 w 241300"/>
                <a:gd name="T13" fmla="*/ 234949 h 234950"/>
                <a:gd name="T14" fmla="*/ 120650 w 241300"/>
                <a:gd name="T15" fmla="*/ 179485 h 234950"/>
                <a:gd name="T16" fmla="*/ 46084 w 241300"/>
                <a:gd name="T17" fmla="*/ 234949 h 234950"/>
                <a:gd name="T18" fmla="*/ 74567 w 241300"/>
                <a:gd name="T19" fmla="*/ 145206 h 234950"/>
                <a:gd name="T20" fmla="*/ 0 w 241300"/>
                <a:gd name="T21" fmla="*/ 89743 h 234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41300" h="234950">
                  <a:moveTo>
                    <a:pt x="0" y="89743"/>
                  </a:moveTo>
                  <a:lnTo>
                    <a:pt x="92169" y="89743"/>
                  </a:lnTo>
                  <a:lnTo>
                    <a:pt x="120650" y="0"/>
                  </a:lnTo>
                  <a:lnTo>
                    <a:pt x="149131" y="89743"/>
                  </a:lnTo>
                  <a:lnTo>
                    <a:pt x="241300" y="89743"/>
                  </a:lnTo>
                  <a:lnTo>
                    <a:pt x="166733" y="145206"/>
                  </a:lnTo>
                  <a:lnTo>
                    <a:pt x="195216" y="234949"/>
                  </a:lnTo>
                  <a:lnTo>
                    <a:pt x="120650" y="179485"/>
                  </a:lnTo>
                  <a:lnTo>
                    <a:pt x="46084" y="234949"/>
                  </a:lnTo>
                  <a:lnTo>
                    <a:pt x="74567" y="145206"/>
                  </a:lnTo>
                  <a:lnTo>
                    <a:pt x="0" y="89743"/>
                  </a:lnTo>
                  <a:close/>
                </a:path>
              </a:pathLst>
            </a:cu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0" name="椭圆 449"/>
            <p:cNvSpPr>
              <a:spLocks noChangeArrowheads="1"/>
            </p:cNvSpPr>
            <p:nvPr/>
          </p:nvSpPr>
          <p:spPr bwMode="auto">
            <a:xfrm>
              <a:off x="9163" y="22377"/>
              <a:ext cx="10604" cy="742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1" name="五角星 451"/>
            <p:cNvSpPr/>
            <p:nvPr/>
          </p:nvSpPr>
          <p:spPr bwMode="auto">
            <a:xfrm>
              <a:off x="41230" y="17602"/>
              <a:ext cx="1410" cy="1238"/>
            </a:xfrm>
            <a:custGeom>
              <a:avLst/>
              <a:gdLst>
                <a:gd name="T0" fmla="*/ 0 w 140970"/>
                <a:gd name="T1" fmla="*/ 47297 h 123825"/>
                <a:gd name="T2" fmla="*/ 53846 w 140970"/>
                <a:gd name="T3" fmla="*/ 47297 h 123825"/>
                <a:gd name="T4" fmla="*/ 70485 w 140970"/>
                <a:gd name="T5" fmla="*/ 0 h 123825"/>
                <a:gd name="T6" fmla="*/ 87124 w 140970"/>
                <a:gd name="T7" fmla="*/ 47297 h 123825"/>
                <a:gd name="T8" fmla="*/ 140970 w 140970"/>
                <a:gd name="T9" fmla="*/ 47297 h 123825"/>
                <a:gd name="T10" fmla="*/ 97407 w 140970"/>
                <a:gd name="T11" fmla="*/ 76528 h 123825"/>
                <a:gd name="T12" fmla="*/ 114047 w 140970"/>
                <a:gd name="T13" fmla="*/ 123825 h 123825"/>
                <a:gd name="T14" fmla="*/ 70485 w 140970"/>
                <a:gd name="T15" fmla="*/ 94593 h 123825"/>
                <a:gd name="T16" fmla="*/ 26923 w 140970"/>
                <a:gd name="T17" fmla="*/ 123825 h 123825"/>
                <a:gd name="T18" fmla="*/ 43563 w 140970"/>
                <a:gd name="T19" fmla="*/ 76528 h 123825"/>
                <a:gd name="T20" fmla="*/ 0 w 140970"/>
                <a:gd name="T21" fmla="*/ 47297 h 1238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970" h="123825">
                  <a:moveTo>
                    <a:pt x="0" y="47297"/>
                  </a:moveTo>
                  <a:lnTo>
                    <a:pt x="53846" y="47297"/>
                  </a:lnTo>
                  <a:lnTo>
                    <a:pt x="70485" y="0"/>
                  </a:lnTo>
                  <a:lnTo>
                    <a:pt x="87124" y="47297"/>
                  </a:lnTo>
                  <a:lnTo>
                    <a:pt x="140970" y="47297"/>
                  </a:lnTo>
                  <a:lnTo>
                    <a:pt x="97407" y="76528"/>
                  </a:lnTo>
                  <a:lnTo>
                    <a:pt x="114047" y="123825"/>
                  </a:lnTo>
                  <a:lnTo>
                    <a:pt x="70485" y="94593"/>
                  </a:lnTo>
                  <a:lnTo>
                    <a:pt x="26923" y="123825"/>
                  </a:lnTo>
                  <a:lnTo>
                    <a:pt x="43563" y="76528"/>
                  </a:lnTo>
                  <a:lnTo>
                    <a:pt x="0" y="47297"/>
                  </a:lnTo>
                  <a:close/>
                </a:path>
              </a:pathLst>
            </a:cu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2" name="椭圆 452"/>
            <p:cNvSpPr>
              <a:spLocks noChangeArrowheads="1"/>
            </p:cNvSpPr>
            <p:nvPr/>
          </p:nvSpPr>
          <p:spPr bwMode="auto">
            <a:xfrm>
              <a:off x="16313" y="10401"/>
              <a:ext cx="2286" cy="2159"/>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3" name="椭圆 454"/>
            <p:cNvSpPr>
              <a:spLocks noChangeArrowheads="1"/>
            </p:cNvSpPr>
            <p:nvPr/>
          </p:nvSpPr>
          <p:spPr bwMode="auto">
            <a:xfrm>
              <a:off x="20466" y="2813"/>
              <a:ext cx="2286" cy="2159"/>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4" name="椭圆 457"/>
            <p:cNvSpPr>
              <a:spLocks noChangeArrowheads="1"/>
            </p:cNvSpPr>
            <p:nvPr/>
          </p:nvSpPr>
          <p:spPr bwMode="auto">
            <a:xfrm>
              <a:off x="16910" y="10877"/>
              <a:ext cx="1143" cy="1143"/>
            </a:xfrm>
            <a:prstGeom prst="ellipse">
              <a:avLst/>
            </a:prstGeom>
            <a:solidFill>
              <a:srgbClr val="404040"/>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5" name="椭圆 458"/>
            <p:cNvSpPr>
              <a:spLocks noChangeArrowheads="1"/>
            </p:cNvSpPr>
            <p:nvPr/>
          </p:nvSpPr>
          <p:spPr bwMode="auto">
            <a:xfrm>
              <a:off x="20720" y="10877"/>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6" name="椭圆 459"/>
            <p:cNvSpPr>
              <a:spLocks noChangeArrowheads="1"/>
            </p:cNvSpPr>
            <p:nvPr/>
          </p:nvSpPr>
          <p:spPr bwMode="auto">
            <a:xfrm>
              <a:off x="27705" y="15576"/>
              <a:ext cx="1143" cy="1143"/>
            </a:xfrm>
            <a:prstGeom prst="ellipse">
              <a:avLst/>
            </a:prstGeom>
            <a:solidFill>
              <a:srgbClr val="404040"/>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7" name="椭圆 460"/>
            <p:cNvSpPr>
              <a:spLocks noChangeArrowheads="1"/>
            </p:cNvSpPr>
            <p:nvPr/>
          </p:nvSpPr>
          <p:spPr bwMode="auto">
            <a:xfrm>
              <a:off x="30499" y="9607"/>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8" name="椭圆 461"/>
            <p:cNvSpPr>
              <a:spLocks noChangeArrowheads="1"/>
            </p:cNvSpPr>
            <p:nvPr/>
          </p:nvSpPr>
          <p:spPr bwMode="auto">
            <a:xfrm>
              <a:off x="29419" y="19640"/>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19" name="椭圆 462"/>
            <p:cNvSpPr>
              <a:spLocks noChangeArrowheads="1"/>
            </p:cNvSpPr>
            <p:nvPr/>
          </p:nvSpPr>
          <p:spPr bwMode="auto">
            <a:xfrm>
              <a:off x="12909" y="11004"/>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0" name="椭圆 463"/>
            <p:cNvSpPr>
              <a:spLocks noChangeArrowheads="1"/>
            </p:cNvSpPr>
            <p:nvPr/>
          </p:nvSpPr>
          <p:spPr bwMode="auto">
            <a:xfrm>
              <a:off x="13354" y="27768"/>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1" name="椭圆 464"/>
            <p:cNvSpPr>
              <a:spLocks noChangeArrowheads="1"/>
            </p:cNvSpPr>
            <p:nvPr/>
          </p:nvSpPr>
          <p:spPr bwMode="auto">
            <a:xfrm>
              <a:off x="16084" y="25419"/>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2" name="椭圆 465"/>
            <p:cNvSpPr>
              <a:spLocks noChangeArrowheads="1"/>
            </p:cNvSpPr>
            <p:nvPr/>
          </p:nvSpPr>
          <p:spPr bwMode="auto">
            <a:xfrm>
              <a:off x="11512" y="25419"/>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3" name="椭圆 466"/>
            <p:cNvSpPr>
              <a:spLocks noChangeArrowheads="1"/>
            </p:cNvSpPr>
            <p:nvPr/>
          </p:nvSpPr>
          <p:spPr bwMode="auto">
            <a:xfrm>
              <a:off x="14306" y="23768"/>
              <a:ext cx="1143" cy="1143"/>
            </a:xfrm>
            <a:prstGeom prst="ellipse">
              <a:avLst/>
            </a:prstGeom>
            <a:solidFill>
              <a:srgbClr val="404040"/>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4" name="椭圆 469"/>
            <p:cNvSpPr>
              <a:spLocks noChangeArrowheads="1"/>
            </p:cNvSpPr>
            <p:nvPr/>
          </p:nvSpPr>
          <p:spPr bwMode="auto">
            <a:xfrm>
              <a:off x="30181" y="3308"/>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5" name="椭圆 470"/>
            <p:cNvSpPr>
              <a:spLocks noChangeArrowheads="1"/>
            </p:cNvSpPr>
            <p:nvPr/>
          </p:nvSpPr>
          <p:spPr bwMode="auto">
            <a:xfrm>
              <a:off x="30562" y="16846"/>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6" name="椭圆 471"/>
            <p:cNvSpPr>
              <a:spLocks noChangeArrowheads="1"/>
            </p:cNvSpPr>
            <p:nvPr/>
          </p:nvSpPr>
          <p:spPr bwMode="auto">
            <a:xfrm>
              <a:off x="25863" y="18116"/>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7" name="椭圆 472"/>
            <p:cNvSpPr>
              <a:spLocks noChangeArrowheads="1"/>
            </p:cNvSpPr>
            <p:nvPr/>
          </p:nvSpPr>
          <p:spPr bwMode="auto">
            <a:xfrm>
              <a:off x="25133" y="2501"/>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8" name="椭圆 473"/>
            <p:cNvSpPr>
              <a:spLocks noChangeArrowheads="1"/>
            </p:cNvSpPr>
            <p:nvPr/>
          </p:nvSpPr>
          <p:spPr bwMode="auto">
            <a:xfrm>
              <a:off x="22980" y="311"/>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29" name="椭圆 474"/>
            <p:cNvSpPr>
              <a:spLocks noChangeArrowheads="1"/>
            </p:cNvSpPr>
            <p:nvPr/>
          </p:nvSpPr>
          <p:spPr bwMode="auto">
            <a:xfrm>
              <a:off x="27578" y="7829"/>
              <a:ext cx="1143" cy="1143"/>
            </a:xfrm>
            <a:prstGeom prst="ellipse">
              <a:avLst/>
            </a:prstGeom>
            <a:solidFill>
              <a:srgbClr val="404040"/>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30" name="椭圆 475"/>
            <p:cNvSpPr>
              <a:spLocks noChangeArrowheads="1"/>
            </p:cNvSpPr>
            <p:nvPr/>
          </p:nvSpPr>
          <p:spPr bwMode="auto">
            <a:xfrm>
              <a:off x="31788" y="6261"/>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31" name="椭圆 476"/>
            <p:cNvSpPr>
              <a:spLocks noChangeArrowheads="1"/>
            </p:cNvSpPr>
            <p:nvPr/>
          </p:nvSpPr>
          <p:spPr bwMode="auto">
            <a:xfrm>
              <a:off x="26733" y="10826"/>
              <a:ext cx="1143" cy="1143"/>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32" name="直接连接符 477"/>
            <p:cNvSpPr>
              <a:spLocks noChangeShapeType="1"/>
            </p:cNvSpPr>
            <p:nvPr/>
          </p:nvSpPr>
          <p:spPr bwMode="auto">
            <a:xfrm flipH="1" flipV="1">
              <a:off x="8623" y="4241"/>
              <a:ext cx="8026" cy="6477"/>
            </a:xfrm>
            <a:prstGeom prst="line">
              <a:avLst/>
            </a:prstGeom>
            <a:noFill/>
            <a:ln w="6350">
              <a:solidFill>
                <a:srgbClr val="0000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3" name="直接连接符 478"/>
            <p:cNvSpPr>
              <a:spLocks noChangeShapeType="1"/>
            </p:cNvSpPr>
            <p:nvPr/>
          </p:nvSpPr>
          <p:spPr bwMode="auto">
            <a:xfrm flipH="1" flipV="1">
              <a:off x="8750" y="4305"/>
              <a:ext cx="18828" cy="4096"/>
            </a:xfrm>
            <a:prstGeom prst="line">
              <a:avLst/>
            </a:prstGeom>
            <a:noFill/>
            <a:ln w="6350">
              <a:solidFill>
                <a:srgbClr val="0000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4" name="直接连接符 479"/>
            <p:cNvSpPr>
              <a:spLocks noChangeShapeType="1"/>
            </p:cNvSpPr>
            <p:nvPr/>
          </p:nvSpPr>
          <p:spPr bwMode="auto">
            <a:xfrm flipH="1">
              <a:off x="8623" y="3892"/>
              <a:ext cx="11843" cy="413"/>
            </a:xfrm>
            <a:prstGeom prst="line">
              <a:avLst/>
            </a:prstGeom>
            <a:noFill/>
            <a:ln w="6350">
              <a:solidFill>
                <a:srgbClr val="0000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5" name="椭圆 480"/>
            <p:cNvSpPr>
              <a:spLocks noChangeArrowheads="1"/>
            </p:cNvSpPr>
            <p:nvPr/>
          </p:nvSpPr>
          <p:spPr bwMode="auto">
            <a:xfrm>
              <a:off x="20974" y="3384"/>
              <a:ext cx="1143" cy="1143"/>
            </a:xfrm>
            <a:prstGeom prst="ellipse">
              <a:avLst/>
            </a:prstGeom>
            <a:solidFill>
              <a:srgbClr val="404040"/>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36" name="椭圆 483"/>
            <p:cNvSpPr>
              <a:spLocks noChangeArrowheads="1"/>
            </p:cNvSpPr>
            <p:nvPr/>
          </p:nvSpPr>
          <p:spPr bwMode="auto">
            <a:xfrm>
              <a:off x="41554" y="19837"/>
              <a:ext cx="908" cy="959"/>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37" name="椭圆 484"/>
            <p:cNvSpPr>
              <a:spLocks noChangeArrowheads="1"/>
            </p:cNvSpPr>
            <p:nvPr/>
          </p:nvSpPr>
          <p:spPr bwMode="auto">
            <a:xfrm>
              <a:off x="41287" y="23348"/>
              <a:ext cx="1696" cy="1626"/>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38" name="椭圆 486"/>
            <p:cNvSpPr>
              <a:spLocks noChangeArrowheads="1"/>
            </p:cNvSpPr>
            <p:nvPr/>
          </p:nvSpPr>
          <p:spPr bwMode="auto">
            <a:xfrm>
              <a:off x="41097" y="25482"/>
              <a:ext cx="2286" cy="1651"/>
            </a:xfrm>
            <a:prstGeom prst="ellipse">
              <a:avLst/>
            </a:prstGeom>
            <a:solidFill>
              <a:srgbClr val="FFFFFF"/>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39" name="直接连接符 487"/>
            <p:cNvSpPr>
              <a:spLocks noChangeShapeType="1"/>
            </p:cNvSpPr>
            <p:nvPr/>
          </p:nvSpPr>
          <p:spPr bwMode="auto">
            <a:xfrm flipH="1">
              <a:off x="21609" y="1289"/>
              <a:ext cx="1536" cy="1524"/>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0" name="直接连接符 488"/>
            <p:cNvSpPr>
              <a:spLocks noChangeShapeType="1"/>
            </p:cNvSpPr>
            <p:nvPr/>
          </p:nvSpPr>
          <p:spPr bwMode="auto">
            <a:xfrm flipH="1">
              <a:off x="22752" y="3479"/>
              <a:ext cx="2546" cy="413"/>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1" name="直接连接符 489"/>
            <p:cNvSpPr>
              <a:spLocks noChangeShapeType="1"/>
            </p:cNvSpPr>
            <p:nvPr/>
          </p:nvSpPr>
          <p:spPr bwMode="auto">
            <a:xfrm flipH="1">
              <a:off x="28555" y="4286"/>
              <a:ext cx="1791" cy="3708"/>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2" name="直接连接符 490"/>
            <p:cNvSpPr>
              <a:spLocks noChangeShapeType="1"/>
            </p:cNvSpPr>
            <p:nvPr/>
          </p:nvSpPr>
          <p:spPr bwMode="auto">
            <a:xfrm flipH="1">
              <a:off x="28721" y="6832"/>
              <a:ext cx="3067" cy="1569"/>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3" name="直接连接符 491"/>
            <p:cNvSpPr>
              <a:spLocks noChangeShapeType="1"/>
            </p:cNvSpPr>
            <p:nvPr/>
          </p:nvSpPr>
          <p:spPr bwMode="auto">
            <a:xfrm flipH="1" flipV="1">
              <a:off x="28555" y="8807"/>
              <a:ext cx="2109" cy="965"/>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4" name="直接连接符 492"/>
            <p:cNvSpPr>
              <a:spLocks noChangeShapeType="1"/>
            </p:cNvSpPr>
            <p:nvPr/>
          </p:nvSpPr>
          <p:spPr bwMode="auto">
            <a:xfrm flipH="1">
              <a:off x="27305" y="8972"/>
              <a:ext cx="844" cy="1854"/>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5" name="直接连接符 493"/>
            <p:cNvSpPr>
              <a:spLocks noChangeShapeType="1"/>
            </p:cNvSpPr>
            <p:nvPr/>
          </p:nvSpPr>
          <p:spPr bwMode="auto">
            <a:xfrm flipV="1">
              <a:off x="14052" y="11480"/>
              <a:ext cx="2261" cy="96"/>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6" name="直接连接符 494"/>
            <p:cNvSpPr>
              <a:spLocks noChangeShapeType="1"/>
            </p:cNvSpPr>
            <p:nvPr/>
          </p:nvSpPr>
          <p:spPr bwMode="auto">
            <a:xfrm flipH="1">
              <a:off x="18599" y="11449"/>
              <a:ext cx="2121" cy="31"/>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7" name="直接连接符 495"/>
            <p:cNvSpPr>
              <a:spLocks noChangeShapeType="1"/>
            </p:cNvSpPr>
            <p:nvPr/>
          </p:nvSpPr>
          <p:spPr bwMode="auto">
            <a:xfrm flipH="1">
              <a:off x="15284" y="12560"/>
              <a:ext cx="2172" cy="11373"/>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8" name="直接连接符 496"/>
            <p:cNvSpPr>
              <a:spLocks noChangeShapeType="1"/>
            </p:cNvSpPr>
            <p:nvPr/>
          </p:nvSpPr>
          <p:spPr bwMode="auto">
            <a:xfrm flipH="1" flipV="1">
              <a:off x="18262" y="12242"/>
              <a:ext cx="9443" cy="3906"/>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9" name="直接连接符 497"/>
            <p:cNvSpPr>
              <a:spLocks noChangeShapeType="1"/>
            </p:cNvSpPr>
            <p:nvPr/>
          </p:nvSpPr>
          <p:spPr bwMode="auto">
            <a:xfrm flipH="1">
              <a:off x="13925" y="24745"/>
              <a:ext cx="546" cy="3023"/>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0" name="直接连接符 498"/>
            <p:cNvSpPr>
              <a:spLocks noChangeShapeType="1"/>
            </p:cNvSpPr>
            <p:nvPr/>
          </p:nvSpPr>
          <p:spPr bwMode="auto">
            <a:xfrm flipH="1">
              <a:off x="12490" y="24339"/>
              <a:ext cx="1816" cy="1245"/>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 name="直接连接符 499"/>
            <p:cNvSpPr>
              <a:spLocks noChangeShapeType="1"/>
            </p:cNvSpPr>
            <p:nvPr/>
          </p:nvSpPr>
          <p:spPr bwMode="auto">
            <a:xfrm>
              <a:off x="15449" y="24339"/>
              <a:ext cx="1207" cy="1080"/>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2" name="直接连接符 500"/>
            <p:cNvSpPr>
              <a:spLocks noChangeShapeType="1"/>
            </p:cNvSpPr>
            <p:nvPr/>
          </p:nvSpPr>
          <p:spPr bwMode="auto">
            <a:xfrm flipH="1">
              <a:off x="26720" y="16554"/>
              <a:ext cx="1150" cy="1702"/>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 name="直接连接符 501"/>
            <p:cNvSpPr>
              <a:spLocks noChangeShapeType="1"/>
            </p:cNvSpPr>
            <p:nvPr/>
          </p:nvSpPr>
          <p:spPr bwMode="auto">
            <a:xfrm>
              <a:off x="28682" y="16554"/>
              <a:ext cx="1309" cy="3086"/>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 name="直接连接符 502"/>
            <p:cNvSpPr>
              <a:spLocks noChangeShapeType="1"/>
            </p:cNvSpPr>
            <p:nvPr/>
          </p:nvSpPr>
          <p:spPr bwMode="auto">
            <a:xfrm flipH="1" flipV="1">
              <a:off x="28746" y="16052"/>
              <a:ext cx="1981" cy="959"/>
            </a:xfrm>
            <a:prstGeom prst="line">
              <a:avLst/>
            </a:prstGeom>
            <a:noFill/>
            <a:ln w="6350">
              <a:solidFill>
                <a:srgbClr val="000000"/>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5" name="文本框 503"/>
            <p:cNvSpPr txBox="1">
              <a:spLocks noChangeArrowheads="1"/>
            </p:cNvSpPr>
            <p:nvPr/>
          </p:nvSpPr>
          <p:spPr bwMode="auto">
            <a:xfrm>
              <a:off x="43821" y="16802"/>
              <a:ext cx="8630" cy="12134"/>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Sink</a:t>
              </a:r>
              <a:endParaRPr kumimoji="0" lang="en-US" altLang="zh-CN"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普通节点</a:t>
              </a:r>
              <a:endParaRPr kumimoji="0" lang="zh-CN"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低层次簇头</a:t>
              </a:r>
              <a:endParaRPr kumimoji="0" lang="zh-CN"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高层次簇头</a:t>
              </a:r>
              <a:endParaRPr kumimoji="0" lang="zh-CN"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0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簇</a:t>
              </a:r>
              <a:endParaRPr kumimoji="0" lang="zh-CN"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56" name="椭圆 504"/>
            <p:cNvSpPr>
              <a:spLocks noChangeArrowheads="1"/>
            </p:cNvSpPr>
            <p:nvPr/>
          </p:nvSpPr>
          <p:spPr bwMode="auto">
            <a:xfrm>
              <a:off x="41624" y="21742"/>
              <a:ext cx="908" cy="959"/>
            </a:xfrm>
            <a:prstGeom prst="ellipse">
              <a:avLst/>
            </a:prstGeom>
            <a:solidFill>
              <a:srgbClr val="404040"/>
            </a:solidFill>
            <a:ln w="12700">
              <a:solidFill>
                <a:srgbClr val="000000"/>
              </a:solidFill>
              <a:miter lim="800000"/>
            </a:ln>
          </p:spPr>
          <p:txBody>
            <a:bodyPr vert="horz" wrap="square" lIns="91440" tIns="45720" rIns="91440" bIns="45720" numCol="1" anchor="ctr" anchorCtr="0" compatLnSpc="1"/>
            <a:lstStyle/>
            <a:p>
              <a:endParaRPr lang="zh-CN" altLang="en-US"/>
            </a:p>
          </p:txBody>
        </p:sp>
        <p:sp>
          <p:nvSpPr>
            <p:cNvPr id="57" name="椭圆 505"/>
            <p:cNvSpPr>
              <a:spLocks noChangeArrowheads="1"/>
            </p:cNvSpPr>
            <p:nvPr/>
          </p:nvSpPr>
          <p:spPr bwMode="auto">
            <a:xfrm>
              <a:off x="41687" y="23704"/>
              <a:ext cx="908" cy="959"/>
            </a:xfrm>
            <a:prstGeom prst="ellipse">
              <a:avLst/>
            </a:prstGeom>
            <a:solidFill>
              <a:srgbClr val="404040"/>
            </a:solidFill>
            <a:ln w="12700">
              <a:solidFill>
                <a:srgbClr val="000000"/>
              </a:solidFill>
              <a:miter lim="800000"/>
            </a:ln>
          </p:spPr>
          <p:txBody>
            <a:bodyPr vert="horz" wrap="square" lIns="91440" tIns="45720" rIns="91440" bIns="45720" numCol="1" anchor="ctr" anchorCtr="0" compatLnSpc="1"/>
            <a:lstStyle/>
            <a:p>
              <a:endParaRPr lang="zh-CN" altLang="en-US"/>
            </a:p>
          </p:txBody>
        </p:sp>
      </p:grpSp>
      <p:sp>
        <p:nvSpPr>
          <p:cNvPr id="58" name="矩形 57"/>
          <p:cNvSpPr/>
          <p:nvPr/>
        </p:nvSpPr>
        <p:spPr>
          <a:xfrm>
            <a:off x="4406247" y="6292976"/>
            <a:ext cx="2770951"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5-3-2  TEEN</a:t>
            </a:r>
            <a:r>
              <a:rPr lang="zh-CN" altLang="zh-CN" kern="100" dirty="0">
                <a:latin typeface="Times New Roman" panose="02020603050405020304" charset="0"/>
                <a:ea typeface="宋体" panose="02010600030101010101" pitchFamily="2" charset="-122"/>
                <a:cs typeface="Times New Roman" panose="02020603050405020304" charset="0"/>
              </a:rPr>
              <a:t>路由协议图</a:t>
            </a:r>
            <a:endParaRPr lang="zh-CN" altLang="en-US" dirty="0"/>
          </a:p>
        </p:txBody>
      </p:sp>
      <p:sp>
        <p:nvSpPr>
          <p:cNvPr id="60" name="标题 59"/>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lnSpcReduction="10000"/>
          </a:bodyPr>
          <a:lstStyle/>
          <a:p>
            <a:r>
              <a:rPr lang="en-US" altLang="zh-CN" b="1" dirty="0"/>
              <a:t>5.3.3  TEEN</a:t>
            </a:r>
            <a:r>
              <a:rPr lang="zh-CN" altLang="zh-CN" b="1" dirty="0"/>
              <a:t>路由</a:t>
            </a:r>
            <a:r>
              <a:rPr lang="en-US" altLang="zh-CN" b="1" dirty="0" err="1"/>
              <a:t>协议</a:t>
            </a:r>
            <a:endParaRPr lang="zh-CN" altLang="zh-CN" b="1" dirty="0"/>
          </a:p>
          <a:p>
            <a:r>
              <a:rPr lang="zh-CN" altLang="zh-CN" dirty="0" smtClean="0"/>
              <a:t>两</a:t>
            </a:r>
            <a:r>
              <a:rPr lang="zh-CN" altLang="zh-CN" dirty="0"/>
              <a:t>个重要参数</a:t>
            </a:r>
            <a:r>
              <a:rPr lang="zh-CN" altLang="zh-CN" dirty="0" smtClean="0"/>
              <a:t>：</a:t>
            </a:r>
            <a:endParaRPr lang="zh-CN" altLang="zh-CN" dirty="0"/>
          </a:p>
          <a:p>
            <a:pPr lvl="1"/>
            <a:r>
              <a:rPr lang="zh-CN" altLang="zh-CN" dirty="0" smtClean="0">
                <a:solidFill>
                  <a:srgbClr val="FF0000"/>
                </a:solidFill>
              </a:rPr>
              <a:t>硬阈值</a:t>
            </a:r>
            <a:r>
              <a:rPr lang="zh-CN" altLang="en-US" dirty="0" smtClean="0"/>
              <a:t>：</a:t>
            </a:r>
            <a:r>
              <a:rPr lang="zh-CN" altLang="zh-CN" dirty="0" smtClean="0"/>
              <a:t>设置</a:t>
            </a:r>
            <a:r>
              <a:rPr lang="zh-CN" altLang="zh-CN" dirty="0"/>
              <a:t>一个检测值，只有传送的</a:t>
            </a:r>
            <a:r>
              <a:rPr lang="zh-CN" altLang="zh-CN" dirty="0">
                <a:solidFill>
                  <a:srgbClr val="FF0000"/>
                </a:solidFill>
              </a:rPr>
              <a:t>数据值大于硬阈值</a:t>
            </a:r>
            <a:r>
              <a:rPr lang="zh-CN" altLang="zh-CN" dirty="0"/>
              <a:t>条件时，节点才允许向汇聚节点上传数据</a:t>
            </a:r>
            <a:r>
              <a:rPr lang="zh-CN" altLang="zh-CN" dirty="0" smtClean="0"/>
              <a:t>。</a:t>
            </a:r>
            <a:endParaRPr lang="en-US" altLang="zh-CN" dirty="0" smtClean="0"/>
          </a:p>
          <a:p>
            <a:pPr lvl="1"/>
            <a:r>
              <a:rPr lang="zh-CN" altLang="zh-CN" dirty="0" smtClean="0">
                <a:solidFill>
                  <a:srgbClr val="FF0000"/>
                </a:solidFill>
              </a:rPr>
              <a:t>软阈值</a:t>
            </a:r>
            <a:r>
              <a:rPr lang="zh-CN" altLang="en-US" dirty="0" smtClean="0"/>
              <a:t>：</a:t>
            </a:r>
            <a:r>
              <a:rPr lang="zh-CN" altLang="zh-CN" dirty="0" smtClean="0"/>
              <a:t>设置</a:t>
            </a:r>
            <a:r>
              <a:rPr lang="zh-CN" altLang="zh-CN" dirty="0"/>
              <a:t>一个检测值的变化量值，规定只有当传送数据的</a:t>
            </a:r>
            <a:r>
              <a:rPr lang="zh-CN" altLang="zh-CN" dirty="0">
                <a:solidFill>
                  <a:srgbClr val="FF0000"/>
                </a:solidFill>
              </a:rPr>
              <a:t>改变量大于设定的软阈值</a:t>
            </a:r>
            <a:r>
              <a:rPr lang="zh-CN" altLang="zh-CN" dirty="0"/>
              <a:t>时，才同意再次向汇聚节点上传</a:t>
            </a:r>
            <a:r>
              <a:rPr lang="zh-CN" altLang="zh-CN" dirty="0" smtClean="0"/>
              <a:t>数据</a:t>
            </a:r>
            <a:endParaRPr lang="en-US" altLang="zh-CN" dirty="0" smtClean="0"/>
          </a:p>
          <a:p>
            <a:r>
              <a:rPr lang="zh-CN" altLang="zh-CN" dirty="0" smtClean="0"/>
              <a:t>两</a:t>
            </a:r>
            <a:r>
              <a:rPr lang="zh-CN" altLang="zh-CN" dirty="0"/>
              <a:t>个阈值决定了</a:t>
            </a:r>
            <a:r>
              <a:rPr lang="zh-CN" altLang="zh-CN" dirty="0">
                <a:solidFill>
                  <a:srgbClr val="FF0000"/>
                </a:solidFill>
              </a:rPr>
              <a:t>节点何时能够发送数据</a:t>
            </a:r>
            <a:r>
              <a:rPr lang="zh-CN" altLang="zh-CN" dirty="0" smtClean="0"/>
              <a:t>。</a:t>
            </a:r>
            <a:endParaRPr lang="en-US" altLang="zh-CN" dirty="0" smtClean="0"/>
          </a:p>
          <a:p>
            <a:r>
              <a:rPr lang="zh-CN" altLang="zh-CN" dirty="0" smtClean="0"/>
              <a:t>工作原理</a:t>
            </a:r>
            <a:r>
              <a:rPr lang="en-US" altLang="zh-CN" dirty="0" smtClean="0"/>
              <a:t>:</a:t>
            </a:r>
            <a:r>
              <a:rPr lang="zh-CN" altLang="zh-CN" dirty="0"/>
              <a:t>当首次发送的数据值大于硬阈值时，下一级节点向上一级节点报告， 并将数值保存起来；此后当发送数据值大于硬阈值且变化量大于软阈值时，低一级节点才会再次向上一级节点报告数据。</a:t>
            </a:r>
            <a:endParaRPr lang="zh-CN" altLang="zh-CN" dirty="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lnSpcReduction="10000"/>
          </a:bodyPr>
          <a:lstStyle/>
          <a:p>
            <a:r>
              <a:rPr lang="en-US" altLang="zh-CN" b="1" dirty="0"/>
              <a:t>5.3.3  TEEN</a:t>
            </a:r>
            <a:r>
              <a:rPr lang="zh-CN" altLang="zh-CN" b="1" dirty="0"/>
              <a:t>路由</a:t>
            </a:r>
            <a:r>
              <a:rPr lang="en-US" altLang="zh-CN" b="1" dirty="0" err="1" smtClean="0"/>
              <a:t>协议</a:t>
            </a:r>
            <a:endParaRPr lang="en-US" altLang="zh-CN" b="1" dirty="0" smtClean="0"/>
          </a:p>
          <a:p>
            <a:r>
              <a:rPr lang="zh-CN" altLang="zh-CN" dirty="0" smtClean="0"/>
              <a:t>优点</a:t>
            </a:r>
            <a:r>
              <a:rPr lang="zh-CN" altLang="en-US" dirty="0" smtClean="0"/>
              <a:t>：</a:t>
            </a:r>
            <a:endParaRPr lang="en-US" altLang="zh-CN" dirty="0" smtClean="0"/>
          </a:p>
          <a:p>
            <a:pPr lvl="1"/>
            <a:r>
              <a:rPr lang="zh-CN" altLang="zh-CN" dirty="0" smtClean="0"/>
              <a:t>软硬阈值具有</a:t>
            </a:r>
            <a:r>
              <a:rPr lang="zh-CN" altLang="zh-CN" dirty="0" smtClean="0">
                <a:solidFill>
                  <a:srgbClr val="FF0000"/>
                </a:solidFill>
              </a:rPr>
              <a:t>过滤</a:t>
            </a:r>
            <a:r>
              <a:rPr lang="zh-CN" altLang="zh-CN" dirty="0">
                <a:solidFill>
                  <a:srgbClr val="FF0000"/>
                </a:solidFill>
              </a:rPr>
              <a:t>功能，精简数据传输量</a:t>
            </a:r>
            <a:r>
              <a:rPr lang="zh-CN" altLang="zh-CN" dirty="0" smtClean="0"/>
              <a:t>，节省</a:t>
            </a:r>
            <a:r>
              <a:rPr lang="zh-CN" altLang="zh-CN" dirty="0"/>
              <a:t>了大量的能量，适合于响应型应用</a:t>
            </a:r>
            <a:r>
              <a:rPr lang="zh-CN" altLang="zh-CN" dirty="0" smtClean="0"/>
              <a:t>。</a:t>
            </a:r>
            <a:endParaRPr lang="en-US" altLang="zh-CN" dirty="0" smtClean="0"/>
          </a:p>
          <a:p>
            <a:pPr lvl="1"/>
            <a:r>
              <a:rPr lang="zh-CN" altLang="zh-CN" dirty="0" smtClean="0"/>
              <a:t>层次型</a:t>
            </a:r>
            <a:r>
              <a:rPr lang="zh-CN" altLang="zh-CN" dirty="0"/>
              <a:t>的簇头结构</a:t>
            </a:r>
            <a:r>
              <a:rPr lang="zh-CN" altLang="zh-CN" dirty="0">
                <a:solidFill>
                  <a:srgbClr val="FF0000"/>
                </a:solidFill>
              </a:rPr>
              <a:t>无须所有节点具有大功率通信能力</a:t>
            </a:r>
            <a:r>
              <a:rPr lang="zh-CN" altLang="zh-CN" dirty="0"/>
              <a:t>，更适合无线传感器</a:t>
            </a:r>
            <a:r>
              <a:rPr lang="zh-CN" altLang="zh-CN" dirty="0" smtClean="0"/>
              <a:t>网络。</a:t>
            </a:r>
            <a:endParaRPr lang="zh-CN" altLang="zh-CN" dirty="0"/>
          </a:p>
          <a:p>
            <a:r>
              <a:rPr lang="zh-CN" altLang="zh-CN" dirty="0" smtClean="0"/>
              <a:t>缺点</a:t>
            </a:r>
            <a:r>
              <a:rPr lang="zh-CN" altLang="en-US" dirty="0" smtClean="0"/>
              <a:t>：</a:t>
            </a:r>
            <a:endParaRPr lang="en-US" altLang="zh-CN" dirty="0" smtClean="0"/>
          </a:p>
          <a:p>
            <a:pPr lvl="1"/>
            <a:r>
              <a:rPr lang="zh-CN" altLang="zh-CN" dirty="0" smtClean="0"/>
              <a:t>多层次</a:t>
            </a:r>
            <a:r>
              <a:rPr lang="zh-CN" altLang="zh-CN" dirty="0"/>
              <a:t>簇的构建非常复杂</a:t>
            </a:r>
            <a:r>
              <a:rPr lang="zh-CN" altLang="zh-CN" dirty="0" smtClean="0"/>
              <a:t>。</a:t>
            </a:r>
            <a:endParaRPr lang="en-US" altLang="zh-CN" dirty="0" smtClean="0"/>
          </a:p>
          <a:p>
            <a:pPr lvl="1"/>
            <a:r>
              <a:rPr lang="zh-CN" altLang="zh-CN" dirty="0" smtClean="0"/>
              <a:t>如果</a:t>
            </a:r>
            <a:r>
              <a:rPr lang="zh-CN" altLang="zh-CN" dirty="0"/>
              <a:t>某个节点的检测数据达不到硬门限，那么用户将无法获知这个感应数据，也</a:t>
            </a:r>
            <a:r>
              <a:rPr lang="zh-CN" altLang="zh-CN" dirty="0">
                <a:solidFill>
                  <a:srgbClr val="FF0000"/>
                </a:solidFill>
              </a:rPr>
              <a:t>无法判断这个节点是否失效</a:t>
            </a:r>
            <a:r>
              <a:rPr lang="zh-CN" altLang="zh-CN" dirty="0"/>
              <a:t>，因此这个方法在周期性采样的网络中要谨慎</a:t>
            </a:r>
            <a:r>
              <a:rPr lang="zh-CN" altLang="zh-CN" dirty="0" smtClean="0"/>
              <a:t>使用。</a:t>
            </a:r>
            <a:endParaRPr lang="zh-CN" altLang="zh-CN" b="1" dirty="0"/>
          </a:p>
        </p:txBody>
      </p:sp>
      <p:sp>
        <p:nvSpPr>
          <p:cNvPr id="4" name="Rectangle 54"/>
          <p:cNvSpPr>
            <a:spLocks noChangeArrowheads="1"/>
          </p:cNvSpPr>
          <p:nvPr/>
        </p:nvSpPr>
        <p:spPr bwMode="auto">
          <a:xfrm>
            <a:off x="2641711" y="2430919"/>
            <a:ext cx="1446194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dirty="0"/>
              <a:t>5.3.4  TTDD</a:t>
            </a:r>
            <a:r>
              <a:rPr lang="zh-CN" altLang="zh-CN" dirty="0"/>
              <a:t>路由</a:t>
            </a:r>
            <a:r>
              <a:rPr lang="zh-CN" altLang="zh-CN" dirty="0" smtClean="0"/>
              <a:t>协议</a:t>
            </a:r>
            <a:endParaRPr lang="en-US" altLang="zh-CN" dirty="0" smtClean="0"/>
          </a:p>
          <a:p>
            <a:r>
              <a:rPr lang="en-US" altLang="zh-CN" dirty="0" smtClean="0"/>
              <a:t>TTDD</a:t>
            </a:r>
            <a:r>
              <a:rPr lang="zh-CN" altLang="en-US" dirty="0" smtClean="0"/>
              <a:t>：</a:t>
            </a:r>
            <a:r>
              <a:rPr lang="en-US" altLang="zh-CN" dirty="0" smtClean="0"/>
              <a:t>Two-tier </a:t>
            </a:r>
            <a:r>
              <a:rPr lang="en-US" altLang="zh-CN" dirty="0"/>
              <a:t>Data Dissemination</a:t>
            </a:r>
            <a:r>
              <a:rPr lang="zh-CN" altLang="zh-CN" dirty="0"/>
              <a:t>，</a:t>
            </a:r>
            <a:r>
              <a:rPr lang="zh-CN" altLang="zh-CN" dirty="0">
                <a:solidFill>
                  <a:srgbClr val="FF0000"/>
                </a:solidFill>
              </a:rPr>
              <a:t>双层数据</a:t>
            </a:r>
            <a:r>
              <a:rPr lang="zh-CN" altLang="zh-CN" dirty="0" smtClean="0">
                <a:solidFill>
                  <a:srgbClr val="FF0000"/>
                </a:solidFill>
              </a:rPr>
              <a:t>分发路由</a:t>
            </a:r>
            <a:r>
              <a:rPr lang="zh-CN" altLang="zh-CN" dirty="0" smtClean="0"/>
              <a:t>协议</a:t>
            </a:r>
            <a:endParaRPr lang="en-US" altLang="zh-CN" dirty="0" smtClean="0"/>
          </a:p>
          <a:p>
            <a:r>
              <a:rPr lang="zh-CN" altLang="zh-CN" dirty="0" smtClean="0"/>
              <a:t>主要</a:t>
            </a:r>
            <a:r>
              <a:rPr lang="zh-CN" altLang="zh-CN" dirty="0"/>
              <a:t>针对网络中存在的</a:t>
            </a:r>
            <a:r>
              <a:rPr lang="zh-CN" altLang="zh-CN" dirty="0">
                <a:solidFill>
                  <a:srgbClr val="FF0000"/>
                </a:solidFill>
              </a:rPr>
              <a:t>多</a:t>
            </a:r>
            <a:r>
              <a:rPr lang="en-US" altLang="zh-CN" dirty="0">
                <a:solidFill>
                  <a:srgbClr val="FF0000"/>
                </a:solidFill>
              </a:rPr>
              <a:t>sink</a:t>
            </a:r>
            <a:r>
              <a:rPr lang="zh-CN" altLang="zh-CN" dirty="0">
                <a:solidFill>
                  <a:srgbClr val="FF0000"/>
                </a:solidFill>
              </a:rPr>
              <a:t>和</a:t>
            </a:r>
            <a:r>
              <a:rPr lang="en-US" altLang="zh-CN" dirty="0">
                <a:solidFill>
                  <a:srgbClr val="FF0000"/>
                </a:solidFill>
              </a:rPr>
              <a:t>sink </a:t>
            </a:r>
            <a:r>
              <a:rPr lang="zh-CN" altLang="zh-CN" dirty="0">
                <a:solidFill>
                  <a:srgbClr val="FF0000"/>
                </a:solidFill>
              </a:rPr>
              <a:t>移动问题</a:t>
            </a:r>
            <a:r>
              <a:rPr lang="zh-CN" altLang="zh-CN" dirty="0"/>
              <a:t>的</a:t>
            </a:r>
            <a:r>
              <a:rPr lang="zh-CN" altLang="zh-CN" dirty="0" smtClean="0"/>
              <a:t>，基于</a:t>
            </a:r>
            <a:r>
              <a:rPr lang="zh-CN" altLang="zh-CN" dirty="0"/>
              <a:t>网格的层次路由协议。</a:t>
            </a:r>
            <a:endParaRPr lang="zh-CN" altLang="zh-CN" dirty="0"/>
          </a:p>
          <a:p>
            <a:pPr lvl="2"/>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5.3.4  TTDD</a:t>
            </a:r>
            <a:r>
              <a:rPr lang="zh-CN" altLang="zh-CN" b="1" dirty="0"/>
              <a:t>路由</a:t>
            </a:r>
            <a:r>
              <a:rPr lang="zh-CN" altLang="zh-CN" b="1" dirty="0" smtClean="0"/>
              <a:t>协议</a:t>
            </a:r>
            <a:endParaRPr lang="en-US" altLang="zh-CN" b="1" dirty="0" smtClean="0"/>
          </a:p>
          <a:p>
            <a:r>
              <a:rPr lang="en-US" altLang="zh-CN" dirty="0"/>
              <a:t>TTDD</a:t>
            </a:r>
            <a:r>
              <a:rPr lang="zh-CN" altLang="zh-CN" dirty="0" smtClean="0"/>
              <a:t>协议</a:t>
            </a:r>
            <a:r>
              <a:rPr lang="en-US" altLang="zh-CN" dirty="0" smtClean="0"/>
              <a:t>3</a:t>
            </a:r>
            <a:r>
              <a:rPr lang="zh-CN" altLang="zh-CN" dirty="0"/>
              <a:t>个阶段</a:t>
            </a:r>
            <a:r>
              <a:rPr lang="zh-CN" altLang="zh-CN" dirty="0" smtClean="0"/>
              <a:t>：</a:t>
            </a:r>
            <a:endParaRPr lang="en-US" altLang="zh-CN" dirty="0" smtClean="0"/>
          </a:p>
          <a:p>
            <a:r>
              <a:rPr lang="zh-CN" altLang="zh-CN" dirty="0" smtClean="0">
                <a:solidFill>
                  <a:srgbClr val="FF0000"/>
                </a:solidFill>
              </a:rPr>
              <a:t>构建网格</a:t>
            </a:r>
            <a:r>
              <a:rPr lang="zh-CN" altLang="en-US" dirty="0" smtClean="0"/>
              <a:t>：</a:t>
            </a:r>
            <a:r>
              <a:rPr lang="zh-CN" altLang="zh-CN" dirty="0"/>
              <a:t>最关键、最</a:t>
            </a:r>
            <a:r>
              <a:rPr lang="zh-CN" altLang="zh-CN" dirty="0" smtClean="0"/>
              <a:t>核心</a:t>
            </a:r>
            <a:r>
              <a:rPr lang="zh-CN" altLang="en-US" dirty="0" smtClean="0"/>
              <a:t>，</a:t>
            </a:r>
            <a:r>
              <a:rPr lang="zh-CN" altLang="zh-CN" dirty="0"/>
              <a:t>协议中的节点都清楚自身所处的位置，当得到有事件发生信号时， 就近选择一个节点作为源节点，源节点将自身所处位置作为</a:t>
            </a:r>
            <a:r>
              <a:rPr lang="zh-CN" altLang="zh-CN" dirty="0" smtClean="0"/>
              <a:t>网格的</a:t>
            </a:r>
            <a:r>
              <a:rPr lang="zh-CN" altLang="zh-CN" dirty="0"/>
              <a:t>一个交叉点，基于此点，先计算出相邻交叉点的位置，利用贪婪算法计算出距离该位置最近的节点，最近节点就成为新交叉点，以此铺展开构建成为一个</a:t>
            </a:r>
            <a:r>
              <a:rPr lang="zh-CN" altLang="zh-CN" dirty="0" smtClean="0"/>
              <a:t>网格。</a:t>
            </a:r>
            <a:r>
              <a:rPr lang="zh-CN" altLang="zh-CN" dirty="0"/>
              <a:t>事件信息和源节点信息被保存在网格的各个交叉点。</a:t>
            </a:r>
            <a:endParaRPr lang="en-US" altLang="zh-CN" dirty="0" smtClean="0"/>
          </a:p>
          <a:p>
            <a:pPr lvl="2"/>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5.3.4  TTDD</a:t>
            </a:r>
            <a:r>
              <a:rPr lang="zh-CN" altLang="zh-CN" b="1" dirty="0"/>
              <a:t>路由</a:t>
            </a:r>
            <a:r>
              <a:rPr lang="zh-CN" altLang="zh-CN" b="1" dirty="0" smtClean="0"/>
              <a:t>协议</a:t>
            </a:r>
            <a:endParaRPr lang="en-US" altLang="zh-CN" b="1" dirty="0" smtClean="0"/>
          </a:p>
          <a:p>
            <a:r>
              <a:rPr lang="en-US" altLang="zh-CN" dirty="0"/>
              <a:t>TTDD</a:t>
            </a:r>
            <a:r>
              <a:rPr lang="zh-CN" altLang="zh-CN" dirty="0" smtClean="0"/>
              <a:t>协议</a:t>
            </a:r>
            <a:r>
              <a:rPr lang="en-US" altLang="zh-CN" dirty="0" smtClean="0"/>
              <a:t>3</a:t>
            </a:r>
            <a:r>
              <a:rPr lang="zh-CN" altLang="zh-CN" dirty="0"/>
              <a:t>个阶段</a:t>
            </a:r>
            <a:r>
              <a:rPr lang="zh-CN" altLang="zh-CN" dirty="0" smtClean="0"/>
              <a:t>：</a:t>
            </a:r>
            <a:endParaRPr lang="en-US" altLang="zh-CN" dirty="0" smtClean="0"/>
          </a:p>
          <a:p>
            <a:r>
              <a:rPr lang="zh-CN" altLang="zh-CN" dirty="0" smtClean="0">
                <a:solidFill>
                  <a:srgbClr val="FF0000"/>
                </a:solidFill>
              </a:rPr>
              <a:t>发送</a:t>
            </a:r>
            <a:r>
              <a:rPr lang="zh-CN" altLang="zh-CN" dirty="0">
                <a:solidFill>
                  <a:srgbClr val="FF0000"/>
                </a:solidFill>
              </a:rPr>
              <a:t>查询</a:t>
            </a:r>
            <a:r>
              <a:rPr lang="zh-CN" altLang="zh-CN" dirty="0" smtClean="0">
                <a:solidFill>
                  <a:srgbClr val="FF0000"/>
                </a:solidFill>
              </a:rPr>
              <a:t>数据</a:t>
            </a:r>
            <a:r>
              <a:rPr lang="zh-CN" altLang="en-US" dirty="0" smtClean="0"/>
              <a:t>：</a:t>
            </a:r>
            <a:r>
              <a:rPr lang="zh-CN" altLang="zh-CN" dirty="0" smtClean="0"/>
              <a:t>汇集</a:t>
            </a:r>
            <a:r>
              <a:rPr lang="zh-CN" altLang="zh-CN" dirty="0"/>
              <a:t>节点在所达范围内，依次找出最近的交叉点，经由交叉点传播数据直至源</a:t>
            </a:r>
            <a:r>
              <a:rPr lang="zh-CN" altLang="zh-CN" dirty="0" smtClean="0"/>
              <a:t>节点</a:t>
            </a:r>
            <a:endParaRPr lang="en-US" altLang="zh-CN" dirty="0"/>
          </a:p>
          <a:p>
            <a:r>
              <a:rPr lang="zh-CN" altLang="zh-CN" dirty="0" smtClean="0">
                <a:solidFill>
                  <a:srgbClr val="FF0000"/>
                </a:solidFill>
              </a:rPr>
              <a:t>传输数据</a:t>
            </a:r>
            <a:r>
              <a:rPr lang="zh-CN" altLang="en-US" dirty="0" smtClean="0"/>
              <a:t>：</a:t>
            </a:r>
            <a:r>
              <a:rPr lang="zh-CN" altLang="zh-CN" dirty="0" smtClean="0"/>
              <a:t>源</a:t>
            </a:r>
            <a:r>
              <a:rPr lang="zh-CN" altLang="zh-CN" dirty="0"/>
              <a:t>节点收到查询命令后，将数据沿最短路径传向汇聚节点。有时，在等待数据回传时，汇聚节点可以采用</a:t>
            </a:r>
            <a:r>
              <a:rPr lang="en-US" altLang="zh-CN" dirty="0"/>
              <a:t>Agent</a:t>
            </a:r>
            <a:r>
              <a:rPr lang="zh-CN" altLang="zh-CN" dirty="0"/>
              <a:t>代理机制保持移动，以保证数据可靠地进行传输。</a:t>
            </a:r>
            <a:endParaRPr lang="zh-CN" altLang="zh-CN" dirty="0"/>
          </a:p>
          <a:p>
            <a:pPr lvl="2"/>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5.3.4  TTDD</a:t>
            </a:r>
            <a:r>
              <a:rPr lang="zh-CN" altLang="zh-CN" b="1" dirty="0"/>
              <a:t>路由</a:t>
            </a:r>
            <a:r>
              <a:rPr lang="zh-CN" altLang="zh-CN" b="1" dirty="0" smtClean="0"/>
              <a:t>协议</a:t>
            </a:r>
            <a:endParaRPr lang="en-US" altLang="zh-CN" b="1" dirty="0" smtClean="0"/>
          </a:p>
          <a:p>
            <a:r>
              <a:rPr lang="zh-CN" altLang="en-US" dirty="0" smtClean="0"/>
              <a:t>优点：</a:t>
            </a:r>
            <a:endParaRPr lang="en-US" altLang="zh-CN" dirty="0" smtClean="0"/>
          </a:p>
          <a:p>
            <a:pPr lvl="1"/>
            <a:r>
              <a:rPr lang="zh-CN" altLang="zh-CN" dirty="0" smtClean="0"/>
              <a:t>采用</a:t>
            </a:r>
            <a:r>
              <a:rPr lang="zh-CN" altLang="zh-CN" dirty="0"/>
              <a:t>的是</a:t>
            </a:r>
            <a:r>
              <a:rPr lang="zh-CN" altLang="zh-CN" dirty="0">
                <a:solidFill>
                  <a:srgbClr val="FF0000"/>
                </a:solidFill>
              </a:rPr>
              <a:t>单路径</a:t>
            </a:r>
            <a:r>
              <a:rPr lang="zh-CN" altLang="zh-CN" dirty="0"/>
              <a:t>，可以延长网络的生命周期</a:t>
            </a:r>
            <a:r>
              <a:rPr lang="zh-CN" altLang="zh-CN" dirty="0" smtClean="0"/>
              <a:t>；</a:t>
            </a:r>
            <a:endParaRPr lang="en-US" altLang="zh-CN" dirty="0" smtClean="0"/>
          </a:p>
          <a:p>
            <a:pPr lvl="1"/>
            <a:r>
              <a:rPr lang="zh-CN" altLang="zh-CN" dirty="0" smtClean="0"/>
              <a:t>采用</a:t>
            </a:r>
            <a:r>
              <a:rPr lang="zh-CN" altLang="zh-CN" dirty="0">
                <a:solidFill>
                  <a:srgbClr val="FF0000"/>
                </a:solidFill>
              </a:rPr>
              <a:t>代理机制</a:t>
            </a:r>
            <a:r>
              <a:rPr lang="zh-CN" altLang="zh-CN" dirty="0"/>
              <a:t>很好地解决了汇聚节点的移动性问题</a:t>
            </a:r>
            <a:r>
              <a:rPr lang="zh-CN" altLang="zh-CN" dirty="0" smtClean="0"/>
              <a:t>。</a:t>
            </a:r>
            <a:endParaRPr lang="en-US" altLang="zh-CN" dirty="0" smtClean="0"/>
          </a:p>
          <a:p>
            <a:r>
              <a:rPr lang="zh-CN" altLang="en-US" dirty="0" smtClean="0"/>
              <a:t>缺点：</a:t>
            </a:r>
            <a:endParaRPr lang="en-US" altLang="zh-CN" dirty="0" smtClean="0"/>
          </a:p>
          <a:p>
            <a:pPr lvl="1"/>
            <a:r>
              <a:rPr lang="zh-CN" altLang="zh-CN" dirty="0" smtClean="0"/>
              <a:t>节点</a:t>
            </a:r>
            <a:r>
              <a:rPr lang="zh-CN" altLang="zh-CN" dirty="0"/>
              <a:t>必须知道自身位置的所在，要求节点密度比较高，</a:t>
            </a:r>
            <a:r>
              <a:rPr lang="zh-CN" altLang="zh-CN" dirty="0">
                <a:solidFill>
                  <a:srgbClr val="FF0000"/>
                </a:solidFill>
              </a:rPr>
              <a:t>计算与维护网格的开销成本较大</a:t>
            </a:r>
            <a:r>
              <a:rPr lang="zh-CN" altLang="zh-CN" dirty="0"/>
              <a:t>，网格构建、查询请求和数据传递过程都会造成传输的延迟，所以这种协议在</a:t>
            </a:r>
            <a:r>
              <a:rPr lang="zh-CN" altLang="zh-CN" dirty="0">
                <a:solidFill>
                  <a:srgbClr val="FF0000"/>
                </a:solidFill>
              </a:rPr>
              <a:t>目标高速移动和高实时性需求的场合应慎用</a:t>
            </a:r>
            <a:r>
              <a:rPr lang="zh-CN" altLang="zh-CN" dirty="0"/>
              <a:t>。</a:t>
            </a:r>
            <a:endParaRPr lang="zh-CN" altLang="zh-CN" dirty="0"/>
          </a:p>
          <a:p>
            <a:pPr lvl="2"/>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5.3.5  PEGASIS</a:t>
            </a:r>
            <a:r>
              <a:rPr lang="zh-CN" altLang="zh-CN" b="1" dirty="0"/>
              <a:t>路由</a:t>
            </a:r>
            <a:r>
              <a:rPr lang="en-US" altLang="zh-CN" b="1" dirty="0" err="1"/>
              <a:t>协议</a:t>
            </a:r>
            <a:endParaRPr lang="zh-CN" altLang="zh-CN" b="1" dirty="0"/>
          </a:p>
          <a:p>
            <a:r>
              <a:rPr lang="en-US" altLang="zh-CN" dirty="0" smtClean="0"/>
              <a:t>PEGASIS</a:t>
            </a:r>
            <a:r>
              <a:rPr lang="zh-CN" altLang="en-US" dirty="0" smtClean="0"/>
              <a:t>：</a:t>
            </a:r>
            <a:r>
              <a:rPr lang="en-US" altLang="zh-CN" dirty="0" smtClean="0"/>
              <a:t>Power </a:t>
            </a:r>
            <a:r>
              <a:rPr lang="en-US" altLang="zh-CN" dirty="0"/>
              <a:t>Efficient Gathering in Sensor Information System</a:t>
            </a:r>
            <a:r>
              <a:rPr lang="zh-CN" altLang="zh-CN" dirty="0"/>
              <a:t>，</a:t>
            </a:r>
            <a:r>
              <a:rPr lang="zh-CN" altLang="zh-CN" dirty="0">
                <a:solidFill>
                  <a:srgbClr val="FF0000"/>
                </a:solidFill>
              </a:rPr>
              <a:t>传感器信息系统中的节能</a:t>
            </a:r>
            <a:r>
              <a:rPr lang="zh-CN" altLang="zh-CN" dirty="0" smtClean="0">
                <a:solidFill>
                  <a:srgbClr val="FF0000"/>
                </a:solidFill>
              </a:rPr>
              <a:t>收集路由</a:t>
            </a:r>
            <a:r>
              <a:rPr lang="zh-CN" altLang="zh-CN" dirty="0" smtClean="0"/>
              <a:t>协议</a:t>
            </a:r>
            <a:endParaRPr lang="en-US" altLang="zh-CN" dirty="0" smtClean="0"/>
          </a:p>
          <a:p>
            <a:r>
              <a:rPr lang="zh-CN" altLang="zh-CN" dirty="0"/>
              <a:t>假设：</a:t>
            </a:r>
            <a:r>
              <a:rPr lang="zh-CN" altLang="zh-CN" dirty="0">
                <a:solidFill>
                  <a:srgbClr val="FF0000"/>
                </a:solidFill>
              </a:rPr>
              <a:t>每个节点都知道其余节点的位置信息；每个节点都能和</a:t>
            </a:r>
            <a:r>
              <a:rPr lang="en-US" altLang="zh-CN" dirty="0">
                <a:solidFill>
                  <a:srgbClr val="FF0000"/>
                </a:solidFill>
              </a:rPr>
              <a:t>sink</a:t>
            </a:r>
            <a:r>
              <a:rPr lang="zh-CN" altLang="zh-CN" dirty="0">
                <a:solidFill>
                  <a:srgbClr val="FF0000"/>
                </a:solidFill>
              </a:rPr>
              <a:t>直接通信</a:t>
            </a:r>
            <a:r>
              <a:rPr lang="zh-CN" altLang="zh-CN" dirty="0" smtClean="0"/>
              <a:t>。</a:t>
            </a:r>
            <a:endParaRPr lang="en-US" altLang="zh-CN" dirty="0" smtClean="0"/>
          </a:p>
          <a:p>
            <a:r>
              <a:rPr lang="en-US" altLang="zh-CN" dirty="0" smtClean="0"/>
              <a:t>PEGASIS</a:t>
            </a:r>
            <a:r>
              <a:rPr lang="zh-CN" altLang="zh-CN" dirty="0"/>
              <a:t>将网络中所有节点组合成一条</a:t>
            </a:r>
            <a:r>
              <a:rPr lang="zh-CN" altLang="zh-CN" dirty="0">
                <a:solidFill>
                  <a:srgbClr val="FF0000"/>
                </a:solidFill>
              </a:rPr>
              <a:t>链</a:t>
            </a:r>
            <a:r>
              <a:rPr lang="zh-CN" altLang="zh-CN" dirty="0"/>
              <a:t>，链中只有一个节点充当</a:t>
            </a:r>
            <a:r>
              <a:rPr lang="zh-CN" altLang="zh-CN" dirty="0">
                <a:solidFill>
                  <a:srgbClr val="FF0000"/>
                </a:solidFill>
              </a:rPr>
              <a:t>簇头节点</a:t>
            </a:r>
            <a:r>
              <a:rPr lang="zh-CN" altLang="zh-CN" dirty="0"/>
              <a:t>；节点沿着链</a:t>
            </a:r>
            <a:r>
              <a:rPr lang="zh-CN" altLang="zh-CN" dirty="0">
                <a:solidFill>
                  <a:srgbClr val="FF0000"/>
                </a:solidFill>
              </a:rPr>
              <a:t>将数据发送给靠近簇头节点的邻居节点</a:t>
            </a:r>
            <a:r>
              <a:rPr lang="zh-CN" altLang="zh-CN" dirty="0"/>
              <a:t>，邻居节点将接收到的数据和自己的数据融合后，再将数据沿着链发送给它的邻居节点。簇头节点接收到数据后将数据发送给</a:t>
            </a:r>
            <a:r>
              <a:rPr lang="en-US" altLang="zh-CN" dirty="0" smtClean="0"/>
              <a:t>sink</a:t>
            </a:r>
            <a:endParaRPr lang="en-US" altLang="zh-CN" dirty="0" smtClean="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5.3.5  PEGASIS</a:t>
            </a:r>
            <a:r>
              <a:rPr lang="zh-CN" altLang="zh-CN" b="1" dirty="0"/>
              <a:t>路由</a:t>
            </a:r>
            <a:r>
              <a:rPr lang="en-US" altLang="zh-CN" b="1" dirty="0" err="1" smtClean="0"/>
              <a:t>协议</a:t>
            </a:r>
            <a:endParaRPr lang="zh-CN" altLang="zh-CN" b="1" dirty="0"/>
          </a:p>
        </p:txBody>
      </p:sp>
      <p:pic>
        <p:nvPicPr>
          <p:cNvPr id="4" name="图片 3"/>
          <p:cNvPicPr/>
          <p:nvPr/>
        </p:nvPicPr>
        <p:blipFill>
          <a:blip r:embed="rId1"/>
          <a:srcRect l="54470" t="8650" b="14097"/>
          <a:stretch>
            <a:fillRect/>
          </a:stretch>
        </p:blipFill>
        <p:spPr>
          <a:xfrm>
            <a:off x="1677352" y="2852896"/>
            <a:ext cx="5539374" cy="3182144"/>
          </a:xfrm>
          <a:prstGeom prst="rect">
            <a:avLst/>
          </a:prstGeom>
          <a:noFill/>
          <a:ln>
            <a:noFill/>
          </a:ln>
        </p:spPr>
      </p:pic>
      <p:sp>
        <p:nvSpPr>
          <p:cNvPr id="5" name="矩形 4"/>
          <p:cNvSpPr/>
          <p:nvPr/>
        </p:nvSpPr>
        <p:spPr>
          <a:xfrm>
            <a:off x="2565839" y="6311900"/>
            <a:ext cx="3121367" cy="369332"/>
          </a:xfrm>
          <a:prstGeom prst="rect">
            <a:avLst/>
          </a:prstGeom>
        </p:spPr>
        <p:txBody>
          <a:bodyPr wrap="none">
            <a:spAutoFit/>
          </a:bodyPr>
          <a:lstStyle/>
          <a:p>
            <a:pPr indent="228600" algn="ctr">
              <a:spcAft>
                <a:spcPts val="0"/>
              </a:spcAft>
            </a:pPr>
            <a:r>
              <a:rPr lang="zh-CN" altLang="zh-CN" dirty="0">
                <a:latin typeface="Times New Roman" panose="02020603050405020304" charset="0"/>
                <a:ea typeface="宋体" panose="02010600030101010101" pitchFamily="2" charset="-122"/>
              </a:rPr>
              <a:t>图</a:t>
            </a:r>
            <a:r>
              <a:rPr lang="en-US" altLang="zh-CN" dirty="0">
                <a:latin typeface="Times New Roman" panose="02020603050405020304" charset="0"/>
                <a:ea typeface="宋体" panose="02010600030101010101" pitchFamily="2" charset="-122"/>
              </a:rPr>
              <a:t>5-3-3  PEGASIS</a:t>
            </a:r>
            <a:r>
              <a:rPr lang="zh-CN" altLang="zh-CN" dirty="0">
                <a:latin typeface="Times New Roman" panose="02020603050405020304" charset="0"/>
                <a:ea typeface="宋体" panose="02010600030101010101" pitchFamily="2" charset="-122"/>
              </a:rPr>
              <a:t>路由协议</a:t>
            </a:r>
            <a:endParaRPr lang="zh-CN" altLang="zh-CN" sz="3200" dirty="0">
              <a:effectLst/>
              <a:latin typeface="Times New Roman" panose="02020603050405020304" charset="0"/>
              <a:ea typeface="宋体" panose="02010600030101010101" pitchFamily="2" charset="-122"/>
            </a:endParaRPr>
          </a:p>
        </p:txBody>
      </p:sp>
      <p:sp>
        <p:nvSpPr>
          <p:cNvPr id="7" name="标题 6"/>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a:xfrm>
            <a:off x="838201" y="1825625"/>
            <a:ext cx="8091166" cy="4351655"/>
          </a:xfrm>
        </p:spPr>
        <p:txBody>
          <a:bodyPr>
            <a:normAutofit/>
          </a:bodyPr>
          <a:lstStyle/>
          <a:p>
            <a:r>
              <a:rPr lang="en-US" altLang="zh-CN" b="1" dirty="0"/>
              <a:t>5.3.5  PEGASIS</a:t>
            </a:r>
            <a:r>
              <a:rPr lang="zh-CN" altLang="zh-CN" b="1" dirty="0"/>
              <a:t>路由</a:t>
            </a:r>
            <a:r>
              <a:rPr lang="en-US" altLang="zh-CN" b="1" dirty="0" err="1" smtClean="0"/>
              <a:t>协议</a:t>
            </a:r>
            <a:endParaRPr lang="en-US" altLang="zh-CN" b="1" dirty="0" smtClean="0"/>
          </a:p>
          <a:p>
            <a:r>
              <a:rPr lang="en-US" altLang="zh-CN" dirty="0"/>
              <a:t>1</a:t>
            </a:r>
            <a:r>
              <a:rPr lang="zh-CN" altLang="zh-CN" dirty="0"/>
              <a:t>）</a:t>
            </a:r>
            <a:r>
              <a:rPr lang="zh-CN" altLang="zh-CN" dirty="0">
                <a:solidFill>
                  <a:srgbClr val="FF0000"/>
                </a:solidFill>
              </a:rPr>
              <a:t>链的构造</a:t>
            </a:r>
            <a:endParaRPr lang="zh-CN" altLang="zh-CN" dirty="0">
              <a:solidFill>
                <a:srgbClr val="FF0000"/>
              </a:solidFill>
            </a:endParaRPr>
          </a:p>
          <a:p>
            <a:r>
              <a:rPr lang="zh-CN" altLang="zh-CN" dirty="0" smtClean="0"/>
              <a:t>可以</a:t>
            </a:r>
            <a:r>
              <a:rPr lang="zh-CN" altLang="zh-CN" dirty="0"/>
              <a:t>由节点自己完成，也可以由</a:t>
            </a:r>
            <a:r>
              <a:rPr lang="en-US" altLang="zh-CN" dirty="0"/>
              <a:t>sink</a:t>
            </a:r>
            <a:r>
              <a:rPr lang="zh-CN" altLang="zh-CN" dirty="0"/>
              <a:t>来完成，</a:t>
            </a:r>
            <a:r>
              <a:rPr lang="zh-CN" altLang="zh-CN" dirty="0" smtClean="0"/>
              <a:t>然后广播</a:t>
            </a:r>
            <a:r>
              <a:rPr lang="zh-CN" altLang="zh-CN" dirty="0"/>
              <a:t>告知所有</a:t>
            </a:r>
            <a:r>
              <a:rPr lang="zh-CN" altLang="zh-CN" dirty="0" smtClean="0"/>
              <a:t>节点</a:t>
            </a:r>
            <a:endParaRPr lang="en-US" altLang="zh-CN" dirty="0" smtClean="0"/>
          </a:p>
          <a:p>
            <a:r>
              <a:rPr lang="zh-CN" altLang="zh-CN" dirty="0" smtClean="0"/>
              <a:t>在</a:t>
            </a:r>
            <a:r>
              <a:rPr lang="zh-CN" altLang="zh-CN" dirty="0"/>
              <a:t>链的构造过程中，</a:t>
            </a:r>
            <a:r>
              <a:rPr lang="zh-CN" altLang="zh-CN" dirty="0">
                <a:solidFill>
                  <a:srgbClr val="FF0000"/>
                </a:solidFill>
              </a:rPr>
              <a:t>节点选择距离自己</a:t>
            </a:r>
            <a:r>
              <a:rPr lang="zh-CN" altLang="zh-CN" dirty="0" smtClean="0">
                <a:solidFill>
                  <a:srgbClr val="FF0000"/>
                </a:solidFill>
              </a:rPr>
              <a:t>最近节点</a:t>
            </a:r>
            <a:r>
              <a:rPr lang="zh-CN" altLang="zh-CN" dirty="0">
                <a:solidFill>
                  <a:srgbClr val="FF0000"/>
                </a:solidFill>
              </a:rPr>
              <a:t>作为数据传输的下一跳</a:t>
            </a:r>
            <a:r>
              <a:rPr lang="zh-CN" altLang="zh-CN" dirty="0" smtClean="0"/>
              <a:t>。</a:t>
            </a:r>
            <a:r>
              <a:rPr lang="zh-CN" altLang="zh-CN" dirty="0"/>
              <a:t>为了确保距离</a:t>
            </a:r>
            <a:r>
              <a:rPr lang="en-US" altLang="zh-CN" dirty="0"/>
              <a:t>sink</a:t>
            </a:r>
            <a:r>
              <a:rPr lang="zh-CN" altLang="zh-CN" dirty="0"/>
              <a:t>较远的节点有较近的邻居节点作为下一跳，</a:t>
            </a:r>
            <a:r>
              <a:rPr lang="zh-CN" altLang="zh-CN" dirty="0">
                <a:solidFill>
                  <a:srgbClr val="FF0000"/>
                </a:solidFill>
              </a:rPr>
              <a:t>链的构造从距离</a:t>
            </a:r>
            <a:r>
              <a:rPr lang="en-US" altLang="zh-CN" dirty="0">
                <a:solidFill>
                  <a:srgbClr val="FF0000"/>
                </a:solidFill>
              </a:rPr>
              <a:t>sink</a:t>
            </a:r>
            <a:r>
              <a:rPr lang="zh-CN" altLang="zh-CN" dirty="0">
                <a:solidFill>
                  <a:srgbClr val="FF0000"/>
                </a:solidFill>
              </a:rPr>
              <a:t>最远的节点开始</a:t>
            </a:r>
            <a:endParaRPr lang="en-US" altLang="zh-CN" dirty="0" smtClean="0">
              <a:solidFill>
                <a:srgbClr val="FF0000"/>
              </a:solidFill>
            </a:endParaRPr>
          </a:p>
          <a:p>
            <a:endParaRPr lang="zh-CN" altLang="zh-CN" b="1" dirty="0"/>
          </a:p>
        </p:txBody>
      </p:sp>
      <p:grpSp>
        <p:nvGrpSpPr>
          <p:cNvPr id="6" name="组合 1458"/>
          <p:cNvGrpSpPr/>
          <p:nvPr/>
        </p:nvGrpSpPr>
        <p:grpSpPr bwMode="auto">
          <a:xfrm>
            <a:off x="9216142" y="2082239"/>
            <a:ext cx="2420815" cy="2799250"/>
            <a:chOff x="7380" y="1925829"/>
            <a:chExt cx="2144" cy="1949"/>
          </a:xfrm>
        </p:grpSpPr>
        <p:grpSp>
          <p:nvGrpSpPr>
            <p:cNvPr id="7" name="组合 1442"/>
            <p:cNvGrpSpPr/>
            <p:nvPr/>
          </p:nvGrpSpPr>
          <p:grpSpPr bwMode="auto">
            <a:xfrm>
              <a:off x="7680" y="1925854"/>
              <a:ext cx="1679" cy="1739"/>
              <a:chOff x="7680" y="1925854"/>
              <a:chExt cx="1679" cy="1739"/>
            </a:xfrm>
          </p:grpSpPr>
          <p:sp>
            <p:nvSpPr>
              <p:cNvPr id="12" name="椭圆 1172"/>
              <p:cNvSpPr>
                <a:spLocks noChangeArrowheads="1"/>
              </p:cNvSpPr>
              <p:nvPr/>
            </p:nvSpPr>
            <p:spPr bwMode="auto">
              <a:xfrm>
                <a:off x="7680" y="1925854"/>
                <a:ext cx="165" cy="165"/>
              </a:xfrm>
              <a:prstGeom prst="ellipse">
                <a:avLst/>
              </a:prstGeom>
              <a:noFill/>
              <a:ln w="12700" algn="ctr">
                <a:solidFill>
                  <a:srgbClr val="8D0C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p>
                <a:endParaRPr lang="zh-CN" altLang="en-US"/>
              </a:p>
            </p:txBody>
          </p:sp>
          <p:sp>
            <p:nvSpPr>
              <p:cNvPr id="13" name="椭圆 1173"/>
              <p:cNvSpPr>
                <a:spLocks noChangeArrowheads="1"/>
              </p:cNvSpPr>
              <p:nvPr/>
            </p:nvSpPr>
            <p:spPr bwMode="auto">
              <a:xfrm>
                <a:off x="8625" y="1926094"/>
                <a:ext cx="165" cy="165"/>
              </a:xfrm>
              <a:prstGeom prst="ellipse">
                <a:avLst/>
              </a:prstGeom>
              <a:noFill/>
              <a:ln w="12700" algn="ctr">
                <a:solidFill>
                  <a:srgbClr val="8D0C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p>
                <a:endParaRPr lang="zh-CN" altLang="en-US"/>
              </a:p>
            </p:txBody>
          </p:sp>
          <p:sp>
            <p:nvSpPr>
              <p:cNvPr id="14" name="椭圆 1190"/>
              <p:cNvSpPr>
                <a:spLocks noChangeArrowheads="1"/>
              </p:cNvSpPr>
              <p:nvPr/>
            </p:nvSpPr>
            <p:spPr bwMode="auto">
              <a:xfrm>
                <a:off x="9195" y="1926514"/>
                <a:ext cx="165" cy="165"/>
              </a:xfrm>
              <a:prstGeom prst="ellipse">
                <a:avLst/>
              </a:prstGeom>
              <a:noFill/>
              <a:ln w="12700" algn="ctr">
                <a:solidFill>
                  <a:srgbClr val="8D0C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p>
                <a:endParaRPr lang="zh-CN" altLang="en-US"/>
              </a:p>
            </p:txBody>
          </p:sp>
          <p:sp>
            <p:nvSpPr>
              <p:cNvPr id="15" name="椭圆 1196"/>
              <p:cNvSpPr>
                <a:spLocks noChangeArrowheads="1"/>
              </p:cNvSpPr>
              <p:nvPr/>
            </p:nvSpPr>
            <p:spPr bwMode="auto">
              <a:xfrm>
                <a:off x="7860" y="1926874"/>
                <a:ext cx="165" cy="165"/>
              </a:xfrm>
              <a:prstGeom prst="ellipse">
                <a:avLst/>
              </a:prstGeom>
              <a:noFill/>
              <a:ln w="12700" algn="ctr">
                <a:solidFill>
                  <a:srgbClr val="8D0C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p>
                <a:endParaRPr lang="zh-CN" altLang="en-US"/>
              </a:p>
            </p:txBody>
          </p:sp>
          <p:sp>
            <p:nvSpPr>
              <p:cNvPr id="16" name="椭圆 1197"/>
              <p:cNvSpPr>
                <a:spLocks noChangeArrowheads="1"/>
              </p:cNvSpPr>
              <p:nvPr/>
            </p:nvSpPr>
            <p:spPr bwMode="auto">
              <a:xfrm>
                <a:off x="7995" y="1927429"/>
                <a:ext cx="165" cy="165"/>
              </a:xfrm>
              <a:prstGeom prst="ellipse">
                <a:avLst/>
              </a:prstGeom>
              <a:solidFill>
                <a:srgbClr val="8D0C00"/>
              </a:solidFill>
              <a:ln w="12700" algn="ctr">
                <a:solidFill>
                  <a:srgbClr val="8D0C00"/>
                </a:solidFill>
                <a:miter lim="800000"/>
              </a:ln>
            </p:spPr>
            <p:txBody>
              <a:bodyPr vert="horz" wrap="square" lIns="91440" tIns="45720" rIns="91440" bIns="45720" numCol="1" anchor="ctr" anchorCtr="0" compatLnSpc="1"/>
              <a:lstStyle/>
              <a:p>
                <a:endParaRPr lang="zh-CN" altLang="en-US"/>
              </a:p>
            </p:txBody>
          </p:sp>
          <p:sp>
            <p:nvSpPr>
              <p:cNvPr id="17" name="直接连接符 1427"/>
              <p:cNvSpPr>
                <a:spLocks noChangeShapeType="1"/>
              </p:cNvSpPr>
              <p:nvPr/>
            </p:nvSpPr>
            <p:spPr bwMode="auto">
              <a:xfrm>
                <a:off x="7845" y="1925967"/>
                <a:ext cx="780" cy="203"/>
              </a:xfrm>
              <a:prstGeom prst="line">
                <a:avLst/>
              </a:prstGeom>
              <a:noFill/>
              <a:ln w="6350" algn="ctr">
                <a:solidFill>
                  <a:srgbClr val="8D0C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8" name="直接连接符 1429"/>
              <p:cNvSpPr>
                <a:spLocks noChangeShapeType="1"/>
              </p:cNvSpPr>
              <p:nvPr/>
            </p:nvSpPr>
            <p:spPr bwMode="auto">
              <a:xfrm>
                <a:off x="8766" y="1926235"/>
                <a:ext cx="453" cy="303"/>
              </a:xfrm>
              <a:prstGeom prst="line">
                <a:avLst/>
              </a:prstGeom>
              <a:noFill/>
              <a:ln w="6350" algn="ctr">
                <a:solidFill>
                  <a:srgbClr val="8D0C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9" name="直接连接符 1433"/>
              <p:cNvSpPr>
                <a:spLocks noChangeShapeType="1"/>
              </p:cNvSpPr>
              <p:nvPr/>
            </p:nvSpPr>
            <p:spPr bwMode="auto">
              <a:xfrm flipV="1">
                <a:off x="8025" y="1926612"/>
                <a:ext cx="1185" cy="345"/>
              </a:xfrm>
              <a:prstGeom prst="line">
                <a:avLst/>
              </a:prstGeom>
              <a:noFill/>
              <a:ln w="6350" algn="ctr">
                <a:solidFill>
                  <a:srgbClr val="8D0C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sp>
          <p:nvSpPr>
            <p:cNvPr id="8" name="文本框 1451"/>
            <p:cNvSpPr txBox="1">
              <a:spLocks noChangeArrowheads="1"/>
            </p:cNvSpPr>
            <p:nvPr/>
          </p:nvSpPr>
          <p:spPr bwMode="auto">
            <a:xfrm>
              <a:off x="8115" y="1927284"/>
              <a:ext cx="870" cy="495"/>
            </a:xfrm>
            <a:prstGeom prst="rect">
              <a:avLst/>
            </a:prstGeom>
            <a:noFill/>
            <a:ln w="6350">
              <a:solidFill>
                <a:srgbClr val="000000">
                  <a:alpha val="0"/>
                </a:srgbClr>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rgbClr val="000000"/>
                  </a:solidFill>
                  <a:effectLst/>
                  <a:latin typeface="等线" panose="02010600030101010101" charset="-122"/>
                  <a:ea typeface="等线" panose="02010600030101010101" charset="-122"/>
                </a:rPr>
                <a:t>Sink</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 name="文本框 1453"/>
            <p:cNvSpPr txBox="1">
              <a:spLocks noChangeArrowheads="1"/>
            </p:cNvSpPr>
            <p:nvPr/>
          </p:nvSpPr>
          <p:spPr bwMode="auto">
            <a:xfrm>
              <a:off x="7875" y="1926534"/>
              <a:ext cx="555" cy="495"/>
            </a:xfrm>
            <a:prstGeom prst="rect">
              <a:avLst/>
            </a:prstGeom>
            <a:noFill/>
            <a:ln w="6350">
              <a:solidFill>
                <a:srgbClr val="000000">
                  <a:alpha val="0"/>
                </a:srgbClr>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rgbClr val="000000"/>
                  </a:solidFill>
                  <a:effectLst/>
                  <a:latin typeface="等线" panose="02010600030101010101" charset="-122"/>
                  <a:ea typeface="等线" panose="02010600030101010101" charset="-122"/>
                </a:rPr>
                <a:t>2</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0" name="文本框 1454"/>
            <p:cNvSpPr txBox="1">
              <a:spLocks noChangeArrowheads="1"/>
            </p:cNvSpPr>
            <p:nvPr/>
          </p:nvSpPr>
          <p:spPr bwMode="auto">
            <a:xfrm>
              <a:off x="8970" y="1926564"/>
              <a:ext cx="555" cy="495"/>
            </a:xfrm>
            <a:prstGeom prst="rect">
              <a:avLst/>
            </a:prstGeom>
            <a:noFill/>
            <a:ln w="6350">
              <a:solidFill>
                <a:srgbClr val="000000">
                  <a:alpha val="0"/>
                </a:srgbClr>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rgbClr val="000000"/>
                  </a:solidFill>
                  <a:effectLst/>
                  <a:latin typeface="等线" panose="02010600030101010101" charset="-122"/>
                  <a:ea typeface="等线" panose="02010600030101010101" charset="-122"/>
                </a:rPr>
                <a:t>1</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 name="文本框 1455"/>
            <p:cNvSpPr txBox="1">
              <a:spLocks noChangeArrowheads="1"/>
            </p:cNvSpPr>
            <p:nvPr/>
          </p:nvSpPr>
          <p:spPr bwMode="auto">
            <a:xfrm>
              <a:off x="8310" y="1926054"/>
              <a:ext cx="555" cy="495"/>
            </a:xfrm>
            <a:prstGeom prst="rect">
              <a:avLst/>
            </a:prstGeom>
            <a:noFill/>
            <a:ln w="6350">
              <a:solidFill>
                <a:srgbClr val="000000">
                  <a:alpha val="0"/>
                </a:srgbClr>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rgbClr val="000000"/>
                  </a:solidFill>
                  <a:effectLst/>
                  <a:latin typeface="等线" panose="02010600030101010101" charset="-122"/>
                  <a:ea typeface="等线" panose="02010600030101010101" charset="-122"/>
                </a:rPr>
                <a:t>3</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grpSp>
      <p:sp>
        <p:nvSpPr>
          <p:cNvPr id="20" name="矩形 19"/>
          <p:cNvSpPr/>
          <p:nvPr/>
        </p:nvSpPr>
        <p:spPr>
          <a:xfrm>
            <a:off x="8952197" y="5093997"/>
            <a:ext cx="3339376"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5-3-4  </a:t>
            </a:r>
            <a:r>
              <a:rPr lang="zh-CN" altLang="zh-CN" kern="100" dirty="0">
                <a:latin typeface="Times New Roman" panose="02020603050405020304" charset="0"/>
                <a:ea typeface="宋体" panose="02010600030101010101" pitchFamily="2" charset="-122"/>
                <a:cs typeface="Times New Roman" panose="02020603050405020304" charset="0"/>
              </a:rPr>
              <a:t>基于贪婪算法的链构造</a:t>
            </a:r>
            <a:endParaRPr lang="zh-CN" altLang="en-US" dirty="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a:xfrm>
            <a:off x="838200" y="1825625"/>
            <a:ext cx="8054137" cy="4351655"/>
          </a:xfrm>
        </p:spPr>
        <p:txBody>
          <a:bodyPr>
            <a:normAutofit/>
          </a:bodyPr>
          <a:lstStyle/>
          <a:p>
            <a:r>
              <a:rPr lang="en-US" altLang="zh-CN" b="1" dirty="0"/>
              <a:t>5.3.5  PEGASIS</a:t>
            </a:r>
            <a:r>
              <a:rPr lang="zh-CN" altLang="zh-CN" b="1" dirty="0"/>
              <a:t>路由</a:t>
            </a:r>
            <a:r>
              <a:rPr lang="en-US" altLang="zh-CN" b="1" dirty="0" err="1" smtClean="0"/>
              <a:t>协议</a:t>
            </a:r>
            <a:endParaRPr lang="en-US" altLang="zh-CN" b="1" dirty="0" smtClean="0"/>
          </a:p>
          <a:p>
            <a:r>
              <a:rPr lang="en-US" altLang="zh-CN" dirty="0"/>
              <a:t>1</a:t>
            </a:r>
            <a:r>
              <a:rPr lang="zh-CN" altLang="zh-CN" dirty="0"/>
              <a:t>）链的构造</a:t>
            </a:r>
            <a:endParaRPr lang="zh-CN" altLang="zh-CN" dirty="0"/>
          </a:p>
          <a:p>
            <a:r>
              <a:rPr lang="zh-CN" altLang="zh-CN" dirty="0" smtClean="0"/>
              <a:t>如</a:t>
            </a:r>
            <a:r>
              <a:rPr lang="zh-CN" altLang="zh-CN" dirty="0"/>
              <a:t>图</a:t>
            </a:r>
            <a:r>
              <a:rPr lang="en-US" altLang="zh-CN" dirty="0"/>
              <a:t>5-3-4</a:t>
            </a:r>
            <a:r>
              <a:rPr lang="zh-CN" altLang="zh-CN" dirty="0"/>
              <a:t>所示，节点</a:t>
            </a:r>
            <a:r>
              <a:rPr lang="en-US" altLang="zh-CN" dirty="0"/>
              <a:t>0</a:t>
            </a:r>
            <a:r>
              <a:rPr lang="zh-CN" altLang="zh-CN" dirty="0"/>
              <a:t>距离</a:t>
            </a:r>
            <a:r>
              <a:rPr lang="en-US" altLang="zh-CN" dirty="0"/>
              <a:t>sink</a:t>
            </a:r>
            <a:r>
              <a:rPr lang="zh-CN" altLang="zh-CN" dirty="0"/>
              <a:t>最远，节点</a:t>
            </a:r>
            <a:r>
              <a:rPr lang="en-US" altLang="zh-CN" dirty="0"/>
              <a:t>0</a:t>
            </a:r>
            <a:r>
              <a:rPr lang="zh-CN" altLang="zh-CN" dirty="0"/>
              <a:t>选择距离自己最近的节点</a:t>
            </a:r>
            <a:r>
              <a:rPr lang="en-US" altLang="zh-CN" dirty="0"/>
              <a:t>3</a:t>
            </a:r>
            <a:r>
              <a:rPr lang="zh-CN" altLang="zh-CN" dirty="0"/>
              <a:t>连接，节点</a:t>
            </a:r>
            <a:r>
              <a:rPr lang="en-US" altLang="zh-CN" dirty="0"/>
              <a:t>3</a:t>
            </a:r>
            <a:r>
              <a:rPr lang="zh-CN" altLang="zh-CN" dirty="0"/>
              <a:t>在剩余的节点中选择和距离较近的节点</a:t>
            </a:r>
            <a:r>
              <a:rPr lang="en-US" altLang="zh-CN" dirty="0"/>
              <a:t>1</a:t>
            </a:r>
            <a:r>
              <a:rPr lang="zh-CN" altLang="zh-CN" dirty="0"/>
              <a:t>连接，最后节点</a:t>
            </a:r>
            <a:r>
              <a:rPr lang="en-US" altLang="zh-CN" dirty="0"/>
              <a:t>1</a:t>
            </a:r>
            <a:r>
              <a:rPr lang="zh-CN" altLang="zh-CN" dirty="0"/>
              <a:t>和节点</a:t>
            </a:r>
            <a:r>
              <a:rPr lang="en-US" altLang="zh-CN" dirty="0"/>
              <a:t>2</a:t>
            </a:r>
            <a:r>
              <a:rPr lang="zh-CN" altLang="zh-CN" dirty="0"/>
              <a:t>连接，这样就组成了一条</a:t>
            </a:r>
            <a:r>
              <a:rPr lang="en-US" altLang="zh-CN" dirty="0"/>
              <a:t>0-3-1-2</a:t>
            </a:r>
            <a:r>
              <a:rPr lang="zh-CN" altLang="zh-CN" dirty="0"/>
              <a:t>的链</a:t>
            </a:r>
            <a:r>
              <a:rPr lang="zh-CN" altLang="zh-CN" dirty="0" smtClean="0"/>
              <a:t>。</a:t>
            </a:r>
            <a:endParaRPr lang="en-US" altLang="zh-CN" dirty="0" smtClean="0"/>
          </a:p>
          <a:p>
            <a:r>
              <a:rPr lang="zh-CN" altLang="zh-CN" dirty="0" smtClean="0"/>
              <a:t>当</a:t>
            </a:r>
            <a:r>
              <a:rPr lang="zh-CN" altLang="zh-CN" dirty="0"/>
              <a:t>链中有节点能量耗尽的时候整条链再重构一次。</a:t>
            </a:r>
            <a:r>
              <a:rPr lang="zh-CN" altLang="zh-CN" dirty="0">
                <a:solidFill>
                  <a:srgbClr val="FF0000"/>
                </a:solidFill>
              </a:rPr>
              <a:t>每条链中只有一个簇头节点，且簇头节点周期更换。</a:t>
            </a:r>
            <a:r>
              <a:rPr lang="zh-CN" altLang="zh-CN" dirty="0"/>
              <a:t>在第</a:t>
            </a:r>
            <a:r>
              <a:rPr lang="en-US" altLang="zh-CN" i="1" dirty="0" err="1"/>
              <a:t>i</a:t>
            </a:r>
            <a:r>
              <a:rPr lang="zh-CN" altLang="zh-CN" dirty="0"/>
              <a:t>周期中，</a:t>
            </a:r>
            <a:r>
              <a:rPr lang="en-US" altLang="zh-CN" dirty="0"/>
              <a:t>PEGASIS</a:t>
            </a:r>
            <a:r>
              <a:rPr lang="zh-CN" altLang="zh-CN" dirty="0"/>
              <a:t>使用链条上第</a:t>
            </a:r>
            <a:r>
              <a:rPr lang="en-US" altLang="zh-CN" i="1" dirty="0" err="1"/>
              <a:t>i</a:t>
            </a:r>
            <a:r>
              <a:rPr lang="en-US" altLang="zh-CN" i="1" dirty="0"/>
              <a:t> </a:t>
            </a:r>
            <a:r>
              <a:rPr lang="en-US" altLang="zh-CN" dirty="0"/>
              <a:t>mod </a:t>
            </a:r>
            <a:r>
              <a:rPr lang="en-US" altLang="zh-CN" i="1" dirty="0"/>
              <a:t>N</a:t>
            </a:r>
            <a:r>
              <a:rPr lang="zh-CN" altLang="zh-CN" dirty="0"/>
              <a:t>个节点作为簇头节点，其中</a:t>
            </a:r>
            <a:r>
              <a:rPr lang="en-US" altLang="zh-CN" i="1" dirty="0"/>
              <a:t>N</a:t>
            </a:r>
            <a:r>
              <a:rPr lang="zh-CN" altLang="zh-CN" dirty="0"/>
              <a:t>为节点的总数。</a:t>
            </a:r>
            <a:endParaRPr lang="zh-CN" altLang="zh-CN" dirty="0"/>
          </a:p>
          <a:p>
            <a:endParaRPr lang="zh-CN" altLang="zh-CN" b="1" dirty="0"/>
          </a:p>
        </p:txBody>
      </p:sp>
      <p:grpSp>
        <p:nvGrpSpPr>
          <p:cNvPr id="6" name="组合 1458"/>
          <p:cNvGrpSpPr/>
          <p:nvPr/>
        </p:nvGrpSpPr>
        <p:grpSpPr bwMode="auto">
          <a:xfrm>
            <a:off x="8932985" y="2940368"/>
            <a:ext cx="2420815" cy="2799250"/>
            <a:chOff x="7380" y="1925829"/>
            <a:chExt cx="2144" cy="1949"/>
          </a:xfrm>
        </p:grpSpPr>
        <p:grpSp>
          <p:nvGrpSpPr>
            <p:cNvPr id="7" name="组合 1442"/>
            <p:cNvGrpSpPr/>
            <p:nvPr/>
          </p:nvGrpSpPr>
          <p:grpSpPr bwMode="auto">
            <a:xfrm>
              <a:off x="7680" y="1925854"/>
              <a:ext cx="1679" cy="1739"/>
              <a:chOff x="7680" y="1925854"/>
              <a:chExt cx="1679" cy="1739"/>
            </a:xfrm>
          </p:grpSpPr>
          <p:sp>
            <p:nvSpPr>
              <p:cNvPr id="12" name="椭圆 1172"/>
              <p:cNvSpPr>
                <a:spLocks noChangeArrowheads="1"/>
              </p:cNvSpPr>
              <p:nvPr/>
            </p:nvSpPr>
            <p:spPr bwMode="auto">
              <a:xfrm>
                <a:off x="7680" y="1925854"/>
                <a:ext cx="165" cy="165"/>
              </a:xfrm>
              <a:prstGeom prst="ellipse">
                <a:avLst/>
              </a:prstGeom>
              <a:noFill/>
              <a:ln w="12700" algn="ctr">
                <a:solidFill>
                  <a:srgbClr val="8D0C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p>
                <a:endParaRPr lang="zh-CN" altLang="en-US"/>
              </a:p>
            </p:txBody>
          </p:sp>
          <p:sp>
            <p:nvSpPr>
              <p:cNvPr id="13" name="椭圆 1173"/>
              <p:cNvSpPr>
                <a:spLocks noChangeArrowheads="1"/>
              </p:cNvSpPr>
              <p:nvPr/>
            </p:nvSpPr>
            <p:spPr bwMode="auto">
              <a:xfrm>
                <a:off x="8625" y="1926094"/>
                <a:ext cx="165" cy="165"/>
              </a:xfrm>
              <a:prstGeom prst="ellipse">
                <a:avLst/>
              </a:prstGeom>
              <a:noFill/>
              <a:ln w="12700" algn="ctr">
                <a:solidFill>
                  <a:srgbClr val="8D0C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p>
                <a:endParaRPr lang="zh-CN" altLang="en-US"/>
              </a:p>
            </p:txBody>
          </p:sp>
          <p:sp>
            <p:nvSpPr>
              <p:cNvPr id="14" name="椭圆 1190"/>
              <p:cNvSpPr>
                <a:spLocks noChangeArrowheads="1"/>
              </p:cNvSpPr>
              <p:nvPr/>
            </p:nvSpPr>
            <p:spPr bwMode="auto">
              <a:xfrm>
                <a:off x="9195" y="1926514"/>
                <a:ext cx="165" cy="165"/>
              </a:xfrm>
              <a:prstGeom prst="ellipse">
                <a:avLst/>
              </a:prstGeom>
              <a:noFill/>
              <a:ln w="12700" algn="ctr">
                <a:solidFill>
                  <a:srgbClr val="8D0C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p>
                <a:endParaRPr lang="zh-CN" altLang="en-US"/>
              </a:p>
            </p:txBody>
          </p:sp>
          <p:sp>
            <p:nvSpPr>
              <p:cNvPr id="15" name="椭圆 1196"/>
              <p:cNvSpPr>
                <a:spLocks noChangeArrowheads="1"/>
              </p:cNvSpPr>
              <p:nvPr/>
            </p:nvSpPr>
            <p:spPr bwMode="auto">
              <a:xfrm>
                <a:off x="7860" y="1926874"/>
                <a:ext cx="165" cy="165"/>
              </a:xfrm>
              <a:prstGeom prst="ellipse">
                <a:avLst/>
              </a:prstGeom>
              <a:noFill/>
              <a:ln w="12700" algn="ctr">
                <a:solidFill>
                  <a:srgbClr val="8D0C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p>
                <a:endParaRPr lang="zh-CN" altLang="en-US"/>
              </a:p>
            </p:txBody>
          </p:sp>
          <p:sp>
            <p:nvSpPr>
              <p:cNvPr id="16" name="椭圆 1197"/>
              <p:cNvSpPr>
                <a:spLocks noChangeArrowheads="1"/>
              </p:cNvSpPr>
              <p:nvPr/>
            </p:nvSpPr>
            <p:spPr bwMode="auto">
              <a:xfrm>
                <a:off x="7995" y="1927429"/>
                <a:ext cx="165" cy="165"/>
              </a:xfrm>
              <a:prstGeom prst="ellipse">
                <a:avLst/>
              </a:prstGeom>
              <a:solidFill>
                <a:srgbClr val="8D0C00"/>
              </a:solidFill>
              <a:ln w="12700" algn="ctr">
                <a:solidFill>
                  <a:srgbClr val="8D0C00"/>
                </a:solidFill>
                <a:miter lim="800000"/>
              </a:ln>
            </p:spPr>
            <p:txBody>
              <a:bodyPr vert="horz" wrap="square" lIns="91440" tIns="45720" rIns="91440" bIns="45720" numCol="1" anchor="ctr" anchorCtr="0" compatLnSpc="1"/>
              <a:lstStyle/>
              <a:p>
                <a:endParaRPr lang="zh-CN" altLang="en-US"/>
              </a:p>
            </p:txBody>
          </p:sp>
          <p:sp>
            <p:nvSpPr>
              <p:cNvPr id="17" name="直接连接符 1427"/>
              <p:cNvSpPr>
                <a:spLocks noChangeShapeType="1"/>
              </p:cNvSpPr>
              <p:nvPr/>
            </p:nvSpPr>
            <p:spPr bwMode="auto">
              <a:xfrm>
                <a:off x="7845" y="1925967"/>
                <a:ext cx="780" cy="203"/>
              </a:xfrm>
              <a:prstGeom prst="line">
                <a:avLst/>
              </a:prstGeom>
              <a:noFill/>
              <a:ln w="6350" algn="ctr">
                <a:solidFill>
                  <a:srgbClr val="8D0C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8" name="直接连接符 1429"/>
              <p:cNvSpPr>
                <a:spLocks noChangeShapeType="1"/>
              </p:cNvSpPr>
              <p:nvPr/>
            </p:nvSpPr>
            <p:spPr bwMode="auto">
              <a:xfrm>
                <a:off x="8766" y="1926235"/>
                <a:ext cx="453" cy="303"/>
              </a:xfrm>
              <a:prstGeom prst="line">
                <a:avLst/>
              </a:prstGeom>
              <a:noFill/>
              <a:ln w="6350" algn="ctr">
                <a:solidFill>
                  <a:srgbClr val="8D0C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9" name="直接连接符 1433"/>
              <p:cNvSpPr>
                <a:spLocks noChangeShapeType="1"/>
              </p:cNvSpPr>
              <p:nvPr/>
            </p:nvSpPr>
            <p:spPr bwMode="auto">
              <a:xfrm flipV="1">
                <a:off x="8025" y="1926612"/>
                <a:ext cx="1185" cy="345"/>
              </a:xfrm>
              <a:prstGeom prst="line">
                <a:avLst/>
              </a:prstGeom>
              <a:noFill/>
              <a:ln w="6350" algn="ctr">
                <a:solidFill>
                  <a:srgbClr val="8D0C00"/>
                </a:solidFill>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sp>
          <p:nvSpPr>
            <p:cNvPr id="8" name="文本框 1451"/>
            <p:cNvSpPr txBox="1">
              <a:spLocks noChangeArrowheads="1"/>
            </p:cNvSpPr>
            <p:nvPr/>
          </p:nvSpPr>
          <p:spPr bwMode="auto">
            <a:xfrm>
              <a:off x="8115" y="1927284"/>
              <a:ext cx="870" cy="495"/>
            </a:xfrm>
            <a:prstGeom prst="rect">
              <a:avLst/>
            </a:prstGeom>
            <a:noFill/>
            <a:ln w="6350">
              <a:solidFill>
                <a:srgbClr val="000000">
                  <a:alpha val="0"/>
                </a:srgbClr>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rgbClr val="000000"/>
                  </a:solidFill>
                  <a:effectLst/>
                  <a:latin typeface="等线" panose="02010600030101010101" charset="-122"/>
                  <a:ea typeface="等线" panose="02010600030101010101" charset="-122"/>
                </a:rPr>
                <a:t>Sink</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 name="文本框 1453"/>
            <p:cNvSpPr txBox="1">
              <a:spLocks noChangeArrowheads="1"/>
            </p:cNvSpPr>
            <p:nvPr/>
          </p:nvSpPr>
          <p:spPr bwMode="auto">
            <a:xfrm>
              <a:off x="7875" y="1926534"/>
              <a:ext cx="555" cy="495"/>
            </a:xfrm>
            <a:prstGeom prst="rect">
              <a:avLst/>
            </a:prstGeom>
            <a:noFill/>
            <a:ln w="6350">
              <a:solidFill>
                <a:srgbClr val="000000">
                  <a:alpha val="0"/>
                </a:srgbClr>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rgbClr val="000000"/>
                  </a:solidFill>
                  <a:effectLst/>
                  <a:latin typeface="等线" panose="02010600030101010101" charset="-122"/>
                  <a:ea typeface="等线" panose="02010600030101010101" charset="-122"/>
                </a:rPr>
                <a:t>2</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0" name="文本框 1454"/>
            <p:cNvSpPr txBox="1">
              <a:spLocks noChangeArrowheads="1"/>
            </p:cNvSpPr>
            <p:nvPr/>
          </p:nvSpPr>
          <p:spPr bwMode="auto">
            <a:xfrm>
              <a:off x="8970" y="1926564"/>
              <a:ext cx="555" cy="495"/>
            </a:xfrm>
            <a:prstGeom prst="rect">
              <a:avLst/>
            </a:prstGeom>
            <a:noFill/>
            <a:ln w="6350">
              <a:solidFill>
                <a:srgbClr val="000000">
                  <a:alpha val="0"/>
                </a:srgbClr>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rgbClr val="000000"/>
                  </a:solidFill>
                  <a:effectLst/>
                  <a:latin typeface="等线" panose="02010600030101010101" charset="-122"/>
                  <a:ea typeface="等线" panose="02010600030101010101" charset="-122"/>
                </a:rPr>
                <a:t>1</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 name="文本框 1455"/>
            <p:cNvSpPr txBox="1">
              <a:spLocks noChangeArrowheads="1"/>
            </p:cNvSpPr>
            <p:nvPr/>
          </p:nvSpPr>
          <p:spPr bwMode="auto">
            <a:xfrm>
              <a:off x="8310" y="1926054"/>
              <a:ext cx="555" cy="495"/>
            </a:xfrm>
            <a:prstGeom prst="rect">
              <a:avLst/>
            </a:prstGeom>
            <a:noFill/>
            <a:ln w="6350">
              <a:solidFill>
                <a:srgbClr val="000000">
                  <a:alpha val="0"/>
                </a:srgbClr>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smtClean="0">
                  <a:ln>
                    <a:noFill/>
                  </a:ln>
                  <a:solidFill>
                    <a:srgbClr val="000000"/>
                  </a:solidFill>
                  <a:effectLst/>
                  <a:latin typeface="等线" panose="02010600030101010101" charset="-122"/>
                  <a:ea typeface="等线" panose="02010600030101010101" charset="-122"/>
                </a:rPr>
                <a:t>3</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grpSp>
      <p:sp>
        <p:nvSpPr>
          <p:cNvPr id="20" name="矩形 19"/>
          <p:cNvSpPr/>
          <p:nvPr/>
        </p:nvSpPr>
        <p:spPr>
          <a:xfrm>
            <a:off x="8584357" y="6020541"/>
            <a:ext cx="3339376"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5-3-4  </a:t>
            </a:r>
            <a:r>
              <a:rPr lang="zh-CN" altLang="zh-CN" kern="100" dirty="0">
                <a:latin typeface="Times New Roman" panose="02020603050405020304" charset="0"/>
                <a:ea typeface="宋体" panose="02010600030101010101" pitchFamily="2" charset="-122"/>
                <a:cs typeface="Times New Roman" panose="02020603050405020304" charset="0"/>
              </a:rPr>
              <a:t>基于贪婪算法的链构造</a:t>
            </a:r>
            <a:endParaRPr lang="zh-CN" altLang="en-US" dirty="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5.3.5  PEGASIS</a:t>
            </a:r>
            <a:r>
              <a:rPr lang="zh-CN" altLang="zh-CN" b="1" dirty="0"/>
              <a:t>路由</a:t>
            </a:r>
            <a:r>
              <a:rPr lang="en-US" altLang="zh-CN" b="1" dirty="0" err="1" smtClean="0"/>
              <a:t>协议</a:t>
            </a:r>
            <a:endParaRPr lang="en-US" altLang="zh-CN" b="1" dirty="0" smtClean="0"/>
          </a:p>
          <a:p>
            <a:r>
              <a:rPr lang="en-US" altLang="zh-CN" dirty="0"/>
              <a:t>2</a:t>
            </a:r>
            <a:r>
              <a:rPr lang="zh-CN" altLang="zh-CN" dirty="0"/>
              <a:t>）数据传输</a:t>
            </a:r>
            <a:endParaRPr lang="zh-CN" altLang="zh-CN" dirty="0"/>
          </a:p>
          <a:p>
            <a:r>
              <a:rPr lang="en-US" altLang="zh-CN" dirty="0"/>
              <a:t>PEGASIS</a:t>
            </a:r>
            <a:r>
              <a:rPr lang="zh-CN" altLang="zh-CN" dirty="0"/>
              <a:t>使用令牌消息（</a:t>
            </a:r>
            <a:r>
              <a:rPr lang="en-US" altLang="zh-CN" dirty="0"/>
              <a:t>Token</a:t>
            </a:r>
            <a:r>
              <a:rPr lang="zh-CN" altLang="zh-CN" dirty="0"/>
              <a:t>）来控制数据传输，令牌消息一般很小，带来的开销也较小</a:t>
            </a:r>
            <a:r>
              <a:rPr lang="zh-CN" altLang="zh-CN" dirty="0" smtClean="0"/>
              <a:t>。</a:t>
            </a:r>
            <a:endParaRPr lang="en-US" altLang="zh-CN" dirty="0" smtClean="0"/>
          </a:p>
          <a:p>
            <a:endParaRPr lang="zh-CN" altLang="zh-CN" b="1"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46323" y="4034515"/>
            <a:ext cx="3007477" cy="1160246"/>
          </a:xfrm>
          <a:prstGeom prst="rect">
            <a:avLst/>
          </a:prstGeom>
        </p:spPr>
      </p:pic>
      <p:sp>
        <p:nvSpPr>
          <p:cNvPr id="5" name="矩形 4"/>
          <p:cNvSpPr/>
          <p:nvPr/>
        </p:nvSpPr>
        <p:spPr>
          <a:xfrm>
            <a:off x="8812863" y="5194761"/>
            <a:ext cx="2416046"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5-3-5  </a:t>
            </a:r>
            <a:r>
              <a:rPr lang="zh-CN" altLang="zh-CN" kern="100" dirty="0">
                <a:latin typeface="Times New Roman" panose="02020603050405020304" charset="0"/>
                <a:ea typeface="宋体" panose="02010600030101010101" pitchFamily="2" charset="-122"/>
                <a:cs typeface="Times New Roman" panose="02020603050405020304" charset="0"/>
              </a:rPr>
              <a:t>令牌传递过程</a:t>
            </a:r>
            <a:endParaRPr lang="zh-CN" altLang="en-US" dirty="0"/>
          </a:p>
        </p:txBody>
      </p:sp>
      <p:sp>
        <p:nvSpPr>
          <p:cNvPr id="7" name="标题 6"/>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a:xfrm>
            <a:off x="838201" y="1825625"/>
            <a:ext cx="8210724" cy="4351655"/>
          </a:xfrm>
        </p:spPr>
        <p:txBody>
          <a:bodyPr>
            <a:normAutofit fontScale="92500" lnSpcReduction="20000"/>
          </a:bodyPr>
          <a:lstStyle/>
          <a:p>
            <a:r>
              <a:rPr lang="en-US" altLang="zh-CN" b="1" dirty="0"/>
              <a:t>5.3.5  PEGASIS</a:t>
            </a:r>
            <a:r>
              <a:rPr lang="zh-CN" altLang="zh-CN" b="1" dirty="0"/>
              <a:t>路由</a:t>
            </a:r>
            <a:r>
              <a:rPr lang="en-US" altLang="zh-CN" b="1" dirty="0" err="1" smtClean="0"/>
              <a:t>协议</a:t>
            </a:r>
            <a:endParaRPr lang="en-US" altLang="zh-CN" b="1" dirty="0" smtClean="0"/>
          </a:p>
          <a:p>
            <a:r>
              <a:rPr lang="en-US" altLang="zh-CN" dirty="0"/>
              <a:t>2</a:t>
            </a:r>
            <a:r>
              <a:rPr lang="zh-CN" altLang="zh-CN" dirty="0"/>
              <a:t>）数据传输</a:t>
            </a:r>
            <a:endParaRPr lang="zh-CN" altLang="zh-CN" dirty="0"/>
          </a:p>
          <a:p>
            <a:r>
              <a:rPr lang="zh-CN" altLang="zh-CN" dirty="0" smtClean="0"/>
              <a:t>如图，</a:t>
            </a:r>
            <a:r>
              <a:rPr lang="zh-CN" altLang="zh-CN" dirty="0"/>
              <a:t>节点</a:t>
            </a:r>
            <a:r>
              <a:rPr lang="en-US" altLang="zh-CN" dirty="0"/>
              <a:t>c</a:t>
            </a:r>
            <a:r>
              <a:rPr lang="en-US" altLang="zh-CN" baseline="-25000" dirty="0"/>
              <a:t>2</a:t>
            </a:r>
            <a:r>
              <a:rPr lang="zh-CN" altLang="zh-CN" dirty="0"/>
              <a:t>为</a:t>
            </a:r>
            <a:r>
              <a:rPr lang="zh-CN" altLang="zh-CN" dirty="0" smtClean="0"/>
              <a:t>本轮簇</a:t>
            </a:r>
            <a:r>
              <a:rPr lang="zh-CN" altLang="zh-CN" dirty="0"/>
              <a:t>头节点</a:t>
            </a:r>
            <a:r>
              <a:rPr lang="zh-CN" altLang="zh-CN" dirty="0" smtClean="0"/>
              <a:t>，</a:t>
            </a:r>
            <a:endParaRPr lang="en-US" altLang="zh-CN" dirty="0" smtClean="0"/>
          </a:p>
          <a:p>
            <a:r>
              <a:rPr lang="zh-CN" altLang="en-US" dirty="0" smtClean="0"/>
              <a:t>左链：令牌消息：</a:t>
            </a:r>
            <a:r>
              <a:rPr lang="en-US" altLang="zh-CN" dirty="0" smtClean="0"/>
              <a:t>C2-&gt;C1-&gt;C0</a:t>
            </a:r>
            <a:r>
              <a:rPr lang="zh-CN" altLang="zh-CN" dirty="0" smtClean="0"/>
              <a:t>。</a:t>
            </a:r>
            <a:r>
              <a:rPr lang="zh-CN" altLang="en-US" dirty="0" smtClean="0"/>
              <a:t>数据：</a:t>
            </a:r>
            <a:r>
              <a:rPr lang="en-US" altLang="zh-CN" dirty="0" smtClean="0"/>
              <a:t>C0-&gt;C1</a:t>
            </a:r>
            <a:r>
              <a:rPr lang="zh-CN" altLang="zh-CN" dirty="0" smtClean="0"/>
              <a:t>，</a:t>
            </a:r>
            <a:r>
              <a:rPr lang="en-US" altLang="zh-CN" dirty="0" smtClean="0"/>
              <a:t>C1</a:t>
            </a:r>
            <a:r>
              <a:rPr lang="zh-CN" altLang="en-US" dirty="0" smtClean="0"/>
              <a:t>数据融合</a:t>
            </a:r>
            <a:r>
              <a:rPr lang="en-US" altLang="zh-CN" dirty="0" smtClean="0"/>
              <a:t>C0</a:t>
            </a:r>
            <a:r>
              <a:rPr lang="zh-CN" altLang="en-US" dirty="0" smtClean="0"/>
              <a:t>数据</a:t>
            </a:r>
            <a:r>
              <a:rPr lang="en-US" altLang="zh-CN" dirty="0" smtClean="0"/>
              <a:t>-&gt;C2</a:t>
            </a:r>
            <a:r>
              <a:rPr lang="zh-CN" altLang="zh-CN" dirty="0" smtClean="0"/>
              <a:t>；</a:t>
            </a:r>
            <a:endParaRPr lang="en-US" altLang="zh-CN" dirty="0" smtClean="0"/>
          </a:p>
          <a:p>
            <a:r>
              <a:rPr lang="zh-CN" altLang="en-US" dirty="0" smtClean="0"/>
              <a:t>右链：</a:t>
            </a:r>
            <a:r>
              <a:rPr lang="zh-CN" altLang="zh-CN" dirty="0"/>
              <a:t>令牌</a:t>
            </a:r>
            <a:r>
              <a:rPr lang="zh-CN" altLang="zh-CN" dirty="0" smtClean="0"/>
              <a:t>消息</a:t>
            </a:r>
            <a:r>
              <a:rPr lang="zh-CN" altLang="en-US" dirty="0" smtClean="0"/>
              <a:t>：</a:t>
            </a:r>
            <a:r>
              <a:rPr lang="en-US" altLang="zh-CN" dirty="0" smtClean="0"/>
              <a:t>C2-&gt;C3-C4</a:t>
            </a:r>
            <a:r>
              <a:rPr lang="zh-CN" altLang="en-US" dirty="0" smtClean="0"/>
              <a:t>。数据：</a:t>
            </a:r>
            <a:r>
              <a:rPr lang="en-US" altLang="zh-CN" dirty="0" smtClean="0"/>
              <a:t>C4-&gt;C3,C3</a:t>
            </a:r>
            <a:r>
              <a:rPr lang="zh-CN" altLang="en-US" dirty="0" smtClean="0"/>
              <a:t>数据融合</a:t>
            </a:r>
            <a:r>
              <a:rPr lang="en-US" altLang="zh-CN" dirty="0" smtClean="0"/>
              <a:t>C4</a:t>
            </a:r>
            <a:r>
              <a:rPr lang="zh-CN" altLang="en-US" dirty="0" smtClean="0"/>
              <a:t>数据</a:t>
            </a:r>
            <a:r>
              <a:rPr lang="en-US" altLang="zh-CN" dirty="0" smtClean="0"/>
              <a:t>-&gt;C2;</a:t>
            </a:r>
            <a:endParaRPr lang="en-US" altLang="zh-CN" dirty="0" smtClean="0"/>
          </a:p>
          <a:p>
            <a:r>
              <a:rPr lang="zh-CN" altLang="en-US" dirty="0" smtClean="0"/>
              <a:t>融合：</a:t>
            </a:r>
            <a:r>
              <a:rPr lang="zh-CN" altLang="zh-CN" dirty="0" smtClean="0"/>
              <a:t>节点</a:t>
            </a:r>
            <a:r>
              <a:rPr lang="en-US" altLang="zh-CN" dirty="0" smtClean="0"/>
              <a:t>C2</a:t>
            </a:r>
            <a:r>
              <a:rPr lang="zh-CN" altLang="zh-CN" dirty="0" smtClean="0"/>
              <a:t>将</a:t>
            </a:r>
            <a:r>
              <a:rPr lang="en-US" altLang="zh-CN" dirty="0" smtClean="0"/>
              <a:t>C1</a:t>
            </a:r>
            <a:r>
              <a:rPr lang="zh-CN" altLang="zh-CN" dirty="0" smtClean="0"/>
              <a:t>、</a:t>
            </a:r>
            <a:r>
              <a:rPr lang="en-US" altLang="zh-CN" dirty="0" smtClean="0"/>
              <a:t>C3</a:t>
            </a:r>
            <a:r>
              <a:rPr lang="zh-CN" altLang="zh-CN" dirty="0" smtClean="0"/>
              <a:t>发送</a:t>
            </a:r>
            <a:r>
              <a:rPr lang="zh-CN" altLang="zh-CN" dirty="0"/>
              <a:t>过来的数据和自己的数据融合，并将结果发送</a:t>
            </a:r>
            <a:r>
              <a:rPr lang="zh-CN" altLang="zh-CN" dirty="0" smtClean="0"/>
              <a:t>给</a:t>
            </a:r>
            <a:r>
              <a:rPr lang="en-US" altLang="zh-CN" dirty="0" smtClean="0"/>
              <a:t>SINK</a:t>
            </a:r>
            <a:r>
              <a:rPr lang="zh-CN" altLang="zh-CN" dirty="0" smtClean="0"/>
              <a:t>。</a:t>
            </a:r>
            <a:endParaRPr lang="en-US" altLang="zh-CN" dirty="0" smtClean="0"/>
          </a:p>
          <a:p>
            <a:r>
              <a:rPr lang="zh-CN" altLang="zh-CN" dirty="0" smtClean="0"/>
              <a:t>可以</a:t>
            </a:r>
            <a:r>
              <a:rPr lang="zh-CN" altLang="zh-CN" dirty="0"/>
              <a:t>设置一个阈值</a:t>
            </a:r>
            <a:r>
              <a:rPr lang="zh-CN" altLang="zh-CN" dirty="0" smtClean="0"/>
              <a:t>，当</a:t>
            </a:r>
            <a:r>
              <a:rPr lang="zh-CN" altLang="zh-CN" dirty="0"/>
              <a:t>节点和邻居节点的</a:t>
            </a:r>
            <a:r>
              <a:rPr lang="zh-CN" altLang="zh-CN" dirty="0">
                <a:solidFill>
                  <a:srgbClr val="FF0000"/>
                </a:solidFill>
              </a:rPr>
              <a:t>距离</a:t>
            </a:r>
            <a:r>
              <a:rPr lang="zh-CN" altLang="zh-CN" dirty="0" smtClean="0">
                <a:solidFill>
                  <a:srgbClr val="FF0000"/>
                </a:solidFill>
              </a:rPr>
              <a:t>大于阈值</a:t>
            </a:r>
            <a:r>
              <a:rPr lang="zh-CN" altLang="zh-CN" dirty="0" smtClean="0"/>
              <a:t>时，</a:t>
            </a:r>
            <a:r>
              <a:rPr lang="zh-CN" altLang="zh-CN" dirty="0"/>
              <a:t>该节点就不能成为簇头节点</a:t>
            </a:r>
            <a:r>
              <a:rPr lang="zh-CN" altLang="zh-CN" dirty="0" smtClean="0"/>
              <a:t>。</a:t>
            </a:r>
            <a:endParaRPr lang="zh-CN" altLang="zh-CN" dirty="0"/>
          </a:p>
          <a:p>
            <a:endParaRPr lang="zh-CN" altLang="zh-CN" b="1"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84523" y="2841206"/>
            <a:ext cx="3007477" cy="1160246"/>
          </a:xfrm>
          <a:prstGeom prst="rect">
            <a:avLst/>
          </a:prstGeom>
        </p:spPr>
      </p:pic>
      <p:sp>
        <p:nvSpPr>
          <p:cNvPr id="5" name="矩形 4"/>
          <p:cNvSpPr/>
          <p:nvPr/>
        </p:nvSpPr>
        <p:spPr>
          <a:xfrm>
            <a:off x="9361504" y="4510425"/>
            <a:ext cx="2416046"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5-3-5  </a:t>
            </a:r>
            <a:r>
              <a:rPr lang="zh-CN" altLang="zh-CN" kern="100" dirty="0">
                <a:latin typeface="Times New Roman" panose="02020603050405020304" charset="0"/>
                <a:ea typeface="宋体" panose="02010600030101010101" pitchFamily="2" charset="-122"/>
                <a:cs typeface="Times New Roman" panose="02020603050405020304" charset="0"/>
              </a:rPr>
              <a:t>令牌传递过程</a:t>
            </a:r>
            <a:endParaRPr lang="zh-CN" altLang="en-US" dirty="0"/>
          </a:p>
        </p:txBody>
      </p:sp>
      <p:sp>
        <p:nvSpPr>
          <p:cNvPr id="7" name="标题 6"/>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5.3.5  PEGASIS</a:t>
            </a:r>
            <a:r>
              <a:rPr lang="zh-CN" altLang="zh-CN" b="1" dirty="0"/>
              <a:t>路由</a:t>
            </a:r>
            <a:r>
              <a:rPr lang="en-US" altLang="zh-CN" b="1" dirty="0" err="1" smtClean="0"/>
              <a:t>协议</a:t>
            </a:r>
            <a:endParaRPr lang="en-US" altLang="zh-CN" b="1" dirty="0" smtClean="0"/>
          </a:p>
          <a:p>
            <a:r>
              <a:rPr lang="zh-CN" altLang="en-US" dirty="0" smtClean="0"/>
              <a:t>优点：</a:t>
            </a:r>
            <a:r>
              <a:rPr lang="en-US" altLang="zh-CN" dirty="0" smtClean="0"/>
              <a:t>PEGASIS</a:t>
            </a:r>
            <a:r>
              <a:rPr lang="zh-CN" altLang="en-US" dirty="0"/>
              <a:t>比</a:t>
            </a:r>
            <a:r>
              <a:rPr lang="en-US" altLang="zh-CN" dirty="0" smtClean="0"/>
              <a:t>LEACH</a:t>
            </a:r>
            <a:r>
              <a:rPr lang="zh-CN" altLang="en-US" dirty="0" smtClean="0"/>
              <a:t>更能</a:t>
            </a:r>
            <a:r>
              <a:rPr lang="zh-CN" altLang="zh-CN" dirty="0" smtClean="0">
                <a:solidFill>
                  <a:srgbClr val="FF0000"/>
                </a:solidFill>
              </a:rPr>
              <a:t>节省能量</a:t>
            </a:r>
            <a:endParaRPr lang="en-US" altLang="zh-CN" dirty="0" smtClean="0">
              <a:solidFill>
                <a:srgbClr val="FF0000"/>
              </a:solidFill>
            </a:endParaRPr>
          </a:p>
          <a:p>
            <a:pPr lvl="1"/>
            <a:r>
              <a:rPr lang="zh-CN" altLang="zh-CN" dirty="0" smtClean="0"/>
              <a:t>更换</a:t>
            </a:r>
            <a:r>
              <a:rPr lang="zh-CN" altLang="zh-CN" dirty="0"/>
              <a:t>簇头后</a:t>
            </a:r>
            <a:r>
              <a:rPr lang="zh-CN" altLang="zh-CN" dirty="0" smtClean="0">
                <a:solidFill>
                  <a:srgbClr val="FF0000"/>
                </a:solidFill>
              </a:rPr>
              <a:t>不会广播</a:t>
            </a:r>
            <a:r>
              <a:rPr lang="zh-CN" altLang="zh-CN" dirty="0"/>
              <a:t>告知网络中的其余节点</a:t>
            </a:r>
            <a:r>
              <a:rPr lang="zh-CN" altLang="zh-CN" dirty="0" smtClean="0"/>
              <a:t>；</a:t>
            </a:r>
            <a:endParaRPr lang="en-US" altLang="zh-CN" dirty="0"/>
          </a:p>
          <a:p>
            <a:pPr lvl="1"/>
            <a:r>
              <a:rPr lang="zh-CN" altLang="zh-CN" dirty="0" smtClean="0"/>
              <a:t>节点</a:t>
            </a:r>
            <a:r>
              <a:rPr lang="zh-CN" altLang="zh-CN" dirty="0"/>
              <a:t>将数据</a:t>
            </a:r>
            <a:r>
              <a:rPr lang="zh-CN" altLang="zh-CN" dirty="0">
                <a:solidFill>
                  <a:srgbClr val="FF0000"/>
                </a:solidFill>
              </a:rPr>
              <a:t>发送给邻居</a:t>
            </a:r>
            <a:r>
              <a:rPr lang="zh-CN" altLang="zh-CN" dirty="0" smtClean="0">
                <a:solidFill>
                  <a:srgbClr val="FF0000"/>
                </a:solidFill>
              </a:rPr>
              <a:t>节点</a:t>
            </a:r>
            <a:r>
              <a:rPr lang="zh-CN" altLang="en-US" dirty="0" smtClean="0"/>
              <a:t>而非</a:t>
            </a:r>
            <a:r>
              <a:rPr lang="zh-CN" altLang="zh-CN" dirty="0" smtClean="0"/>
              <a:t>簇</a:t>
            </a:r>
            <a:r>
              <a:rPr lang="zh-CN" altLang="zh-CN" dirty="0"/>
              <a:t>头节</a:t>
            </a:r>
            <a:r>
              <a:rPr lang="zh-CN" altLang="zh-CN" dirty="0" smtClean="0"/>
              <a:t>点</a:t>
            </a:r>
            <a:r>
              <a:rPr lang="zh-CN" altLang="en-US" dirty="0" smtClean="0"/>
              <a:t>，</a:t>
            </a:r>
            <a:r>
              <a:rPr lang="zh-CN" altLang="zh-CN" dirty="0" smtClean="0"/>
              <a:t>传输</a:t>
            </a:r>
            <a:r>
              <a:rPr lang="zh-CN" altLang="zh-CN" dirty="0"/>
              <a:t>距离要小</a:t>
            </a:r>
            <a:r>
              <a:rPr lang="zh-CN" altLang="zh-CN" dirty="0" smtClean="0"/>
              <a:t>；</a:t>
            </a:r>
            <a:endParaRPr lang="en-US" altLang="zh-CN" dirty="0" smtClean="0"/>
          </a:p>
          <a:p>
            <a:pPr lvl="1"/>
            <a:r>
              <a:rPr lang="zh-CN" altLang="zh-CN" dirty="0" smtClean="0"/>
              <a:t>每</a:t>
            </a:r>
            <a:r>
              <a:rPr lang="zh-CN" altLang="zh-CN" dirty="0"/>
              <a:t>轮中</a:t>
            </a:r>
            <a:r>
              <a:rPr lang="zh-CN" altLang="zh-CN" dirty="0">
                <a:solidFill>
                  <a:srgbClr val="FF0000"/>
                </a:solidFill>
              </a:rPr>
              <a:t>只有一个簇头节</a:t>
            </a:r>
            <a:r>
              <a:rPr lang="zh-CN" altLang="zh-CN" dirty="0" smtClean="0">
                <a:solidFill>
                  <a:srgbClr val="FF0000"/>
                </a:solidFill>
              </a:rPr>
              <a:t>点</a:t>
            </a:r>
            <a:r>
              <a:rPr lang="zh-CN" altLang="en-US" dirty="0" smtClean="0"/>
              <a:t>而非</a:t>
            </a:r>
            <a:r>
              <a:rPr lang="zh-CN" altLang="zh-CN" dirty="0" smtClean="0"/>
              <a:t>多</a:t>
            </a:r>
            <a:r>
              <a:rPr lang="zh-CN" altLang="zh-CN" dirty="0"/>
              <a:t>个簇头节</a:t>
            </a:r>
            <a:r>
              <a:rPr lang="zh-CN" altLang="zh-CN" dirty="0" smtClean="0"/>
              <a:t>点</a:t>
            </a:r>
            <a:endParaRPr lang="en-US" altLang="zh-CN" dirty="0" smtClean="0"/>
          </a:p>
          <a:p>
            <a:pPr lvl="1"/>
            <a:r>
              <a:rPr lang="zh-CN" altLang="zh-CN" dirty="0" smtClean="0">
                <a:solidFill>
                  <a:srgbClr val="FF0000"/>
                </a:solidFill>
              </a:rPr>
              <a:t>簇</a:t>
            </a:r>
            <a:r>
              <a:rPr lang="zh-CN" altLang="zh-CN" dirty="0">
                <a:solidFill>
                  <a:srgbClr val="FF0000"/>
                </a:solidFill>
              </a:rPr>
              <a:t>头节点只需接收两个</a:t>
            </a:r>
            <a:r>
              <a:rPr lang="zh-CN" altLang="zh-CN" dirty="0" smtClean="0">
                <a:solidFill>
                  <a:srgbClr val="FF0000"/>
                </a:solidFill>
              </a:rPr>
              <a:t>节点数据</a:t>
            </a:r>
            <a:r>
              <a:rPr lang="zh-CN" altLang="zh-CN" dirty="0"/>
              <a:t>，而</a:t>
            </a:r>
            <a:r>
              <a:rPr lang="en-US" altLang="zh-CN" dirty="0"/>
              <a:t>LEACH</a:t>
            </a:r>
            <a:r>
              <a:rPr lang="zh-CN" altLang="zh-CN" dirty="0"/>
              <a:t>中簇</a:t>
            </a:r>
            <a:r>
              <a:rPr lang="zh-CN" altLang="zh-CN" dirty="0" smtClean="0"/>
              <a:t>头要</a:t>
            </a:r>
            <a:r>
              <a:rPr lang="zh-CN" altLang="zh-CN" dirty="0"/>
              <a:t>接收很多节点的数据</a:t>
            </a:r>
            <a:r>
              <a:rPr lang="zh-CN" altLang="zh-CN" dirty="0" smtClean="0"/>
              <a:t>。</a:t>
            </a:r>
            <a:endParaRPr lang="en-US" altLang="zh-CN" dirty="0" smtClean="0"/>
          </a:p>
          <a:p>
            <a:pPr lvl="0"/>
            <a:r>
              <a:rPr lang="zh-CN" altLang="en-US" dirty="0" smtClean="0"/>
              <a:t>不足：</a:t>
            </a:r>
            <a:endParaRPr lang="zh-CN" altLang="zh-CN" dirty="0"/>
          </a:p>
          <a:p>
            <a:pPr lvl="1"/>
            <a:r>
              <a:rPr lang="en-US" altLang="zh-CN" dirty="0"/>
              <a:t>PEGASIS</a:t>
            </a:r>
            <a:r>
              <a:rPr lang="zh-CN" altLang="zh-CN" dirty="0"/>
              <a:t>的</a:t>
            </a:r>
            <a:r>
              <a:rPr lang="zh-CN" altLang="zh-CN" dirty="0" smtClean="0">
                <a:solidFill>
                  <a:srgbClr val="FF0000"/>
                </a:solidFill>
              </a:rPr>
              <a:t>延迟</a:t>
            </a:r>
            <a:r>
              <a:rPr lang="zh-CN" altLang="en-US" dirty="0" smtClean="0">
                <a:solidFill>
                  <a:srgbClr val="FF0000"/>
                </a:solidFill>
              </a:rPr>
              <a:t>会比较大</a:t>
            </a:r>
            <a:r>
              <a:rPr lang="zh-CN" altLang="en-US" dirty="0" smtClean="0"/>
              <a:t>，</a:t>
            </a:r>
            <a:r>
              <a:rPr lang="zh-CN" altLang="zh-CN" dirty="0" smtClean="0"/>
              <a:t>簇头节点必须要等到链两边的数据到达后才能将数据发送给</a:t>
            </a:r>
            <a:r>
              <a:rPr lang="en-US" altLang="zh-CN" dirty="0" smtClean="0"/>
              <a:t>sink</a:t>
            </a:r>
            <a:r>
              <a:rPr lang="zh-CN" altLang="zh-CN" dirty="0" smtClean="0"/>
              <a:t>；</a:t>
            </a:r>
            <a:endParaRPr lang="en-US" altLang="zh-CN" dirty="0" smtClean="0"/>
          </a:p>
          <a:p>
            <a:pPr lvl="1"/>
            <a:r>
              <a:rPr lang="zh-CN" altLang="en-US" dirty="0" smtClean="0"/>
              <a:t>数据</a:t>
            </a:r>
            <a:r>
              <a:rPr lang="zh-CN" altLang="zh-CN" dirty="0" smtClean="0"/>
              <a:t>多次融合将导致</a:t>
            </a:r>
            <a:r>
              <a:rPr lang="en-US" altLang="zh-CN" dirty="0"/>
              <a:t>sink</a:t>
            </a:r>
            <a:r>
              <a:rPr lang="zh-CN" altLang="zh-CN" dirty="0"/>
              <a:t>接收到的</a:t>
            </a:r>
            <a:r>
              <a:rPr lang="zh-CN" altLang="zh-CN" dirty="0">
                <a:solidFill>
                  <a:srgbClr val="FF0000"/>
                </a:solidFill>
              </a:rPr>
              <a:t>数据可能不精确</a:t>
            </a:r>
            <a:r>
              <a:rPr lang="zh-CN" altLang="zh-CN" dirty="0"/>
              <a:t>。</a:t>
            </a:r>
            <a:endParaRPr lang="zh-CN" altLang="zh-CN" b="1" dirty="0"/>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5.3  层次型路由协议</a:t>
            </a:r>
            <a:endParaRPr lang="en-US" b="1" i="0" u="sng" strike="noStrike" baseline="0">
              <a:solidFill>
                <a:srgbClr val="316AAB"/>
              </a:solidFill>
              <a:uFillTx/>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1902460" y="331470"/>
            <a:ext cx="1733550" cy="855980"/>
          </a:xfrm>
          <a:prstGeom prst="rect">
            <a:avLst/>
          </a:prstGeom>
          <a:noFill/>
        </p:spPr>
        <p:txBody>
          <a:bodyPr wrap="square" lIns="91440" tIns="45720" rIns="91440" bIns="0" rtlCol="0" anchor="b" anchorCtr="0">
            <a:normAutofit/>
          </a:bodyPr>
          <a:lstStyle>
            <a:defPPr>
              <a:defRPr lang="zh-CN"/>
            </a:defPPr>
            <a:lvl1pPr>
              <a:defRPr sz="48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rPr>
              <a:t>目录</a:t>
            </a:r>
            <a:endParaRPr lang="zh-CN" altLang="en-US" b="0" dirty="0">
              <a:solidFill>
                <a:schemeClr val="tx1">
                  <a:lumMod val="85000"/>
                  <a:lumOff val="15000"/>
                </a:schemeClr>
              </a:solidFill>
              <a:latin typeface="黑体" panose="02010609060101010101" charset="-122"/>
              <a:ea typeface="黑体" panose="02010609060101010101" charset="-122"/>
              <a:sym typeface="Arial" panose="020B0604020202020204" pitchFamily="34" charset="0"/>
            </a:endParaRPr>
          </a:p>
        </p:txBody>
      </p:sp>
      <p:sp>
        <p:nvSpPr>
          <p:cNvPr id="100" name="文本框 99"/>
          <p:cNvSpPr txBox="1"/>
          <p:nvPr/>
        </p:nvSpPr>
        <p:spPr>
          <a:xfrm>
            <a:off x="546050" y="1307807"/>
            <a:ext cx="5535930" cy="5509200"/>
          </a:xfrm>
          <a:prstGeom prst="rect">
            <a:avLst/>
          </a:prstGeom>
          <a:noFill/>
          <a:ln w="9525">
            <a:noFill/>
          </a:ln>
        </p:spPr>
        <p:txBody>
          <a:bodyPr wrap="square">
            <a:spAutoFit/>
          </a:bodyPr>
          <a:lstStyle/>
          <a:p>
            <a:pPr indent="0"/>
            <a:r>
              <a:rPr lang="en-US" sz="2200" b="1" dirty="0">
                <a:latin typeface="Times New Roman" panose="02020603050405020304" charset="0"/>
                <a:ea typeface="宋体" panose="02010600030101010101" pitchFamily="2" charset="-122"/>
              </a:rPr>
              <a:t>5</a:t>
            </a:r>
            <a:r>
              <a:rPr lang="en-US" sz="2200" b="1" dirty="0" smtClean="0">
                <a:solidFill>
                  <a:schemeClr val="tx1"/>
                </a:solidFill>
                <a:uFillTx/>
                <a:latin typeface="Times New Roman" panose="02020603050405020304" charset="0"/>
                <a:ea typeface="宋体" panose="02010600030101010101" pitchFamily="2" charset="-122"/>
              </a:rPr>
              <a:t>.1</a:t>
            </a:r>
            <a:r>
              <a:rPr lang="zh-CN" altLang="en-US" sz="2200" b="1" dirty="0">
                <a:latin typeface="Times New Roman" panose="02020603050405020304" charset="0"/>
                <a:ea typeface="宋体" panose="02010600030101010101" pitchFamily="2" charset="-122"/>
              </a:rPr>
              <a:t>路由协议概述</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5.1.1   </a:t>
            </a:r>
            <a:r>
              <a:rPr lang="zh-CN" altLang="en-US" sz="2200" b="1" dirty="0" smtClean="0">
                <a:latin typeface="Times New Roman" panose="02020603050405020304" charset="0"/>
                <a:ea typeface="宋体" panose="02010600030101010101" pitchFamily="2" charset="-122"/>
              </a:rPr>
              <a:t>网络层</a:t>
            </a:r>
            <a:r>
              <a:rPr lang="zh-CN" altLang="en-US" sz="2200" b="1" dirty="0">
                <a:latin typeface="Times New Roman" panose="02020603050405020304" charset="0"/>
                <a:ea typeface="宋体" panose="02010600030101010101" pitchFamily="2" charset="-122"/>
              </a:rPr>
              <a:t>的服务实体</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5.1.2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协议的基本问题</a:t>
            </a:r>
            <a:r>
              <a:rPr lang="en-US" sz="2200" b="1" dirty="0" smtClean="0">
                <a:solidFill>
                  <a:schemeClr val="tx1"/>
                </a:solidFill>
                <a:uFillTx/>
                <a:latin typeface="Times New Roman" panose="02020603050405020304" charset="0"/>
                <a:ea typeface="宋体" panose="02010600030101010101" pitchFamily="2" charset="-122"/>
              </a:rPr>
              <a:t>	</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rPr>
              <a:t>   5.1.3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的</a:t>
            </a:r>
            <a:r>
              <a:rPr lang="zh-CN" altLang="en-US" sz="2200" b="1" dirty="0" smtClean="0">
                <a:latin typeface="Times New Roman" panose="02020603050405020304" charset="0"/>
                <a:ea typeface="宋体" panose="02010600030101010101" pitchFamily="2" charset="-122"/>
              </a:rPr>
              <a:t>过程</a:t>
            </a:r>
            <a:endParaRPr lang="en-US" altLang="zh-CN" sz="2200" b="1" dirty="0" smtClean="0">
              <a:latin typeface="Times New Roman" panose="02020603050405020304" charset="0"/>
              <a:ea typeface="宋体" panose="02010600030101010101" pitchFamily="2" charset="-122"/>
            </a:endParaRPr>
          </a:p>
          <a:p>
            <a:pPr indent="0"/>
            <a:r>
              <a:rPr lang="zh-CN" altLang="en-US"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5.1.4   </a:t>
            </a:r>
            <a:r>
              <a:rPr lang="zh-CN" altLang="en-US" sz="2200" b="1" dirty="0" smtClean="0">
                <a:latin typeface="Times New Roman" panose="02020603050405020304" charset="0"/>
                <a:ea typeface="宋体" panose="02010600030101010101" pitchFamily="2" charset="-122"/>
              </a:rPr>
              <a:t>传感器</a:t>
            </a:r>
            <a:r>
              <a:rPr lang="zh-CN" altLang="en-US" sz="2200" b="1" dirty="0">
                <a:latin typeface="Times New Roman" panose="02020603050405020304" charset="0"/>
                <a:ea typeface="宋体" panose="02010600030101010101" pitchFamily="2" charset="-122"/>
              </a:rPr>
              <a:t>网络路由的评价</a:t>
            </a:r>
            <a:r>
              <a:rPr lang="zh-CN" altLang="en-US" sz="2200" b="1" dirty="0" smtClean="0">
                <a:latin typeface="Times New Roman" panose="02020603050405020304" charset="0"/>
                <a:ea typeface="宋体" panose="02010600030101010101" pitchFamily="2" charset="-122"/>
              </a:rPr>
              <a:t>标准</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5.1.5   </a:t>
            </a:r>
            <a:r>
              <a:rPr lang="zh-CN" altLang="en-US" sz="2200" b="1" dirty="0" smtClean="0">
                <a:latin typeface="Times New Roman" panose="02020603050405020304" charset="0"/>
                <a:ea typeface="宋体" panose="02010600030101010101" pitchFamily="2" charset="-122"/>
              </a:rPr>
              <a:t>路由</a:t>
            </a:r>
            <a:r>
              <a:rPr lang="zh-CN" altLang="en-US" sz="2200" b="1" dirty="0">
                <a:latin typeface="Times New Roman" panose="02020603050405020304" charset="0"/>
                <a:ea typeface="宋体" panose="02010600030101010101" pitchFamily="2" charset="-122"/>
              </a:rPr>
              <a:t>协议分类</a:t>
            </a:r>
            <a:endParaRPr lang="en-US" sz="2200" b="1" dirty="0" smtClean="0">
              <a:solidFill>
                <a:schemeClr val="tx1"/>
              </a:solidFill>
              <a:uFillTx/>
              <a:latin typeface="Times New Roman" panose="02020603050405020304" charset="0"/>
              <a:ea typeface="宋体" panose="02010600030101010101" pitchFamily="2" charset="-122"/>
            </a:endParaRPr>
          </a:p>
          <a:p>
            <a:r>
              <a:rPr lang="en-US" sz="2200" b="1" dirty="0">
                <a:latin typeface="Times New Roman" panose="02020603050405020304" charset="0"/>
                <a:ea typeface="宋体" panose="02010600030101010101" pitchFamily="2" charset="-122"/>
              </a:rPr>
              <a:t>5.2</a:t>
            </a:r>
            <a:r>
              <a:rPr lang="zh-CN" altLang="en-US" sz="2200" b="1" dirty="0" smtClean="0">
                <a:latin typeface="宋体" panose="02010600030101010101" pitchFamily="2" charset="-122"/>
                <a:ea typeface="宋体" panose="02010600030101010101" pitchFamily="2" charset="-122"/>
              </a:rPr>
              <a:t>平面</a:t>
            </a:r>
            <a:r>
              <a:rPr lang="zh-CN" altLang="en-US" sz="2200" b="1" dirty="0">
                <a:latin typeface="宋体" panose="02010600030101010101" pitchFamily="2" charset="-122"/>
                <a:ea typeface="宋体" panose="02010600030101010101" pitchFamily="2" charset="-122"/>
              </a:rPr>
              <a:t>路由协议</a:t>
            </a:r>
            <a:endParaRPr lang="zh-CN" altLang="en-US" sz="2200" b="1" dirty="0">
              <a:latin typeface="宋体" panose="02010600030101010101" pitchFamily="2" charset="-122"/>
              <a:ea typeface="宋体" panose="02010600030101010101" pitchFamily="2" charset="-122"/>
            </a:endParaRPr>
          </a:p>
          <a:p>
            <a:r>
              <a:rPr lang="en-US" altLang="zh-CN" sz="2000" b="1" dirty="0" smtClean="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rPr>
              <a:t>5.2.1</a:t>
            </a:r>
            <a:r>
              <a:rPr lang="en-US" altLang="zh-CN" sz="2000" b="1" dirty="0" smtClean="0">
                <a:latin typeface="宋体" panose="02010600030101010101" pitchFamily="2" charset="-122"/>
                <a:ea typeface="宋体" panose="02010600030101010101" pitchFamily="2" charset="-122"/>
              </a:rPr>
              <a:t> </a:t>
            </a:r>
            <a:r>
              <a:rPr lang="en-US" altLang="zh-CN" sz="2200" b="1" dirty="0">
                <a:latin typeface="Times New Roman" panose="02020603050405020304" charset="0"/>
                <a:ea typeface="宋体" panose="02010600030101010101" pitchFamily="2" charset="-122"/>
              </a:rPr>
              <a:t>Flooding</a:t>
            </a:r>
            <a:r>
              <a:rPr lang="zh-CN" altLang="en-US" sz="2200" b="1" dirty="0">
                <a:latin typeface="Times New Roman" panose="02020603050405020304" charset="0"/>
                <a:ea typeface="宋体" panose="02010600030101010101" pitchFamily="2" charset="-122"/>
              </a:rPr>
              <a:t>协议和</a:t>
            </a:r>
            <a:r>
              <a:rPr lang="en-US" altLang="zh-CN" sz="2200" b="1" dirty="0">
                <a:latin typeface="Times New Roman" panose="02020603050405020304" charset="0"/>
                <a:ea typeface="宋体" panose="02010600030101010101" pitchFamily="2" charset="-122"/>
              </a:rPr>
              <a:t>Gossiping</a:t>
            </a:r>
            <a:r>
              <a:rPr lang="zh-CN" altLang="en-US" sz="2200" b="1" dirty="0">
                <a:latin typeface="Times New Roman" panose="02020603050405020304" charset="0"/>
                <a:ea typeface="宋体" panose="02010600030101010101" pitchFamily="2" charset="-122"/>
              </a:rPr>
              <a:t>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5.2.2 </a:t>
            </a:r>
            <a:r>
              <a:rPr lang="en-US" altLang="zh-CN" sz="2200" b="1" dirty="0">
                <a:latin typeface="Times New Roman" panose="02020603050405020304" charset="0"/>
                <a:ea typeface="宋体" panose="02010600030101010101" pitchFamily="2" charset="-122"/>
              </a:rPr>
              <a:t>SPIN</a:t>
            </a:r>
            <a:r>
              <a:rPr lang="zh-CN" altLang="en-US" sz="2200" b="1" dirty="0">
                <a:latin typeface="Times New Roman" panose="02020603050405020304" charset="0"/>
                <a:ea typeface="宋体" panose="02010600030101010101" pitchFamily="2" charset="-122"/>
              </a:rPr>
              <a:t>路由协议</a:t>
            </a:r>
            <a:endParaRPr lang="zh-CN" altLang="en-US" sz="2200" b="1" dirty="0">
              <a:latin typeface="Times New Roman" panose="02020603050405020304" charset="0"/>
              <a:ea typeface="宋体" panose="02010600030101010101" pitchFamily="2" charset="-122"/>
            </a:endParaRPr>
          </a:p>
          <a:p>
            <a:r>
              <a:rPr lang="en-US" altLang="zh-CN" sz="2200" b="1" dirty="0" smtClean="0">
                <a:latin typeface="Times New Roman" panose="02020603050405020304" charset="0"/>
                <a:ea typeface="宋体" panose="02010600030101010101" pitchFamily="2" charset="-122"/>
              </a:rPr>
              <a:t>    5.2.3 </a:t>
            </a:r>
            <a:r>
              <a:rPr lang="en-US" altLang="zh-CN" sz="2200" b="1" dirty="0">
                <a:latin typeface="Times New Roman" panose="02020603050405020304" charset="0"/>
                <a:ea typeface="宋体" panose="02010600030101010101" pitchFamily="2" charset="-122"/>
              </a:rPr>
              <a:t>DD</a:t>
            </a:r>
            <a:r>
              <a:rPr lang="zh-CN" altLang="en-US" sz="2200" b="1" dirty="0">
                <a:latin typeface="Times New Roman" panose="02020603050405020304" charset="0"/>
                <a:ea typeface="宋体" panose="02010600030101010101" pitchFamily="2" charset="-122"/>
              </a:rPr>
              <a:t>定向扩展路由协议</a:t>
            </a:r>
            <a:endParaRPr lang="zh-CN" altLang="en-US" sz="2200" b="1" dirty="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rPr>
              <a:t>    5.2.4  Rumor</a:t>
            </a:r>
            <a:r>
              <a:rPr lang="zh-CN" altLang="en-US" sz="2200" b="1" dirty="0" smtClean="0">
                <a:latin typeface="Times New Roman" panose="02020603050405020304" charset="0"/>
                <a:ea typeface="宋体" panose="02010600030101010101" pitchFamily="2" charset="-122"/>
              </a:rPr>
              <a:t>协议</a:t>
            </a:r>
            <a:endParaRPr lang="en-US" altLang="zh-CN" sz="2200" b="1" dirty="0" smtClean="0">
              <a:latin typeface="Times New Roman" panose="02020603050405020304" charset="0"/>
              <a:ea typeface="宋体" panose="02010600030101010101" pitchFamily="2" charset="-122"/>
            </a:endParaRPr>
          </a:p>
          <a:p>
            <a:r>
              <a:rPr lang="en-US" altLang="zh-CN" sz="2200" b="1" dirty="0">
                <a:latin typeface="Times New Roman" panose="02020603050405020304" charset="0"/>
                <a:ea typeface="宋体" panose="02010600030101010101" pitchFamily="2" charset="-122"/>
              </a:rPr>
              <a:t>5.3</a:t>
            </a:r>
            <a:r>
              <a:rPr lang="zh-CN" altLang="zh-CN" sz="2200" b="1" dirty="0">
                <a:ea typeface="宋体" panose="02010600030101010101" pitchFamily="2" charset="-122"/>
              </a:rPr>
              <a:t>　</a:t>
            </a:r>
            <a:r>
              <a:rPr lang="zh-CN" altLang="en-US" sz="2200" b="1" dirty="0">
                <a:latin typeface="Times New Roman" panose="02020603050405020304" charset="0"/>
                <a:ea typeface="宋体" panose="02010600030101010101" pitchFamily="2" charset="-122"/>
              </a:rPr>
              <a:t>层次型路由协议</a:t>
            </a:r>
            <a:endParaRPr lang="zh-CN" altLang="en-US"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5.3.1  </a:t>
            </a:r>
            <a:r>
              <a:rPr lang="en-US" altLang="zh-CN" sz="2200" b="1" dirty="0">
                <a:ea typeface="宋体" panose="02010600030101010101" pitchFamily="2" charset="-122"/>
              </a:rPr>
              <a:t>LEACH</a:t>
            </a:r>
            <a:r>
              <a:rPr lang="zh-CN" altLang="en-US" sz="2200" b="1" dirty="0">
                <a:ea typeface="宋体" panose="02010600030101010101" pitchFamily="2" charset="-122"/>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5.3.2  </a:t>
            </a:r>
            <a:r>
              <a:rPr lang="en-US" altLang="zh-CN" sz="2200" b="1" dirty="0">
                <a:ea typeface="宋体" panose="02010600030101010101" pitchFamily="2" charset="-122"/>
              </a:rPr>
              <a:t>HEED</a:t>
            </a:r>
            <a:r>
              <a:rPr lang="zh-CN" altLang="en-US" sz="2200" b="1" dirty="0">
                <a:ea typeface="宋体" panose="02010600030101010101" pitchFamily="2" charset="-122"/>
              </a:rPr>
              <a:t>协议</a:t>
            </a:r>
            <a:r>
              <a:rPr lang="en-US" altLang="zh-CN" sz="2200" b="1" dirty="0">
                <a:latin typeface="Times New Roman" panose="02020603050405020304" charset="0"/>
                <a:ea typeface="宋体" panose="02010600030101010101" pitchFamily="2" charset="-122"/>
              </a:rPr>
              <a:t>	</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5.3.3  TEEN</a:t>
            </a:r>
            <a:r>
              <a:rPr lang="zh-CN" altLang="en-US" sz="2200" b="1" dirty="0">
                <a:latin typeface="Times New Roman" panose="02020603050405020304" charset="0"/>
                <a:ea typeface="宋体" panose="02010600030101010101" pitchFamily="2" charset="-122"/>
              </a:rPr>
              <a:t>协议</a:t>
            </a:r>
            <a:endParaRPr lang="en-US" altLang="zh-CN" sz="2200" b="1" dirty="0">
              <a:latin typeface="Times New Roman" panose="02020603050405020304" charset="0"/>
              <a:ea typeface="宋体" panose="02010600030101010101" pitchFamily="2" charset="-122"/>
            </a:endParaRPr>
          </a:p>
          <a:p>
            <a:endParaRPr lang="zh-CN" altLang="en-US" sz="2200" b="1" dirty="0">
              <a:latin typeface="Times New Roman" panose="02020603050405020304" charset="0"/>
              <a:ea typeface="宋体" panose="02010600030101010101" pitchFamily="2" charset="-122"/>
            </a:endParaRPr>
          </a:p>
        </p:txBody>
      </p:sp>
      <p:sp>
        <p:nvSpPr>
          <p:cNvPr id="4" name="文本框 3"/>
          <p:cNvSpPr txBox="1"/>
          <p:nvPr/>
        </p:nvSpPr>
        <p:spPr>
          <a:xfrm>
            <a:off x="6081980" y="1307806"/>
            <a:ext cx="5535930" cy="4832092"/>
          </a:xfrm>
          <a:prstGeom prst="rect">
            <a:avLst/>
          </a:prstGeom>
          <a:noFill/>
          <a:ln w="9525">
            <a:noFill/>
          </a:ln>
        </p:spPr>
        <p:txBody>
          <a:bodyPr wrap="square">
            <a:spAutoFit/>
          </a:bodyPr>
          <a:lstStyle/>
          <a:p>
            <a:pPr indent="0"/>
            <a:r>
              <a:rPr lang="en-US" altLang="zh-CN" sz="2200" b="1" dirty="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rPr>
              <a:t>  5.3.4  </a:t>
            </a:r>
            <a:r>
              <a:rPr lang="en-US" altLang="zh-CN" sz="2200" b="1" dirty="0">
                <a:latin typeface="Times New Roman" panose="02020603050405020304" charset="0"/>
                <a:ea typeface="宋体" panose="02010600030101010101" pitchFamily="2" charset="-122"/>
              </a:rPr>
              <a:t>TTDD</a:t>
            </a:r>
            <a:r>
              <a:rPr lang="zh-CN" altLang="en-US" sz="2200" b="1" dirty="0">
                <a:latin typeface="Times New Roman" panose="02020603050405020304" charset="0"/>
                <a:ea typeface="宋体" panose="02010600030101010101" pitchFamily="2" charset="-122"/>
              </a:rPr>
              <a:t>协议</a:t>
            </a:r>
            <a:endParaRPr lang="en-US" altLang="zh-CN" sz="2200" b="1" dirty="0">
              <a:latin typeface="Times New Roman" panose="02020603050405020304" charset="0"/>
              <a:ea typeface="宋体" panose="02010600030101010101" pitchFamily="2" charset="-122"/>
            </a:endParaRPr>
          </a:p>
          <a:p>
            <a:pPr indent="0"/>
            <a:r>
              <a:rPr lang="en-US" altLang="zh-CN" sz="2200" b="1" dirty="0">
                <a:latin typeface="Times New Roman" panose="02020603050405020304" charset="0"/>
                <a:ea typeface="宋体" panose="02010600030101010101" pitchFamily="2" charset="-122"/>
              </a:rPr>
              <a:t>   5.3.5  PEGASIS</a:t>
            </a:r>
            <a:r>
              <a:rPr lang="zh-CN" altLang="en-US" sz="2200" b="1" dirty="0">
                <a:latin typeface="Times New Roman" panose="02020603050405020304" charset="0"/>
                <a:ea typeface="宋体" panose="02010600030101010101" pitchFamily="2" charset="-122"/>
              </a:rPr>
              <a:t>协议</a:t>
            </a:r>
            <a:endParaRPr lang="en-US" sz="2200" b="1" dirty="0" smtClean="0">
              <a:solidFill>
                <a:schemeClr val="tx1"/>
              </a:solidFill>
              <a:uFillTx/>
              <a:latin typeface="Times New Roman" panose="02020603050405020304" charset="0"/>
              <a:ea typeface="宋体" panose="02010600030101010101" pitchFamily="2" charset="-122"/>
            </a:endParaRPr>
          </a:p>
          <a:p>
            <a:pPr indent="0"/>
            <a:r>
              <a:rPr lang="en-US" sz="2200" b="1" dirty="0" smtClean="0">
                <a:solidFill>
                  <a:schemeClr val="tx1"/>
                </a:solidFill>
                <a:uFillTx/>
                <a:latin typeface="Times New Roman" panose="02020603050405020304" charset="0"/>
                <a:ea typeface="宋体" panose="02010600030101010101" pitchFamily="2" charset="-122"/>
                <a:hlinkClick r:id="rId2" action="ppaction://hlinksldjump"/>
              </a:rPr>
              <a:t>5.4</a:t>
            </a:r>
            <a:r>
              <a:rPr lang="zh-CN" altLang="en-US" sz="2200" b="1" dirty="0">
                <a:latin typeface="Times New Roman" panose="02020603050405020304" charset="0"/>
                <a:ea typeface="宋体" panose="02010600030101010101" pitchFamily="2" charset="-122"/>
                <a:hlinkClick r:id="rId2" action="ppaction://hlinksldjump"/>
              </a:rPr>
              <a:t>其他路由</a:t>
            </a:r>
            <a:r>
              <a:rPr lang="zh-CN" altLang="en-US" sz="2200" b="1" dirty="0" smtClean="0">
                <a:latin typeface="Times New Roman" panose="02020603050405020304" charset="0"/>
                <a:ea typeface="宋体" panose="02010600030101010101" pitchFamily="2" charset="-122"/>
                <a:hlinkClick r:id="rId2" action="ppaction://hlinksldjump"/>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2" action="ppaction://hlinksldjump"/>
              </a:rPr>
              <a:t>5.4.1  </a:t>
            </a:r>
            <a:r>
              <a:rPr lang="zh-CN" altLang="en-US" sz="2200" b="1" dirty="0">
                <a:latin typeface="Times New Roman" panose="02020603050405020304" charset="0"/>
                <a:ea typeface="宋体" panose="02010600030101010101" pitchFamily="2" charset="-122"/>
                <a:hlinkClick r:id="rId2" action="ppaction://hlinksldjump"/>
              </a:rPr>
              <a:t>地理位置</a:t>
            </a:r>
            <a:r>
              <a:rPr lang="zh-CN" altLang="en-US" sz="2200" b="1" dirty="0" smtClean="0">
                <a:latin typeface="Times New Roman" panose="02020603050405020304" charset="0"/>
                <a:ea typeface="宋体" panose="02010600030101010101" pitchFamily="2" charset="-122"/>
                <a:hlinkClick r:id="rId2" action="ppaction://hlinksldjump"/>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hlinkClick r:id="rId3" action="ppaction://hlinksldjump"/>
              </a:rPr>
              <a:t>      5.4.1.1  </a:t>
            </a:r>
            <a:r>
              <a:rPr lang="en-US" altLang="zh-CN" sz="2200" b="1" dirty="0">
                <a:latin typeface="Times New Roman" panose="02020603050405020304" charset="0"/>
                <a:ea typeface="宋体" panose="02010600030101010101" pitchFamily="2" charset="-122"/>
                <a:hlinkClick r:id="rId3" action="ppaction://hlinksldjump"/>
              </a:rPr>
              <a:t>GAF</a:t>
            </a:r>
            <a:r>
              <a:rPr lang="zh-CN" altLang="en-US" sz="2200" b="1" dirty="0" smtClean="0">
                <a:latin typeface="Times New Roman" panose="02020603050405020304" charset="0"/>
                <a:ea typeface="宋体" panose="02010600030101010101" pitchFamily="2" charset="-122"/>
                <a:hlinkClick r:id="rId3" action="ppaction://hlinksldjump"/>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4" action="ppaction://hlinksldjump"/>
              </a:rPr>
              <a:t>5.4.1.2  </a:t>
            </a:r>
            <a:r>
              <a:rPr lang="en-US" altLang="zh-CN" sz="2200" b="1" dirty="0">
                <a:latin typeface="Times New Roman" panose="02020603050405020304" charset="0"/>
                <a:ea typeface="宋体" panose="02010600030101010101" pitchFamily="2" charset="-122"/>
                <a:hlinkClick r:id="rId4" action="ppaction://hlinksldjump"/>
              </a:rPr>
              <a:t>GEAR</a:t>
            </a:r>
            <a:r>
              <a:rPr lang="zh-CN" altLang="en-US" sz="2200" b="1" dirty="0" smtClean="0">
                <a:latin typeface="Times New Roman" panose="02020603050405020304" charset="0"/>
                <a:ea typeface="宋体" panose="02010600030101010101" pitchFamily="2" charset="-122"/>
                <a:hlinkClick r:id="rId4" action="ppaction://hlinksldjump"/>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hlinkClick r:id="rId5" action="ppaction://hlinksldjump"/>
              </a:rPr>
              <a:t>      5.4.1.3  </a:t>
            </a:r>
            <a:r>
              <a:rPr lang="en-US" altLang="zh-CN" sz="2200" b="1" dirty="0">
                <a:latin typeface="Times New Roman" panose="02020603050405020304" charset="0"/>
                <a:ea typeface="宋体" panose="02010600030101010101" pitchFamily="2" charset="-122"/>
                <a:hlinkClick r:id="rId5" action="ppaction://hlinksldjump"/>
              </a:rPr>
              <a:t>GPSR</a:t>
            </a:r>
            <a:r>
              <a:rPr lang="zh-CN" altLang="en-US" sz="2200" b="1" dirty="0" smtClean="0">
                <a:latin typeface="Times New Roman" panose="02020603050405020304" charset="0"/>
                <a:ea typeface="宋体" panose="02010600030101010101" pitchFamily="2" charset="-122"/>
                <a:hlinkClick r:id="rId5" action="ppaction://hlinksldjump"/>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6" action="ppaction://hlinksldjump"/>
              </a:rPr>
              <a:t>5.4.2  </a:t>
            </a:r>
            <a:r>
              <a:rPr lang="en-US" altLang="zh-CN" sz="2200" b="1" dirty="0" err="1">
                <a:latin typeface="Times New Roman" panose="02020603050405020304" charset="0"/>
                <a:ea typeface="宋体" panose="02010600030101010101" pitchFamily="2" charset="-122"/>
                <a:hlinkClick r:id="rId6" action="ppaction://hlinksldjump"/>
              </a:rPr>
              <a:t>QoS</a:t>
            </a:r>
            <a:r>
              <a:rPr lang="zh-CN" altLang="en-US" sz="2200" b="1" dirty="0" smtClean="0">
                <a:latin typeface="Times New Roman" panose="02020603050405020304" charset="0"/>
                <a:ea typeface="宋体" panose="02010600030101010101" pitchFamily="2" charset="-122"/>
                <a:hlinkClick r:id="rId6" action="ppaction://hlinksldjump"/>
              </a:rPr>
              <a:t>路由协议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7" action="ppaction://hlinksldjump"/>
              </a:rPr>
              <a:t>5.4.2.1  </a:t>
            </a:r>
            <a:r>
              <a:rPr lang="en-US" altLang="zh-CN" sz="2200" b="1" dirty="0">
                <a:latin typeface="Times New Roman" panose="02020603050405020304" charset="0"/>
                <a:ea typeface="宋体" panose="02010600030101010101" pitchFamily="2" charset="-122"/>
                <a:hlinkClick r:id="rId7" action="ppaction://hlinksldjump"/>
              </a:rPr>
              <a:t>SPEED</a:t>
            </a:r>
            <a:r>
              <a:rPr lang="zh-CN" altLang="en-US" sz="2200" b="1" dirty="0" smtClean="0">
                <a:latin typeface="Times New Roman" panose="02020603050405020304" charset="0"/>
                <a:ea typeface="宋体" panose="02010600030101010101" pitchFamily="2" charset="-122"/>
                <a:hlinkClick r:id="rId7" action="ppaction://hlinksldjump"/>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8" action="ppaction://hlinksldjump"/>
              </a:rPr>
              <a:t>5.4.2.2  </a:t>
            </a:r>
            <a:r>
              <a:rPr lang="en-US" altLang="zh-CN" sz="2200" b="1" dirty="0">
                <a:latin typeface="Times New Roman" panose="02020603050405020304" charset="0"/>
                <a:ea typeface="宋体" panose="02010600030101010101" pitchFamily="2" charset="-122"/>
                <a:hlinkClick r:id="rId8" action="ppaction://hlinksldjump"/>
              </a:rPr>
              <a:t>SAR</a:t>
            </a:r>
            <a:r>
              <a:rPr lang="zh-CN" altLang="en-US" sz="2200" b="1" dirty="0">
                <a:latin typeface="Times New Roman" panose="02020603050405020304" charset="0"/>
                <a:ea typeface="宋体" panose="02010600030101010101" pitchFamily="2" charset="-122"/>
                <a:hlinkClick r:id="rId8" action="ppaction://hlinksldjump"/>
              </a:rPr>
              <a:t>协议</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9" action="ppaction://hlinksldjump"/>
              </a:rPr>
              <a:t>5.4.3  </a:t>
            </a:r>
            <a:r>
              <a:rPr lang="zh-CN" altLang="en-US" sz="2200" b="1" dirty="0">
                <a:latin typeface="Times New Roman" panose="02020603050405020304" charset="0"/>
                <a:ea typeface="宋体" panose="02010600030101010101" pitchFamily="2" charset="-122"/>
                <a:hlinkClick r:id="rId9" action="ppaction://hlinksldjump"/>
              </a:rPr>
              <a:t>多径</a:t>
            </a:r>
            <a:r>
              <a:rPr lang="zh-CN" altLang="en-US" sz="2200" b="1" dirty="0" smtClean="0">
                <a:latin typeface="Times New Roman" panose="02020603050405020304" charset="0"/>
                <a:ea typeface="宋体" panose="02010600030101010101" pitchFamily="2" charset="-122"/>
                <a:hlinkClick r:id="rId9" action="ppaction://hlinksldjump"/>
              </a:rPr>
              <a:t>路由协议</a:t>
            </a:r>
            <a:endParaRPr lang="en-US" altLang="zh-CN" sz="2200" b="1" dirty="0" smtClean="0">
              <a:latin typeface="Times New Roman" panose="02020603050405020304" charset="0"/>
              <a:ea typeface="宋体" panose="02010600030101010101" pitchFamily="2" charset="-122"/>
            </a:endParaRPr>
          </a:p>
          <a:p>
            <a:pPr indent="0"/>
            <a:r>
              <a:rPr lang="en-US" sz="2200" b="1" dirty="0" smtClean="0">
                <a:latin typeface="Times New Roman" panose="02020603050405020304" charset="0"/>
                <a:ea typeface="宋体" panose="02010600030101010101" pitchFamily="2" charset="-122"/>
              </a:rPr>
              <a:t>     </a:t>
            </a:r>
            <a:r>
              <a:rPr lang="en-US" sz="2200" b="1" dirty="0" smtClean="0">
                <a:latin typeface="Times New Roman" panose="02020603050405020304" charset="0"/>
                <a:ea typeface="宋体" panose="02010600030101010101" pitchFamily="2" charset="-122"/>
                <a:hlinkClick r:id="rId10" action="ppaction://hlinksldjump"/>
              </a:rPr>
              <a:t>5.4.3.1  </a:t>
            </a:r>
            <a:r>
              <a:rPr lang="en-US" sz="2200" b="1" dirty="0">
                <a:latin typeface="Times New Roman" panose="02020603050405020304" charset="0"/>
                <a:ea typeface="宋体" panose="02010600030101010101" pitchFamily="2" charset="-122"/>
                <a:hlinkClick r:id="rId10" action="ppaction://hlinksldjump"/>
              </a:rPr>
              <a:t>MMSPEED</a:t>
            </a:r>
            <a:r>
              <a:rPr lang="zh-CN" altLang="en-US" sz="2200" b="1" dirty="0" smtClean="0">
                <a:latin typeface="Times New Roman" panose="02020603050405020304" charset="0"/>
                <a:ea typeface="宋体" panose="02010600030101010101" pitchFamily="2" charset="-122"/>
                <a:hlinkClick r:id="rId10" action="ppaction://hlinksldjump"/>
              </a:rPr>
              <a:t>路由</a:t>
            </a:r>
            <a:endParaRPr lang="en-US" altLang="zh-CN" sz="2200" b="1" dirty="0" smtClean="0">
              <a:latin typeface="Times New Roman" panose="02020603050405020304" charset="0"/>
              <a:ea typeface="宋体" panose="02010600030101010101" pitchFamily="2" charset="-122"/>
            </a:endParaRPr>
          </a:p>
          <a:p>
            <a:pPr indent="0"/>
            <a:r>
              <a:rPr lang="en-US" altLang="zh-CN" sz="2200" b="1" dirty="0" smtClean="0">
                <a:latin typeface="Times New Roman" panose="02020603050405020304" charset="0"/>
                <a:ea typeface="宋体" panose="02010600030101010101" pitchFamily="2" charset="-122"/>
              </a:rPr>
              <a:t>     </a:t>
            </a:r>
            <a:r>
              <a:rPr lang="en-US" altLang="zh-CN" sz="2200" b="1" dirty="0" smtClean="0">
                <a:latin typeface="Times New Roman" panose="02020603050405020304" charset="0"/>
                <a:ea typeface="宋体" panose="02010600030101010101" pitchFamily="2" charset="-122"/>
                <a:hlinkClick r:id="rId11" action="ppaction://hlinksldjump"/>
              </a:rPr>
              <a:t>5.4.3.2  </a:t>
            </a:r>
            <a:r>
              <a:rPr lang="zh-CN" altLang="en-US" sz="2200" b="1" dirty="0">
                <a:latin typeface="Times New Roman" panose="02020603050405020304" charset="0"/>
                <a:ea typeface="宋体" panose="02010600030101010101" pitchFamily="2" charset="-122"/>
                <a:hlinkClick r:id="rId11" action="ppaction://hlinksldjump"/>
              </a:rPr>
              <a:t>能量多路径路由</a:t>
            </a:r>
            <a:endParaRPr lang="en-US" altLang="zh-CN" sz="2200" b="1" dirty="0" smtClean="0">
              <a:latin typeface="Times New Roman" panose="02020603050405020304" charset="0"/>
              <a:ea typeface="宋体" panose="02010600030101010101" pitchFamily="2" charset="-122"/>
            </a:endParaRPr>
          </a:p>
          <a:p>
            <a:pPr indent="0"/>
            <a:r>
              <a:rPr lang="zh-CN" sz="2200" b="1" dirty="0" smtClean="0">
                <a:solidFill>
                  <a:schemeClr val="tx1"/>
                </a:solidFill>
                <a:uFillTx/>
                <a:ea typeface="宋体" panose="02010600030101010101" pitchFamily="2" charset="-122"/>
              </a:rPr>
              <a:t>习题</a:t>
            </a:r>
            <a:r>
              <a:rPr lang="en-US" sz="2200" b="1" dirty="0" smtClean="0">
                <a:solidFill>
                  <a:schemeClr val="tx1"/>
                </a:solidFill>
                <a:uFillTx/>
                <a:latin typeface="Times New Roman" panose="02020603050405020304" charset="0"/>
                <a:ea typeface="宋体" panose="02010600030101010101" pitchFamily="2" charset="-122"/>
              </a:rPr>
              <a:t>5</a:t>
            </a:r>
            <a:r>
              <a:rPr lang="en-US" sz="2200" b="1" dirty="0">
                <a:solidFill>
                  <a:srgbClr val="0000FF"/>
                </a:solidFill>
                <a:latin typeface="Times New Roman" panose="02020603050405020304" charset="0"/>
                <a:ea typeface="宋体" panose="02010600030101010101" pitchFamily="2" charset="-122"/>
              </a:rPr>
              <a:t>	</a:t>
            </a:r>
            <a:endParaRPr lang="zh-CN" altLang="en-US" sz="2200" b="1"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
        <p:nvSpPr>
          <p:cNvPr id="3" name="文本占位符 2"/>
          <p:cNvSpPr>
            <a:spLocks noGrp="1"/>
          </p:cNvSpPr>
          <p:nvPr>
            <p:ph sz="half" idx="1"/>
          </p:nvPr>
        </p:nvSpPr>
        <p:spPr/>
        <p:txBody>
          <a:bodyPr>
            <a:normAutofit/>
          </a:bodyPr>
          <a:lstStyle/>
          <a:p>
            <a:r>
              <a:rPr lang="en-US" altLang="zh-CN" b="1" dirty="0"/>
              <a:t>5.4.1  </a:t>
            </a:r>
            <a:r>
              <a:rPr lang="zh-CN" altLang="zh-CN" b="1" dirty="0"/>
              <a:t>地理位置</a:t>
            </a:r>
            <a:r>
              <a:rPr lang="zh-CN" altLang="zh-CN" b="1" dirty="0" smtClean="0"/>
              <a:t>路由</a:t>
            </a:r>
            <a:endParaRPr lang="en-US" altLang="zh-CN" b="1" dirty="0" smtClean="0"/>
          </a:p>
          <a:p>
            <a:r>
              <a:rPr lang="zh-CN" altLang="zh-CN" dirty="0" smtClean="0"/>
              <a:t>假设</a:t>
            </a:r>
            <a:r>
              <a:rPr lang="zh-CN" altLang="zh-CN" dirty="0">
                <a:solidFill>
                  <a:srgbClr val="FF0000"/>
                </a:solidFill>
              </a:rPr>
              <a:t>所有节点都知道自己的地理位置信息，以及目的节点或目的区域的</a:t>
            </a:r>
            <a:r>
              <a:rPr lang="zh-CN" altLang="zh-CN" dirty="0" smtClean="0">
                <a:solidFill>
                  <a:srgbClr val="FF0000"/>
                </a:solidFill>
              </a:rPr>
              <a:t>地理位置</a:t>
            </a:r>
            <a:r>
              <a:rPr lang="zh-CN" altLang="en-US" dirty="0" smtClean="0">
                <a:solidFill>
                  <a:srgbClr val="FF0000"/>
                </a:solidFill>
              </a:rPr>
              <a:t>信息</a:t>
            </a:r>
            <a:r>
              <a:rPr lang="zh-CN" altLang="zh-CN" dirty="0" smtClean="0"/>
              <a:t>。</a:t>
            </a:r>
            <a:endParaRPr lang="en-US" altLang="zh-CN" dirty="0" smtClean="0"/>
          </a:p>
          <a:p>
            <a:r>
              <a:rPr lang="zh-CN" altLang="zh-CN" dirty="0" smtClean="0"/>
              <a:t>地理位置</a:t>
            </a:r>
            <a:r>
              <a:rPr lang="zh-CN" altLang="zh-CN" dirty="0"/>
              <a:t>信息路由中，节点</a:t>
            </a:r>
            <a:r>
              <a:rPr lang="zh-CN" altLang="zh-CN" dirty="0" smtClean="0"/>
              <a:t>的</a:t>
            </a:r>
            <a:r>
              <a:rPr lang="zh-CN" altLang="en-US" dirty="0" smtClean="0"/>
              <a:t>地理</a:t>
            </a:r>
            <a:r>
              <a:rPr lang="zh-CN" altLang="zh-CN" dirty="0" smtClean="0"/>
              <a:t>位置</a:t>
            </a:r>
            <a:r>
              <a:rPr lang="zh-CN" altLang="zh-CN" dirty="0"/>
              <a:t>已经隐含了向哪个邻居节点转发数据分组的信息，所以它</a:t>
            </a:r>
            <a:r>
              <a:rPr lang="zh-CN" altLang="zh-CN" dirty="0">
                <a:solidFill>
                  <a:srgbClr val="FF0000"/>
                </a:solidFill>
              </a:rPr>
              <a:t>只需用很小的路由表</a:t>
            </a:r>
            <a:r>
              <a:rPr lang="en-US" altLang="zh-CN" dirty="0"/>
              <a:t>(</a:t>
            </a:r>
            <a:r>
              <a:rPr lang="zh-CN" altLang="zh-CN" dirty="0"/>
              <a:t>甚至不需要路由表</a:t>
            </a:r>
            <a:r>
              <a:rPr lang="en-US" altLang="zh-CN" dirty="0"/>
              <a:t>)</a:t>
            </a:r>
            <a:r>
              <a:rPr lang="zh-CN" altLang="zh-CN" dirty="0"/>
              <a:t>，这可以大大简化路由协议</a:t>
            </a:r>
            <a:r>
              <a:rPr lang="zh-CN" altLang="zh-CN" dirty="0" smtClean="0"/>
              <a:t>。</a:t>
            </a:r>
            <a:endParaRPr lang="en-US" altLang="zh-CN" dirty="0" smtClean="0"/>
          </a:p>
          <a:p>
            <a:r>
              <a:rPr lang="zh-CN" altLang="zh-CN" dirty="0" smtClean="0"/>
              <a:t>关键</a:t>
            </a:r>
            <a:r>
              <a:rPr lang="zh-CN" altLang="en-US" dirty="0" smtClean="0"/>
              <a:t>：</a:t>
            </a:r>
            <a:r>
              <a:rPr lang="zh-CN" altLang="zh-CN" dirty="0" smtClean="0"/>
              <a:t>在于</a:t>
            </a:r>
            <a:r>
              <a:rPr lang="zh-CN" altLang="zh-CN" dirty="0"/>
              <a:t>如何根据节点的位置信息选择下一跳邻居节点，以及在出现路由空洞时如何绕路。</a:t>
            </a:r>
            <a:endParaRPr lang="zh-CN" altLang="zh-CN" b="1"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5.4.1.1  GAF</a:t>
            </a:r>
            <a:r>
              <a:rPr lang="zh-CN" altLang="zh-CN" b="1" dirty="0"/>
              <a:t>路由</a:t>
            </a:r>
            <a:r>
              <a:rPr lang="zh-CN" altLang="zh-CN" b="1" dirty="0" smtClean="0"/>
              <a:t>协议</a:t>
            </a:r>
            <a:endParaRPr lang="en-US" altLang="zh-CN" b="1" dirty="0" smtClean="0"/>
          </a:p>
          <a:p>
            <a:r>
              <a:rPr lang="en-US" altLang="zh-CN" dirty="0"/>
              <a:t>GAF </a:t>
            </a:r>
            <a:r>
              <a:rPr lang="zh-CN" altLang="en-US" dirty="0" smtClean="0"/>
              <a:t>：</a:t>
            </a:r>
            <a:r>
              <a:rPr lang="en-US" altLang="zh-CN" dirty="0" smtClean="0"/>
              <a:t>Geographical </a:t>
            </a:r>
            <a:r>
              <a:rPr lang="en-US" altLang="zh-CN" dirty="0"/>
              <a:t>Adaptive Fidelity</a:t>
            </a:r>
            <a:r>
              <a:rPr lang="zh-CN" altLang="zh-CN" dirty="0"/>
              <a:t>，</a:t>
            </a:r>
            <a:r>
              <a:rPr lang="zh-CN" altLang="zh-CN" dirty="0">
                <a:solidFill>
                  <a:srgbClr val="FF0000"/>
                </a:solidFill>
              </a:rPr>
              <a:t>地域自适应保</a:t>
            </a:r>
            <a:r>
              <a:rPr lang="zh-CN" altLang="zh-CN" dirty="0" smtClean="0">
                <a:solidFill>
                  <a:srgbClr val="FF0000"/>
                </a:solidFill>
              </a:rPr>
              <a:t>真路由</a:t>
            </a:r>
            <a:r>
              <a:rPr lang="zh-CN" altLang="zh-CN" dirty="0" smtClean="0"/>
              <a:t>协议</a:t>
            </a:r>
            <a:endParaRPr lang="en-US" altLang="zh-CN" dirty="0" smtClean="0"/>
          </a:p>
          <a:p>
            <a:r>
              <a:rPr lang="zh-CN" altLang="zh-CN" dirty="0" smtClean="0"/>
              <a:t>基于</a:t>
            </a:r>
            <a:r>
              <a:rPr lang="zh-CN" altLang="zh-CN" dirty="0"/>
              <a:t>节点地理位置的分簇协议。该协议首先把部署区域划分成若干虚拟单元格，将</a:t>
            </a:r>
            <a:r>
              <a:rPr lang="zh-CN" altLang="zh-CN" dirty="0">
                <a:solidFill>
                  <a:srgbClr val="FF0000"/>
                </a:solidFill>
              </a:rPr>
              <a:t>节点按照地理位置划入相应的单元格</a:t>
            </a:r>
            <a:r>
              <a:rPr lang="zh-CN" altLang="zh-CN" dirty="0"/>
              <a:t>，然后在</a:t>
            </a:r>
            <a:r>
              <a:rPr lang="zh-CN" altLang="zh-CN" dirty="0">
                <a:solidFill>
                  <a:srgbClr val="FF0000"/>
                </a:solidFill>
              </a:rPr>
              <a:t>每个单元格中定期地选举一个簇头节点</a:t>
            </a:r>
            <a:r>
              <a:rPr lang="zh-CN" altLang="zh-CN" dirty="0" smtClean="0"/>
              <a:t>。</a:t>
            </a:r>
            <a:endParaRPr lang="en-US" altLang="zh-CN" dirty="0" smtClean="0"/>
          </a:p>
          <a:p>
            <a:r>
              <a:rPr lang="zh-CN" altLang="zh-CN" dirty="0" smtClean="0"/>
              <a:t>在</a:t>
            </a:r>
            <a:r>
              <a:rPr lang="en-US" altLang="zh-CN" dirty="0"/>
              <a:t>GAF</a:t>
            </a:r>
            <a:r>
              <a:rPr lang="zh-CN" altLang="zh-CN" dirty="0"/>
              <a:t>协议中，每个</a:t>
            </a:r>
            <a:r>
              <a:rPr lang="zh-CN" altLang="zh-CN" dirty="0" smtClean="0"/>
              <a:t>节点</a:t>
            </a:r>
            <a:r>
              <a:rPr lang="zh-CN" altLang="en-US" dirty="0" smtClean="0"/>
              <a:t>的</a:t>
            </a:r>
            <a:r>
              <a:rPr lang="en-US" altLang="zh-CN" dirty="0" smtClean="0"/>
              <a:t>3</a:t>
            </a:r>
            <a:r>
              <a:rPr lang="zh-CN" altLang="zh-CN" dirty="0" smtClean="0"/>
              <a:t>种状态</a:t>
            </a:r>
            <a:r>
              <a:rPr lang="zh-CN" altLang="zh-CN" dirty="0"/>
              <a:t>：</a:t>
            </a:r>
            <a:r>
              <a:rPr lang="zh-CN" altLang="zh-CN" dirty="0">
                <a:solidFill>
                  <a:srgbClr val="FF0000"/>
                </a:solidFill>
              </a:rPr>
              <a:t>休眠、发现和活动状态</a:t>
            </a:r>
            <a:r>
              <a:rPr lang="zh-CN" altLang="zh-CN" dirty="0"/>
              <a:t>。</a:t>
            </a:r>
            <a:endParaRPr lang="zh-CN" altLang="zh-CN" b="1" dirty="0"/>
          </a:p>
        </p:txBody>
      </p:sp>
      <p:sp>
        <p:nvSpPr>
          <p:cNvPr id="5" name="标题 4"/>
          <p:cNvSpPr>
            <a:spLocks noGrp="1"/>
          </p:cNvSpPr>
          <p:nvPr>
            <p:ph type="title"/>
          </p:nvPr>
        </p:nvSpPr>
        <p:spPr/>
        <p:txBody>
          <a:bodyPr>
            <a:normAutofit/>
          </a:bodyPr>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5.4.1.1  GAF</a:t>
            </a:r>
            <a:r>
              <a:rPr lang="zh-CN" altLang="zh-CN" b="1" dirty="0"/>
              <a:t>路由</a:t>
            </a:r>
            <a:r>
              <a:rPr lang="zh-CN" altLang="zh-CN" b="1" dirty="0" smtClean="0"/>
              <a:t>协议</a:t>
            </a:r>
            <a:endParaRPr lang="en-US" altLang="zh-CN" b="1" dirty="0" smtClean="0"/>
          </a:p>
          <a:p>
            <a:r>
              <a:rPr lang="zh-CN" altLang="zh-CN" dirty="0"/>
              <a:t>状态间的</a:t>
            </a:r>
            <a:r>
              <a:rPr lang="zh-CN" altLang="zh-CN" dirty="0" smtClean="0"/>
              <a:t>转换</a:t>
            </a:r>
            <a:endParaRPr lang="en-US"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34" name="矩形 33"/>
          <p:cNvSpPr/>
          <p:nvPr/>
        </p:nvSpPr>
        <p:spPr>
          <a:xfrm>
            <a:off x="3159429" y="6485771"/>
            <a:ext cx="3570208" cy="369332"/>
          </a:xfrm>
          <a:prstGeom prst="rect">
            <a:avLst/>
          </a:prstGeom>
        </p:spPr>
        <p:txBody>
          <a:bodyPr wrap="none">
            <a:spAutoFit/>
          </a:bodyPr>
          <a:lstStyle/>
          <a:p>
            <a:r>
              <a:rPr lang="zh-CN" altLang="zh-CN" kern="100" dirty="0">
                <a:latin typeface="Times New Roman" panose="02020603050405020304" charset="0"/>
                <a:ea typeface="宋体" panose="02010600030101010101" pitchFamily="2" charset="-122"/>
                <a:cs typeface="Times New Roman" panose="02020603050405020304" charset="0"/>
              </a:rPr>
              <a:t>图</a:t>
            </a:r>
            <a:r>
              <a:rPr lang="en-US" altLang="zh-CN" kern="100" dirty="0">
                <a:latin typeface="Times New Roman" panose="02020603050405020304" charset="0"/>
                <a:ea typeface="宋体" panose="02010600030101010101" pitchFamily="2" charset="-122"/>
              </a:rPr>
              <a:t>5-4-1  GAF</a:t>
            </a:r>
            <a:r>
              <a:rPr lang="zh-CN" altLang="zh-CN" kern="100" dirty="0">
                <a:latin typeface="Times New Roman" panose="02020603050405020304" charset="0"/>
                <a:ea typeface="宋体" panose="02010600030101010101" pitchFamily="2" charset="-122"/>
                <a:cs typeface="Times New Roman" panose="02020603050405020304" charset="0"/>
              </a:rPr>
              <a:t>算法节点状态转换图</a:t>
            </a:r>
            <a:endParaRPr lang="zh-CN" altLang="en-US" dirty="0"/>
          </a:p>
        </p:txBody>
      </p:sp>
      <p:pic>
        <p:nvPicPr>
          <p:cNvPr id="35" name="图片 34"/>
          <p:cNvPicPr>
            <a:picLocks noChangeAspect="1"/>
          </p:cNvPicPr>
          <p:nvPr/>
        </p:nvPicPr>
        <p:blipFill>
          <a:blip r:embed="rId1"/>
          <a:stretch>
            <a:fillRect/>
          </a:stretch>
        </p:blipFill>
        <p:spPr>
          <a:xfrm>
            <a:off x="1602704" y="2876247"/>
            <a:ext cx="6209524" cy="3609524"/>
          </a:xfrm>
          <a:prstGeom prst="rect">
            <a:avLst/>
          </a:prstGeom>
        </p:spPr>
      </p:pic>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5.4.1.1  GAF</a:t>
            </a:r>
            <a:r>
              <a:rPr lang="zh-CN" altLang="zh-CN" b="1" dirty="0"/>
              <a:t>路由</a:t>
            </a:r>
            <a:r>
              <a:rPr lang="zh-CN" altLang="zh-CN" b="1" dirty="0" smtClean="0"/>
              <a:t>协议</a:t>
            </a:r>
            <a:endParaRPr lang="en-US" altLang="zh-CN" b="1" dirty="0" smtClean="0"/>
          </a:p>
          <a:p>
            <a:r>
              <a:rPr lang="zh-CN" altLang="zh-CN" dirty="0"/>
              <a:t>状态间的</a:t>
            </a:r>
            <a:r>
              <a:rPr lang="zh-CN" altLang="zh-CN" dirty="0" smtClean="0"/>
              <a:t>转换</a:t>
            </a:r>
            <a:endParaRPr lang="en-US" altLang="zh-CN" dirty="0"/>
          </a:p>
          <a:p>
            <a:r>
              <a:rPr lang="zh-CN" altLang="zh-CN" dirty="0">
                <a:solidFill>
                  <a:srgbClr val="FF0000"/>
                </a:solidFill>
              </a:rPr>
              <a:t>发现</a:t>
            </a:r>
            <a:r>
              <a:rPr lang="zh-CN" altLang="zh-CN" dirty="0" smtClean="0">
                <a:solidFill>
                  <a:srgbClr val="FF0000"/>
                </a:solidFill>
              </a:rPr>
              <a:t>状态</a:t>
            </a:r>
            <a:r>
              <a:rPr lang="zh-CN" altLang="en-US" dirty="0" smtClean="0"/>
              <a:t>：所有节点的</a:t>
            </a:r>
            <a:r>
              <a:rPr lang="zh-CN" altLang="zh-CN" dirty="0" smtClean="0">
                <a:solidFill>
                  <a:srgbClr val="FF0000"/>
                </a:solidFill>
              </a:rPr>
              <a:t>初始状态</a:t>
            </a:r>
            <a:r>
              <a:rPr lang="zh-CN" altLang="en-US" dirty="0" smtClean="0"/>
              <a:t>：</a:t>
            </a:r>
            <a:endParaRPr lang="en-US" altLang="zh-CN" dirty="0" smtClean="0"/>
          </a:p>
          <a:p>
            <a:r>
              <a:rPr lang="zh-CN" altLang="en-US" dirty="0" smtClean="0">
                <a:solidFill>
                  <a:srgbClr val="FF0000"/>
                </a:solidFill>
              </a:rPr>
              <a:t>转换到活动状态</a:t>
            </a:r>
            <a:r>
              <a:rPr lang="zh-CN" altLang="en-US" dirty="0" smtClean="0"/>
              <a:t>：</a:t>
            </a:r>
            <a:r>
              <a:rPr lang="zh-CN" altLang="zh-CN" dirty="0" smtClean="0"/>
              <a:t>当</a:t>
            </a:r>
            <a:r>
              <a:rPr lang="zh-CN" altLang="zh-CN" dirty="0"/>
              <a:t>节点进入发现状态时，每个节点设置一个定时器</a:t>
            </a:r>
            <a:r>
              <a:rPr lang="en-US" altLang="zh-CN" dirty="0"/>
              <a:t>D</a:t>
            </a:r>
            <a:r>
              <a:rPr lang="zh-CN" altLang="zh-CN" dirty="0"/>
              <a:t>，</a:t>
            </a:r>
            <a:r>
              <a:rPr lang="zh-CN" altLang="zh-CN" dirty="0">
                <a:solidFill>
                  <a:srgbClr val="FF0000"/>
                </a:solidFill>
              </a:rPr>
              <a:t>一旦定时器超过</a:t>
            </a:r>
            <a:r>
              <a:rPr lang="en-US" altLang="zh-CN" i="1" dirty="0">
                <a:solidFill>
                  <a:srgbClr val="FF0000"/>
                </a:solidFill>
              </a:rPr>
              <a:t>T</a:t>
            </a:r>
            <a:r>
              <a:rPr lang="en-US" altLang="zh-CN" i="1" baseline="-25000" dirty="0">
                <a:solidFill>
                  <a:srgbClr val="FF0000"/>
                </a:solidFill>
              </a:rPr>
              <a:t>d</a:t>
            </a:r>
            <a:r>
              <a:rPr lang="zh-CN" altLang="zh-CN" dirty="0"/>
              <a:t>，</a:t>
            </a:r>
            <a:r>
              <a:rPr lang="zh-CN" altLang="zh-CN" dirty="0">
                <a:solidFill>
                  <a:srgbClr val="FF0000"/>
                </a:solidFill>
              </a:rPr>
              <a:t>节点广播</a:t>
            </a:r>
            <a:r>
              <a:rPr lang="en-US" altLang="zh-CN" dirty="0">
                <a:solidFill>
                  <a:srgbClr val="FF0000"/>
                </a:solidFill>
              </a:rPr>
              <a:t>Discovery </a:t>
            </a:r>
            <a:r>
              <a:rPr lang="zh-CN" altLang="zh-CN" dirty="0">
                <a:solidFill>
                  <a:srgbClr val="FF0000"/>
                </a:solidFill>
              </a:rPr>
              <a:t>消息</a:t>
            </a:r>
            <a:r>
              <a:rPr lang="zh-CN" altLang="zh-CN" dirty="0"/>
              <a:t>，同时转换到活动状态</a:t>
            </a:r>
            <a:r>
              <a:rPr lang="zh-CN" altLang="zh-CN" dirty="0" smtClean="0"/>
              <a:t>。</a:t>
            </a:r>
            <a:endParaRPr lang="en-US" altLang="zh-CN" dirty="0" smtClean="0"/>
          </a:p>
          <a:p>
            <a:r>
              <a:rPr lang="zh-CN" altLang="zh-CN" dirty="0" smtClean="0"/>
              <a:t>如果</a:t>
            </a:r>
            <a:r>
              <a:rPr lang="zh-CN" altLang="zh-CN" dirty="0"/>
              <a:t>在计时器超时之前节点</a:t>
            </a:r>
            <a:r>
              <a:rPr lang="zh-CN" altLang="zh-CN" dirty="0">
                <a:solidFill>
                  <a:srgbClr val="FF0000"/>
                </a:solidFill>
              </a:rPr>
              <a:t>收到其他节点成为簇头的声明</a:t>
            </a:r>
            <a:r>
              <a:rPr lang="zh-CN" altLang="zh-CN" dirty="0"/>
              <a:t>，则取消计时器，</a:t>
            </a:r>
            <a:r>
              <a:rPr lang="zh-CN" altLang="zh-CN" dirty="0">
                <a:solidFill>
                  <a:srgbClr val="FF0000"/>
                </a:solidFill>
              </a:rPr>
              <a:t>进入休眠状态</a:t>
            </a:r>
            <a:r>
              <a:rPr lang="zh-CN" altLang="zh-CN" dirty="0" smtClean="0"/>
              <a:t>。</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5.4.1.1  GAF</a:t>
            </a:r>
            <a:r>
              <a:rPr lang="zh-CN" altLang="zh-CN" b="1" dirty="0"/>
              <a:t>路由</a:t>
            </a:r>
            <a:r>
              <a:rPr lang="zh-CN" altLang="zh-CN" b="1" dirty="0" smtClean="0"/>
              <a:t>协议</a:t>
            </a:r>
            <a:endParaRPr lang="en-US" altLang="zh-CN" b="1" dirty="0" smtClean="0"/>
          </a:p>
          <a:p>
            <a:r>
              <a:rPr lang="zh-CN" altLang="zh-CN" dirty="0"/>
              <a:t>状态间的</a:t>
            </a:r>
            <a:r>
              <a:rPr lang="zh-CN" altLang="zh-CN" dirty="0" smtClean="0"/>
              <a:t>转换</a:t>
            </a:r>
            <a:r>
              <a:rPr lang="zh-CN" altLang="en-US" dirty="0" smtClean="0"/>
              <a:t>（续）</a:t>
            </a:r>
            <a:endParaRPr lang="en-US" altLang="zh-CN" dirty="0"/>
          </a:p>
          <a:p>
            <a:r>
              <a:rPr lang="zh-CN" altLang="zh-CN" dirty="0" smtClean="0"/>
              <a:t>当</a:t>
            </a:r>
            <a:r>
              <a:rPr lang="zh-CN" altLang="zh-CN" dirty="0"/>
              <a:t>节点进入</a:t>
            </a:r>
            <a:r>
              <a:rPr lang="zh-CN" altLang="zh-CN" dirty="0">
                <a:solidFill>
                  <a:srgbClr val="FF0000"/>
                </a:solidFill>
              </a:rPr>
              <a:t>活动状态</a:t>
            </a:r>
            <a:r>
              <a:rPr lang="zh-CN" altLang="zh-CN" dirty="0"/>
              <a:t>时，每个节点设置一个计时器</a:t>
            </a:r>
            <a:r>
              <a:rPr lang="en-US" altLang="zh-CN" dirty="0"/>
              <a:t> A</a:t>
            </a:r>
            <a:r>
              <a:rPr lang="zh-CN" altLang="zh-CN" dirty="0"/>
              <a:t>，表示节点处于活动状者的时间。</a:t>
            </a:r>
            <a:r>
              <a:rPr lang="zh-CN" altLang="zh-CN" dirty="0">
                <a:solidFill>
                  <a:srgbClr val="FF0000"/>
                </a:solidFill>
              </a:rPr>
              <a:t>一旦计时器</a:t>
            </a:r>
            <a:r>
              <a:rPr lang="en-US" altLang="zh-CN" dirty="0">
                <a:solidFill>
                  <a:srgbClr val="FF0000"/>
                </a:solidFill>
              </a:rPr>
              <a:t>A</a:t>
            </a:r>
            <a:r>
              <a:rPr lang="zh-CN" altLang="zh-CN" dirty="0">
                <a:solidFill>
                  <a:srgbClr val="FF0000"/>
                </a:solidFill>
              </a:rPr>
              <a:t>超时</a:t>
            </a:r>
            <a:r>
              <a:rPr lang="en-US" altLang="zh-CN" i="1" dirty="0">
                <a:solidFill>
                  <a:srgbClr val="FF0000"/>
                </a:solidFill>
              </a:rPr>
              <a:t>T</a:t>
            </a:r>
            <a:r>
              <a:rPr lang="en-US" altLang="zh-CN" i="1" baseline="-25000" dirty="0">
                <a:solidFill>
                  <a:srgbClr val="FF0000"/>
                </a:solidFill>
              </a:rPr>
              <a:t>a</a:t>
            </a:r>
            <a:r>
              <a:rPr lang="zh-CN" altLang="zh-CN" dirty="0">
                <a:solidFill>
                  <a:srgbClr val="FF0000"/>
                </a:solidFill>
              </a:rPr>
              <a:t>，节点转换到发现状态</a:t>
            </a:r>
            <a:r>
              <a:rPr lang="zh-CN" altLang="zh-CN" dirty="0" smtClean="0"/>
              <a:t>。</a:t>
            </a:r>
            <a:endParaRPr lang="en-US" altLang="zh-CN" dirty="0" smtClean="0"/>
          </a:p>
          <a:p>
            <a:r>
              <a:rPr lang="zh-CN" altLang="zh-CN" dirty="0" smtClean="0"/>
              <a:t>在</a:t>
            </a:r>
            <a:r>
              <a:rPr lang="zh-CN" altLang="zh-CN" dirty="0"/>
              <a:t>节点处于活动状态期间，以</a:t>
            </a:r>
            <a:r>
              <a:rPr lang="zh-CN" altLang="zh-CN" dirty="0">
                <a:solidFill>
                  <a:srgbClr val="FF0000"/>
                </a:solidFill>
              </a:rPr>
              <a:t>时间间隔</a:t>
            </a:r>
            <a:r>
              <a:rPr lang="en-US" altLang="zh-CN" i="1" dirty="0">
                <a:solidFill>
                  <a:srgbClr val="FF0000"/>
                </a:solidFill>
              </a:rPr>
              <a:t>T</a:t>
            </a:r>
            <a:r>
              <a:rPr lang="en-US" altLang="zh-CN" i="1" baseline="-25000" dirty="0">
                <a:solidFill>
                  <a:srgbClr val="FF0000"/>
                </a:solidFill>
              </a:rPr>
              <a:t>d</a:t>
            </a:r>
            <a:r>
              <a:rPr lang="zh-CN" altLang="zh-CN" dirty="0">
                <a:solidFill>
                  <a:srgbClr val="FF0000"/>
                </a:solidFill>
              </a:rPr>
              <a:t>重复广播</a:t>
            </a:r>
            <a:r>
              <a:rPr lang="en-US" altLang="zh-CN" dirty="0">
                <a:solidFill>
                  <a:srgbClr val="FF0000"/>
                </a:solidFill>
              </a:rPr>
              <a:t>Discovery</a:t>
            </a:r>
            <a:r>
              <a:rPr lang="zh-CN" altLang="zh-CN" dirty="0">
                <a:solidFill>
                  <a:srgbClr val="FF0000"/>
                </a:solidFill>
              </a:rPr>
              <a:t>消息</a:t>
            </a:r>
            <a:r>
              <a:rPr lang="zh-CN" altLang="zh-CN" dirty="0"/>
              <a:t>，以便压制其他处于发现状态的节点进入活动状态。</a:t>
            </a:r>
            <a:endParaRPr lang="zh-CN" altLang="zh-CN" b="1" dirty="0"/>
          </a:p>
        </p:txBody>
      </p:sp>
      <p:graphicFrame>
        <p:nvGraphicFramePr>
          <p:cNvPr id="4" name="对象 3"/>
          <p:cNvGraphicFramePr>
            <a:graphicFrameLocks noChangeAspect="1"/>
          </p:cNvGraphicFramePr>
          <p:nvPr/>
        </p:nvGraphicFramePr>
        <p:xfrm>
          <a:off x="6918325" y="2726266"/>
          <a:ext cx="171450" cy="228600"/>
        </p:xfrm>
        <a:graphic>
          <a:graphicData uri="http://schemas.openxmlformats.org/presentationml/2006/ole">
            <mc:AlternateContent xmlns:mc="http://schemas.openxmlformats.org/markup-compatibility/2006">
              <mc:Choice xmlns:v="urn:schemas-microsoft-com:vml" Requires="v">
                <p:oleObj spid="_x0000_s13496" name="公式" r:id="rId1" imgW="165100" imgH="228600" progId="Equation.3">
                  <p:embed/>
                </p:oleObj>
              </mc:Choice>
              <mc:Fallback>
                <p:oleObj name="公式" r:id="rId1" imgW="165100" imgH="228600"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8325" y="27262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6918325" y="2954866"/>
          <a:ext cx="171450" cy="228600"/>
        </p:xfrm>
        <a:graphic>
          <a:graphicData uri="http://schemas.openxmlformats.org/presentationml/2006/ole">
            <mc:AlternateContent xmlns:mc="http://schemas.openxmlformats.org/markup-compatibility/2006">
              <mc:Choice xmlns:v="urn:schemas-microsoft-com:vml" Requires="v">
                <p:oleObj spid="_x0000_s13497" name="公式" r:id="rId3" imgW="165100" imgH="228600" progId="Equation.3">
                  <p:embed/>
                </p:oleObj>
              </mc:Choice>
              <mc:Fallback>
                <p:oleObj name="公式" r:id="rId3" imgW="165100" imgH="2286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8325" y="29548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6918325" y="3183466"/>
          <a:ext cx="152400" cy="228600"/>
        </p:xfrm>
        <a:graphic>
          <a:graphicData uri="http://schemas.openxmlformats.org/presentationml/2006/ole">
            <mc:AlternateContent xmlns:mc="http://schemas.openxmlformats.org/markup-compatibility/2006">
              <mc:Choice xmlns:v="urn:schemas-microsoft-com:vml" Requires="v">
                <p:oleObj spid="_x0000_s13498" name="公式" r:id="rId5" imgW="152400" imgH="228600" progId="Equation.3">
                  <p:embed/>
                </p:oleObj>
              </mc:Choice>
              <mc:Fallback>
                <p:oleObj name="公式" r:id="rId5" imgW="152400" imgH="228600"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8325" y="3183466"/>
                        <a:ext cx="152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8" name="标题 7"/>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5.4.1.1  GAF</a:t>
            </a:r>
            <a:r>
              <a:rPr lang="zh-CN" altLang="zh-CN" b="1" dirty="0"/>
              <a:t>路由</a:t>
            </a:r>
            <a:r>
              <a:rPr lang="zh-CN" altLang="zh-CN" b="1" dirty="0" smtClean="0"/>
              <a:t>协议</a:t>
            </a:r>
            <a:endParaRPr lang="en-US" altLang="zh-CN" b="1" dirty="0" smtClean="0"/>
          </a:p>
          <a:p>
            <a:r>
              <a:rPr lang="zh-CN" altLang="zh-CN" dirty="0" smtClean="0"/>
              <a:t>基于</a:t>
            </a:r>
            <a:r>
              <a:rPr lang="zh-CN" altLang="zh-CN" dirty="0">
                <a:solidFill>
                  <a:srgbClr val="FF0000"/>
                </a:solidFill>
              </a:rPr>
              <a:t>平面模型</a:t>
            </a:r>
            <a:r>
              <a:rPr lang="zh-CN" altLang="zh-CN" dirty="0"/>
              <a:t>，以节点间的距离来度量是否能够通信，而在实际应用中距离邻近的节点可能因为各种因素不能直接通信</a:t>
            </a:r>
            <a:r>
              <a:rPr lang="zh-CN" altLang="zh-CN" dirty="0" smtClean="0"/>
              <a:t>。</a:t>
            </a:r>
            <a:endParaRPr lang="en-US" altLang="zh-CN" dirty="0" smtClean="0"/>
          </a:p>
          <a:p>
            <a:r>
              <a:rPr lang="zh-CN" altLang="zh-CN" dirty="0" smtClean="0">
                <a:solidFill>
                  <a:srgbClr val="FF0000"/>
                </a:solidFill>
              </a:rPr>
              <a:t>没有</a:t>
            </a:r>
            <a:r>
              <a:rPr lang="zh-CN" altLang="zh-CN" dirty="0">
                <a:solidFill>
                  <a:srgbClr val="FF0000"/>
                </a:solidFill>
              </a:rPr>
              <a:t>考虑节点能耗均衡</a:t>
            </a:r>
            <a:r>
              <a:rPr lang="zh-CN" altLang="zh-CN" dirty="0"/>
              <a:t>的问题。</a:t>
            </a:r>
            <a:endParaRPr lang="zh-CN" altLang="zh-CN" b="1" dirty="0"/>
          </a:p>
        </p:txBody>
      </p:sp>
      <p:graphicFrame>
        <p:nvGraphicFramePr>
          <p:cNvPr id="4" name="对象 3"/>
          <p:cNvGraphicFramePr>
            <a:graphicFrameLocks noChangeAspect="1"/>
          </p:cNvGraphicFramePr>
          <p:nvPr/>
        </p:nvGraphicFramePr>
        <p:xfrm>
          <a:off x="6918325" y="2726266"/>
          <a:ext cx="171450" cy="228600"/>
        </p:xfrm>
        <a:graphic>
          <a:graphicData uri="http://schemas.openxmlformats.org/presentationml/2006/ole">
            <mc:AlternateContent xmlns:mc="http://schemas.openxmlformats.org/markup-compatibility/2006">
              <mc:Choice xmlns:v="urn:schemas-microsoft-com:vml" Requires="v">
                <p:oleObj spid="_x0000_s14518" name="公式" r:id="rId1" imgW="165100" imgH="228600" progId="Equation.3">
                  <p:embed/>
                </p:oleObj>
              </mc:Choice>
              <mc:Fallback>
                <p:oleObj name="公式" r:id="rId1" imgW="165100" imgH="228600"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8325" y="27262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6918325" y="2954866"/>
          <a:ext cx="171450" cy="228600"/>
        </p:xfrm>
        <a:graphic>
          <a:graphicData uri="http://schemas.openxmlformats.org/presentationml/2006/ole">
            <mc:AlternateContent xmlns:mc="http://schemas.openxmlformats.org/markup-compatibility/2006">
              <mc:Choice xmlns:v="urn:schemas-microsoft-com:vml" Requires="v">
                <p:oleObj spid="_x0000_s14519" name="公式" r:id="rId3" imgW="165100" imgH="228600" progId="Equation.3">
                  <p:embed/>
                </p:oleObj>
              </mc:Choice>
              <mc:Fallback>
                <p:oleObj name="公式" r:id="rId3" imgW="165100" imgH="2286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8325" y="29548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6918325" y="3183466"/>
          <a:ext cx="152400" cy="228600"/>
        </p:xfrm>
        <a:graphic>
          <a:graphicData uri="http://schemas.openxmlformats.org/presentationml/2006/ole">
            <mc:AlternateContent xmlns:mc="http://schemas.openxmlformats.org/markup-compatibility/2006">
              <mc:Choice xmlns:v="urn:schemas-microsoft-com:vml" Requires="v">
                <p:oleObj spid="_x0000_s14520" name="公式" r:id="rId5" imgW="152400" imgH="228600" progId="Equation.3">
                  <p:embed/>
                </p:oleObj>
              </mc:Choice>
              <mc:Fallback>
                <p:oleObj name="公式" r:id="rId5" imgW="152400" imgH="228600"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8325" y="3183466"/>
                        <a:ext cx="152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8" name="标题 7"/>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5.4.1.2  GEAR</a:t>
            </a:r>
            <a:r>
              <a:rPr lang="zh-CN" altLang="zh-CN" b="1" dirty="0"/>
              <a:t>路由</a:t>
            </a:r>
            <a:r>
              <a:rPr lang="zh-CN" altLang="zh-CN" b="1" dirty="0" smtClean="0"/>
              <a:t>协议</a:t>
            </a:r>
            <a:endParaRPr lang="en-US" altLang="zh-CN" b="1" dirty="0" smtClean="0"/>
          </a:p>
          <a:p>
            <a:r>
              <a:rPr lang="en-US" altLang="zh-CN" dirty="0" smtClean="0"/>
              <a:t>GEAR</a:t>
            </a:r>
            <a:r>
              <a:rPr lang="zh-CN" altLang="en-US" dirty="0" smtClean="0"/>
              <a:t>：</a:t>
            </a:r>
            <a:r>
              <a:rPr lang="en-US" altLang="zh-CN" dirty="0" smtClean="0"/>
              <a:t>Geographical </a:t>
            </a:r>
            <a:r>
              <a:rPr lang="en-US" altLang="zh-CN" dirty="0"/>
              <a:t>and Energy-Aware Routing</a:t>
            </a:r>
            <a:r>
              <a:rPr lang="zh-CN" altLang="zh-CN" dirty="0"/>
              <a:t>，</a:t>
            </a:r>
            <a:r>
              <a:rPr lang="zh-CN" altLang="zh-CN" dirty="0">
                <a:solidFill>
                  <a:srgbClr val="FF0000"/>
                </a:solidFill>
              </a:rPr>
              <a:t>地理和能源敏感</a:t>
            </a:r>
            <a:r>
              <a:rPr lang="zh-CN" altLang="zh-CN" dirty="0" smtClean="0">
                <a:solidFill>
                  <a:srgbClr val="FF0000"/>
                </a:solidFill>
              </a:rPr>
              <a:t>路由</a:t>
            </a:r>
            <a:r>
              <a:rPr lang="zh-CN" altLang="zh-CN" dirty="0" smtClean="0"/>
              <a:t>协议</a:t>
            </a:r>
            <a:endParaRPr lang="en-US" altLang="zh-CN" dirty="0" smtClean="0"/>
          </a:p>
          <a:p>
            <a:r>
              <a:rPr lang="zh-CN" altLang="zh-CN" dirty="0" smtClean="0"/>
              <a:t>根据</a:t>
            </a:r>
            <a:r>
              <a:rPr lang="zh-CN" altLang="zh-CN" dirty="0"/>
              <a:t>事件区域的</a:t>
            </a:r>
            <a:r>
              <a:rPr lang="zh-CN" altLang="zh-CN" dirty="0">
                <a:solidFill>
                  <a:srgbClr val="FF0000"/>
                </a:solidFill>
              </a:rPr>
              <a:t>地理位置信息和节点的剩余能量</a:t>
            </a:r>
            <a:r>
              <a:rPr lang="zh-CN" altLang="zh-CN" dirty="0"/>
              <a:t>，建立汇聚节点到事件区域的优化路径，避免了洪泛传播方式，从而减少了路由建立的开销，使能量得以有效利用。</a:t>
            </a:r>
            <a:endParaRPr lang="zh-CN" altLang="zh-CN" dirty="0"/>
          </a:p>
        </p:txBody>
      </p:sp>
      <p:graphicFrame>
        <p:nvGraphicFramePr>
          <p:cNvPr id="4" name="对象 3"/>
          <p:cNvGraphicFramePr>
            <a:graphicFrameLocks noChangeAspect="1"/>
          </p:cNvGraphicFramePr>
          <p:nvPr/>
        </p:nvGraphicFramePr>
        <p:xfrm>
          <a:off x="6918325" y="2726266"/>
          <a:ext cx="171450" cy="228600"/>
        </p:xfrm>
        <a:graphic>
          <a:graphicData uri="http://schemas.openxmlformats.org/presentationml/2006/ole">
            <mc:AlternateContent xmlns:mc="http://schemas.openxmlformats.org/markup-compatibility/2006">
              <mc:Choice xmlns:v="urn:schemas-microsoft-com:vml" Requires="v">
                <p:oleObj spid="_x0000_s15542" name="公式" r:id="rId1" imgW="165100" imgH="228600" progId="Equation.3">
                  <p:embed/>
                </p:oleObj>
              </mc:Choice>
              <mc:Fallback>
                <p:oleObj name="公式" r:id="rId1" imgW="165100" imgH="228600"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8325" y="27262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6918325" y="2954866"/>
          <a:ext cx="171450" cy="228600"/>
        </p:xfrm>
        <a:graphic>
          <a:graphicData uri="http://schemas.openxmlformats.org/presentationml/2006/ole">
            <mc:AlternateContent xmlns:mc="http://schemas.openxmlformats.org/markup-compatibility/2006">
              <mc:Choice xmlns:v="urn:schemas-microsoft-com:vml" Requires="v">
                <p:oleObj spid="_x0000_s15543" name="公式" r:id="rId3" imgW="165100" imgH="228600" progId="Equation.3">
                  <p:embed/>
                </p:oleObj>
              </mc:Choice>
              <mc:Fallback>
                <p:oleObj name="公式" r:id="rId3" imgW="165100" imgH="2286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8325" y="29548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6918325" y="3183466"/>
          <a:ext cx="152400" cy="228600"/>
        </p:xfrm>
        <a:graphic>
          <a:graphicData uri="http://schemas.openxmlformats.org/presentationml/2006/ole">
            <mc:AlternateContent xmlns:mc="http://schemas.openxmlformats.org/markup-compatibility/2006">
              <mc:Choice xmlns:v="urn:schemas-microsoft-com:vml" Requires="v">
                <p:oleObj spid="_x0000_s15544" name="公式" r:id="rId5" imgW="152400" imgH="228600" progId="Equation.3">
                  <p:embed/>
                </p:oleObj>
              </mc:Choice>
              <mc:Fallback>
                <p:oleObj name="公式" r:id="rId5" imgW="152400" imgH="228600"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8325" y="3183466"/>
                        <a:ext cx="152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8" name="标题 7"/>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fontScale="92500"/>
          </a:bodyPr>
          <a:lstStyle/>
          <a:p>
            <a:r>
              <a:rPr lang="en-US" altLang="zh-CN" b="1" dirty="0"/>
              <a:t>5.4.1.2  GEAR</a:t>
            </a:r>
            <a:r>
              <a:rPr lang="zh-CN" altLang="zh-CN" b="1" dirty="0"/>
              <a:t>路由</a:t>
            </a:r>
            <a:r>
              <a:rPr lang="zh-CN" altLang="zh-CN" b="1" dirty="0" smtClean="0"/>
              <a:t>协议</a:t>
            </a:r>
            <a:endParaRPr lang="en-US" altLang="zh-CN" b="1" dirty="0" smtClean="0"/>
          </a:p>
          <a:p>
            <a:r>
              <a:rPr lang="zh-CN" altLang="zh-CN" dirty="0" smtClean="0"/>
              <a:t>假设</a:t>
            </a:r>
            <a:r>
              <a:rPr lang="zh-CN" altLang="zh-CN" dirty="0"/>
              <a:t>已知事件区域的位置信息；每个节点知道自己的位置信息和剩余能量信息，并通过一个</a:t>
            </a:r>
            <a:r>
              <a:rPr lang="zh-CN" altLang="zh-CN" dirty="0">
                <a:solidFill>
                  <a:srgbClr val="FF0000"/>
                </a:solidFill>
              </a:rPr>
              <a:t>简单的</a:t>
            </a:r>
            <a:r>
              <a:rPr lang="en-US" altLang="zh-CN" dirty="0">
                <a:solidFill>
                  <a:srgbClr val="FF0000"/>
                </a:solidFill>
              </a:rPr>
              <a:t>HELLO</a:t>
            </a:r>
            <a:r>
              <a:rPr lang="zh-CN" altLang="zh-CN" dirty="0">
                <a:solidFill>
                  <a:srgbClr val="FF0000"/>
                </a:solidFill>
              </a:rPr>
              <a:t>消息交换机制知道所有邻居节点的位置信息和剩余能量信息</a:t>
            </a:r>
            <a:r>
              <a:rPr lang="zh-CN" altLang="zh-CN" dirty="0"/>
              <a:t>；节点间的无线链路是</a:t>
            </a:r>
            <a:r>
              <a:rPr lang="zh-CN" altLang="zh-CN" dirty="0">
                <a:solidFill>
                  <a:srgbClr val="FF0000"/>
                </a:solidFill>
              </a:rPr>
              <a:t>对称</a:t>
            </a:r>
            <a:r>
              <a:rPr lang="zh-CN" altLang="zh-CN" dirty="0"/>
              <a:t>的</a:t>
            </a:r>
            <a:r>
              <a:rPr lang="zh-CN" altLang="zh-CN" dirty="0" smtClean="0"/>
              <a:t>。</a:t>
            </a:r>
            <a:endParaRPr lang="en-US" altLang="zh-CN" dirty="0" smtClean="0"/>
          </a:p>
          <a:p>
            <a:r>
              <a:rPr lang="en-US" altLang="zh-CN" dirty="0" smtClean="0"/>
              <a:t>GEAR</a:t>
            </a:r>
            <a:r>
              <a:rPr lang="zh-CN" altLang="zh-CN" dirty="0"/>
              <a:t>路由中查询消息传播包括两个阶段：</a:t>
            </a:r>
            <a:endParaRPr lang="zh-CN" altLang="zh-CN" dirty="0"/>
          </a:p>
          <a:p>
            <a:r>
              <a:rPr lang="zh-CN" altLang="zh-CN" dirty="0"/>
              <a:t>（</a:t>
            </a:r>
            <a:r>
              <a:rPr lang="en-US" altLang="zh-CN" dirty="0"/>
              <a:t>1</a:t>
            </a:r>
            <a:r>
              <a:rPr lang="zh-CN" altLang="zh-CN" dirty="0"/>
              <a:t>）</a:t>
            </a:r>
            <a:r>
              <a:rPr lang="en-US" altLang="zh-CN" dirty="0"/>
              <a:t>Sink</a:t>
            </a:r>
            <a:r>
              <a:rPr lang="zh-CN" altLang="zh-CN" dirty="0"/>
              <a:t>发出</a:t>
            </a:r>
            <a:r>
              <a:rPr lang="zh-CN" altLang="zh-CN" dirty="0">
                <a:solidFill>
                  <a:srgbClr val="FF0000"/>
                </a:solidFill>
              </a:rPr>
              <a:t>查询命令</a:t>
            </a:r>
            <a:r>
              <a:rPr lang="zh-CN" altLang="zh-CN" dirty="0"/>
              <a:t>，并根据事件区域的地理位置和剩余能量，将查询命令传送到区域内距汇聚节点最近的节点；</a:t>
            </a:r>
            <a:endParaRPr lang="zh-CN" altLang="zh-CN" dirty="0"/>
          </a:p>
          <a:p>
            <a:r>
              <a:rPr lang="zh-CN" altLang="zh-CN" dirty="0"/>
              <a:t>（</a:t>
            </a:r>
            <a:r>
              <a:rPr lang="en-US" altLang="zh-CN" dirty="0"/>
              <a:t>2</a:t>
            </a:r>
            <a:r>
              <a:rPr lang="zh-CN" altLang="zh-CN" dirty="0"/>
              <a:t>）获得查询命令的节点将</a:t>
            </a:r>
            <a:r>
              <a:rPr lang="zh-CN" altLang="zh-CN" dirty="0">
                <a:solidFill>
                  <a:srgbClr val="FF0000"/>
                </a:solidFill>
              </a:rPr>
              <a:t>查询命令广播</a:t>
            </a:r>
            <a:r>
              <a:rPr lang="zh-CN" altLang="zh-CN" dirty="0"/>
              <a:t>到区域内的其他所有节点。来自查询区域内节点的监测数据</a:t>
            </a:r>
            <a:r>
              <a:rPr lang="zh-CN" altLang="zh-CN" dirty="0">
                <a:solidFill>
                  <a:srgbClr val="FF0000"/>
                </a:solidFill>
              </a:rPr>
              <a:t>沿查询消息的反向路径传送到</a:t>
            </a:r>
            <a:r>
              <a:rPr lang="en-US" altLang="zh-CN" dirty="0">
                <a:solidFill>
                  <a:srgbClr val="FF0000"/>
                </a:solidFill>
              </a:rPr>
              <a:t>Sink</a:t>
            </a:r>
            <a:r>
              <a:rPr lang="zh-CN" altLang="zh-CN" dirty="0"/>
              <a:t>。</a:t>
            </a:r>
            <a:endParaRPr lang="zh-CN" altLang="zh-CN" dirty="0"/>
          </a:p>
        </p:txBody>
      </p:sp>
      <p:graphicFrame>
        <p:nvGraphicFramePr>
          <p:cNvPr id="4" name="对象 3"/>
          <p:cNvGraphicFramePr>
            <a:graphicFrameLocks noChangeAspect="1"/>
          </p:cNvGraphicFramePr>
          <p:nvPr/>
        </p:nvGraphicFramePr>
        <p:xfrm>
          <a:off x="6918325" y="2726266"/>
          <a:ext cx="171450" cy="228600"/>
        </p:xfrm>
        <a:graphic>
          <a:graphicData uri="http://schemas.openxmlformats.org/presentationml/2006/ole">
            <mc:AlternateContent xmlns:mc="http://schemas.openxmlformats.org/markup-compatibility/2006">
              <mc:Choice xmlns:v="urn:schemas-microsoft-com:vml" Requires="v">
                <p:oleObj spid="_x0000_s16566" name="公式" r:id="rId1" imgW="165100" imgH="228600" progId="Equation.3">
                  <p:embed/>
                </p:oleObj>
              </mc:Choice>
              <mc:Fallback>
                <p:oleObj name="公式" r:id="rId1" imgW="165100" imgH="228600"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8325" y="27262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6918325" y="2954866"/>
          <a:ext cx="171450" cy="228600"/>
        </p:xfrm>
        <a:graphic>
          <a:graphicData uri="http://schemas.openxmlformats.org/presentationml/2006/ole">
            <mc:AlternateContent xmlns:mc="http://schemas.openxmlformats.org/markup-compatibility/2006">
              <mc:Choice xmlns:v="urn:schemas-microsoft-com:vml" Requires="v">
                <p:oleObj spid="_x0000_s16567" name="公式" r:id="rId3" imgW="165100" imgH="228600" progId="Equation.3">
                  <p:embed/>
                </p:oleObj>
              </mc:Choice>
              <mc:Fallback>
                <p:oleObj name="公式" r:id="rId3" imgW="165100" imgH="2286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8325" y="29548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6918325" y="3183466"/>
          <a:ext cx="152400" cy="228600"/>
        </p:xfrm>
        <a:graphic>
          <a:graphicData uri="http://schemas.openxmlformats.org/presentationml/2006/ole">
            <mc:AlternateContent xmlns:mc="http://schemas.openxmlformats.org/markup-compatibility/2006">
              <mc:Choice xmlns:v="urn:schemas-microsoft-com:vml" Requires="v">
                <p:oleObj spid="_x0000_s16568" name="公式" r:id="rId5" imgW="152400" imgH="228600" progId="Equation.3">
                  <p:embed/>
                </p:oleObj>
              </mc:Choice>
              <mc:Fallback>
                <p:oleObj name="公式" r:id="rId5" imgW="152400" imgH="228600"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8325" y="3183466"/>
                        <a:ext cx="152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8" name="标题 7"/>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5.4.1.3  GPSR</a:t>
            </a:r>
            <a:r>
              <a:rPr lang="zh-CN" altLang="zh-CN" b="1" dirty="0"/>
              <a:t>协议</a:t>
            </a:r>
            <a:endParaRPr lang="zh-CN" altLang="zh-CN" dirty="0"/>
          </a:p>
          <a:p>
            <a:r>
              <a:rPr lang="en-US" altLang="zh-CN" dirty="0" smtClean="0"/>
              <a:t>GPSR</a:t>
            </a:r>
            <a:r>
              <a:rPr lang="zh-CN" altLang="en-US" dirty="0" smtClean="0"/>
              <a:t>：</a:t>
            </a:r>
            <a:r>
              <a:rPr lang="en-US" altLang="zh-CN" dirty="0" smtClean="0"/>
              <a:t>Greedy </a:t>
            </a:r>
            <a:r>
              <a:rPr lang="en-US" altLang="zh-CN" dirty="0"/>
              <a:t>Perimeter Stateless Routing</a:t>
            </a:r>
            <a:r>
              <a:rPr lang="zh-CN" altLang="zh-CN" dirty="0"/>
              <a:t>，</a:t>
            </a:r>
            <a:r>
              <a:rPr lang="zh-CN" altLang="zh-CN" dirty="0">
                <a:solidFill>
                  <a:srgbClr val="FF0000"/>
                </a:solidFill>
              </a:rPr>
              <a:t>贪婪周边无状态</a:t>
            </a:r>
            <a:r>
              <a:rPr lang="zh-CN" altLang="zh-CN" dirty="0" smtClean="0">
                <a:solidFill>
                  <a:srgbClr val="FF0000"/>
                </a:solidFill>
              </a:rPr>
              <a:t>路由</a:t>
            </a:r>
            <a:r>
              <a:rPr lang="zh-CN" altLang="zh-CN" dirty="0" smtClean="0"/>
              <a:t>协议</a:t>
            </a:r>
            <a:endParaRPr lang="en-US" altLang="zh-CN" dirty="0" smtClean="0"/>
          </a:p>
          <a:p>
            <a:r>
              <a:rPr lang="zh-CN" altLang="zh-CN" dirty="0" smtClean="0"/>
              <a:t>网络</a:t>
            </a:r>
            <a:r>
              <a:rPr lang="zh-CN" altLang="zh-CN" dirty="0"/>
              <a:t>节点都知道自身地理位置并被统一</a:t>
            </a:r>
            <a:r>
              <a:rPr lang="zh-CN" altLang="zh-CN" dirty="0" smtClean="0"/>
              <a:t>编址</a:t>
            </a:r>
            <a:endParaRPr lang="en-US" altLang="zh-CN" dirty="0" smtClean="0"/>
          </a:p>
          <a:p>
            <a:r>
              <a:rPr lang="zh-CN" altLang="zh-CN" dirty="0" smtClean="0"/>
              <a:t>各</a:t>
            </a:r>
            <a:r>
              <a:rPr lang="zh-CN" altLang="zh-CN" dirty="0"/>
              <a:t>节点利用</a:t>
            </a:r>
            <a:r>
              <a:rPr lang="zh-CN" altLang="zh-CN" dirty="0">
                <a:solidFill>
                  <a:srgbClr val="FF0000"/>
                </a:solidFill>
              </a:rPr>
              <a:t>贪心算法</a:t>
            </a:r>
            <a:r>
              <a:rPr lang="zh-CN" altLang="zh-CN" dirty="0"/>
              <a:t>尽量沿</a:t>
            </a:r>
            <a:r>
              <a:rPr lang="zh-CN" altLang="zh-CN" dirty="0">
                <a:solidFill>
                  <a:srgbClr val="FF0000"/>
                </a:solidFill>
              </a:rPr>
              <a:t>直线转发数据</a:t>
            </a:r>
            <a:r>
              <a:rPr lang="zh-CN" altLang="zh-CN" dirty="0"/>
              <a:t>，产生或收到数据的节点向以欧氏距离计算最靠近目的节点的邻节点转发</a:t>
            </a:r>
            <a:r>
              <a:rPr lang="zh-CN" altLang="zh-CN" dirty="0" smtClean="0"/>
              <a:t>数据</a:t>
            </a:r>
            <a:endParaRPr lang="en-US" altLang="zh-CN" dirty="0" smtClean="0"/>
          </a:p>
          <a:p>
            <a:r>
              <a:rPr lang="zh-CN" altLang="zh-CN" dirty="0" smtClean="0"/>
              <a:t>但</a:t>
            </a:r>
            <a:r>
              <a:rPr lang="zh-CN" altLang="zh-CN" dirty="0"/>
              <a:t>由于数据会到达没有比该节点更接近目的节点的区域</a:t>
            </a:r>
            <a:r>
              <a:rPr lang="en-US" altLang="zh-CN" dirty="0"/>
              <a:t>(</a:t>
            </a:r>
            <a:r>
              <a:rPr lang="zh-CN" altLang="zh-CN" dirty="0"/>
              <a:t>称为</a:t>
            </a:r>
            <a:r>
              <a:rPr lang="zh-CN" altLang="zh-CN" b="1" dirty="0">
                <a:solidFill>
                  <a:srgbClr val="FF0000"/>
                </a:solidFill>
              </a:rPr>
              <a:t>空洞</a:t>
            </a:r>
            <a:r>
              <a:rPr lang="en-US" altLang="zh-CN" b="1" dirty="0"/>
              <a:t>)</a:t>
            </a:r>
            <a:r>
              <a:rPr lang="zh-CN" altLang="zh-CN" dirty="0"/>
              <a:t>，导致数据无法传输，当出现这种情况时，空洞周围的节点能够探测到，并利用</a:t>
            </a:r>
            <a:r>
              <a:rPr lang="zh-CN" altLang="zh-CN" b="1" dirty="0">
                <a:solidFill>
                  <a:srgbClr val="FF0000"/>
                </a:solidFill>
              </a:rPr>
              <a:t>右手法则</a:t>
            </a:r>
            <a:r>
              <a:rPr lang="zh-CN" altLang="zh-CN" dirty="0"/>
              <a:t>沿空洞周围传输来解决此问题</a:t>
            </a:r>
            <a:r>
              <a:rPr lang="zh-CN" altLang="zh-CN" dirty="0" smtClean="0"/>
              <a:t>。</a:t>
            </a:r>
            <a:endParaRPr lang="en-US" altLang="zh-CN" dirty="0" smtClean="0"/>
          </a:p>
        </p:txBody>
      </p:sp>
      <p:graphicFrame>
        <p:nvGraphicFramePr>
          <p:cNvPr id="4" name="对象 3"/>
          <p:cNvGraphicFramePr>
            <a:graphicFrameLocks noChangeAspect="1"/>
          </p:cNvGraphicFramePr>
          <p:nvPr/>
        </p:nvGraphicFramePr>
        <p:xfrm>
          <a:off x="6918325" y="2726266"/>
          <a:ext cx="171450" cy="228600"/>
        </p:xfrm>
        <a:graphic>
          <a:graphicData uri="http://schemas.openxmlformats.org/presentationml/2006/ole">
            <mc:AlternateContent xmlns:mc="http://schemas.openxmlformats.org/markup-compatibility/2006">
              <mc:Choice xmlns:v="urn:schemas-microsoft-com:vml" Requires="v">
                <p:oleObj spid="_x0000_s17590" name="公式" r:id="rId1" imgW="165100" imgH="228600" progId="Equation.3">
                  <p:embed/>
                </p:oleObj>
              </mc:Choice>
              <mc:Fallback>
                <p:oleObj name="公式" r:id="rId1" imgW="165100" imgH="228600"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8325" y="27262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6918325" y="2954866"/>
          <a:ext cx="171450" cy="228600"/>
        </p:xfrm>
        <a:graphic>
          <a:graphicData uri="http://schemas.openxmlformats.org/presentationml/2006/ole">
            <mc:AlternateContent xmlns:mc="http://schemas.openxmlformats.org/markup-compatibility/2006">
              <mc:Choice xmlns:v="urn:schemas-microsoft-com:vml" Requires="v">
                <p:oleObj spid="_x0000_s17591" name="公式" r:id="rId3" imgW="165100" imgH="228600" progId="Equation.3">
                  <p:embed/>
                </p:oleObj>
              </mc:Choice>
              <mc:Fallback>
                <p:oleObj name="公式" r:id="rId3" imgW="165100" imgH="2286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8325" y="29548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6918325" y="3183466"/>
          <a:ext cx="152400" cy="228600"/>
        </p:xfrm>
        <a:graphic>
          <a:graphicData uri="http://schemas.openxmlformats.org/presentationml/2006/ole">
            <mc:AlternateContent xmlns:mc="http://schemas.openxmlformats.org/markup-compatibility/2006">
              <mc:Choice xmlns:v="urn:schemas-microsoft-com:vml" Requires="v">
                <p:oleObj spid="_x0000_s17592" name="公式" r:id="rId5" imgW="152400" imgH="228600" progId="Equation.3">
                  <p:embed/>
                </p:oleObj>
              </mc:Choice>
              <mc:Fallback>
                <p:oleObj name="公式" r:id="rId5" imgW="152400" imgH="228600"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8325" y="3183466"/>
                        <a:ext cx="152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8" name="标题 7"/>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5.4.1.3  GPSR</a:t>
            </a:r>
            <a:r>
              <a:rPr lang="zh-CN" altLang="zh-CN" b="1" dirty="0"/>
              <a:t>协议</a:t>
            </a:r>
            <a:endParaRPr lang="zh-CN" altLang="zh-CN" dirty="0"/>
          </a:p>
          <a:p>
            <a:r>
              <a:rPr lang="zh-CN" altLang="en-US" dirty="0" smtClean="0"/>
              <a:t>优点：</a:t>
            </a:r>
            <a:r>
              <a:rPr lang="zh-CN" altLang="zh-CN" dirty="0" smtClean="0"/>
              <a:t>避免</a:t>
            </a:r>
            <a:r>
              <a:rPr lang="zh-CN" altLang="zh-CN" dirty="0"/>
              <a:t>了在节点中建立、维护、存储路由表，只依赖直接邻节点进行路由选择，几乎是一个</a:t>
            </a:r>
            <a:r>
              <a:rPr lang="zh-CN" altLang="zh-CN" dirty="0">
                <a:solidFill>
                  <a:srgbClr val="FF0000"/>
                </a:solidFill>
              </a:rPr>
              <a:t>无状态的协议</a:t>
            </a:r>
            <a:r>
              <a:rPr lang="zh-CN" altLang="zh-CN" dirty="0"/>
              <a:t>；且使用接近于最短欧氏距离的路由，</a:t>
            </a:r>
            <a:r>
              <a:rPr lang="zh-CN" altLang="zh-CN" dirty="0">
                <a:solidFill>
                  <a:srgbClr val="FF0000"/>
                </a:solidFill>
              </a:rPr>
              <a:t>数据传输时延小</a:t>
            </a:r>
            <a:r>
              <a:rPr lang="zh-CN" altLang="zh-CN" dirty="0"/>
              <a:t>；并能保证只要网络连通性不被破坏，</a:t>
            </a:r>
            <a:r>
              <a:rPr lang="zh-CN" altLang="zh-CN" dirty="0">
                <a:solidFill>
                  <a:srgbClr val="FF0000"/>
                </a:solidFill>
              </a:rPr>
              <a:t>一定能够发现可达路由</a:t>
            </a:r>
            <a:r>
              <a:rPr lang="zh-CN" altLang="zh-CN" dirty="0" smtClean="0"/>
              <a:t>。</a:t>
            </a:r>
            <a:endParaRPr lang="en-US" altLang="zh-CN" dirty="0" smtClean="0"/>
          </a:p>
          <a:p>
            <a:r>
              <a:rPr lang="zh-CN" altLang="zh-CN" dirty="0" smtClean="0"/>
              <a:t>缺点</a:t>
            </a:r>
            <a:r>
              <a:rPr lang="zh-CN" altLang="en-US" dirty="0" smtClean="0"/>
              <a:t>：</a:t>
            </a:r>
            <a:r>
              <a:rPr lang="zh-CN" altLang="zh-CN" dirty="0" smtClean="0"/>
              <a:t>当</a:t>
            </a:r>
            <a:r>
              <a:rPr lang="zh-CN" altLang="zh-CN" dirty="0"/>
              <a:t>网络中</a:t>
            </a:r>
            <a:r>
              <a:rPr lang="en-US" altLang="zh-CN" dirty="0"/>
              <a:t>sink</a:t>
            </a:r>
            <a:r>
              <a:rPr lang="zh-CN" altLang="zh-CN" dirty="0"/>
              <a:t>节点和源节点分别集中在两个区域时，由于通信量不平衡易导致</a:t>
            </a:r>
            <a:r>
              <a:rPr lang="zh-CN" altLang="zh-CN" dirty="0">
                <a:solidFill>
                  <a:srgbClr val="FF0000"/>
                </a:solidFill>
              </a:rPr>
              <a:t>部分节点失效</a:t>
            </a:r>
            <a:r>
              <a:rPr lang="zh-CN" altLang="zh-CN" dirty="0"/>
              <a:t>，从而破坏网络连通性；需要</a:t>
            </a:r>
            <a:r>
              <a:rPr lang="en-US" altLang="zh-CN" dirty="0"/>
              <a:t>GPS</a:t>
            </a:r>
            <a:r>
              <a:rPr lang="zh-CN" altLang="zh-CN" dirty="0"/>
              <a:t>或其他定位方法</a:t>
            </a:r>
            <a:r>
              <a:rPr lang="zh-CN" altLang="zh-CN" dirty="0">
                <a:solidFill>
                  <a:srgbClr val="FF0000"/>
                </a:solidFill>
              </a:rPr>
              <a:t>协助计算节点位置信息</a:t>
            </a:r>
            <a:r>
              <a:rPr lang="zh-CN" altLang="zh-CN" dirty="0"/>
              <a:t>。</a:t>
            </a:r>
            <a:endParaRPr lang="zh-CN" altLang="zh-CN" b="1" dirty="0"/>
          </a:p>
        </p:txBody>
      </p:sp>
      <p:graphicFrame>
        <p:nvGraphicFramePr>
          <p:cNvPr id="4" name="对象 3"/>
          <p:cNvGraphicFramePr>
            <a:graphicFrameLocks noChangeAspect="1"/>
          </p:cNvGraphicFramePr>
          <p:nvPr/>
        </p:nvGraphicFramePr>
        <p:xfrm>
          <a:off x="6918325" y="2726266"/>
          <a:ext cx="171450" cy="228600"/>
        </p:xfrm>
        <a:graphic>
          <a:graphicData uri="http://schemas.openxmlformats.org/presentationml/2006/ole">
            <mc:AlternateContent xmlns:mc="http://schemas.openxmlformats.org/markup-compatibility/2006">
              <mc:Choice xmlns:v="urn:schemas-microsoft-com:vml" Requires="v">
                <p:oleObj spid="_x0000_s18614" name="公式" r:id="rId1" imgW="165100" imgH="228600" progId="Equation.3">
                  <p:embed/>
                </p:oleObj>
              </mc:Choice>
              <mc:Fallback>
                <p:oleObj name="公式" r:id="rId1" imgW="165100" imgH="228600"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8325" y="27262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6918325" y="2954866"/>
          <a:ext cx="171450" cy="228600"/>
        </p:xfrm>
        <a:graphic>
          <a:graphicData uri="http://schemas.openxmlformats.org/presentationml/2006/ole">
            <mc:AlternateContent xmlns:mc="http://schemas.openxmlformats.org/markup-compatibility/2006">
              <mc:Choice xmlns:v="urn:schemas-microsoft-com:vml" Requires="v">
                <p:oleObj spid="_x0000_s18615" name="公式" r:id="rId3" imgW="165100" imgH="228600" progId="Equation.3">
                  <p:embed/>
                </p:oleObj>
              </mc:Choice>
              <mc:Fallback>
                <p:oleObj name="公式" r:id="rId3" imgW="165100" imgH="2286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8325" y="295486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6918325" y="3183466"/>
          <a:ext cx="152400" cy="228600"/>
        </p:xfrm>
        <a:graphic>
          <a:graphicData uri="http://schemas.openxmlformats.org/presentationml/2006/ole">
            <mc:AlternateContent xmlns:mc="http://schemas.openxmlformats.org/markup-compatibility/2006">
              <mc:Choice xmlns:v="urn:schemas-microsoft-com:vml" Requires="v">
                <p:oleObj spid="_x0000_s18616" name="公式" r:id="rId5" imgW="152400" imgH="228600" progId="Equation.3">
                  <p:embed/>
                </p:oleObj>
              </mc:Choice>
              <mc:Fallback>
                <p:oleObj name="公式" r:id="rId5" imgW="152400" imgH="228600"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8325" y="3183466"/>
                        <a:ext cx="152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8" name="标题 7"/>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fontScale="92500" lnSpcReduction="10000"/>
          </a:bodyPr>
          <a:lstStyle/>
          <a:p>
            <a:r>
              <a:rPr lang="en-US" altLang="zh-CN" b="1" dirty="0"/>
              <a:t>5.4.2  </a:t>
            </a:r>
            <a:r>
              <a:rPr lang="en-US" altLang="zh-CN" b="1" dirty="0" err="1"/>
              <a:t>QoS路由</a:t>
            </a:r>
            <a:r>
              <a:rPr lang="zh-CN" altLang="zh-CN" b="1" dirty="0"/>
              <a:t>协议</a:t>
            </a:r>
            <a:endParaRPr lang="zh-CN" altLang="zh-CN" b="1" dirty="0"/>
          </a:p>
          <a:p>
            <a:r>
              <a:rPr lang="en-US" altLang="zh-CN" dirty="0" err="1" smtClean="0"/>
              <a:t>QoS</a:t>
            </a:r>
            <a:r>
              <a:rPr lang="zh-CN" altLang="en-US" dirty="0"/>
              <a:t>：</a:t>
            </a:r>
            <a:r>
              <a:rPr lang="en-US" altLang="zh-CN" dirty="0" smtClean="0"/>
              <a:t>Quality </a:t>
            </a:r>
            <a:r>
              <a:rPr lang="en-US" altLang="zh-CN" dirty="0"/>
              <a:t>of </a:t>
            </a:r>
            <a:r>
              <a:rPr lang="en-US" altLang="zh-CN" dirty="0" smtClean="0"/>
              <a:t>Service</a:t>
            </a:r>
            <a:r>
              <a:rPr lang="zh-CN" altLang="en-US" dirty="0" smtClean="0"/>
              <a:t>，</a:t>
            </a:r>
            <a:r>
              <a:rPr lang="zh-CN" altLang="en-US" dirty="0" smtClean="0">
                <a:solidFill>
                  <a:srgbClr val="FF0000"/>
                </a:solidFill>
              </a:rPr>
              <a:t>服务质量</a:t>
            </a:r>
            <a:r>
              <a:rPr lang="zh-CN" altLang="en-US" dirty="0" smtClean="0"/>
              <a:t>。</a:t>
            </a:r>
            <a:r>
              <a:rPr lang="zh-CN" altLang="zh-CN" dirty="0" smtClean="0"/>
              <a:t>常用指标</a:t>
            </a:r>
            <a:r>
              <a:rPr lang="zh-CN" altLang="en-US" dirty="0"/>
              <a:t>有</a:t>
            </a:r>
            <a:r>
              <a:rPr lang="zh-CN" altLang="zh-CN" dirty="0" smtClean="0">
                <a:solidFill>
                  <a:srgbClr val="FF0000"/>
                </a:solidFill>
              </a:rPr>
              <a:t>延迟</a:t>
            </a:r>
            <a:r>
              <a:rPr lang="zh-CN" altLang="zh-CN" dirty="0">
                <a:solidFill>
                  <a:srgbClr val="FF0000"/>
                </a:solidFill>
              </a:rPr>
              <a:t>、吞吐率和可靠性</a:t>
            </a:r>
            <a:r>
              <a:rPr lang="zh-CN" altLang="zh-CN" dirty="0"/>
              <a:t>等。</a:t>
            </a:r>
            <a:endParaRPr lang="en-US" altLang="zh-CN" dirty="0"/>
          </a:p>
          <a:p>
            <a:r>
              <a:rPr lang="en-US" altLang="zh-CN" dirty="0" err="1" smtClean="0"/>
              <a:t>QoS</a:t>
            </a:r>
            <a:r>
              <a:rPr lang="zh-CN" altLang="zh-CN" dirty="0" smtClean="0"/>
              <a:t>路由</a:t>
            </a:r>
            <a:r>
              <a:rPr lang="zh-CN" altLang="zh-CN" dirty="0"/>
              <a:t>是指除了需要减少能耗以外，还要满足某些其他服务质量需求的路由</a:t>
            </a:r>
            <a:r>
              <a:rPr lang="zh-CN" altLang="zh-CN" dirty="0" smtClean="0"/>
              <a:t>。</a:t>
            </a:r>
            <a:endParaRPr lang="en-US" altLang="zh-CN" dirty="0" smtClean="0"/>
          </a:p>
          <a:p>
            <a:r>
              <a:rPr lang="en-US" altLang="zh-CN" dirty="0" err="1" smtClean="0"/>
              <a:t>QoS</a:t>
            </a:r>
            <a:r>
              <a:rPr lang="zh-CN" altLang="zh-CN" dirty="0"/>
              <a:t>路由并非仅仅要优化网络的某项性能，而是要</a:t>
            </a:r>
            <a:r>
              <a:rPr lang="zh-CN" altLang="zh-CN" dirty="0">
                <a:solidFill>
                  <a:srgbClr val="FF0000"/>
                </a:solidFill>
              </a:rPr>
              <a:t>保证网络提供的路由服务必须满足一个给定的服务质量界限</a:t>
            </a:r>
            <a:r>
              <a:rPr lang="zh-CN" altLang="zh-CN" dirty="0" smtClean="0"/>
              <a:t>。</a:t>
            </a:r>
            <a:r>
              <a:rPr lang="zh-CN" altLang="en-US" dirty="0" smtClean="0"/>
              <a:t>如在</a:t>
            </a:r>
            <a:r>
              <a:rPr lang="zh-CN" altLang="zh-CN" dirty="0" smtClean="0"/>
              <a:t>实时</a:t>
            </a:r>
            <a:r>
              <a:rPr lang="zh-CN" altLang="zh-CN" dirty="0"/>
              <a:t>性要求的系统中，端到端传输延迟不得高于给定</a:t>
            </a:r>
            <a:r>
              <a:rPr lang="zh-CN" altLang="zh-CN" dirty="0" smtClean="0"/>
              <a:t>阈值</a:t>
            </a:r>
            <a:r>
              <a:rPr lang="zh-CN" altLang="en-US" dirty="0" smtClean="0"/>
              <a:t>。</a:t>
            </a:r>
            <a:endParaRPr lang="en-US" altLang="zh-CN" dirty="0" smtClean="0"/>
          </a:p>
          <a:p>
            <a:r>
              <a:rPr lang="zh-CN" altLang="zh-CN" dirty="0" smtClean="0"/>
              <a:t>由于</a:t>
            </a:r>
            <a:r>
              <a:rPr lang="zh-CN" altLang="zh-CN" dirty="0"/>
              <a:t>每个节点只有局部信息，为了达到服务质量要求，每个节点在选择下一跳节点时都只能</a:t>
            </a:r>
            <a:r>
              <a:rPr lang="zh-CN" altLang="zh-CN" dirty="0">
                <a:solidFill>
                  <a:srgbClr val="FF0000"/>
                </a:solidFill>
              </a:rPr>
              <a:t>估计整条路径可能达到的服务质量</a:t>
            </a:r>
            <a:r>
              <a:rPr lang="zh-CN" altLang="zh-CN" dirty="0" smtClean="0"/>
              <a:t>。</a:t>
            </a:r>
            <a:r>
              <a:rPr lang="en-US" altLang="zh-CN" dirty="0" err="1" smtClean="0"/>
              <a:t>QoS</a:t>
            </a:r>
            <a:r>
              <a:rPr lang="zh-CN" altLang="zh-CN" dirty="0" smtClean="0"/>
              <a:t>路由关键</a:t>
            </a:r>
            <a:r>
              <a:rPr lang="zh-CN" altLang="en-US" dirty="0" smtClean="0"/>
              <a:t>：</a:t>
            </a:r>
            <a:r>
              <a:rPr lang="zh-CN" altLang="zh-CN" dirty="0" smtClean="0">
                <a:solidFill>
                  <a:srgbClr val="FF0000"/>
                </a:solidFill>
              </a:rPr>
              <a:t>如何</a:t>
            </a:r>
            <a:r>
              <a:rPr lang="zh-CN" altLang="zh-CN" dirty="0">
                <a:solidFill>
                  <a:srgbClr val="FF0000"/>
                </a:solidFill>
              </a:rPr>
              <a:t>将全局服务质量转换为局部路由</a:t>
            </a:r>
            <a:r>
              <a:rPr lang="zh-CN" altLang="zh-CN" dirty="0" smtClean="0">
                <a:solidFill>
                  <a:srgbClr val="FF0000"/>
                </a:solidFill>
              </a:rPr>
              <a:t>指标</a:t>
            </a:r>
            <a:r>
              <a:rPr lang="zh-CN" altLang="zh-CN" dirty="0" smtClean="0"/>
              <a:t>。</a:t>
            </a:r>
            <a:endParaRPr lang="zh-CN" altLang="zh-CN" b="1"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fontScale="92500"/>
          </a:bodyPr>
          <a:lstStyle/>
          <a:p>
            <a:r>
              <a:rPr lang="en-US" altLang="zh-CN" b="1" dirty="0"/>
              <a:t>5.4.2.1  SPEED</a:t>
            </a:r>
            <a:r>
              <a:rPr lang="zh-CN" altLang="zh-CN" b="1" dirty="0"/>
              <a:t>路由协议</a:t>
            </a:r>
            <a:endParaRPr lang="zh-CN" altLang="zh-CN" dirty="0"/>
          </a:p>
          <a:p>
            <a:r>
              <a:rPr lang="zh-CN" altLang="en-US" dirty="0" smtClean="0"/>
              <a:t>目标：</a:t>
            </a:r>
            <a:r>
              <a:rPr lang="zh-CN" altLang="zh-CN" dirty="0" smtClean="0"/>
              <a:t>拥塞控制</a:t>
            </a:r>
            <a:r>
              <a:rPr lang="zh-CN" altLang="zh-CN" dirty="0"/>
              <a:t>和软实时提供</a:t>
            </a:r>
            <a:r>
              <a:rPr lang="zh-CN" altLang="zh-CN" dirty="0" smtClean="0"/>
              <a:t>保证</a:t>
            </a:r>
            <a:r>
              <a:rPr lang="zh-CN" altLang="en-US" dirty="0" smtClean="0"/>
              <a:t>，</a:t>
            </a:r>
            <a:r>
              <a:rPr lang="zh-CN" altLang="zh-CN" dirty="0" smtClean="0"/>
              <a:t>利用</a:t>
            </a:r>
            <a:r>
              <a:rPr lang="zh-CN" altLang="zh-CN" dirty="0"/>
              <a:t>地理位置信息的</a:t>
            </a:r>
            <a:r>
              <a:rPr lang="en-US" altLang="zh-CN" dirty="0" err="1"/>
              <a:t>QoS</a:t>
            </a:r>
            <a:r>
              <a:rPr lang="zh-CN" altLang="zh-CN" dirty="0"/>
              <a:t>路由，主要针对</a:t>
            </a:r>
            <a:r>
              <a:rPr lang="zh-CN" altLang="zh-CN" dirty="0">
                <a:solidFill>
                  <a:srgbClr val="FF0000"/>
                </a:solidFill>
              </a:rPr>
              <a:t>传输速率有一定要求</a:t>
            </a:r>
            <a:r>
              <a:rPr lang="zh-CN" altLang="zh-CN" dirty="0"/>
              <a:t>的应用场景</a:t>
            </a:r>
            <a:r>
              <a:rPr lang="zh-CN" altLang="zh-CN" dirty="0" smtClean="0"/>
              <a:t>。</a:t>
            </a:r>
            <a:endParaRPr lang="en-US" altLang="zh-CN" dirty="0" smtClean="0"/>
          </a:p>
          <a:p>
            <a:r>
              <a:rPr lang="zh-CN" altLang="en-US" dirty="0" smtClean="0"/>
              <a:t>方法：</a:t>
            </a:r>
            <a:r>
              <a:rPr lang="zh-CN" altLang="zh-CN" dirty="0" smtClean="0"/>
              <a:t>选择</a:t>
            </a:r>
            <a:r>
              <a:rPr lang="zh-CN" altLang="zh-CN" dirty="0"/>
              <a:t>下一跳</a:t>
            </a:r>
            <a:r>
              <a:rPr lang="zh-CN" altLang="zh-CN" dirty="0" smtClean="0"/>
              <a:t>节点</a:t>
            </a:r>
            <a:r>
              <a:rPr lang="zh-CN" altLang="en-US" dirty="0" smtClean="0"/>
              <a:t>时</a:t>
            </a:r>
            <a:r>
              <a:rPr lang="zh-CN" altLang="zh-CN" dirty="0" smtClean="0"/>
              <a:t>不仅根据</a:t>
            </a:r>
            <a:r>
              <a:rPr lang="zh-CN" altLang="zh-CN" dirty="0" smtClean="0">
                <a:solidFill>
                  <a:srgbClr val="FF0000"/>
                </a:solidFill>
              </a:rPr>
              <a:t>地理位置</a:t>
            </a:r>
            <a:r>
              <a:rPr lang="zh-CN" altLang="zh-CN" dirty="0" smtClean="0"/>
              <a:t>，</a:t>
            </a:r>
            <a:r>
              <a:rPr lang="zh-CN" altLang="en-US" dirty="0" smtClean="0"/>
              <a:t>而且</a:t>
            </a:r>
            <a:r>
              <a:rPr lang="zh-CN" altLang="zh-CN" dirty="0" smtClean="0"/>
              <a:t>加入</a:t>
            </a:r>
            <a:r>
              <a:rPr lang="zh-CN" altLang="zh-CN" dirty="0"/>
              <a:t>了</a:t>
            </a:r>
            <a:r>
              <a:rPr lang="zh-CN" altLang="zh-CN" dirty="0">
                <a:solidFill>
                  <a:srgbClr val="FF0000"/>
                </a:solidFill>
              </a:rPr>
              <a:t>传输速率</a:t>
            </a:r>
            <a:r>
              <a:rPr lang="zh-CN" altLang="zh-CN" dirty="0" smtClean="0"/>
              <a:t>。</a:t>
            </a:r>
            <a:r>
              <a:rPr lang="en-US" altLang="zh-CN" dirty="0" smtClean="0"/>
              <a:t>SPEED</a:t>
            </a:r>
            <a:r>
              <a:rPr lang="zh-CN" altLang="zh-CN" dirty="0"/>
              <a:t>通过选择传输速率较高的下一跳，</a:t>
            </a:r>
            <a:r>
              <a:rPr lang="zh-CN" altLang="zh-CN" dirty="0" smtClean="0"/>
              <a:t>可以</a:t>
            </a:r>
            <a:r>
              <a:rPr lang="zh-CN" altLang="zh-CN" dirty="0" smtClean="0">
                <a:solidFill>
                  <a:srgbClr val="FF0000"/>
                </a:solidFill>
              </a:rPr>
              <a:t>均衡</a:t>
            </a:r>
            <a:r>
              <a:rPr lang="zh-CN" altLang="zh-CN" dirty="0">
                <a:solidFill>
                  <a:srgbClr val="FF0000"/>
                </a:solidFill>
              </a:rPr>
              <a:t>网络</a:t>
            </a:r>
            <a:r>
              <a:rPr lang="zh-CN" altLang="zh-CN" dirty="0" smtClean="0">
                <a:solidFill>
                  <a:srgbClr val="FF0000"/>
                </a:solidFill>
              </a:rPr>
              <a:t>负载</a:t>
            </a:r>
            <a:r>
              <a:rPr lang="zh-CN" altLang="zh-CN" dirty="0" smtClean="0"/>
              <a:t>。</a:t>
            </a:r>
            <a:endParaRPr lang="en-US" altLang="zh-CN" dirty="0" smtClean="0"/>
          </a:p>
          <a:p>
            <a:r>
              <a:rPr lang="en-US" altLang="zh-CN" dirty="0" smtClean="0"/>
              <a:t>SPEED</a:t>
            </a:r>
            <a:r>
              <a:rPr lang="zh-CN" altLang="zh-CN" dirty="0"/>
              <a:t>协议首先交换节点的传输延迟，以得到网络负载情况；然后节点利用局部地理信息和传输速率信息做出路由决定，同时通过邻居反馈机制保证网络传输速率在一个全局定义的传输速率阈值之上。节点还通过反向压力路由变更机制</a:t>
            </a:r>
            <a:r>
              <a:rPr lang="zh-CN" altLang="zh-CN" dirty="0">
                <a:solidFill>
                  <a:srgbClr val="FF0000"/>
                </a:solidFill>
              </a:rPr>
              <a:t>避开延迟太大的链路和路由空洞</a:t>
            </a:r>
            <a:r>
              <a:rPr lang="zh-CN" altLang="zh-CN" dirty="0" smtClean="0"/>
              <a:t>。</a:t>
            </a:r>
            <a:endParaRPr lang="en-US" altLang="zh-CN" dirty="0" smtClean="0"/>
          </a:p>
          <a:p>
            <a:r>
              <a:rPr lang="zh-CN" altLang="zh-CN" dirty="0" smtClean="0"/>
              <a:t>但是</a:t>
            </a:r>
            <a:r>
              <a:rPr lang="en-US" altLang="zh-CN" dirty="0" smtClean="0"/>
              <a:t>SPEED</a:t>
            </a:r>
            <a:r>
              <a:rPr lang="zh-CN" altLang="zh-CN" dirty="0" smtClean="0"/>
              <a:t>未</a:t>
            </a:r>
            <a:r>
              <a:rPr lang="zh-CN" altLang="zh-CN" dirty="0"/>
              <a:t>考虑网络</a:t>
            </a:r>
            <a:r>
              <a:rPr lang="zh-CN" altLang="zh-CN" dirty="0" smtClean="0"/>
              <a:t>中多种</a:t>
            </a:r>
            <a:r>
              <a:rPr lang="zh-CN" altLang="zh-CN" dirty="0">
                <a:solidFill>
                  <a:srgbClr val="FF0000"/>
                </a:solidFill>
              </a:rPr>
              <a:t>不同传输速率</a:t>
            </a:r>
            <a:r>
              <a:rPr lang="zh-CN" altLang="zh-CN" dirty="0" smtClean="0">
                <a:solidFill>
                  <a:srgbClr val="FF0000"/>
                </a:solidFill>
              </a:rPr>
              <a:t>要求并存</a:t>
            </a:r>
            <a:r>
              <a:rPr lang="zh-CN" altLang="zh-CN" dirty="0" smtClean="0"/>
              <a:t>情况</a:t>
            </a:r>
            <a:r>
              <a:rPr lang="zh-CN" altLang="zh-CN" dirty="0"/>
              <a:t>。</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5.4.2.1  SPEED</a:t>
            </a:r>
            <a:r>
              <a:rPr lang="zh-CN" altLang="zh-CN" b="1" dirty="0"/>
              <a:t>路由协议</a:t>
            </a:r>
            <a:endParaRPr lang="zh-CN" altLang="zh-CN" dirty="0"/>
          </a:p>
          <a:p>
            <a:r>
              <a:rPr lang="en-US" altLang="zh-CN" dirty="0"/>
              <a:t>SPEED</a:t>
            </a:r>
            <a:r>
              <a:rPr lang="zh-CN" altLang="zh-CN" dirty="0" smtClean="0"/>
              <a:t>协议</a:t>
            </a:r>
            <a:r>
              <a:rPr lang="zh-CN" altLang="en-US" dirty="0" smtClean="0"/>
              <a:t>的</a:t>
            </a:r>
            <a:r>
              <a:rPr lang="en-US" altLang="zh-CN" dirty="0" smtClean="0"/>
              <a:t>4</a:t>
            </a:r>
            <a:r>
              <a:rPr lang="zh-CN" altLang="en-US" dirty="0" smtClean="0"/>
              <a:t>个</a:t>
            </a:r>
            <a:r>
              <a:rPr lang="zh-CN" altLang="zh-CN" dirty="0" smtClean="0"/>
              <a:t>部分：</a:t>
            </a:r>
            <a:endParaRPr lang="zh-CN" altLang="zh-CN" dirty="0"/>
          </a:p>
          <a:p>
            <a:r>
              <a:rPr lang="zh-CN" altLang="zh-CN" dirty="0" smtClean="0">
                <a:solidFill>
                  <a:srgbClr val="FF0000"/>
                </a:solidFill>
              </a:rPr>
              <a:t>延迟</a:t>
            </a:r>
            <a:r>
              <a:rPr lang="zh-CN" altLang="zh-CN" dirty="0">
                <a:solidFill>
                  <a:srgbClr val="FF0000"/>
                </a:solidFill>
              </a:rPr>
              <a:t>估计</a:t>
            </a:r>
            <a:r>
              <a:rPr lang="zh-CN" altLang="zh-CN" dirty="0"/>
              <a:t>机制</a:t>
            </a:r>
            <a:r>
              <a:rPr lang="zh-CN" altLang="zh-CN" dirty="0" smtClean="0"/>
              <a:t>，得到网络负载</a:t>
            </a:r>
            <a:r>
              <a:rPr lang="zh-CN" altLang="zh-CN" dirty="0"/>
              <a:t>情况，判断网络是否发生拥塞；</a:t>
            </a:r>
            <a:endParaRPr lang="zh-CN" altLang="zh-CN" dirty="0"/>
          </a:p>
          <a:p>
            <a:r>
              <a:rPr lang="zh-CN" altLang="zh-CN" dirty="0" smtClean="0">
                <a:solidFill>
                  <a:srgbClr val="FF0000"/>
                </a:solidFill>
              </a:rPr>
              <a:t>无</a:t>
            </a:r>
            <a:r>
              <a:rPr lang="zh-CN" altLang="zh-CN" dirty="0">
                <a:solidFill>
                  <a:srgbClr val="FF0000"/>
                </a:solidFill>
              </a:rPr>
              <a:t>状态非确定位置转发</a:t>
            </a:r>
            <a:r>
              <a:rPr lang="en-US" altLang="zh-CN" dirty="0"/>
              <a:t>SNGF</a:t>
            </a:r>
            <a:r>
              <a:rPr lang="zh-CN" altLang="zh-CN" dirty="0"/>
              <a:t>（</a:t>
            </a:r>
            <a:r>
              <a:rPr lang="en-US" altLang="zh-CN" dirty="0"/>
              <a:t>Stateless Non-deterministic Geographic Forwarding</a:t>
            </a:r>
            <a:r>
              <a:rPr lang="zh-CN" altLang="zh-CN" dirty="0"/>
              <a:t>，）算法，用来选择满足传输速率要求的下一跳节点；</a:t>
            </a:r>
            <a:endParaRPr lang="zh-CN" altLang="zh-CN" dirty="0"/>
          </a:p>
          <a:p>
            <a:r>
              <a:rPr lang="zh-CN" altLang="zh-CN" dirty="0" smtClean="0">
                <a:solidFill>
                  <a:srgbClr val="FF0000"/>
                </a:solidFill>
              </a:rPr>
              <a:t>邻居</a:t>
            </a:r>
            <a:r>
              <a:rPr lang="zh-CN" altLang="zh-CN" dirty="0">
                <a:solidFill>
                  <a:srgbClr val="FF0000"/>
                </a:solidFill>
              </a:rPr>
              <a:t>反馈环策略</a:t>
            </a:r>
            <a:r>
              <a:rPr lang="en-US" altLang="zh-CN" dirty="0"/>
              <a:t>NFL</a:t>
            </a:r>
            <a:r>
              <a:rPr lang="zh-CN" altLang="zh-CN" dirty="0"/>
              <a:t>（</a:t>
            </a:r>
            <a:r>
              <a:rPr lang="en-US" altLang="zh-CN" dirty="0"/>
              <a:t>Neighborhood Feedback Loop</a:t>
            </a:r>
            <a:r>
              <a:rPr lang="zh-CN" altLang="zh-CN" dirty="0" smtClean="0"/>
              <a:t>）</a:t>
            </a:r>
            <a:r>
              <a:rPr lang="zh-CN" altLang="en-US" dirty="0" smtClean="0"/>
              <a:t>：</a:t>
            </a:r>
            <a:r>
              <a:rPr lang="zh-CN" altLang="zh-CN" dirty="0" smtClean="0"/>
              <a:t>在</a:t>
            </a:r>
            <a:r>
              <a:rPr lang="en-US" altLang="zh-CN" dirty="0"/>
              <a:t>SNGF</a:t>
            </a:r>
            <a:r>
              <a:rPr lang="zh-CN" altLang="zh-CN" dirty="0"/>
              <a:t>路由算法中找不到满足要求的下一跳节点时采取的补偿机制；</a:t>
            </a:r>
            <a:endParaRPr lang="zh-CN" altLang="zh-CN" dirty="0"/>
          </a:p>
          <a:p>
            <a:r>
              <a:rPr lang="zh-CN" altLang="zh-CN" dirty="0" smtClean="0">
                <a:solidFill>
                  <a:srgbClr val="FF0000"/>
                </a:solidFill>
              </a:rPr>
              <a:t>反向</a:t>
            </a:r>
            <a:r>
              <a:rPr lang="zh-CN" altLang="zh-CN" dirty="0">
                <a:solidFill>
                  <a:srgbClr val="FF0000"/>
                </a:solidFill>
              </a:rPr>
              <a:t>压力路由变更</a:t>
            </a:r>
            <a:r>
              <a:rPr lang="zh-CN" altLang="zh-CN" dirty="0"/>
              <a:t>机制，用来避免拥塞和路由空洞</a:t>
            </a:r>
            <a:r>
              <a:rPr lang="zh-CN" altLang="zh-CN" dirty="0" smtClean="0"/>
              <a:t>。</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5" name="标题 4"/>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5.4.2.1  SPEED</a:t>
            </a:r>
            <a:r>
              <a:rPr lang="zh-CN" altLang="zh-CN" b="1" dirty="0"/>
              <a:t>路由协议</a:t>
            </a:r>
            <a:endParaRPr lang="zh-CN" altLang="zh-CN" dirty="0"/>
          </a:p>
          <a:p>
            <a:r>
              <a:rPr lang="en-US" altLang="zh-CN" dirty="0"/>
              <a:t>SPEED</a:t>
            </a:r>
            <a:r>
              <a:rPr lang="zh-CN" altLang="zh-CN" dirty="0" smtClean="0"/>
              <a:t>协议</a:t>
            </a:r>
            <a:r>
              <a:rPr lang="zh-CN" altLang="en-US" dirty="0" smtClean="0"/>
              <a:t>各个</a:t>
            </a:r>
            <a:r>
              <a:rPr lang="zh-CN" altLang="zh-CN" dirty="0" smtClean="0"/>
              <a:t>部分</a:t>
            </a:r>
            <a:r>
              <a:rPr lang="zh-CN" altLang="en-US" dirty="0" smtClean="0"/>
              <a:t>关系</a:t>
            </a:r>
            <a:r>
              <a:rPr lang="zh-CN" altLang="zh-CN" dirty="0" smtClean="0"/>
              <a:t>：</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7" name="矩形 16"/>
          <p:cNvSpPr/>
          <p:nvPr/>
        </p:nvSpPr>
        <p:spPr>
          <a:xfrm>
            <a:off x="4336224" y="5909245"/>
            <a:ext cx="2659702" cy="369332"/>
          </a:xfrm>
          <a:prstGeom prst="rect">
            <a:avLst/>
          </a:prstGeom>
        </p:spPr>
        <p:txBody>
          <a:bodyPr wrap="none">
            <a:spAutoFit/>
          </a:bodyPr>
          <a:lstStyle/>
          <a:p>
            <a:r>
              <a:rPr lang="zh-CN" altLang="zh-CN" dirty="0">
                <a:latin typeface="Times New Roman" panose="02020603050405020304" charset="0"/>
                <a:ea typeface="宋体" panose="02010600030101010101" pitchFamily="2" charset="-122"/>
                <a:cs typeface="Times New Roman" panose="02020603050405020304" charset="0"/>
              </a:rPr>
              <a:t>图</a:t>
            </a:r>
            <a:r>
              <a:rPr lang="en-US" altLang="zh-CN" dirty="0">
                <a:latin typeface="Times New Roman" panose="02020603050405020304" charset="0"/>
                <a:ea typeface="宋体" panose="02010600030101010101" pitchFamily="2" charset="-122"/>
              </a:rPr>
              <a:t>5-4-2  SPEED</a:t>
            </a:r>
            <a:r>
              <a:rPr lang="zh-CN" altLang="zh-CN" dirty="0">
                <a:latin typeface="Times New Roman" panose="02020603050405020304" charset="0"/>
                <a:ea typeface="宋体" panose="02010600030101010101" pitchFamily="2" charset="-122"/>
                <a:cs typeface="Times New Roman" panose="02020603050405020304" charset="0"/>
              </a:rPr>
              <a:t>协议框架</a:t>
            </a:r>
            <a:endParaRPr lang="zh-CN" altLang="en-US" dirty="0"/>
          </a:p>
        </p:txBody>
      </p:sp>
      <p:pic>
        <p:nvPicPr>
          <p:cNvPr id="109" name="图片 108"/>
          <p:cNvPicPr/>
          <p:nvPr/>
        </p:nvPicPr>
        <p:blipFill>
          <a:blip r:embed="rId1"/>
          <a:stretch>
            <a:fillRect/>
          </a:stretch>
        </p:blipFill>
        <p:spPr>
          <a:xfrm>
            <a:off x="2215515" y="3045460"/>
            <a:ext cx="7101205" cy="2643505"/>
          </a:xfrm>
          <a:prstGeom prst="rect">
            <a:avLst/>
          </a:prstGeom>
          <a:noFill/>
          <a:ln w="9525">
            <a:noFill/>
          </a:ln>
        </p:spPr>
      </p:pic>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fontScale="92500"/>
          </a:bodyPr>
          <a:lstStyle/>
          <a:p>
            <a:r>
              <a:rPr lang="en-US" altLang="zh-CN" b="1" dirty="0"/>
              <a:t>5.4.2.2  SAR</a:t>
            </a:r>
            <a:r>
              <a:rPr lang="zh-CN" altLang="zh-CN" b="1" dirty="0"/>
              <a:t>协议</a:t>
            </a:r>
            <a:endParaRPr lang="zh-CN" altLang="zh-CN" b="1" dirty="0"/>
          </a:p>
          <a:p>
            <a:r>
              <a:rPr lang="en-US" altLang="zh-CN" dirty="0" smtClean="0"/>
              <a:t>SAR</a:t>
            </a:r>
            <a:r>
              <a:rPr lang="zh-CN" altLang="en-US" dirty="0" smtClean="0"/>
              <a:t>：</a:t>
            </a:r>
            <a:r>
              <a:rPr lang="en-US" altLang="zh-CN" dirty="0" smtClean="0"/>
              <a:t>Sequential </a:t>
            </a:r>
            <a:r>
              <a:rPr lang="en-US" altLang="zh-CN" dirty="0"/>
              <a:t>Assignment </a:t>
            </a:r>
            <a:r>
              <a:rPr lang="en-US" altLang="zh-CN" dirty="0" smtClean="0"/>
              <a:t>Routing,</a:t>
            </a:r>
            <a:r>
              <a:rPr lang="zh-CN" altLang="zh-CN" dirty="0">
                <a:solidFill>
                  <a:srgbClr val="FF0000"/>
                </a:solidFill>
              </a:rPr>
              <a:t>有序分配</a:t>
            </a:r>
            <a:r>
              <a:rPr lang="zh-CN" altLang="zh-CN" dirty="0" smtClean="0">
                <a:solidFill>
                  <a:srgbClr val="FF0000"/>
                </a:solidFill>
              </a:rPr>
              <a:t>路由</a:t>
            </a:r>
            <a:r>
              <a:rPr lang="zh-CN" altLang="zh-CN" dirty="0" smtClean="0"/>
              <a:t>协议</a:t>
            </a:r>
            <a:endParaRPr lang="en-US" altLang="zh-CN" dirty="0" smtClean="0"/>
          </a:p>
          <a:p>
            <a:r>
              <a:rPr lang="zh-CN" altLang="zh-CN" dirty="0" smtClean="0"/>
              <a:t>第一</a:t>
            </a:r>
            <a:r>
              <a:rPr lang="zh-CN" altLang="zh-CN" dirty="0"/>
              <a:t>个在无线传感器网络中</a:t>
            </a:r>
            <a:r>
              <a:rPr lang="zh-CN" altLang="zh-CN" dirty="0">
                <a:solidFill>
                  <a:srgbClr val="FF0000"/>
                </a:solidFill>
              </a:rPr>
              <a:t>保证</a:t>
            </a:r>
            <a:r>
              <a:rPr lang="en-US" altLang="zh-CN" dirty="0" err="1">
                <a:solidFill>
                  <a:srgbClr val="FF0000"/>
                </a:solidFill>
              </a:rPr>
              <a:t>QoS</a:t>
            </a:r>
            <a:r>
              <a:rPr lang="zh-CN" altLang="zh-CN" dirty="0"/>
              <a:t>的</a:t>
            </a:r>
            <a:r>
              <a:rPr lang="zh-CN" altLang="zh-CN" dirty="0">
                <a:solidFill>
                  <a:srgbClr val="FF0000"/>
                </a:solidFill>
              </a:rPr>
              <a:t>主动路由</a:t>
            </a:r>
            <a:r>
              <a:rPr lang="zh-CN" altLang="zh-CN" dirty="0"/>
              <a:t>协议</a:t>
            </a:r>
            <a:r>
              <a:rPr lang="zh-CN" altLang="zh-CN" dirty="0" smtClean="0"/>
              <a:t>。</a:t>
            </a:r>
            <a:endParaRPr lang="en-US" altLang="zh-CN" dirty="0" smtClean="0"/>
          </a:p>
          <a:p>
            <a:r>
              <a:rPr lang="en-US" altLang="zh-CN" dirty="0" smtClean="0"/>
              <a:t>sink</a:t>
            </a:r>
            <a:r>
              <a:rPr lang="zh-CN" altLang="zh-CN" dirty="0"/>
              <a:t>节点的所有一跳邻节点都以自己为根</a:t>
            </a:r>
            <a:r>
              <a:rPr lang="zh-CN" altLang="zh-CN" dirty="0">
                <a:solidFill>
                  <a:srgbClr val="FF0000"/>
                </a:solidFill>
              </a:rPr>
              <a:t>创建生成树</a:t>
            </a:r>
            <a:r>
              <a:rPr lang="zh-CN" altLang="zh-CN" dirty="0"/>
              <a:t>，在创建生成树的过程中考虑节点的</a:t>
            </a:r>
            <a:r>
              <a:rPr lang="zh-CN" altLang="zh-CN" dirty="0">
                <a:solidFill>
                  <a:srgbClr val="FF0000"/>
                </a:solidFill>
              </a:rPr>
              <a:t>时延、丢包率等</a:t>
            </a:r>
            <a:r>
              <a:rPr lang="en-US" altLang="zh-CN" dirty="0" err="1">
                <a:solidFill>
                  <a:srgbClr val="FF0000"/>
                </a:solidFill>
              </a:rPr>
              <a:t>QoS</a:t>
            </a:r>
            <a:r>
              <a:rPr lang="zh-CN" altLang="zh-CN" dirty="0">
                <a:solidFill>
                  <a:srgbClr val="FF0000"/>
                </a:solidFill>
              </a:rPr>
              <a:t>参数以及最大数据传输</a:t>
            </a:r>
            <a:r>
              <a:rPr lang="zh-CN" altLang="zh-CN" dirty="0" smtClean="0">
                <a:solidFill>
                  <a:srgbClr val="FF0000"/>
                </a:solidFill>
              </a:rPr>
              <a:t>能力</a:t>
            </a:r>
            <a:r>
              <a:rPr lang="zh-CN" altLang="en-US" dirty="0" smtClean="0"/>
              <a:t>。</a:t>
            </a:r>
            <a:r>
              <a:rPr lang="zh-CN" altLang="en-US" dirty="0"/>
              <a:t>多数节点可能同时属于多</a:t>
            </a:r>
            <a:r>
              <a:rPr lang="zh-CN" altLang="en-US" dirty="0" smtClean="0"/>
              <a:t>个生成树。</a:t>
            </a:r>
            <a:endParaRPr lang="en-US" altLang="zh-CN" dirty="0" smtClean="0"/>
          </a:p>
          <a:p>
            <a:r>
              <a:rPr lang="zh-CN" altLang="zh-CN" dirty="0" smtClean="0"/>
              <a:t>各个节点</a:t>
            </a:r>
            <a:r>
              <a:rPr lang="zh-CN" altLang="zh-CN" dirty="0" smtClean="0">
                <a:solidFill>
                  <a:srgbClr val="FF0000"/>
                </a:solidFill>
              </a:rPr>
              <a:t>反向建立</a:t>
            </a:r>
            <a:r>
              <a:rPr lang="zh-CN" altLang="zh-CN" dirty="0" smtClean="0"/>
              <a:t>到</a:t>
            </a:r>
            <a:r>
              <a:rPr lang="en-US" altLang="zh-CN" dirty="0"/>
              <a:t>sink</a:t>
            </a:r>
            <a:r>
              <a:rPr lang="zh-CN" altLang="zh-CN" dirty="0"/>
              <a:t>节点的</a:t>
            </a:r>
            <a:r>
              <a:rPr lang="zh-CN" altLang="zh-CN" dirty="0">
                <a:solidFill>
                  <a:srgbClr val="FF0000"/>
                </a:solidFill>
              </a:rPr>
              <a:t>具有不同</a:t>
            </a:r>
            <a:r>
              <a:rPr lang="en-US" altLang="zh-CN" dirty="0" err="1">
                <a:solidFill>
                  <a:srgbClr val="FF0000"/>
                </a:solidFill>
              </a:rPr>
              <a:t>QoS</a:t>
            </a:r>
            <a:r>
              <a:rPr lang="zh-CN" altLang="zh-CN" dirty="0">
                <a:solidFill>
                  <a:srgbClr val="FF0000"/>
                </a:solidFill>
              </a:rPr>
              <a:t>参数的多条路径</a:t>
            </a:r>
            <a:r>
              <a:rPr lang="zh-CN" altLang="zh-CN" dirty="0"/>
              <a:t>，节点发送数据时选择一条或多条路径进行传输</a:t>
            </a:r>
            <a:r>
              <a:rPr lang="zh-CN" altLang="zh-CN" dirty="0" smtClean="0"/>
              <a:t>。</a:t>
            </a:r>
            <a:endParaRPr lang="en-US" altLang="zh-CN" dirty="0" smtClean="0"/>
          </a:p>
          <a:p>
            <a:r>
              <a:rPr lang="zh-CN" altLang="zh-CN" dirty="0" smtClean="0"/>
              <a:t>能够</a:t>
            </a:r>
            <a:r>
              <a:rPr lang="zh-CN" altLang="zh-CN" dirty="0"/>
              <a:t>提供</a:t>
            </a:r>
            <a:r>
              <a:rPr lang="en-US" altLang="zh-CN" dirty="0" err="1"/>
              <a:t>QoS</a:t>
            </a:r>
            <a:r>
              <a:rPr lang="zh-CN" altLang="zh-CN" dirty="0"/>
              <a:t>保证，</a:t>
            </a:r>
            <a:r>
              <a:rPr lang="zh-CN" altLang="zh-CN" dirty="0" smtClean="0"/>
              <a:t>但节点</a:t>
            </a:r>
            <a:r>
              <a:rPr lang="zh-CN" altLang="zh-CN" dirty="0"/>
              <a:t>中的</a:t>
            </a:r>
            <a:r>
              <a:rPr lang="zh-CN" altLang="zh-CN" dirty="0">
                <a:solidFill>
                  <a:srgbClr val="FF0000"/>
                </a:solidFill>
              </a:rPr>
              <a:t>大量冗余路由信息</a:t>
            </a:r>
            <a:r>
              <a:rPr lang="zh-CN" altLang="zh-CN" dirty="0"/>
              <a:t>耗费了存储资源，且路由信息维护、节点</a:t>
            </a:r>
            <a:r>
              <a:rPr lang="en-US" altLang="zh-CN" dirty="0" err="1"/>
              <a:t>QoS</a:t>
            </a:r>
            <a:r>
              <a:rPr lang="zh-CN" altLang="zh-CN" dirty="0"/>
              <a:t>参数与能耗信息的更新均需要</a:t>
            </a:r>
            <a:r>
              <a:rPr lang="zh-CN" altLang="zh-CN" dirty="0">
                <a:solidFill>
                  <a:srgbClr val="FF0000"/>
                </a:solidFill>
              </a:rPr>
              <a:t>较大的开销</a:t>
            </a:r>
            <a:r>
              <a:rPr lang="zh-CN" altLang="zh-CN" dirty="0"/>
              <a:t>。</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lnSpcReduction="20000"/>
          </a:bodyPr>
          <a:lstStyle/>
          <a:p>
            <a:r>
              <a:rPr lang="en-US" altLang="zh-CN" b="1" dirty="0"/>
              <a:t>5.4.3  </a:t>
            </a:r>
            <a:r>
              <a:rPr lang="zh-CN" altLang="zh-CN" b="1" dirty="0"/>
              <a:t>多径路由</a:t>
            </a:r>
            <a:r>
              <a:rPr lang="zh-CN" altLang="zh-CN" b="1" dirty="0" smtClean="0"/>
              <a:t>协议</a:t>
            </a:r>
            <a:endParaRPr lang="en-US" altLang="zh-CN" b="1" dirty="0" smtClean="0"/>
          </a:p>
          <a:p>
            <a:r>
              <a:rPr lang="zh-CN" altLang="zh-CN" dirty="0"/>
              <a:t>源节点与</a:t>
            </a:r>
            <a:r>
              <a:rPr lang="en-US" altLang="zh-CN" dirty="0"/>
              <a:t>sink</a:t>
            </a:r>
            <a:r>
              <a:rPr lang="zh-CN" altLang="zh-CN" dirty="0"/>
              <a:t>之间存在</a:t>
            </a:r>
            <a:r>
              <a:rPr lang="zh-CN" altLang="zh-CN" dirty="0">
                <a:solidFill>
                  <a:srgbClr val="FF0000"/>
                </a:solidFill>
              </a:rPr>
              <a:t>多条可用传输路径</a:t>
            </a:r>
            <a:r>
              <a:rPr lang="zh-CN" altLang="zh-CN" dirty="0"/>
              <a:t>，数据可以沿着其中一条路径传输，也可以同时使用多条路径传输以提高数据传输鲁棒性</a:t>
            </a:r>
            <a:r>
              <a:rPr lang="zh-CN" altLang="zh-CN" dirty="0" smtClean="0"/>
              <a:t>。</a:t>
            </a:r>
            <a:endParaRPr lang="en-US" altLang="zh-CN" dirty="0" smtClean="0"/>
          </a:p>
          <a:p>
            <a:r>
              <a:rPr lang="zh-CN" altLang="zh-CN" dirty="0" smtClean="0"/>
              <a:t>通常</a:t>
            </a:r>
            <a:r>
              <a:rPr lang="zh-CN" altLang="zh-CN" dirty="0"/>
              <a:t>分为两</a:t>
            </a:r>
            <a:r>
              <a:rPr lang="zh-CN" altLang="zh-CN" dirty="0" smtClean="0"/>
              <a:t>类</a:t>
            </a:r>
            <a:r>
              <a:rPr lang="zh-CN" altLang="en-US" dirty="0" smtClean="0"/>
              <a:t>：</a:t>
            </a:r>
            <a:endParaRPr lang="en-US" altLang="zh-CN" dirty="0" smtClean="0"/>
          </a:p>
          <a:p>
            <a:pPr lvl="1"/>
            <a:r>
              <a:rPr lang="zh-CN" altLang="zh-CN" dirty="0" smtClean="0">
                <a:solidFill>
                  <a:srgbClr val="FF0000"/>
                </a:solidFill>
              </a:rPr>
              <a:t>相交</a:t>
            </a:r>
            <a:r>
              <a:rPr lang="zh-CN" altLang="zh-CN" dirty="0">
                <a:solidFill>
                  <a:srgbClr val="FF0000"/>
                </a:solidFill>
              </a:rPr>
              <a:t>多径路由</a:t>
            </a:r>
            <a:r>
              <a:rPr lang="zh-CN" altLang="zh-CN" dirty="0"/>
              <a:t>中一个中间节点可能处在多条路径上</a:t>
            </a:r>
            <a:r>
              <a:rPr lang="en-US" altLang="zh-CN" dirty="0" smtClean="0"/>
              <a:t>;</a:t>
            </a:r>
            <a:endParaRPr lang="en-US" altLang="zh-CN" dirty="0" smtClean="0"/>
          </a:p>
          <a:p>
            <a:pPr lvl="1"/>
            <a:r>
              <a:rPr lang="zh-CN" altLang="zh-CN" dirty="0" smtClean="0">
                <a:solidFill>
                  <a:srgbClr val="FF0000"/>
                </a:solidFill>
              </a:rPr>
              <a:t>不相交</a:t>
            </a:r>
            <a:r>
              <a:rPr lang="zh-CN" altLang="zh-CN" dirty="0">
                <a:solidFill>
                  <a:srgbClr val="FF0000"/>
                </a:solidFill>
              </a:rPr>
              <a:t>多径路由</a:t>
            </a:r>
            <a:r>
              <a:rPr lang="zh-CN" altLang="zh-CN" dirty="0"/>
              <a:t>中除源节点与</a:t>
            </a:r>
            <a:r>
              <a:rPr lang="en-US" altLang="zh-CN" dirty="0"/>
              <a:t>sink</a:t>
            </a:r>
            <a:r>
              <a:rPr lang="zh-CN" altLang="zh-CN" dirty="0"/>
              <a:t>节点外，其他任意中间节点只能位于一条路径之上</a:t>
            </a:r>
            <a:r>
              <a:rPr lang="zh-CN" altLang="zh-CN" dirty="0" smtClean="0"/>
              <a:t>。</a:t>
            </a:r>
            <a:endParaRPr lang="en-US" altLang="zh-CN" dirty="0" smtClean="0"/>
          </a:p>
          <a:p>
            <a:r>
              <a:rPr lang="zh-CN" altLang="zh-CN" dirty="0" smtClean="0"/>
              <a:t>多</a:t>
            </a:r>
            <a:r>
              <a:rPr lang="zh-CN" altLang="zh-CN" dirty="0"/>
              <a:t>径路由的构造可以看作单条路径路由在数量上的扩展，节点可能需要同时维护多条路径</a:t>
            </a:r>
            <a:r>
              <a:rPr lang="zh-CN" altLang="zh-CN" dirty="0" smtClean="0"/>
              <a:t>。</a:t>
            </a:r>
            <a:endParaRPr lang="en-US" altLang="zh-CN" dirty="0" smtClean="0"/>
          </a:p>
          <a:p>
            <a:r>
              <a:rPr lang="zh-CN" altLang="zh-CN" dirty="0" smtClean="0"/>
              <a:t>多</a:t>
            </a:r>
            <a:r>
              <a:rPr lang="zh-CN" altLang="zh-CN" dirty="0"/>
              <a:t>径路由的关键在于</a:t>
            </a:r>
            <a:r>
              <a:rPr lang="zh-CN" altLang="zh-CN" dirty="0">
                <a:solidFill>
                  <a:srgbClr val="FF0000"/>
                </a:solidFill>
              </a:rPr>
              <a:t>如何以较低的开销构造和维护多条路径</a:t>
            </a:r>
            <a:r>
              <a:rPr lang="zh-CN" altLang="zh-CN" dirty="0"/>
              <a:t>。</a:t>
            </a:r>
            <a:endParaRPr lang="zh-CN" altLang="zh-CN" dirty="0"/>
          </a:p>
          <a:p>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fontScale="92500" lnSpcReduction="20000"/>
          </a:bodyPr>
          <a:lstStyle/>
          <a:p>
            <a:r>
              <a:rPr lang="en-US" altLang="zh-CN" b="1" dirty="0"/>
              <a:t>5.4.3.1  MMSPEED</a:t>
            </a:r>
            <a:r>
              <a:rPr lang="zh-CN" altLang="zh-CN" b="1" dirty="0"/>
              <a:t>路由协议</a:t>
            </a:r>
            <a:endParaRPr lang="zh-CN" altLang="zh-CN" dirty="0"/>
          </a:p>
          <a:p>
            <a:r>
              <a:rPr lang="en-US" altLang="zh-CN" dirty="0" smtClean="0"/>
              <a:t>MMSPEED</a:t>
            </a:r>
            <a:r>
              <a:rPr lang="zh-CN" altLang="en-US" dirty="0" smtClean="0"/>
              <a:t>：</a:t>
            </a:r>
            <a:r>
              <a:rPr lang="en-US" altLang="zh-CN" dirty="0" smtClean="0"/>
              <a:t>multi-path </a:t>
            </a:r>
            <a:r>
              <a:rPr lang="en-US" altLang="zh-CN" dirty="0"/>
              <a:t>multispeed</a:t>
            </a:r>
            <a:r>
              <a:rPr lang="zh-CN" altLang="zh-CN" dirty="0"/>
              <a:t>，</a:t>
            </a:r>
            <a:r>
              <a:rPr lang="zh-CN" altLang="zh-CN" dirty="0">
                <a:solidFill>
                  <a:srgbClr val="FF0000"/>
                </a:solidFill>
              </a:rPr>
              <a:t>多路径多</a:t>
            </a:r>
            <a:r>
              <a:rPr lang="zh-CN" altLang="zh-CN" dirty="0" smtClean="0">
                <a:solidFill>
                  <a:srgbClr val="FF0000"/>
                </a:solidFill>
              </a:rPr>
              <a:t>速率路由</a:t>
            </a:r>
            <a:r>
              <a:rPr lang="zh-CN" altLang="zh-CN" dirty="0" smtClean="0"/>
              <a:t>协议</a:t>
            </a:r>
            <a:endParaRPr lang="en-US" altLang="zh-CN" dirty="0" smtClean="0"/>
          </a:p>
          <a:p>
            <a:r>
              <a:rPr lang="en-US" altLang="zh-CN" dirty="0" smtClean="0"/>
              <a:t>SPEED</a:t>
            </a:r>
            <a:r>
              <a:rPr lang="zh-CN" altLang="zh-CN" dirty="0"/>
              <a:t>基础上提出</a:t>
            </a:r>
            <a:r>
              <a:rPr lang="zh-CN" altLang="zh-CN" dirty="0" smtClean="0"/>
              <a:t>的同时</a:t>
            </a:r>
            <a:r>
              <a:rPr lang="zh-CN" altLang="zh-CN" dirty="0">
                <a:solidFill>
                  <a:srgbClr val="FF0000"/>
                </a:solidFill>
              </a:rPr>
              <a:t>考虑传输延迟和丢包率</a:t>
            </a:r>
            <a:r>
              <a:rPr lang="zh-CN" altLang="zh-CN" dirty="0"/>
              <a:t>的</a:t>
            </a:r>
            <a:r>
              <a:rPr lang="en-US" altLang="zh-CN" dirty="0" err="1"/>
              <a:t>QoS</a:t>
            </a:r>
            <a:r>
              <a:rPr lang="zh-CN" altLang="zh-CN" dirty="0"/>
              <a:t>路由协议</a:t>
            </a:r>
            <a:r>
              <a:rPr lang="zh-CN" altLang="zh-CN" dirty="0" smtClean="0"/>
              <a:t>。</a:t>
            </a:r>
            <a:endParaRPr lang="en-US" altLang="zh-CN" dirty="0" smtClean="0"/>
          </a:p>
          <a:p>
            <a:r>
              <a:rPr lang="en-US" altLang="zh-CN" dirty="0" smtClean="0"/>
              <a:t>MMSPEED</a:t>
            </a:r>
            <a:r>
              <a:rPr lang="zh-CN" altLang="en-US" dirty="0" smtClean="0"/>
              <a:t>的</a:t>
            </a:r>
            <a:r>
              <a:rPr lang="zh-CN" altLang="zh-CN" dirty="0" smtClean="0"/>
              <a:t>改进：</a:t>
            </a:r>
            <a:endParaRPr lang="en-US" altLang="zh-CN" dirty="0" smtClean="0"/>
          </a:p>
          <a:p>
            <a:r>
              <a:rPr lang="zh-CN" altLang="zh-CN" dirty="0" smtClean="0"/>
              <a:t>①</a:t>
            </a:r>
            <a:r>
              <a:rPr lang="en-US" altLang="zh-CN" dirty="0" smtClean="0"/>
              <a:t>SPEED</a:t>
            </a:r>
            <a:r>
              <a:rPr lang="zh-CN" altLang="en-US" dirty="0" smtClean="0"/>
              <a:t>：</a:t>
            </a:r>
            <a:r>
              <a:rPr lang="zh-CN" altLang="zh-CN" dirty="0" smtClean="0"/>
              <a:t>一</a:t>
            </a:r>
            <a:r>
              <a:rPr lang="zh-CN" altLang="zh-CN" dirty="0"/>
              <a:t>种速率要求</a:t>
            </a:r>
            <a:r>
              <a:rPr lang="zh-CN" altLang="zh-CN" dirty="0" smtClean="0"/>
              <a:t>，</a:t>
            </a:r>
            <a:r>
              <a:rPr lang="en-US" altLang="zh-CN" dirty="0" smtClean="0"/>
              <a:t>MMSPEED</a:t>
            </a:r>
            <a:r>
              <a:rPr lang="zh-CN" altLang="en-US" dirty="0" smtClean="0"/>
              <a:t>：</a:t>
            </a:r>
            <a:r>
              <a:rPr lang="zh-CN" altLang="zh-CN" dirty="0" smtClean="0"/>
              <a:t>可以</a:t>
            </a:r>
            <a:r>
              <a:rPr lang="zh-CN" altLang="zh-CN" dirty="0"/>
              <a:t>同时支持</a:t>
            </a:r>
            <a:r>
              <a:rPr lang="zh-CN" altLang="zh-CN" dirty="0">
                <a:solidFill>
                  <a:srgbClr val="FF0000"/>
                </a:solidFill>
              </a:rPr>
              <a:t>不同应用的多种速率</a:t>
            </a:r>
            <a:r>
              <a:rPr lang="zh-CN" altLang="zh-CN" dirty="0"/>
              <a:t>要求</a:t>
            </a:r>
            <a:r>
              <a:rPr lang="zh-CN" altLang="zh-CN" dirty="0" smtClean="0"/>
              <a:t>；</a:t>
            </a:r>
            <a:endParaRPr lang="en-US" altLang="zh-CN" dirty="0" smtClean="0"/>
          </a:p>
          <a:p>
            <a:r>
              <a:rPr lang="zh-CN" altLang="zh-CN" dirty="0" smtClean="0"/>
              <a:t>②</a:t>
            </a:r>
            <a:r>
              <a:rPr lang="en-US" altLang="zh-CN" dirty="0" smtClean="0"/>
              <a:t>SPEED</a:t>
            </a:r>
            <a:r>
              <a:rPr lang="zh-CN" altLang="en-US" dirty="0" smtClean="0"/>
              <a:t>：</a:t>
            </a:r>
            <a:r>
              <a:rPr lang="zh-CN" altLang="zh-CN" dirty="0" smtClean="0"/>
              <a:t>不</a:t>
            </a:r>
            <a:r>
              <a:rPr lang="zh-CN" altLang="zh-CN" dirty="0"/>
              <a:t>考虑端到端传输的可靠性</a:t>
            </a:r>
            <a:r>
              <a:rPr lang="zh-CN" altLang="zh-CN" dirty="0" smtClean="0"/>
              <a:t>，</a:t>
            </a:r>
            <a:r>
              <a:rPr lang="en-US" altLang="zh-CN" dirty="0" smtClean="0"/>
              <a:t>MMSPEED</a:t>
            </a:r>
            <a:r>
              <a:rPr lang="zh-CN" altLang="en-US" dirty="0" smtClean="0"/>
              <a:t>：</a:t>
            </a:r>
            <a:r>
              <a:rPr lang="zh-CN" altLang="zh-CN" dirty="0" smtClean="0"/>
              <a:t>支持</a:t>
            </a:r>
            <a:r>
              <a:rPr lang="zh-CN" altLang="zh-CN" dirty="0">
                <a:solidFill>
                  <a:srgbClr val="FF0000"/>
                </a:solidFill>
              </a:rPr>
              <a:t>不同的端到端可靠性要求</a:t>
            </a:r>
            <a:r>
              <a:rPr lang="zh-CN" altLang="zh-CN" dirty="0" smtClean="0"/>
              <a:t>；</a:t>
            </a:r>
            <a:endParaRPr lang="en-US" altLang="zh-CN" dirty="0" smtClean="0"/>
          </a:p>
          <a:p>
            <a:r>
              <a:rPr lang="zh-CN" altLang="zh-CN" dirty="0" smtClean="0"/>
              <a:t>③</a:t>
            </a:r>
            <a:r>
              <a:rPr lang="en-US" altLang="zh-CN" dirty="0" smtClean="0"/>
              <a:t>SPEED</a:t>
            </a:r>
            <a:r>
              <a:rPr lang="zh-CN" altLang="en-US" dirty="0" smtClean="0"/>
              <a:t>：</a:t>
            </a:r>
            <a:r>
              <a:rPr lang="zh-CN" altLang="zh-CN" dirty="0" smtClean="0"/>
              <a:t>没有</a:t>
            </a:r>
            <a:r>
              <a:rPr lang="zh-CN" altLang="zh-CN" dirty="0"/>
              <a:t>考虑估计误差对端到端延迟的影响，</a:t>
            </a:r>
            <a:r>
              <a:rPr lang="en-US" altLang="zh-CN" dirty="0" smtClean="0"/>
              <a:t>MMSPEED</a:t>
            </a:r>
            <a:r>
              <a:rPr lang="zh-CN" altLang="en-US" dirty="0" smtClean="0"/>
              <a:t>：</a:t>
            </a:r>
            <a:r>
              <a:rPr lang="zh-CN" altLang="zh-CN" dirty="0" smtClean="0"/>
              <a:t>在</a:t>
            </a:r>
            <a:r>
              <a:rPr lang="zh-CN" altLang="zh-CN" dirty="0"/>
              <a:t>每一跳节点上都需要进行</a:t>
            </a:r>
            <a:r>
              <a:rPr lang="zh-CN" altLang="zh-CN" dirty="0">
                <a:solidFill>
                  <a:srgbClr val="FF0000"/>
                </a:solidFill>
              </a:rPr>
              <a:t>速率补偿和可靠性补偿</a:t>
            </a:r>
            <a:r>
              <a:rPr lang="zh-CN" altLang="zh-CN" dirty="0"/>
              <a:t>，不断纠正由于估计误差造成的影响。 </a:t>
            </a:r>
            <a:endParaRPr lang="zh-CN" altLang="zh-CN" dirty="0"/>
          </a:p>
          <a:p>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5.4.3.1  MMSPEED</a:t>
            </a:r>
            <a:r>
              <a:rPr lang="zh-CN" altLang="zh-CN" b="1" dirty="0"/>
              <a:t>路由协议</a:t>
            </a:r>
            <a:endParaRPr lang="zh-CN" altLang="zh-CN" dirty="0"/>
          </a:p>
          <a:p>
            <a:r>
              <a:rPr lang="zh-CN" altLang="zh-CN" dirty="0" smtClean="0"/>
              <a:t>两</a:t>
            </a:r>
            <a:r>
              <a:rPr lang="zh-CN" altLang="zh-CN" dirty="0"/>
              <a:t>个基本组件</a:t>
            </a:r>
            <a:r>
              <a:rPr lang="en-US" altLang="zh-CN" dirty="0" smtClean="0"/>
              <a:t>:</a:t>
            </a:r>
            <a:endParaRPr lang="en-US" altLang="zh-CN" dirty="0" smtClean="0"/>
          </a:p>
          <a:p>
            <a:pPr lvl="1"/>
            <a:r>
              <a:rPr lang="zh-CN" altLang="zh-CN" dirty="0" smtClean="0">
                <a:solidFill>
                  <a:srgbClr val="FF0000"/>
                </a:solidFill>
              </a:rPr>
              <a:t>时延控制</a:t>
            </a:r>
            <a:r>
              <a:rPr lang="zh-CN" altLang="en-US" dirty="0" smtClean="0"/>
              <a:t>：</a:t>
            </a:r>
            <a:r>
              <a:rPr lang="zh-CN" altLang="zh-CN" dirty="0" smtClean="0"/>
              <a:t>满足</a:t>
            </a:r>
            <a:r>
              <a:rPr lang="zh-CN" altLang="zh-CN" dirty="0"/>
              <a:t>某种特定应用对端到端传输延迟的需求</a:t>
            </a:r>
            <a:r>
              <a:rPr lang="zh-CN" altLang="zh-CN" dirty="0" smtClean="0"/>
              <a:t>，</a:t>
            </a:r>
            <a:r>
              <a:rPr lang="zh-CN" altLang="en-US" dirty="0" smtClean="0"/>
              <a:t>是</a:t>
            </a:r>
            <a:r>
              <a:rPr lang="zh-CN" altLang="zh-CN" dirty="0" smtClean="0"/>
              <a:t>通过</a:t>
            </a:r>
            <a:r>
              <a:rPr lang="zh-CN" altLang="zh-CN" dirty="0"/>
              <a:t>路径选择完成的。在源节点和目标节点之间存在多条可选路径，不同路径的端到端传输延迟不同，对于那些延迟要求高的应用，使用高速路径转发，而延迟要求低的应用使用低速路径转发</a:t>
            </a:r>
            <a:r>
              <a:rPr lang="zh-CN" altLang="zh-CN" dirty="0" smtClean="0"/>
              <a:t>。</a:t>
            </a:r>
            <a:endParaRPr lang="en-US" altLang="zh-CN" dirty="0" smtClean="0"/>
          </a:p>
          <a:p>
            <a:pPr lvl="1"/>
            <a:r>
              <a:rPr lang="zh-CN" altLang="zh-CN" dirty="0" smtClean="0">
                <a:solidFill>
                  <a:srgbClr val="FF0000"/>
                </a:solidFill>
              </a:rPr>
              <a:t>可靠性控制</a:t>
            </a:r>
            <a:r>
              <a:rPr lang="zh-CN" altLang="en-US" dirty="0" smtClean="0"/>
              <a:t>：</a:t>
            </a:r>
            <a:r>
              <a:rPr lang="zh-CN" altLang="zh-CN" dirty="0" smtClean="0"/>
              <a:t>指</a:t>
            </a:r>
            <a:r>
              <a:rPr lang="zh-CN" altLang="zh-CN" dirty="0"/>
              <a:t>满足端到端传输可靠性，是通过多径转发实现的。对于可靠性要求高的应用，使用多条路径同时转发，这样即使其中部分路径失败，目标节点仍然能够接收到数据。对于可靠性要求低的应用，可以只使用单条路径转发。</a:t>
            </a:r>
            <a:endParaRPr lang="zh-CN" altLang="zh-CN" dirty="0"/>
          </a:p>
          <a:p>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5.4.3.2 MP-EA</a:t>
            </a:r>
            <a:r>
              <a:rPr lang="zh-CN" altLang="zh-CN" b="1" dirty="0"/>
              <a:t>路由协议 </a:t>
            </a:r>
            <a:endParaRPr lang="zh-CN" altLang="zh-CN" b="1" dirty="0"/>
          </a:p>
          <a:p>
            <a:r>
              <a:rPr lang="en-US" altLang="zh-CN" dirty="0" smtClean="0"/>
              <a:t>MP-EA</a:t>
            </a:r>
            <a:r>
              <a:rPr lang="zh-CN" altLang="en-US" dirty="0" smtClean="0"/>
              <a:t>：</a:t>
            </a:r>
            <a:r>
              <a:rPr lang="en-US" altLang="zh-CN" dirty="0" smtClean="0"/>
              <a:t>Multi-Path </a:t>
            </a:r>
            <a:r>
              <a:rPr lang="en-US" altLang="zh-CN" dirty="0"/>
              <a:t>routing protocol with Energy-Aware</a:t>
            </a:r>
            <a:r>
              <a:rPr lang="zh-CN" altLang="zh-CN" dirty="0"/>
              <a:t>，</a:t>
            </a:r>
            <a:r>
              <a:rPr lang="zh-CN" altLang="zh-CN" dirty="0">
                <a:solidFill>
                  <a:srgbClr val="FF0000"/>
                </a:solidFill>
              </a:rPr>
              <a:t>能量敏感多路径路由</a:t>
            </a:r>
            <a:r>
              <a:rPr lang="zh-CN" altLang="zh-CN" dirty="0" smtClean="0"/>
              <a:t>协议</a:t>
            </a:r>
            <a:endParaRPr lang="en-US" altLang="zh-CN" dirty="0"/>
          </a:p>
          <a:p>
            <a:r>
              <a:rPr lang="zh-CN" altLang="zh-CN" dirty="0" smtClean="0"/>
              <a:t>在</a:t>
            </a:r>
            <a:r>
              <a:rPr lang="zh-CN" altLang="zh-CN" dirty="0"/>
              <a:t>源节点和目标节点之间建立多条路径，根据路径上节点的</a:t>
            </a:r>
            <a:r>
              <a:rPr lang="zh-CN" altLang="zh-CN" dirty="0">
                <a:solidFill>
                  <a:srgbClr val="FF0000"/>
                </a:solidFill>
              </a:rPr>
              <a:t>通信能量消耗以及剩余能量情况</a:t>
            </a:r>
            <a:r>
              <a:rPr lang="zh-CN" altLang="zh-CN" dirty="0"/>
              <a:t>，给每条路径赋予一定的</a:t>
            </a:r>
            <a:r>
              <a:rPr lang="zh-CN" altLang="zh-CN" dirty="0">
                <a:solidFill>
                  <a:srgbClr val="FF0000"/>
                </a:solidFill>
              </a:rPr>
              <a:t>选择概率</a:t>
            </a:r>
            <a:r>
              <a:rPr lang="zh-CN" altLang="zh-CN" dirty="0"/>
              <a:t>，数据传输均衡消耗整个网络的能量，延长网络的生存期。</a:t>
            </a:r>
            <a:endParaRPr lang="zh-CN" altLang="zh-CN" dirty="0"/>
          </a:p>
          <a:p>
            <a:r>
              <a:rPr lang="zh-CN" altLang="zh-CN" dirty="0" smtClean="0"/>
              <a:t>目的</a:t>
            </a:r>
            <a:r>
              <a:rPr lang="zh-CN" altLang="en-US" dirty="0" smtClean="0"/>
              <a:t>：</a:t>
            </a:r>
            <a:r>
              <a:rPr lang="zh-CN" altLang="zh-CN" dirty="0" smtClean="0">
                <a:solidFill>
                  <a:srgbClr val="FF0000"/>
                </a:solidFill>
              </a:rPr>
              <a:t>改善</a:t>
            </a:r>
            <a:r>
              <a:rPr lang="zh-CN" altLang="zh-CN" dirty="0"/>
              <a:t>定向扩散协议的</a:t>
            </a:r>
            <a:r>
              <a:rPr lang="zh-CN" altLang="zh-CN" dirty="0">
                <a:solidFill>
                  <a:srgbClr val="FF0000"/>
                </a:solidFill>
              </a:rPr>
              <a:t>耗能</a:t>
            </a:r>
            <a:r>
              <a:rPr lang="zh-CN" altLang="zh-CN" dirty="0"/>
              <a:t>情况，采用地理位置和数据类型</a:t>
            </a:r>
            <a:r>
              <a:rPr lang="en-US" altLang="zh-CN" dirty="0"/>
              <a:t>(</a:t>
            </a:r>
            <a:r>
              <a:rPr lang="zh-CN" altLang="zh-CN" dirty="0"/>
              <a:t>即节点类型</a:t>
            </a:r>
            <a:r>
              <a:rPr lang="en-US" altLang="zh-CN" dirty="0"/>
              <a:t>)</a:t>
            </a:r>
            <a:r>
              <a:rPr lang="zh-CN" altLang="zh-CN" dirty="0"/>
              <a:t>标识节点。</a:t>
            </a:r>
            <a:r>
              <a:rPr lang="en-US" altLang="zh-CN" dirty="0"/>
              <a:t>Shah</a:t>
            </a:r>
            <a:r>
              <a:rPr lang="zh-CN" altLang="zh-CN" dirty="0"/>
              <a:t>等人认为该协议是按需路由协议，但其含义更多的是查询驱动的，将其与定向扩散协议都列为主动路由协议</a:t>
            </a:r>
            <a:r>
              <a:rPr lang="zh-CN" altLang="zh-CN" dirty="0" smtClean="0"/>
              <a:t>。</a:t>
            </a:r>
            <a:endParaRPr lang="en-US" altLang="zh-CN" dirty="0" smtClean="0"/>
          </a:p>
          <a:p>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5.4.3.2 MP-EA</a:t>
            </a:r>
            <a:r>
              <a:rPr lang="zh-CN" altLang="zh-CN" b="1" dirty="0"/>
              <a:t>路由协议 </a:t>
            </a:r>
            <a:endParaRPr lang="zh-CN" altLang="zh-CN" b="1" dirty="0"/>
          </a:p>
          <a:p>
            <a:r>
              <a:rPr lang="zh-CN" altLang="en-US" dirty="0"/>
              <a:t>能量多路径路由协议包括</a:t>
            </a:r>
            <a:r>
              <a:rPr lang="zh-CN" altLang="en-US" dirty="0">
                <a:solidFill>
                  <a:srgbClr val="FF0000"/>
                </a:solidFill>
              </a:rPr>
              <a:t>路径建立、数据传输和路由维护</a:t>
            </a:r>
            <a:r>
              <a:rPr lang="zh-CN" altLang="en-US" dirty="0"/>
              <a:t>三个过程</a:t>
            </a:r>
            <a:r>
              <a:rPr lang="zh-CN" altLang="en-US" dirty="0" smtClean="0"/>
              <a:t>。路径</a:t>
            </a:r>
            <a:r>
              <a:rPr lang="zh-CN" altLang="en-US" dirty="0"/>
              <a:t>建立过程是该协议的重点内容</a:t>
            </a:r>
            <a:r>
              <a:rPr lang="zh-CN" altLang="en-US" dirty="0" smtClean="0"/>
              <a:t>。</a:t>
            </a:r>
            <a:endParaRPr lang="en-US" altLang="zh-CN" dirty="0" smtClean="0"/>
          </a:p>
          <a:p>
            <a:r>
              <a:rPr lang="zh-CN" altLang="en-US" dirty="0" smtClean="0"/>
              <a:t>每个</a:t>
            </a:r>
            <a:r>
              <a:rPr lang="zh-CN" altLang="en-US" dirty="0"/>
              <a:t>节点需要知道到达目标节点的</a:t>
            </a:r>
            <a:r>
              <a:rPr lang="zh-CN" altLang="en-US" dirty="0">
                <a:solidFill>
                  <a:srgbClr val="FF0000"/>
                </a:solidFill>
              </a:rPr>
              <a:t>所有可选下一跳节点</a:t>
            </a:r>
            <a:r>
              <a:rPr lang="zh-CN" altLang="en-US" dirty="0"/>
              <a:t>，并计算选择每个下一跳节点传输数据的</a:t>
            </a:r>
            <a:r>
              <a:rPr lang="zh-CN" altLang="en-US" dirty="0">
                <a:solidFill>
                  <a:srgbClr val="FF0000"/>
                </a:solidFill>
              </a:rPr>
              <a:t>概率</a:t>
            </a:r>
            <a:r>
              <a:rPr lang="zh-CN" altLang="en-US" dirty="0"/>
              <a:t>。选择概率是根据节点到目标节点的</a:t>
            </a:r>
            <a:r>
              <a:rPr lang="zh-CN" altLang="en-US" dirty="0">
                <a:solidFill>
                  <a:srgbClr val="FF0000"/>
                </a:solidFill>
              </a:rPr>
              <a:t>通信代价</a:t>
            </a:r>
            <a:r>
              <a:rPr lang="zh-CN" altLang="en-US" dirty="0"/>
              <a:t>来计算</a:t>
            </a:r>
            <a:r>
              <a:rPr lang="zh-CN" altLang="en-US" dirty="0" smtClean="0"/>
              <a:t>的。</a:t>
            </a:r>
            <a:r>
              <a:rPr lang="zh-CN" altLang="en-US" dirty="0"/>
              <a:t>因为每个节点到达目的节点的路径很多，所以这个代价值是各个路径的加权平均值。</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5.4.3.2 MP-EA</a:t>
            </a:r>
            <a:r>
              <a:rPr lang="zh-CN" altLang="zh-CN" b="1" dirty="0"/>
              <a:t>路由协议 </a:t>
            </a:r>
            <a:endParaRPr lang="zh-CN" altLang="zh-CN" b="1" dirty="0"/>
          </a:p>
          <a:p>
            <a:r>
              <a:rPr lang="en-US" altLang="zh-CN" dirty="0"/>
              <a:t>1</a:t>
            </a:r>
            <a:r>
              <a:rPr lang="zh-CN" altLang="zh-CN" dirty="0"/>
              <a:t>）</a:t>
            </a:r>
            <a:r>
              <a:rPr lang="zh-CN" altLang="zh-CN" dirty="0">
                <a:solidFill>
                  <a:srgbClr val="FF0000"/>
                </a:solidFill>
              </a:rPr>
              <a:t>发起路径建立</a:t>
            </a:r>
            <a:endParaRPr lang="zh-CN" altLang="zh-CN" dirty="0">
              <a:solidFill>
                <a:srgbClr val="FF0000"/>
              </a:solidFill>
            </a:endParaRPr>
          </a:p>
          <a:p>
            <a:r>
              <a:rPr lang="zh-CN" altLang="zh-CN" dirty="0"/>
              <a:t>目的节点广播路径建立消息，启动路径建立过程，广播消息中包含一个代价域，表示发出该消息的节点到目的节点路径上的能量信息，设初始值为零。</a:t>
            </a:r>
            <a:endParaRPr lang="zh-CN" altLang="zh-CN" dirty="0"/>
          </a:p>
          <a:p>
            <a:r>
              <a:rPr lang="en-US" altLang="zh-CN" dirty="0"/>
              <a:t>2</a:t>
            </a:r>
            <a:r>
              <a:rPr lang="zh-CN" altLang="zh-CN" dirty="0"/>
              <a:t>）判断</a:t>
            </a:r>
            <a:r>
              <a:rPr lang="zh-CN" altLang="zh-CN" dirty="0">
                <a:solidFill>
                  <a:srgbClr val="FF0000"/>
                </a:solidFill>
              </a:rPr>
              <a:t>是否转发路径建立消息</a:t>
            </a:r>
            <a:endParaRPr lang="zh-CN" altLang="zh-CN" dirty="0">
              <a:solidFill>
                <a:srgbClr val="FF0000"/>
              </a:solidFill>
            </a:endParaRPr>
          </a:p>
          <a:p>
            <a:r>
              <a:rPr lang="zh-CN" altLang="zh-CN" dirty="0"/>
              <a:t>当某一个节点接收到邻居节点发送的路径建立消息时，与发送该消息的节点进行比较，只有在自己距离源节点更近，并且距离目的节点更远的情况下，才转发该路径建立消息，否则丢弃该消息。</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5.4.3.2 MP-EA</a:t>
            </a:r>
            <a:r>
              <a:rPr lang="zh-CN" altLang="zh-CN" b="1" dirty="0"/>
              <a:t>路由协议 </a:t>
            </a:r>
            <a:endParaRPr lang="zh-CN" altLang="zh-CN" b="1" dirty="0"/>
          </a:p>
          <a:p>
            <a:r>
              <a:rPr lang="en-US" altLang="zh-CN" dirty="0"/>
              <a:t>3</a:t>
            </a:r>
            <a:r>
              <a:rPr lang="zh-CN" altLang="zh-CN" dirty="0"/>
              <a:t>）</a:t>
            </a:r>
            <a:r>
              <a:rPr lang="zh-CN" altLang="zh-CN" dirty="0">
                <a:solidFill>
                  <a:srgbClr val="FF0000"/>
                </a:solidFill>
              </a:rPr>
              <a:t>计算能量代价</a:t>
            </a:r>
            <a:endParaRPr lang="zh-CN" altLang="zh-CN" dirty="0">
              <a:solidFill>
                <a:srgbClr val="FF0000"/>
              </a:solidFill>
            </a:endParaRPr>
          </a:p>
          <a:p>
            <a:r>
              <a:rPr lang="zh-CN" altLang="zh-CN" dirty="0"/>
              <a:t>如果节点决定转发路径建立消息，需要计算新的代价值来替代原来的代价值</a:t>
            </a:r>
            <a:r>
              <a:rPr lang="zh-CN" altLang="zh-CN" dirty="0" smtClean="0"/>
              <a:t>。</a:t>
            </a:r>
            <a:endParaRPr lang="en-US" altLang="zh-CN" dirty="0" smtClean="0"/>
          </a:p>
          <a:p>
            <a:r>
              <a:rPr lang="en-US" altLang="zh-CN" dirty="0"/>
              <a:t>4</a:t>
            </a:r>
            <a:r>
              <a:rPr lang="zh-CN" altLang="zh-CN" dirty="0"/>
              <a:t>）</a:t>
            </a:r>
            <a:r>
              <a:rPr lang="zh-CN" altLang="zh-CN" dirty="0">
                <a:solidFill>
                  <a:srgbClr val="FF0000"/>
                </a:solidFill>
              </a:rPr>
              <a:t>节点加入路径条件</a:t>
            </a:r>
            <a:endParaRPr lang="zh-CN" altLang="zh-CN" dirty="0">
              <a:solidFill>
                <a:srgbClr val="FF0000"/>
              </a:solidFill>
            </a:endParaRPr>
          </a:p>
          <a:p>
            <a:r>
              <a:rPr lang="zh-CN" altLang="zh-CN" dirty="0"/>
              <a:t>代价太大的路径对网络生存时间没有益处，因此并非每个路径都是可用的，节点需要丢弃代价太大的</a:t>
            </a:r>
            <a:r>
              <a:rPr lang="zh-CN" altLang="zh-CN" dirty="0" smtClean="0"/>
              <a:t>路径。</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5.4.3.2 MP-EA</a:t>
            </a:r>
            <a:r>
              <a:rPr lang="zh-CN" altLang="zh-CN" b="1" dirty="0"/>
              <a:t>路由协议 </a:t>
            </a:r>
            <a:endParaRPr lang="zh-CN" altLang="zh-CN" b="1" dirty="0"/>
          </a:p>
          <a:p>
            <a:r>
              <a:rPr lang="en-US" altLang="zh-CN" dirty="0"/>
              <a:t>5</a:t>
            </a:r>
            <a:r>
              <a:rPr lang="zh-CN" altLang="zh-CN" dirty="0"/>
              <a:t>）</a:t>
            </a:r>
            <a:r>
              <a:rPr lang="zh-CN" altLang="zh-CN" dirty="0">
                <a:solidFill>
                  <a:srgbClr val="FF0000"/>
                </a:solidFill>
              </a:rPr>
              <a:t>节点选择概率计算</a:t>
            </a:r>
            <a:endParaRPr lang="zh-CN" altLang="zh-CN" dirty="0">
              <a:solidFill>
                <a:srgbClr val="FF0000"/>
              </a:solidFill>
            </a:endParaRPr>
          </a:p>
          <a:p>
            <a:r>
              <a:rPr lang="zh-CN" altLang="zh-CN" dirty="0"/>
              <a:t>为了均衡网络中节点的能量消耗，节点选择概率需与能量消耗成</a:t>
            </a:r>
            <a:r>
              <a:rPr lang="zh-CN" altLang="zh-CN" dirty="0" smtClean="0"/>
              <a:t>反比</a:t>
            </a:r>
            <a:r>
              <a:rPr lang="zh-CN" altLang="en-US" dirty="0" smtClean="0"/>
              <a:t>。</a:t>
            </a:r>
            <a:endParaRPr lang="en-US" altLang="zh-CN" dirty="0" smtClean="0"/>
          </a:p>
          <a:p>
            <a:r>
              <a:rPr lang="en-US" altLang="zh-CN" dirty="0"/>
              <a:t>6</a:t>
            </a:r>
            <a:r>
              <a:rPr lang="zh-CN" altLang="zh-CN" dirty="0"/>
              <a:t>）</a:t>
            </a:r>
            <a:r>
              <a:rPr lang="zh-CN" altLang="zh-CN" dirty="0">
                <a:solidFill>
                  <a:srgbClr val="FF0000"/>
                </a:solidFill>
              </a:rPr>
              <a:t>代价平均值计算</a:t>
            </a:r>
            <a:endParaRPr lang="zh-CN" altLang="zh-CN" dirty="0">
              <a:solidFill>
                <a:srgbClr val="FF0000"/>
              </a:solidFill>
            </a:endParaRPr>
          </a:p>
          <a:p>
            <a:r>
              <a:rPr lang="zh-CN" altLang="zh-CN" dirty="0"/>
              <a:t>节点根据路由表中的能量代价和下一跳节点选择概率计算本身到目的节点的</a:t>
            </a:r>
            <a:r>
              <a:rPr lang="zh-CN" altLang="zh-CN" dirty="0" smtClean="0"/>
              <a:t>代价</a:t>
            </a:r>
            <a:r>
              <a:rPr lang="zh-CN" altLang="en-US" dirty="0" smtClean="0"/>
              <a:t>。</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标题 5"/>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half" idx="1"/>
          </p:nvPr>
        </p:nvSpPr>
        <p:spPr/>
        <p:txBody>
          <a:bodyPr>
            <a:normAutofit/>
          </a:bodyPr>
          <a:lstStyle/>
          <a:p>
            <a:r>
              <a:rPr lang="en-US" altLang="zh-CN" b="1" dirty="0"/>
              <a:t>5.4.3.2 MP-EA</a:t>
            </a:r>
            <a:r>
              <a:rPr lang="zh-CN" altLang="zh-CN" b="1" dirty="0"/>
              <a:t>路由协议 </a:t>
            </a:r>
            <a:endParaRPr lang="zh-CN" altLang="zh-CN" b="1" dirty="0"/>
          </a:p>
          <a:p>
            <a:r>
              <a:rPr lang="zh-CN" altLang="zh-CN" dirty="0">
                <a:solidFill>
                  <a:srgbClr val="FF0000"/>
                </a:solidFill>
              </a:rPr>
              <a:t>数据传播</a:t>
            </a:r>
            <a:r>
              <a:rPr lang="zh-CN" altLang="zh-CN" dirty="0"/>
              <a:t>时，节点对于每一个接收的数据分组，都利用</a:t>
            </a:r>
            <a:r>
              <a:rPr lang="zh-CN" altLang="zh-CN" dirty="0">
                <a:solidFill>
                  <a:srgbClr val="FF0000"/>
                </a:solidFill>
              </a:rPr>
              <a:t>概率选择</a:t>
            </a:r>
            <a:r>
              <a:rPr lang="zh-CN" altLang="zh-CN" dirty="0"/>
              <a:t>某一个下一跳节点，并转发该分组</a:t>
            </a:r>
            <a:r>
              <a:rPr lang="zh-CN" altLang="zh-CN" dirty="0" smtClean="0"/>
              <a:t>。</a:t>
            </a:r>
            <a:endParaRPr lang="en-US" altLang="zh-CN" dirty="0" smtClean="0"/>
          </a:p>
          <a:p>
            <a:r>
              <a:rPr lang="zh-CN" altLang="zh-CN" dirty="0" smtClean="0"/>
              <a:t>网络</a:t>
            </a:r>
            <a:r>
              <a:rPr lang="zh-CN" altLang="zh-CN" dirty="0"/>
              <a:t>中</a:t>
            </a:r>
            <a:r>
              <a:rPr lang="zh-CN" altLang="zh-CN" dirty="0">
                <a:solidFill>
                  <a:srgbClr val="FF0000"/>
                </a:solidFill>
              </a:rPr>
              <a:t>路由的维护</a:t>
            </a:r>
            <a:r>
              <a:rPr lang="zh-CN" altLang="zh-CN" dirty="0"/>
              <a:t>则是通过</a:t>
            </a:r>
            <a:r>
              <a:rPr lang="zh-CN" altLang="zh-CN" dirty="0">
                <a:solidFill>
                  <a:srgbClr val="FF0000"/>
                </a:solidFill>
              </a:rPr>
              <a:t>周期性地</a:t>
            </a:r>
            <a:r>
              <a:rPr lang="zh-CN" altLang="zh-CN" dirty="0"/>
              <a:t>从目的节点到源节点实施</a:t>
            </a:r>
            <a:r>
              <a:rPr lang="zh-CN" altLang="zh-CN" dirty="0">
                <a:solidFill>
                  <a:srgbClr val="FF0000"/>
                </a:solidFill>
              </a:rPr>
              <a:t>扩散查询</a:t>
            </a:r>
            <a:r>
              <a:rPr lang="zh-CN" altLang="zh-CN" dirty="0"/>
              <a:t>来保证所有路由处于有效状态的</a:t>
            </a:r>
            <a:r>
              <a:rPr lang="zh-CN" altLang="zh-CN" dirty="0" smtClean="0"/>
              <a:t>。</a:t>
            </a:r>
            <a:endParaRPr lang="en-US" altLang="zh-CN" dirty="0" smtClean="0"/>
          </a:p>
          <a:p>
            <a:r>
              <a:rPr lang="zh-CN" altLang="zh-CN" dirty="0" smtClean="0"/>
              <a:t>可以</a:t>
            </a:r>
            <a:r>
              <a:rPr lang="zh-CN" altLang="zh-CN" dirty="0"/>
              <a:t>看出，由于</a:t>
            </a:r>
            <a:r>
              <a:rPr lang="zh-CN" altLang="zh-CN" dirty="0">
                <a:solidFill>
                  <a:srgbClr val="FF0000"/>
                </a:solidFill>
              </a:rPr>
              <a:t>选择节点的概率和剩余能量成反比</a:t>
            </a:r>
            <a:r>
              <a:rPr lang="zh-CN" altLang="zh-CN" dirty="0"/>
              <a:t>，因此能量多路径路由协议可以将通信能耗在各节点之间均衡，从而保证整个网络中各节点的能量消耗平稳而均衡地进行，最大限度地延长网络的生存期</a:t>
            </a:r>
            <a:endParaRPr lang="zh-CN" altLang="zh-CN" dirty="0"/>
          </a:p>
        </p:txBody>
      </p:sp>
      <p:sp>
        <p:nvSpPr>
          <p:cNvPr id="25" name="Rectangle 22"/>
          <p:cNvSpPr>
            <a:spLocks noChangeArrowheads="1"/>
          </p:cNvSpPr>
          <p:nvPr/>
        </p:nvSpPr>
        <p:spPr bwMode="auto">
          <a:xfrm>
            <a:off x="6918325" y="272626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4"/>
          <p:cNvSpPr>
            <a:spLocks noChangeArrowheads="1"/>
          </p:cNvSpPr>
          <p:nvPr/>
        </p:nvSpPr>
        <p:spPr bwMode="auto">
          <a:xfrm>
            <a:off x="6918325" y="27262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7" name="Rectangle 29"/>
          <p:cNvSpPr>
            <a:spLocks noChangeArrowheads="1"/>
          </p:cNvSpPr>
          <p:nvPr/>
        </p:nvSpPr>
        <p:spPr bwMode="auto">
          <a:xfrm>
            <a:off x="6918325" y="29548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28" name="Rectangle 31"/>
          <p:cNvSpPr>
            <a:spLocks noChangeArrowheads="1"/>
          </p:cNvSpPr>
          <p:nvPr/>
        </p:nvSpPr>
        <p:spPr bwMode="auto">
          <a:xfrm>
            <a:off x="6918325" y="3183466"/>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p>
        </p:txBody>
      </p:sp>
      <p:sp>
        <p:nvSpPr>
          <p:cNvPr id="4"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2508689" y="4329639"/>
            <a:ext cx="1929806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8" name="Rectangle 4"/>
          <p:cNvSpPr>
            <a:spLocks noChangeArrowheads="1"/>
          </p:cNvSpPr>
          <p:nvPr/>
        </p:nvSpPr>
        <p:spPr bwMode="auto">
          <a:xfrm>
            <a:off x="2508688" y="5616042"/>
            <a:ext cx="2082006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7" name="标题 6"/>
          <p:cNvSpPr>
            <a:spLocks noGrp="1"/>
          </p:cNvSpPr>
          <p:nvPr>
            <p:ph type="title"/>
          </p:nvPr>
        </p:nvSpPr>
        <p:spPr/>
        <p:txBody>
          <a:bodyPr>
            <a:normAutofit/>
          </a:bodyPr>
          <a:lstStyle/>
          <a:p>
            <a:pPr lvl="0"/>
            <a:r>
              <a:rPr lang="en-US" b="1" u="sng">
                <a:solidFill>
                  <a:srgbClr val="316AAB"/>
                </a:solidFill>
                <a:uFillTx/>
                <a:latin typeface="Times New Roman" panose="02020603050405020304" charset="0"/>
                <a:ea typeface="宋体" panose="02010600030101010101" pitchFamily="2" charset="-122"/>
              </a:rPr>
              <a:t>5.4  其他路由协议</a:t>
            </a:r>
            <a:endParaRPr lang="zh-CN" altLang="en-US" b="0" i="0" u="none" strike="noStrike" baseline="0" dirty="0" smtClean="0">
              <a:highlight>
                <a:srgbClr val="FFFF00"/>
              </a:highlight>
              <a:latin typeface="Times New Roman" panose="0202060305040502030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5121"/>
          <p:cNvSpPr>
            <a:spLocks noGrp="1" noChangeArrowheads="1"/>
          </p:cNvSpPr>
          <p:nvPr>
            <p:ph type="title"/>
          </p:nvPr>
        </p:nvSpPr>
        <p:spPr>
          <a:xfrm>
            <a:off x="240030" y="219710"/>
            <a:ext cx="10515600" cy="1325563"/>
          </a:xfrm>
        </p:spPr>
        <p:txBody>
          <a:bodyPr/>
          <a:lstStyle/>
          <a:p>
            <a:pPr eaLnBrk="1" hangingPunct="1"/>
            <a:r>
              <a:rPr lang="en-US" b="1" u="sng">
                <a:solidFill>
                  <a:srgbClr val="1D41D5"/>
                </a:solidFill>
                <a:uFillTx/>
                <a:latin typeface="Times New Roman" panose="02020603050405020304" charset="0"/>
              </a:rPr>
              <a:t>习题5</a:t>
            </a:r>
            <a:endParaRPr lang="zh-CN" altLang="en-US" b="1"/>
          </a:p>
        </p:txBody>
      </p:sp>
      <p:sp>
        <p:nvSpPr>
          <p:cNvPr id="5122" name="文本占位符 5122"/>
          <p:cNvSpPr>
            <a:spLocks noGrp="1" noChangeArrowheads="1"/>
          </p:cNvSpPr>
          <p:nvPr>
            <p:ph sz="half" idx="1"/>
          </p:nvPr>
        </p:nvSpPr>
        <p:spPr>
          <a:xfrm>
            <a:off x="2294890" y="1697990"/>
            <a:ext cx="8203565" cy="4897120"/>
          </a:xfrm>
        </p:spPr>
        <p:txBody>
          <a:bodyPr>
            <a:normAutofit lnSpcReduction="20000"/>
          </a:bodyPr>
          <a:lstStyle/>
          <a:p>
            <a:pPr marL="342900" indent="-342900" algn="just">
              <a:lnSpc>
                <a:spcPct val="100000"/>
              </a:lnSpc>
              <a:buFont typeface="+mj-lt"/>
              <a:buAutoNum type="arabicPeriod"/>
              <a:defRPr/>
            </a:pPr>
            <a:r>
              <a:rPr altLang="zh-CN" sz="2400" b="1" kern="100" dirty="0">
                <a:solidFill>
                  <a:srgbClr val="000000"/>
                </a:solidFill>
                <a:latin typeface="Times New Roman" panose="02020603050405020304" charset="0"/>
              </a:rPr>
              <a:t>简述无线传感器网络路由协议的考虑因素。</a:t>
            </a:r>
            <a:endParaRPr altLang="zh-CN" sz="2400" b="1" kern="100" dirty="0">
              <a:solidFill>
                <a:srgbClr val="000000"/>
              </a:solidFill>
              <a:latin typeface="Times New Roman" panose="02020603050405020304" charset="0"/>
            </a:endParaRPr>
          </a:p>
          <a:p>
            <a:pPr marL="342900" indent="-342900" algn="just">
              <a:lnSpc>
                <a:spcPct val="100000"/>
              </a:lnSpc>
              <a:buFont typeface="+mj-lt"/>
              <a:buAutoNum type="arabicPeriod"/>
              <a:defRPr/>
            </a:pPr>
            <a:r>
              <a:rPr altLang="zh-CN" sz="2400" b="1" kern="100" dirty="0">
                <a:solidFill>
                  <a:srgbClr val="000000"/>
                </a:solidFill>
                <a:latin typeface="Times New Roman" panose="02020603050405020304" charset="0"/>
              </a:rPr>
              <a:t>简述无线自组织网络和无线传感器网络的路由协议的区别。</a:t>
            </a:r>
            <a:endParaRPr altLang="zh-CN" sz="2400" b="1" kern="100" dirty="0">
              <a:solidFill>
                <a:srgbClr val="000000"/>
              </a:solidFill>
              <a:latin typeface="Times New Roman" panose="02020603050405020304" charset="0"/>
            </a:endParaRPr>
          </a:p>
          <a:p>
            <a:pPr marL="342900" indent="-342900" algn="just">
              <a:lnSpc>
                <a:spcPct val="100000"/>
              </a:lnSpc>
              <a:buFont typeface="+mj-lt"/>
              <a:buAutoNum type="arabicPeriod"/>
              <a:defRPr/>
            </a:pPr>
            <a:r>
              <a:rPr altLang="zh-CN" sz="2400" b="1" kern="100" dirty="0">
                <a:solidFill>
                  <a:srgbClr val="000000"/>
                </a:solidFill>
                <a:latin typeface="Times New Roman" panose="02020603050405020304" charset="0"/>
              </a:rPr>
              <a:t>简述无线传感器网络的路由过程的步骤。</a:t>
            </a:r>
            <a:endParaRPr altLang="zh-CN" sz="2400" b="1" kern="100" dirty="0">
              <a:solidFill>
                <a:srgbClr val="000000"/>
              </a:solidFill>
              <a:latin typeface="Times New Roman" panose="02020603050405020304" charset="0"/>
            </a:endParaRPr>
          </a:p>
          <a:p>
            <a:pPr marL="342900" indent="-342900" algn="just">
              <a:lnSpc>
                <a:spcPct val="100000"/>
              </a:lnSpc>
              <a:buFont typeface="+mj-lt"/>
              <a:buAutoNum type="arabicPeriod"/>
              <a:defRPr/>
            </a:pPr>
            <a:r>
              <a:rPr altLang="zh-CN" sz="2400" b="1" kern="100" dirty="0">
                <a:solidFill>
                  <a:srgbClr val="000000"/>
                </a:solidFill>
                <a:latin typeface="Times New Roman" panose="02020603050405020304" charset="0"/>
              </a:rPr>
              <a:t>简述无线传感器网络路由协议分类方法和内容。</a:t>
            </a:r>
            <a:endParaRPr altLang="zh-CN" sz="2400" b="1" kern="100" dirty="0">
              <a:solidFill>
                <a:srgbClr val="000000"/>
              </a:solidFill>
              <a:latin typeface="Times New Roman" panose="02020603050405020304" charset="0"/>
            </a:endParaRPr>
          </a:p>
          <a:p>
            <a:pPr marL="342900" indent="-342900" algn="just">
              <a:lnSpc>
                <a:spcPct val="100000"/>
              </a:lnSpc>
              <a:buFont typeface="+mj-lt"/>
              <a:buAutoNum type="arabicPeriod"/>
              <a:defRPr/>
            </a:pPr>
            <a:r>
              <a:rPr altLang="zh-CN" sz="2400" b="1" kern="100" dirty="0">
                <a:solidFill>
                  <a:srgbClr val="000000"/>
                </a:solidFill>
                <a:latin typeface="Times New Roman" panose="02020603050405020304" charset="0"/>
              </a:rPr>
              <a:t>简述定向扩散路由机制的基本过程。</a:t>
            </a:r>
            <a:endParaRPr altLang="zh-CN" sz="2400" b="1" kern="100" dirty="0">
              <a:solidFill>
                <a:srgbClr val="000000"/>
              </a:solidFill>
              <a:latin typeface="Times New Roman" panose="02020603050405020304" charset="0"/>
            </a:endParaRPr>
          </a:p>
          <a:p>
            <a:pPr marL="342900" indent="-342900" algn="just">
              <a:lnSpc>
                <a:spcPct val="100000"/>
              </a:lnSpc>
              <a:buFont typeface="+mj-lt"/>
              <a:buAutoNum type="arabicPeriod"/>
              <a:defRPr/>
            </a:pPr>
            <a:r>
              <a:rPr altLang="zh-CN" sz="2400" b="1" kern="100" dirty="0">
                <a:solidFill>
                  <a:srgbClr val="000000"/>
                </a:solidFill>
                <a:latin typeface="Times New Roman" panose="02020603050405020304" charset="0"/>
              </a:rPr>
              <a:t>简述LEACH算法的实现思想。</a:t>
            </a:r>
            <a:endParaRPr altLang="zh-CN" sz="2400" b="1" kern="100" dirty="0">
              <a:solidFill>
                <a:srgbClr val="000000"/>
              </a:solidFill>
              <a:latin typeface="Times New Roman" panose="02020603050405020304" charset="0"/>
            </a:endParaRPr>
          </a:p>
          <a:p>
            <a:pPr marL="0" indent="0" algn="just">
              <a:lnSpc>
                <a:spcPct val="100000"/>
              </a:lnSpc>
              <a:buFont typeface="+mj-lt"/>
              <a:buNone/>
              <a:defRPr/>
            </a:pPr>
            <a:br>
              <a:rPr lang="en-US" altLang="zh-CN" sz="1800" kern="100" dirty="0">
                <a:latin typeface="Times New Roman" panose="02020603050405020304" charset="0"/>
              </a:rPr>
            </a:br>
            <a:r>
              <a:rPr lang="en-US" altLang="zh-CN" sz="1800" kern="100" dirty="0">
                <a:latin typeface="Times New Roman" panose="02020603050405020304" charset="0"/>
              </a:rPr>
              <a:t> </a:t>
            </a:r>
            <a:endParaRPr lang="zh-CN" altLang="zh-CN" sz="1800" kern="100" dirty="0">
              <a:latin typeface="Times New Roman" panose="02020603050405020304" charset="0"/>
            </a:endParaRPr>
          </a:p>
          <a:p>
            <a:pPr eaLnBrk="1" hangingPunct="1">
              <a:lnSpc>
                <a:spcPct val="180000"/>
              </a:lnSpc>
              <a:buFont typeface="Wingdings" panose="05000000000000000000" pitchFamily="2" charset="2"/>
              <a:buNone/>
              <a:defRPr/>
            </a:pPr>
            <a:endParaRPr lang="zh-CN" altLang="en-US" sz="1800" dirty="0"/>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p:cNvSpPr>
            <a:spLocks noGrp="1"/>
          </p:cNvSpPr>
          <p:nvPr>
            <p:custDataLst>
              <p:tags r:id="rId1"/>
            </p:custDataLst>
          </p:nvPr>
        </p:nvSpPr>
        <p:spPr>
          <a:xfrm>
            <a:off x="2921000" y="2829121"/>
            <a:ext cx="6350000" cy="1200150"/>
          </a:xfrm>
          <a:prstGeom prst="rect">
            <a:avLst/>
          </a:prstGeom>
        </p:spPr>
        <p:txBody>
          <a:bodyPr vert="horz" wrap="square" lIns="0" tIns="0" rIns="0" bIns="0" rtlCol="0" anchor="b" anchorCtr="0">
            <a:noAutofit/>
          </a:bodyPr>
          <a:lstStyle>
            <a:lvl1pPr marL="0" marR="0" algn="ctr" defTabSz="914400" rtl="0" eaLnBrk="1" fontAlgn="auto" latinLnBrk="0" hangingPunct="1">
              <a:lnSpc>
                <a:spcPct val="100000"/>
              </a:lnSpc>
              <a:spcBef>
                <a:spcPct val="0"/>
              </a:spcBef>
              <a:buClrTx/>
              <a:buSzTx/>
              <a:buFontTx/>
              <a:buNone/>
              <a:defRPr kumimoji="0" lang="zh-CN" altLang="en-US" sz="7000" b="1" i="0" u="none" strike="noStrike" kern="1200" cap="none" spc="1000" normalizeH="0" baseline="0" noProof="1" dirty="0">
                <a:solidFill>
                  <a:srgbClr val="000000">
                    <a:lumMod val="85000"/>
                    <a:lumOff val="15000"/>
                  </a:srgbClr>
                </a:solidFill>
                <a:uFillTx/>
                <a:latin typeface="Arial" panose="020B0604020202020204" pitchFamily="34" charset="0"/>
                <a:ea typeface="汉仪旗黑-85S" panose="00020600040101010101" pitchFamily="18" charset="-122"/>
                <a:cs typeface="+mn-ea"/>
              </a:defRPr>
            </a:lvl1pPr>
          </a:lstStyle>
          <a:p>
            <a:r>
              <a:rPr lang="zh-CN" altLang="en-US" sz="8000">
                <a:solidFill>
                  <a:srgbClr val="000000">
                    <a:lumMod val="85000"/>
                    <a:lumOff val="15000"/>
                  </a:srgbClr>
                </a:solidFill>
                <a:latin typeface="等线" panose="02010600030101010101" charset="-122"/>
                <a:ea typeface="等线" panose="02010600030101010101" charset="-122"/>
              </a:rPr>
              <a:t>THANKS</a:t>
            </a:r>
            <a:endParaRPr lang="zh-CN" altLang="en-US" sz="8000">
              <a:solidFill>
                <a:srgbClr val="000000">
                  <a:lumMod val="85000"/>
                  <a:lumOff val="15000"/>
                </a:srgbClr>
              </a:solidFill>
              <a:latin typeface="等线" panose="02010600030101010101" charset="-122"/>
              <a:ea typeface="等线" panose="02010600030101010101"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2.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3.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4.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5.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ISCONTENTSTITLE" val="1"/>
  <p:tag name="KSO_WM_UNIT_PRESET_TEXT" val="目录"/>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LAYERLEVEL" val="1"/>
  <p:tag name="KSO_WM_TAG_VERSION" val="1.0"/>
  <p:tag name="KSO_WM_BEAUTIFY_FLAG" val="#wm#"/>
  <p:tag name="KSO_WM_TEMPLATE_CATEGORY" val="custom"/>
  <p:tag name="KSO_WM_TEMPLATE_INDEX" val="20204450"/>
  <p:tag name="KSO_WM_UNIT_ID" val="custom20204450_4*a*1"/>
  <p:tag name="KSO_WM_UNIT_ISNUMDGMTITLE" val="0"/>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ISCONTENTSTITLE" val="0"/>
  <p:tag name="KSO_WM_UNIT_ISNUMDGMTITLE" val="0"/>
  <p:tag name="KSO_WM_UNIT_NOCLEAR" val="1"/>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ID" val="custom20193369_54*a*1"/>
  <p:tag name="KSO_WM_TEMPLATE_CATEGORY" val="custom"/>
  <p:tag name="KSO_WM_TEMPLATE_INDEX" val="20193369"/>
  <p:tag name="KSO_WM_UNIT_LAYERLEVEL" val="1"/>
  <p:tag name="KSO_WM_TAG_VERSION" val="1.0"/>
  <p:tag name="KSO_WM_BEAUTIFY_FLAG" val="#wm#"/>
  <p:tag name="KSO_WM_UNIT_PRESET_TEXT" val="THANKS"/>
  <p:tag name="KSO_WM_UNIT_DEFAULT_FONT" val="24;80;4"/>
  <p:tag name="KSO_WM_UNIT_BLOCK" val="0"/>
  <p:tag name="KSO_WM_UNIT_DEC_AREA_ID" val="29d931bbccae4e79a9c5d395ee684df6"/>
  <p:tag name="KSO_WM_CHIP_GROUPID" val="5ebdf5a90ac41c4a0a525507"/>
  <p:tag name="KSO_WM_CHIP_XID" val="5ebdf5a90ac41c4a0a525508"/>
  <p:tag name="KSO_WM_CHIP_FILLAREA_FILL_RULE" val="{&quot;fill_align&quot;:&quot;cm&quot;,&quot;fill_mode&quot;:&quot;adaptive&quot;,&quot;sacle_strategy&quot;:&quot;smart&quot;}"/>
  <p:tag name="KSO_WM_ASSEMBLE_CHIP_INDEX" val="c35d8afa0f0641e58b128f4a92c6b79a"/>
  <p:tag name="KSO_WM_UNIT_TEXT_FILL_FORE_SCHEMECOLOR_INDEX_BRIGHTNESS" val="0.15"/>
  <p:tag name="KSO_WM_UNIT_TEXT_FILL_FORE_SCHEMECOLOR_INDEX" val="13"/>
  <p:tag name="KSO_WM_UNIT_TEXT_FILL_TYPE" val="1"/>
</p:tagLst>
</file>

<file path=ppt/tags/tag8.xml><?xml version="1.0" encoding="utf-8"?>
<p:tagLst xmlns:p="http://schemas.openxmlformats.org/presentationml/2006/main">
  <p:tag name="COMMONDATA" val="eyJoZGlkIjoiYmNlYWRiMTM4YmE0MDkyMzUwZTUwNGQyMmZmMjVhMmEifQ=="/>
  <p:tag name="KSO_WPP_MARK_KEY" val="1ebdf5bf-5e75-4f2a-bcd5-5de15d2417a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18592</Words>
  <Application>WPS 演示</Application>
  <PresentationFormat>宽屏</PresentationFormat>
  <Paragraphs>974</Paragraphs>
  <Slides>96</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19</vt:i4>
      </vt:variant>
      <vt:variant>
        <vt:lpstr>幻灯片标题</vt:lpstr>
      </vt:variant>
      <vt:variant>
        <vt:i4>96</vt:i4>
      </vt:variant>
    </vt:vector>
  </HeadingPairs>
  <TitlesOfParts>
    <vt:vector size="129" baseType="lpstr">
      <vt:lpstr>Arial</vt:lpstr>
      <vt:lpstr>宋体</vt:lpstr>
      <vt:lpstr>Wingdings</vt:lpstr>
      <vt:lpstr>汉仪中宋简</vt:lpstr>
      <vt:lpstr>黑体</vt:lpstr>
      <vt:lpstr>等线</vt:lpstr>
      <vt:lpstr>楷体</vt:lpstr>
      <vt:lpstr>微软雅黑</vt:lpstr>
      <vt:lpstr>Times New Roman</vt:lpstr>
      <vt:lpstr>Arial Unicode MS</vt:lpstr>
      <vt:lpstr>等线 Light</vt:lpstr>
      <vt:lpstr>Calibri</vt:lpstr>
      <vt:lpstr>汉仪旗黑-85S</vt:lpstr>
      <vt:lpstr>Office 主题​​</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无线传感器网络（微课视频版）</vt:lpstr>
      <vt:lpstr>第5章</vt:lpstr>
      <vt:lpstr>PowerPoint 演示文稿</vt:lpstr>
      <vt:lpstr>PowerPoint 演示文稿</vt:lpstr>
      <vt:lpstr>PowerPoint 演示文稿</vt:lpstr>
      <vt:lpstr>第5章  网络层协议</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5.1　路由协议概述 </vt:lpstr>
      <vt:lpstr>PowerPoint 演示文稿</vt:lpstr>
      <vt:lpstr>5.2  平面路由协议</vt:lpstr>
      <vt:lpstr>5.2  平面路由协议</vt:lpstr>
      <vt:lpstr>5.2  平面路由协议</vt:lpstr>
      <vt:lpstr>5.2  平面路由协议</vt:lpstr>
      <vt:lpstr>5.2  平面路由协议</vt:lpstr>
      <vt:lpstr>5.2  平面路由协议</vt:lpstr>
      <vt:lpstr>5.2  平面路由协议</vt:lpstr>
      <vt:lpstr>5.2  平面路由协议</vt:lpstr>
      <vt:lpstr>5.2  平面路由协议</vt:lpstr>
      <vt:lpstr>5.2  平面路由协议</vt:lpstr>
      <vt:lpstr>5.2  平面路由协议</vt:lpstr>
      <vt:lpstr>5.2  平面路由协议</vt:lpstr>
      <vt:lpstr>5.2  平面路由协议</vt:lpstr>
      <vt:lpstr>5.2  平面路由协议</vt:lpstr>
      <vt:lpstr>PowerPoint 演示文稿</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5.3  层次型路由协议</vt:lpstr>
      <vt:lpstr>PowerPoint 演示文稿</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5.4  其他路由协议</vt:lpstr>
      <vt:lpstr>习题5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ckl</dc:creator>
  <cp:lastModifiedBy>BN</cp:lastModifiedBy>
  <cp:revision>528</cp:revision>
  <dcterms:created xsi:type="dcterms:W3CDTF">2016-05-24T01:15:00Z</dcterms:created>
  <dcterms:modified xsi:type="dcterms:W3CDTF">2023-07-14T00:16:25Z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2027B43E788F4EE3BEEC5F58BFA1DCF5</vt:lpwstr>
  </property>
  <property fmtid="{D5CDD505-2E9C-101B-9397-08002B2CF9AE}" pid="3" name="KSOProductBuildVer">
    <vt:lpwstr>2052-11.1.0.14309</vt:lpwstr>
  </property>
</Properties>
</file>